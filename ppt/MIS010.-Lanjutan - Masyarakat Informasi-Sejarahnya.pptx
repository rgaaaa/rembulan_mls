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9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4572000" cy="3435350"/>
  <p:notesSz cx="4572000" cy="34353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6" d="100"/>
          <a:sy n="136" d="100"/>
        </p:scale>
        <p:origin x="142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3376" y="1064958"/>
            <a:ext cx="3891597" cy="7214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86752" y="1923796"/>
            <a:ext cx="3204845" cy="858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" y="381"/>
            <a:ext cx="4572000" cy="3429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476" y="6477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300"/>
                </a:moveTo>
                <a:lnTo>
                  <a:pt x="4559300" y="3416300"/>
                </a:lnTo>
                <a:lnTo>
                  <a:pt x="4559300" y="0"/>
                </a:lnTo>
                <a:lnTo>
                  <a:pt x="0" y="0"/>
                </a:lnTo>
                <a:lnTo>
                  <a:pt x="0" y="341630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28917" y="790130"/>
            <a:ext cx="1991582" cy="2267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57850" y="790130"/>
            <a:ext cx="1991582" cy="2267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0" y="381"/>
            <a:ext cx="4572000" cy="3429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664" y="216534"/>
            <a:ext cx="4367021" cy="301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4795" y="905129"/>
            <a:ext cx="4048759" cy="197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56639" y="3194875"/>
            <a:ext cx="1465072" cy="1717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28917" y="3194875"/>
            <a:ext cx="1053020" cy="1717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296412" y="3194875"/>
            <a:ext cx="1053020" cy="1717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34353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8209" y="1582673"/>
            <a:ext cx="3268979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50" dirty="0">
                <a:solidFill>
                  <a:srgbClr val="CCFFFF"/>
                </a:solidFill>
                <a:latin typeface="Arial"/>
                <a:cs typeface="Arial"/>
              </a:rPr>
              <a:t>MASYARAKAT</a:t>
            </a:r>
            <a:r>
              <a:rPr sz="2000" b="1" spc="5" dirty="0">
                <a:solidFill>
                  <a:srgbClr val="CC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CFFFF"/>
                </a:solidFill>
                <a:latin typeface="Arial"/>
                <a:cs typeface="Arial"/>
              </a:rPr>
              <a:t>INFORMASI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1969" y="788111"/>
            <a:ext cx="3577590" cy="186076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43815">
              <a:lnSpc>
                <a:spcPct val="100000"/>
              </a:lnSpc>
              <a:spcBef>
                <a:spcPts val="110"/>
              </a:spcBef>
            </a:pPr>
            <a:r>
              <a:rPr sz="1600" i="1" spc="-5" dirty="0">
                <a:latin typeface="Arial"/>
                <a:cs typeface="Arial"/>
              </a:rPr>
              <a:t>“Sebagian</a:t>
            </a:r>
            <a:r>
              <a:rPr sz="1600" i="1" spc="-100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terbesar</a:t>
            </a:r>
            <a:r>
              <a:rPr sz="1600" i="1" spc="-70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dari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perkembangan </a:t>
            </a:r>
            <a:r>
              <a:rPr sz="1600" i="1" spc="-43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ap</a:t>
            </a:r>
            <a:r>
              <a:rPr sz="1600" i="1" dirty="0">
                <a:latin typeface="Arial"/>
                <a:cs typeface="Arial"/>
              </a:rPr>
              <a:t>li</a:t>
            </a:r>
            <a:r>
              <a:rPr sz="1600" i="1" spc="5" dirty="0">
                <a:latin typeface="Arial"/>
                <a:cs typeface="Arial"/>
              </a:rPr>
              <a:t>k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spc="-15" dirty="0">
                <a:latin typeface="Arial"/>
                <a:cs typeface="Arial"/>
              </a:rPr>
              <a:t>s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-110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k</a:t>
            </a:r>
            <a:r>
              <a:rPr sz="1600" i="1" spc="-10" dirty="0">
                <a:latin typeface="Arial"/>
                <a:cs typeface="Arial"/>
              </a:rPr>
              <a:t>o</a:t>
            </a:r>
            <a:r>
              <a:rPr sz="1600" i="1" spc="-15" dirty="0">
                <a:latin typeface="Arial"/>
                <a:cs typeface="Arial"/>
              </a:rPr>
              <a:t>m</a:t>
            </a:r>
            <a:r>
              <a:rPr sz="1600" i="1" spc="-10" dirty="0">
                <a:latin typeface="Arial"/>
                <a:cs typeface="Arial"/>
              </a:rPr>
              <a:t>pu</a:t>
            </a:r>
            <a:r>
              <a:rPr sz="1600" i="1" spc="5" dirty="0">
                <a:latin typeface="Arial"/>
                <a:cs typeface="Arial"/>
              </a:rPr>
              <a:t>t</a:t>
            </a:r>
            <a:r>
              <a:rPr sz="1600" i="1" spc="-10" dirty="0">
                <a:latin typeface="Arial"/>
                <a:cs typeface="Arial"/>
              </a:rPr>
              <a:t>e</a:t>
            </a:r>
            <a:r>
              <a:rPr sz="1600" i="1" dirty="0">
                <a:latin typeface="Arial"/>
                <a:cs typeface="Arial"/>
              </a:rPr>
              <a:t>r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d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-10" dirty="0">
                <a:latin typeface="Arial"/>
                <a:cs typeface="Arial"/>
              </a:rPr>
              <a:t> dun</a:t>
            </a:r>
            <a:r>
              <a:rPr sz="1600" i="1" dirty="0">
                <a:latin typeface="Arial"/>
                <a:cs typeface="Arial"/>
              </a:rPr>
              <a:t>ia</a:t>
            </a:r>
            <a:r>
              <a:rPr sz="1600" i="1" spc="-4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b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10" dirty="0">
                <a:latin typeface="Arial"/>
                <a:cs typeface="Arial"/>
              </a:rPr>
              <a:t>s</a:t>
            </a:r>
            <a:r>
              <a:rPr sz="1600" i="1" spc="-10" dirty="0">
                <a:latin typeface="Arial"/>
                <a:cs typeface="Arial"/>
              </a:rPr>
              <a:t>n</a:t>
            </a:r>
            <a:r>
              <a:rPr sz="1600" i="1" dirty="0">
                <a:latin typeface="Arial"/>
                <a:cs typeface="Arial"/>
              </a:rPr>
              <a:t>is</a:t>
            </a:r>
            <a:r>
              <a:rPr sz="1600" i="1" spc="-75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pad</a:t>
            </a:r>
            <a:r>
              <a:rPr sz="1600" i="1" dirty="0">
                <a:latin typeface="Arial"/>
                <a:cs typeface="Arial"/>
              </a:rPr>
              <a:t>a  </a:t>
            </a:r>
            <a:r>
              <a:rPr sz="1600" i="1" spc="-5" dirty="0">
                <a:latin typeface="Arial"/>
                <a:cs typeface="Arial"/>
              </a:rPr>
              <a:t>masa mendatang </a:t>
            </a:r>
            <a:r>
              <a:rPr sz="1600" i="1" dirty="0">
                <a:latin typeface="Arial"/>
                <a:cs typeface="Arial"/>
              </a:rPr>
              <a:t>akan </a:t>
            </a:r>
            <a:r>
              <a:rPr sz="1600" i="1" spc="-5" dirty="0">
                <a:latin typeface="Arial"/>
                <a:cs typeface="Arial"/>
              </a:rPr>
              <a:t>berlandaskan </a:t>
            </a:r>
            <a:r>
              <a:rPr sz="1600" i="1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k</a:t>
            </a:r>
            <a:r>
              <a:rPr sz="1600" i="1" spc="-10" dirty="0">
                <a:latin typeface="Arial"/>
                <a:cs typeface="Arial"/>
              </a:rPr>
              <a:t>epad</a:t>
            </a:r>
            <a:r>
              <a:rPr sz="1600" i="1" dirty="0">
                <a:latin typeface="Arial"/>
                <a:cs typeface="Arial"/>
              </a:rPr>
              <a:t>a</a:t>
            </a:r>
            <a:r>
              <a:rPr sz="1600" i="1" spc="-70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t</a:t>
            </a:r>
            <a:r>
              <a:rPr sz="1600" i="1" spc="-10" dirty="0">
                <a:latin typeface="Arial"/>
                <a:cs typeface="Arial"/>
              </a:rPr>
              <a:t>e</a:t>
            </a:r>
            <a:r>
              <a:rPr sz="1600" i="1" spc="5" dirty="0">
                <a:latin typeface="Arial"/>
                <a:cs typeface="Arial"/>
              </a:rPr>
              <a:t>k</a:t>
            </a:r>
            <a:r>
              <a:rPr sz="1600" i="1" spc="-10" dirty="0">
                <a:latin typeface="Arial"/>
                <a:cs typeface="Arial"/>
              </a:rPr>
              <a:t>no</a:t>
            </a:r>
            <a:r>
              <a:rPr sz="1600" i="1" dirty="0">
                <a:latin typeface="Arial"/>
                <a:cs typeface="Arial"/>
              </a:rPr>
              <a:t>lo</a:t>
            </a:r>
            <a:r>
              <a:rPr sz="1600" i="1" spc="-10" dirty="0">
                <a:latin typeface="Arial"/>
                <a:cs typeface="Arial"/>
              </a:rPr>
              <a:t>g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-11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ba</a:t>
            </a:r>
            <a:r>
              <a:rPr sz="1600" i="1" spc="5" dirty="0">
                <a:latin typeface="Arial"/>
                <a:cs typeface="Arial"/>
              </a:rPr>
              <a:t>s</a:t>
            </a:r>
            <a:r>
              <a:rPr sz="1600" i="1" dirty="0">
                <a:latin typeface="Arial"/>
                <a:cs typeface="Arial"/>
              </a:rPr>
              <a:t>is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da</a:t>
            </a:r>
            <a:r>
              <a:rPr sz="1600" i="1" spc="5" dirty="0">
                <a:latin typeface="Arial"/>
                <a:cs typeface="Arial"/>
              </a:rPr>
              <a:t>t</a:t>
            </a:r>
            <a:r>
              <a:rPr sz="1600" i="1" dirty="0">
                <a:latin typeface="Arial"/>
                <a:cs typeface="Arial"/>
              </a:rPr>
              <a:t>a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da</a:t>
            </a:r>
            <a:r>
              <a:rPr sz="1600" i="1" dirty="0">
                <a:latin typeface="Arial"/>
                <a:cs typeface="Arial"/>
              </a:rPr>
              <a:t>n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s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dirty="0">
                <a:latin typeface="Arial"/>
                <a:cs typeface="Arial"/>
              </a:rPr>
              <a:t>li</a:t>
            </a:r>
            <a:r>
              <a:rPr sz="1600" i="1" spc="-10" dirty="0">
                <a:latin typeface="Arial"/>
                <a:cs typeface="Arial"/>
              </a:rPr>
              <a:t>n</a:t>
            </a:r>
            <a:r>
              <a:rPr sz="1600" i="1" dirty="0">
                <a:latin typeface="Arial"/>
                <a:cs typeface="Arial"/>
              </a:rPr>
              <a:t>g  </a:t>
            </a:r>
            <a:r>
              <a:rPr sz="1600" i="1" spc="5" dirty="0">
                <a:latin typeface="Arial"/>
                <a:cs typeface="Arial"/>
              </a:rPr>
              <a:t>t</a:t>
            </a:r>
            <a:r>
              <a:rPr sz="1600" i="1" spc="-10" dirty="0">
                <a:latin typeface="Arial"/>
                <a:cs typeface="Arial"/>
              </a:rPr>
              <a:t>erhubun</a:t>
            </a:r>
            <a:r>
              <a:rPr sz="1600" i="1" dirty="0">
                <a:latin typeface="Arial"/>
                <a:cs typeface="Arial"/>
              </a:rPr>
              <a:t>g</a:t>
            </a:r>
            <a:r>
              <a:rPr sz="1600" i="1" spc="-70" dirty="0">
                <a:latin typeface="Arial"/>
                <a:cs typeface="Arial"/>
              </a:rPr>
              <a:t> </a:t>
            </a:r>
            <a:r>
              <a:rPr sz="1600" i="1" spc="-15" dirty="0">
                <a:latin typeface="Arial"/>
                <a:cs typeface="Arial"/>
              </a:rPr>
              <a:t>m</a:t>
            </a:r>
            <a:r>
              <a:rPr sz="1600" i="1" spc="-10" dirty="0">
                <a:latin typeface="Arial"/>
                <a:cs typeface="Arial"/>
              </a:rPr>
              <a:t>e</a:t>
            </a:r>
            <a:r>
              <a:rPr sz="1600" i="1" dirty="0">
                <a:latin typeface="Arial"/>
                <a:cs typeface="Arial"/>
              </a:rPr>
              <a:t>lal</a:t>
            </a:r>
            <a:r>
              <a:rPr sz="1600" i="1" spc="-10" dirty="0">
                <a:latin typeface="Arial"/>
                <a:cs typeface="Arial"/>
              </a:rPr>
              <a:t>u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-6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ja</a:t>
            </a:r>
            <a:r>
              <a:rPr sz="1600" i="1" spc="-15" dirty="0">
                <a:latin typeface="Arial"/>
                <a:cs typeface="Arial"/>
              </a:rPr>
              <a:t>r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10" dirty="0">
                <a:latin typeface="Arial"/>
                <a:cs typeface="Arial"/>
              </a:rPr>
              <a:t>ga</a:t>
            </a:r>
            <a:r>
              <a:rPr sz="1600" i="1" dirty="0">
                <a:latin typeface="Arial"/>
                <a:cs typeface="Arial"/>
              </a:rPr>
              <a:t>n</a:t>
            </a:r>
            <a:r>
              <a:rPr sz="1600" i="1" spc="-105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k</a:t>
            </a:r>
            <a:r>
              <a:rPr sz="1600" i="1" spc="-10" dirty="0">
                <a:latin typeface="Arial"/>
                <a:cs typeface="Arial"/>
              </a:rPr>
              <a:t>o</a:t>
            </a:r>
            <a:r>
              <a:rPr sz="1600" i="1" spc="-15" dirty="0">
                <a:latin typeface="Arial"/>
                <a:cs typeface="Arial"/>
              </a:rPr>
              <a:t>m</a:t>
            </a:r>
            <a:r>
              <a:rPr sz="1600" i="1" spc="-10" dirty="0">
                <a:latin typeface="Arial"/>
                <a:cs typeface="Arial"/>
              </a:rPr>
              <a:t>pu</a:t>
            </a:r>
            <a:r>
              <a:rPr sz="1600" i="1" spc="5" dirty="0">
                <a:latin typeface="Arial"/>
                <a:cs typeface="Arial"/>
              </a:rPr>
              <a:t>t</a:t>
            </a:r>
            <a:r>
              <a:rPr sz="1600" i="1" spc="-10" dirty="0">
                <a:latin typeface="Arial"/>
                <a:cs typeface="Arial"/>
              </a:rPr>
              <a:t>er”</a:t>
            </a:r>
            <a:r>
              <a:rPr sz="1600" i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 marL="1854200">
              <a:lnSpc>
                <a:spcPct val="100000"/>
              </a:lnSpc>
            </a:pPr>
            <a:r>
              <a:rPr sz="1600" spc="140" dirty="0">
                <a:latin typeface="Tahoma"/>
                <a:cs typeface="Tahoma"/>
              </a:rPr>
              <a:t>J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20" dirty="0">
                <a:latin typeface="Tahoma"/>
                <a:cs typeface="Tahoma"/>
              </a:rPr>
              <a:t>m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85" dirty="0">
                <a:latin typeface="Tahoma"/>
                <a:cs typeface="Tahoma"/>
              </a:rPr>
              <a:t>s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85" dirty="0">
                <a:latin typeface="Tahoma"/>
                <a:cs typeface="Tahoma"/>
              </a:rPr>
              <a:t>M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-85" dirty="0">
                <a:latin typeface="Tahoma"/>
                <a:cs typeface="Tahoma"/>
              </a:rPr>
              <a:t>t</a:t>
            </a:r>
            <a:r>
              <a:rPr sz="1600" spc="-5" dirty="0">
                <a:latin typeface="Tahoma"/>
                <a:cs typeface="Tahoma"/>
              </a:rPr>
              <a:t>in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1979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497" y="323595"/>
            <a:ext cx="168148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225" dirty="0">
                <a:solidFill>
                  <a:schemeClr val="tx1"/>
                </a:solidFill>
              </a:rPr>
              <a:t>E</a:t>
            </a:r>
            <a:r>
              <a:rPr sz="2200" spc="-55" dirty="0">
                <a:solidFill>
                  <a:schemeClr val="tx1"/>
                </a:solidFill>
              </a:rPr>
              <a:t>r</a:t>
            </a:r>
            <a:r>
              <a:rPr sz="2200" spc="70" dirty="0">
                <a:solidFill>
                  <a:schemeClr val="tx1"/>
                </a:solidFill>
              </a:rPr>
              <a:t>a</a:t>
            </a:r>
            <a:r>
              <a:rPr sz="2200" spc="-210" dirty="0">
                <a:solidFill>
                  <a:schemeClr val="tx1"/>
                </a:solidFill>
              </a:rPr>
              <a:t> </a:t>
            </a:r>
            <a:r>
              <a:rPr sz="2200" spc="-204" dirty="0">
                <a:solidFill>
                  <a:schemeClr val="tx1"/>
                </a:solidFill>
              </a:rPr>
              <a:t>I</a:t>
            </a:r>
            <a:r>
              <a:rPr sz="2200" spc="-55" dirty="0">
                <a:solidFill>
                  <a:schemeClr val="tx1"/>
                </a:solidFill>
              </a:rPr>
              <a:t>n</a:t>
            </a:r>
            <a:r>
              <a:rPr sz="2200" spc="-10" dirty="0">
                <a:solidFill>
                  <a:schemeClr val="tx1"/>
                </a:solidFill>
              </a:rPr>
              <a:t>form</a:t>
            </a:r>
            <a:r>
              <a:rPr sz="2200" spc="60" dirty="0">
                <a:solidFill>
                  <a:schemeClr val="tx1"/>
                </a:solidFill>
              </a:rPr>
              <a:t>asi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5515" y="1055064"/>
            <a:ext cx="2132330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6690" indent="-17399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Font typeface="Tahoma"/>
              <a:buChar char="■"/>
              <a:tabLst>
                <a:tab pos="186690" algn="l"/>
              </a:tabLst>
            </a:pPr>
            <a:r>
              <a:rPr sz="1400" spc="-35" dirty="0">
                <a:latin typeface="Verdana"/>
                <a:cs typeface="Verdana"/>
              </a:rPr>
              <a:t>P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5" dirty="0">
                <a:latin typeface="Verdana"/>
                <a:cs typeface="Verdana"/>
              </a:rPr>
              <a:t>ru</a:t>
            </a:r>
            <a:r>
              <a:rPr sz="1400" spc="-10" dirty="0">
                <a:latin typeface="Verdana"/>
                <a:cs typeface="Verdana"/>
              </a:rPr>
              <a:t>b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h</a:t>
            </a:r>
            <a:r>
              <a:rPr sz="1400" spc="-5" dirty="0">
                <a:latin typeface="Verdana"/>
                <a:cs typeface="Verdana"/>
              </a:rPr>
              <a:t>an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p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spc="-5" dirty="0">
                <a:latin typeface="Verdana"/>
                <a:cs typeface="Verdana"/>
              </a:rPr>
              <a:t>ad</a:t>
            </a:r>
            <a:r>
              <a:rPr sz="1400" spc="-30" dirty="0">
                <a:latin typeface="Verdana"/>
                <a:cs typeface="Verdana"/>
              </a:rPr>
              <a:t>i</a:t>
            </a:r>
            <a:r>
              <a:rPr sz="1400" spc="-10" dirty="0">
                <a:latin typeface="Verdana"/>
                <a:cs typeface="Verdana"/>
              </a:rPr>
              <a:t>g</a:t>
            </a:r>
            <a:r>
              <a:rPr sz="1400" spc="-25" dirty="0">
                <a:latin typeface="Verdana"/>
                <a:cs typeface="Verdana"/>
              </a:rPr>
              <a:t>m</a:t>
            </a:r>
            <a:r>
              <a:rPr sz="1400" spc="-5" dirty="0">
                <a:latin typeface="Verdana"/>
                <a:cs typeface="Verdana"/>
              </a:rPr>
              <a:t>a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7158" y="1513458"/>
            <a:ext cx="1280795" cy="963294"/>
            <a:chOff x="637158" y="1513458"/>
            <a:chExt cx="1280795" cy="963294"/>
          </a:xfrm>
        </p:grpSpPr>
        <p:sp>
          <p:nvSpPr>
            <p:cNvPr id="5" name="object 5"/>
            <p:cNvSpPr/>
            <p:nvPr/>
          </p:nvSpPr>
          <p:spPr>
            <a:xfrm>
              <a:off x="643508" y="1519808"/>
              <a:ext cx="81280" cy="950594"/>
            </a:xfrm>
            <a:custGeom>
              <a:avLst/>
              <a:gdLst/>
              <a:ahLst/>
              <a:cxnLst/>
              <a:rect l="l" t="t" r="r" b="b"/>
              <a:pathLst>
                <a:path w="81279" h="950594">
                  <a:moveTo>
                    <a:pt x="0" y="0"/>
                  </a:moveTo>
                  <a:lnTo>
                    <a:pt x="0" y="869441"/>
                  </a:lnTo>
                  <a:lnTo>
                    <a:pt x="80772" y="950213"/>
                  </a:lnTo>
                  <a:lnTo>
                    <a:pt x="80772" y="80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B9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508" y="1519808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80">
                  <a:moveTo>
                    <a:pt x="80772" y="8077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9B9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3508" y="1519808"/>
              <a:ext cx="1268095" cy="81280"/>
            </a:xfrm>
            <a:custGeom>
              <a:avLst/>
              <a:gdLst/>
              <a:ahLst/>
              <a:cxnLst/>
              <a:rect l="l" t="t" r="r" b="b"/>
              <a:pathLst>
                <a:path w="1268095" h="81280">
                  <a:moveTo>
                    <a:pt x="1187196" y="0"/>
                  </a:moveTo>
                  <a:lnTo>
                    <a:pt x="0" y="0"/>
                  </a:lnTo>
                  <a:lnTo>
                    <a:pt x="80772" y="80772"/>
                  </a:lnTo>
                  <a:lnTo>
                    <a:pt x="1267968" y="80772"/>
                  </a:lnTo>
                  <a:lnTo>
                    <a:pt x="1187196" y="0"/>
                  </a:lnTo>
                  <a:close/>
                </a:path>
              </a:pathLst>
            </a:custGeom>
            <a:solidFill>
              <a:srgbClr val="717D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30705" y="1519808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80" h="81280">
                  <a:moveTo>
                    <a:pt x="80771" y="8077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17D8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4280" y="1600580"/>
              <a:ext cx="1187450" cy="869950"/>
            </a:xfrm>
            <a:custGeom>
              <a:avLst/>
              <a:gdLst/>
              <a:ahLst/>
              <a:cxnLst/>
              <a:rect l="l" t="t" r="r" b="b"/>
              <a:pathLst>
                <a:path w="1187450" h="869950">
                  <a:moveTo>
                    <a:pt x="1187196" y="0"/>
                  </a:moveTo>
                  <a:lnTo>
                    <a:pt x="0" y="0"/>
                  </a:lnTo>
                  <a:lnTo>
                    <a:pt x="0" y="869441"/>
                  </a:lnTo>
                  <a:lnTo>
                    <a:pt x="1187196" y="869441"/>
                  </a:lnTo>
                  <a:lnTo>
                    <a:pt x="1187196" y="0"/>
                  </a:lnTo>
                  <a:close/>
                </a:path>
              </a:pathLst>
            </a:custGeom>
            <a:solidFill>
              <a:srgbClr val="92A1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4280" y="1600580"/>
              <a:ext cx="0" cy="869950"/>
            </a:xfrm>
            <a:custGeom>
              <a:avLst/>
              <a:gdLst/>
              <a:ahLst/>
              <a:cxnLst/>
              <a:rect l="l" t="t" r="r" b="b"/>
              <a:pathLst>
                <a:path h="869950">
                  <a:moveTo>
                    <a:pt x="0" y="0"/>
                  </a:moveTo>
                  <a:lnTo>
                    <a:pt x="0" y="869441"/>
                  </a:lnTo>
                </a:path>
              </a:pathLst>
            </a:custGeom>
            <a:ln w="12700">
              <a:solidFill>
                <a:srgbClr val="AFC2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4280" y="2463672"/>
              <a:ext cx="1187450" cy="12700"/>
            </a:xfrm>
            <a:custGeom>
              <a:avLst/>
              <a:gdLst/>
              <a:ahLst/>
              <a:cxnLst/>
              <a:rect l="l" t="t" r="r" b="b"/>
              <a:pathLst>
                <a:path w="1187450" h="12700">
                  <a:moveTo>
                    <a:pt x="0" y="12700"/>
                  </a:moveTo>
                  <a:lnTo>
                    <a:pt x="1187195" y="12700"/>
                  </a:lnTo>
                  <a:lnTo>
                    <a:pt x="118719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896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1476" y="1600580"/>
              <a:ext cx="0" cy="869950"/>
            </a:xfrm>
            <a:custGeom>
              <a:avLst/>
              <a:gdLst/>
              <a:ahLst/>
              <a:cxnLst/>
              <a:rect l="l" t="t" r="r" b="b"/>
              <a:pathLst>
                <a:path h="869950">
                  <a:moveTo>
                    <a:pt x="0" y="86944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0B0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4280" y="1600580"/>
              <a:ext cx="1187450" cy="0"/>
            </a:xfrm>
            <a:custGeom>
              <a:avLst/>
              <a:gdLst/>
              <a:ahLst/>
              <a:cxnLst/>
              <a:rect l="l" t="t" r="r" b="b"/>
              <a:pathLst>
                <a:path w="1187450">
                  <a:moveTo>
                    <a:pt x="118719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8896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0630" y="1610741"/>
            <a:ext cx="1174750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Verdana"/>
                <a:cs typeface="Verdana"/>
              </a:rPr>
              <a:t>Lama:</a:t>
            </a:r>
            <a:endParaRPr sz="1200">
              <a:latin typeface="Verdana"/>
              <a:cs typeface="Verdana"/>
            </a:endParaRPr>
          </a:p>
          <a:p>
            <a:pPr marL="177165" indent="-137795">
              <a:lnSpc>
                <a:spcPct val="100000"/>
              </a:lnSpc>
              <a:spcBef>
                <a:spcPts val="200"/>
              </a:spcBef>
              <a:buSzPct val="120000"/>
              <a:buFont typeface="Verdana"/>
              <a:buChar char="•"/>
              <a:tabLst>
                <a:tab pos="177800" algn="l"/>
              </a:tabLst>
            </a:pPr>
            <a:r>
              <a:rPr sz="1000" b="1" dirty="0">
                <a:latin typeface="Verdana"/>
                <a:cs typeface="Verdana"/>
              </a:rPr>
              <a:t>Konvensional</a:t>
            </a:r>
            <a:endParaRPr sz="1000">
              <a:latin typeface="Verdana"/>
              <a:cs typeface="Verdana"/>
            </a:endParaRPr>
          </a:p>
          <a:p>
            <a:pPr marL="153035" indent="-113030">
              <a:lnSpc>
                <a:spcPct val="100000"/>
              </a:lnSpc>
              <a:buFont typeface="Verdana"/>
              <a:buChar char="•"/>
              <a:tabLst>
                <a:tab pos="153035" algn="l"/>
              </a:tabLst>
            </a:pPr>
            <a:r>
              <a:rPr sz="1000" b="1" dirty="0">
                <a:latin typeface="Verdana"/>
                <a:cs typeface="Verdana"/>
              </a:rPr>
              <a:t>Standard</a:t>
            </a:r>
            <a:endParaRPr sz="1000">
              <a:latin typeface="Verdana"/>
              <a:cs typeface="Verdana"/>
            </a:endParaRPr>
          </a:p>
          <a:p>
            <a:pPr marL="153035" indent="-113030">
              <a:lnSpc>
                <a:spcPct val="100000"/>
              </a:lnSpc>
              <a:buFont typeface="Verdana"/>
              <a:buChar char="•"/>
              <a:tabLst>
                <a:tab pos="153035" algn="l"/>
              </a:tabLst>
            </a:pPr>
            <a:r>
              <a:rPr sz="1000" b="1" dirty="0">
                <a:latin typeface="Verdana"/>
                <a:cs typeface="Verdana"/>
              </a:rPr>
              <a:t>Monopoli</a:t>
            </a:r>
            <a:endParaRPr sz="1000">
              <a:latin typeface="Verdana"/>
              <a:cs typeface="Verdana"/>
            </a:endParaRPr>
          </a:p>
          <a:p>
            <a:pPr marL="153035" indent="-113030">
              <a:lnSpc>
                <a:spcPct val="100000"/>
              </a:lnSpc>
              <a:buFont typeface="Verdana"/>
              <a:buChar char="•"/>
              <a:tabLst>
                <a:tab pos="153035" algn="l"/>
              </a:tabLst>
            </a:pPr>
            <a:r>
              <a:rPr sz="1000" b="1" dirty="0">
                <a:latin typeface="Verdana"/>
                <a:cs typeface="Verdana"/>
              </a:rPr>
              <a:t>Terproteksi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89986" y="1513458"/>
            <a:ext cx="1432560" cy="963294"/>
            <a:chOff x="2689986" y="1513458"/>
            <a:chExt cx="1432560" cy="963294"/>
          </a:xfrm>
        </p:grpSpPr>
        <p:sp>
          <p:nvSpPr>
            <p:cNvPr id="16" name="object 16"/>
            <p:cNvSpPr/>
            <p:nvPr/>
          </p:nvSpPr>
          <p:spPr>
            <a:xfrm>
              <a:off x="2696336" y="1519808"/>
              <a:ext cx="81280" cy="950594"/>
            </a:xfrm>
            <a:custGeom>
              <a:avLst/>
              <a:gdLst/>
              <a:ahLst/>
              <a:cxnLst/>
              <a:rect l="l" t="t" r="r" b="b"/>
              <a:pathLst>
                <a:path w="81280" h="950594">
                  <a:moveTo>
                    <a:pt x="0" y="0"/>
                  </a:moveTo>
                  <a:lnTo>
                    <a:pt x="0" y="869441"/>
                  </a:lnTo>
                  <a:lnTo>
                    <a:pt x="80772" y="950213"/>
                  </a:lnTo>
                  <a:lnTo>
                    <a:pt x="80772" y="80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E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96336" y="1519808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80" h="81280">
                  <a:moveTo>
                    <a:pt x="80772" y="8077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0E0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96336" y="1519808"/>
              <a:ext cx="1419860" cy="81280"/>
            </a:xfrm>
            <a:custGeom>
              <a:avLst/>
              <a:gdLst/>
              <a:ahLst/>
              <a:cxnLst/>
              <a:rect l="l" t="t" r="r" b="b"/>
              <a:pathLst>
                <a:path w="1419860" h="81280">
                  <a:moveTo>
                    <a:pt x="1338834" y="0"/>
                  </a:moveTo>
                  <a:lnTo>
                    <a:pt x="0" y="0"/>
                  </a:lnTo>
                  <a:lnTo>
                    <a:pt x="80772" y="80772"/>
                  </a:lnTo>
                  <a:lnTo>
                    <a:pt x="1419606" y="80772"/>
                  </a:lnTo>
                  <a:lnTo>
                    <a:pt x="1338834" y="0"/>
                  </a:lnTo>
                  <a:close/>
                </a:path>
              </a:pathLst>
            </a:custGeom>
            <a:solidFill>
              <a:srgbClr val="9797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35170" y="1519808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80">
                  <a:moveTo>
                    <a:pt x="80772" y="8077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9797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77108" y="1600580"/>
              <a:ext cx="1339215" cy="869950"/>
            </a:xfrm>
            <a:custGeom>
              <a:avLst/>
              <a:gdLst/>
              <a:ahLst/>
              <a:cxnLst/>
              <a:rect l="l" t="t" r="r" b="b"/>
              <a:pathLst>
                <a:path w="1339214" h="869950">
                  <a:moveTo>
                    <a:pt x="1338834" y="0"/>
                  </a:moveTo>
                  <a:lnTo>
                    <a:pt x="0" y="0"/>
                  </a:lnTo>
                  <a:lnTo>
                    <a:pt x="0" y="869441"/>
                  </a:lnTo>
                  <a:lnTo>
                    <a:pt x="1338834" y="869441"/>
                  </a:lnTo>
                  <a:lnTo>
                    <a:pt x="1338834" y="0"/>
                  </a:lnTo>
                  <a:close/>
                </a:path>
              </a:pathLst>
            </a:custGeom>
            <a:solidFill>
              <a:srgbClr val="C4C4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77108" y="1600580"/>
              <a:ext cx="0" cy="869950"/>
            </a:xfrm>
            <a:custGeom>
              <a:avLst/>
              <a:gdLst/>
              <a:ahLst/>
              <a:cxnLst/>
              <a:rect l="l" t="t" r="r" b="b"/>
              <a:pathLst>
                <a:path h="869950">
                  <a:moveTo>
                    <a:pt x="0" y="0"/>
                  </a:moveTo>
                  <a:lnTo>
                    <a:pt x="0" y="869441"/>
                  </a:lnTo>
                </a:path>
              </a:pathLst>
            </a:custGeom>
            <a:ln w="12700">
              <a:solidFill>
                <a:srgbClr val="EAEA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77108" y="2463672"/>
              <a:ext cx="1339215" cy="12700"/>
            </a:xfrm>
            <a:custGeom>
              <a:avLst/>
              <a:gdLst/>
              <a:ahLst/>
              <a:cxnLst/>
              <a:rect l="l" t="t" r="r" b="b"/>
              <a:pathLst>
                <a:path w="1339214" h="12700">
                  <a:moveTo>
                    <a:pt x="0" y="12700"/>
                  </a:moveTo>
                  <a:lnTo>
                    <a:pt x="1338834" y="12700"/>
                  </a:lnTo>
                  <a:lnTo>
                    <a:pt x="133883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B7B7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5942" y="1600580"/>
              <a:ext cx="0" cy="869950"/>
            </a:xfrm>
            <a:custGeom>
              <a:avLst/>
              <a:gdLst/>
              <a:ahLst/>
              <a:cxnLst/>
              <a:rect l="l" t="t" r="r" b="b"/>
              <a:pathLst>
                <a:path h="869950">
                  <a:moveTo>
                    <a:pt x="0" y="86944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D5D5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77108" y="1600580"/>
              <a:ext cx="1339215" cy="0"/>
            </a:xfrm>
            <a:custGeom>
              <a:avLst/>
              <a:gdLst/>
              <a:ahLst/>
              <a:cxnLst/>
              <a:rect l="l" t="t" r="r" b="b"/>
              <a:pathLst>
                <a:path w="1339214">
                  <a:moveTo>
                    <a:pt x="1338834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B7B7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783458" y="1610741"/>
            <a:ext cx="1326515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Baru:</a:t>
            </a:r>
            <a:endParaRPr sz="1200">
              <a:latin typeface="Verdana"/>
              <a:cs typeface="Verdana"/>
            </a:endParaRPr>
          </a:p>
          <a:p>
            <a:pPr marL="177800" indent="-137795">
              <a:lnSpc>
                <a:spcPct val="100000"/>
              </a:lnSpc>
              <a:spcBef>
                <a:spcPts val="200"/>
              </a:spcBef>
              <a:buSzPct val="120000"/>
              <a:buFont typeface="Verdana"/>
              <a:buChar char="•"/>
              <a:tabLst>
                <a:tab pos="178435" algn="l"/>
              </a:tabLst>
            </a:pPr>
            <a:r>
              <a:rPr sz="1000" b="1" spc="-5" dirty="0">
                <a:latin typeface="Verdana"/>
                <a:cs typeface="Verdana"/>
              </a:rPr>
              <a:t>Feksibel</a:t>
            </a:r>
            <a:endParaRPr sz="1000">
              <a:latin typeface="Verdana"/>
              <a:cs typeface="Verdana"/>
            </a:endParaRPr>
          </a:p>
          <a:p>
            <a:pPr marL="153670" indent="-113664">
              <a:lnSpc>
                <a:spcPct val="100000"/>
              </a:lnSpc>
              <a:buFont typeface="Verdana"/>
              <a:buChar char="•"/>
              <a:tabLst>
                <a:tab pos="154305" algn="l"/>
              </a:tabLst>
            </a:pPr>
            <a:r>
              <a:rPr sz="1000" b="1" dirty="0">
                <a:latin typeface="Verdana"/>
                <a:cs typeface="Verdana"/>
              </a:rPr>
              <a:t>Customized</a:t>
            </a:r>
            <a:endParaRPr sz="1000">
              <a:latin typeface="Verdana"/>
              <a:cs typeface="Verdana"/>
            </a:endParaRPr>
          </a:p>
          <a:p>
            <a:pPr marL="153670" indent="-113664">
              <a:lnSpc>
                <a:spcPct val="100000"/>
              </a:lnSpc>
              <a:buFont typeface="Verdana"/>
              <a:buChar char="•"/>
              <a:tabLst>
                <a:tab pos="154305" algn="l"/>
              </a:tabLst>
            </a:pPr>
            <a:r>
              <a:rPr sz="1000" b="1" spc="-5" dirty="0">
                <a:latin typeface="Verdana"/>
                <a:cs typeface="Verdana"/>
              </a:rPr>
              <a:t>Profesionalitas</a:t>
            </a:r>
            <a:endParaRPr sz="1000">
              <a:latin typeface="Verdana"/>
              <a:cs typeface="Verdana"/>
            </a:endParaRPr>
          </a:p>
          <a:p>
            <a:pPr marL="153670" indent="-113664">
              <a:lnSpc>
                <a:spcPct val="100000"/>
              </a:lnSpc>
              <a:buFont typeface="Verdana"/>
              <a:buChar char="•"/>
              <a:tabLst>
                <a:tab pos="154305" algn="l"/>
              </a:tabLst>
            </a:pPr>
            <a:r>
              <a:rPr sz="1000" b="1" spc="10" dirty="0">
                <a:latin typeface="Verdana"/>
                <a:cs typeface="Verdana"/>
              </a:rPr>
              <a:t>T</a:t>
            </a:r>
            <a:r>
              <a:rPr sz="1000" b="1" spc="-10" dirty="0">
                <a:latin typeface="Verdana"/>
                <a:cs typeface="Verdana"/>
              </a:rPr>
              <a:t>id</a:t>
            </a:r>
            <a:r>
              <a:rPr sz="1000" b="1" spc="5" dirty="0">
                <a:latin typeface="Verdana"/>
                <a:cs typeface="Verdana"/>
              </a:rPr>
              <a:t>ak</a:t>
            </a:r>
            <a:r>
              <a:rPr sz="1000" b="1" spc="-130" dirty="0">
                <a:latin typeface="Verdana"/>
                <a:cs typeface="Verdana"/>
              </a:rPr>
              <a:t> </a:t>
            </a:r>
            <a:r>
              <a:rPr sz="1000" b="1" spc="5" dirty="0">
                <a:latin typeface="Verdana"/>
                <a:cs typeface="Verdana"/>
              </a:rPr>
              <a:t>B</a:t>
            </a:r>
            <a:r>
              <a:rPr sz="1000" b="1" spc="-10" dirty="0">
                <a:latin typeface="Verdana"/>
                <a:cs typeface="Verdana"/>
              </a:rPr>
              <a:t>i</a:t>
            </a:r>
            <a:r>
              <a:rPr sz="1000" b="1" spc="-5" dirty="0">
                <a:latin typeface="Verdana"/>
                <a:cs typeface="Verdana"/>
              </a:rPr>
              <a:t>r</a:t>
            </a:r>
            <a:r>
              <a:rPr sz="1000" b="1" spc="10" dirty="0">
                <a:latin typeface="Verdana"/>
                <a:cs typeface="Verdana"/>
              </a:rPr>
              <a:t>o</a:t>
            </a:r>
            <a:r>
              <a:rPr sz="1000" b="1" spc="-5" dirty="0">
                <a:latin typeface="Verdana"/>
                <a:cs typeface="Verdana"/>
              </a:rPr>
              <a:t>krat</a:t>
            </a:r>
            <a:r>
              <a:rPr sz="1000" b="1" spc="-15" dirty="0">
                <a:latin typeface="Verdana"/>
                <a:cs typeface="Verdana"/>
              </a:rPr>
              <a:t>i</a:t>
            </a:r>
            <a:r>
              <a:rPr sz="1000" b="1" dirty="0">
                <a:latin typeface="Verdana"/>
                <a:cs typeface="Verdana"/>
              </a:rPr>
              <a:t>s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066925" y="1926716"/>
            <a:ext cx="590550" cy="524510"/>
            <a:chOff x="2066925" y="1926716"/>
            <a:chExt cx="590550" cy="524510"/>
          </a:xfrm>
        </p:grpSpPr>
        <p:sp>
          <p:nvSpPr>
            <p:cNvPr id="27" name="object 27"/>
            <p:cNvSpPr/>
            <p:nvPr/>
          </p:nvSpPr>
          <p:spPr>
            <a:xfrm>
              <a:off x="2066925" y="1926716"/>
              <a:ext cx="552450" cy="486409"/>
            </a:xfrm>
            <a:custGeom>
              <a:avLst/>
              <a:gdLst/>
              <a:ahLst/>
              <a:cxnLst/>
              <a:rect l="l" t="t" r="r" b="b"/>
              <a:pathLst>
                <a:path w="552450" h="486410">
                  <a:moveTo>
                    <a:pt x="414528" y="0"/>
                  </a:moveTo>
                  <a:lnTo>
                    <a:pt x="414528" y="121157"/>
                  </a:lnTo>
                  <a:lnTo>
                    <a:pt x="0" y="121157"/>
                  </a:lnTo>
                  <a:lnTo>
                    <a:pt x="0" y="364235"/>
                  </a:lnTo>
                  <a:lnTo>
                    <a:pt x="414528" y="364235"/>
                  </a:lnTo>
                  <a:lnTo>
                    <a:pt x="414528" y="486155"/>
                  </a:lnTo>
                  <a:lnTo>
                    <a:pt x="552450" y="243077"/>
                  </a:lnTo>
                  <a:lnTo>
                    <a:pt x="414528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05025" y="1964816"/>
              <a:ext cx="552450" cy="486409"/>
            </a:xfrm>
            <a:custGeom>
              <a:avLst/>
              <a:gdLst/>
              <a:ahLst/>
              <a:cxnLst/>
              <a:rect l="l" t="t" r="r" b="b"/>
              <a:pathLst>
                <a:path w="552450" h="486410">
                  <a:moveTo>
                    <a:pt x="414528" y="0"/>
                  </a:moveTo>
                  <a:lnTo>
                    <a:pt x="414528" y="121157"/>
                  </a:lnTo>
                  <a:lnTo>
                    <a:pt x="0" y="121157"/>
                  </a:lnTo>
                  <a:lnTo>
                    <a:pt x="0" y="364235"/>
                  </a:lnTo>
                  <a:lnTo>
                    <a:pt x="414528" y="364235"/>
                  </a:lnTo>
                  <a:lnTo>
                    <a:pt x="414528" y="486155"/>
                  </a:lnTo>
                  <a:lnTo>
                    <a:pt x="552450" y="243077"/>
                  </a:lnTo>
                  <a:lnTo>
                    <a:pt x="414528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5433" y="362330"/>
            <a:ext cx="292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5" dirty="0">
                <a:solidFill>
                  <a:schemeClr val="tx1"/>
                </a:solidFill>
              </a:rPr>
              <a:t>PER</a:t>
            </a:r>
            <a:r>
              <a:rPr sz="1800" spc="180" dirty="0">
                <a:solidFill>
                  <a:schemeClr val="tx1"/>
                </a:solidFill>
              </a:rPr>
              <a:t>U</a:t>
            </a:r>
            <a:r>
              <a:rPr sz="1800" spc="114" dirty="0">
                <a:solidFill>
                  <a:schemeClr val="tx1"/>
                </a:solidFill>
              </a:rPr>
              <a:t>BAH</a:t>
            </a:r>
            <a:r>
              <a:rPr sz="1800" spc="100" dirty="0">
                <a:solidFill>
                  <a:schemeClr val="tx1"/>
                </a:solidFill>
              </a:rPr>
              <a:t>A</a:t>
            </a:r>
            <a:r>
              <a:rPr sz="1800" spc="95" dirty="0">
                <a:solidFill>
                  <a:schemeClr val="tx1"/>
                </a:solidFill>
              </a:rPr>
              <a:t>N</a:t>
            </a:r>
            <a:r>
              <a:rPr sz="1800" spc="-180" dirty="0">
                <a:solidFill>
                  <a:schemeClr val="tx1"/>
                </a:solidFill>
              </a:rPr>
              <a:t> </a:t>
            </a:r>
            <a:r>
              <a:rPr sz="1800" spc="70" dirty="0">
                <a:solidFill>
                  <a:schemeClr val="tx1"/>
                </a:solidFill>
              </a:rPr>
              <a:t>M</a:t>
            </a:r>
            <a:r>
              <a:rPr sz="1800" spc="130" dirty="0">
                <a:solidFill>
                  <a:schemeClr val="tx1"/>
                </a:solidFill>
              </a:rPr>
              <a:t>ANA</a:t>
            </a:r>
            <a:r>
              <a:rPr sz="1800" spc="90" dirty="0">
                <a:solidFill>
                  <a:schemeClr val="tx1"/>
                </a:solidFill>
              </a:rPr>
              <a:t>J</a:t>
            </a:r>
            <a:r>
              <a:rPr sz="1800" spc="125" dirty="0">
                <a:solidFill>
                  <a:schemeClr val="tx1"/>
                </a:solidFill>
              </a:rPr>
              <a:t>E</a:t>
            </a:r>
            <a:r>
              <a:rPr sz="1800" spc="135" dirty="0">
                <a:solidFill>
                  <a:schemeClr val="tx1"/>
                </a:solidFill>
              </a:rPr>
              <a:t>M</a:t>
            </a:r>
            <a:r>
              <a:rPr sz="1800" spc="140" dirty="0">
                <a:solidFill>
                  <a:schemeClr val="tx1"/>
                </a:solidFill>
              </a:rPr>
              <a:t>EN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225" marR="88265" indent="-17145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150000"/>
              <a:buChar char="■"/>
              <a:tabLst>
                <a:tab pos="404495" algn="l"/>
              </a:tabLst>
            </a:pPr>
            <a:r>
              <a:rPr spc="-15" dirty="0">
                <a:solidFill>
                  <a:schemeClr val="tx1"/>
                </a:solidFill>
              </a:rPr>
              <a:t>Informasi </a:t>
            </a:r>
            <a:r>
              <a:rPr dirty="0">
                <a:solidFill>
                  <a:schemeClr val="tx1"/>
                </a:solidFill>
              </a:rPr>
              <a:t>mengalir </a:t>
            </a:r>
            <a:r>
              <a:rPr spc="10" dirty="0">
                <a:solidFill>
                  <a:schemeClr val="tx1"/>
                </a:solidFill>
              </a:rPr>
              <a:t>langsung </a:t>
            </a:r>
            <a:r>
              <a:rPr spc="15" dirty="0">
                <a:solidFill>
                  <a:schemeClr val="tx1"/>
                </a:solidFill>
              </a:rPr>
              <a:t>ke </a:t>
            </a:r>
            <a:r>
              <a:rPr spc="-385" dirty="0">
                <a:solidFill>
                  <a:schemeClr val="tx1"/>
                </a:solidFill>
              </a:rPr>
              <a:t>ppimi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180" dirty="0">
                <a:solidFill>
                  <a:schemeClr val="tx1"/>
                </a:solidFill>
              </a:rPr>
              <a:t>mppinnaannpuncak </a:t>
            </a:r>
            <a:r>
              <a:rPr spc="-17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tanpa campur tangan </a:t>
            </a:r>
            <a:r>
              <a:rPr spc="-10" dirty="0">
                <a:solidFill>
                  <a:schemeClr val="tx1"/>
                </a:solidFill>
              </a:rPr>
              <a:t>manajemen </a:t>
            </a:r>
            <a:r>
              <a:rPr spc="-15" dirty="0">
                <a:solidFill>
                  <a:schemeClr val="tx1"/>
                </a:solidFill>
              </a:rPr>
              <a:t>tingkat </a:t>
            </a:r>
            <a:r>
              <a:rPr spc="5" dirty="0">
                <a:solidFill>
                  <a:schemeClr val="tx1"/>
                </a:solidFill>
              </a:rPr>
              <a:t>menengah </a:t>
            </a:r>
            <a:r>
              <a:rPr spc="-360" dirty="0">
                <a:solidFill>
                  <a:schemeClr val="tx1"/>
                </a:solidFill>
              </a:rPr>
              <a:t> </a:t>
            </a:r>
            <a:r>
              <a:rPr spc="10" dirty="0">
                <a:solidFill>
                  <a:schemeClr val="tx1"/>
                </a:solidFill>
              </a:rPr>
              <a:t>dengan</a:t>
            </a:r>
            <a:r>
              <a:rPr spc="-10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</a:t>
            </a:r>
            <a:r>
              <a:rPr spc="35" dirty="0">
                <a:solidFill>
                  <a:schemeClr val="tx1"/>
                </a:solidFill>
              </a:rPr>
              <a:t>a</a:t>
            </a:r>
            <a:r>
              <a:rPr spc="-5" dirty="0">
                <a:solidFill>
                  <a:schemeClr val="tx1"/>
                </a:solidFill>
              </a:rPr>
              <a:t>n</a:t>
            </a:r>
            <a:r>
              <a:rPr spc="-30" dirty="0">
                <a:solidFill>
                  <a:schemeClr val="tx1"/>
                </a:solidFill>
              </a:rPr>
              <a:t>t</a:t>
            </a:r>
            <a:r>
              <a:rPr spc="-40" dirty="0">
                <a:solidFill>
                  <a:schemeClr val="tx1"/>
                </a:solidFill>
              </a:rPr>
              <a:t>u</a:t>
            </a:r>
            <a:r>
              <a:rPr spc="35" dirty="0">
                <a:solidFill>
                  <a:schemeClr val="tx1"/>
                </a:solidFill>
              </a:rPr>
              <a:t>a</a:t>
            </a:r>
            <a:r>
              <a:rPr spc="-5" dirty="0">
                <a:solidFill>
                  <a:schemeClr val="tx1"/>
                </a:solidFill>
              </a:rPr>
              <a:t>n</a:t>
            </a:r>
            <a:r>
              <a:rPr spc="-125" dirty="0">
                <a:solidFill>
                  <a:schemeClr val="tx1"/>
                </a:solidFill>
              </a:rPr>
              <a:t> </a:t>
            </a:r>
            <a:r>
              <a:rPr spc="120" dirty="0">
                <a:solidFill>
                  <a:schemeClr val="tx1"/>
                </a:solidFill>
              </a:rPr>
              <a:t>S</a:t>
            </a:r>
            <a:r>
              <a:rPr spc="-20" dirty="0">
                <a:solidFill>
                  <a:schemeClr val="tx1"/>
                </a:solidFill>
              </a:rPr>
              <a:t>IM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spc="-55" dirty="0">
                <a:solidFill>
                  <a:schemeClr val="tx1"/>
                </a:solidFill>
              </a:rPr>
              <a:t>(</a:t>
            </a:r>
            <a:r>
              <a:rPr spc="120" dirty="0">
                <a:solidFill>
                  <a:schemeClr val="tx1"/>
                </a:solidFill>
              </a:rPr>
              <a:t>S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spc="5" dirty="0">
                <a:solidFill>
                  <a:schemeClr val="tx1"/>
                </a:solidFill>
              </a:rPr>
              <a:t>st</a:t>
            </a:r>
            <a:r>
              <a:rPr spc="15" dirty="0">
                <a:solidFill>
                  <a:schemeClr val="tx1"/>
                </a:solidFill>
              </a:rPr>
              <a:t>e</a:t>
            </a:r>
            <a:r>
              <a:rPr spc="-10" dirty="0">
                <a:solidFill>
                  <a:schemeClr val="tx1"/>
                </a:solidFill>
              </a:rPr>
              <a:t>m</a:t>
            </a:r>
            <a:r>
              <a:rPr spc="-105" dirty="0">
                <a:solidFill>
                  <a:schemeClr val="tx1"/>
                </a:solidFill>
              </a:rPr>
              <a:t> </a:t>
            </a:r>
            <a:r>
              <a:rPr spc="-50" dirty="0">
                <a:solidFill>
                  <a:schemeClr val="tx1"/>
                </a:solidFill>
              </a:rPr>
              <a:t>I</a:t>
            </a:r>
            <a:r>
              <a:rPr spc="-65" dirty="0">
                <a:solidFill>
                  <a:schemeClr val="tx1"/>
                </a:solidFill>
              </a:rPr>
              <a:t>n</a:t>
            </a:r>
            <a:r>
              <a:rPr spc="-15" dirty="0">
                <a:solidFill>
                  <a:schemeClr val="tx1"/>
                </a:solidFill>
              </a:rPr>
              <a:t>f</a:t>
            </a:r>
            <a:r>
              <a:rPr spc="-20" dirty="0">
                <a:solidFill>
                  <a:schemeClr val="tx1"/>
                </a:solidFill>
              </a:rPr>
              <a:t>o</a:t>
            </a:r>
            <a:r>
              <a:rPr spc="-30" dirty="0">
                <a:solidFill>
                  <a:schemeClr val="tx1"/>
                </a:solidFill>
              </a:rPr>
              <a:t>r</a:t>
            </a:r>
            <a:r>
              <a:rPr spc="-50" dirty="0">
                <a:solidFill>
                  <a:schemeClr val="tx1"/>
                </a:solidFill>
              </a:rPr>
              <a:t>m</a:t>
            </a:r>
            <a:r>
              <a:rPr spc="35" dirty="0">
                <a:solidFill>
                  <a:schemeClr val="tx1"/>
                </a:solidFill>
              </a:rPr>
              <a:t>a</a:t>
            </a:r>
            <a:r>
              <a:rPr spc="25" dirty="0">
                <a:solidFill>
                  <a:schemeClr val="tx1"/>
                </a:solidFill>
              </a:rPr>
              <a:t>si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spc="-280" dirty="0">
                <a:solidFill>
                  <a:schemeClr val="tx1"/>
                </a:solidFill>
              </a:rPr>
              <a:t>MM</a:t>
            </a:r>
            <a:r>
              <a:rPr spc="-300" dirty="0">
                <a:solidFill>
                  <a:schemeClr val="tx1"/>
                </a:solidFill>
              </a:rPr>
              <a:t>aa</a:t>
            </a:r>
            <a:r>
              <a:rPr spc="-340" dirty="0">
                <a:solidFill>
                  <a:schemeClr val="tx1"/>
                </a:solidFill>
              </a:rPr>
              <a:t>nn</a:t>
            </a:r>
            <a:r>
              <a:rPr spc="-300" dirty="0">
                <a:solidFill>
                  <a:schemeClr val="tx1"/>
                </a:solidFill>
              </a:rPr>
              <a:t>aa</a:t>
            </a:r>
            <a:r>
              <a:rPr spc="-635" dirty="0">
                <a:solidFill>
                  <a:schemeClr val="tx1"/>
                </a:solidFill>
              </a:rPr>
              <a:t>e</a:t>
            </a:r>
            <a:r>
              <a:rPr spc="-5" dirty="0">
                <a:solidFill>
                  <a:schemeClr val="tx1"/>
                </a:solidFill>
              </a:rPr>
              <a:t>j</a:t>
            </a:r>
            <a:r>
              <a:rPr spc="-300" dirty="0">
                <a:solidFill>
                  <a:schemeClr val="tx1"/>
                </a:solidFill>
              </a:rPr>
              <a:t>e</a:t>
            </a:r>
            <a:r>
              <a:rPr spc="-390" dirty="0">
                <a:solidFill>
                  <a:schemeClr val="tx1"/>
                </a:solidFill>
              </a:rPr>
              <a:t>mm</a:t>
            </a:r>
            <a:r>
              <a:rPr spc="-300" dirty="0">
                <a:solidFill>
                  <a:schemeClr val="tx1"/>
                </a:solidFill>
              </a:rPr>
              <a:t>ee</a:t>
            </a:r>
            <a:r>
              <a:rPr spc="-340" dirty="0">
                <a:solidFill>
                  <a:schemeClr val="tx1"/>
                </a:solidFill>
              </a:rPr>
              <a:t>nn</a:t>
            </a:r>
            <a:r>
              <a:rPr spc="-60" dirty="0">
                <a:solidFill>
                  <a:schemeClr val="tx1"/>
                </a:solidFill>
              </a:rPr>
              <a:t>)</a:t>
            </a:r>
          </a:p>
          <a:p>
            <a:pPr marL="403225" indent="-171450">
              <a:lnSpc>
                <a:spcPts val="1415"/>
              </a:lnSpc>
              <a:spcBef>
                <a:spcPts val="360"/>
              </a:spcBef>
              <a:buClr>
                <a:srgbClr val="000000"/>
              </a:buClr>
              <a:buSzPct val="150000"/>
              <a:buChar char="■"/>
              <a:tabLst>
                <a:tab pos="404495" algn="l"/>
              </a:tabLst>
            </a:pPr>
            <a:r>
              <a:rPr dirty="0">
                <a:solidFill>
                  <a:schemeClr val="tx1"/>
                </a:solidFill>
              </a:rPr>
              <a:t>Manajer</a:t>
            </a:r>
            <a:r>
              <a:rPr spc="-90" dirty="0">
                <a:solidFill>
                  <a:schemeClr val="tx1"/>
                </a:solidFill>
              </a:rPr>
              <a:t> </a:t>
            </a:r>
            <a:r>
              <a:rPr spc="-15" dirty="0">
                <a:solidFill>
                  <a:schemeClr val="tx1"/>
                </a:solidFill>
              </a:rPr>
              <a:t>tingkat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spc="5" dirty="0">
                <a:solidFill>
                  <a:schemeClr val="tx1"/>
                </a:solidFill>
              </a:rPr>
              <a:t>menengah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spc="10" dirty="0">
                <a:solidFill>
                  <a:schemeClr val="tx1"/>
                </a:solidFill>
              </a:rPr>
              <a:t>yang</a:t>
            </a:r>
            <a:r>
              <a:rPr spc="-7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mau bertahan,</a:t>
            </a:r>
            <a:r>
              <a:rPr spc="-120" dirty="0">
                <a:solidFill>
                  <a:schemeClr val="tx1"/>
                </a:solidFill>
              </a:rPr>
              <a:t> </a:t>
            </a:r>
            <a:r>
              <a:rPr spc="-250" dirty="0">
                <a:solidFill>
                  <a:schemeClr val="tx1"/>
                </a:solidFill>
              </a:rPr>
              <a:t>hhaaruuss</a:t>
            </a:r>
          </a:p>
          <a:p>
            <a:pPr marL="403225">
              <a:lnSpc>
                <a:spcPts val="1415"/>
              </a:lnSpc>
            </a:pPr>
            <a:r>
              <a:rPr spc="-55" dirty="0">
                <a:solidFill>
                  <a:schemeClr val="tx1"/>
                </a:solidFill>
              </a:rPr>
              <a:t>m</a:t>
            </a:r>
            <a:r>
              <a:rPr spc="15" dirty="0">
                <a:solidFill>
                  <a:schemeClr val="tx1"/>
                </a:solidFill>
              </a:rPr>
              <a:t>e</a:t>
            </a:r>
            <a:r>
              <a:rPr spc="20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g</a:t>
            </a:r>
            <a:r>
              <a:rPr spc="5" dirty="0">
                <a:solidFill>
                  <a:schemeClr val="tx1"/>
                </a:solidFill>
              </a:rPr>
              <a:t>u</a:t>
            </a:r>
            <a:r>
              <a:rPr spc="20" dirty="0">
                <a:solidFill>
                  <a:schemeClr val="tx1"/>
                </a:solidFill>
              </a:rPr>
              <a:t>b</a:t>
            </a:r>
            <a:r>
              <a:rPr spc="25" dirty="0">
                <a:solidFill>
                  <a:schemeClr val="tx1"/>
                </a:solidFill>
              </a:rPr>
              <a:t>a</a:t>
            </a:r>
            <a:r>
              <a:rPr spc="-5" dirty="0">
                <a:solidFill>
                  <a:schemeClr val="tx1"/>
                </a:solidFill>
              </a:rPr>
              <a:t>h</a:t>
            </a:r>
            <a:r>
              <a:rPr spc="-175" dirty="0">
                <a:solidFill>
                  <a:schemeClr val="tx1"/>
                </a:solidFill>
              </a:rPr>
              <a:t> </a:t>
            </a:r>
            <a:r>
              <a:rPr spc="20" dirty="0">
                <a:solidFill>
                  <a:schemeClr val="tx1"/>
                </a:solidFill>
              </a:rPr>
              <a:t>p</a:t>
            </a:r>
            <a:r>
              <a:rPr spc="25" dirty="0">
                <a:solidFill>
                  <a:schemeClr val="tx1"/>
                </a:solidFill>
              </a:rPr>
              <a:t>a</a:t>
            </a:r>
            <a:r>
              <a:rPr spc="-30" dirty="0">
                <a:solidFill>
                  <a:schemeClr val="tx1"/>
                </a:solidFill>
              </a:rPr>
              <a:t>r</a:t>
            </a:r>
            <a:r>
              <a:rPr spc="20" dirty="0">
                <a:solidFill>
                  <a:schemeClr val="tx1"/>
                </a:solidFill>
              </a:rPr>
              <a:t>a</a:t>
            </a:r>
            <a:r>
              <a:rPr spc="25" dirty="0">
                <a:solidFill>
                  <a:schemeClr val="tx1"/>
                </a:solidFill>
              </a:rPr>
              <a:t>d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spc="-5" dirty="0">
                <a:solidFill>
                  <a:schemeClr val="tx1"/>
                </a:solidFill>
              </a:rPr>
              <a:t>g</a:t>
            </a:r>
            <a:r>
              <a:rPr spc="-45" dirty="0">
                <a:solidFill>
                  <a:schemeClr val="tx1"/>
                </a:solidFill>
              </a:rPr>
              <a:t>m</a:t>
            </a:r>
            <a:r>
              <a:rPr spc="35" dirty="0">
                <a:solidFill>
                  <a:schemeClr val="tx1"/>
                </a:solidFill>
              </a:rPr>
              <a:t>a</a:t>
            </a:r>
          </a:p>
          <a:p>
            <a:pPr marL="403225" marR="247015" indent="-171450">
              <a:lnSpc>
                <a:spcPct val="100000"/>
              </a:lnSpc>
              <a:spcBef>
                <a:spcPts val="310"/>
              </a:spcBef>
              <a:buClr>
                <a:srgbClr val="000000"/>
              </a:buClr>
              <a:buChar char="■"/>
              <a:tabLst>
                <a:tab pos="404495" algn="l"/>
              </a:tabLst>
            </a:pPr>
            <a:r>
              <a:rPr spc="80" dirty="0">
                <a:solidFill>
                  <a:schemeClr val="tx1"/>
                </a:solidFill>
              </a:rPr>
              <a:t>K</a:t>
            </a:r>
            <a:r>
              <a:rPr spc="15" dirty="0">
                <a:solidFill>
                  <a:schemeClr val="tx1"/>
                </a:solidFill>
              </a:rPr>
              <a:t>o</a:t>
            </a:r>
            <a:r>
              <a:rPr spc="-50" dirty="0">
                <a:solidFill>
                  <a:schemeClr val="tx1"/>
                </a:solidFill>
              </a:rPr>
              <a:t>m</a:t>
            </a:r>
            <a:r>
              <a:rPr spc="-5" dirty="0">
                <a:solidFill>
                  <a:schemeClr val="tx1"/>
                </a:solidFill>
              </a:rPr>
              <a:t>un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spc="15" dirty="0">
                <a:solidFill>
                  <a:schemeClr val="tx1"/>
                </a:solidFill>
              </a:rPr>
              <a:t>ka</a:t>
            </a:r>
            <a:r>
              <a:rPr spc="25" dirty="0">
                <a:solidFill>
                  <a:schemeClr val="tx1"/>
                </a:solidFill>
              </a:rPr>
              <a:t>si</a:t>
            </a:r>
            <a:r>
              <a:rPr spc="-130" dirty="0">
                <a:solidFill>
                  <a:schemeClr val="tx1"/>
                </a:solidFill>
              </a:rPr>
              <a:t> </a:t>
            </a:r>
            <a:r>
              <a:rPr spc="-50" dirty="0">
                <a:solidFill>
                  <a:schemeClr val="tx1"/>
                </a:solidFill>
              </a:rPr>
              <a:t>m</a:t>
            </a:r>
            <a:r>
              <a:rPr spc="35" dirty="0">
                <a:solidFill>
                  <a:schemeClr val="tx1"/>
                </a:solidFill>
              </a:rPr>
              <a:t>e</a:t>
            </a:r>
            <a:r>
              <a:rPr spc="-5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g</a:t>
            </a:r>
            <a:r>
              <a:rPr spc="35" dirty="0">
                <a:solidFill>
                  <a:schemeClr val="tx1"/>
                </a:solidFill>
              </a:rPr>
              <a:t>a</a:t>
            </a:r>
            <a:r>
              <a:rPr spc="-50" dirty="0">
                <a:solidFill>
                  <a:schemeClr val="tx1"/>
                </a:solidFill>
              </a:rPr>
              <a:t>m</a:t>
            </a:r>
            <a:r>
              <a:rPr dirty="0">
                <a:solidFill>
                  <a:schemeClr val="tx1"/>
                </a:solidFill>
              </a:rPr>
              <a:t>b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spc="-10" dirty="0">
                <a:solidFill>
                  <a:schemeClr val="tx1"/>
                </a:solidFill>
              </a:rPr>
              <a:t>l</a:t>
            </a:r>
            <a:r>
              <a:rPr spc="-4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</a:t>
            </a:r>
            <a:r>
              <a:rPr spc="15" dirty="0">
                <a:solidFill>
                  <a:schemeClr val="tx1"/>
                </a:solidFill>
              </a:rPr>
              <a:t>o</a:t>
            </a:r>
            <a:r>
              <a:rPr spc="10" dirty="0">
                <a:solidFill>
                  <a:schemeClr val="tx1"/>
                </a:solidFill>
              </a:rPr>
              <a:t>l</a:t>
            </a:r>
            <a:r>
              <a:rPr spc="35" dirty="0">
                <a:solidFill>
                  <a:schemeClr val="tx1"/>
                </a:solidFill>
              </a:rPr>
              <a:t>a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spc="5" dirty="0">
                <a:solidFill>
                  <a:schemeClr val="tx1"/>
                </a:solidFill>
              </a:rPr>
              <a:t>ko</a:t>
            </a:r>
            <a:r>
              <a:rPr spc="-50" dirty="0">
                <a:solidFill>
                  <a:schemeClr val="tx1"/>
                </a:solidFill>
              </a:rPr>
              <a:t>m</a:t>
            </a:r>
            <a:r>
              <a:rPr spc="-5" dirty="0">
                <a:solidFill>
                  <a:schemeClr val="tx1"/>
                </a:solidFill>
              </a:rPr>
              <a:t>un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spc="15" dirty="0">
                <a:solidFill>
                  <a:schemeClr val="tx1"/>
                </a:solidFill>
              </a:rPr>
              <a:t>ka</a:t>
            </a:r>
            <a:r>
              <a:rPr spc="25" dirty="0">
                <a:solidFill>
                  <a:schemeClr val="tx1"/>
                </a:solidFill>
              </a:rPr>
              <a:t>si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spc="35" dirty="0">
                <a:solidFill>
                  <a:schemeClr val="tx1"/>
                </a:solidFill>
              </a:rPr>
              <a:t>e</a:t>
            </a:r>
            <a:r>
              <a:rPr spc="10" dirty="0">
                <a:solidFill>
                  <a:schemeClr val="tx1"/>
                </a:solidFill>
              </a:rPr>
              <a:t>l</a:t>
            </a:r>
            <a:r>
              <a:rPr spc="35" dirty="0">
                <a:solidFill>
                  <a:schemeClr val="tx1"/>
                </a:solidFill>
              </a:rPr>
              <a:t>e</a:t>
            </a:r>
            <a:r>
              <a:rPr spc="-35" dirty="0">
                <a:solidFill>
                  <a:schemeClr val="tx1"/>
                </a:solidFill>
              </a:rPr>
              <a:t>kt</a:t>
            </a:r>
            <a:r>
              <a:rPr spc="-25" dirty="0">
                <a:solidFill>
                  <a:schemeClr val="tx1"/>
                </a:solidFill>
              </a:rPr>
              <a:t>r</a:t>
            </a:r>
            <a:r>
              <a:rPr spc="15" dirty="0">
                <a:solidFill>
                  <a:schemeClr val="tx1"/>
                </a:solidFill>
              </a:rPr>
              <a:t>o</a:t>
            </a:r>
            <a:r>
              <a:rPr spc="-5" dirty="0">
                <a:solidFill>
                  <a:schemeClr val="tx1"/>
                </a:solidFill>
              </a:rPr>
              <a:t>n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dirty="0">
                <a:solidFill>
                  <a:schemeClr val="tx1"/>
                </a:solidFill>
              </a:rPr>
              <a:t>k  </a:t>
            </a:r>
            <a:r>
              <a:rPr spc="15" dirty="0">
                <a:solidFill>
                  <a:schemeClr val="tx1"/>
                </a:solidFill>
              </a:rPr>
              <a:t>ya</a:t>
            </a:r>
            <a:r>
              <a:rPr spc="-5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g</a:t>
            </a:r>
            <a:r>
              <a:rPr spc="-10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</a:t>
            </a:r>
            <a:r>
              <a:rPr spc="35" dirty="0">
                <a:solidFill>
                  <a:schemeClr val="tx1"/>
                </a:solidFill>
              </a:rPr>
              <a:t>e</a:t>
            </a:r>
            <a:r>
              <a:rPr spc="-30" dirty="0">
                <a:solidFill>
                  <a:schemeClr val="tx1"/>
                </a:solidFill>
              </a:rPr>
              <a:t>r</a:t>
            </a:r>
            <a:r>
              <a:rPr spc="35" dirty="0">
                <a:solidFill>
                  <a:schemeClr val="tx1"/>
                </a:solidFill>
              </a:rPr>
              <a:t>si</a:t>
            </a:r>
            <a:r>
              <a:rPr spc="-5" dirty="0">
                <a:solidFill>
                  <a:schemeClr val="tx1"/>
                </a:solidFill>
              </a:rPr>
              <a:t>fa</a:t>
            </a:r>
            <a:r>
              <a:rPr spc="-70" dirty="0">
                <a:solidFill>
                  <a:schemeClr val="tx1"/>
                </a:solidFill>
              </a:rPr>
              <a:t>t</a:t>
            </a:r>
            <a:r>
              <a:rPr spc="-150" dirty="0">
                <a:solidFill>
                  <a:schemeClr val="tx1"/>
                </a:solidFill>
              </a:rPr>
              <a:t> </a:t>
            </a:r>
            <a:r>
              <a:rPr spc="-50" dirty="0">
                <a:solidFill>
                  <a:schemeClr val="tx1"/>
                </a:solidFill>
              </a:rPr>
              <a:t>m</a:t>
            </a:r>
            <a:r>
              <a:rPr spc="35" dirty="0">
                <a:solidFill>
                  <a:schemeClr val="tx1"/>
                </a:solidFill>
              </a:rPr>
              <a:t>a</a:t>
            </a:r>
            <a:r>
              <a:rPr spc="15" dirty="0">
                <a:solidFill>
                  <a:schemeClr val="tx1"/>
                </a:solidFill>
              </a:rPr>
              <a:t>ya</a:t>
            </a:r>
            <a:r>
              <a:rPr spc="-60" dirty="0">
                <a:solidFill>
                  <a:schemeClr val="tx1"/>
                </a:solidFill>
              </a:rPr>
              <a:t>)</a:t>
            </a:r>
          </a:p>
          <a:p>
            <a:pPr marL="403225" marR="131445" indent="-171450">
              <a:lnSpc>
                <a:spcPct val="98400"/>
              </a:lnSpc>
              <a:spcBef>
                <a:spcPts val="385"/>
              </a:spcBef>
              <a:buClr>
                <a:srgbClr val="000000"/>
              </a:buClr>
              <a:buSzPct val="150000"/>
              <a:buChar char="■"/>
              <a:tabLst>
                <a:tab pos="404495" algn="l"/>
              </a:tabLst>
            </a:pPr>
            <a:r>
              <a:rPr dirty="0">
                <a:solidFill>
                  <a:schemeClr val="tx1"/>
                </a:solidFill>
              </a:rPr>
              <a:t>Manajer </a:t>
            </a:r>
            <a:r>
              <a:rPr spc="-15" dirty="0">
                <a:solidFill>
                  <a:schemeClr val="tx1"/>
                </a:solidFill>
              </a:rPr>
              <a:t>tingkat </a:t>
            </a:r>
            <a:r>
              <a:rPr spc="15" dirty="0">
                <a:solidFill>
                  <a:schemeClr val="tx1"/>
                </a:solidFill>
              </a:rPr>
              <a:t>atas </a:t>
            </a:r>
            <a:r>
              <a:rPr spc="-5" dirty="0">
                <a:solidFill>
                  <a:schemeClr val="tx1"/>
                </a:solidFill>
              </a:rPr>
              <a:t>memiliki </a:t>
            </a:r>
            <a:r>
              <a:rPr spc="-240" dirty="0">
                <a:solidFill>
                  <a:schemeClr val="tx1"/>
                </a:solidFill>
              </a:rPr>
              <a:t>taanngggguunnggjawab</a:t>
            </a:r>
            <a:r>
              <a:rPr spc="-235" dirty="0">
                <a:solidFill>
                  <a:schemeClr val="tx1"/>
                </a:solidFill>
              </a:rPr>
              <a:t> </a:t>
            </a:r>
            <a:r>
              <a:rPr spc="10" dirty="0">
                <a:solidFill>
                  <a:schemeClr val="tx1"/>
                </a:solidFill>
              </a:rPr>
              <a:t>yang </a:t>
            </a:r>
            <a:r>
              <a:rPr spc="15" dirty="0">
                <a:solidFill>
                  <a:schemeClr val="tx1"/>
                </a:solidFill>
              </a:rPr>
              <a:t> </a:t>
            </a:r>
            <a:r>
              <a:rPr spc="5" dirty="0">
                <a:solidFill>
                  <a:schemeClr val="tx1"/>
                </a:solidFill>
              </a:rPr>
              <a:t>lebih</a:t>
            </a:r>
            <a:r>
              <a:rPr spc="-135" dirty="0">
                <a:solidFill>
                  <a:schemeClr val="tx1"/>
                </a:solidFill>
              </a:rPr>
              <a:t> </a:t>
            </a:r>
            <a:r>
              <a:rPr spc="20" dirty="0">
                <a:solidFill>
                  <a:schemeClr val="tx1"/>
                </a:solidFill>
              </a:rPr>
              <a:t>besar</a:t>
            </a:r>
            <a:r>
              <a:rPr spc="-100" dirty="0">
                <a:solidFill>
                  <a:schemeClr val="tx1"/>
                </a:solidFill>
              </a:rPr>
              <a:t> </a:t>
            </a:r>
            <a:r>
              <a:rPr spc="10" dirty="0">
                <a:solidFill>
                  <a:schemeClr val="tx1"/>
                </a:solidFill>
              </a:rPr>
              <a:t>dan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spc="15" dirty="0">
                <a:solidFill>
                  <a:schemeClr val="tx1"/>
                </a:solidFill>
              </a:rPr>
              <a:t>dalam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mengambil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spc="-215" dirty="0">
                <a:solidFill>
                  <a:schemeClr val="tx1"/>
                </a:solidFill>
              </a:rPr>
              <a:t>kkeeppuutuussaanndibantu </a:t>
            </a:r>
            <a:r>
              <a:rPr spc="-360" dirty="0">
                <a:solidFill>
                  <a:schemeClr val="tx1"/>
                </a:solidFill>
              </a:rPr>
              <a:t> </a:t>
            </a:r>
            <a:r>
              <a:rPr spc="5" dirty="0">
                <a:solidFill>
                  <a:schemeClr val="tx1"/>
                </a:solidFill>
              </a:rPr>
              <a:t>o</a:t>
            </a:r>
            <a:r>
              <a:rPr spc="20" dirty="0">
                <a:solidFill>
                  <a:schemeClr val="tx1"/>
                </a:solidFill>
              </a:rPr>
              <a:t>l</a:t>
            </a:r>
            <a:r>
              <a:rPr spc="15" dirty="0">
                <a:solidFill>
                  <a:schemeClr val="tx1"/>
                </a:solidFill>
              </a:rPr>
              <a:t>eh</a:t>
            </a:r>
            <a:r>
              <a:rPr spc="-130" dirty="0">
                <a:solidFill>
                  <a:schemeClr val="tx1"/>
                </a:solidFill>
              </a:rPr>
              <a:t> </a:t>
            </a:r>
            <a:r>
              <a:rPr spc="45" dirty="0">
                <a:solidFill>
                  <a:schemeClr val="tx1"/>
                </a:solidFill>
              </a:rPr>
              <a:t>D</a:t>
            </a:r>
            <a:r>
              <a:rPr spc="120" dirty="0">
                <a:solidFill>
                  <a:schemeClr val="tx1"/>
                </a:solidFill>
              </a:rPr>
              <a:t>S</a:t>
            </a:r>
            <a:r>
              <a:rPr spc="130" dirty="0">
                <a:solidFill>
                  <a:schemeClr val="tx1"/>
                </a:solidFill>
              </a:rPr>
              <a:t>S</a:t>
            </a:r>
            <a:r>
              <a:rPr spc="-55" dirty="0">
                <a:solidFill>
                  <a:schemeClr val="tx1"/>
                </a:solidFill>
              </a:rPr>
              <a:t> (</a:t>
            </a:r>
            <a:r>
              <a:rPr spc="45" dirty="0">
                <a:solidFill>
                  <a:schemeClr val="tx1"/>
                </a:solidFill>
              </a:rPr>
              <a:t>D</a:t>
            </a:r>
            <a:r>
              <a:rPr spc="30" dirty="0">
                <a:solidFill>
                  <a:schemeClr val="tx1"/>
                </a:solidFill>
              </a:rPr>
              <a:t>eci</a:t>
            </a:r>
            <a:r>
              <a:rPr spc="35" dirty="0">
                <a:solidFill>
                  <a:schemeClr val="tx1"/>
                </a:solidFill>
              </a:rPr>
              <a:t>s</a:t>
            </a:r>
            <a:r>
              <a:rPr spc="10" dirty="0">
                <a:solidFill>
                  <a:schemeClr val="tx1"/>
                </a:solidFill>
              </a:rPr>
              <a:t>i</a:t>
            </a:r>
            <a:r>
              <a:rPr spc="5" dirty="0">
                <a:solidFill>
                  <a:schemeClr val="tx1"/>
                </a:solidFill>
              </a:rPr>
              <a:t>on</a:t>
            </a:r>
            <a:r>
              <a:rPr spc="-155" dirty="0">
                <a:solidFill>
                  <a:schemeClr val="tx1"/>
                </a:solidFill>
              </a:rPr>
              <a:t> </a:t>
            </a:r>
            <a:r>
              <a:rPr spc="120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u</a:t>
            </a:r>
            <a:r>
              <a:rPr spc="5" dirty="0">
                <a:solidFill>
                  <a:schemeClr val="tx1"/>
                </a:solidFill>
              </a:rPr>
              <a:t>p</a:t>
            </a:r>
            <a:r>
              <a:rPr spc="10" dirty="0">
                <a:solidFill>
                  <a:schemeClr val="tx1"/>
                </a:solidFill>
              </a:rPr>
              <a:t>p</a:t>
            </a:r>
            <a:r>
              <a:rPr spc="15" dirty="0">
                <a:solidFill>
                  <a:schemeClr val="tx1"/>
                </a:solidFill>
              </a:rPr>
              <a:t>o</a:t>
            </a:r>
            <a:r>
              <a:rPr spc="-30" dirty="0">
                <a:solidFill>
                  <a:schemeClr val="tx1"/>
                </a:solidFill>
              </a:rPr>
              <a:t>r</a:t>
            </a:r>
            <a:r>
              <a:rPr spc="-70" dirty="0">
                <a:solidFill>
                  <a:schemeClr val="tx1"/>
                </a:solidFill>
              </a:rPr>
              <a:t>t</a:t>
            </a:r>
            <a:r>
              <a:rPr spc="-150" dirty="0">
                <a:solidFill>
                  <a:schemeClr val="tx1"/>
                </a:solidFill>
              </a:rPr>
              <a:t> </a:t>
            </a:r>
            <a:r>
              <a:rPr spc="120" dirty="0">
                <a:solidFill>
                  <a:schemeClr val="tx1"/>
                </a:solidFill>
              </a:rPr>
              <a:t>S</a:t>
            </a:r>
            <a:r>
              <a:rPr spc="5" dirty="0">
                <a:solidFill>
                  <a:schemeClr val="tx1"/>
                </a:solidFill>
              </a:rPr>
              <a:t>yste</a:t>
            </a:r>
            <a:r>
              <a:rPr spc="-30" dirty="0">
                <a:solidFill>
                  <a:schemeClr val="tx1"/>
                </a:solidFill>
              </a:rPr>
              <a:t>m</a:t>
            </a:r>
            <a:r>
              <a:rPr spc="-60" dirty="0">
                <a:solidFill>
                  <a:schemeClr val="tx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922" y="177926"/>
            <a:ext cx="197993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35" dirty="0">
                <a:solidFill>
                  <a:schemeClr val="tx1"/>
                </a:solidFill>
              </a:rPr>
              <a:t>Ciri</a:t>
            </a:r>
            <a:r>
              <a:rPr sz="2000" spc="-150" dirty="0">
                <a:solidFill>
                  <a:schemeClr val="tx1"/>
                </a:solidFill>
              </a:rPr>
              <a:t> </a:t>
            </a:r>
            <a:r>
              <a:rPr sz="2000" spc="65" dirty="0">
                <a:solidFill>
                  <a:schemeClr val="tx1"/>
                </a:solidFill>
              </a:rPr>
              <a:t>Era</a:t>
            </a:r>
            <a:r>
              <a:rPr sz="2000" spc="-135" dirty="0">
                <a:solidFill>
                  <a:schemeClr val="tx1"/>
                </a:solidFill>
              </a:rPr>
              <a:t> </a:t>
            </a:r>
            <a:r>
              <a:rPr sz="2000" spc="-15" dirty="0">
                <a:solidFill>
                  <a:schemeClr val="tx1"/>
                </a:solidFill>
              </a:rPr>
              <a:t>Informasi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5515" y="595452"/>
            <a:ext cx="3458845" cy="23153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5" dirty="0">
                <a:latin typeface="Leelawadee UI"/>
                <a:cs typeface="Leelawadee UI"/>
              </a:rPr>
              <a:t>Q </a:t>
            </a:r>
            <a:r>
              <a:rPr sz="1400" spc="40" dirty="0">
                <a:latin typeface="Leelawadee UI"/>
                <a:cs typeface="Leelawadee UI"/>
              </a:rPr>
              <a:t> </a:t>
            </a:r>
            <a:r>
              <a:rPr sz="1400" spc="-165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nf</a:t>
            </a:r>
            <a:r>
              <a:rPr sz="1400" spc="-45" dirty="0">
                <a:latin typeface="Tahoma"/>
                <a:cs typeface="Tahoma"/>
              </a:rPr>
              <a:t>o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30" dirty="0">
                <a:latin typeface="Tahoma"/>
                <a:cs typeface="Tahoma"/>
              </a:rPr>
              <a:t>asi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nj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a</a:t>
            </a:r>
            <a:r>
              <a:rPr sz="1400" spc="5" dirty="0">
                <a:latin typeface="Tahoma"/>
                <a:cs typeface="Tahoma"/>
              </a:rPr>
              <a:t>l</a:t>
            </a:r>
            <a:r>
              <a:rPr sz="1400" spc="15" dirty="0">
                <a:latin typeface="Tahoma"/>
                <a:cs typeface="Tahoma"/>
              </a:rPr>
              <a:t>a</a:t>
            </a:r>
            <a:r>
              <a:rPr sz="1400" spc="-85" dirty="0">
                <a:latin typeface="Tahoma"/>
                <a:cs typeface="Tahoma"/>
              </a:rPr>
              <a:t>t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k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-35" dirty="0">
                <a:latin typeface="Tahoma"/>
                <a:cs typeface="Tahoma"/>
              </a:rPr>
              <a:t>iti</a:t>
            </a:r>
            <a:endParaRPr sz="1400">
              <a:latin typeface="Tahoma"/>
              <a:cs typeface="Tahoma"/>
            </a:endParaRPr>
          </a:p>
          <a:p>
            <a:pPr marL="241300" marR="5080" indent="-229235">
              <a:lnSpc>
                <a:spcPct val="77900"/>
              </a:lnSpc>
              <a:spcBef>
                <a:spcPts val="395"/>
              </a:spcBef>
            </a:pPr>
            <a:r>
              <a:rPr sz="1400" spc="5" dirty="0">
                <a:latin typeface="Leelawadee UI"/>
                <a:cs typeface="Leelawadee UI"/>
              </a:rPr>
              <a:t>Q</a:t>
            </a:r>
            <a:r>
              <a:rPr sz="1400" spc="45" dirty="0">
                <a:latin typeface="Leelawadee UI"/>
                <a:cs typeface="Leelawadee UI"/>
              </a:rPr>
              <a:t> </a:t>
            </a:r>
            <a:r>
              <a:rPr sz="1400" dirty="0">
                <a:latin typeface="Tahoma"/>
                <a:cs typeface="Tahoma"/>
              </a:rPr>
              <a:t>Distribusi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informasi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berubah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dari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tercetak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15" dirty="0">
                <a:latin typeface="Tahoma"/>
                <a:cs typeface="Tahoma"/>
              </a:rPr>
              <a:t>ja</a:t>
            </a:r>
            <a:r>
              <a:rPr sz="1400" spc="-30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5" dirty="0">
                <a:latin typeface="Tahoma"/>
                <a:cs typeface="Tahoma"/>
              </a:rPr>
              <a:t>le</a:t>
            </a:r>
            <a:r>
              <a:rPr sz="1400" spc="20" dirty="0">
                <a:latin typeface="Tahoma"/>
                <a:cs typeface="Tahoma"/>
              </a:rPr>
              <a:t>k</a:t>
            </a:r>
            <a:r>
              <a:rPr sz="1400" spc="-60" dirty="0">
                <a:latin typeface="Tahoma"/>
                <a:cs typeface="Tahoma"/>
              </a:rPr>
              <a:t>t</a:t>
            </a:r>
            <a:r>
              <a:rPr sz="1400" spc="-80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10" dirty="0">
                <a:latin typeface="Tahoma"/>
                <a:cs typeface="Tahoma"/>
              </a:rPr>
              <a:t>ik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t</a:t>
            </a:r>
            <a:r>
              <a:rPr sz="1400" spc="-40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10" dirty="0">
                <a:latin typeface="Tahoma"/>
                <a:cs typeface="Tahoma"/>
              </a:rPr>
              <a:t>istik  </a:t>
            </a:r>
            <a:r>
              <a:rPr sz="1400" spc="-20" dirty="0">
                <a:latin typeface="Tahoma"/>
                <a:cs typeface="Tahoma"/>
              </a:rPr>
              <a:t>informasi:</a:t>
            </a:r>
            <a:endParaRPr sz="1400">
              <a:latin typeface="Tahoma"/>
              <a:cs typeface="Tahoma"/>
            </a:endParaRPr>
          </a:p>
          <a:p>
            <a:pPr marL="299085">
              <a:lnSpc>
                <a:spcPts val="1350"/>
              </a:lnSpc>
            </a:pPr>
            <a:r>
              <a:rPr sz="1200" spc="10" dirty="0">
                <a:latin typeface="Leelawadee UI"/>
                <a:cs typeface="Leelawadee UI"/>
              </a:rPr>
              <a:t>Q </a:t>
            </a:r>
            <a:r>
              <a:rPr sz="1200" spc="70" dirty="0">
                <a:latin typeface="Leelawadee UI"/>
                <a:cs typeface="Leelawadee UI"/>
              </a:rPr>
              <a:t> </a:t>
            </a:r>
            <a:r>
              <a:rPr sz="1200" spc="-15" dirty="0">
                <a:latin typeface="Tahoma"/>
                <a:cs typeface="Tahoma"/>
              </a:rPr>
              <a:t>Terbaru</a:t>
            </a:r>
            <a:endParaRPr sz="1200">
              <a:latin typeface="Tahoma"/>
              <a:cs typeface="Tahoma"/>
            </a:endParaRPr>
          </a:p>
          <a:p>
            <a:pPr marL="299085">
              <a:lnSpc>
                <a:spcPct val="100000"/>
              </a:lnSpc>
            </a:pPr>
            <a:r>
              <a:rPr sz="1200" spc="10" dirty="0">
                <a:latin typeface="Leelawadee UI"/>
                <a:cs typeface="Leelawadee UI"/>
              </a:rPr>
              <a:t>Q </a:t>
            </a:r>
            <a:r>
              <a:rPr sz="1200" spc="210" dirty="0">
                <a:latin typeface="Leelawadee UI"/>
                <a:cs typeface="Leelawadee UI"/>
              </a:rPr>
              <a:t> </a:t>
            </a:r>
            <a:r>
              <a:rPr sz="1200" spc="10" dirty="0">
                <a:latin typeface="Tahoma"/>
                <a:cs typeface="Tahoma"/>
              </a:rPr>
              <a:t>Journal</a:t>
            </a:r>
            <a:endParaRPr sz="1200">
              <a:latin typeface="Tahoma"/>
              <a:cs typeface="Tahoma"/>
            </a:endParaRPr>
          </a:p>
          <a:p>
            <a:pPr marL="299085">
              <a:lnSpc>
                <a:spcPts val="1435"/>
              </a:lnSpc>
            </a:pPr>
            <a:r>
              <a:rPr sz="1200" spc="10" dirty="0">
                <a:latin typeface="Leelawadee UI"/>
                <a:cs typeface="Leelawadee UI"/>
              </a:rPr>
              <a:t>Q</a:t>
            </a:r>
            <a:r>
              <a:rPr sz="1200" spc="-40" dirty="0">
                <a:latin typeface="Leelawadee UI"/>
                <a:cs typeface="Leelawadee UI"/>
              </a:rPr>
              <a:t> </a:t>
            </a:r>
            <a:r>
              <a:rPr sz="1200" spc="25" dirty="0">
                <a:latin typeface="Tahoma"/>
                <a:cs typeface="Tahoma"/>
              </a:rPr>
              <a:t>Prediksi</a:t>
            </a:r>
            <a:endParaRPr sz="1200">
              <a:latin typeface="Tahoma"/>
              <a:cs typeface="Tahoma"/>
            </a:endParaRPr>
          </a:p>
          <a:p>
            <a:pPr marL="241300" marR="99060" indent="-229235">
              <a:lnSpc>
                <a:spcPct val="78600"/>
              </a:lnSpc>
              <a:spcBef>
                <a:spcPts val="355"/>
              </a:spcBef>
            </a:pPr>
            <a:r>
              <a:rPr sz="1400" spc="5" dirty="0">
                <a:latin typeface="Leelawadee UI"/>
                <a:cs typeface="Leelawadee UI"/>
              </a:rPr>
              <a:t>Q</a:t>
            </a:r>
            <a:r>
              <a:rPr sz="1400" spc="45" dirty="0">
                <a:latin typeface="Leelawadee UI"/>
                <a:cs typeface="Leelawadee UI"/>
              </a:rPr>
              <a:t> </a:t>
            </a:r>
            <a:r>
              <a:rPr sz="1400" spc="20" dirty="0">
                <a:latin typeface="Tahoma"/>
                <a:cs typeface="Tahoma"/>
              </a:rPr>
              <a:t>Sistem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layanan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berubah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dari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manual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ke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5" dirty="0">
                <a:latin typeface="Tahoma"/>
                <a:cs typeface="Tahoma"/>
              </a:rPr>
              <a:t>le</a:t>
            </a:r>
            <a:r>
              <a:rPr sz="1400" spc="20" dirty="0">
                <a:latin typeface="Tahoma"/>
                <a:cs typeface="Tahoma"/>
              </a:rPr>
              <a:t>k</a:t>
            </a:r>
            <a:r>
              <a:rPr sz="1400" spc="-60" dirty="0">
                <a:latin typeface="Tahoma"/>
                <a:cs typeface="Tahoma"/>
              </a:rPr>
              <a:t>t</a:t>
            </a:r>
            <a:r>
              <a:rPr sz="1400" spc="-80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30" dirty="0">
                <a:latin typeface="Tahoma"/>
                <a:cs typeface="Tahoma"/>
              </a:rPr>
              <a:t>is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(e</a:t>
            </a:r>
            <a:r>
              <a:rPr sz="1400" spc="-60" dirty="0">
                <a:latin typeface="Tahoma"/>
                <a:cs typeface="Tahoma"/>
              </a:rPr>
              <a:t>-</a:t>
            </a:r>
            <a:r>
              <a:rPr sz="1400" spc="45" dirty="0">
                <a:latin typeface="Tahoma"/>
                <a:cs typeface="Tahoma"/>
              </a:rPr>
              <a:t>se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vice)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560"/>
              </a:lnSpc>
            </a:pPr>
            <a:r>
              <a:rPr sz="1400" spc="5" dirty="0">
                <a:latin typeface="Leelawadee UI"/>
                <a:cs typeface="Leelawadee UI"/>
              </a:rPr>
              <a:t>Q </a:t>
            </a:r>
            <a:r>
              <a:rPr sz="1400" spc="40" dirty="0">
                <a:latin typeface="Leelawadee UI"/>
                <a:cs typeface="Leelawadee UI"/>
              </a:rPr>
              <a:t> </a:t>
            </a:r>
            <a:r>
              <a:rPr sz="1400" spc="105" dirty="0">
                <a:latin typeface="Tahoma"/>
                <a:cs typeface="Tahoma"/>
              </a:rPr>
              <a:t>K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10" dirty="0">
                <a:latin typeface="Tahoma"/>
                <a:cs typeface="Tahoma"/>
              </a:rPr>
              <a:t>tisi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5" dirty="0">
                <a:latin typeface="Tahoma"/>
                <a:cs typeface="Tahoma"/>
              </a:rPr>
              <a:t>sifa</a:t>
            </a:r>
            <a:r>
              <a:rPr sz="1400" spc="-85" dirty="0">
                <a:latin typeface="Tahoma"/>
                <a:cs typeface="Tahoma"/>
              </a:rPr>
              <a:t>t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dirty="0">
                <a:latin typeface="Tahoma"/>
                <a:cs typeface="Tahoma"/>
              </a:rPr>
              <a:t>l</a:t>
            </a:r>
            <a:r>
              <a:rPr sz="1400" spc="-5" dirty="0">
                <a:latin typeface="Tahoma"/>
                <a:cs typeface="Tahoma"/>
              </a:rPr>
              <a:t>o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30" dirty="0">
                <a:latin typeface="Tahoma"/>
                <a:cs typeface="Tahoma"/>
              </a:rPr>
              <a:t>a</a:t>
            </a:r>
            <a:r>
              <a:rPr sz="1400" spc="-15" dirty="0">
                <a:latin typeface="Tahoma"/>
                <a:cs typeface="Tahoma"/>
              </a:rPr>
              <a:t>l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&amp;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t</a:t>
            </a:r>
            <a:r>
              <a:rPr sz="1400" spc="-40" dirty="0">
                <a:latin typeface="Tahoma"/>
                <a:cs typeface="Tahoma"/>
              </a:rPr>
              <a:t>a</a:t>
            </a:r>
            <a:r>
              <a:rPr sz="1400" spc="-85" dirty="0">
                <a:latin typeface="Tahoma"/>
                <a:cs typeface="Tahoma"/>
              </a:rPr>
              <a:t>t</a:t>
            </a:r>
            <a:endParaRPr sz="1400">
              <a:latin typeface="Tahoma"/>
              <a:cs typeface="Tahoma"/>
            </a:endParaRPr>
          </a:p>
          <a:p>
            <a:pPr marL="241300" marR="93980" indent="-229235">
              <a:lnSpc>
                <a:spcPct val="78600"/>
              </a:lnSpc>
              <a:spcBef>
                <a:spcPts val="385"/>
              </a:spcBef>
            </a:pPr>
            <a:r>
              <a:rPr sz="1400" spc="5" dirty="0">
                <a:latin typeface="Leelawadee UI"/>
                <a:cs typeface="Leelawadee UI"/>
              </a:rPr>
              <a:t>Q</a:t>
            </a:r>
            <a:r>
              <a:rPr sz="1400" spc="35" dirty="0">
                <a:latin typeface="Leelawadee UI"/>
                <a:cs typeface="Leelawadee UI"/>
              </a:rPr>
              <a:t> </a:t>
            </a:r>
            <a:r>
              <a:rPr sz="1400" spc="10" dirty="0">
                <a:latin typeface="Tahoma"/>
                <a:cs typeface="Tahoma"/>
              </a:rPr>
              <a:t>Sektor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ekonomi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bergeser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dari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penghasil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barang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ke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pelayanan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jasa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922" y="179451"/>
            <a:ext cx="235140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60" dirty="0">
                <a:solidFill>
                  <a:schemeClr val="tx1"/>
                </a:solidFill>
              </a:rPr>
              <a:t>C</a:t>
            </a:r>
            <a:r>
              <a:rPr sz="2000" spc="50" dirty="0">
                <a:solidFill>
                  <a:schemeClr val="tx1"/>
                </a:solidFill>
              </a:rPr>
              <a:t>i</a:t>
            </a:r>
            <a:r>
              <a:rPr sz="2000" spc="-55" dirty="0">
                <a:solidFill>
                  <a:schemeClr val="tx1"/>
                </a:solidFill>
              </a:rPr>
              <a:t>r</a:t>
            </a:r>
            <a:r>
              <a:rPr sz="2000" spc="-15" dirty="0">
                <a:solidFill>
                  <a:schemeClr val="tx1"/>
                </a:solidFill>
              </a:rPr>
              <a:t>i</a:t>
            </a:r>
            <a:r>
              <a:rPr sz="2000" spc="-110" dirty="0">
                <a:solidFill>
                  <a:schemeClr val="tx1"/>
                </a:solidFill>
              </a:rPr>
              <a:t> </a:t>
            </a:r>
            <a:r>
              <a:rPr sz="2000" spc="195" dirty="0">
                <a:solidFill>
                  <a:schemeClr val="tx1"/>
                </a:solidFill>
              </a:rPr>
              <a:t>E</a:t>
            </a:r>
            <a:r>
              <a:rPr sz="2000" spc="-55" dirty="0">
                <a:solidFill>
                  <a:schemeClr val="tx1"/>
                </a:solidFill>
              </a:rPr>
              <a:t>r</a:t>
            </a:r>
            <a:r>
              <a:rPr sz="2000" spc="55" dirty="0">
                <a:solidFill>
                  <a:schemeClr val="tx1"/>
                </a:solidFill>
              </a:rPr>
              <a:t>a</a:t>
            </a:r>
            <a:r>
              <a:rPr sz="2000" spc="-75" dirty="0">
                <a:solidFill>
                  <a:schemeClr val="tx1"/>
                </a:solidFill>
              </a:rPr>
              <a:t> </a:t>
            </a:r>
            <a:r>
              <a:rPr sz="2000" spc="-204" dirty="0">
                <a:solidFill>
                  <a:schemeClr val="tx1"/>
                </a:solidFill>
              </a:rPr>
              <a:t>I</a:t>
            </a:r>
            <a:r>
              <a:rPr sz="2000" spc="-60" dirty="0">
                <a:solidFill>
                  <a:schemeClr val="tx1"/>
                </a:solidFill>
              </a:rPr>
              <a:t>n</a:t>
            </a:r>
            <a:r>
              <a:rPr sz="2000" spc="-20" dirty="0">
                <a:solidFill>
                  <a:schemeClr val="tx1"/>
                </a:solidFill>
              </a:rPr>
              <a:t>f</a:t>
            </a:r>
            <a:r>
              <a:rPr sz="2000" spc="-15" dirty="0">
                <a:solidFill>
                  <a:schemeClr val="tx1"/>
                </a:solidFill>
              </a:rPr>
              <a:t>or</a:t>
            </a:r>
            <a:r>
              <a:rPr sz="2000" spc="15" dirty="0">
                <a:solidFill>
                  <a:schemeClr val="tx1"/>
                </a:solidFill>
              </a:rPr>
              <a:t>m</a:t>
            </a:r>
            <a:r>
              <a:rPr sz="2000" spc="85" dirty="0">
                <a:solidFill>
                  <a:schemeClr val="tx1"/>
                </a:solidFill>
              </a:rPr>
              <a:t>a</a:t>
            </a:r>
            <a:r>
              <a:rPr sz="2000" spc="75" dirty="0">
                <a:solidFill>
                  <a:schemeClr val="tx1"/>
                </a:solidFill>
              </a:rPr>
              <a:t>s</a:t>
            </a:r>
            <a:r>
              <a:rPr sz="2000" spc="-15" dirty="0">
                <a:solidFill>
                  <a:schemeClr val="tx1"/>
                </a:solidFill>
              </a:rPr>
              <a:t>i</a:t>
            </a:r>
            <a:r>
              <a:rPr sz="2000" spc="-165" dirty="0">
                <a:solidFill>
                  <a:schemeClr val="tx1"/>
                </a:solidFill>
              </a:rPr>
              <a:t> </a:t>
            </a:r>
            <a:r>
              <a:rPr sz="2000" spc="-100" dirty="0">
                <a:solidFill>
                  <a:schemeClr val="tx1"/>
                </a:solidFill>
              </a:rPr>
              <a:t>(</a:t>
            </a:r>
            <a:r>
              <a:rPr sz="2000" spc="-45" dirty="0">
                <a:solidFill>
                  <a:schemeClr val="tx1"/>
                </a:solidFill>
              </a:rPr>
              <a:t>2)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5515" y="724738"/>
            <a:ext cx="3656329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500"/>
              </a:lnSpc>
              <a:spcBef>
                <a:spcPts val="95"/>
              </a:spcBef>
            </a:pPr>
            <a:r>
              <a:rPr sz="1400" spc="5" dirty="0">
                <a:latin typeface="Leelawadee UI"/>
                <a:cs typeface="Leelawadee UI"/>
              </a:rPr>
              <a:t>Q </a:t>
            </a:r>
            <a:r>
              <a:rPr sz="1400" spc="30" dirty="0">
                <a:latin typeface="Leelawadee UI"/>
                <a:cs typeface="Leelawadee UI"/>
              </a:rPr>
              <a:t> </a:t>
            </a:r>
            <a:r>
              <a:rPr sz="1400" spc="-20" dirty="0">
                <a:latin typeface="Tahoma"/>
                <a:cs typeface="Tahoma"/>
              </a:rPr>
              <a:t>Interaksi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langsung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antara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penyedia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dan</a:t>
            </a:r>
            <a:endParaRPr sz="1400">
              <a:latin typeface="Tahoma"/>
              <a:cs typeface="Tahoma"/>
            </a:endParaRPr>
          </a:p>
          <a:p>
            <a:pPr marL="241300">
              <a:lnSpc>
                <a:spcPts val="1440"/>
              </a:lnSpc>
            </a:pPr>
            <a:r>
              <a:rPr sz="1400" spc="10" dirty="0">
                <a:latin typeface="Tahoma"/>
                <a:cs typeface="Tahoma"/>
              </a:rPr>
              <a:t>pemakai</a:t>
            </a:r>
            <a:endParaRPr sz="1400">
              <a:latin typeface="Tahoma"/>
              <a:cs typeface="Tahoma"/>
            </a:endParaRPr>
          </a:p>
          <a:p>
            <a:pPr marL="241300" marR="5080" indent="-229235">
              <a:lnSpc>
                <a:spcPts val="1340"/>
              </a:lnSpc>
              <a:spcBef>
                <a:spcPts val="265"/>
              </a:spcBef>
            </a:pPr>
            <a:r>
              <a:rPr sz="1400" spc="5" dirty="0">
                <a:latin typeface="Leelawadee UI"/>
                <a:cs typeface="Leelawadee UI"/>
              </a:rPr>
              <a:t>Q</a:t>
            </a:r>
            <a:r>
              <a:rPr sz="1400" spc="25" dirty="0">
                <a:latin typeface="Leelawadee UI"/>
                <a:cs typeface="Leelawadee UI"/>
              </a:rPr>
              <a:t> </a:t>
            </a:r>
            <a:r>
              <a:rPr sz="1400" spc="15" dirty="0">
                <a:latin typeface="Tahoma"/>
                <a:cs typeface="Tahoma"/>
              </a:rPr>
              <a:t>Kualitas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95" dirty="0">
                <a:latin typeface="Tahoma"/>
                <a:cs typeface="Tahoma"/>
              </a:rPr>
              <a:t>SDM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ditentukan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pada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kemampuan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si/</a:t>
            </a:r>
            <a:r>
              <a:rPr sz="1400" spc="-3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30" dirty="0">
                <a:latin typeface="Tahoma"/>
                <a:cs typeface="Tahoma"/>
              </a:rPr>
              <a:t>m</a:t>
            </a:r>
            <a:r>
              <a:rPr sz="1400" spc="-10" dirty="0">
                <a:latin typeface="Tahoma"/>
                <a:cs typeface="Tahoma"/>
              </a:rPr>
              <a:t>u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70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nf</a:t>
            </a:r>
            <a:r>
              <a:rPr sz="1400" spc="-40" dirty="0">
                <a:latin typeface="Tahoma"/>
                <a:cs typeface="Tahoma"/>
              </a:rPr>
              <a:t>o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si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535"/>
              </a:lnSpc>
              <a:spcBef>
                <a:spcPts val="40"/>
              </a:spcBef>
            </a:pPr>
            <a:r>
              <a:rPr sz="1400" spc="5" dirty="0">
                <a:latin typeface="Leelawadee UI"/>
                <a:cs typeface="Leelawadee UI"/>
              </a:rPr>
              <a:t>Q </a:t>
            </a:r>
            <a:r>
              <a:rPr sz="1400" spc="25" dirty="0">
                <a:latin typeface="Leelawadee UI"/>
                <a:cs typeface="Leelawadee UI"/>
              </a:rPr>
              <a:t> </a:t>
            </a:r>
            <a:r>
              <a:rPr sz="1400" spc="15" dirty="0">
                <a:latin typeface="Tahoma"/>
                <a:cs typeface="Tahoma"/>
              </a:rPr>
              <a:t>Kepercayaan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dan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kepuasan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customer</a:t>
            </a:r>
            <a:endParaRPr sz="1400">
              <a:latin typeface="Tahoma"/>
              <a:cs typeface="Tahoma"/>
            </a:endParaRPr>
          </a:p>
          <a:p>
            <a:pPr marL="241300">
              <a:lnSpc>
                <a:spcPts val="1475"/>
              </a:lnSpc>
            </a:pP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nj</a:t>
            </a:r>
            <a:r>
              <a:rPr sz="1400" spc="-3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t</a:t>
            </a:r>
            <a:r>
              <a:rPr sz="1400" spc="-70" dirty="0">
                <a:latin typeface="Tahoma"/>
                <a:cs typeface="Tahoma"/>
              </a:rPr>
              <a:t>u</a:t>
            </a:r>
            <a:r>
              <a:rPr sz="1400" spc="-35" dirty="0">
                <a:latin typeface="Tahoma"/>
                <a:cs typeface="Tahoma"/>
              </a:rPr>
              <a:t>j</a:t>
            </a:r>
            <a:r>
              <a:rPr sz="1400" spc="-65" dirty="0">
                <a:latin typeface="Tahoma"/>
                <a:cs typeface="Tahoma"/>
              </a:rPr>
              <a:t>u</a:t>
            </a:r>
            <a:r>
              <a:rPr sz="1400" spc="30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ut</a:t>
            </a:r>
            <a:r>
              <a:rPr sz="1400" spc="-40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40" dirty="0">
                <a:latin typeface="Tahoma"/>
                <a:cs typeface="Tahoma"/>
              </a:rPr>
              <a:t>a</a:t>
            </a:r>
            <a:endParaRPr sz="1400">
              <a:latin typeface="Tahoma"/>
              <a:cs typeface="Tahoma"/>
            </a:endParaRPr>
          </a:p>
          <a:p>
            <a:pPr marL="241300" marR="356870" indent="-229235">
              <a:lnSpc>
                <a:spcPct val="78600"/>
              </a:lnSpc>
              <a:spcBef>
                <a:spcPts val="300"/>
              </a:spcBef>
            </a:pPr>
            <a:r>
              <a:rPr sz="1400" spc="5" dirty="0">
                <a:latin typeface="Leelawadee UI"/>
                <a:cs typeface="Leelawadee UI"/>
              </a:rPr>
              <a:t>Q</a:t>
            </a:r>
            <a:r>
              <a:rPr sz="1400" spc="35" dirty="0">
                <a:latin typeface="Leelawadee UI"/>
                <a:cs typeface="Leelawadee UI"/>
              </a:rPr>
              <a:t> </a:t>
            </a:r>
            <a:r>
              <a:rPr sz="1400" spc="15" dirty="0">
                <a:latin typeface="Tahoma"/>
                <a:cs typeface="Tahoma"/>
              </a:rPr>
              <a:t>Pengambilan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keputusan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berbasis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pada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105" dirty="0">
                <a:latin typeface="Tahoma"/>
                <a:cs typeface="Tahoma"/>
              </a:rPr>
              <a:t>T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dirty="0">
                <a:latin typeface="Tahoma"/>
                <a:cs typeface="Tahoma"/>
              </a:rPr>
              <a:t>olo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170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nf</a:t>
            </a:r>
            <a:r>
              <a:rPr sz="1400" spc="-40" dirty="0">
                <a:latin typeface="Tahoma"/>
                <a:cs typeface="Tahoma"/>
              </a:rPr>
              <a:t>o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si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560"/>
              </a:lnSpc>
            </a:pPr>
            <a:r>
              <a:rPr sz="1400" spc="5" dirty="0">
                <a:latin typeface="Leelawadee UI"/>
                <a:cs typeface="Leelawadee UI"/>
              </a:rPr>
              <a:t>Q </a:t>
            </a:r>
            <a:r>
              <a:rPr sz="1400" spc="45" dirty="0">
                <a:latin typeface="Leelawadee UI"/>
                <a:cs typeface="Leelawadee UI"/>
              </a:rPr>
              <a:t> </a:t>
            </a:r>
            <a:r>
              <a:rPr sz="1400" spc="-105" dirty="0">
                <a:latin typeface="Tahoma"/>
                <a:cs typeface="Tahoma"/>
              </a:rPr>
              <a:t>T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35" dirty="0">
                <a:latin typeface="Tahoma"/>
                <a:cs typeface="Tahoma"/>
              </a:rPr>
              <a:t>t</a:t>
            </a:r>
            <a:r>
              <a:rPr sz="1400" spc="-65" dirty="0">
                <a:latin typeface="Tahoma"/>
                <a:cs typeface="Tahoma"/>
              </a:rPr>
              <a:t>u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55" dirty="0">
                <a:latin typeface="Tahoma"/>
                <a:cs typeface="Tahoma"/>
              </a:rPr>
              <a:t>y</a:t>
            </a:r>
            <a:r>
              <a:rPr sz="1400" spc="35" dirty="0">
                <a:latin typeface="Tahoma"/>
                <a:cs typeface="Tahoma"/>
              </a:rPr>
              <a:t>a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k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20" dirty="0">
                <a:latin typeface="Tahoma"/>
                <a:cs typeface="Tahoma"/>
              </a:rPr>
              <a:t>un</a:t>
            </a:r>
            <a:r>
              <a:rPr sz="1400" spc="-15" dirty="0">
                <a:latin typeface="Tahoma"/>
                <a:cs typeface="Tahoma"/>
              </a:rPr>
              <a:t>it</a:t>
            </a:r>
            <a:r>
              <a:rPr sz="1400" spc="-40" dirty="0">
                <a:latin typeface="Tahoma"/>
                <a:cs typeface="Tahoma"/>
              </a:rPr>
              <a:t>a</a:t>
            </a:r>
            <a:r>
              <a:rPr sz="1400" spc="70" dirty="0">
                <a:latin typeface="Tahoma"/>
                <a:cs typeface="Tahoma"/>
              </a:rPr>
              <a:t>s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s</a:t>
            </a:r>
            <a:r>
              <a:rPr sz="1400" spc="-15" dirty="0">
                <a:latin typeface="Tahoma"/>
                <a:cs typeface="Tahoma"/>
              </a:rPr>
              <a:t>y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85" dirty="0">
                <a:latin typeface="Tahoma"/>
                <a:cs typeface="Tahoma"/>
              </a:rPr>
              <a:t>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5" dirty="0">
                <a:latin typeface="Tahoma"/>
                <a:cs typeface="Tahoma"/>
              </a:rPr>
              <a:t>ya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19963"/>
            <a:ext cx="380746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40" dirty="0">
                <a:solidFill>
                  <a:schemeClr val="tx1"/>
                </a:solidFill>
              </a:rPr>
              <a:t>Dampak</a:t>
            </a:r>
            <a:r>
              <a:rPr sz="2200" spc="-150" dirty="0">
                <a:solidFill>
                  <a:schemeClr val="tx1"/>
                </a:solidFill>
              </a:rPr>
              <a:t> </a:t>
            </a:r>
            <a:r>
              <a:rPr sz="2200" b="1" dirty="0">
                <a:solidFill>
                  <a:schemeClr val="tx1"/>
                </a:solidFill>
                <a:latin typeface="Arial"/>
                <a:cs typeface="Arial"/>
              </a:rPr>
              <a:t>Positip</a:t>
            </a:r>
            <a:r>
              <a:rPr sz="2200" b="1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200" spc="80" dirty="0">
                <a:solidFill>
                  <a:schemeClr val="tx1"/>
                </a:solidFill>
              </a:rPr>
              <a:t>Era</a:t>
            </a:r>
            <a:r>
              <a:rPr sz="2200" spc="-170" dirty="0">
                <a:solidFill>
                  <a:schemeClr val="tx1"/>
                </a:solidFill>
              </a:rPr>
              <a:t> </a:t>
            </a:r>
            <a:r>
              <a:rPr sz="2200" spc="-15" dirty="0">
                <a:solidFill>
                  <a:schemeClr val="tx1"/>
                </a:solidFill>
              </a:rPr>
              <a:t>Informasi</a:t>
            </a:r>
            <a:endParaRPr sz="2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315" y="752111"/>
            <a:ext cx="2380615" cy="21971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86690" indent="-173990">
              <a:lnSpc>
                <a:spcPct val="100000"/>
              </a:lnSpc>
              <a:spcBef>
                <a:spcPts val="295"/>
              </a:spcBef>
              <a:buFont typeface="Tahoma"/>
              <a:buChar char="•"/>
              <a:tabLst>
                <a:tab pos="186690" algn="l"/>
              </a:tabLst>
            </a:pPr>
            <a:r>
              <a:rPr sz="1400" b="1" spc="-5" dirty="0">
                <a:latin typeface="Arial"/>
                <a:cs typeface="Arial"/>
              </a:rPr>
              <a:t>EFISIENSI</a:t>
            </a:r>
            <a:endParaRPr sz="14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190"/>
              </a:spcBef>
              <a:buFont typeface="Tahoma"/>
              <a:buChar char="•"/>
              <a:tabLst>
                <a:tab pos="186690" algn="l"/>
              </a:tabLst>
            </a:pPr>
            <a:r>
              <a:rPr sz="1400" b="1" spc="-20" dirty="0">
                <a:latin typeface="Arial"/>
                <a:cs typeface="Arial"/>
              </a:rPr>
              <a:t>PRODUKTIVITAS</a:t>
            </a:r>
            <a:endParaRPr sz="1400">
              <a:latin typeface="Arial"/>
              <a:cs typeface="Arial"/>
            </a:endParaRPr>
          </a:p>
          <a:p>
            <a:pPr marL="384810" lvl="1" indent="-143510">
              <a:lnSpc>
                <a:spcPct val="100000"/>
              </a:lnSpc>
              <a:spcBef>
                <a:spcPts val="105"/>
              </a:spcBef>
              <a:buChar char="–"/>
              <a:tabLst>
                <a:tab pos="384810" algn="l"/>
              </a:tabLst>
            </a:pPr>
            <a:r>
              <a:rPr sz="1200" spc="25" dirty="0">
                <a:latin typeface="Tahoma"/>
                <a:cs typeface="Tahoma"/>
              </a:rPr>
              <a:t>Pelayanan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Publik/Pemerintah</a:t>
            </a:r>
            <a:endParaRPr sz="12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95"/>
              </a:spcBef>
              <a:buChar char="–"/>
              <a:tabLst>
                <a:tab pos="384810" algn="l"/>
              </a:tabLst>
            </a:pPr>
            <a:r>
              <a:rPr sz="1200" spc="10" dirty="0">
                <a:latin typeface="Tahoma"/>
                <a:cs typeface="Tahoma"/>
              </a:rPr>
              <a:t>Bisnis/Komersial</a:t>
            </a:r>
            <a:endParaRPr sz="12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100"/>
              </a:spcBef>
              <a:buChar char="–"/>
              <a:tabLst>
                <a:tab pos="384810" algn="l"/>
              </a:tabLst>
            </a:pPr>
            <a:r>
              <a:rPr sz="1200" spc="55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200" dirty="0">
                <a:latin typeface="Tahoma"/>
                <a:cs typeface="Tahoma"/>
              </a:rPr>
              <a:t> </a:t>
            </a:r>
            <a:r>
              <a:rPr sz="1200" spc="55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55" dirty="0">
                <a:latin typeface="Tahoma"/>
                <a:cs typeface="Tahoma"/>
              </a:rPr>
              <a:t>ssa</a:t>
            </a:r>
            <a:endParaRPr sz="12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95"/>
              </a:spcBef>
              <a:buChar char="–"/>
              <a:tabLst>
                <a:tab pos="384810" algn="l"/>
              </a:tabLst>
            </a:pPr>
            <a:r>
              <a:rPr sz="1200" spc="15" dirty="0">
                <a:latin typeface="Tahoma"/>
                <a:cs typeface="Tahoma"/>
              </a:rPr>
              <a:t>Pendidikan</a:t>
            </a:r>
            <a:endParaRPr sz="12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120"/>
              </a:spcBef>
              <a:buChar char="–"/>
              <a:tabLst>
                <a:tab pos="384810" algn="l"/>
              </a:tabLst>
            </a:pPr>
            <a:r>
              <a:rPr sz="1200" spc="15" dirty="0">
                <a:latin typeface="Tahoma"/>
                <a:cs typeface="Tahoma"/>
              </a:rPr>
              <a:t>Masyarakat</a:t>
            </a:r>
            <a:endParaRPr sz="1200">
              <a:latin typeface="Tahoma"/>
              <a:cs typeface="Tahoma"/>
            </a:endParaRPr>
          </a:p>
          <a:p>
            <a:pPr marL="186690" indent="-173990">
              <a:lnSpc>
                <a:spcPct val="100000"/>
              </a:lnSpc>
              <a:spcBef>
                <a:spcPts val="185"/>
              </a:spcBef>
              <a:buFont typeface="Tahoma"/>
              <a:buChar char="•"/>
              <a:tabLst>
                <a:tab pos="186690" algn="l"/>
              </a:tabLst>
            </a:pPr>
            <a:r>
              <a:rPr sz="1400" b="1" spc="-25" dirty="0">
                <a:latin typeface="Arial"/>
                <a:cs typeface="Arial"/>
              </a:rPr>
              <a:t>KENYAMANAN</a:t>
            </a:r>
            <a:endParaRPr sz="14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195"/>
              </a:spcBef>
              <a:buFont typeface="Tahoma"/>
              <a:buChar char="•"/>
              <a:tabLst>
                <a:tab pos="186690" algn="l"/>
              </a:tabLst>
            </a:pPr>
            <a:r>
              <a:rPr sz="1400" b="1" spc="-10" dirty="0">
                <a:latin typeface="Arial"/>
                <a:cs typeface="Arial"/>
              </a:rPr>
              <a:t>BORDERLESS</a:t>
            </a:r>
            <a:endParaRPr sz="14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215"/>
              </a:spcBef>
              <a:buFont typeface="Tahoma"/>
              <a:buChar char="•"/>
              <a:tabLst>
                <a:tab pos="186690" algn="l"/>
              </a:tabLst>
            </a:pPr>
            <a:r>
              <a:rPr sz="1400" b="1" spc="-45" dirty="0">
                <a:latin typeface="Arial"/>
                <a:cs typeface="Arial"/>
              </a:rPr>
              <a:t>KECEPATAN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176911"/>
            <a:ext cx="382587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40" dirty="0">
                <a:solidFill>
                  <a:schemeClr val="tx1"/>
                </a:solidFill>
              </a:rPr>
              <a:t>Dampak</a:t>
            </a:r>
            <a:r>
              <a:rPr sz="2200" spc="-150" dirty="0">
                <a:solidFill>
                  <a:schemeClr val="tx1"/>
                </a:solidFill>
              </a:rPr>
              <a:t> </a:t>
            </a:r>
            <a:r>
              <a:rPr sz="2200" b="1" dirty="0">
                <a:solidFill>
                  <a:schemeClr val="tx1"/>
                </a:solidFill>
                <a:latin typeface="Arial"/>
                <a:cs typeface="Arial"/>
              </a:rPr>
              <a:t>Negatif</a:t>
            </a:r>
            <a:r>
              <a:rPr sz="2200" b="1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200" spc="80" dirty="0">
                <a:solidFill>
                  <a:schemeClr val="tx1"/>
                </a:solidFill>
              </a:rPr>
              <a:t>Era</a:t>
            </a:r>
            <a:r>
              <a:rPr sz="2200" spc="-150" dirty="0">
                <a:solidFill>
                  <a:schemeClr val="tx1"/>
                </a:solidFill>
              </a:rPr>
              <a:t> </a:t>
            </a:r>
            <a:r>
              <a:rPr sz="2200" spc="-15" dirty="0">
                <a:solidFill>
                  <a:schemeClr val="tx1"/>
                </a:solidFill>
              </a:rPr>
              <a:t>Informasi</a:t>
            </a:r>
            <a:endParaRPr sz="2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8939" y="678993"/>
            <a:ext cx="2294255" cy="21780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83515" indent="-171450">
              <a:lnSpc>
                <a:spcPct val="100000"/>
              </a:lnSpc>
              <a:spcBef>
                <a:spcPts val="315"/>
              </a:spcBef>
              <a:buChar char="•"/>
              <a:tabLst>
                <a:tab pos="184150" algn="l"/>
              </a:tabLst>
            </a:pPr>
            <a:r>
              <a:rPr sz="1400" spc="70" dirty="0">
                <a:latin typeface="Tahoma"/>
                <a:cs typeface="Tahoma"/>
              </a:rPr>
              <a:t>Rasa</a:t>
            </a:r>
            <a:r>
              <a:rPr sz="1400" spc="-185" dirty="0">
                <a:latin typeface="Tahoma"/>
                <a:cs typeface="Tahoma"/>
              </a:rPr>
              <a:t> </a:t>
            </a:r>
            <a:r>
              <a:rPr sz="1400" spc="-105" dirty="0">
                <a:latin typeface="Tahoma"/>
                <a:cs typeface="Tahoma"/>
              </a:rPr>
              <a:t>T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-85" dirty="0">
                <a:latin typeface="Tahoma"/>
                <a:cs typeface="Tahoma"/>
              </a:rPr>
              <a:t>t</a:t>
            </a:r>
            <a:endParaRPr sz="14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215"/>
              </a:spcBef>
              <a:buChar char="•"/>
              <a:tabLst>
                <a:tab pos="184150" algn="l"/>
              </a:tabLst>
            </a:pPr>
            <a:r>
              <a:rPr sz="1400" spc="10" dirty="0">
                <a:latin typeface="Tahoma"/>
                <a:cs typeface="Tahoma"/>
              </a:rPr>
              <a:t>Keterasingan</a:t>
            </a:r>
            <a:endParaRPr sz="14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195"/>
              </a:spcBef>
              <a:buChar char="•"/>
              <a:tabLst>
                <a:tab pos="184150" algn="l"/>
              </a:tabLst>
            </a:pPr>
            <a:r>
              <a:rPr sz="1400" spc="110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lo</a:t>
            </a:r>
            <a:r>
              <a:rPr sz="1400" dirty="0">
                <a:latin typeface="Tahoma"/>
                <a:cs typeface="Tahoma"/>
              </a:rPr>
              <a:t>m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k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45" dirty="0">
                <a:latin typeface="Tahoma"/>
                <a:cs typeface="Tahoma"/>
              </a:rPr>
              <a:t>M</a:t>
            </a:r>
            <a:r>
              <a:rPr sz="1400" spc="15" dirty="0">
                <a:latin typeface="Tahoma"/>
                <a:cs typeface="Tahoma"/>
              </a:rPr>
              <a:t>is</a:t>
            </a:r>
            <a:r>
              <a:rPr sz="1400" spc="50" dirty="0">
                <a:latin typeface="Tahoma"/>
                <a:cs typeface="Tahoma"/>
              </a:rPr>
              <a:t>k</a:t>
            </a:r>
            <a:r>
              <a:rPr sz="1400" spc="-10" dirty="0">
                <a:latin typeface="Tahoma"/>
                <a:cs typeface="Tahoma"/>
              </a:rPr>
              <a:t>in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170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nf</a:t>
            </a:r>
            <a:r>
              <a:rPr sz="1400" spc="-40" dirty="0">
                <a:latin typeface="Tahoma"/>
                <a:cs typeface="Tahoma"/>
              </a:rPr>
              <a:t>o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si</a:t>
            </a:r>
            <a:endParaRPr sz="14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190"/>
              </a:spcBef>
              <a:buFont typeface="Tahoma"/>
              <a:buChar char="•"/>
              <a:tabLst>
                <a:tab pos="184150" algn="l"/>
              </a:tabLst>
            </a:pPr>
            <a:r>
              <a:rPr sz="1400" b="1" spc="-15" dirty="0">
                <a:latin typeface="Arial"/>
                <a:cs typeface="Arial"/>
              </a:rPr>
              <a:t>Individualistik</a:t>
            </a:r>
            <a:endParaRPr sz="1400">
              <a:latin typeface="Arial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220"/>
              </a:spcBef>
              <a:buChar char="•"/>
              <a:tabLst>
                <a:tab pos="184150" algn="l"/>
              </a:tabLst>
            </a:pPr>
            <a:r>
              <a:rPr sz="1400" spc="105" dirty="0">
                <a:latin typeface="Tahoma"/>
                <a:cs typeface="Tahoma"/>
              </a:rPr>
              <a:t>K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5" dirty="0">
                <a:latin typeface="Tahoma"/>
                <a:cs typeface="Tahoma"/>
              </a:rPr>
              <a:t>l</a:t>
            </a:r>
            <a:r>
              <a:rPr sz="1400" spc="10" dirty="0">
                <a:latin typeface="Tahoma"/>
                <a:cs typeface="Tahoma"/>
              </a:rPr>
              <a:t>e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dirty="0">
                <a:latin typeface="Tahoma"/>
                <a:cs typeface="Tahoma"/>
              </a:rPr>
              <a:t>sit</a:t>
            </a:r>
            <a:r>
              <a:rPr sz="1400" spc="-5" dirty="0">
                <a:latin typeface="Tahoma"/>
                <a:cs typeface="Tahoma"/>
              </a:rPr>
              <a:t>a</a:t>
            </a:r>
            <a:r>
              <a:rPr sz="1400" spc="70" dirty="0">
                <a:latin typeface="Tahoma"/>
                <a:cs typeface="Tahoma"/>
              </a:rPr>
              <a:t>s</a:t>
            </a:r>
            <a:r>
              <a:rPr sz="1400" spc="-19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10" dirty="0">
                <a:latin typeface="Tahoma"/>
                <a:cs typeface="Tahoma"/>
              </a:rPr>
              <a:t>gg</a:t>
            </a:r>
            <a:r>
              <a:rPr sz="1400" spc="-15" dirty="0">
                <a:latin typeface="Tahoma"/>
                <a:cs typeface="Tahoma"/>
              </a:rPr>
              <a:t>i</a:t>
            </a:r>
            <a:endParaRPr sz="14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190"/>
              </a:spcBef>
              <a:buChar char="•"/>
              <a:tabLst>
                <a:tab pos="184150" algn="l"/>
              </a:tabLst>
            </a:pPr>
            <a:r>
              <a:rPr sz="1400" spc="5" dirty="0">
                <a:latin typeface="Tahoma"/>
                <a:cs typeface="Tahoma"/>
              </a:rPr>
              <a:t>Rentannya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Organisasi</a:t>
            </a:r>
            <a:endParaRPr sz="14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195"/>
              </a:spcBef>
              <a:buFont typeface="Tahoma"/>
              <a:buChar char="•"/>
              <a:tabLst>
                <a:tab pos="184150" algn="l"/>
              </a:tabLst>
            </a:pPr>
            <a:r>
              <a:rPr sz="1400" b="1" spc="-15" dirty="0">
                <a:latin typeface="Arial"/>
                <a:cs typeface="Arial"/>
              </a:rPr>
              <a:t>Pelanggaran</a:t>
            </a:r>
            <a:r>
              <a:rPr sz="1400" b="1" spc="-75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Privasi</a:t>
            </a:r>
            <a:endParaRPr sz="1400">
              <a:latin typeface="Arial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215"/>
              </a:spcBef>
              <a:buChar char="•"/>
              <a:tabLst>
                <a:tab pos="184150" algn="l"/>
              </a:tabLst>
            </a:pPr>
            <a:r>
              <a:rPr sz="1400" spc="5" dirty="0">
                <a:latin typeface="Tahoma"/>
                <a:cs typeface="Tahoma"/>
              </a:rPr>
              <a:t>Pengangguran</a:t>
            </a:r>
            <a:endParaRPr sz="14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195"/>
              </a:spcBef>
              <a:buChar char="•"/>
              <a:tabLst>
                <a:tab pos="184150" algn="l"/>
              </a:tabLst>
            </a:pPr>
            <a:r>
              <a:rPr sz="1400" dirty="0">
                <a:latin typeface="Tahoma"/>
                <a:cs typeface="Tahoma"/>
              </a:rPr>
              <a:t>Kaburnya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Citra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Manusia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491" y="249808"/>
            <a:ext cx="37852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35" dirty="0">
                <a:solidFill>
                  <a:schemeClr val="tx1"/>
                </a:solidFill>
              </a:rPr>
              <a:t>Kunci</a:t>
            </a:r>
            <a:r>
              <a:rPr sz="2000" spc="-100" dirty="0">
                <a:solidFill>
                  <a:schemeClr val="tx1"/>
                </a:solidFill>
              </a:rPr>
              <a:t> </a:t>
            </a:r>
            <a:r>
              <a:rPr sz="2000" spc="25" dirty="0">
                <a:solidFill>
                  <a:schemeClr val="tx1"/>
                </a:solidFill>
              </a:rPr>
              <a:t>Keberhasilan</a:t>
            </a:r>
            <a:r>
              <a:rPr sz="2000" spc="-70" dirty="0">
                <a:solidFill>
                  <a:schemeClr val="tx1"/>
                </a:solidFill>
              </a:rPr>
              <a:t> </a:t>
            </a:r>
            <a:r>
              <a:rPr sz="2000" spc="65" dirty="0">
                <a:solidFill>
                  <a:schemeClr val="tx1"/>
                </a:solidFill>
              </a:rPr>
              <a:t>Era</a:t>
            </a:r>
            <a:r>
              <a:rPr sz="2000" spc="-70" dirty="0">
                <a:solidFill>
                  <a:schemeClr val="tx1"/>
                </a:solidFill>
              </a:rPr>
              <a:t> </a:t>
            </a:r>
            <a:r>
              <a:rPr sz="2000" spc="-15" dirty="0">
                <a:solidFill>
                  <a:schemeClr val="tx1"/>
                </a:solidFill>
              </a:rPr>
              <a:t>Informasi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739" y="855257"/>
            <a:ext cx="3785870" cy="124269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83515" indent="-171450">
              <a:lnSpc>
                <a:spcPct val="100000"/>
              </a:lnSpc>
              <a:spcBef>
                <a:spcPts val="385"/>
              </a:spcBef>
              <a:buFont typeface="Tahoma"/>
              <a:buChar char="•"/>
              <a:tabLst>
                <a:tab pos="184150" algn="l"/>
              </a:tabLst>
            </a:pPr>
            <a:r>
              <a:rPr sz="1400" b="1" spc="-15" dirty="0">
                <a:latin typeface="Arial"/>
                <a:cs typeface="Arial"/>
              </a:rPr>
              <a:t>Creativity</a:t>
            </a:r>
            <a:endParaRPr sz="1400">
              <a:latin typeface="Arial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290"/>
              </a:spcBef>
              <a:buFont typeface="Tahoma"/>
              <a:buChar char="•"/>
              <a:tabLst>
                <a:tab pos="184150" algn="l"/>
              </a:tabLst>
            </a:pPr>
            <a:r>
              <a:rPr sz="1400" b="1" spc="-10" dirty="0">
                <a:latin typeface="Arial"/>
                <a:cs typeface="Arial"/>
              </a:rPr>
              <a:t>Customizability</a:t>
            </a:r>
            <a:endParaRPr sz="1400">
              <a:latin typeface="Arial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315"/>
              </a:spcBef>
              <a:buFont typeface="Tahoma"/>
              <a:buChar char="•"/>
              <a:tabLst>
                <a:tab pos="184150" algn="l"/>
              </a:tabLst>
            </a:pPr>
            <a:r>
              <a:rPr sz="1400" b="1" spc="-20" dirty="0">
                <a:latin typeface="Arial"/>
                <a:cs typeface="Arial"/>
              </a:rPr>
              <a:t>Convenience</a:t>
            </a:r>
            <a:r>
              <a:rPr sz="1400" b="1" spc="15" dirty="0">
                <a:latin typeface="Arial"/>
                <a:cs typeface="Arial"/>
              </a:rPr>
              <a:t> </a:t>
            </a:r>
            <a:r>
              <a:rPr sz="1400" b="1" spc="-30" dirty="0">
                <a:latin typeface="Arial"/>
                <a:cs typeface="Arial"/>
              </a:rPr>
              <a:t>(Total</a:t>
            </a:r>
            <a:r>
              <a:rPr sz="1400" b="1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Customer</a:t>
            </a:r>
            <a:r>
              <a:rPr sz="1400" b="1" spc="12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Satisfaction)</a:t>
            </a:r>
            <a:endParaRPr sz="1400">
              <a:latin typeface="Arial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285"/>
              </a:spcBef>
              <a:buFont typeface="Tahoma"/>
              <a:buChar char="•"/>
              <a:tabLst>
                <a:tab pos="184150" algn="l"/>
              </a:tabLst>
            </a:pPr>
            <a:r>
              <a:rPr sz="1400" b="1" spc="-10" dirty="0">
                <a:latin typeface="Arial"/>
                <a:cs typeface="Arial"/>
              </a:rPr>
              <a:t>Human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Resource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(Siapkan… BUKAN</a:t>
            </a:r>
            <a:endParaRPr sz="1400">
              <a:latin typeface="Arial"/>
              <a:cs typeface="Arial"/>
            </a:endParaRPr>
          </a:p>
          <a:p>
            <a:pPr marL="183515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latin typeface="Arial"/>
                <a:cs typeface="Arial"/>
              </a:rPr>
              <a:t>mencari……)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3329" y="2061844"/>
            <a:ext cx="1439799" cy="1205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66522"/>
            <a:ext cx="32448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chemeClr val="tx1"/>
                </a:solidFill>
              </a:rPr>
              <a:t>L</a:t>
            </a:r>
            <a:r>
              <a:rPr sz="1800" spc="55" dirty="0">
                <a:solidFill>
                  <a:schemeClr val="tx1"/>
                </a:solidFill>
              </a:rPr>
              <a:t>a</a:t>
            </a:r>
            <a:r>
              <a:rPr sz="1800" spc="-15" dirty="0">
                <a:solidFill>
                  <a:schemeClr val="tx1"/>
                </a:solidFill>
              </a:rPr>
              <a:t>y</a:t>
            </a:r>
            <a:r>
              <a:rPr sz="1800" spc="55" dirty="0">
                <a:solidFill>
                  <a:schemeClr val="tx1"/>
                </a:solidFill>
              </a:rPr>
              <a:t>a</a:t>
            </a:r>
            <a:r>
              <a:rPr sz="1800" spc="-5" dirty="0">
                <a:solidFill>
                  <a:schemeClr val="tx1"/>
                </a:solidFill>
              </a:rPr>
              <a:t>n</a:t>
            </a:r>
            <a:r>
              <a:rPr sz="1800" spc="55" dirty="0">
                <a:solidFill>
                  <a:schemeClr val="tx1"/>
                </a:solidFill>
              </a:rPr>
              <a:t>a</a:t>
            </a:r>
            <a:r>
              <a:rPr sz="1800" spc="-5" dirty="0">
                <a:solidFill>
                  <a:schemeClr val="tx1"/>
                </a:solidFill>
              </a:rPr>
              <a:t>n</a:t>
            </a:r>
            <a:r>
              <a:rPr sz="1800" spc="-155" dirty="0">
                <a:solidFill>
                  <a:schemeClr val="tx1"/>
                </a:solidFill>
              </a:rPr>
              <a:t> </a:t>
            </a:r>
            <a:r>
              <a:rPr sz="1800" spc="90" dirty="0">
                <a:solidFill>
                  <a:schemeClr val="tx1"/>
                </a:solidFill>
              </a:rPr>
              <a:t>El</a:t>
            </a:r>
            <a:r>
              <a:rPr sz="1800" spc="50" dirty="0">
                <a:solidFill>
                  <a:schemeClr val="tx1"/>
                </a:solidFill>
              </a:rPr>
              <a:t>e</a:t>
            </a:r>
            <a:r>
              <a:rPr sz="1800" spc="5" dirty="0">
                <a:solidFill>
                  <a:schemeClr val="tx1"/>
                </a:solidFill>
              </a:rPr>
              <a:t>k</a:t>
            </a:r>
            <a:r>
              <a:rPr sz="1800" spc="-35" dirty="0">
                <a:solidFill>
                  <a:schemeClr val="tx1"/>
                </a:solidFill>
              </a:rPr>
              <a:t>tr</a:t>
            </a:r>
            <a:r>
              <a:rPr sz="1800" spc="-50" dirty="0">
                <a:solidFill>
                  <a:schemeClr val="tx1"/>
                </a:solidFill>
              </a:rPr>
              <a:t>o</a:t>
            </a:r>
            <a:r>
              <a:rPr sz="1800" spc="-5" dirty="0">
                <a:solidFill>
                  <a:schemeClr val="tx1"/>
                </a:solidFill>
              </a:rPr>
              <a:t>n</a:t>
            </a:r>
            <a:r>
              <a:rPr sz="1800" spc="-35" dirty="0">
                <a:solidFill>
                  <a:schemeClr val="tx1"/>
                </a:solidFill>
              </a:rPr>
              <a:t>i</a:t>
            </a:r>
            <a:r>
              <a:rPr sz="1800" spc="95" dirty="0">
                <a:solidFill>
                  <a:schemeClr val="tx1"/>
                </a:solidFill>
              </a:rPr>
              <a:t>s</a:t>
            </a:r>
            <a:r>
              <a:rPr sz="1800" spc="-210" dirty="0">
                <a:solidFill>
                  <a:schemeClr val="tx1"/>
                </a:solidFill>
              </a:rPr>
              <a:t> </a:t>
            </a:r>
            <a:r>
              <a:rPr sz="1800" spc="-20" dirty="0">
                <a:solidFill>
                  <a:schemeClr val="tx1"/>
                </a:solidFill>
              </a:rPr>
              <a:t>(</a:t>
            </a:r>
            <a:r>
              <a:rPr sz="1800" spc="-15" dirty="0">
                <a:solidFill>
                  <a:schemeClr val="tx1"/>
                </a:solidFill>
              </a:rPr>
              <a:t>e</a:t>
            </a:r>
            <a:r>
              <a:rPr sz="1800" spc="-55" dirty="0">
                <a:solidFill>
                  <a:schemeClr val="tx1"/>
                </a:solidFill>
              </a:rPr>
              <a:t>-</a:t>
            </a:r>
            <a:r>
              <a:rPr sz="1800" spc="50" dirty="0">
                <a:solidFill>
                  <a:schemeClr val="tx1"/>
                </a:solidFill>
              </a:rPr>
              <a:t>Ser</a:t>
            </a:r>
            <a:r>
              <a:rPr sz="1800" spc="40" dirty="0">
                <a:solidFill>
                  <a:schemeClr val="tx1"/>
                </a:solidFill>
              </a:rPr>
              <a:t>v</a:t>
            </a:r>
            <a:r>
              <a:rPr sz="1800" spc="-10" dirty="0">
                <a:solidFill>
                  <a:schemeClr val="tx1"/>
                </a:solidFill>
              </a:rPr>
              <a:t>i</a:t>
            </a:r>
            <a:r>
              <a:rPr sz="1800" spc="75" dirty="0">
                <a:solidFill>
                  <a:schemeClr val="tx1"/>
                </a:solidFill>
              </a:rPr>
              <a:t>c</a:t>
            </a:r>
            <a:r>
              <a:rPr sz="1800" spc="50" dirty="0">
                <a:solidFill>
                  <a:schemeClr val="tx1"/>
                </a:solidFill>
              </a:rPr>
              <a:t>e</a:t>
            </a:r>
            <a:r>
              <a:rPr sz="1800" spc="100" dirty="0">
                <a:solidFill>
                  <a:schemeClr val="tx1"/>
                </a:solidFill>
              </a:rPr>
              <a:t>s</a:t>
            </a:r>
            <a:r>
              <a:rPr sz="1800" spc="-90" dirty="0">
                <a:solidFill>
                  <a:schemeClr val="tx1"/>
                </a:solidFill>
              </a:rPr>
              <a:t>)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139" y="765251"/>
            <a:ext cx="3784600" cy="238315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spc="65" dirty="0">
                <a:latin typeface="Tahoma"/>
                <a:cs typeface="Tahoma"/>
              </a:rPr>
              <a:t>D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60" dirty="0">
                <a:latin typeface="Tahoma"/>
                <a:cs typeface="Tahoma"/>
              </a:rPr>
              <a:t>f</a:t>
            </a:r>
            <a:r>
              <a:rPr sz="1600" spc="15" dirty="0">
                <a:latin typeface="Tahoma"/>
                <a:cs typeface="Tahoma"/>
              </a:rPr>
              <a:t>ini</a:t>
            </a:r>
            <a:r>
              <a:rPr sz="1600" spc="25" dirty="0">
                <a:latin typeface="Tahoma"/>
                <a:cs typeface="Tahoma"/>
              </a:rPr>
              <a:t>s</a:t>
            </a:r>
            <a:r>
              <a:rPr sz="1600" spc="-10" dirty="0">
                <a:latin typeface="Tahoma"/>
                <a:cs typeface="Tahoma"/>
              </a:rPr>
              <a:t>i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m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10" dirty="0">
                <a:latin typeface="Tahoma"/>
                <a:cs typeface="Tahoma"/>
              </a:rPr>
              <a:t>nu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-10" dirty="0">
                <a:latin typeface="Tahoma"/>
                <a:cs typeface="Tahoma"/>
              </a:rPr>
              <a:t>u</a:t>
            </a:r>
            <a:r>
              <a:rPr sz="1600" spc="-90" dirty="0">
                <a:latin typeface="Tahoma"/>
                <a:cs typeface="Tahoma"/>
              </a:rPr>
              <a:t>t</a:t>
            </a:r>
            <a:r>
              <a:rPr sz="1600" spc="-190" dirty="0">
                <a:latin typeface="Tahoma"/>
                <a:cs typeface="Tahoma"/>
              </a:rPr>
              <a:t> </a:t>
            </a:r>
            <a:r>
              <a:rPr sz="1600" spc="135" dirty="0">
                <a:latin typeface="Tahoma"/>
                <a:cs typeface="Tahoma"/>
              </a:rPr>
              <a:t>W</a:t>
            </a:r>
            <a:r>
              <a:rPr sz="1600" spc="-5" dirty="0">
                <a:latin typeface="Tahoma"/>
                <a:cs typeface="Tahoma"/>
              </a:rPr>
              <a:t>i</a:t>
            </a:r>
            <a:r>
              <a:rPr sz="1600" spc="5" dirty="0">
                <a:latin typeface="Tahoma"/>
                <a:cs typeface="Tahoma"/>
              </a:rPr>
              <a:t>k</a:t>
            </a:r>
            <a:r>
              <a:rPr sz="1600" spc="-35" dirty="0">
                <a:latin typeface="Tahoma"/>
                <a:cs typeface="Tahoma"/>
              </a:rPr>
              <a:t>i</a:t>
            </a:r>
            <a:r>
              <a:rPr sz="1600" spc="-5" dirty="0">
                <a:latin typeface="Tahoma"/>
                <a:cs typeface="Tahoma"/>
              </a:rPr>
              <a:t>p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30" dirty="0">
                <a:latin typeface="Tahoma"/>
                <a:cs typeface="Tahoma"/>
              </a:rPr>
              <a:t>d</a:t>
            </a:r>
            <a:r>
              <a:rPr sz="1600" spc="10" dirty="0">
                <a:latin typeface="Tahoma"/>
                <a:cs typeface="Tahoma"/>
              </a:rPr>
              <a:t>i</a:t>
            </a:r>
            <a:r>
              <a:rPr sz="1600" dirty="0">
                <a:latin typeface="Tahoma"/>
                <a:cs typeface="Tahoma"/>
              </a:rPr>
              <a:t>a</a:t>
            </a:r>
            <a:r>
              <a:rPr sz="1600" spc="-120" dirty="0">
                <a:latin typeface="Tahoma"/>
                <a:cs typeface="Tahoma"/>
              </a:rPr>
              <a:t>: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ts val="1730"/>
              </a:lnSpc>
              <a:spcBef>
                <a:spcPts val="430"/>
              </a:spcBef>
            </a:pP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15" dirty="0">
                <a:latin typeface="Arial"/>
                <a:cs typeface="Arial"/>
              </a:rPr>
              <a:t>.</a:t>
            </a:r>
            <a:r>
              <a:rPr sz="1600" b="1" spc="10" dirty="0">
                <a:latin typeface="Arial"/>
                <a:cs typeface="Arial"/>
              </a:rPr>
              <a:t>S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v</a:t>
            </a:r>
            <a:r>
              <a:rPr sz="1600" b="1" spc="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ce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-5" dirty="0">
                <a:latin typeface="Tahoma"/>
                <a:cs typeface="Tahoma"/>
              </a:rPr>
              <a:t>d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15" dirty="0">
                <a:latin typeface="Tahoma"/>
                <a:cs typeface="Tahoma"/>
              </a:rPr>
              <a:t>lah</a:t>
            </a:r>
            <a:r>
              <a:rPr sz="1600" spc="-105" dirty="0">
                <a:latin typeface="Tahoma"/>
                <a:cs typeface="Tahoma"/>
              </a:rPr>
              <a:t> </a:t>
            </a:r>
            <a:r>
              <a:rPr sz="1600" spc="25" dirty="0">
                <a:latin typeface="Tahoma"/>
                <a:cs typeface="Tahoma"/>
              </a:rPr>
              <a:t>i</a:t>
            </a:r>
            <a:r>
              <a:rPr sz="1600" spc="60" dirty="0">
                <a:latin typeface="Tahoma"/>
                <a:cs typeface="Tahoma"/>
              </a:rPr>
              <a:t>s</a:t>
            </a:r>
            <a:r>
              <a:rPr sz="1600" spc="-85" dirty="0">
                <a:latin typeface="Tahoma"/>
                <a:cs typeface="Tahoma"/>
              </a:rPr>
              <a:t>t</a:t>
            </a:r>
            <a:r>
              <a:rPr sz="1600" spc="-10" dirty="0">
                <a:latin typeface="Tahoma"/>
                <a:cs typeface="Tahoma"/>
              </a:rPr>
              <a:t>il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dirty="0">
                <a:latin typeface="Tahoma"/>
                <a:cs typeface="Tahoma"/>
              </a:rPr>
              <a:t>h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y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n</a:t>
            </a:r>
            <a:r>
              <a:rPr sz="1600" spc="5" dirty="0">
                <a:latin typeface="Tahoma"/>
                <a:cs typeface="Tahoma"/>
              </a:rPr>
              <a:t>g  </a:t>
            </a:r>
            <a:r>
              <a:rPr sz="1600" spc="15" dirty="0">
                <a:latin typeface="Tahoma"/>
                <a:cs typeface="Tahoma"/>
              </a:rPr>
              <a:t>m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10" dirty="0">
                <a:latin typeface="Tahoma"/>
                <a:cs typeface="Tahoma"/>
              </a:rPr>
              <a:t>nun</a:t>
            </a:r>
            <a:r>
              <a:rPr sz="1600" spc="-35" dirty="0">
                <a:latin typeface="Tahoma"/>
                <a:cs typeface="Tahoma"/>
              </a:rPr>
              <a:t>j</a:t>
            </a:r>
            <a:r>
              <a:rPr sz="1600" spc="-65" dirty="0">
                <a:latin typeface="Tahoma"/>
                <a:cs typeface="Tahoma"/>
              </a:rPr>
              <a:t>u</a:t>
            </a:r>
            <a:r>
              <a:rPr sz="1600" spc="-10" dirty="0">
                <a:latin typeface="Tahoma"/>
                <a:cs typeface="Tahoma"/>
              </a:rPr>
              <a:t>kk</a:t>
            </a:r>
            <a:r>
              <a:rPr sz="1600" spc="45" dirty="0">
                <a:latin typeface="Tahoma"/>
                <a:cs typeface="Tahoma"/>
              </a:rPr>
              <a:t>a</a:t>
            </a:r>
            <a:r>
              <a:rPr sz="1600" dirty="0">
                <a:latin typeface="Tahoma"/>
                <a:cs typeface="Tahoma"/>
              </a:rPr>
              <a:t>n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10" dirty="0">
                <a:latin typeface="Tahoma"/>
                <a:cs typeface="Tahoma"/>
              </a:rPr>
              <a:t>ny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10" dirty="0">
                <a:latin typeface="Tahoma"/>
                <a:cs typeface="Tahoma"/>
              </a:rPr>
              <a:t>i</a:t>
            </a:r>
            <a:r>
              <a:rPr sz="1600" spc="25" dirty="0">
                <a:latin typeface="Tahoma"/>
                <a:cs typeface="Tahoma"/>
              </a:rPr>
              <a:t>a</a:t>
            </a:r>
            <a:r>
              <a:rPr sz="1600" spc="45" dirty="0">
                <a:latin typeface="Tahoma"/>
                <a:cs typeface="Tahoma"/>
              </a:rPr>
              <a:t>a</a:t>
            </a:r>
            <a:r>
              <a:rPr sz="1600" dirty="0">
                <a:latin typeface="Tahoma"/>
                <a:cs typeface="Tahoma"/>
              </a:rPr>
              <a:t>n</a:t>
            </a:r>
            <a:r>
              <a:rPr sz="1600" spc="-12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l</a:t>
            </a:r>
            <a:r>
              <a:rPr sz="1600" spc="25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y</a:t>
            </a:r>
            <a:r>
              <a:rPr sz="1600" spc="45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n</a:t>
            </a:r>
            <a:r>
              <a:rPr sz="1600" spc="45" dirty="0">
                <a:latin typeface="Tahoma"/>
                <a:cs typeface="Tahoma"/>
              </a:rPr>
              <a:t>a</a:t>
            </a:r>
            <a:r>
              <a:rPr sz="1600" dirty="0">
                <a:latin typeface="Tahoma"/>
                <a:cs typeface="Tahoma"/>
              </a:rPr>
              <a:t>n</a:t>
            </a:r>
            <a:r>
              <a:rPr sz="1600" spc="-105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m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10" dirty="0">
                <a:latin typeface="Tahoma"/>
                <a:cs typeface="Tahoma"/>
              </a:rPr>
              <a:t>l</a:t>
            </a:r>
            <a:r>
              <a:rPr sz="1600" spc="25" dirty="0">
                <a:latin typeface="Tahoma"/>
                <a:cs typeface="Tahoma"/>
              </a:rPr>
              <a:t>a</a:t>
            </a:r>
            <a:r>
              <a:rPr sz="1600" spc="-5" dirty="0">
                <a:latin typeface="Tahoma"/>
                <a:cs typeface="Tahoma"/>
              </a:rPr>
              <a:t>l</a:t>
            </a:r>
            <a:r>
              <a:rPr sz="1600" spc="-10" dirty="0">
                <a:latin typeface="Tahoma"/>
                <a:cs typeface="Tahoma"/>
              </a:rPr>
              <a:t>u</a:t>
            </a:r>
            <a:r>
              <a:rPr sz="1600" spc="-15" dirty="0">
                <a:latin typeface="Tahoma"/>
                <a:cs typeface="Tahoma"/>
              </a:rPr>
              <a:t>i  </a:t>
            </a:r>
            <a:r>
              <a:rPr sz="1600" spc="-40" dirty="0">
                <a:latin typeface="Tahoma"/>
                <a:cs typeface="Tahoma"/>
              </a:rPr>
              <a:t>Internet</a:t>
            </a:r>
            <a:endParaRPr sz="1600">
              <a:latin typeface="Tahoma"/>
              <a:cs typeface="Tahoma"/>
            </a:endParaRPr>
          </a:p>
          <a:p>
            <a:pPr marL="384810" indent="-143510">
              <a:lnSpc>
                <a:spcPct val="100000"/>
              </a:lnSpc>
              <a:spcBef>
                <a:spcPts val="170"/>
              </a:spcBef>
              <a:buChar char="–"/>
              <a:tabLst>
                <a:tab pos="384810" algn="l"/>
              </a:tabLst>
            </a:pPr>
            <a:r>
              <a:rPr sz="1400" spc="10" dirty="0">
                <a:latin typeface="Tahoma"/>
                <a:cs typeface="Tahoma"/>
              </a:rPr>
              <a:t>E-commerce,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mis: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jual-beli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secara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online</a:t>
            </a:r>
            <a:endParaRPr sz="1400">
              <a:latin typeface="Tahoma"/>
              <a:cs typeface="Tahoma"/>
            </a:endParaRPr>
          </a:p>
          <a:p>
            <a:pPr marL="384810" indent="-143510">
              <a:lnSpc>
                <a:spcPts val="1600"/>
              </a:lnSpc>
              <a:spcBef>
                <a:spcPts val="219"/>
              </a:spcBef>
              <a:buChar char="–"/>
              <a:tabLst>
                <a:tab pos="384810" algn="l"/>
              </a:tabLst>
            </a:pPr>
            <a:r>
              <a:rPr sz="1400" spc="145" dirty="0">
                <a:latin typeface="Tahoma"/>
                <a:cs typeface="Tahoma"/>
              </a:rPr>
              <a:t>E</a:t>
            </a:r>
            <a:r>
              <a:rPr sz="1400" spc="-60" dirty="0">
                <a:latin typeface="Tahoma"/>
                <a:cs typeface="Tahoma"/>
              </a:rPr>
              <a:t>-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15" dirty="0">
                <a:latin typeface="Tahoma"/>
                <a:cs typeface="Tahoma"/>
              </a:rPr>
              <a:t>v</a:t>
            </a:r>
            <a:r>
              <a:rPr sz="1400" spc="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60" dirty="0">
                <a:latin typeface="Tahoma"/>
                <a:cs typeface="Tahoma"/>
              </a:rPr>
              <a:t>t,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20" dirty="0">
                <a:latin typeface="Tahoma"/>
                <a:cs typeface="Tahoma"/>
              </a:rPr>
              <a:t>is: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5" dirty="0">
                <a:latin typeface="Tahoma"/>
                <a:cs typeface="Tahoma"/>
              </a:rPr>
              <a:t>la</a:t>
            </a:r>
            <a:r>
              <a:rPr sz="1400" spc="-45" dirty="0">
                <a:latin typeface="Tahoma"/>
                <a:cs typeface="Tahoma"/>
              </a:rPr>
              <a:t>y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-15" dirty="0">
                <a:latin typeface="Tahoma"/>
                <a:cs typeface="Tahoma"/>
              </a:rPr>
              <a:t>li</a:t>
            </a:r>
            <a:r>
              <a:rPr sz="1400" spc="-5" dirty="0">
                <a:latin typeface="Tahoma"/>
                <a:cs typeface="Tahoma"/>
              </a:rPr>
              <a:t>k</a:t>
            </a:r>
            <a:endParaRPr sz="1400">
              <a:latin typeface="Tahoma"/>
              <a:cs typeface="Tahoma"/>
            </a:endParaRPr>
          </a:p>
          <a:p>
            <a:pPr marL="384810">
              <a:lnSpc>
                <a:spcPts val="1600"/>
              </a:lnSpc>
            </a:pP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5" dirty="0">
                <a:latin typeface="Tahoma"/>
                <a:cs typeface="Tahoma"/>
              </a:rPr>
              <a:t>l</a:t>
            </a:r>
            <a:r>
              <a:rPr sz="1400" spc="15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l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165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nt</a:t>
            </a:r>
            <a:r>
              <a:rPr sz="1400" spc="-4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85" dirty="0">
                <a:latin typeface="Tahoma"/>
                <a:cs typeface="Tahoma"/>
              </a:rPr>
              <a:t>t</a:t>
            </a:r>
            <a:endParaRPr sz="1400">
              <a:latin typeface="Tahoma"/>
              <a:cs typeface="Tahoma"/>
            </a:endParaRPr>
          </a:p>
          <a:p>
            <a:pPr marL="384810" indent="-143510">
              <a:lnSpc>
                <a:spcPct val="100000"/>
              </a:lnSpc>
              <a:spcBef>
                <a:spcPts val="95"/>
              </a:spcBef>
              <a:buChar char="–"/>
              <a:tabLst>
                <a:tab pos="384810" algn="l"/>
              </a:tabLst>
            </a:pPr>
            <a:r>
              <a:rPr sz="1400" spc="-20" dirty="0">
                <a:latin typeface="Tahoma"/>
                <a:cs typeface="Tahoma"/>
              </a:rPr>
              <a:t>E-library: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layanan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perpustakaan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digital</a:t>
            </a:r>
            <a:endParaRPr sz="1400">
              <a:latin typeface="Tahoma"/>
              <a:cs typeface="Tahoma"/>
            </a:endParaRPr>
          </a:p>
          <a:p>
            <a:pPr marL="384810" indent="-143510">
              <a:lnSpc>
                <a:spcPct val="100000"/>
              </a:lnSpc>
              <a:spcBef>
                <a:spcPts val="190"/>
              </a:spcBef>
              <a:buChar char="–"/>
              <a:tabLst>
                <a:tab pos="384810" algn="l"/>
              </a:tabLst>
            </a:pPr>
            <a:r>
              <a:rPr sz="1400" spc="-15" dirty="0">
                <a:latin typeface="Tahoma"/>
                <a:cs typeface="Tahoma"/>
              </a:rPr>
              <a:t>E-ticketing: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membeli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tiket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elektronis</a:t>
            </a:r>
            <a:endParaRPr sz="1400">
              <a:latin typeface="Tahoma"/>
              <a:cs typeface="Tahoma"/>
            </a:endParaRPr>
          </a:p>
          <a:p>
            <a:pPr marL="384810" indent="-143510">
              <a:lnSpc>
                <a:spcPct val="100000"/>
              </a:lnSpc>
              <a:spcBef>
                <a:spcPts val="215"/>
              </a:spcBef>
              <a:buChar char="–"/>
              <a:tabLst>
                <a:tab pos="384810" algn="l"/>
              </a:tabLst>
            </a:pPr>
            <a:r>
              <a:rPr sz="1400" spc="150" dirty="0">
                <a:latin typeface="Tahoma"/>
                <a:cs typeface="Tahoma"/>
              </a:rPr>
              <a:t>S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35" dirty="0">
                <a:latin typeface="Tahoma"/>
                <a:cs typeface="Tahoma"/>
              </a:rPr>
              <a:t>a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45" dirty="0">
                <a:latin typeface="Tahoma"/>
                <a:cs typeface="Tahoma"/>
              </a:rPr>
              <a:t>se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35" dirty="0">
                <a:latin typeface="Tahoma"/>
                <a:cs typeface="Tahoma"/>
              </a:rPr>
              <a:t>a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14" dirty="0">
                <a:latin typeface="Tahoma"/>
                <a:cs typeface="Tahoma"/>
              </a:rPr>
              <a:t>“</a:t>
            </a:r>
            <a:r>
              <a:rPr sz="1400" spc="145" dirty="0">
                <a:latin typeface="Tahoma"/>
                <a:cs typeface="Tahoma"/>
              </a:rPr>
              <a:t>E</a:t>
            </a:r>
            <a:r>
              <a:rPr sz="1400" spc="-110" dirty="0">
                <a:latin typeface="Tahoma"/>
                <a:cs typeface="Tahoma"/>
              </a:rPr>
              <a:t>”</a:t>
            </a:r>
            <a:r>
              <a:rPr sz="1400" spc="-40" dirty="0">
                <a:latin typeface="Tahoma"/>
                <a:cs typeface="Tahoma"/>
              </a:rPr>
              <a:t>,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ll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75335" y="281879"/>
            <a:ext cx="3879850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2000" spc="25" dirty="0">
                <a:latin typeface="Tahoma"/>
                <a:cs typeface="Tahoma"/>
              </a:rPr>
              <a:t>Layanan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15" dirty="0">
                <a:latin typeface="Tahoma"/>
                <a:cs typeface="Tahoma"/>
              </a:rPr>
              <a:t>Elektronis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15" dirty="0">
                <a:latin typeface="Tahoma"/>
                <a:cs typeface="Tahoma"/>
              </a:rPr>
              <a:t>(e-Services)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-2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5947" y="2704972"/>
            <a:ext cx="380365" cy="13465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ahoma"/>
                <a:cs typeface="Tahoma"/>
              </a:rPr>
              <a:t>l</a:t>
            </a:r>
            <a:r>
              <a:rPr sz="800" spc="15" dirty="0">
                <a:latin typeface="Tahoma"/>
                <a:cs typeface="Tahoma"/>
              </a:rPr>
              <a:t>a</a:t>
            </a:r>
            <a:r>
              <a:rPr sz="800" spc="-10" dirty="0">
                <a:latin typeface="Tahoma"/>
                <a:cs typeface="Tahoma"/>
              </a:rPr>
              <a:t>y</a:t>
            </a:r>
            <a:r>
              <a:rPr sz="800" spc="20" dirty="0">
                <a:latin typeface="Tahoma"/>
                <a:cs typeface="Tahoma"/>
              </a:rPr>
              <a:t>a</a:t>
            </a:r>
            <a:r>
              <a:rPr sz="800" spc="-15" dirty="0">
                <a:latin typeface="Tahoma"/>
                <a:cs typeface="Tahoma"/>
              </a:rPr>
              <a:t>n</a:t>
            </a:r>
            <a:r>
              <a:rPr sz="800" spc="35" dirty="0">
                <a:latin typeface="Tahoma"/>
                <a:cs typeface="Tahoma"/>
              </a:rPr>
              <a:t>a</a:t>
            </a:r>
            <a:r>
              <a:rPr sz="800" spc="-10" dirty="0">
                <a:latin typeface="Tahoma"/>
                <a:cs typeface="Tahoma"/>
              </a:rPr>
              <a:t>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8502" y="2713227"/>
            <a:ext cx="351790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815" marR="30480" indent="-635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ahoma"/>
                <a:cs typeface="Tahoma"/>
              </a:rPr>
              <a:t>pir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nti </a:t>
            </a:r>
            <a:r>
              <a:rPr sz="800" spc="-235" dirty="0">
                <a:latin typeface="Tahoma"/>
                <a:cs typeface="Tahoma"/>
              </a:rPr>
              <a:t> </a:t>
            </a:r>
            <a:r>
              <a:rPr sz="800" spc="-65" dirty="0">
                <a:latin typeface="Tahoma"/>
                <a:cs typeface="Tahoma"/>
              </a:rPr>
              <a:t>ak</a:t>
            </a:r>
            <a:r>
              <a:rPr sz="1200" spc="-97" baseline="10416" dirty="0">
                <a:latin typeface="Tahoma"/>
                <a:cs typeface="Tahoma"/>
              </a:rPr>
              <a:t>a</a:t>
            </a:r>
            <a:r>
              <a:rPr sz="800" spc="-65" dirty="0">
                <a:latin typeface="Tahoma"/>
                <a:cs typeface="Tahoma"/>
              </a:rPr>
              <a:t>ses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894" y="2407157"/>
            <a:ext cx="422909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005" marR="5080" indent="-27940">
              <a:lnSpc>
                <a:spcPct val="100000"/>
              </a:lnSpc>
              <a:spcBef>
                <a:spcPts val="90"/>
              </a:spcBef>
            </a:pPr>
            <a:r>
              <a:rPr sz="800" spc="-5" dirty="0">
                <a:latin typeface="Tahoma"/>
                <a:cs typeface="Tahoma"/>
              </a:rPr>
              <a:t>p</a:t>
            </a:r>
            <a:r>
              <a:rPr sz="800" spc="-30" dirty="0">
                <a:latin typeface="Tahoma"/>
                <a:cs typeface="Tahoma"/>
              </a:rPr>
              <a:t>e</a:t>
            </a:r>
            <a:r>
              <a:rPr sz="800" spc="-20" dirty="0">
                <a:latin typeface="Tahoma"/>
                <a:cs typeface="Tahoma"/>
              </a:rPr>
              <a:t>n</a:t>
            </a:r>
            <a:r>
              <a:rPr sz="800" spc="-45" dirty="0">
                <a:latin typeface="Tahoma"/>
                <a:cs typeface="Tahoma"/>
              </a:rPr>
              <a:t>y</a:t>
            </a:r>
            <a:r>
              <a:rPr sz="800" spc="5" dirty="0">
                <a:latin typeface="Tahoma"/>
                <a:cs typeface="Tahoma"/>
              </a:rPr>
              <a:t>e</a:t>
            </a:r>
            <a:r>
              <a:rPr sz="800" spc="-15" dirty="0">
                <a:latin typeface="Tahoma"/>
                <a:cs typeface="Tahoma"/>
              </a:rPr>
              <a:t>d</a:t>
            </a:r>
            <a:r>
              <a:rPr sz="800" spc="5" dirty="0">
                <a:latin typeface="Tahoma"/>
                <a:cs typeface="Tahoma"/>
              </a:rPr>
              <a:t>i</a:t>
            </a:r>
            <a:r>
              <a:rPr sz="800" spc="10" dirty="0">
                <a:latin typeface="Tahoma"/>
                <a:cs typeface="Tahoma"/>
              </a:rPr>
              <a:t>a  </a:t>
            </a:r>
            <a:r>
              <a:rPr sz="800" spc="-15" dirty="0">
                <a:latin typeface="Tahoma"/>
                <a:cs typeface="Tahoma"/>
              </a:rPr>
              <a:t>layanan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89171" y="2407157"/>
            <a:ext cx="394335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305" marR="5080" indent="-15240">
              <a:lnSpc>
                <a:spcPct val="100000"/>
              </a:lnSpc>
              <a:spcBef>
                <a:spcPts val="90"/>
              </a:spcBef>
            </a:pPr>
            <a:r>
              <a:rPr sz="800" spc="-15" dirty="0">
                <a:latin typeface="Tahoma"/>
                <a:cs typeface="Tahoma"/>
              </a:rPr>
              <a:t>p</a:t>
            </a:r>
            <a:r>
              <a:rPr sz="800" spc="-20" dirty="0">
                <a:latin typeface="Tahoma"/>
                <a:cs typeface="Tahoma"/>
              </a:rPr>
              <a:t>e</a:t>
            </a:r>
            <a:r>
              <a:rPr sz="800" spc="-25" dirty="0">
                <a:latin typeface="Tahoma"/>
                <a:cs typeface="Tahoma"/>
              </a:rPr>
              <a:t>m</a:t>
            </a:r>
            <a:r>
              <a:rPr sz="800" spc="-15" dirty="0">
                <a:latin typeface="Tahoma"/>
                <a:cs typeface="Tahoma"/>
              </a:rPr>
              <a:t>a</a:t>
            </a:r>
            <a:r>
              <a:rPr sz="800" spc="5" dirty="0">
                <a:latin typeface="Tahoma"/>
                <a:cs typeface="Tahoma"/>
              </a:rPr>
              <a:t>k</a:t>
            </a:r>
            <a:r>
              <a:rPr sz="800" spc="-15" dirty="0">
                <a:latin typeface="Tahoma"/>
                <a:cs typeface="Tahoma"/>
              </a:rPr>
              <a:t>a</a:t>
            </a:r>
            <a:r>
              <a:rPr sz="800" spc="-10" dirty="0">
                <a:latin typeface="Tahoma"/>
                <a:cs typeface="Tahoma"/>
              </a:rPr>
              <a:t>i  </a:t>
            </a:r>
            <a:r>
              <a:rPr sz="800" spc="-20" dirty="0">
                <a:latin typeface="Tahoma"/>
                <a:cs typeface="Tahoma"/>
              </a:rPr>
              <a:t>l</a:t>
            </a:r>
            <a:r>
              <a:rPr sz="800" spc="-15" dirty="0">
                <a:latin typeface="Tahoma"/>
                <a:cs typeface="Tahoma"/>
              </a:rPr>
              <a:t>a</a:t>
            </a:r>
            <a:r>
              <a:rPr sz="800" spc="-40" dirty="0">
                <a:latin typeface="Tahoma"/>
                <a:cs typeface="Tahoma"/>
              </a:rPr>
              <a:t>y</a:t>
            </a:r>
            <a:r>
              <a:rPr sz="800" spc="-15" dirty="0">
                <a:latin typeface="Tahoma"/>
                <a:cs typeface="Tahoma"/>
              </a:rPr>
              <a:t>a</a:t>
            </a:r>
            <a:r>
              <a:rPr sz="800" spc="5" dirty="0">
                <a:latin typeface="Tahoma"/>
                <a:cs typeface="Tahoma"/>
              </a:rPr>
              <a:t>n</a:t>
            </a:r>
            <a:r>
              <a:rPr sz="800" spc="10" dirty="0">
                <a:latin typeface="Tahoma"/>
                <a:cs typeface="Tahoma"/>
              </a:rPr>
              <a:t>a</a:t>
            </a:r>
            <a:r>
              <a:rPr sz="800" spc="-10" dirty="0">
                <a:latin typeface="Tahoma"/>
                <a:cs typeface="Tahoma"/>
              </a:rPr>
              <a:t>n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6958" y="2248280"/>
            <a:ext cx="1828800" cy="8382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192908" y="2612643"/>
            <a:ext cx="620395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5080" algn="ctr">
              <a:lnSpc>
                <a:spcPct val="100000"/>
              </a:lnSpc>
              <a:spcBef>
                <a:spcPts val="90"/>
              </a:spcBef>
            </a:pPr>
            <a:r>
              <a:rPr sz="800" spc="5" dirty="0">
                <a:latin typeface="Tahoma"/>
                <a:cs typeface="Tahoma"/>
              </a:rPr>
              <a:t>akses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800" spc="-15" dirty="0">
                <a:latin typeface="Tahoma"/>
                <a:cs typeface="Tahoma"/>
              </a:rPr>
              <a:t>dan 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spc="5" dirty="0">
                <a:latin typeface="Tahoma"/>
                <a:cs typeface="Tahoma"/>
              </a:rPr>
              <a:t>pen</a:t>
            </a:r>
            <a:r>
              <a:rPr sz="800" spc="-20" dirty="0">
                <a:latin typeface="Tahoma"/>
                <a:cs typeface="Tahoma"/>
              </a:rPr>
              <a:t>y</a:t>
            </a:r>
            <a:r>
              <a:rPr sz="800" spc="35" dirty="0">
                <a:latin typeface="Tahoma"/>
                <a:cs typeface="Tahoma"/>
              </a:rPr>
              <a:t>a</a:t>
            </a:r>
            <a:r>
              <a:rPr sz="800" spc="-30" dirty="0">
                <a:latin typeface="Tahoma"/>
                <a:cs typeface="Tahoma"/>
              </a:rPr>
              <a:t>m</a:t>
            </a:r>
            <a:r>
              <a:rPr sz="800" spc="-15" dirty="0">
                <a:latin typeface="Tahoma"/>
                <a:cs typeface="Tahoma"/>
              </a:rPr>
              <a:t>pa</a:t>
            </a:r>
            <a:r>
              <a:rPr sz="800" spc="-20" dirty="0">
                <a:latin typeface="Tahoma"/>
                <a:cs typeface="Tahoma"/>
              </a:rPr>
              <a:t>i</a:t>
            </a:r>
            <a:r>
              <a:rPr sz="800" spc="-15" dirty="0">
                <a:latin typeface="Tahoma"/>
                <a:cs typeface="Tahoma"/>
              </a:rPr>
              <a:t>a</a:t>
            </a:r>
            <a:r>
              <a:rPr sz="800" spc="-5" dirty="0">
                <a:latin typeface="Tahoma"/>
                <a:cs typeface="Tahoma"/>
              </a:rPr>
              <a:t>n  layanan</a:t>
            </a:r>
            <a:endParaRPr sz="800">
              <a:latin typeface="Tahoma"/>
              <a:cs typeface="Tahoma"/>
            </a:endParaRPr>
          </a:p>
          <a:p>
            <a:pPr marR="5715" algn="ctr">
              <a:lnSpc>
                <a:spcPct val="100000"/>
              </a:lnSpc>
              <a:spcBef>
                <a:spcPts val="655"/>
              </a:spcBef>
            </a:pPr>
            <a:r>
              <a:rPr sz="1000" spc="-25" dirty="0">
                <a:latin typeface="Tahoma"/>
                <a:cs typeface="Tahoma"/>
              </a:rPr>
              <a:t>Internet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76" y="6476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51079"/>
            <a:ext cx="295402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25" dirty="0">
                <a:solidFill>
                  <a:schemeClr val="tx1"/>
                </a:solidFill>
              </a:rPr>
              <a:t>Sejarah</a:t>
            </a:r>
            <a:r>
              <a:rPr sz="2000" spc="-114" dirty="0">
                <a:solidFill>
                  <a:schemeClr val="tx1"/>
                </a:solidFill>
              </a:rPr>
              <a:t> </a:t>
            </a:r>
            <a:r>
              <a:rPr sz="2000" spc="-60" dirty="0">
                <a:solidFill>
                  <a:schemeClr val="tx1"/>
                </a:solidFill>
              </a:rPr>
              <a:t>(~1970</a:t>
            </a:r>
            <a:r>
              <a:rPr sz="2000" spc="-95" dirty="0">
                <a:solidFill>
                  <a:schemeClr val="tx1"/>
                </a:solidFill>
              </a:rPr>
              <a:t> </a:t>
            </a:r>
            <a:r>
              <a:rPr sz="2000" spc="55" dirty="0">
                <a:solidFill>
                  <a:schemeClr val="tx1"/>
                </a:solidFill>
              </a:rPr>
              <a:t>sd</a:t>
            </a:r>
            <a:r>
              <a:rPr sz="2000" spc="-100" dirty="0">
                <a:solidFill>
                  <a:schemeClr val="tx1"/>
                </a:solidFill>
              </a:rPr>
              <a:t> </a:t>
            </a:r>
            <a:r>
              <a:rPr sz="2000" spc="-65" dirty="0">
                <a:solidFill>
                  <a:schemeClr val="tx1"/>
                </a:solidFill>
              </a:rPr>
              <a:t>~1990)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139" y="699388"/>
            <a:ext cx="3655695" cy="2489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3515" marR="359410" indent="-171450" algn="just">
              <a:lnSpc>
                <a:spcPct val="100000"/>
              </a:lnSpc>
              <a:spcBef>
                <a:spcPts val="90"/>
              </a:spcBef>
              <a:buChar char="•"/>
              <a:tabLst>
                <a:tab pos="184150" algn="l"/>
              </a:tabLst>
            </a:pPr>
            <a:r>
              <a:rPr sz="1400" spc="30" dirty="0">
                <a:latin typeface="Tahoma"/>
                <a:cs typeface="Tahoma"/>
              </a:rPr>
              <a:t>Konsep </a:t>
            </a:r>
            <a:r>
              <a:rPr sz="1400" dirty="0">
                <a:latin typeface="Tahoma"/>
                <a:cs typeface="Tahoma"/>
              </a:rPr>
              <a:t>layanan </a:t>
            </a:r>
            <a:r>
              <a:rPr sz="1400" spc="-5" dirty="0">
                <a:latin typeface="Tahoma"/>
                <a:cs typeface="Tahoma"/>
              </a:rPr>
              <a:t>elektronis diawali </a:t>
            </a:r>
            <a:r>
              <a:rPr sz="1400" spc="-15" dirty="0">
                <a:latin typeface="Tahoma"/>
                <a:cs typeface="Tahoma"/>
              </a:rPr>
              <a:t>dari 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pengembangan </a:t>
            </a:r>
            <a:r>
              <a:rPr sz="1400" spc="-15" dirty="0">
                <a:latin typeface="Tahoma"/>
                <a:cs typeface="Tahoma"/>
              </a:rPr>
              <a:t>program </a:t>
            </a:r>
            <a:r>
              <a:rPr sz="1400" spc="10" dirty="0">
                <a:latin typeface="Tahoma"/>
                <a:cs typeface="Tahoma"/>
              </a:rPr>
              <a:t>aplikasi </a:t>
            </a:r>
            <a:r>
              <a:rPr sz="1400" spc="-35" dirty="0">
                <a:latin typeface="Tahoma"/>
                <a:cs typeface="Tahoma"/>
              </a:rPr>
              <a:t>untuk 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berbagai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keperluan</a:t>
            </a:r>
            <a:endParaRPr sz="14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305"/>
              </a:spcBef>
              <a:buChar char="–"/>
              <a:tabLst>
                <a:tab pos="384810" algn="l"/>
              </a:tabLst>
            </a:pPr>
            <a:r>
              <a:rPr sz="1100" spc="125" dirty="0">
                <a:latin typeface="Tahoma"/>
                <a:cs typeface="Tahoma"/>
              </a:rPr>
              <a:t>S</a:t>
            </a:r>
            <a:r>
              <a:rPr sz="1100" spc="40" dirty="0">
                <a:latin typeface="Tahoma"/>
                <a:cs typeface="Tahoma"/>
              </a:rPr>
              <a:t>e</a:t>
            </a:r>
            <a:r>
              <a:rPr sz="1100" spc="10" dirty="0">
                <a:latin typeface="Tahoma"/>
                <a:cs typeface="Tahoma"/>
              </a:rPr>
              <a:t>b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h</a:t>
            </a:r>
            <a:r>
              <a:rPr sz="1100" spc="-170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-20" dirty="0">
                <a:latin typeface="Tahoma"/>
                <a:cs typeface="Tahoma"/>
              </a:rPr>
              <a:t>li</a:t>
            </a:r>
            <a:r>
              <a:rPr sz="1100" spc="20" dirty="0">
                <a:latin typeface="Tahoma"/>
                <a:cs typeface="Tahoma"/>
              </a:rPr>
              <a:t>k</a:t>
            </a:r>
            <a:r>
              <a:rPr sz="1100" spc="25" dirty="0">
                <a:latin typeface="Tahoma"/>
                <a:cs typeface="Tahoma"/>
              </a:rPr>
              <a:t>asi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35" dirty="0">
                <a:latin typeface="Tahoma"/>
                <a:cs typeface="Tahoma"/>
              </a:rPr>
              <a:t>c</a:t>
            </a:r>
            <a:r>
              <a:rPr sz="1100" spc="45" dirty="0">
                <a:latin typeface="Tahoma"/>
                <a:cs typeface="Tahoma"/>
              </a:rPr>
              <a:t>a</a:t>
            </a:r>
            <a:r>
              <a:rPr sz="1100" spc="5" dirty="0">
                <a:latin typeface="Tahoma"/>
                <a:cs typeface="Tahoma"/>
              </a:rPr>
              <a:t>ng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un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5" dirty="0">
                <a:latin typeface="Tahoma"/>
                <a:cs typeface="Tahoma"/>
              </a:rPr>
              <a:t>uk</a:t>
            </a:r>
            <a:r>
              <a:rPr sz="1100" spc="-130" dirty="0">
                <a:latin typeface="Tahoma"/>
                <a:cs typeface="Tahoma"/>
              </a:rPr>
              <a:t> </a:t>
            </a:r>
            <a:r>
              <a:rPr sz="1100" spc="25" dirty="0">
                <a:latin typeface="Tahoma"/>
                <a:cs typeface="Tahoma"/>
              </a:rPr>
              <a:t>s</a:t>
            </a:r>
            <a:r>
              <a:rPr sz="1100" spc="40" dirty="0">
                <a:latin typeface="Tahoma"/>
                <a:cs typeface="Tahoma"/>
              </a:rPr>
              <a:t>ua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dirty="0">
                <a:latin typeface="Tahoma"/>
                <a:cs typeface="Tahoma"/>
              </a:rPr>
              <a:t>u</a:t>
            </a:r>
            <a:r>
              <a:rPr sz="1100" spc="-12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k</a:t>
            </a:r>
            <a:r>
              <a:rPr sz="1100" spc="25" dirty="0">
                <a:latin typeface="Tahoma"/>
                <a:cs typeface="Tahoma"/>
              </a:rPr>
              <a:t>e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40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-20" dirty="0">
                <a:latin typeface="Tahoma"/>
                <a:cs typeface="Tahoma"/>
              </a:rPr>
              <a:t>l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endParaRPr sz="1100">
              <a:latin typeface="Tahoma"/>
              <a:cs typeface="Tahoma"/>
            </a:endParaRPr>
          </a:p>
          <a:p>
            <a:pPr marL="384810">
              <a:lnSpc>
                <a:spcPct val="100000"/>
              </a:lnSpc>
            </a:pP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15" dirty="0">
                <a:latin typeface="Tahoma"/>
                <a:cs typeface="Tahoma"/>
              </a:rPr>
              <a:t>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dirty="0">
                <a:latin typeface="Tahoma"/>
                <a:cs typeface="Tahoma"/>
              </a:rPr>
              <a:t>u</a:t>
            </a:r>
            <a:r>
              <a:rPr sz="1100" spc="-17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m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20" dirty="0">
                <a:latin typeface="Tahoma"/>
                <a:cs typeface="Tahoma"/>
              </a:rPr>
              <a:t>l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k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15" dirty="0">
                <a:latin typeface="Tahoma"/>
                <a:cs typeface="Tahoma"/>
              </a:rPr>
              <a:t>k</a:t>
            </a:r>
            <a:r>
              <a:rPr sz="1100" spc="25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</a:t>
            </a:r>
            <a:r>
              <a:rPr sz="1100" spc="5" dirty="0">
                <a:latin typeface="Tahoma"/>
                <a:cs typeface="Tahoma"/>
              </a:rPr>
              <a:t>un</a:t>
            </a:r>
            <a:r>
              <a:rPr sz="1100" spc="10" dirty="0">
                <a:latin typeface="Tahoma"/>
                <a:cs typeface="Tahoma"/>
              </a:rPr>
              <a:t>g</a:t>
            </a:r>
            <a:r>
              <a:rPr sz="1100" spc="35" dirty="0">
                <a:latin typeface="Tahoma"/>
                <a:cs typeface="Tahoma"/>
              </a:rPr>
              <a:t>si</a:t>
            </a:r>
            <a:r>
              <a:rPr sz="1100" spc="-70" dirty="0">
                <a:latin typeface="Tahoma"/>
                <a:cs typeface="Tahoma"/>
              </a:rPr>
              <a:t>-</a:t>
            </a:r>
            <a:r>
              <a:rPr sz="1100" spc="-45" dirty="0">
                <a:latin typeface="Tahoma"/>
                <a:cs typeface="Tahoma"/>
              </a:rPr>
              <a:t>f</a:t>
            </a:r>
            <a:r>
              <a:rPr sz="1100" spc="-15" dirty="0">
                <a:latin typeface="Tahoma"/>
                <a:cs typeface="Tahoma"/>
              </a:rPr>
              <a:t>u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-10" dirty="0">
                <a:latin typeface="Tahoma"/>
                <a:cs typeface="Tahoma"/>
              </a:rPr>
              <a:t>g</a:t>
            </a:r>
            <a:r>
              <a:rPr sz="1100" spc="25" dirty="0">
                <a:latin typeface="Tahoma"/>
                <a:cs typeface="Tahoma"/>
              </a:rPr>
              <a:t>si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dirty="0">
                <a:latin typeface="Tahoma"/>
                <a:cs typeface="Tahoma"/>
              </a:rPr>
              <a:t>u</a:t>
            </a:r>
            <a:endParaRPr sz="1100">
              <a:latin typeface="Tahoma"/>
              <a:cs typeface="Tahoma"/>
            </a:endParaRPr>
          </a:p>
          <a:p>
            <a:pPr marL="582930" marR="5080" lvl="2" indent="-113030">
              <a:lnSpc>
                <a:spcPct val="100000"/>
              </a:lnSpc>
              <a:spcBef>
                <a:spcPts val="285"/>
              </a:spcBef>
              <a:buChar char="•"/>
              <a:tabLst>
                <a:tab pos="582930" algn="l"/>
              </a:tabLst>
            </a:pPr>
            <a:r>
              <a:rPr sz="1100" spc="125" dirty="0">
                <a:latin typeface="Tahoma"/>
                <a:cs typeface="Tahoma"/>
              </a:rPr>
              <a:t>C</a:t>
            </a:r>
            <a:r>
              <a:rPr sz="1100" spc="20" dirty="0">
                <a:latin typeface="Tahoma"/>
                <a:cs typeface="Tahoma"/>
              </a:rPr>
              <a:t>o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20" dirty="0">
                <a:latin typeface="Tahoma"/>
                <a:cs typeface="Tahoma"/>
              </a:rPr>
              <a:t>o</a:t>
            </a:r>
            <a:r>
              <a:rPr sz="1100" spc="5" dirty="0">
                <a:latin typeface="Tahoma"/>
                <a:cs typeface="Tahoma"/>
              </a:rPr>
              <a:t>h</a:t>
            </a:r>
            <a:r>
              <a:rPr sz="1100" spc="-85" dirty="0">
                <a:latin typeface="Tahoma"/>
                <a:cs typeface="Tahoma"/>
              </a:rPr>
              <a:t>:</a:t>
            </a:r>
            <a:r>
              <a:rPr sz="1100" spc="-175" dirty="0">
                <a:latin typeface="Tahoma"/>
                <a:cs typeface="Tahoma"/>
              </a:rPr>
              <a:t> </a:t>
            </a:r>
            <a:r>
              <a:rPr sz="1100" spc="8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-20" dirty="0">
                <a:latin typeface="Tahoma"/>
                <a:cs typeface="Tahoma"/>
              </a:rPr>
              <a:t>li</a:t>
            </a:r>
            <a:r>
              <a:rPr sz="1100" spc="15" dirty="0">
                <a:latin typeface="Tahoma"/>
                <a:cs typeface="Tahoma"/>
              </a:rPr>
              <a:t>k</a:t>
            </a:r>
            <a:r>
              <a:rPr sz="1100" spc="25" dirty="0">
                <a:latin typeface="Tahoma"/>
                <a:cs typeface="Tahoma"/>
              </a:rPr>
              <a:t>asi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k</a:t>
            </a:r>
            <a:r>
              <a:rPr sz="1100" spc="5" dirty="0">
                <a:latin typeface="Tahoma"/>
                <a:cs typeface="Tahoma"/>
              </a:rPr>
              <a:t>un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n</a:t>
            </a:r>
            <a:r>
              <a:rPr sz="1100" spc="25" dirty="0">
                <a:latin typeface="Tahoma"/>
                <a:cs typeface="Tahoma"/>
              </a:rPr>
              <a:t>si</a:t>
            </a:r>
            <a:r>
              <a:rPr sz="1100" spc="-13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10" dirty="0">
                <a:latin typeface="Tahoma"/>
                <a:cs typeface="Tahoma"/>
              </a:rPr>
              <a:t>g</a:t>
            </a:r>
            <a:r>
              <a:rPr sz="1100" spc="5" dirty="0">
                <a:latin typeface="Tahoma"/>
                <a:cs typeface="Tahoma"/>
              </a:rPr>
              <a:t>un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k</a:t>
            </a:r>
            <a:r>
              <a:rPr sz="1100" spc="5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un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dirty="0">
                <a:latin typeface="Tahoma"/>
                <a:cs typeface="Tahoma"/>
              </a:rPr>
              <a:t>k  </a:t>
            </a:r>
            <a:r>
              <a:rPr sz="1100" spc="10" dirty="0">
                <a:latin typeface="Tahoma"/>
                <a:cs typeface="Tahoma"/>
              </a:rPr>
              <a:t>mengelola</a:t>
            </a:r>
            <a:r>
              <a:rPr sz="1100" spc="-15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data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keuangan</a:t>
            </a:r>
            <a:r>
              <a:rPr sz="1100" spc="-17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perusahaan,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dan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dapat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memroses neraca, </a:t>
            </a:r>
            <a:r>
              <a:rPr sz="1100" spc="5" dirty="0">
                <a:latin typeface="Tahoma"/>
                <a:cs typeface="Tahoma"/>
              </a:rPr>
              <a:t>cashflow, serta </a:t>
            </a:r>
            <a:r>
              <a:rPr sz="1100" spc="10" dirty="0">
                <a:latin typeface="Tahoma"/>
                <a:cs typeface="Tahoma"/>
              </a:rPr>
              <a:t>menghasilkan </a:t>
            </a:r>
            <a:r>
              <a:rPr sz="1100" spc="-3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laporan-laporan</a:t>
            </a:r>
            <a:endParaRPr sz="1100">
              <a:latin typeface="Tahoma"/>
              <a:cs typeface="Tahoma"/>
            </a:endParaRPr>
          </a:p>
          <a:p>
            <a:pPr marL="384810" lvl="1" indent="-143510">
              <a:lnSpc>
                <a:spcPts val="1310"/>
              </a:lnSpc>
              <a:spcBef>
                <a:spcPts val="290"/>
              </a:spcBef>
              <a:buChar char="–"/>
              <a:tabLst>
                <a:tab pos="384810" algn="l"/>
              </a:tabLst>
            </a:pPr>
            <a:r>
              <a:rPr sz="1100" spc="15" dirty="0">
                <a:latin typeface="Tahoma"/>
                <a:cs typeface="Tahoma"/>
              </a:rPr>
              <a:t>T</a:t>
            </a:r>
            <a:r>
              <a:rPr sz="1100" spc="20" dirty="0">
                <a:latin typeface="Tahoma"/>
                <a:cs typeface="Tahoma"/>
              </a:rPr>
              <a:t>u</a:t>
            </a:r>
            <a:r>
              <a:rPr sz="1100" spc="-75" dirty="0">
                <a:latin typeface="Tahoma"/>
                <a:cs typeface="Tahoma"/>
              </a:rPr>
              <a:t>j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-20" dirty="0">
                <a:latin typeface="Tahoma"/>
                <a:cs typeface="Tahoma"/>
              </a:rPr>
              <a:t>li</a:t>
            </a:r>
            <a:r>
              <a:rPr sz="1100" spc="15" dirty="0">
                <a:latin typeface="Tahoma"/>
                <a:cs typeface="Tahoma"/>
              </a:rPr>
              <a:t>k</a:t>
            </a:r>
            <a:r>
              <a:rPr sz="1100" spc="25" dirty="0">
                <a:latin typeface="Tahoma"/>
                <a:cs typeface="Tahoma"/>
              </a:rPr>
              <a:t>asi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l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h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un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dirty="0">
                <a:latin typeface="Tahoma"/>
                <a:cs typeface="Tahoma"/>
              </a:rPr>
              <a:t>k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Arial"/>
                <a:cs typeface="Arial"/>
              </a:rPr>
              <a:t>m</a:t>
            </a:r>
            <a:r>
              <a:rPr sz="1100" b="1" spc="5" dirty="0">
                <a:latin typeface="Arial"/>
                <a:cs typeface="Arial"/>
              </a:rPr>
              <a:t>e</a:t>
            </a:r>
            <a:r>
              <a:rPr sz="1100" b="1" dirty="0">
                <a:latin typeface="Arial"/>
                <a:cs typeface="Arial"/>
              </a:rPr>
              <a:t>n</a:t>
            </a:r>
            <a:r>
              <a:rPr sz="1100" b="1" spc="-10" dirty="0">
                <a:latin typeface="Arial"/>
                <a:cs typeface="Arial"/>
              </a:rPr>
              <a:t>g</a:t>
            </a:r>
            <a:r>
              <a:rPr sz="1100" b="1" dirty="0">
                <a:latin typeface="Arial"/>
                <a:cs typeface="Arial"/>
              </a:rPr>
              <a:t>o</a:t>
            </a:r>
            <a:r>
              <a:rPr sz="1100" b="1" spc="-10" dirty="0">
                <a:latin typeface="Arial"/>
                <a:cs typeface="Arial"/>
              </a:rPr>
              <a:t>t</a:t>
            </a:r>
            <a:r>
              <a:rPr sz="1100" b="1" dirty="0">
                <a:latin typeface="Arial"/>
                <a:cs typeface="Arial"/>
              </a:rPr>
              <a:t>o</a:t>
            </a:r>
            <a:r>
              <a:rPr sz="1100" b="1" spc="-25" dirty="0">
                <a:latin typeface="Arial"/>
                <a:cs typeface="Arial"/>
              </a:rPr>
              <a:t>m</a:t>
            </a:r>
            <a:r>
              <a:rPr sz="1100" b="1" spc="5" dirty="0">
                <a:latin typeface="Arial"/>
                <a:cs typeface="Arial"/>
              </a:rPr>
              <a:t>a</a:t>
            </a:r>
            <a:r>
              <a:rPr sz="1100" b="1" spc="-15" dirty="0">
                <a:latin typeface="Arial"/>
                <a:cs typeface="Arial"/>
              </a:rPr>
              <a:t>s</a:t>
            </a:r>
            <a:r>
              <a:rPr sz="1100" b="1" spc="-20" dirty="0">
                <a:latin typeface="Arial"/>
                <a:cs typeface="Arial"/>
              </a:rPr>
              <a:t>i</a:t>
            </a:r>
            <a:r>
              <a:rPr sz="1100" b="1" spc="5" dirty="0">
                <a:latin typeface="Arial"/>
                <a:cs typeface="Arial"/>
              </a:rPr>
              <a:t>ka</a:t>
            </a:r>
            <a:r>
              <a:rPr sz="1100" b="1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384810">
              <a:lnSpc>
                <a:spcPts val="1310"/>
              </a:lnSpc>
            </a:pPr>
            <a:r>
              <a:rPr sz="1100" spc="10" dirty="0">
                <a:latin typeface="Tahoma"/>
                <a:cs typeface="Tahoma"/>
              </a:rPr>
              <a:t>b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10" dirty="0">
                <a:latin typeface="Tahoma"/>
                <a:cs typeface="Tahoma"/>
              </a:rPr>
              <a:t>b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g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i</a:t>
            </a:r>
            <a:r>
              <a:rPr sz="1100" spc="-17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20" dirty="0">
                <a:latin typeface="Tahoma"/>
                <a:cs typeface="Tahoma"/>
              </a:rPr>
              <a:t>o</a:t>
            </a:r>
            <a:r>
              <a:rPr sz="1100" spc="40" dirty="0">
                <a:latin typeface="Tahoma"/>
                <a:cs typeface="Tahoma"/>
              </a:rPr>
              <a:t>s</a:t>
            </a:r>
            <a:r>
              <a:rPr sz="1100" spc="55" dirty="0">
                <a:latin typeface="Tahoma"/>
                <a:cs typeface="Tahoma"/>
              </a:rPr>
              <a:t>e</a:t>
            </a:r>
            <a:r>
              <a:rPr sz="1100" spc="60" dirty="0">
                <a:latin typeface="Tahoma"/>
                <a:cs typeface="Tahoma"/>
              </a:rPr>
              <a:t>s</a:t>
            </a:r>
            <a:endParaRPr sz="1100">
              <a:latin typeface="Tahoma"/>
              <a:cs typeface="Tahoma"/>
            </a:endParaRPr>
          </a:p>
          <a:p>
            <a:pPr marL="384810" marR="140335" lvl="1" indent="-143510">
              <a:lnSpc>
                <a:spcPct val="100000"/>
              </a:lnSpc>
              <a:spcBef>
                <a:spcPts val="315"/>
              </a:spcBef>
              <a:buChar char="–"/>
              <a:tabLst>
                <a:tab pos="384810" algn="l"/>
              </a:tabLst>
            </a:pPr>
            <a:r>
              <a:rPr sz="1100" spc="40" dirty="0">
                <a:latin typeface="Tahoma"/>
                <a:cs typeface="Tahoma"/>
              </a:rPr>
              <a:t>Ha</a:t>
            </a:r>
            <a:r>
              <a:rPr sz="1100" spc="-15" dirty="0">
                <a:latin typeface="Tahoma"/>
                <a:cs typeface="Tahoma"/>
              </a:rPr>
              <a:t>m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-30" dirty="0">
                <a:latin typeface="Tahoma"/>
                <a:cs typeface="Tahoma"/>
              </a:rPr>
              <a:t>r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s</a:t>
            </a:r>
            <a:r>
              <a:rPr sz="1100" spc="55" dirty="0">
                <a:latin typeface="Tahoma"/>
                <a:cs typeface="Tahoma"/>
              </a:rPr>
              <a:t>e</a:t>
            </a:r>
            <a:r>
              <a:rPr sz="1100" spc="-15" dirty="0">
                <a:latin typeface="Tahoma"/>
                <a:cs typeface="Tahoma"/>
              </a:rPr>
              <a:t>m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35" dirty="0">
                <a:latin typeface="Tahoma"/>
                <a:cs typeface="Tahoma"/>
              </a:rPr>
              <a:t>a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-20" dirty="0">
                <a:latin typeface="Tahoma"/>
                <a:cs typeface="Tahoma"/>
              </a:rPr>
              <a:t>li</a:t>
            </a:r>
            <a:r>
              <a:rPr sz="1100" spc="15" dirty="0">
                <a:latin typeface="Tahoma"/>
                <a:cs typeface="Tahoma"/>
              </a:rPr>
              <a:t>k</a:t>
            </a:r>
            <a:r>
              <a:rPr sz="1100" spc="25" dirty="0">
                <a:latin typeface="Tahoma"/>
                <a:cs typeface="Tahoma"/>
              </a:rPr>
              <a:t>asi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b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35" dirty="0">
                <a:latin typeface="Tahoma"/>
                <a:cs typeface="Tahoma"/>
              </a:rPr>
              <a:t>s</a:t>
            </a:r>
            <a:r>
              <a:rPr sz="1100" spc="5" dirty="0">
                <a:latin typeface="Tahoma"/>
                <a:cs typeface="Tahoma"/>
              </a:rPr>
              <a:t>i</a:t>
            </a:r>
            <a:r>
              <a:rPr sz="1100" spc="-20" dirty="0">
                <a:latin typeface="Tahoma"/>
                <a:cs typeface="Tahoma"/>
              </a:rPr>
              <a:t>f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st</a:t>
            </a:r>
            <a:r>
              <a:rPr sz="1100" i="1" spc="5" dirty="0">
                <a:latin typeface="Arial"/>
                <a:cs typeface="Arial"/>
              </a:rPr>
              <a:t>an</a:t>
            </a:r>
            <a:r>
              <a:rPr sz="1100" i="1" spc="15" dirty="0">
                <a:latin typeface="Arial"/>
                <a:cs typeface="Arial"/>
              </a:rPr>
              <a:t>d</a:t>
            </a:r>
            <a:r>
              <a:rPr sz="1100" i="1" spc="-10" dirty="0">
                <a:latin typeface="Arial"/>
                <a:cs typeface="Arial"/>
              </a:rPr>
              <a:t>-</a:t>
            </a:r>
            <a:r>
              <a:rPr sz="1100" i="1" spc="5" dirty="0">
                <a:latin typeface="Arial"/>
                <a:cs typeface="Arial"/>
              </a:rPr>
              <a:t>a</a:t>
            </a:r>
            <a:r>
              <a:rPr sz="1100" i="1" spc="-10" dirty="0">
                <a:latin typeface="Arial"/>
                <a:cs typeface="Arial"/>
              </a:rPr>
              <a:t>l</a:t>
            </a:r>
            <a:r>
              <a:rPr sz="1100" i="1" spc="-15" dirty="0">
                <a:latin typeface="Arial"/>
                <a:cs typeface="Arial"/>
              </a:rPr>
              <a:t>o</a:t>
            </a:r>
            <a:r>
              <a:rPr sz="1100" i="1" spc="5" dirty="0">
                <a:latin typeface="Arial"/>
                <a:cs typeface="Arial"/>
              </a:rPr>
              <a:t>n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(</a:t>
            </a:r>
            <a:r>
              <a:rPr sz="1100" spc="10" dirty="0">
                <a:latin typeface="Tahoma"/>
                <a:cs typeface="Tahoma"/>
              </a:rPr>
              <a:t>b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-10" dirty="0">
                <a:latin typeface="Tahoma"/>
                <a:cs typeface="Tahoma"/>
              </a:rPr>
              <a:t>i  </a:t>
            </a:r>
            <a:r>
              <a:rPr sz="1100" spc="40" dirty="0">
                <a:latin typeface="Tahoma"/>
                <a:cs typeface="Tahoma"/>
              </a:rPr>
              <a:t>s</a:t>
            </a:r>
            <a:r>
              <a:rPr sz="1100" spc="55" dirty="0">
                <a:latin typeface="Tahoma"/>
                <a:cs typeface="Tahoma"/>
              </a:rPr>
              <a:t>e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-65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,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10" dirty="0">
                <a:latin typeface="Tahoma"/>
                <a:cs typeface="Tahoma"/>
              </a:rPr>
              <a:t>d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k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5" dirty="0">
                <a:latin typeface="Tahoma"/>
                <a:cs typeface="Tahoma"/>
              </a:rPr>
              <a:t>hu</a:t>
            </a:r>
            <a:r>
              <a:rPr sz="1100" spc="10" dirty="0">
                <a:latin typeface="Tahoma"/>
                <a:cs typeface="Tahoma"/>
              </a:rPr>
              <a:t>b</a:t>
            </a:r>
            <a:r>
              <a:rPr sz="1100" spc="-15" dirty="0">
                <a:latin typeface="Tahoma"/>
                <a:cs typeface="Tahoma"/>
              </a:rPr>
              <a:t>u</a:t>
            </a:r>
            <a:r>
              <a:rPr sz="1100" spc="5" dirty="0">
                <a:latin typeface="Tahoma"/>
                <a:cs typeface="Tahoma"/>
              </a:rPr>
              <a:t>ng</a:t>
            </a:r>
            <a:r>
              <a:rPr sz="1100" spc="-170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ke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j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-20" dirty="0">
                <a:latin typeface="Tahoma"/>
                <a:cs typeface="Tahoma"/>
              </a:rPr>
              <a:t>i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10" dirty="0">
                <a:latin typeface="Tahoma"/>
                <a:cs typeface="Tahoma"/>
              </a:rPr>
              <a:t>g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49808"/>
            <a:ext cx="32524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25" dirty="0">
                <a:solidFill>
                  <a:schemeClr val="tx1"/>
                </a:solidFill>
              </a:rPr>
              <a:t>Sejarah</a:t>
            </a:r>
            <a:r>
              <a:rPr sz="2000" spc="-110" dirty="0">
                <a:solidFill>
                  <a:schemeClr val="tx1"/>
                </a:solidFill>
              </a:rPr>
              <a:t> </a:t>
            </a:r>
            <a:r>
              <a:rPr sz="2000" spc="-60" dirty="0">
                <a:solidFill>
                  <a:schemeClr val="tx1"/>
                </a:solidFill>
              </a:rPr>
              <a:t>(~1990</a:t>
            </a:r>
            <a:r>
              <a:rPr sz="2000" spc="-90" dirty="0">
                <a:solidFill>
                  <a:schemeClr val="tx1"/>
                </a:solidFill>
              </a:rPr>
              <a:t> </a:t>
            </a:r>
            <a:r>
              <a:rPr sz="2000" spc="55" dirty="0">
                <a:solidFill>
                  <a:schemeClr val="tx1"/>
                </a:solidFill>
              </a:rPr>
              <a:t>sd</a:t>
            </a:r>
            <a:r>
              <a:rPr sz="2000" spc="-114" dirty="0">
                <a:solidFill>
                  <a:schemeClr val="tx1"/>
                </a:solidFill>
              </a:rPr>
              <a:t> </a:t>
            </a:r>
            <a:r>
              <a:rPr sz="2000" spc="-65" dirty="0">
                <a:solidFill>
                  <a:schemeClr val="tx1"/>
                </a:solidFill>
              </a:rPr>
              <a:t>~2000)</a:t>
            </a:r>
            <a:r>
              <a:rPr sz="2000" spc="-55" dirty="0">
                <a:solidFill>
                  <a:schemeClr val="tx1"/>
                </a:solidFill>
              </a:rPr>
              <a:t> </a:t>
            </a:r>
            <a:r>
              <a:rPr sz="2000" spc="-25" dirty="0">
                <a:solidFill>
                  <a:schemeClr val="tx1"/>
                </a:solidFill>
              </a:rPr>
              <a:t>-2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6539" y="816736"/>
            <a:ext cx="4015740" cy="2059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2880" marR="392430" indent="-170815">
              <a:lnSpc>
                <a:spcPct val="100000"/>
              </a:lnSpc>
              <a:spcBef>
                <a:spcPts val="90"/>
              </a:spcBef>
              <a:buChar char="•"/>
              <a:tabLst>
                <a:tab pos="183515" algn="l"/>
              </a:tabLst>
            </a:pPr>
            <a:r>
              <a:rPr sz="1400" spc="15" dirty="0">
                <a:latin typeface="Tahoma"/>
                <a:cs typeface="Tahoma"/>
              </a:rPr>
              <a:t>Seiring </a:t>
            </a:r>
            <a:r>
              <a:rPr sz="1400" dirty="0">
                <a:latin typeface="Tahoma"/>
                <a:cs typeface="Tahoma"/>
              </a:rPr>
              <a:t>dengan perkembangan </a:t>
            </a:r>
            <a:r>
              <a:rPr sz="1400" spc="-10" dirty="0">
                <a:latin typeface="Tahoma"/>
                <a:cs typeface="Tahoma"/>
              </a:rPr>
              <a:t>teknologi 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jaringan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komputer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dan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Internet,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karakteristik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program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aplikasipun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berubah</a:t>
            </a:r>
            <a:endParaRPr sz="1400">
              <a:latin typeface="Tahoma"/>
              <a:cs typeface="Tahoma"/>
            </a:endParaRPr>
          </a:p>
          <a:p>
            <a:pPr marL="384175" marR="123189" lvl="1" indent="-143510">
              <a:lnSpc>
                <a:spcPct val="100000"/>
              </a:lnSpc>
              <a:spcBef>
                <a:spcPts val="300"/>
              </a:spcBef>
              <a:buChar char="–"/>
              <a:tabLst>
                <a:tab pos="384810" algn="l"/>
              </a:tabLst>
            </a:pPr>
            <a:r>
              <a:rPr sz="1200" spc="20" dirty="0">
                <a:latin typeface="Tahoma"/>
                <a:cs typeface="Tahoma"/>
              </a:rPr>
              <a:t>Aplikasi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berjalan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di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atas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jaringan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dan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memanfaatkan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potensi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jaringan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untuk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memperluas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kemampuannya</a:t>
            </a:r>
            <a:endParaRPr sz="1200">
              <a:latin typeface="Tahoma"/>
              <a:cs typeface="Tahoma"/>
            </a:endParaRPr>
          </a:p>
          <a:p>
            <a:pPr marL="384175" marR="155575" lvl="1" indent="-143510">
              <a:lnSpc>
                <a:spcPct val="100000"/>
              </a:lnSpc>
              <a:spcBef>
                <a:spcPts val="315"/>
              </a:spcBef>
              <a:buChar char="–"/>
              <a:tabLst>
                <a:tab pos="384810" algn="l"/>
              </a:tabLst>
            </a:pPr>
            <a:r>
              <a:rPr sz="1200" spc="55" dirty="0">
                <a:latin typeface="Tahoma"/>
                <a:cs typeface="Tahoma"/>
              </a:rPr>
              <a:t>M</a:t>
            </a:r>
            <a:r>
              <a:rPr sz="1200" spc="-5" dirty="0">
                <a:latin typeface="Tahoma"/>
                <a:cs typeface="Tahoma"/>
              </a:rPr>
              <a:t>u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i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-5" dirty="0">
                <a:latin typeface="Tahoma"/>
                <a:cs typeface="Tahoma"/>
              </a:rPr>
              <a:t>un</a:t>
            </a:r>
            <a:r>
              <a:rPr sz="1200" spc="20" dirty="0">
                <a:latin typeface="Tahoma"/>
                <a:cs typeface="Tahoma"/>
              </a:rPr>
              <a:t>cu</a:t>
            </a:r>
            <a:r>
              <a:rPr sz="1200" spc="-10" dirty="0">
                <a:latin typeface="Tahoma"/>
                <a:cs typeface="Tahoma"/>
              </a:rPr>
              <a:t>l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ko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50" dirty="0">
                <a:latin typeface="Tahoma"/>
                <a:cs typeface="Tahoma"/>
              </a:rPr>
              <a:t>se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te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ta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5" dirty="0">
                <a:latin typeface="Tahoma"/>
                <a:cs typeface="Tahoma"/>
              </a:rPr>
              <a:t>ya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25" dirty="0">
                <a:latin typeface="Tahoma"/>
                <a:cs typeface="Tahoma"/>
              </a:rPr>
              <a:t>n</a:t>
            </a:r>
            <a:r>
              <a:rPr sz="1200" spc="-95" dirty="0">
                <a:latin typeface="Tahoma"/>
                <a:cs typeface="Tahoma"/>
              </a:rPr>
              <a:t>: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h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k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yg  </a:t>
            </a:r>
            <a:r>
              <a:rPr sz="1200" spc="-5" dirty="0">
                <a:latin typeface="Tahoma"/>
                <a:cs typeface="Tahoma"/>
              </a:rPr>
              <a:t>memerlukan </a:t>
            </a:r>
            <a:r>
              <a:rPr sz="1200" spc="10" dirty="0">
                <a:latin typeface="Tahoma"/>
                <a:cs typeface="Tahoma"/>
              </a:rPr>
              <a:t>sesuatu, dan </a:t>
            </a:r>
            <a:r>
              <a:rPr sz="1200" spc="25" dirty="0">
                <a:latin typeface="Tahoma"/>
                <a:cs typeface="Tahoma"/>
              </a:rPr>
              <a:t>ada </a:t>
            </a:r>
            <a:r>
              <a:rPr sz="1200" spc="10" dirty="0">
                <a:latin typeface="Tahoma"/>
                <a:cs typeface="Tahoma"/>
              </a:rPr>
              <a:t>pihak lain yang 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menyediakannya</a:t>
            </a:r>
            <a:endParaRPr sz="1200">
              <a:latin typeface="Tahoma"/>
              <a:cs typeface="Tahoma"/>
            </a:endParaRPr>
          </a:p>
          <a:p>
            <a:pPr marL="384175" marR="5080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384810" algn="l"/>
              </a:tabLst>
            </a:pPr>
            <a:r>
              <a:rPr sz="1200" spc="5" dirty="0">
                <a:latin typeface="Tahoma"/>
                <a:cs typeface="Tahoma"/>
              </a:rPr>
              <a:t>Antara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penyedia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dan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pemakai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layanan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tidak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perlu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25" dirty="0">
                <a:latin typeface="Tahoma"/>
                <a:cs typeface="Tahoma"/>
              </a:rPr>
              <a:t>ada </a:t>
            </a:r>
            <a:r>
              <a:rPr sz="1200" spc="-36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ke</a:t>
            </a:r>
            <a:r>
              <a:rPr sz="1200" spc="-15" dirty="0">
                <a:latin typeface="Tahoma"/>
                <a:cs typeface="Tahoma"/>
              </a:rPr>
              <a:t>te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5" dirty="0">
                <a:latin typeface="Tahoma"/>
                <a:cs typeface="Tahoma"/>
              </a:rPr>
              <a:t>ka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15" dirty="0">
                <a:latin typeface="Tahoma"/>
                <a:cs typeface="Tahoma"/>
              </a:rPr>
              <a:t>ta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se</a:t>
            </a:r>
            <a:r>
              <a:rPr sz="120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-5" dirty="0">
                <a:latin typeface="Tahoma"/>
                <a:cs typeface="Tahoma"/>
              </a:rPr>
              <a:t>u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15" dirty="0">
                <a:latin typeface="Tahoma"/>
                <a:cs typeface="Tahoma"/>
              </a:rPr>
              <a:t>ya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i="1" spc="5" dirty="0">
                <a:latin typeface="Arial"/>
                <a:cs typeface="Arial"/>
              </a:rPr>
              <a:t>(</a:t>
            </a:r>
            <a:r>
              <a:rPr sz="1200" i="1" spc="-5" dirty="0">
                <a:latin typeface="Arial"/>
                <a:cs typeface="Arial"/>
              </a:rPr>
              <a:t>p</a:t>
            </a:r>
            <a:r>
              <a:rPr sz="1200" i="1" spc="5" dirty="0">
                <a:latin typeface="Arial"/>
                <a:cs typeface="Arial"/>
              </a:rPr>
              <a:t>r</a:t>
            </a:r>
            <a:r>
              <a:rPr sz="1200" i="1" spc="-35" dirty="0">
                <a:latin typeface="Arial"/>
                <a:cs typeface="Arial"/>
              </a:rPr>
              <a:t>i</a:t>
            </a:r>
            <a:r>
              <a:rPr sz="1200" i="1" spc="-5" dirty="0">
                <a:latin typeface="Arial"/>
                <a:cs typeface="Arial"/>
              </a:rPr>
              <a:t>o</a:t>
            </a:r>
            <a:r>
              <a:rPr sz="1200" i="1" dirty="0">
                <a:latin typeface="Arial"/>
                <a:cs typeface="Arial"/>
              </a:rPr>
              <a:t>r</a:t>
            </a:r>
            <a:r>
              <a:rPr sz="1200" i="1" spc="-105" dirty="0">
                <a:latin typeface="Arial"/>
                <a:cs typeface="Arial"/>
              </a:rPr>
              <a:t> </a:t>
            </a:r>
            <a:r>
              <a:rPr sz="1200" i="1" spc="-5" dirty="0">
                <a:latin typeface="Arial"/>
                <a:cs typeface="Arial"/>
              </a:rPr>
              <a:t>assoc</a:t>
            </a:r>
            <a:r>
              <a:rPr sz="1200" i="1" spc="-35" dirty="0">
                <a:latin typeface="Arial"/>
                <a:cs typeface="Arial"/>
              </a:rPr>
              <a:t>i</a:t>
            </a:r>
            <a:r>
              <a:rPr sz="1200" i="1" spc="-5" dirty="0">
                <a:latin typeface="Arial"/>
                <a:cs typeface="Arial"/>
              </a:rPr>
              <a:t>at</a:t>
            </a:r>
            <a:r>
              <a:rPr sz="1200" i="1" spc="-30" dirty="0">
                <a:latin typeface="Arial"/>
                <a:cs typeface="Arial"/>
              </a:rPr>
              <a:t>i</a:t>
            </a:r>
            <a:r>
              <a:rPr sz="1200" i="1" spc="-5" dirty="0">
                <a:latin typeface="Arial"/>
                <a:cs typeface="Arial"/>
              </a:rPr>
              <a:t>on</a:t>
            </a:r>
            <a:r>
              <a:rPr sz="1200" i="1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335" y="283425"/>
            <a:ext cx="3227070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2000" spc="25" dirty="0">
                <a:solidFill>
                  <a:schemeClr val="bg1"/>
                </a:solidFill>
                <a:latin typeface="Tahoma"/>
                <a:cs typeface="Tahoma"/>
              </a:rPr>
              <a:t>Sejarah</a:t>
            </a:r>
            <a:r>
              <a:rPr sz="2000" spc="-10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chemeClr val="bg1"/>
                </a:solidFill>
                <a:latin typeface="Tahoma"/>
                <a:cs typeface="Tahoma"/>
              </a:rPr>
              <a:t>(~1990</a:t>
            </a:r>
            <a:r>
              <a:rPr sz="2000" spc="-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chemeClr val="bg1"/>
                </a:solidFill>
                <a:latin typeface="Tahoma"/>
                <a:cs typeface="Tahoma"/>
              </a:rPr>
              <a:t>sd</a:t>
            </a:r>
            <a:r>
              <a:rPr sz="2000" spc="-10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chemeClr val="bg1"/>
                </a:solidFill>
                <a:latin typeface="Tahoma"/>
                <a:cs typeface="Tahoma"/>
              </a:rPr>
              <a:t>~2000)</a:t>
            </a:r>
            <a:r>
              <a:rPr sz="2000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chemeClr val="bg1"/>
                </a:solidFill>
                <a:latin typeface="Tahoma"/>
                <a:cs typeface="Tahoma"/>
              </a:rPr>
              <a:t>-3</a:t>
            </a:r>
            <a:endParaRPr sz="200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0" y="381"/>
            <a:ext cx="4572000" cy="3429000"/>
            <a:chOff x="380" y="381"/>
            <a:chExt cx="4572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" y="381"/>
              <a:ext cx="4572000" cy="3429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5397" y="876681"/>
              <a:ext cx="280415" cy="26822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30655" y="1180719"/>
            <a:ext cx="706120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815" marR="5080" indent="-158750">
              <a:lnSpc>
                <a:spcPct val="100000"/>
              </a:lnSpc>
              <a:spcBef>
                <a:spcPts val="90"/>
              </a:spcBef>
            </a:pPr>
            <a:r>
              <a:rPr sz="800" spc="90" dirty="0">
                <a:solidFill>
                  <a:schemeClr val="bg1"/>
                </a:solidFill>
                <a:latin typeface="Tahoma"/>
                <a:cs typeface="Tahoma"/>
              </a:rPr>
              <a:t>C</a:t>
            </a:r>
            <a:r>
              <a:rPr sz="800" spc="-20" dirty="0">
                <a:solidFill>
                  <a:schemeClr val="bg1"/>
                </a:solidFill>
                <a:latin typeface="Tahoma"/>
                <a:cs typeface="Tahoma"/>
              </a:rPr>
              <a:t>lien</a:t>
            </a:r>
            <a:r>
              <a:rPr sz="800" spc="-50" dirty="0">
                <a:solidFill>
                  <a:schemeClr val="bg1"/>
                </a:solidFill>
                <a:latin typeface="Tahoma"/>
                <a:cs typeface="Tahoma"/>
              </a:rPr>
              <a:t>t</a:t>
            </a:r>
            <a:r>
              <a:rPr sz="800" spc="-4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chemeClr val="bg1"/>
                </a:solidFill>
                <a:latin typeface="Tahoma"/>
                <a:cs typeface="Tahoma"/>
              </a:rPr>
              <a:t>(</a:t>
            </a:r>
            <a:r>
              <a:rPr sz="800" spc="-40" dirty="0">
                <a:solidFill>
                  <a:schemeClr val="bg1"/>
                </a:solidFill>
                <a:latin typeface="Tahoma"/>
                <a:cs typeface="Tahoma"/>
              </a:rPr>
              <a:t>p</a:t>
            </a:r>
            <a:r>
              <a:rPr sz="800" spc="-20" dirty="0">
                <a:solidFill>
                  <a:schemeClr val="bg1"/>
                </a:solidFill>
                <a:latin typeface="Tahoma"/>
                <a:cs typeface="Tahoma"/>
              </a:rPr>
              <a:t>e</a:t>
            </a:r>
            <a:r>
              <a:rPr sz="800" spc="-30" dirty="0">
                <a:solidFill>
                  <a:schemeClr val="bg1"/>
                </a:solidFill>
                <a:latin typeface="Tahoma"/>
                <a:cs typeface="Tahoma"/>
              </a:rPr>
              <a:t>m</a:t>
            </a:r>
            <a:r>
              <a:rPr sz="800" spc="-15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800" spc="5" dirty="0">
                <a:solidFill>
                  <a:schemeClr val="bg1"/>
                </a:solidFill>
                <a:latin typeface="Tahoma"/>
                <a:cs typeface="Tahoma"/>
              </a:rPr>
              <a:t>k</a:t>
            </a:r>
            <a:r>
              <a:rPr sz="800" spc="10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800" spc="-10" dirty="0">
                <a:solidFill>
                  <a:schemeClr val="bg1"/>
                </a:solidFill>
                <a:latin typeface="Tahoma"/>
                <a:cs typeface="Tahoma"/>
              </a:rPr>
              <a:t>i  </a:t>
            </a:r>
            <a:r>
              <a:rPr sz="800" spc="-20" dirty="0">
                <a:solidFill>
                  <a:schemeClr val="bg1"/>
                </a:solidFill>
                <a:latin typeface="Tahoma"/>
                <a:cs typeface="Tahoma"/>
              </a:rPr>
              <a:t>layanan)</a:t>
            </a:r>
            <a:endParaRPr sz="800">
              <a:solidFill>
                <a:schemeClr val="bg1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6347" y="1177671"/>
            <a:ext cx="349885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solidFill>
                  <a:schemeClr val="bg1"/>
                </a:solidFill>
                <a:latin typeface="Tahoma"/>
                <a:cs typeface="Tahoma"/>
              </a:rPr>
              <a:t>Server </a:t>
            </a:r>
            <a:r>
              <a:rPr sz="800" spc="-2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800" spc="-15" dirty="0">
                <a:solidFill>
                  <a:schemeClr val="bg1"/>
                </a:solidFill>
                <a:latin typeface="Tahoma"/>
                <a:cs typeface="Tahoma"/>
              </a:rPr>
              <a:t>ap</a:t>
            </a:r>
            <a:r>
              <a:rPr sz="800" spc="-20" dirty="0">
                <a:solidFill>
                  <a:schemeClr val="bg1"/>
                </a:solidFill>
                <a:latin typeface="Tahoma"/>
                <a:cs typeface="Tahoma"/>
              </a:rPr>
              <a:t>lik</a:t>
            </a:r>
            <a:r>
              <a:rPr sz="800" spc="-15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800" spc="45" dirty="0">
                <a:solidFill>
                  <a:schemeClr val="bg1"/>
                </a:solidFill>
                <a:latin typeface="Tahoma"/>
                <a:cs typeface="Tahoma"/>
              </a:rPr>
              <a:t>s</a:t>
            </a:r>
            <a:r>
              <a:rPr sz="800" spc="-10" dirty="0">
                <a:solidFill>
                  <a:schemeClr val="bg1"/>
                </a:solidFill>
                <a:latin typeface="Tahoma"/>
                <a:cs typeface="Tahoma"/>
              </a:rPr>
              <a:t>i</a:t>
            </a:r>
            <a:endParaRPr sz="80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4572000" cy="3429000"/>
            <a:chOff x="0" y="0"/>
            <a:chExt cx="4572000" cy="34290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41601" y="914781"/>
              <a:ext cx="495300" cy="1905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76" y="6477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046"/>
                  </a:moveTo>
                  <a:lnTo>
                    <a:pt x="4559046" y="3416046"/>
                  </a:lnTo>
                  <a:lnTo>
                    <a:pt x="4559046" y="0"/>
                  </a:lnTo>
                  <a:lnTo>
                    <a:pt x="0" y="0"/>
                  </a:lnTo>
                  <a:lnTo>
                    <a:pt x="0" y="3416046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572635" cy="3429635"/>
            <a:chOff x="0" y="0"/>
            <a:chExt cx="4572635" cy="3429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" y="38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530" y="609980"/>
              <a:ext cx="3943350" cy="2705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6" y="6476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299"/>
                  </a:moveTo>
                  <a:lnTo>
                    <a:pt x="4559300" y="3416299"/>
                  </a:lnTo>
                  <a:lnTo>
                    <a:pt x="4559300" y="0"/>
                  </a:lnTo>
                  <a:lnTo>
                    <a:pt x="0" y="0"/>
                  </a:lnTo>
                  <a:lnTo>
                    <a:pt x="0" y="3416299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9419" y="356742"/>
            <a:ext cx="294386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" dirty="0">
                <a:solidFill>
                  <a:srgbClr val="FFFFFF"/>
                </a:solidFill>
                <a:latin typeface="Tahoma"/>
                <a:cs typeface="Tahoma"/>
              </a:rPr>
              <a:t>Contoh:</a:t>
            </a:r>
            <a:r>
              <a:rPr sz="10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15" dirty="0">
                <a:solidFill>
                  <a:srgbClr val="FFFFFF"/>
                </a:solidFill>
                <a:latin typeface="Tahoma"/>
                <a:cs typeface="Tahoma"/>
              </a:rPr>
              <a:t>Layanan</a:t>
            </a:r>
            <a:r>
              <a:rPr sz="1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FFFF"/>
                </a:solidFill>
                <a:latin typeface="Tahoma"/>
                <a:cs typeface="Tahoma"/>
              </a:rPr>
              <a:t>perpustakaan</a:t>
            </a:r>
            <a:r>
              <a:rPr sz="10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Tahoma"/>
                <a:cs typeface="Tahoma"/>
              </a:rPr>
              <a:t>digital</a:t>
            </a:r>
            <a:r>
              <a:rPr sz="10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i="1" spc="-5" dirty="0">
                <a:solidFill>
                  <a:srgbClr val="FFFFFF"/>
                </a:solidFill>
                <a:latin typeface="Arial"/>
                <a:cs typeface="Arial"/>
              </a:rPr>
              <a:t>(digital</a:t>
            </a:r>
            <a:r>
              <a:rPr sz="100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i="1" spc="-5" dirty="0">
                <a:solidFill>
                  <a:srgbClr val="FFFFFF"/>
                </a:solidFill>
                <a:latin typeface="Arial"/>
                <a:cs typeface="Arial"/>
              </a:rPr>
              <a:t>library)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66522"/>
            <a:ext cx="383095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chemeClr val="tx1"/>
                </a:solidFill>
              </a:rPr>
              <a:t>Per</a:t>
            </a:r>
            <a:r>
              <a:rPr sz="1800" spc="65" dirty="0">
                <a:solidFill>
                  <a:schemeClr val="tx1"/>
                </a:solidFill>
              </a:rPr>
              <a:t>k</a:t>
            </a:r>
            <a:r>
              <a:rPr sz="1800" spc="50" dirty="0">
                <a:solidFill>
                  <a:schemeClr val="tx1"/>
                </a:solidFill>
              </a:rPr>
              <a:t>e</a:t>
            </a:r>
            <a:r>
              <a:rPr sz="1800" spc="-10" dirty="0">
                <a:solidFill>
                  <a:schemeClr val="tx1"/>
                </a:solidFill>
              </a:rPr>
              <a:t>m</a:t>
            </a:r>
            <a:r>
              <a:rPr sz="1800" spc="5" dirty="0">
                <a:solidFill>
                  <a:schemeClr val="tx1"/>
                </a:solidFill>
              </a:rPr>
              <a:t>b</a:t>
            </a:r>
            <a:r>
              <a:rPr sz="1800" spc="35" dirty="0">
                <a:solidFill>
                  <a:schemeClr val="tx1"/>
                </a:solidFill>
              </a:rPr>
              <a:t>a</a:t>
            </a:r>
            <a:r>
              <a:rPr sz="1800" spc="-25" dirty="0">
                <a:solidFill>
                  <a:schemeClr val="tx1"/>
                </a:solidFill>
              </a:rPr>
              <a:t>n</a:t>
            </a:r>
            <a:r>
              <a:rPr sz="1800" spc="5" dirty="0">
                <a:solidFill>
                  <a:schemeClr val="tx1"/>
                </a:solidFill>
              </a:rPr>
              <a:t>g</a:t>
            </a:r>
            <a:r>
              <a:rPr sz="1800" spc="35" dirty="0">
                <a:solidFill>
                  <a:schemeClr val="tx1"/>
                </a:solidFill>
              </a:rPr>
              <a:t>a</a:t>
            </a:r>
            <a:r>
              <a:rPr sz="1800" spc="-5" dirty="0">
                <a:solidFill>
                  <a:schemeClr val="tx1"/>
                </a:solidFill>
              </a:rPr>
              <a:t>n</a:t>
            </a:r>
            <a:r>
              <a:rPr sz="1800" spc="-175" dirty="0">
                <a:solidFill>
                  <a:schemeClr val="tx1"/>
                </a:solidFill>
              </a:rPr>
              <a:t> </a:t>
            </a:r>
            <a:r>
              <a:rPr sz="1800" spc="105" dirty="0">
                <a:solidFill>
                  <a:schemeClr val="tx1"/>
                </a:solidFill>
              </a:rPr>
              <a:t>Saa</a:t>
            </a:r>
            <a:r>
              <a:rPr sz="1800" spc="-105" dirty="0">
                <a:solidFill>
                  <a:schemeClr val="tx1"/>
                </a:solidFill>
              </a:rPr>
              <a:t>t</a:t>
            </a:r>
            <a:r>
              <a:rPr sz="1800" spc="-85" dirty="0">
                <a:solidFill>
                  <a:schemeClr val="tx1"/>
                </a:solidFill>
              </a:rPr>
              <a:t> </a:t>
            </a:r>
            <a:r>
              <a:rPr sz="1800" spc="-70" dirty="0">
                <a:solidFill>
                  <a:schemeClr val="tx1"/>
                </a:solidFill>
              </a:rPr>
              <a:t>I</a:t>
            </a:r>
            <a:r>
              <a:rPr sz="1800" spc="-100" dirty="0">
                <a:solidFill>
                  <a:schemeClr val="tx1"/>
                </a:solidFill>
              </a:rPr>
              <a:t>n</a:t>
            </a:r>
            <a:r>
              <a:rPr sz="1800" spc="-15" dirty="0">
                <a:solidFill>
                  <a:schemeClr val="tx1"/>
                </a:solidFill>
              </a:rPr>
              <a:t>i</a:t>
            </a:r>
            <a:r>
              <a:rPr sz="1800" spc="-80" dirty="0">
                <a:solidFill>
                  <a:schemeClr val="tx1"/>
                </a:solidFill>
              </a:rPr>
              <a:t> </a:t>
            </a:r>
            <a:r>
              <a:rPr sz="1800" spc="330" dirty="0">
                <a:solidFill>
                  <a:schemeClr val="tx1"/>
                </a:solidFill>
              </a:rPr>
              <a:t>…</a:t>
            </a:r>
            <a:r>
              <a:rPr sz="1800" spc="-55" dirty="0">
                <a:solidFill>
                  <a:schemeClr val="tx1"/>
                </a:solidFill>
              </a:rPr>
              <a:t> </a:t>
            </a:r>
            <a:r>
              <a:rPr sz="1800" spc="-35" dirty="0">
                <a:solidFill>
                  <a:schemeClr val="tx1"/>
                </a:solidFill>
              </a:rPr>
              <a:t>(2</a:t>
            </a:r>
            <a:r>
              <a:rPr sz="1800" spc="15" dirty="0">
                <a:solidFill>
                  <a:schemeClr val="tx1"/>
                </a:solidFill>
              </a:rPr>
              <a:t>000</a:t>
            </a:r>
            <a:r>
              <a:rPr sz="1800" spc="-95" dirty="0">
                <a:solidFill>
                  <a:schemeClr val="tx1"/>
                </a:solidFill>
              </a:rPr>
              <a:t> </a:t>
            </a:r>
            <a:r>
              <a:rPr sz="1800" spc="-55" dirty="0">
                <a:solidFill>
                  <a:schemeClr val="tx1"/>
                </a:solidFill>
              </a:rPr>
              <a:t>-</a:t>
            </a:r>
            <a:r>
              <a:rPr sz="1800" spc="-180" dirty="0">
                <a:solidFill>
                  <a:schemeClr val="tx1"/>
                </a:solidFill>
              </a:rPr>
              <a:t> </a:t>
            </a:r>
            <a:r>
              <a:rPr sz="1800" spc="114" dirty="0">
                <a:solidFill>
                  <a:schemeClr val="tx1"/>
                </a:solidFill>
              </a:rPr>
              <a:t>…)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6539" y="789088"/>
            <a:ext cx="3867150" cy="23469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82880" indent="-170815">
              <a:lnSpc>
                <a:spcPct val="100000"/>
              </a:lnSpc>
              <a:spcBef>
                <a:spcPts val="315"/>
              </a:spcBef>
              <a:buChar char="•"/>
              <a:tabLst>
                <a:tab pos="183515" algn="l"/>
              </a:tabLst>
            </a:pPr>
            <a:r>
              <a:rPr sz="1600" spc="195" dirty="0">
                <a:latin typeface="Tahoma"/>
                <a:cs typeface="Tahoma"/>
              </a:rPr>
              <a:t>P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-10" dirty="0">
                <a:latin typeface="Tahoma"/>
                <a:cs typeface="Tahoma"/>
              </a:rPr>
              <a:t>u</a:t>
            </a:r>
            <a:r>
              <a:rPr sz="1600" spc="-5" dirty="0">
                <a:latin typeface="Tahoma"/>
                <a:cs typeface="Tahoma"/>
              </a:rPr>
              <a:t>b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h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dirty="0">
                <a:latin typeface="Tahoma"/>
                <a:cs typeface="Tahoma"/>
              </a:rPr>
              <a:t>n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k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10" dirty="0">
                <a:latin typeface="Tahoma"/>
                <a:cs typeface="Tahoma"/>
              </a:rPr>
              <a:t>k</a:t>
            </a:r>
            <a:r>
              <a:rPr sz="1600" spc="-85" dirty="0">
                <a:latin typeface="Tahoma"/>
                <a:cs typeface="Tahoma"/>
              </a:rPr>
              <a:t>t</a:t>
            </a:r>
            <a:r>
              <a:rPr sz="1600" spc="40" dirty="0">
                <a:latin typeface="Tahoma"/>
                <a:cs typeface="Tahoma"/>
              </a:rPr>
              <a:t>e</a:t>
            </a:r>
            <a:r>
              <a:rPr sz="1600" spc="-55" dirty="0">
                <a:latin typeface="Tahoma"/>
                <a:cs typeface="Tahoma"/>
              </a:rPr>
              <a:t>r</a:t>
            </a:r>
            <a:r>
              <a:rPr sz="1600" spc="25" dirty="0">
                <a:latin typeface="Tahoma"/>
                <a:cs typeface="Tahoma"/>
              </a:rPr>
              <a:t>i</a:t>
            </a:r>
            <a:r>
              <a:rPr sz="1600" spc="60" dirty="0">
                <a:latin typeface="Tahoma"/>
                <a:cs typeface="Tahoma"/>
              </a:rPr>
              <a:t>s</a:t>
            </a:r>
            <a:r>
              <a:rPr sz="1600" spc="-85" dirty="0">
                <a:latin typeface="Tahoma"/>
                <a:cs typeface="Tahoma"/>
              </a:rPr>
              <a:t>t</a:t>
            </a:r>
            <a:r>
              <a:rPr sz="1600" spc="-35" dirty="0">
                <a:latin typeface="Tahoma"/>
                <a:cs typeface="Tahoma"/>
              </a:rPr>
              <a:t>i</a:t>
            </a:r>
            <a:r>
              <a:rPr sz="1600" spc="5" dirty="0">
                <a:latin typeface="Tahoma"/>
                <a:cs typeface="Tahoma"/>
              </a:rPr>
              <a:t>k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15" dirty="0">
                <a:latin typeface="Tahoma"/>
                <a:cs typeface="Tahoma"/>
              </a:rPr>
              <a:t>la</a:t>
            </a:r>
            <a:r>
              <a:rPr sz="1600" spc="5" dirty="0">
                <a:latin typeface="Tahoma"/>
                <a:cs typeface="Tahoma"/>
              </a:rPr>
              <a:t>y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n</a:t>
            </a:r>
            <a:r>
              <a:rPr sz="1600" spc="40" dirty="0">
                <a:latin typeface="Tahoma"/>
                <a:cs typeface="Tahoma"/>
              </a:rPr>
              <a:t>a</a:t>
            </a:r>
            <a:r>
              <a:rPr sz="1600" dirty="0">
                <a:latin typeface="Tahoma"/>
                <a:cs typeface="Tahoma"/>
              </a:rPr>
              <a:t>n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on</a:t>
            </a:r>
            <a:r>
              <a:rPr sz="1600" spc="-60" dirty="0">
                <a:latin typeface="Tahoma"/>
                <a:cs typeface="Tahoma"/>
              </a:rPr>
              <a:t>-</a:t>
            </a:r>
            <a:r>
              <a:rPr sz="1600" spc="-10" dirty="0">
                <a:latin typeface="Tahoma"/>
                <a:cs typeface="Tahoma"/>
              </a:rPr>
              <a:t>lin</a:t>
            </a:r>
            <a:r>
              <a:rPr sz="1600" spc="50" dirty="0">
                <a:latin typeface="Tahoma"/>
                <a:cs typeface="Tahoma"/>
              </a:rPr>
              <a:t>e</a:t>
            </a:r>
            <a:endParaRPr sz="1600">
              <a:latin typeface="Tahoma"/>
              <a:cs typeface="Tahoma"/>
            </a:endParaRPr>
          </a:p>
          <a:p>
            <a:pPr marL="384175" marR="5080" lvl="1" indent="-143510">
              <a:lnSpc>
                <a:spcPct val="103600"/>
              </a:lnSpc>
              <a:spcBef>
                <a:spcPts val="120"/>
              </a:spcBef>
              <a:buChar char="–"/>
              <a:tabLst>
                <a:tab pos="384810" algn="l"/>
              </a:tabLst>
            </a:pPr>
            <a:r>
              <a:rPr sz="1400" spc="35" dirty="0">
                <a:latin typeface="Tahoma"/>
                <a:cs typeface="Tahoma"/>
              </a:rPr>
              <a:t>Jenis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semakin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bervariasi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20" dirty="0">
                <a:latin typeface="Lucida Sans Unicode"/>
                <a:cs typeface="Lucida Sans Unicode"/>
              </a:rPr>
              <a:t>€</a:t>
            </a:r>
            <a:r>
              <a:rPr sz="1400" spc="90" dirty="0">
                <a:latin typeface="Lucida Sans Unicode"/>
                <a:cs typeface="Lucida Sans Unicode"/>
              </a:rPr>
              <a:t> </a:t>
            </a:r>
            <a:r>
              <a:rPr sz="1400" spc="15" dirty="0">
                <a:latin typeface="Tahoma"/>
                <a:cs typeface="Tahoma"/>
              </a:rPr>
              <a:t>semakin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banyak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layanan </a:t>
            </a:r>
            <a:r>
              <a:rPr sz="1400" spc="-10" dirty="0">
                <a:latin typeface="Tahoma"/>
                <a:cs typeface="Tahoma"/>
              </a:rPr>
              <a:t>di bidang-bidang yang </a:t>
            </a:r>
            <a:r>
              <a:rPr sz="1400" spc="-20" dirty="0">
                <a:latin typeface="Tahoma"/>
                <a:cs typeface="Tahoma"/>
              </a:rPr>
              <a:t>juga </a:t>
            </a:r>
            <a:r>
              <a:rPr sz="1400" spc="-15" dirty="0">
                <a:latin typeface="Tahoma"/>
                <a:cs typeface="Tahoma"/>
              </a:rPr>
              <a:t>terus </a:t>
            </a:r>
            <a:r>
              <a:rPr sz="1400" spc="-10" dirty="0">
                <a:latin typeface="Tahoma"/>
                <a:cs typeface="Tahoma"/>
              </a:rPr>
              <a:t> bertambah</a:t>
            </a:r>
            <a:endParaRPr sz="1400">
              <a:latin typeface="Tahoma"/>
              <a:cs typeface="Tahoma"/>
            </a:endParaRPr>
          </a:p>
          <a:p>
            <a:pPr marL="384175" marR="203200" lvl="1" indent="-143510">
              <a:lnSpc>
                <a:spcPct val="100000"/>
              </a:lnSpc>
              <a:spcBef>
                <a:spcPts val="310"/>
              </a:spcBef>
              <a:buChar char="–"/>
              <a:tabLst>
                <a:tab pos="384810" algn="l"/>
              </a:tabLst>
            </a:pPr>
            <a:r>
              <a:rPr sz="1400" spc="4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15" dirty="0">
                <a:latin typeface="Tahoma"/>
                <a:cs typeface="Tahoma"/>
              </a:rPr>
              <a:t>li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35" dirty="0">
                <a:latin typeface="Tahoma"/>
                <a:cs typeface="Tahoma"/>
              </a:rPr>
              <a:t>tk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45" dirty="0">
                <a:latin typeface="Tahoma"/>
                <a:cs typeface="Tahoma"/>
              </a:rPr>
              <a:t>se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10" dirty="0">
                <a:latin typeface="Tahoma"/>
                <a:cs typeface="Tahoma"/>
              </a:rPr>
              <a:t>in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55" dirty="0">
                <a:latin typeface="Tahoma"/>
                <a:cs typeface="Tahoma"/>
              </a:rPr>
              <a:t>y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k</a:t>
            </a:r>
            <a:r>
              <a:rPr sz="1400" spc="-10" dirty="0">
                <a:latin typeface="Tahoma"/>
                <a:cs typeface="Tahoma"/>
              </a:rPr>
              <a:t> p</a:t>
            </a:r>
            <a:r>
              <a:rPr sz="1400" spc="5" dirty="0">
                <a:latin typeface="Tahoma"/>
                <a:cs typeface="Tahoma"/>
              </a:rPr>
              <a:t>ih</a:t>
            </a:r>
            <a:r>
              <a:rPr sz="1400" spc="-5" dirty="0">
                <a:latin typeface="Tahoma"/>
                <a:cs typeface="Tahoma"/>
              </a:rPr>
              <a:t>ak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n  interaksi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yang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semakin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kompleks</a:t>
            </a:r>
            <a:endParaRPr sz="1400">
              <a:latin typeface="Tahoma"/>
              <a:cs typeface="Tahoma"/>
            </a:endParaRPr>
          </a:p>
          <a:p>
            <a:pPr marL="582930" lvl="2" indent="-113030">
              <a:lnSpc>
                <a:spcPct val="100000"/>
              </a:lnSpc>
              <a:spcBef>
                <a:spcPts val="300"/>
              </a:spcBef>
              <a:buChar char="•"/>
              <a:tabLst>
                <a:tab pos="582930" algn="l"/>
              </a:tabLst>
            </a:pPr>
            <a:r>
              <a:rPr sz="1200" spc="-105" dirty="0">
                <a:latin typeface="Tahoma"/>
                <a:cs typeface="Tahoma"/>
              </a:rPr>
              <a:t>T</a:t>
            </a:r>
            <a:r>
              <a:rPr sz="1200" spc="10" dirty="0">
                <a:latin typeface="Tahoma"/>
                <a:cs typeface="Tahoma"/>
              </a:rPr>
              <a:t>oko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o</a:t>
            </a:r>
            <a:r>
              <a:rPr sz="1200" spc="15" dirty="0">
                <a:latin typeface="Tahoma"/>
                <a:cs typeface="Tahoma"/>
              </a:rPr>
              <a:t>n</a:t>
            </a:r>
            <a:r>
              <a:rPr sz="1200" spc="-35" dirty="0">
                <a:latin typeface="Tahoma"/>
                <a:cs typeface="Tahoma"/>
              </a:rPr>
              <a:t>-</a:t>
            </a:r>
            <a:r>
              <a:rPr sz="1200" spc="10" dirty="0">
                <a:latin typeface="Tahoma"/>
                <a:cs typeface="Tahoma"/>
              </a:rPr>
              <a:t>li</a:t>
            </a:r>
            <a:r>
              <a:rPr sz="1200" spc="15" dirty="0">
                <a:latin typeface="Tahoma"/>
                <a:cs typeface="Tahoma"/>
              </a:rPr>
              <a:t>n</a:t>
            </a:r>
            <a:r>
              <a:rPr sz="1200" spc="114" dirty="0">
                <a:latin typeface="Tahoma"/>
                <a:cs typeface="Tahoma"/>
              </a:rPr>
              <a:t>e</a:t>
            </a:r>
            <a:r>
              <a:rPr sz="1200" spc="7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m</a:t>
            </a:r>
            <a:r>
              <a:rPr sz="1200" spc="40" dirty="0">
                <a:latin typeface="Tahoma"/>
                <a:cs typeface="Tahoma"/>
              </a:rPr>
              <a:t>azo</a:t>
            </a:r>
            <a:r>
              <a:rPr sz="1200" spc="-5" dirty="0">
                <a:latin typeface="Tahoma"/>
                <a:cs typeface="Tahoma"/>
              </a:rPr>
              <a:t>n</a:t>
            </a:r>
            <a:endParaRPr sz="1200">
              <a:latin typeface="Tahoma"/>
              <a:cs typeface="Tahoma"/>
            </a:endParaRPr>
          </a:p>
          <a:p>
            <a:pPr marL="582930" lvl="2" indent="-113030">
              <a:lnSpc>
                <a:spcPct val="100000"/>
              </a:lnSpc>
              <a:spcBef>
                <a:spcPts val="310"/>
              </a:spcBef>
              <a:buChar char="•"/>
              <a:tabLst>
                <a:tab pos="582930" algn="l"/>
              </a:tabLst>
            </a:pPr>
            <a:r>
              <a:rPr sz="1200" spc="25" dirty="0">
                <a:latin typeface="Tahoma"/>
                <a:cs typeface="Tahoma"/>
              </a:rPr>
              <a:t>Sistem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pemesanan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(reservasi)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tiket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pesawat</a:t>
            </a:r>
            <a:endParaRPr sz="1200">
              <a:latin typeface="Tahoma"/>
              <a:cs typeface="Tahoma"/>
            </a:endParaRPr>
          </a:p>
          <a:p>
            <a:pPr marL="384175" marR="31750" lvl="1" indent="-143510">
              <a:lnSpc>
                <a:spcPct val="100000"/>
              </a:lnSpc>
              <a:spcBef>
                <a:spcPts val="280"/>
              </a:spcBef>
              <a:buChar char="–"/>
              <a:tabLst>
                <a:tab pos="384810" algn="l"/>
              </a:tabLst>
            </a:pPr>
            <a:r>
              <a:rPr sz="1400" dirty="0">
                <a:latin typeface="Tahoma"/>
                <a:cs typeface="Tahoma"/>
              </a:rPr>
              <a:t>Layanan-layanan </a:t>
            </a:r>
            <a:r>
              <a:rPr sz="1400" spc="-10" dirty="0">
                <a:latin typeface="Tahoma"/>
                <a:cs typeface="Tahoma"/>
              </a:rPr>
              <a:t>yang </a:t>
            </a:r>
            <a:r>
              <a:rPr sz="1400" spc="-15" dirty="0">
                <a:latin typeface="Tahoma"/>
                <a:cs typeface="Tahoma"/>
              </a:rPr>
              <a:t>bersifat kontemporer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(baru)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572635" cy="3429635"/>
            <a:chOff x="0" y="0"/>
            <a:chExt cx="4572635" cy="3429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580" y="305180"/>
              <a:ext cx="2933700" cy="21732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14980" y="305180"/>
              <a:ext cx="876300" cy="419100"/>
            </a:xfrm>
            <a:custGeom>
              <a:avLst/>
              <a:gdLst/>
              <a:ahLst/>
              <a:cxnLst/>
              <a:rect l="l" t="t" r="r" b="b"/>
              <a:pathLst>
                <a:path w="876300" h="419100">
                  <a:moveTo>
                    <a:pt x="438150" y="0"/>
                  </a:moveTo>
                  <a:lnTo>
                    <a:pt x="373379" y="2285"/>
                  </a:lnTo>
                  <a:lnTo>
                    <a:pt x="311530" y="8889"/>
                  </a:lnTo>
                  <a:lnTo>
                    <a:pt x="253237" y="19430"/>
                  </a:lnTo>
                  <a:lnTo>
                    <a:pt x="199389" y="33781"/>
                  </a:lnTo>
                  <a:lnTo>
                    <a:pt x="150495" y="51307"/>
                  </a:lnTo>
                  <a:lnTo>
                    <a:pt x="107314" y="72008"/>
                  </a:lnTo>
                  <a:lnTo>
                    <a:pt x="70485" y="95376"/>
                  </a:lnTo>
                  <a:lnTo>
                    <a:pt x="40639" y="121157"/>
                  </a:lnTo>
                  <a:lnTo>
                    <a:pt x="4699" y="178561"/>
                  </a:lnTo>
                  <a:lnTo>
                    <a:pt x="0" y="209550"/>
                  </a:lnTo>
                  <a:lnTo>
                    <a:pt x="4699" y="240537"/>
                  </a:lnTo>
                  <a:lnTo>
                    <a:pt x="40639" y="297942"/>
                  </a:lnTo>
                  <a:lnTo>
                    <a:pt x="70485" y="323723"/>
                  </a:lnTo>
                  <a:lnTo>
                    <a:pt x="107314" y="347090"/>
                  </a:lnTo>
                  <a:lnTo>
                    <a:pt x="150495" y="367792"/>
                  </a:lnTo>
                  <a:lnTo>
                    <a:pt x="199389" y="385318"/>
                  </a:lnTo>
                  <a:lnTo>
                    <a:pt x="253237" y="399669"/>
                  </a:lnTo>
                  <a:lnTo>
                    <a:pt x="311530" y="410209"/>
                  </a:lnTo>
                  <a:lnTo>
                    <a:pt x="373379" y="416813"/>
                  </a:lnTo>
                  <a:lnTo>
                    <a:pt x="438150" y="419100"/>
                  </a:lnTo>
                  <a:lnTo>
                    <a:pt x="502920" y="416813"/>
                  </a:lnTo>
                  <a:lnTo>
                    <a:pt x="564769" y="410209"/>
                  </a:lnTo>
                  <a:lnTo>
                    <a:pt x="623062" y="399669"/>
                  </a:lnTo>
                  <a:lnTo>
                    <a:pt x="676910" y="385318"/>
                  </a:lnTo>
                  <a:lnTo>
                    <a:pt x="725804" y="367792"/>
                  </a:lnTo>
                  <a:lnTo>
                    <a:pt x="768985" y="347090"/>
                  </a:lnTo>
                  <a:lnTo>
                    <a:pt x="805814" y="323723"/>
                  </a:lnTo>
                  <a:lnTo>
                    <a:pt x="835660" y="297942"/>
                  </a:lnTo>
                  <a:lnTo>
                    <a:pt x="871601" y="240537"/>
                  </a:lnTo>
                  <a:lnTo>
                    <a:pt x="876300" y="209550"/>
                  </a:lnTo>
                  <a:lnTo>
                    <a:pt x="871601" y="178561"/>
                  </a:lnTo>
                  <a:lnTo>
                    <a:pt x="835660" y="121157"/>
                  </a:lnTo>
                  <a:lnTo>
                    <a:pt x="805814" y="95376"/>
                  </a:lnTo>
                  <a:lnTo>
                    <a:pt x="768985" y="72008"/>
                  </a:lnTo>
                  <a:lnTo>
                    <a:pt x="725804" y="51307"/>
                  </a:lnTo>
                  <a:lnTo>
                    <a:pt x="676910" y="33781"/>
                  </a:lnTo>
                  <a:lnTo>
                    <a:pt x="623062" y="19430"/>
                  </a:lnTo>
                  <a:lnTo>
                    <a:pt x="564769" y="8889"/>
                  </a:lnTo>
                  <a:lnTo>
                    <a:pt x="502920" y="2285"/>
                  </a:lnTo>
                  <a:lnTo>
                    <a:pt x="438150" y="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280" y="381380"/>
              <a:ext cx="800100" cy="304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3280" y="381380"/>
              <a:ext cx="800100" cy="304800"/>
            </a:xfrm>
            <a:custGeom>
              <a:avLst/>
              <a:gdLst/>
              <a:ahLst/>
              <a:cxnLst/>
              <a:rect l="l" t="t" r="r" b="b"/>
              <a:pathLst>
                <a:path w="800100" h="304800">
                  <a:moveTo>
                    <a:pt x="400050" y="0"/>
                  </a:moveTo>
                  <a:lnTo>
                    <a:pt x="335152" y="2031"/>
                  </a:lnTo>
                  <a:lnTo>
                    <a:pt x="273557" y="7747"/>
                  </a:lnTo>
                  <a:lnTo>
                    <a:pt x="216154" y="17018"/>
                  </a:lnTo>
                  <a:lnTo>
                    <a:pt x="163830" y="29463"/>
                  </a:lnTo>
                  <a:lnTo>
                    <a:pt x="117093" y="44703"/>
                  </a:lnTo>
                  <a:lnTo>
                    <a:pt x="77215" y="62483"/>
                  </a:lnTo>
                  <a:lnTo>
                    <a:pt x="44703" y="82550"/>
                  </a:lnTo>
                  <a:lnTo>
                    <a:pt x="5206" y="127761"/>
                  </a:lnTo>
                  <a:lnTo>
                    <a:pt x="0" y="152400"/>
                  </a:lnTo>
                  <a:lnTo>
                    <a:pt x="5206" y="177037"/>
                  </a:lnTo>
                  <a:lnTo>
                    <a:pt x="44703" y="222250"/>
                  </a:lnTo>
                  <a:lnTo>
                    <a:pt x="77215" y="242315"/>
                  </a:lnTo>
                  <a:lnTo>
                    <a:pt x="117093" y="259969"/>
                  </a:lnTo>
                  <a:lnTo>
                    <a:pt x="163830" y="275335"/>
                  </a:lnTo>
                  <a:lnTo>
                    <a:pt x="216154" y="287781"/>
                  </a:lnTo>
                  <a:lnTo>
                    <a:pt x="273557" y="297052"/>
                  </a:lnTo>
                  <a:lnTo>
                    <a:pt x="335152" y="302768"/>
                  </a:lnTo>
                  <a:lnTo>
                    <a:pt x="400050" y="304800"/>
                  </a:lnTo>
                  <a:lnTo>
                    <a:pt x="464947" y="302768"/>
                  </a:lnTo>
                  <a:lnTo>
                    <a:pt x="526542" y="297052"/>
                  </a:lnTo>
                  <a:lnTo>
                    <a:pt x="583945" y="287781"/>
                  </a:lnTo>
                  <a:lnTo>
                    <a:pt x="636269" y="275335"/>
                  </a:lnTo>
                  <a:lnTo>
                    <a:pt x="682879" y="259969"/>
                  </a:lnTo>
                  <a:lnTo>
                    <a:pt x="722883" y="242315"/>
                  </a:lnTo>
                  <a:lnTo>
                    <a:pt x="755395" y="222250"/>
                  </a:lnTo>
                  <a:lnTo>
                    <a:pt x="794893" y="177037"/>
                  </a:lnTo>
                  <a:lnTo>
                    <a:pt x="800100" y="152400"/>
                  </a:lnTo>
                  <a:lnTo>
                    <a:pt x="794893" y="127761"/>
                  </a:lnTo>
                  <a:lnTo>
                    <a:pt x="755395" y="82550"/>
                  </a:lnTo>
                  <a:lnTo>
                    <a:pt x="722883" y="62483"/>
                  </a:lnTo>
                  <a:lnTo>
                    <a:pt x="682879" y="44703"/>
                  </a:lnTo>
                  <a:lnTo>
                    <a:pt x="636269" y="29463"/>
                  </a:lnTo>
                  <a:lnTo>
                    <a:pt x="583945" y="17018"/>
                  </a:lnTo>
                  <a:lnTo>
                    <a:pt x="526542" y="7747"/>
                  </a:lnTo>
                  <a:lnTo>
                    <a:pt x="464947" y="2031"/>
                  </a:lnTo>
                  <a:lnTo>
                    <a:pt x="400050" y="0"/>
                  </a:lnTo>
                  <a:close/>
                </a:path>
              </a:pathLst>
            </a:custGeom>
            <a:ln w="12700">
              <a:solidFill>
                <a:srgbClr val="BED9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9180" y="1295780"/>
              <a:ext cx="685800" cy="304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29180" y="1295780"/>
              <a:ext cx="685800" cy="304800"/>
            </a:xfrm>
            <a:custGeom>
              <a:avLst/>
              <a:gdLst/>
              <a:ahLst/>
              <a:cxnLst/>
              <a:rect l="l" t="t" r="r" b="b"/>
              <a:pathLst>
                <a:path w="685800" h="304800">
                  <a:moveTo>
                    <a:pt x="342900" y="0"/>
                  </a:moveTo>
                  <a:lnTo>
                    <a:pt x="281177" y="2412"/>
                  </a:lnTo>
                  <a:lnTo>
                    <a:pt x="223138" y="9525"/>
                  </a:lnTo>
                  <a:lnTo>
                    <a:pt x="169672" y="20827"/>
                  </a:lnTo>
                  <a:lnTo>
                    <a:pt x="121793" y="35940"/>
                  </a:lnTo>
                  <a:lnTo>
                    <a:pt x="80518" y="54355"/>
                  </a:lnTo>
                  <a:lnTo>
                    <a:pt x="46736" y="75692"/>
                  </a:lnTo>
                  <a:lnTo>
                    <a:pt x="5461" y="125095"/>
                  </a:lnTo>
                  <a:lnTo>
                    <a:pt x="0" y="152400"/>
                  </a:lnTo>
                  <a:lnTo>
                    <a:pt x="5461" y="179704"/>
                  </a:lnTo>
                  <a:lnTo>
                    <a:pt x="46736" y="229107"/>
                  </a:lnTo>
                  <a:lnTo>
                    <a:pt x="80518" y="250444"/>
                  </a:lnTo>
                  <a:lnTo>
                    <a:pt x="121793" y="268858"/>
                  </a:lnTo>
                  <a:lnTo>
                    <a:pt x="169672" y="283972"/>
                  </a:lnTo>
                  <a:lnTo>
                    <a:pt x="223138" y="295275"/>
                  </a:lnTo>
                  <a:lnTo>
                    <a:pt x="281177" y="302386"/>
                  </a:lnTo>
                  <a:lnTo>
                    <a:pt x="342900" y="304800"/>
                  </a:lnTo>
                  <a:lnTo>
                    <a:pt x="404622" y="302386"/>
                  </a:lnTo>
                  <a:lnTo>
                    <a:pt x="462661" y="295275"/>
                  </a:lnTo>
                  <a:lnTo>
                    <a:pt x="516127" y="283972"/>
                  </a:lnTo>
                  <a:lnTo>
                    <a:pt x="564007" y="268858"/>
                  </a:lnTo>
                  <a:lnTo>
                    <a:pt x="605282" y="250444"/>
                  </a:lnTo>
                  <a:lnTo>
                    <a:pt x="639063" y="229107"/>
                  </a:lnTo>
                  <a:lnTo>
                    <a:pt x="680338" y="179704"/>
                  </a:lnTo>
                  <a:lnTo>
                    <a:pt x="685800" y="152400"/>
                  </a:lnTo>
                  <a:lnTo>
                    <a:pt x="680338" y="125095"/>
                  </a:lnTo>
                  <a:lnTo>
                    <a:pt x="639063" y="75692"/>
                  </a:lnTo>
                  <a:lnTo>
                    <a:pt x="605282" y="54355"/>
                  </a:lnTo>
                  <a:lnTo>
                    <a:pt x="564007" y="35940"/>
                  </a:lnTo>
                  <a:lnTo>
                    <a:pt x="516127" y="20827"/>
                  </a:lnTo>
                  <a:lnTo>
                    <a:pt x="462661" y="9525"/>
                  </a:lnTo>
                  <a:lnTo>
                    <a:pt x="404622" y="2412"/>
                  </a:lnTo>
                  <a:lnTo>
                    <a:pt x="342900" y="0"/>
                  </a:lnTo>
                  <a:close/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6880" y="1810892"/>
              <a:ext cx="1983739" cy="1496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76" y="6476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299"/>
                  </a:moveTo>
                  <a:lnTo>
                    <a:pt x="4559300" y="3416299"/>
                  </a:lnTo>
                  <a:lnTo>
                    <a:pt x="4559300" y="0"/>
                  </a:lnTo>
                  <a:lnTo>
                    <a:pt x="0" y="0"/>
                  </a:lnTo>
                  <a:lnTo>
                    <a:pt x="0" y="3416299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14577" y="137921"/>
            <a:ext cx="201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ahoma"/>
                <a:cs typeface="Tahoma"/>
              </a:rPr>
              <a:t>A</a:t>
            </a:r>
            <a:r>
              <a:rPr sz="1200" b="1" dirty="0">
                <a:latin typeface="Tahoma"/>
                <a:cs typeface="Tahoma"/>
              </a:rPr>
              <a:t>irl</a:t>
            </a:r>
            <a:r>
              <a:rPr sz="1200" b="1" spc="-5" dirty="0">
                <a:latin typeface="Tahoma"/>
                <a:cs typeface="Tahoma"/>
              </a:rPr>
              <a:t>in</a:t>
            </a:r>
            <a:r>
              <a:rPr sz="1200" b="1" dirty="0">
                <a:latin typeface="Tahoma"/>
                <a:cs typeface="Tahoma"/>
              </a:rPr>
              <a:t>e</a:t>
            </a:r>
            <a:r>
              <a:rPr sz="1200" b="1" spc="-5" dirty="0">
                <a:latin typeface="Tahoma"/>
                <a:cs typeface="Tahoma"/>
              </a:rPr>
              <a:t> </a:t>
            </a:r>
            <a:r>
              <a:rPr sz="1200" b="1" spc="5" dirty="0">
                <a:latin typeface="Tahoma"/>
                <a:cs typeface="Tahoma"/>
              </a:rPr>
              <a:t>reser</a:t>
            </a:r>
            <a:r>
              <a:rPr sz="1200" b="1" dirty="0">
                <a:latin typeface="Tahoma"/>
                <a:cs typeface="Tahoma"/>
              </a:rPr>
              <a:t>va</a:t>
            </a:r>
            <a:r>
              <a:rPr sz="1200" b="1" spc="5" dirty="0">
                <a:latin typeface="Tahoma"/>
                <a:cs typeface="Tahoma"/>
              </a:rPr>
              <a:t>t</a:t>
            </a:r>
            <a:r>
              <a:rPr sz="1200" b="1" dirty="0">
                <a:latin typeface="Tahoma"/>
                <a:cs typeface="Tahoma"/>
              </a:rPr>
              <a:t>ion</a:t>
            </a:r>
            <a:r>
              <a:rPr sz="1200" b="1" spc="-175" dirty="0">
                <a:latin typeface="Tahoma"/>
                <a:cs typeface="Tahoma"/>
              </a:rPr>
              <a:t> </a:t>
            </a:r>
            <a:r>
              <a:rPr sz="1200" b="1" spc="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y</a:t>
            </a:r>
            <a:r>
              <a:rPr sz="1200" b="1" spc="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</a:t>
            </a:r>
            <a:r>
              <a:rPr sz="1200" b="1" spc="5" dirty="0">
                <a:latin typeface="Tahoma"/>
                <a:cs typeface="Tahoma"/>
              </a:rPr>
              <a:t>e</a:t>
            </a:r>
            <a:r>
              <a:rPr sz="1200" b="1" dirty="0">
                <a:latin typeface="Tahoma"/>
                <a:cs typeface="Tahoma"/>
              </a:rPr>
              <a:t>m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5995" y="2784475"/>
            <a:ext cx="181610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900" spc="9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9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t 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deng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ksi</a:t>
            </a:r>
            <a:r>
              <a:rPr sz="9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9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 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kompleks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572635" cy="3429635"/>
            <a:chOff x="0" y="0"/>
            <a:chExt cx="4572635" cy="3429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" y="381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6082" y="840867"/>
              <a:ext cx="2918460" cy="201701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76" y="6477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300"/>
                  </a:moveTo>
                  <a:lnTo>
                    <a:pt x="4559300" y="3416300"/>
                  </a:lnTo>
                  <a:lnTo>
                    <a:pt x="4559300" y="0"/>
                  </a:lnTo>
                  <a:lnTo>
                    <a:pt x="0" y="0"/>
                  </a:lnTo>
                  <a:lnTo>
                    <a:pt x="0" y="3416300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2739" y="1141984"/>
            <a:ext cx="106553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pc="100" dirty="0"/>
              <a:t>P</a:t>
            </a:r>
            <a:r>
              <a:rPr spc="-20" dirty="0"/>
              <a:t>r</a:t>
            </a:r>
            <a:r>
              <a:rPr spc="10" dirty="0"/>
              <a:t>o</a:t>
            </a:r>
            <a:r>
              <a:rPr spc="40" dirty="0"/>
              <a:t>s</a:t>
            </a:r>
            <a:r>
              <a:rPr spc="15" dirty="0"/>
              <a:t>e</a:t>
            </a:r>
            <a:r>
              <a:rPr spc="50" dirty="0"/>
              <a:t>s</a:t>
            </a:r>
            <a:r>
              <a:rPr spc="-90" dirty="0"/>
              <a:t> </a:t>
            </a:r>
            <a:r>
              <a:rPr dirty="0"/>
              <a:t>pe</a:t>
            </a:r>
            <a:r>
              <a:rPr spc="30" dirty="0"/>
              <a:t>m</a:t>
            </a:r>
            <a:r>
              <a:rPr dirty="0"/>
              <a:t>enuh</a:t>
            </a:r>
            <a:r>
              <a:rPr spc="25" dirty="0"/>
              <a:t>a</a:t>
            </a:r>
            <a:r>
              <a:rPr dirty="0"/>
              <a:t>n  </a:t>
            </a:r>
            <a:r>
              <a:rPr spc="5" dirty="0"/>
              <a:t>l</a:t>
            </a:r>
            <a:r>
              <a:rPr spc="25" dirty="0"/>
              <a:t>a</a:t>
            </a:r>
            <a:r>
              <a:rPr spc="20" dirty="0"/>
              <a:t>y</a:t>
            </a:r>
            <a:r>
              <a:rPr spc="15" dirty="0"/>
              <a:t>a</a:t>
            </a:r>
            <a:r>
              <a:rPr dirty="0"/>
              <a:t>n</a:t>
            </a:r>
            <a:r>
              <a:rPr spc="25" dirty="0"/>
              <a:t>a</a:t>
            </a:r>
            <a:r>
              <a:rPr spc="5" dirty="0"/>
              <a:t>n</a:t>
            </a:r>
            <a:r>
              <a:rPr spc="-140" dirty="0"/>
              <a:t> </a:t>
            </a:r>
            <a:r>
              <a:rPr spc="-45" dirty="0"/>
              <a:t>j</a:t>
            </a:r>
            <a:r>
              <a:rPr dirty="0"/>
              <a:t>ug</a:t>
            </a:r>
            <a:r>
              <a:rPr spc="30" dirty="0"/>
              <a:t>a</a:t>
            </a:r>
            <a:r>
              <a:rPr spc="-95" dirty="0"/>
              <a:t> </a:t>
            </a:r>
            <a:r>
              <a:rPr spc="30" dirty="0"/>
              <a:t>m</a:t>
            </a:r>
            <a:r>
              <a:rPr dirty="0"/>
              <a:t>e</a:t>
            </a:r>
            <a:r>
              <a:rPr spc="5" dirty="0"/>
              <a:t>l</a:t>
            </a:r>
            <a:r>
              <a:rPr spc="10" dirty="0"/>
              <a:t>i</a:t>
            </a:r>
            <a:r>
              <a:rPr spc="-25" dirty="0"/>
              <a:t>-  </a:t>
            </a:r>
            <a:r>
              <a:rPr dirty="0"/>
              <a:t>b</a:t>
            </a:r>
            <a:r>
              <a:rPr spc="25" dirty="0"/>
              <a:t>a</a:t>
            </a:r>
            <a:r>
              <a:rPr spc="-45" dirty="0"/>
              <a:t>t</a:t>
            </a:r>
            <a:r>
              <a:rPr spc="20" dirty="0"/>
              <a:t>k</a:t>
            </a:r>
            <a:r>
              <a:rPr spc="15" dirty="0"/>
              <a:t>a</a:t>
            </a:r>
            <a:r>
              <a:rPr spc="5" dirty="0"/>
              <a:t>n</a:t>
            </a:r>
            <a:r>
              <a:rPr spc="-140" dirty="0"/>
              <a:t> </a:t>
            </a:r>
            <a:r>
              <a:rPr dirty="0"/>
              <a:t>b</a:t>
            </a:r>
            <a:r>
              <a:rPr spc="25" dirty="0"/>
              <a:t>a</a:t>
            </a:r>
            <a:r>
              <a:rPr dirty="0"/>
              <a:t>n</a:t>
            </a:r>
            <a:r>
              <a:rPr spc="20" dirty="0"/>
              <a:t>y</a:t>
            </a:r>
            <a:r>
              <a:rPr spc="15" dirty="0"/>
              <a:t>a</a:t>
            </a:r>
            <a:r>
              <a:rPr spc="5" dirty="0"/>
              <a:t>k</a:t>
            </a:r>
            <a:r>
              <a:rPr spc="-90" dirty="0"/>
              <a:t> </a:t>
            </a:r>
            <a:r>
              <a:rPr dirty="0"/>
              <a:t>p</a:t>
            </a:r>
            <a:r>
              <a:rPr spc="5" dirty="0"/>
              <a:t>i</a:t>
            </a:r>
            <a:r>
              <a:rPr dirty="0"/>
              <a:t>h</a:t>
            </a:r>
            <a:r>
              <a:rPr spc="25" dirty="0"/>
              <a:t>a</a:t>
            </a:r>
            <a:r>
              <a:rPr spc="5" dirty="0"/>
              <a:t>k  </a:t>
            </a:r>
            <a:r>
              <a:rPr spc="20" dirty="0"/>
              <a:t>y</a:t>
            </a:r>
            <a:r>
              <a:rPr spc="15" dirty="0"/>
              <a:t>a</a:t>
            </a:r>
            <a:r>
              <a:rPr dirty="0"/>
              <a:t>n</a:t>
            </a:r>
            <a:r>
              <a:rPr spc="5" dirty="0"/>
              <a:t>g</a:t>
            </a:r>
            <a:r>
              <a:rPr spc="-95" dirty="0"/>
              <a:t> </a:t>
            </a:r>
            <a:r>
              <a:rPr spc="40" dirty="0"/>
              <a:t>sa</a:t>
            </a:r>
            <a:r>
              <a:rPr spc="5" dirty="0"/>
              <a:t>li</a:t>
            </a:r>
            <a:r>
              <a:rPr dirty="0"/>
              <a:t>n</a:t>
            </a:r>
            <a:r>
              <a:rPr spc="5" dirty="0"/>
              <a:t>g</a:t>
            </a:r>
            <a:r>
              <a:rPr spc="-165" dirty="0"/>
              <a:t> </a:t>
            </a:r>
            <a:r>
              <a:rPr spc="-45" dirty="0"/>
              <a:t>t</a:t>
            </a:r>
            <a:r>
              <a:rPr dirty="0"/>
              <a:t>e</a:t>
            </a:r>
            <a:r>
              <a:rPr spc="-20" dirty="0"/>
              <a:t>r</a:t>
            </a:r>
            <a:r>
              <a:rPr spc="20" dirty="0"/>
              <a:t>k</a:t>
            </a:r>
            <a:r>
              <a:rPr spc="15" dirty="0"/>
              <a:t>a</a:t>
            </a:r>
            <a:r>
              <a:rPr spc="5" dirty="0"/>
              <a:t>i</a:t>
            </a:r>
            <a:r>
              <a:rPr spc="-45" dirty="0"/>
              <a:t>t</a:t>
            </a:r>
            <a:r>
              <a:rPr spc="-20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2739" y="1828038"/>
            <a:ext cx="1075690" cy="713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900" spc="3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b="1" spc="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b="1" spc="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rasi  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9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-5" dirty="0">
                <a:solidFill>
                  <a:srgbClr val="FFFFFF"/>
                </a:solidFill>
                <a:latin typeface="Tahoma"/>
                <a:cs typeface="Tahoma"/>
              </a:rPr>
              <a:t>i  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-2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-1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spc="-6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9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9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t 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deng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pe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enuh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  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spc="4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bu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0655" y="3001848"/>
            <a:ext cx="220980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" dirty="0">
                <a:solidFill>
                  <a:srgbClr val="FFFFFF"/>
                </a:solidFill>
                <a:latin typeface="Tahoma"/>
                <a:cs typeface="Tahoma"/>
              </a:rPr>
              <a:t>Contoh:</a:t>
            </a:r>
            <a:r>
              <a:rPr sz="1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5" dirty="0">
                <a:solidFill>
                  <a:srgbClr val="FFFFFF"/>
                </a:solidFill>
                <a:latin typeface="Tahoma"/>
                <a:cs typeface="Tahoma"/>
              </a:rPr>
              <a:t>pemenuhan</a:t>
            </a:r>
            <a:r>
              <a:rPr sz="10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Tahoma"/>
                <a:cs typeface="Tahoma"/>
              </a:rPr>
              <a:t>order</a:t>
            </a:r>
            <a:r>
              <a:rPr sz="10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Tahoma"/>
                <a:cs typeface="Tahoma"/>
              </a:rPr>
              <a:t>dari</a:t>
            </a:r>
            <a:r>
              <a:rPr sz="10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5" dirty="0">
                <a:solidFill>
                  <a:srgbClr val="FFFFFF"/>
                </a:solidFill>
                <a:latin typeface="Tahoma"/>
                <a:cs typeface="Tahoma"/>
              </a:rPr>
              <a:t>pembeli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572635" cy="3429635"/>
            <a:chOff x="0" y="0"/>
            <a:chExt cx="4572635" cy="3429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060" y="650366"/>
              <a:ext cx="3550920" cy="24361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476" y="6476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299"/>
                  </a:moveTo>
                  <a:lnTo>
                    <a:pt x="4559300" y="3416299"/>
                  </a:lnTo>
                  <a:lnTo>
                    <a:pt x="4559300" y="0"/>
                  </a:lnTo>
                  <a:lnTo>
                    <a:pt x="0" y="0"/>
                  </a:lnTo>
                  <a:lnTo>
                    <a:pt x="0" y="3416299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2905" marR="5080">
              <a:lnSpc>
                <a:spcPct val="100000"/>
              </a:lnSpc>
              <a:spcBef>
                <a:spcPts val="110"/>
              </a:spcBef>
            </a:pPr>
            <a:r>
              <a:rPr spc="10" dirty="0"/>
              <a:t>Layanan-layanan</a:t>
            </a:r>
            <a:r>
              <a:rPr spc="-140" dirty="0"/>
              <a:t> </a:t>
            </a:r>
            <a:r>
              <a:rPr spc="-5" dirty="0"/>
              <a:t>kontemporer,</a:t>
            </a:r>
            <a:r>
              <a:rPr spc="-150" dirty="0"/>
              <a:t> </a:t>
            </a:r>
            <a:r>
              <a:rPr spc="10" dirty="0"/>
              <a:t>kombinasi</a:t>
            </a:r>
            <a:r>
              <a:rPr spc="-130" dirty="0"/>
              <a:t> </a:t>
            </a:r>
            <a:r>
              <a:rPr dirty="0"/>
              <a:t>dari</a:t>
            </a:r>
            <a:r>
              <a:rPr spc="-45" dirty="0"/>
              <a:t> </a:t>
            </a:r>
            <a:r>
              <a:rPr spc="15" dirty="0"/>
              <a:t>inovasi</a:t>
            </a:r>
            <a:r>
              <a:rPr spc="-95" dirty="0"/>
              <a:t> </a:t>
            </a:r>
            <a:r>
              <a:rPr spc="-5" dirty="0"/>
              <a:t>ide,</a:t>
            </a:r>
            <a:r>
              <a:rPr spc="-70" dirty="0"/>
              <a:t> </a:t>
            </a:r>
            <a:r>
              <a:rPr spc="5" dirty="0"/>
              <a:t>dukungan</a:t>
            </a:r>
            <a:r>
              <a:rPr spc="-110" dirty="0"/>
              <a:t> </a:t>
            </a:r>
            <a:r>
              <a:rPr spc="-5" dirty="0"/>
              <a:t>teknologi, </a:t>
            </a:r>
            <a:r>
              <a:rPr spc="-270" dirty="0"/>
              <a:t> </a:t>
            </a:r>
            <a:r>
              <a:rPr spc="10" dirty="0"/>
              <a:t>dan</a:t>
            </a:r>
            <a:r>
              <a:rPr spc="-95" dirty="0"/>
              <a:t> </a:t>
            </a:r>
            <a:r>
              <a:rPr spc="5" dirty="0"/>
              <a:t>ketersediaan</a:t>
            </a:r>
            <a:r>
              <a:rPr spc="-120" dirty="0"/>
              <a:t> </a:t>
            </a:r>
            <a:r>
              <a:rPr spc="-15" dirty="0"/>
              <a:t>infrastruktur</a:t>
            </a:r>
            <a:r>
              <a:rPr spc="-130" dirty="0"/>
              <a:t> </a:t>
            </a:r>
            <a:r>
              <a:rPr spc="-10" dirty="0"/>
              <a:t>(terutama</a:t>
            </a:r>
            <a:r>
              <a:rPr spc="-140" dirty="0"/>
              <a:t> </a:t>
            </a:r>
            <a:r>
              <a:rPr spc="-5" dirty="0"/>
              <a:t>bandwidth</a:t>
            </a:r>
            <a:r>
              <a:rPr spc="-145" dirty="0"/>
              <a:t> </a:t>
            </a:r>
            <a:r>
              <a:rPr spc="-25" dirty="0"/>
              <a:t>Internet)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7250" y="3232276"/>
            <a:ext cx="183515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10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900" spc="-65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9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1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oo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li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9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sh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ee</a:t>
            </a:r>
            <a:r>
              <a:rPr sz="900" spc="-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21488"/>
            <a:ext cx="365252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204" dirty="0">
                <a:solidFill>
                  <a:schemeClr val="tx1"/>
                </a:solidFill>
              </a:rPr>
              <a:t>I</a:t>
            </a:r>
            <a:r>
              <a:rPr sz="2200" spc="-30" dirty="0">
                <a:solidFill>
                  <a:schemeClr val="tx1"/>
                </a:solidFill>
              </a:rPr>
              <a:t>nte</a:t>
            </a:r>
            <a:r>
              <a:rPr sz="2200" spc="-20" dirty="0">
                <a:solidFill>
                  <a:schemeClr val="tx1"/>
                </a:solidFill>
              </a:rPr>
              <a:t>r</a:t>
            </a:r>
            <a:r>
              <a:rPr sz="2200" spc="40" dirty="0">
                <a:solidFill>
                  <a:schemeClr val="tx1"/>
                </a:solidFill>
              </a:rPr>
              <a:t>a</a:t>
            </a:r>
            <a:r>
              <a:rPr sz="2200" spc="50" dirty="0">
                <a:solidFill>
                  <a:schemeClr val="tx1"/>
                </a:solidFill>
              </a:rPr>
              <a:t>ksi</a:t>
            </a:r>
            <a:r>
              <a:rPr sz="2200" spc="-160" dirty="0">
                <a:solidFill>
                  <a:schemeClr val="tx1"/>
                </a:solidFill>
              </a:rPr>
              <a:t> </a:t>
            </a:r>
            <a:r>
              <a:rPr sz="2200" spc="245" dirty="0">
                <a:solidFill>
                  <a:schemeClr val="tx1"/>
                </a:solidFill>
              </a:rPr>
              <a:t>P</a:t>
            </a:r>
            <a:r>
              <a:rPr sz="2200" spc="30" dirty="0">
                <a:solidFill>
                  <a:schemeClr val="tx1"/>
                </a:solidFill>
              </a:rPr>
              <a:t>e</a:t>
            </a:r>
            <a:r>
              <a:rPr sz="2200" spc="25" dirty="0">
                <a:solidFill>
                  <a:schemeClr val="tx1"/>
                </a:solidFill>
              </a:rPr>
              <a:t>n</a:t>
            </a:r>
            <a:r>
              <a:rPr sz="2200" spc="-20" dirty="0">
                <a:solidFill>
                  <a:schemeClr val="tx1"/>
                </a:solidFill>
              </a:rPr>
              <a:t>y</a:t>
            </a:r>
            <a:r>
              <a:rPr sz="2200" spc="35" dirty="0">
                <a:solidFill>
                  <a:schemeClr val="tx1"/>
                </a:solidFill>
              </a:rPr>
              <a:t>e</a:t>
            </a:r>
            <a:r>
              <a:rPr sz="2200" spc="30" dirty="0">
                <a:solidFill>
                  <a:schemeClr val="tx1"/>
                </a:solidFill>
              </a:rPr>
              <a:t>d</a:t>
            </a:r>
            <a:r>
              <a:rPr sz="2200" spc="-30" dirty="0">
                <a:solidFill>
                  <a:schemeClr val="tx1"/>
                </a:solidFill>
              </a:rPr>
              <a:t>i</a:t>
            </a:r>
            <a:r>
              <a:rPr sz="2200" spc="70" dirty="0">
                <a:solidFill>
                  <a:schemeClr val="tx1"/>
                </a:solidFill>
              </a:rPr>
              <a:t>a</a:t>
            </a:r>
            <a:r>
              <a:rPr sz="2200" spc="-90" dirty="0">
                <a:solidFill>
                  <a:schemeClr val="tx1"/>
                </a:solidFill>
              </a:rPr>
              <a:t> </a:t>
            </a:r>
            <a:r>
              <a:rPr sz="2200" spc="-65" dirty="0">
                <a:solidFill>
                  <a:schemeClr val="tx1"/>
                </a:solidFill>
              </a:rPr>
              <a:t>-</a:t>
            </a:r>
            <a:r>
              <a:rPr sz="2200" spc="-130" dirty="0">
                <a:solidFill>
                  <a:schemeClr val="tx1"/>
                </a:solidFill>
              </a:rPr>
              <a:t> </a:t>
            </a:r>
            <a:r>
              <a:rPr sz="2200" spc="245" dirty="0">
                <a:solidFill>
                  <a:schemeClr val="tx1"/>
                </a:solidFill>
              </a:rPr>
              <a:t>P</a:t>
            </a:r>
            <a:r>
              <a:rPr sz="2200" spc="35" dirty="0">
                <a:solidFill>
                  <a:schemeClr val="tx1"/>
                </a:solidFill>
              </a:rPr>
              <a:t>ema</a:t>
            </a:r>
            <a:r>
              <a:rPr sz="2200" spc="45" dirty="0">
                <a:solidFill>
                  <a:schemeClr val="tx1"/>
                </a:solidFill>
              </a:rPr>
              <a:t>k</a:t>
            </a:r>
            <a:r>
              <a:rPr sz="2200" spc="30" dirty="0">
                <a:solidFill>
                  <a:schemeClr val="tx1"/>
                </a:solidFill>
              </a:rPr>
              <a:t>ai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139" y="803656"/>
            <a:ext cx="3662045" cy="2435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3515" marR="384175" indent="-171450">
              <a:lnSpc>
                <a:spcPct val="100000"/>
              </a:lnSpc>
              <a:spcBef>
                <a:spcPts val="90"/>
              </a:spcBef>
              <a:buChar char="•"/>
              <a:tabLst>
                <a:tab pos="184150" algn="l"/>
              </a:tabLst>
            </a:pPr>
            <a:r>
              <a:rPr sz="1400" spc="-170" dirty="0">
                <a:latin typeface="Tahoma"/>
                <a:cs typeface="Tahoma"/>
              </a:rPr>
              <a:t>I</a:t>
            </a:r>
            <a:r>
              <a:rPr sz="1400" spc="-20" dirty="0">
                <a:latin typeface="Tahoma"/>
                <a:cs typeface="Tahoma"/>
              </a:rPr>
              <a:t>nt</a:t>
            </a:r>
            <a:r>
              <a:rPr sz="1400" spc="-40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85" dirty="0">
                <a:latin typeface="Tahoma"/>
                <a:cs typeface="Tahoma"/>
              </a:rPr>
              <a:t>t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20" dirty="0">
                <a:latin typeface="Tahoma"/>
                <a:cs typeface="Tahoma"/>
              </a:rPr>
              <a:t>un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10" dirty="0">
                <a:latin typeface="Tahoma"/>
                <a:cs typeface="Tahoma"/>
              </a:rPr>
              <a:t>in</a:t>
            </a:r>
            <a:r>
              <a:rPr sz="1400" spc="5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55" dirty="0">
                <a:latin typeface="Tahoma"/>
                <a:cs typeface="Tahoma"/>
              </a:rPr>
              <a:t>y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10" dirty="0">
                <a:latin typeface="Tahoma"/>
                <a:cs typeface="Tahoma"/>
              </a:rPr>
              <a:t>ia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n  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20" dirty="0">
                <a:latin typeface="Tahoma"/>
                <a:cs typeface="Tahoma"/>
              </a:rPr>
              <a:t>hu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-20" dirty="0">
                <a:latin typeface="Tahoma"/>
                <a:cs typeface="Tahoma"/>
              </a:rPr>
              <a:t>un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45" dirty="0">
                <a:latin typeface="Tahoma"/>
                <a:cs typeface="Tahoma"/>
              </a:rPr>
              <a:t>se</a:t>
            </a:r>
            <a:r>
              <a:rPr sz="1400" spc="40" dirty="0">
                <a:latin typeface="Tahoma"/>
                <a:cs typeface="Tahoma"/>
              </a:rPr>
              <a:t>c</a:t>
            </a:r>
            <a:r>
              <a:rPr sz="1400" spc="35" dirty="0">
                <a:latin typeface="Tahoma"/>
                <a:cs typeface="Tahoma"/>
              </a:rPr>
              <a:t>a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35" dirty="0">
                <a:latin typeface="Tahoma"/>
                <a:cs typeface="Tahoma"/>
              </a:rPr>
              <a:t>a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la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25" dirty="0">
                <a:latin typeface="Tahoma"/>
                <a:cs typeface="Tahoma"/>
              </a:rPr>
              <a:t>su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dirty="0">
                <a:latin typeface="Tahoma"/>
                <a:cs typeface="Tahoma"/>
              </a:rPr>
              <a:t>g  </a:t>
            </a:r>
            <a:r>
              <a:rPr sz="1400" i="1" spc="-10" dirty="0">
                <a:latin typeface="Arial"/>
                <a:cs typeface="Arial"/>
              </a:rPr>
              <a:t>(direct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spc="-15" dirty="0">
                <a:latin typeface="Arial"/>
                <a:cs typeface="Arial"/>
              </a:rPr>
              <a:t>communication)</a:t>
            </a:r>
            <a:endParaRPr sz="1400">
              <a:latin typeface="Arial"/>
              <a:cs typeface="Arial"/>
            </a:endParaRPr>
          </a:p>
          <a:p>
            <a:pPr marL="384810" marR="625475" lvl="1" indent="-143510">
              <a:lnSpc>
                <a:spcPct val="100000"/>
              </a:lnSpc>
              <a:spcBef>
                <a:spcPts val="300"/>
              </a:spcBef>
              <a:buChar char="–"/>
              <a:tabLst>
                <a:tab pos="384810" algn="l"/>
              </a:tabLst>
            </a:pPr>
            <a:r>
              <a:rPr sz="1200" spc="55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-5" dirty="0">
                <a:latin typeface="Tahoma"/>
                <a:cs typeface="Tahoma"/>
              </a:rPr>
              <a:t>h</a:t>
            </a:r>
            <a:r>
              <a:rPr sz="1200" spc="10" dirty="0">
                <a:latin typeface="Tahoma"/>
                <a:cs typeface="Tahoma"/>
              </a:rPr>
              <a:t>il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2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15" dirty="0">
                <a:latin typeface="Tahoma"/>
                <a:cs typeface="Tahoma"/>
              </a:rPr>
              <a:t>k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h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20" dirty="0">
                <a:latin typeface="Tahoma"/>
                <a:cs typeface="Tahoma"/>
              </a:rPr>
              <a:t>k</a:t>
            </a:r>
            <a:r>
              <a:rPr sz="1200" spc="-35" dirty="0">
                <a:latin typeface="Tahoma"/>
                <a:cs typeface="Tahoma"/>
              </a:rPr>
              <a:t>-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h</a:t>
            </a:r>
            <a:r>
              <a:rPr sz="1200" spc="1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k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“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ta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”  </a:t>
            </a:r>
            <a:r>
              <a:rPr sz="1200" spc="-55" dirty="0">
                <a:latin typeface="Tahoma"/>
                <a:cs typeface="Tahoma"/>
              </a:rPr>
              <a:t>(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15" dirty="0">
                <a:latin typeface="Tahoma"/>
                <a:cs typeface="Tahoma"/>
              </a:rPr>
              <a:t>st</a:t>
            </a:r>
            <a:r>
              <a:rPr sz="1200" spc="-10" dirty="0">
                <a:latin typeface="Tahoma"/>
                <a:cs typeface="Tahoma"/>
              </a:rPr>
              <a:t>r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20" dirty="0">
                <a:latin typeface="Tahoma"/>
                <a:cs typeface="Tahoma"/>
              </a:rPr>
              <a:t>b</a:t>
            </a:r>
            <a:r>
              <a:rPr sz="1200" spc="-5" dirty="0">
                <a:latin typeface="Tahoma"/>
                <a:cs typeface="Tahoma"/>
              </a:rPr>
              <a:t>u</a:t>
            </a:r>
            <a:r>
              <a:rPr sz="1200" spc="-20" dirty="0">
                <a:latin typeface="Tahoma"/>
                <a:cs typeface="Tahoma"/>
              </a:rPr>
              <a:t>t</a:t>
            </a:r>
            <a:r>
              <a:rPr sz="1200" spc="-30" dirty="0">
                <a:latin typeface="Tahoma"/>
                <a:cs typeface="Tahoma"/>
              </a:rPr>
              <a:t>o</a:t>
            </a:r>
            <a:r>
              <a:rPr sz="1200" spc="-100" dirty="0">
                <a:latin typeface="Tahoma"/>
                <a:cs typeface="Tahoma"/>
              </a:rPr>
              <a:t>r</a:t>
            </a:r>
            <a:r>
              <a:rPr sz="1200" spc="-30" dirty="0">
                <a:latin typeface="Tahoma"/>
                <a:cs typeface="Tahoma"/>
              </a:rPr>
              <a:t>,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15" dirty="0">
                <a:latin typeface="Tahoma"/>
                <a:cs typeface="Tahoma"/>
              </a:rPr>
              <a:t>ya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-25" dirty="0">
                <a:latin typeface="Tahoma"/>
                <a:cs typeface="Tahoma"/>
              </a:rPr>
              <a:t>u</a:t>
            </a:r>
            <a:r>
              <a:rPr sz="1200" spc="-100" dirty="0">
                <a:latin typeface="Tahoma"/>
                <a:cs typeface="Tahoma"/>
              </a:rPr>
              <a:t>r</a:t>
            </a:r>
            <a:r>
              <a:rPr sz="1200" spc="-30" dirty="0">
                <a:latin typeface="Tahoma"/>
                <a:cs typeface="Tahoma"/>
              </a:rPr>
              <a:t>,</a:t>
            </a:r>
            <a:r>
              <a:rPr sz="1200" spc="-2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0" dirty="0">
                <a:latin typeface="Tahoma"/>
                <a:cs typeface="Tahoma"/>
              </a:rPr>
              <a:t>sb</a:t>
            </a:r>
            <a:r>
              <a:rPr sz="1200" spc="-6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315"/>
              </a:spcBef>
              <a:buChar char="–"/>
              <a:tabLst>
                <a:tab pos="384810" algn="l"/>
              </a:tabLst>
            </a:pPr>
            <a:r>
              <a:rPr sz="1200" spc="55" dirty="0">
                <a:latin typeface="Tahoma"/>
                <a:cs typeface="Tahoma"/>
              </a:rPr>
              <a:t>M</a:t>
            </a:r>
            <a:r>
              <a:rPr sz="1200" spc="15" dirty="0">
                <a:latin typeface="Tahoma"/>
                <a:cs typeface="Tahoma"/>
              </a:rPr>
              <a:t>e</a:t>
            </a:r>
            <a:r>
              <a:rPr sz="1200" spc="20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5" dirty="0">
                <a:latin typeface="Tahoma"/>
                <a:cs typeface="Tahoma"/>
              </a:rPr>
              <a:t>u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5" dirty="0">
                <a:latin typeface="Tahoma"/>
                <a:cs typeface="Tahoma"/>
              </a:rPr>
              <a:t>a</a:t>
            </a:r>
            <a:r>
              <a:rPr sz="1200" spc="20" dirty="0">
                <a:latin typeface="Tahoma"/>
                <a:cs typeface="Tahoma"/>
              </a:rPr>
              <a:t>n</a:t>
            </a:r>
            <a:r>
              <a:rPr sz="1200" spc="-5" dirty="0">
                <a:latin typeface="Tahoma"/>
                <a:cs typeface="Tahoma"/>
              </a:rPr>
              <a:t>gi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b</a:t>
            </a:r>
            <a:r>
              <a:rPr sz="1200" spc="15" dirty="0">
                <a:latin typeface="Tahoma"/>
                <a:cs typeface="Tahoma"/>
              </a:rPr>
              <a:t>i</a:t>
            </a:r>
            <a:r>
              <a:rPr sz="1200" spc="25" dirty="0">
                <a:latin typeface="Tahoma"/>
                <a:cs typeface="Tahoma"/>
              </a:rPr>
              <a:t>aya</a:t>
            </a:r>
            <a:r>
              <a:rPr sz="1200" spc="-30" dirty="0">
                <a:latin typeface="Tahoma"/>
                <a:cs typeface="Tahoma"/>
              </a:rPr>
              <a:t>,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w</a:t>
            </a:r>
            <a:r>
              <a:rPr sz="1200" spc="-10" dirty="0">
                <a:latin typeface="Tahoma"/>
                <a:cs typeface="Tahoma"/>
              </a:rPr>
              <a:t>akt</a:t>
            </a:r>
            <a:r>
              <a:rPr sz="1200" spc="-15" dirty="0">
                <a:latin typeface="Tahoma"/>
                <a:cs typeface="Tahoma"/>
              </a:rPr>
              <a:t>u, </a:t>
            </a:r>
            <a:r>
              <a:rPr sz="1200" spc="20" dirty="0">
                <a:latin typeface="Tahoma"/>
                <a:cs typeface="Tahoma"/>
              </a:rPr>
              <a:t>d</a:t>
            </a:r>
            <a:r>
              <a:rPr sz="1200" spc="2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30" dirty="0">
                <a:latin typeface="Tahoma"/>
                <a:cs typeface="Tahoma"/>
              </a:rPr>
              <a:t>usa</a:t>
            </a:r>
            <a:r>
              <a:rPr sz="1200" spc="15" dirty="0">
                <a:latin typeface="Tahoma"/>
                <a:cs typeface="Tahoma"/>
              </a:rPr>
              <a:t>ha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b</a:t>
            </a:r>
            <a:r>
              <a:rPr sz="1200" spc="2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gi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kedua</a:t>
            </a:r>
            <a:endParaRPr sz="1200">
              <a:latin typeface="Tahoma"/>
              <a:cs typeface="Tahoma"/>
            </a:endParaRPr>
          </a:p>
          <a:p>
            <a:pPr marL="384810">
              <a:lnSpc>
                <a:spcPct val="100000"/>
              </a:lnSpc>
            </a:pPr>
            <a:r>
              <a:rPr sz="120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h</a:t>
            </a:r>
            <a:r>
              <a:rPr sz="1200" spc="-1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h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k</a:t>
            </a:r>
            <a:endParaRPr sz="1200">
              <a:latin typeface="Tahoma"/>
              <a:cs typeface="Tahoma"/>
            </a:endParaRPr>
          </a:p>
          <a:p>
            <a:pPr marL="384810" marR="180975" lvl="1" indent="-143510">
              <a:lnSpc>
                <a:spcPct val="100099"/>
              </a:lnSpc>
              <a:spcBef>
                <a:spcPts val="285"/>
              </a:spcBef>
              <a:buChar char="–"/>
              <a:tabLst>
                <a:tab pos="384810" algn="l"/>
                <a:tab pos="1280795" algn="l"/>
              </a:tabLst>
            </a:pPr>
            <a:r>
              <a:rPr sz="1200" spc="10" dirty="0">
                <a:latin typeface="Tahoma"/>
                <a:cs typeface="Tahoma"/>
              </a:rPr>
              <a:t>Dapat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menimbulkan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“konflik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saluran”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i="1" dirty="0">
                <a:latin typeface="Arial"/>
                <a:cs typeface="Arial"/>
              </a:rPr>
              <a:t>(channel </a:t>
            </a:r>
            <a:r>
              <a:rPr sz="1200" i="1" spc="-320" dirty="0">
                <a:latin typeface="Arial"/>
                <a:cs typeface="Arial"/>
              </a:rPr>
              <a:t> </a:t>
            </a:r>
            <a:r>
              <a:rPr sz="1200" i="1" spc="-5" dirty="0">
                <a:latin typeface="Arial"/>
                <a:cs typeface="Arial"/>
              </a:rPr>
              <a:t>confl</a:t>
            </a:r>
            <a:r>
              <a:rPr sz="1200" i="1" spc="-35" dirty="0">
                <a:latin typeface="Arial"/>
                <a:cs typeface="Arial"/>
              </a:rPr>
              <a:t>i</a:t>
            </a:r>
            <a:r>
              <a:rPr sz="1200" i="1" dirty="0">
                <a:latin typeface="Arial"/>
                <a:cs typeface="Arial"/>
              </a:rPr>
              <a:t>cts)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spc="-15" dirty="0">
                <a:latin typeface="Lucida Sans Unicode"/>
                <a:cs typeface="Lucida Sans Unicode"/>
              </a:rPr>
              <a:t>€</a:t>
            </a:r>
            <a:r>
              <a:rPr sz="1200" dirty="0">
                <a:latin typeface="Lucida Sans Unicode"/>
                <a:cs typeface="Lucida Sans Unicode"/>
              </a:rPr>
              <a:t>	</a:t>
            </a:r>
            <a:r>
              <a:rPr sz="1200" spc="50" dirty="0">
                <a:latin typeface="Tahoma"/>
                <a:cs typeface="Tahoma"/>
              </a:rPr>
              <a:t>se</a:t>
            </a:r>
            <a:r>
              <a:rPr sz="1200" dirty="0">
                <a:latin typeface="Tahoma"/>
                <a:cs typeface="Tahoma"/>
              </a:rPr>
              <a:t>b</a:t>
            </a:r>
            <a:r>
              <a:rPr sz="1200" spc="-5" dirty="0">
                <a:latin typeface="Tahoma"/>
                <a:cs typeface="Tahoma"/>
              </a:rPr>
              <a:t>u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h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sa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-5" dirty="0">
                <a:latin typeface="Tahoma"/>
                <a:cs typeface="Tahoma"/>
              </a:rPr>
              <a:t>u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ko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-5" dirty="0">
                <a:latin typeface="Tahoma"/>
                <a:cs typeface="Tahoma"/>
              </a:rPr>
              <a:t>un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15" dirty="0">
                <a:latin typeface="Tahoma"/>
                <a:cs typeface="Tahoma"/>
              </a:rPr>
              <a:t>ka</a:t>
            </a:r>
            <a:r>
              <a:rPr sz="1200" spc="25" dirty="0">
                <a:latin typeface="Tahoma"/>
                <a:cs typeface="Tahoma"/>
              </a:rPr>
              <a:t>si  </a:t>
            </a:r>
            <a:r>
              <a:rPr sz="1200" spc="5" dirty="0">
                <a:latin typeface="Tahoma"/>
                <a:cs typeface="Tahoma"/>
              </a:rPr>
              <a:t>menghalangi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saluran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komunikasi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yang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lain</a:t>
            </a:r>
            <a:endParaRPr sz="1200">
              <a:latin typeface="Tahoma"/>
              <a:cs typeface="Tahoma"/>
            </a:endParaRPr>
          </a:p>
          <a:p>
            <a:pPr marL="582930" marR="297180" lvl="2" indent="-113030">
              <a:lnSpc>
                <a:spcPct val="100000"/>
              </a:lnSpc>
              <a:spcBef>
                <a:spcPts val="315"/>
              </a:spcBef>
              <a:buChar char="•"/>
              <a:tabLst>
                <a:tab pos="582930" algn="l"/>
              </a:tabLst>
            </a:pPr>
            <a:r>
              <a:rPr sz="1100" spc="125" dirty="0">
                <a:latin typeface="Tahoma"/>
                <a:cs typeface="Tahoma"/>
              </a:rPr>
              <a:t>C</a:t>
            </a:r>
            <a:r>
              <a:rPr sz="1100" spc="20" dirty="0">
                <a:latin typeface="Tahoma"/>
                <a:cs typeface="Tahoma"/>
              </a:rPr>
              <a:t>o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-65" dirty="0">
                <a:latin typeface="Tahoma"/>
                <a:cs typeface="Tahoma"/>
              </a:rPr>
              <a:t>t</a:t>
            </a:r>
            <a:r>
              <a:rPr sz="1100" spc="20" dirty="0">
                <a:latin typeface="Tahoma"/>
                <a:cs typeface="Tahoma"/>
              </a:rPr>
              <a:t>o</a:t>
            </a:r>
            <a:r>
              <a:rPr sz="1100" spc="5" dirty="0">
                <a:latin typeface="Tahoma"/>
                <a:cs typeface="Tahoma"/>
              </a:rPr>
              <a:t>h</a:t>
            </a:r>
            <a:r>
              <a:rPr sz="1100" spc="-85" dirty="0">
                <a:latin typeface="Tahoma"/>
                <a:cs typeface="Tahoma"/>
              </a:rPr>
              <a:t>:</a:t>
            </a:r>
            <a:r>
              <a:rPr sz="1100" spc="-17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-75" dirty="0">
                <a:latin typeface="Tahoma"/>
                <a:cs typeface="Tahoma"/>
              </a:rPr>
              <a:t>j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l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o</a:t>
            </a:r>
            <a:r>
              <a:rPr sz="1100" spc="30" dirty="0">
                <a:latin typeface="Tahoma"/>
                <a:cs typeface="Tahoma"/>
              </a:rPr>
              <a:t>n</a:t>
            </a:r>
            <a:r>
              <a:rPr sz="1100" spc="-45" dirty="0">
                <a:latin typeface="Tahoma"/>
                <a:cs typeface="Tahoma"/>
              </a:rPr>
              <a:t>-</a:t>
            </a:r>
            <a:r>
              <a:rPr sz="1100" spc="-20" dirty="0">
                <a:latin typeface="Tahoma"/>
                <a:cs typeface="Tahoma"/>
              </a:rPr>
              <a:t>li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30" dirty="0">
                <a:latin typeface="Tahoma"/>
                <a:cs typeface="Tahoma"/>
              </a:rPr>
              <a:t>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m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10" dirty="0">
                <a:latin typeface="Tahoma"/>
                <a:cs typeface="Tahoma"/>
              </a:rPr>
              <a:t>g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-40" dirty="0">
                <a:latin typeface="Tahoma"/>
                <a:cs typeface="Tahoma"/>
              </a:rPr>
              <a:t>r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10" dirty="0">
                <a:latin typeface="Tahoma"/>
                <a:cs typeface="Tahoma"/>
              </a:rPr>
              <a:t>g</a:t>
            </a:r>
            <a:r>
              <a:rPr sz="1100" spc="-10" dirty="0">
                <a:latin typeface="Tahoma"/>
                <a:cs typeface="Tahoma"/>
              </a:rPr>
              <a:t>i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o</a:t>
            </a:r>
            <a:r>
              <a:rPr sz="1100" spc="-15" dirty="0">
                <a:latin typeface="Tahoma"/>
                <a:cs typeface="Tahoma"/>
              </a:rPr>
              <a:t>m</a:t>
            </a:r>
            <a:r>
              <a:rPr sz="1100" spc="40" dirty="0">
                <a:latin typeface="Tahoma"/>
                <a:cs typeface="Tahoma"/>
              </a:rPr>
              <a:t>z</a:t>
            </a:r>
            <a:r>
              <a:rPr sz="1100" spc="55" dirty="0">
                <a:latin typeface="Tahoma"/>
                <a:cs typeface="Tahoma"/>
              </a:rPr>
              <a:t>e</a:t>
            </a:r>
            <a:r>
              <a:rPr sz="1100" spc="-60" dirty="0">
                <a:latin typeface="Tahoma"/>
                <a:cs typeface="Tahoma"/>
              </a:rPr>
              <a:t>t  </a:t>
            </a:r>
            <a:r>
              <a:rPr sz="1100" spc="10" dirty="0">
                <a:latin typeface="Tahoma"/>
                <a:cs typeface="Tahoma"/>
              </a:rPr>
              <a:t>p</a:t>
            </a:r>
            <a:r>
              <a:rPr sz="1100" spc="35" dirty="0">
                <a:latin typeface="Tahoma"/>
                <a:cs typeface="Tahoma"/>
              </a:rPr>
              <a:t>e</a:t>
            </a:r>
            <a:r>
              <a:rPr sz="1100" spc="5" dirty="0">
                <a:latin typeface="Tahoma"/>
                <a:cs typeface="Tahoma"/>
              </a:rPr>
              <a:t>n</a:t>
            </a:r>
            <a:r>
              <a:rPr sz="1100" spc="-75" dirty="0">
                <a:latin typeface="Tahoma"/>
                <a:cs typeface="Tahoma"/>
              </a:rPr>
              <a:t>j</a:t>
            </a:r>
            <a:r>
              <a:rPr sz="1100" spc="5" dirty="0">
                <a:latin typeface="Tahoma"/>
                <a:cs typeface="Tahoma"/>
              </a:rPr>
              <a:t>u</a:t>
            </a:r>
            <a:r>
              <a:rPr sz="1100" spc="4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l</a:t>
            </a:r>
            <a:r>
              <a:rPr sz="1100" spc="20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n</a:t>
            </a:r>
            <a:r>
              <a:rPr sz="1100" spc="-15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o</a:t>
            </a:r>
            <a:r>
              <a:rPr sz="1100" spc="-20" dirty="0">
                <a:latin typeface="Tahoma"/>
                <a:cs typeface="Tahoma"/>
              </a:rPr>
              <a:t>f</a:t>
            </a:r>
            <a:r>
              <a:rPr sz="1100" spc="-15" dirty="0">
                <a:latin typeface="Tahoma"/>
                <a:cs typeface="Tahoma"/>
              </a:rPr>
              <a:t>f</a:t>
            </a:r>
            <a:r>
              <a:rPr sz="1100" spc="-45" dirty="0">
                <a:latin typeface="Tahoma"/>
                <a:cs typeface="Tahoma"/>
              </a:rPr>
              <a:t>-</a:t>
            </a:r>
            <a:r>
              <a:rPr sz="1100" spc="-20" dirty="0">
                <a:latin typeface="Tahoma"/>
                <a:cs typeface="Tahoma"/>
              </a:rPr>
              <a:t>li</a:t>
            </a:r>
            <a:r>
              <a:rPr sz="1100" spc="-15" dirty="0">
                <a:latin typeface="Tahoma"/>
                <a:cs typeface="Tahoma"/>
              </a:rPr>
              <a:t>n</a:t>
            </a:r>
            <a:r>
              <a:rPr sz="1100" spc="30" dirty="0">
                <a:latin typeface="Tahoma"/>
                <a:cs typeface="Tahoma"/>
              </a:rPr>
              <a:t>e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335" y="266211"/>
            <a:ext cx="2597785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40"/>
              </a:lnSpc>
            </a:pPr>
            <a:r>
              <a:rPr sz="2200" spc="90" dirty="0">
                <a:solidFill>
                  <a:srgbClr val="CCFFFF"/>
                </a:solidFill>
                <a:latin typeface="Tahoma"/>
                <a:cs typeface="Tahoma"/>
              </a:rPr>
              <a:t>H</a:t>
            </a:r>
            <a:r>
              <a:rPr sz="2200" spc="5" dirty="0">
                <a:solidFill>
                  <a:srgbClr val="CCFFFF"/>
                </a:solidFill>
                <a:latin typeface="Tahoma"/>
                <a:cs typeface="Tahoma"/>
              </a:rPr>
              <a:t>u</a:t>
            </a:r>
            <a:r>
              <a:rPr sz="2200" spc="-5" dirty="0">
                <a:solidFill>
                  <a:srgbClr val="CCFFFF"/>
                </a:solidFill>
                <a:latin typeface="Tahoma"/>
                <a:cs typeface="Tahoma"/>
              </a:rPr>
              <a:t>b</a:t>
            </a:r>
            <a:r>
              <a:rPr sz="2200" dirty="0">
                <a:solidFill>
                  <a:srgbClr val="CCFFFF"/>
                </a:solidFill>
                <a:latin typeface="Tahoma"/>
                <a:cs typeface="Tahoma"/>
              </a:rPr>
              <a:t>u</a:t>
            </a:r>
            <a:r>
              <a:rPr sz="2200" spc="-10" dirty="0">
                <a:solidFill>
                  <a:srgbClr val="CCFFFF"/>
                </a:solidFill>
                <a:latin typeface="Tahoma"/>
                <a:cs typeface="Tahoma"/>
              </a:rPr>
              <a:t>n</a:t>
            </a:r>
            <a:r>
              <a:rPr sz="2200" spc="25" dirty="0">
                <a:solidFill>
                  <a:srgbClr val="CCFFFF"/>
                </a:solidFill>
                <a:latin typeface="Tahoma"/>
                <a:cs typeface="Tahoma"/>
              </a:rPr>
              <a:t>g</a:t>
            </a:r>
            <a:r>
              <a:rPr sz="2200" spc="35" dirty="0">
                <a:solidFill>
                  <a:srgbClr val="CCFFFF"/>
                </a:solidFill>
                <a:latin typeface="Tahoma"/>
                <a:cs typeface="Tahoma"/>
              </a:rPr>
              <a:t>an</a:t>
            </a:r>
            <a:r>
              <a:rPr sz="2200" spc="-235" dirty="0">
                <a:solidFill>
                  <a:srgbClr val="CCFFFF"/>
                </a:solidFill>
                <a:latin typeface="Tahoma"/>
                <a:cs typeface="Tahoma"/>
              </a:rPr>
              <a:t> </a:t>
            </a:r>
            <a:r>
              <a:rPr sz="2200" spc="235" dirty="0">
                <a:solidFill>
                  <a:srgbClr val="CCFFFF"/>
                </a:solidFill>
                <a:latin typeface="Tahoma"/>
                <a:cs typeface="Tahoma"/>
              </a:rPr>
              <a:t>S</a:t>
            </a:r>
            <a:r>
              <a:rPr sz="2200" spc="-15" dirty="0">
                <a:solidFill>
                  <a:srgbClr val="CCFFFF"/>
                </a:solidFill>
                <a:latin typeface="Tahoma"/>
                <a:cs typeface="Tahoma"/>
              </a:rPr>
              <a:t>atu</a:t>
            </a:r>
            <a:r>
              <a:rPr sz="2200" spc="-60" dirty="0">
                <a:solidFill>
                  <a:srgbClr val="CCFFFF"/>
                </a:solidFill>
                <a:latin typeface="Tahoma"/>
                <a:cs typeface="Tahoma"/>
              </a:rPr>
              <a:t>-</a:t>
            </a:r>
            <a:r>
              <a:rPr sz="2200" spc="235" dirty="0">
                <a:solidFill>
                  <a:srgbClr val="CCFFFF"/>
                </a:solidFill>
                <a:latin typeface="Tahoma"/>
                <a:cs typeface="Tahoma"/>
              </a:rPr>
              <a:t>S</a:t>
            </a:r>
            <a:r>
              <a:rPr sz="2200" spc="-20" dirty="0">
                <a:solidFill>
                  <a:srgbClr val="CCFFFF"/>
                </a:solidFill>
                <a:latin typeface="Tahoma"/>
                <a:cs typeface="Tahoma"/>
              </a:rPr>
              <a:t>atu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0" y="380"/>
            <a:ext cx="4572000" cy="3429000"/>
            <a:chOff x="380" y="380"/>
            <a:chExt cx="4572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" y="380"/>
              <a:ext cx="4572000" cy="3429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10181" y="2248280"/>
              <a:ext cx="114300" cy="457200"/>
            </a:xfrm>
            <a:custGeom>
              <a:avLst/>
              <a:gdLst/>
              <a:ahLst/>
              <a:cxnLst/>
              <a:rect l="l" t="t" r="r" b="b"/>
              <a:pathLst>
                <a:path w="114300" h="457200">
                  <a:moveTo>
                    <a:pt x="114300" y="91440"/>
                  </a:moveTo>
                  <a:lnTo>
                    <a:pt x="57150" y="0"/>
                  </a:lnTo>
                  <a:lnTo>
                    <a:pt x="0" y="91440"/>
                  </a:lnTo>
                  <a:lnTo>
                    <a:pt x="28194" y="91440"/>
                  </a:lnTo>
                  <a:lnTo>
                    <a:pt x="28194" y="365760"/>
                  </a:lnTo>
                  <a:lnTo>
                    <a:pt x="0" y="365760"/>
                  </a:lnTo>
                  <a:lnTo>
                    <a:pt x="57150" y="457200"/>
                  </a:lnTo>
                  <a:lnTo>
                    <a:pt x="114300" y="365760"/>
                  </a:lnTo>
                  <a:lnTo>
                    <a:pt x="85344" y="365760"/>
                  </a:lnTo>
                  <a:lnTo>
                    <a:pt x="85344" y="91440"/>
                  </a:lnTo>
                  <a:lnTo>
                    <a:pt x="114300" y="91440"/>
                  </a:lnTo>
                  <a:close/>
                </a:path>
              </a:pathLst>
            </a:custGeom>
            <a:solidFill>
              <a:srgbClr val="7DA4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10180" y="2248280"/>
              <a:ext cx="114300" cy="457200"/>
            </a:xfrm>
            <a:custGeom>
              <a:avLst/>
              <a:gdLst/>
              <a:ahLst/>
              <a:cxnLst/>
              <a:rect l="l" t="t" r="r" b="b"/>
              <a:pathLst>
                <a:path w="114300" h="457200">
                  <a:moveTo>
                    <a:pt x="57150" y="457200"/>
                  </a:moveTo>
                  <a:lnTo>
                    <a:pt x="114300" y="365759"/>
                  </a:lnTo>
                  <a:lnTo>
                    <a:pt x="85344" y="365759"/>
                  </a:lnTo>
                  <a:lnTo>
                    <a:pt x="85344" y="91439"/>
                  </a:lnTo>
                  <a:lnTo>
                    <a:pt x="114300" y="91439"/>
                  </a:lnTo>
                  <a:lnTo>
                    <a:pt x="57150" y="0"/>
                  </a:lnTo>
                  <a:lnTo>
                    <a:pt x="0" y="91439"/>
                  </a:lnTo>
                  <a:lnTo>
                    <a:pt x="28194" y="91439"/>
                  </a:lnTo>
                  <a:lnTo>
                    <a:pt x="28194" y="365759"/>
                  </a:lnTo>
                  <a:lnTo>
                    <a:pt x="0" y="365759"/>
                  </a:lnTo>
                  <a:lnTo>
                    <a:pt x="57150" y="4572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7469" y="2533268"/>
              <a:ext cx="101345" cy="10744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72615" y="2236850"/>
              <a:ext cx="205104" cy="309880"/>
            </a:xfrm>
            <a:custGeom>
              <a:avLst/>
              <a:gdLst/>
              <a:ahLst/>
              <a:cxnLst/>
              <a:rect l="l" t="t" r="r" b="b"/>
              <a:pathLst>
                <a:path w="205105" h="309880">
                  <a:moveTo>
                    <a:pt x="204978" y="107442"/>
                  </a:moveTo>
                  <a:lnTo>
                    <a:pt x="204089" y="94488"/>
                  </a:lnTo>
                  <a:lnTo>
                    <a:pt x="197358" y="0"/>
                  </a:lnTo>
                  <a:lnTo>
                    <a:pt x="103632" y="54102"/>
                  </a:lnTo>
                  <a:lnTo>
                    <a:pt x="128778" y="67056"/>
                  </a:lnTo>
                  <a:lnTo>
                    <a:pt x="0" y="309372"/>
                  </a:lnTo>
                  <a:lnTo>
                    <a:pt x="65659" y="309372"/>
                  </a:lnTo>
                  <a:lnTo>
                    <a:pt x="179832" y="94488"/>
                  </a:lnTo>
                  <a:lnTo>
                    <a:pt x="204978" y="107442"/>
                  </a:lnTo>
                  <a:close/>
                </a:path>
              </a:pathLst>
            </a:custGeom>
            <a:solidFill>
              <a:srgbClr val="7DA4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7469" y="2236850"/>
              <a:ext cx="230504" cy="403860"/>
            </a:xfrm>
            <a:custGeom>
              <a:avLst/>
              <a:gdLst/>
              <a:ahLst/>
              <a:cxnLst/>
              <a:rect l="l" t="t" r="r" b="b"/>
              <a:pathLst>
                <a:path w="230505" h="403860">
                  <a:moveTo>
                    <a:pt x="7619" y="403860"/>
                  </a:moveTo>
                  <a:lnTo>
                    <a:pt x="101345" y="349758"/>
                  </a:lnTo>
                  <a:lnTo>
                    <a:pt x="76200" y="336804"/>
                  </a:lnTo>
                  <a:lnTo>
                    <a:pt x="204978" y="94487"/>
                  </a:lnTo>
                  <a:lnTo>
                    <a:pt x="230124" y="107442"/>
                  </a:lnTo>
                  <a:lnTo>
                    <a:pt x="222504" y="0"/>
                  </a:lnTo>
                  <a:lnTo>
                    <a:pt x="128778" y="54101"/>
                  </a:lnTo>
                  <a:lnTo>
                    <a:pt x="153924" y="67056"/>
                  </a:lnTo>
                  <a:lnTo>
                    <a:pt x="25145" y="309372"/>
                  </a:lnTo>
                  <a:lnTo>
                    <a:pt x="0" y="296418"/>
                  </a:lnTo>
                  <a:lnTo>
                    <a:pt x="7619" y="4038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82215" y="2331338"/>
              <a:ext cx="205104" cy="309880"/>
            </a:xfrm>
            <a:custGeom>
              <a:avLst/>
              <a:gdLst/>
              <a:ahLst/>
              <a:cxnLst/>
              <a:rect l="l" t="t" r="r" b="b"/>
              <a:pathLst>
                <a:path w="205105" h="309880">
                  <a:moveTo>
                    <a:pt x="204978" y="201930"/>
                  </a:moveTo>
                  <a:lnTo>
                    <a:pt x="179832" y="214884"/>
                  </a:lnTo>
                  <a:lnTo>
                    <a:pt x="65659" y="0"/>
                  </a:lnTo>
                  <a:lnTo>
                    <a:pt x="0" y="0"/>
                  </a:lnTo>
                  <a:lnTo>
                    <a:pt x="128778" y="242316"/>
                  </a:lnTo>
                  <a:lnTo>
                    <a:pt x="103632" y="255270"/>
                  </a:lnTo>
                  <a:lnTo>
                    <a:pt x="197358" y="309372"/>
                  </a:lnTo>
                  <a:lnTo>
                    <a:pt x="204089" y="214884"/>
                  </a:lnTo>
                  <a:lnTo>
                    <a:pt x="204978" y="201930"/>
                  </a:lnTo>
                  <a:close/>
                </a:path>
              </a:pathLst>
            </a:custGeom>
            <a:solidFill>
              <a:srgbClr val="7DA4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7069" y="2236850"/>
              <a:ext cx="101346" cy="10744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57069" y="2236850"/>
              <a:ext cx="230504" cy="403860"/>
            </a:xfrm>
            <a:custGeom>
              <a:avLst/>
              <a:gdLst/>
              <a:ahLst/>
              <a:cxnLst/>
              <a:rect l="l" t="t" r="r" b="b"/>
              <a:pathLst>
                <a:path w="230505" h="403860">
                  <a:moveTo>
                    <a:pt x="222503" y="403860"/>
                  </a:moveTo>
                  <a:lnTo>
                    <a:pt x="128777" y="349758"/>
                  </a:lnTo>
                  <a:lnTo>
                    <a:pt x="153924" y="336804"/>
                  </a:lnTo>
                  <a:lnTo>
                    <a:pt x="25146" y="94487"/>
                  </a:lnTo>
                  <a:lnTo>
                    <a:pt x="0" y="107442"/>
                  </a:lnTo>
                  <a:lnTo>
                    <a:pt x="7620" y="0"/>
                  </a:lnTo>
                  <a:lnTo>
                    <a:pt x="101346" y="54101"/>
                  </a:lnTo>
                  <a:lnTo>
                    <a:pt x="76200" y="67056"/>
                  </a:lnTo>
                  <a:lnTo>
                    <a:pt x="204977" y="309372"/>
                  </a:lnTo>
                  <a:lnTo>
                    <a:pt x="230124" y="296418"/>
                  </a:lnTo>
                  <a:lnTo>
                    <a:pt x="222503" y="4038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44955" y="1849373"/>
            <a:ext cx="492759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6200" marR="5080" indent="-64135">
              <a:lnSpc>
                <a:spcPct val="100000"/>
              </a:lnSpc>
              <a:spcBef>
                <a:spcPts val="110"/>
              </a:spcBef>
            </a:pP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900" spc="-1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ed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  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900" spc="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3023" y="3177108"/>
            <a:ext cx="88265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ma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-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9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900" spc="1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900" spc="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900" spc="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93378" y="2279078"/>
            <a:ext cx="586105" cy="205104"/>
            <a:chOff x="2393378" y="2279078"/>
            <a:chExt cx="586105" cy="205104"/>
          </a:xfrm>
        </p:grpSpPr>
        <p:sp>
          <p:nvSpPr>
            <p:cNvPr id="16" name="object 16"/>
            <p:cNvSpPr/>
            <p:nvPr/>
          </p:nvSpPr>
          <p:spPr>
            <a:xfrm>
              <a:off x="2400681" y="2362580"/>
              <a:ext cx="342900" cy="114300"/>
            </a:xfrm>
            <a:custGeom>
              <a:avLst/>
              <a:gdLst/>
              <a:ahLst/>
              <a:cxnLst/>
              <a:rect l="l" t="t" r="r" b="b"/>
              <a:pathLst>
                <a:path w="342900" h="114300">
                  <a:moveTo>
                    <a:pt x="171450" y="0"/>
                  </a:moveTo>
                  <a:lnTo>
                    <a:pt x="104775" y="4571"/>
                  </a:lnTo>
                  <a:lnTo>
                    <a:pt x="50291" y="16890"/>
                  </a:lnTo>
                  <a:lnTo>
                    <a:pt x="13462" y="35051"/>
                  </a:lnTo>
                  <a:lnTo>
                    <a:pt x="0" y="57150"/>
                  </a:lnTo>
                  <a:lnTo>
                    <a:pt x="13462" y="79248"/>
                  </a:lnTo>
                  <a:lnTo>
                    <a:pt x="50291" y="97408"/>
                  </a:lnTo>
                  <a:lnTo>
                    <a:pt x="104775" y="109727"/>
                  </a:lnTo>
                  <a:lnTo>
                    <a:pt x="171450" y="114300"/>
                  </a:lnTo>
                  <a:lnTo>
                    <a:pt x="238125" y="109727"/>
                  </a:lnTo>
                  <a:lnTo>
                    <a:pt x="292608" y="97408"/>
                  </a:lnTo>
                  <a:lnTo>
                    <a:pt x="329438" y="79248"/>
                  </a:lnTo>
                  <a:lnTo>
                    <a:pt x="342900" y="57150"/>
                  </a:lnTo>
                  <a:lnTo>
                    <a:pt x="329438" y="35051"/>
                  </a:lnTo>
                  <a:lnTo>
                    <a:pt x="292608" y="16890"/>
                  </a:lnTo>
                  <a:lnTo>
                    <a:pt x="238125" y="4571"/>
                  </a:lnTo>
                  <a:lnTo>
                    <a:pt x="171450" y="0"/>
                  </a:lnTo>
                  <a:close/>
                </a:path>
              </a:pathLst>
            </a:custGeom>
            <a:ln w="14287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581" y="2286380"/>
              <a:ext cx="228600" cy="114300"/>
            </a:xfrm>
            <a:custGeom>
              <a:avLst/>
              <a:gdLst/>
              <a:ahLst/>
              <a:cxnLst/>
              <a:rect l="l" t="t" r="r" b="b"/>
              <a:pathLst>
                <a:path w="228600" h="114300">
                  <a:moveTo>
                    <a:pt x="0" y="114300"/>
                  </a:moveTo>
                  <a:lnTo>
                    <a:pt x="228600" y="0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037458" y="2059685"/>
            <a:ext cx="1127760" cy="4394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900" i="1" spc="-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asi</a:t>
            </a:r>
            <a:r>
              <a:rPr sz="900" i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-s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900" i="1" spc="-1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u  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900" i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9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i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rs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00" i="1" spc="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at  </a:t>
            </a:r>
            <a:r>
              <a:rPr sz="900" i="1" spc="-5" dirty="0">
                <a:solidFill>
                  <a:srgbClr val="FFFFFF"/>
                </a:solidFill>
                <a:latin typeface="Arial"/>
                <a:cs typeface="Arial"/>
              </a:rPr>
              <a:t>personal/individual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76" y="6476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251079"/>
            <a:ext cx="392430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0" dirty="0">
                <a:solidFill>
                  <a:schemeClr val="tx1"/>
                </a:solidFill>
              </a:rPr>
              <a:t>Hubungan</a:t>
            </a:r>
            <a:r>
              <a:rPr sz="2000" spc="-135" dirty="0">
                <a:solidFill>
                  <a:schemeClr val="tx1"/>
                </a:solidFill>
              </a:rPr>
              <a:t> </a:t>
            </a:r>
            <a:r>
              <a:rPr sz="2000" spc="20" dirty="0">
                <a:solidFill>
                  <a:schemeClr val="tx1"/>
                </a:solidFill>
              </a:rPr>
              <a:t>Satu-Satu</a:t>
            </a:r>
            <a:r>
              <a:rPr sz="2000" spc="-85" dirty="0">
                <a:solidFill>
                  <a:schemeClr val="tx1"/>
                </a:solidFill>
              </a:rPr>
              <a:t> </a:t>
            </a:r>
            <a:r>
              <a:rPr sz="2000" spc="10" dirty="0">
                <a:solidFill>
                  <a:schemeClr val="tx1"/>
                </a:solidFill>
              </a:rPr>
              <a:t>dan</a:t>
            </a:r>
            <a:r>
              <a:rPr sz="2000" spc="-80" dirty="0">
                <a:solidFill>
                  <a:schemeClr val="tx1"/>
                </a:solidFill>
              </a:rPr>
              <a:t> </a:t>
            </a:r>
            <a:r>
              <a:rPr sz="2000" spc="10" dirty="0">
                <a:solidFill>
                  <a:schemeClr val="tx1"/>
                </a:solidFill>
              </a:rPr>
              <a:t>Loyalitas</a:t>
            </a:r>
            <a:endParaRPr sz="20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139" y="818261"/>
            <a:ext cx="3872865" cy="19615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3515" marR="277495" indent="-171450">
              <a:lnSpc>
                <a:spcPct val="100000"/>
              </a:lnSpc>
              <a:spcBef>
                <a:spcPts val="90"/>
              </a:spcBef>
              <a:buChar char="•"/>
              <a:tabLst>
                <a:tab pos="184150" algn="l"/>
              </a:tabLst>
            </a:pPr>
            <a:r>
              <a:rPr sz="1400" dirty="0">
                <a:latin typeface="Tahoma"/>
                <a:cs typeface="Tahoma"/>
              </a:rPr>
              <a:t>Mempertahankan </a:t>
            </a:r>
            <a:r>
              <a:rPr sz="1400" spc="-10" dirty="0">
                <a:latin typeface="Tahoma"/>
                <a:cs typeface="Tahoma"/>
              </a:rPr>
              <a:t>hubungan yang </a:t>
            </a:r>
            <a:r>
              <a:rPr sz="1400" spc="-15" dirty="0">
                <a:latin typeface="Tahoma"/>
                <a:cs typeface="Tahoma"/>
              </a:rPr>
              <a:t>bersifat </a:t>
            </a:r>
            <a:r>
              <a:rPr sz="1400" spc="-10" dirty="0">
                <a:latin typeface="Tahoma"/>
                <a:cs typeface="Tahoma"/>
              </a:rPr>
              <a:t> personal/individual </a:t>
            </a:r>
            <a:r>
              <a:rPr sz="1400" dirty="0">
                <a:latin typeface="Tahoma"/>
                <a:cs typeface="Tahoma"/>
              </a:rPr>
              <a:t>sangat </a:t>
            </a:r>
            <a:r>
              <a:rPr sz="1400" spc="-25" dirty="0">
                <a:latin typeface="Tahoma"/>
                <a:cs typeface="Tahoma"/>
              </a:rPr>
              <a:t>tergantung </a:t>
            </a:r>
            <a:r>
              <a:rPr sz="1400" spc="10" dirty="0">
                <a:latin typeface="Tahoma"/>
                <a:cs typeface="Tahoma"/>
              </a:rPr>
              <a:t>pada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loyalitas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pemakai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kepada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penyedia</a:t>
            </a:r>
            <a:r>
              <a:rPr sz="1400" spc="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layanan</a:t>
            </a:r>
            <a:endParaRPr sz="1400">
              <a:latin typeface="Tahoma"/>
              <a:cs typeface="Tahoma"/>
            </a:endParaRPr>
          </a:p>
          <a:p>
            <a:pPr marL="183515" marR="5080" indent="-171450">
              <a:lnSpc>
                <a:spcPct val="100000"/>
              </a:lnSpc>
              <a:spcBef>
                <a:spcPts val="290"/>
              </a:spcBef>
              <a:buChar char="•"/>
              <a:tabLst>
                <a:tab pos="184150" algn="l"/>
              </a:tabLst>
            </a:pPr>
            <a:r>
              <a:rPr sz="1400" spc="5" dirty="0">
                <a:latin typeface="Tahoma"/>
                <a:cs typeface="Tahoma"/>
              </a:rPr>
              <a:t>Loyalitas dalam </a:t>
            </a:r>
            <a:r>
              <a:rPr sz="1400" spc="-5" dirty="0">
                <a:latin typeface="Tahoma"/>
                <a:cs typeface="Tahoma"/>
              </a:rPr>
              <a:t>dunia </a:t>
            </a:r>
            <a:r>
              <a:rPr sz="1400" spc="-20" dirty="0">
                <a:latin typeface="Tahoma"/>
                <a:cs typeface="Tahoma"/>
              </a:rPr>
              <a:t>virtual </a:t>
            </a:r>
            <a:r>
              <a:rPr sz="1400" dirty="0">
                <a:latin typeface="Tahoma"/>
                <a:cs typeface="Tahoma"/>
              </a:rPr>
              <a:t>sangat </a:t>
            </a:r>
            <a:r>
              <a:rPr sz="1400" spc="-20" dirty="0">
                <a:latin typeface="Tahoma"/>
                <a:cs typeface="Tahoma"/>
              </a:rPr>
              <a:t>rentan 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terhadap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Arial"/>
                <a:cs typeface="Arial"/>
              </a:rPr>
              <a:t>kepercayaan</a:t>
            </a:r>
            <a:r>
              <a:rPr sz="1400" b="1" spc="5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(trust)</a:t>
            </a:r>
            <a:r>
              <a:rPr sz="1400" i="1" spc="-25" dirty="0">
                <a:latin typeface="Arial"/>
                <a:cs typeface="Arial"/>
              </a:rPr>
              <a:t> </a:t>
            </a:r>
            <a:r>
              <a:rPr sz="1400" spc="5" dirty="0">
                <a:latin typeface="Tahoma"/>
                <a:cs typeface="Tahoma"/>
              </a:rPr>
              <a:t>–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sekali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pemakai </a:t>
            </a:r>
            <a:r>
              <a:rPr sz="1400" spc="-42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tidak </a:t>
            </a:r>
            <a:r>
              <a:rPr sz="1400" spc="-5" dirty="0">
                <a:latin typeface="Tahoma"/>
                <a:cs typeface="Tahoma"/>
              </a:rPr>
              <a:t>percaya, </a:t>
            </a:r>
            <a:r>
              <a:rPr sz="1400" dirty="0">
                <a:latin typeface="Tahoma"/>
                <a:cs typeface="Tahoma"/>
              </a:rPr>
              <a:t>sangat </a:t>
            </a:r>
            <a:r>
              <a:rPr sz="1400" spc="-5" dirty="0">
                <a:latin typeface="Tahoma"/>
                <a:cs typeface="Tahoma"/>
              </a:rPr>
              <a:t>mudah baginya </a:t>
            </a:r>
            <a:r>
              <a:rPr sz="1400" spc="-30" dirty="0">
                <a:latin typeface="Tahoma"/>
                <a:cs typeface="Tahoma"/>
              </a:rPr>
              <a:t>untuk 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berpindah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ke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penyedia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yang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lain</a:t>
            </a:r>
            <a:endParaRPr sz="1400">
              <a:latin typeface="Tahoma"/>
              <a:cs typeface="Tahoma"/>
            </a:endParaRPr>
          </a:p>
          <a:p>
            <a:pPr marL="384810" marR="266700" indent="-143510">
              <a:lnSpc>
                <a:spcPct val="108300"/>
              </a:lnSpc>
              <a:spcBef>
                <a:spcPts val="85"/>
              </a:spcBef>
            </a:pPr>
            <a:r>
              <a:rPr sz="1200" spc="10" dirty="0">
                <a:latin typeface="Tahoma"/>
                <a:cs typeface="Tahoma"/>
              </a:rPr>
              <a:t>–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80" dirty="0">
                <a:latin typeface="Tahoma"/>
                <a:cs typeface="Tahoma"/>
              </a:rPr>
              <a:t>K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40" dirty="0">
                <a:latin typeface="Tahoma"/>
                <a:cs typeface="Tahoma"/>
              </a:rPr>
              <a:t>ca</a:t>
            </a:r>
            <a:r>
              <a:rPr sz="1200" spc="15" dirty="0">
                <a:latin typeface="Tahoma"/>
                <a:cs typeface="Tahoma"/>
              </a:rPr>
              <a:t>yaa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15" dirty="0">
                <a:latin typeface="Lucida Sans Unicode"/>
                <a:cs typeface="Lucida Sans Unicode"/>
              </a:rPr>
              <a:t>€</a:t>
            </a:r>
            <a:r>
              <a:rPr sz="1200" dirty="0">
                <a:latin typeface="Lucida Sans Unicode"/>
                <a:cs typeface="Lucida Sans Unicode"/>
              </a:rPr>
              <a:t> </a:t>
            </a:r>
            <a:r>
              <a:rPr sz="1200" spc="105" dirty="0">
                <a:latin typeface="Lucida Sans Unicode"/>
                <a:cs typeface="Lucida Sans Unicode"/>
              </a:rPr>
              <a:t> </a:t>
            </a:r>
            <a:r>
              <a:rPr sz="1200" spc="15" dirty="0">
                <a:latin typeface="Tahoma"/>
                <a:cs typeface="Tahoma"/>
              </a:rPr>
              <a:t>ke</a:t>
            </a:r>
            <a:r>
              <a:rPr sz="1200" spc="50" dirty="0">
                <a:latin typeface="Tahoma"/>
                <a:cs typeface="Tahoma"/>
              </a:rPr>
              <a:t>se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35" dirty="0">
                <a:latin typeface="Tahoma"/>
                <a:cs typeface="Tahoma"/>
              </a:rPr>
              <a:t>aa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5" dirty="0">
                <a:latin typeface="Tahoma"/>
                <a:cs typeface="Tahoma"/>
              </a:rPr>
              <a:t>ka</a:t>
            </a:r>
            <a:r>
              <a:rPr sz="1200" spc="-10" dirty="0">
                <a:latin typeface="Tahoma"/>
                <a:cs typeface="Tahoma"/>
              </a:rPr>
              <a:t>i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30" dirty="0">
                <a:latin typeface="Tahoma"/>
                <a:cs typeface="Tahoma"/>
              </a:rPr>
              <a:t>t</a:t>
            </a:r>
            <a:r>
              <a:rPr sz="1200" spc="-40" dirty="0">
                <a:latin typeface="Tahoma"/>
                <a:cs typeface="Tahoma"/>
              </a:rPr>
              <a:t>u</a:t>
            </a:r>
            <a:r>
              <a:rPr sz="1200" dirty="0">
                <a:latin typeface="Tahoma"/>
                <a:cs typeface="Tahoma"/>
              </a:rPr>
              <a:t>k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teta</a:t>
            </a:r>
            <a:r>
              <a:rPr sz="1200" dirty="0">
                <a:latin typeface="Tahoma"/>
                <a:cs typeface="Tahoma"/>
              </a:rPr>
              <a:t>p  b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te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5" dirty="0">
                <a:latin typeface="Tahoma"/>
                <a:cs typeface="Tahoma"/>
              </a:rPr>
              <a:t>aksi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15" dirty="0">
                <a:latin typeface="Tahoma"/>
                <a:cs typeface="Tahoma"/>
              </a:rPr>
              <a:t>ye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7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5" dirty="0">
                <a:latin typeface="Tahoma"/>
                <a:cs typeface="Tahoma"/>
              </a:rPr>
              <a:t>ya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9" y="150749"/>
            <a:ext cx="282321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165" dirty="0">
                <a:solidFill>
                  <a:schemeClr val="tx1"/>
                </a:solidFill>
              </a:rPr>
              <a:t>K</a:t>
            </a:r>
            <a:r>
              <a:rPr sz="2200" spc="35" dirty="0">
                <a:solidFill>
                  <a:schemeClr val="tx1"/>
                </a:solidFill>
              </a:rPr>
              <a:t>e</a:t>
            </a:r>
            <a:r>
              <a:rPr sz="2200" spc="30" dirty="0">
                <a:solidFill>
                  <a:schemeClr val="tx1"/>
                </a:solidFill>
              </a:rPr>
              <a:t>p</a:t>
            </a:r>
            <a:r>
              <a:rPr sz="2200" spc="35" dirty="0">
                <a:solidFill>
                  <a:schemeClr val="tx1"/>
                </a:solidFill>
              </a:rPr>
              <a:t>erca</a:t>
            </a:r>
            <a:r>
              <a:rPr sz="2200" spc="10" dirty="0">
                <a:solidFill>
                  <a:schemeClr val="tx1"/>
                </a:solidFill>
              </a:rPr>
              <a:t>y</a:t>
            </a:r>
            <a:r>
              <a:rPr sz="2200" spc="70" dirty="0">
                <a:solidFill>
                  <a:schemeClr val="tx1"/>
                </a:solidFill>
              </a:rPr>
              <a:t>a</a:t>
            </a:r>
            <a:r>
              <a:rPr sz="2200" spc="60" dirty="0">
                <a:solidFill>
                  <a:schemeClr val="tx1"/>
                </a:solidFill>
              </a:rPr>
              <a:t>a</a:t>
            </a:r>
            <a:r>
              <a:rPr sz="2200" dirty="0">
                <a:solidFill>
                  <a:schemeClr val="tx1"/>
                </a:solidFill>
              </a:rPr>
              <a:t>n</a:t>
            </a:r>
            <a:r>
              <a:rPr sz="2200" spc="-229" dirty="0">
                <a:solidFill>
                  <a:schemeClr val="tx1"/>
                </a:solidFill>
              </a:rPr>
              <a:t> </a:t>
            </a:r>
            <a:r>
              <a:rPr sz="2200" spc="245" dirty="0">
                <a:solidFill>
                  <a:schemeClr val="tx1"/>
                </a:solidFill>
              </a:rPr>
              <a:t>P</a:t>
            </a:r>
            <a:r>
              <a:rPr sz="2200" spc="35" dirty="0">
                <a:solidFill>
                  <a:schemeClr val="tx1"/>
                </a:solidFill>
              </a:rPr>
              <a:t>ema</a:t>
            </a:r>
            <a:r>
              <a:rPr sz="2200" spc="45" dirty="0">
                <a:solidFill>
                  <a:schemeClr val="tx1"/>
                </a:solidFill>
              </a:rPr>
              <a:t>k</a:t>
            </a:r>
            <a:r>
              <a:rPr sz="2200" spc="30" dirty="0">
                <a:solidFill>
                  <a:schemeClr val="tx1"/>
                </a:solidFill>
              </a:rPr>
              <a:t>ai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739" y="578609"/>
            <a:ext cx="3843020" cy="278236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83515" indent="-171450">
              <a:lnSpc>
                <a:spcPct val="100000"/>
              </a:lnSpc>
              <a:spcBef>
                <a:spcPts val="204"/>
              </a:spcBef>
              <a:buChar char="•"/>
              <a:tabLst>
                <a:tab pos="184150" algn="l"/>
              </a:tabLst>
            </a:pPr>
            <a:r>
              <a:rPr sz="1300" spc="15" dirty="0">
                <a:latin typeface="Tahoma"/>
                <a:cs typeface="Tahoma"/>
              </a:rPr>
              <a:t>Kebenaran</a:t>
            </a:r>
            <a:r>
              <a:rPr sz="1300" spc="5" dirty="0">
                <a:latin typeface="Tahoma"/>
                <a:cs typeface="Tahoma"/>
              </a:rPr>
              <a:t> </a:t>
            </a:r>
            <a:r>
              <a:rPr sz="1300" i="1" spc="-5" dirty="0">
                <a:latin typeface="Arial"/>
                <a:cs typeface="Arial"/>
              </a:rPr>
              <a:t>(correctness)</a:t>
            </a:r>
            <a:r>
              <a:rPr sz="1300" i="1" spc="-20" dirty="0">
                <a:latin typeface="Arial"/>
                <a:cs typeface="Arial"/>
              </a:rPr>
              <a:t> </a:t>
            </a:r>
            <a:r>
              <a:rPr sz="1300" spc="-5" dirty="0">
                <a:latin typeface="Tahoma"/>
                <a:cs typeface="Tahoma"/>
              </a:rPr>
              <a:t>informasi</a:t>
            </a:r>
            <a:endParaRPr sz="13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105"/>
              </a:spcBef>
              <a:buChar char="–"/>
              <a:tabLst>
                <a:tab pos="384810" algn="l"/>
              </a:tabLst>
            </a:pPr>
            <a:r>
              <a:rPr sz="1200" spc="-50" dirty="0">
                <a:latin typeface="Tahoma"/>
                <a:cs typeface="Tahoma"/>
              </a:rPr>
              <a:t>I</a:t>
            </a:r>
            <a:r>
              <a:rPr sz="1200" spc="-6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f</a:t>
            </a:r>
            <a:r>
              <a:rPr sz="1200" spc="-20" dirty="0">
                <a:latin typeface="Tahoma"/>
                <a:cs typeface="Tahoma"/>
              </a:rPr>
              <a:t>o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25" dirty="0">
                <a:latin typeface="Tahoma"/>
                <a:cs typeface="Tahoma"/>
              </a:rPr>
              <a:t>si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ya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50" dirty="0">
                <a:latin typeface="Tahoma"/>
                <a:cs typeface="Tahoma"/>
              </a:rPr>
              <a:t>sa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dirty="0">
                <a:latin typeface="Tahoma"/>
                <a:cs typeface="Tahoma"/>
              </a:rPr>
              <a:t>p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15" dirty="0">
                <a:latin typeface="Tahoma"/>
                <a:cs typeface="Tahoma"/>
              </a:rPr>
              <a:t>ka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se</a:t>
            </a:r>
            <a:r>
              <a:rPr sz="1200" spc="30" dirty="0">
                <a:latin typeface="Tahoma"/>
                <a:cs typeface="Tahoma"/>
              </a:rPr>
              <a:t>su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i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fa</a:t>
            </a:r>
            <a:r>
              <a:rPr sz="1200" spc="-10" dirty="0">
                <a:latin typeface="Tahoma"/>
                <a:cs typeface="Tahoma"/>
              </a:rPr>
              <a:t>kta</a:t>
            </a:r>
            <a:endParaRPr sz="12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buChar char="–"/>
              <a:tabLst>
                <a:tab pos="384810" algn="l"/>
              </a:tabLst>
            </a:pPr>
            <a:r>
              <a:rPr sz="1200" spc="-80" dirty="0">
                <a:latin typeface="Tahoma"/>
                <a:cs typeface="Tahoma"/>
              </a:rPr>
              <a:t>“</a:t>
            </a:r>
            <a:r>
              <a:rPr sz="1200" spc="-45" dirty="0">
                <a:latin typeface="Tahoma"/>
                <a:cs typeface="Tahoma"/>
              </a:rPr>
              <a:t>I</a:t>
            </a:r>
            <a:r>
              <a:rPr sz="1200" spc="-65" dirty="0">
                <a:latin typeface="Tahoma"/>
                <a:cs typeface="Tahoma"/>
              </a:rPr>
              <a:t>b</a:t>
            </a:r>
            <a:r>
              <a:rPr sz="1200" spc="-5" dirty="0">
                <a:latin typeface="Tahoma"/>
                <a:cs typeface="Tahoma"/>
              </a:rPr>
              <a:t>u</a:t>
            </a:r>
            <a:r>
              <a:rPr sz="1200" spc="5" dirty="0">
                <a:latin typeface="Tahoma"/>
                <a:cs typeface="Tahoma"/>
              </a:rPr>
              <a:t>ko</a:t>
            </a:r>
            <a:r>
              <a:rPr sz="1200" spc="-20" dirty="0">
                <a:latin typeface="Tahoma"/>
                <a:cs typeface="Tahoma"/>
              </a:rPr>
              <a:t>ta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I</a:t>
            </a:r>
            <a:r>
              <a:rPr sz="1200" spc="-6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35" dirty="0">
                <a:latin typeface="Tahoma"/>
                <a:cs typeface="Tahoma"/>
              </a:rPr>
              <a:t>esia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h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8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-5" dirty="0">
                <a:latin typeface="Tahoma"/>
                <a:cs typeface="Tahoma"/>
              </a:rPr>
              <a:t>un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-85" dirty="0">
                <a:latin typeface="Tahoma"/>
                <a:cs typeface="Tahoma"/>
              </a:rPr>
              <a:t>”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5" dirty="0">
                <a:latin typeface="Lucida Sans Unicode"/>
                <a:cs typeface="Lucida Sans Unicode"/>
              </a:rPr>
              <a:t>€</a:t>
            </a:r>
            <a:r>
              <a:rPr sz="1200" dirty="0">
                <a:latin typeface="Lucida Sans Unicode"/>
                <a:cs typeface="Lucida Sans Unicode"/>
              </a:rPr>
              <a:t> </a:t>
            </a:r>
            <a:r>
              <a:rPr sz="1200" spc="-45" dirty="0">
                <a:latin typeface="Lucida Sans Unicode"/>
                <a:cs typeface="Lucida Sans Unicode"/>
              </a:rPr>
              <a:t> </a:t>
            </a:r>
            <a:r>
              <a:rPr sz="1200" spc="-45" dirty="0">
                <a:latin typeface="Tahoma"/>
                <a:cs typeface="Tahoma"/>
              </a:rPr>
              <a:t>t</a:t>
            </a:r>
            <a:r>
              <a:rPr sz="1200" spc="-15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k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35" dirty="0">
                <a:latin typeface="Tahoma"/>
                <a:cs typeface="Tahoma"/>
              </a:rPr>
              <a:t>r</a:t>
            </a:r>
            <a:endParaRPr sz="12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305"/>
              </a:spcBef>
              <a:buChar char="•"/>
              <a:tabLst>
                <a:tab pos="184150" algn="l"/>
              </a:tabLst>
            </a:pPr>
            <a:r>
              <a:rPr sz="1300" spc="25" dirty="0">
                <a:latin typeface="Tahoma"/>
                <a:cs typeface="Tahoma"/>
              </a:rPr>
              <a:t>Ak</a:t>
            </a:r>
            <a:r>
              <a:rPr sz="1300" dirty="0">
                <a:latin typeface="Tahoma"/>
                <a:cs typeface="Tahoma"/>
              </a:rPr>
              <a:t>u</a:t>
            </a:r>
            <a:r>
              <a:rPr sz="1300" spc="10" dirty="0">
                <a:latin typeface="Tahoma"/>
                <a:cs typeface="Tahoma"/>
              </a:rPr>
              <a:t>rasi</a:t>
            </a:r>
            <a:r>
              <a:rPr sz="1300" spc="-95" dirty="0">
                <a:latin typeface="Tahoma"/>
                <a:cs typeface="Tahoma"/>
              </a:rPr>
              <a:t> </a:t>
            </a:r>
            <a:r>
              <a:rPr sz="1300" spc="10" dirty="0">
                <a:latin typeface="Tahoma"/>
                <a:cs typeface="Tahoma"/>
              </a:rPr>
              <a:t>i</a:t>
            </a:r>
            <a:r>
              <a:rPr sz="1300" spc="-30" dirty="0">
                <a:latin typeface="Tahoma"/>
                <a:cs typeface="Tahoma"/>
              </a:rPr>
              <a:t>n</a:t>
            </a:r>
            <a:r>
              <a:rPr sz="1300" dirty="0">
                <a:latin typeface="Tahoma"/>
                <a:cs typeface="Tahoma"/>
              </a:rPr>
              <a:t>formasi</a:t>
            </a:r>
            <a:endParaRPr sz="1300">
              <a:latin typeface="Tahoma"/>
              <a:cs typeface="Tahoma"/>
            </a:endParaRPr>
          </a:p>
          <a:p>
            <a:pPr marL="384810" lvl="1" indent="-143510">
              <a:lnSpc>
                <a:spcPts val="1370"/>
              </a:lnSpc>
              <a:spcBef>
                <a:spcPts val="150"/>
              </a:spcBef>
              <a:buChar char="–"/>
              <a:tabLst>
                <a:tab pos="384810" algn="l"/>
              </a:tabLst>
            </a:pPr>
            <a:r>
              <a:rPr sz="1200" spc="-15" dirty="0">
                <a:latin typeface="Tahoma"/>
                <a:cs typeface="Tahoma"/>
              </a:rPr>
              <a:t>Informasi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yang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disampaikan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memiliki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derajad</a:t>
            </a:r>
            <a:endParaRPr sz="1200">
              <a:latin typeface="Tahoma"/>
              <a:cs typeface="Tahoma"/>
            </a:endParaRPr>
          </a:p>
          <a:p>
            <a:pPr marL="384175">
              <a:lnSpc>
                <a:spcPts val="1370"/>
              </a:lnSpc>
            </a:pPr>
            <a:r>
              <a:rPr sz="1200" spc="-10" dirty="0">
                <a:latin typeface="Tahoma"/>
                <a:cs typeface="Tahoma"/>
              </a:rPr>
              <a:t>ket</a:t>
            </a:r>
            <a:r>
              <a:rPr sz="1200" spc="20" dirty="0">
                <a:latin typeface="Tahoma"/>
                <a:cs typeface="Tahoma"/>
              </a:rPr>
              <a:t>e</a:t>
            </a:r>
            <a:r>
              <a:rPr sz="1200" spc="25" dirty="0">
                <a:latin typeface="Tahoma"/>
                <a:cs typeface="Tahoma"/>
              </a:rPr>
              <a:t>l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10" dirty="0">
                <a:latin typeface="Tahoma"/>
                <a:cs typeface="Tahoma"/>
              </a:rPr>
              <a:t>tian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yan</a:t>
            </a:r>
            <a:r>
              <a:rPr sz="1200" spc="5" dirty="0">
                <a:latin typeface="Tahoma"/>
                <a:cs typeface="Tahoma"/>
              </a:rPr>
              <a:t>g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cuku</a:t>
            </a:r>
            <a:r>
              <a:rPr sz="1200" spc="5" dirty="0">
                <a:latin typeface="Tahoma"/>
                <a:cs typeface="Tahoma"/>
              </a:rPr>
              <a:t>p</a:t>
            </a:r>
            <a:endParaRPr sz="1200">
              <a:latin typeface="Tahoma"/>
              <a:cs typeface="Tahoma"/>
            </a:endParaRPr>
          </a:p>
          <a:p>
            <a:pPr marL="384175" marR="79375" lvl="1" indent="-143510">
              <a:lnSpc>
                <a:spcPts val="1300"/>
              </a:lnSpc>
              <a:spcBef>
                <a:spcPts val="325"/>
              </a:spcBef>
              <a:buChar char="–"/>
              <a:tabLst>
                <a:tab pos="384810" algn="l"/>
              </a:tabLst>
            </a:pPr>
            <a:r>
              <a:rPr sz="1200" spc="-80" dirty="0">
                <a:latin typeface="Tahoma"/>
                <a:cs typeface="Tahoma"/>
              </a:rPr>
              <a:t>“</a:t>
            </a:r>
            <a:r>
              <a:rPr sz="1200" spc="8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-5" dirty="0">
                <a:latin typeface="Tahoma"/>
                <a:cs typeface="Tahoma"/>
              </a:rPr>
              <a:t>un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15" dirty="0">
                <a:latin typeface="Tahoma"/>
                <a:cs typeface="Tahoma"/>
              </a:rPr>
              <a:t>ta</a:t>
            </a:r>
            <a:r>
              <a:rPr sz="1200" dirty="0">
                <a:latin typeface="Tahoma"/>
                <a:cs typeface="Tahoma"/>
              </a:rPr>
              <a:t>k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-10" dirty="0">
                <a:latin typeface="Tahoma"/>
                <a:cs typeface="Tahoma"/>
              </a:rPr>
              <a:t>i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65" dirty="0">
                <a:latin typeface="Tahoma"/>
                <a:cs typeface="Tahoma"/>
              </a:rPr>
              <a:t>Ja</a:t>
            </a:r>
            <a:r>
              <a:rPr sz="1200" spc="-55" dirty="0">
                <a:latin typeface="Tahoma"/>
                <a:cs typeface="Tahoma"/>
              </a:rPr>
              <a:t>w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8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75" dirty="0">
                <a:latin typeface="Tahoma"/>
                <a:cs typeface="Tahoma"/>
              </a:rPr>
              <a:t>t”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dirty="0">
                <a:latin typeface="Tahoma"/>
                <a:cs typeface="Tahoma"/>
              </a:rPr>
              <a:t>b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h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ku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t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dirty="0">
                <a:latin typeface="Tahoma"/>
                <a:cs typeface="Tahoma"/>
              </a:rPr>
              <a:t>pd  </a:t>
            </a:r>
            <a:r>
              <a:rPr sz="1200" spc="-80" dirty="0">
                <a:latin typeface="Tahoma"/>
                <a:cs typeface="Tahoma"/>
              </a:rPr>
              <a:t>“</a:t>
            </a:r>
            <a:r>
              <a:rPr sz="1200" spc="80" dirty="0">
                <a:latin typeface="Tahoma"/>
                <a:cs typeface="Tahoma"/>
              </a:rPr>
              <a:t>B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-5" dirty="0">
                <a:latin typeface="Tahoma"/>
                <a:cs typeface="Tahoma"/>
              </a:rPr>
              <a:t>un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15" dirty="0">
                <a:latin typeface="Tahoma"/>
                <a:cs typeface="Tahoma"/>
              </a:rPr>
              <a:t>ta</a:t>
            </a:r>
            <a:r>
              <a:rPr sz="1200" dirty="0">
                <a:latin typeface="Tahoma"/>
                <a:cs typeface="Tahoma"/>
              </a:rPr>
              <a:t>k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-10" dirty="0">
                <a:latin typeface="Tahoma"/>
                <a:cs typeface="Tahoma"/>
              </a:rPr>
              <a:t>i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I</a:t>
            </a:r>
            <a:r>
              <a:rPr sz="1200" spc="-6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35" dirty="0">
                <a:latin typeface="Tahoma"/>
                <a:cs typeface="Tahoma"/>
              </a:rPr>
              <a:t>esia</a:t>
            </a:r>
            <a:r>
              <a:rPr sz="1200" spc="-85" dirty="0">
                <a:latin typeface="Tahoma"/>
                <a:cs typeface="Tahoma"/>
              </a:rPr>
              <a:t>”</a:t>
            </a:r>
            <a:endParaRPr sz="12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190"/>
              </a:spcBef>
              <a:buChar char="•"/>
              <a:tabLst>
                <a:tab pos="184150" algn="l"/>
              </a:tabLst>
            </a:pPr>
            <a:r>
              <a:rPr sz="1300" dirty="0">
                <a:latin typeface="Tahoma"/>
                <a:cs typeface="Tahoma"/>
              </a:rPr>
              <a:t>Keterbaruan</a:t>
            </a:r>
            <a:r>
              <a:rPr sz="1300" spc="-10" dirty="0">
                <a:latin typeface="Tahoma"/>
                <a:cs typeface="Tahoma"/>
              </a:rPr>
              <a:t> </a:t>
            </a:r>
            <a:r>
              <a:rPr sz="1300" i="1" spc="-5" dirty="0">
                <a:latin typeface="Arial"/>
                <a:cs typeface="Arial"/>
              </a:rPr>
              <a:t>(update)</a:t>
            </a:r>
            <a:r>
              <a:rPr sz="1300" i="1" spc="-55" dirty="0">
                <a:latin typeface="Arial"/>
                <a:cs typeface="Arial"/>
              </a:rPr>
              <a:t> </a:t>
            </a:r>
            <a:r>
              <a:rPr sz="1300" spc="-5" dirty="0">
                <a:latin typeface="Tahoma"/>
                <a:cs typeface="Tahoma"/>
              </a:rPr>
              <a:t>informasi</a:t>
            </a:r>
            <a:endParaRPr sz="1300">
              <a:latin typeface="Tahoma"/>
              <a:cs typeface="Tahoma"/>
            </a:endParaRPr>
          </a:p>
          <a:p>
            <a:pPr marL="384175" marR="5080" lvl="1" indent="-143510">
              <a:lnSpc>
                <a:spcPct val="90900"/>
              </a:lnSpc>
              <a:spcBef>
                <a:spcPts val="280"/>
              </a:spcBef>
              <a:buChar char="–"/>
              <a:tabLst>
                <a:tab pos="384810" algn="l"/>
              </a:tabLst>
            </a:pPr>
            <a:r>
              <a:rPr sz="1200" spc="30" dirty="0">
                <a:latin typeface="Tahoma"/>
                <a:cs typeface="Tahoma"/>
              </a:rPr>
              <a:t>Dal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m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f</a:t>
            </a:r>
            <a:r>
              <a:rPr sz="1200" spc="-20" dirty="0">
                <a:latin typeface="Tahoma"/>
                <a:cs typeface="Tahoma"/>
              </a:rPr>
              <a:t>o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asi</a:t>
            </a:r>
            <a:r>
              <a:rPr sz="1200" spc="-30" dirty="0">
                <a:latin typeface="Tahoma"/>
                <a:cs typeface="Tahoma"/>
              </a:rPr>
              <a:t>,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f</a:t>
            </a:r>
            <a:r>
              <a:rPr sz="1200" spc="-20" dirty="0">
                <a:latin typeface="Tahoma"/>
                <a:cs typeface="Tahoma"/>
              </a:rPr>
              <a:t>o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25" dirty="0">
                <a:latin typeface="Tahoma"/>
                <a:cs typeface="Tahoma"/>
              </a:rPr>
              <a:t>si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yg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-5" dirty="0">
                <a:latin typeface="Tahoma"/>
                <a:cs typeface="Tahoma"/>
              </a:rPr>
              <a:t>u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t</a:t>
            </a:r>
            <a:r>
              <a:rPr sz="1200" spc="-15" dirty="0">
                <a:latin typeface="Tahoma"/>
                <a:cs typeface="Tahoma"/>
              </a:rPr>
              <a:t>i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dirty="0">
                <a:latin typeface="Tahoma"/>
                <a:cs typeface="Tahoma"/>
              </a:rPr>
              <a:t>k  diperbarui </a:t>
            </a:r>
            <a:r>
              <a:rPr sz="1200" spc="-20" dirty="0">
                <a:latin typeface="Tahoma"/>
                <a:cs typeface="Tahoma"/>
              </a:rPr>
              <a:t>juga </a:t>
            </a:r>
            <a:r>
              <a:rPr sz="1200" dirty="0">
                <a:latin typeface="Tahoma"/>
                <a:cs typeface="Tahoma"/>
              </a:rPr>
              <a:t>dapat </a:t>
            </a:r>
            <a:r>
              <a:rPr sz="1200" spc="-5" dirty="0">
                <a:latin typeface="Tahoma"/>
                <a:cs typeface="Tahoma"/>
              </a:rPr>
              <a:t>menurunkan </a:t>
            </a:r>
            <a:r>
              <a:rPr sz="1200" spc="10" dirty="0">
                <a:latin typeface="Tahoma"/>
                <a:cs typeface="Tahoma"/>
              </a:rPr>
              <a:t>kepercayaan, 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5" dirty="0">
                <a:latin typeface="Tahoma"/>
                <a:cs typeface="Tahoma"/>
              </a:rPr>
              <a:t>meskipun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kebenaran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dan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15" dirty="0">
                <a:latin typeface="Tahoma"/>
                <a:cs typeface="Tahoma"/>
              </a:rPr>
              <a:t>akurasinya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masih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terjaga</a:t>
            </a:r>
            <a:endParaRPr sz="1200">
              <a:latin typeface="Tahoma"/>
              <a:cs typeface="Tahoma"/>
            </a:endParaRPr>
          </a:p>
          <a:p>
            <a:pPr marL="183515" indent="-171450">
              <a:lnSpc>
                <a:spcPct val="100000"/>
              </a:lnSpc>
              <a:spcBef>
                <a:spcPts val="90"/>
              </a:spcBef>
              <a:buChar char="•"/>
              <a:tabLst>
                <a:tab pos="184150" algn="l"/>
              </a:tabLst>
            </a:pPr>
            <a:r>
              <a:rPr sz="1300" spc="30" dirty="0">
                <a:latin typeface="Tahoma"/>
                <a:cs typeface="Tahoma"/>
              </a:rPr>
              <a:t>Keama</a:t>
            </a:r>
            <a:r>
              <a:rPr sz="1300" dirty="0">
                <a:latin typeface="Tahoma"/>
                <a:cs typeface="Tahoma"/>
              </a:rPr>
              <a:t>n</a:t>
            </a:r>
            <a:r>
              <a:rPr sz="1300" spc="15" dirty="0">
                <a:latin typeface="Tahoma"/>
                <a:cs typeface="Tahoma"/>
              </a:rPr>
              <a:t>an</a:t>
            </a:r>
            <a:r>
              <a:rPr sz="1300" spc="-120" dirty="0">
                <a:latin typeface="Tahoma"/>
                <a:cs typeface="Tahoma"/>
              </a:rPr>
              <a:t> </a:t>
            </a:r>
            <a:r>
              <a:rPr sz="1300" spc="10" dirty="0">
                <a:latin typeface="Tahoma"/>
                <a:cs typeface="Tahoma"/>
              </a:rPr>
              <a:t>i</a:t>
            </a:r>
            <a:r>
              <a:rPr sz="1300" spc="-30" dirty="0">
                <a:latin typeface="Tahoma"/>
                <a:cs typeface="Tahoma"/>
              </a:rPr>
              <a:t>n</a:t>
            </a:r>
            <a:r>
              <a:rPr sz="1300" dirty="0">
                <a:latin typeface="Tahoma"/>
                <a:cs typeface="Tahoma"/>
              </a:rPr>
              <a:t>formasi</a:t>
            </a:r>
            <a:endParaRPr sz="13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100"/>
              </a:spcBef>
              <a:buChar char="–"/>
              <a:tabLst>
                <a:tab pos="384810" algn="l"/>
              </a:tabLst>
            </a:pPr>
            <a:r>
              <a:rPr sz="1200" spc="-105" dirty="0">
                <a:latin typeface="Tahoma"/>
                <a:cs typeface="Tahoma"/>
              </a:rPr>
              <a:t>T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15" dirty="0">
                <a:latin typeface="Tahoma"/>
                <a:cs typeface="Tahoma"/>
              </a:rPr>
              <a:t>ka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70" dirty="0">
                <a:latin typeface="Tahoma"/>
                <a:cs typeface="Tahoma"/>
              </a:rPr>
              <a:t>t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dirty="0">
                <a:latin typeface="Tahoma"/>
                <a:cs typeface="Tahoma"/>
              </a:rPr>
              <a:t>g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10" dirty="0">
                <a:latin typeface="Tahoma"/>
                <a:cs typeface="Tahoma"/>
              </a:rPr>
              <a:t>il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i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35" dirty="0">
                <a:latin typeface="Tahoma"/>
                <a:cs typeface="Tahoma"/>
              </a:rPr>
              <a:t>e</a:t>
            </a:r>
            <a:r>
              <a:rPr sz="1200" spc="5" dirty="0">
                <a:latin typeface="Tahoma"/>
                <a:cs typeface="Tahoma"/>
              </a:rPr>
              <a:t>ko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15" dirty="0">
                <a:latin typeface="Tahoma"/>
                <a:cs typeface="Tahoma"/>
              </a:rPr>
              <a:t>o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60" dirty="0">
                <a:latin typeface="Tahoma"/>
                <a:cs typeface="Tahoma"/>
              </a:rPr>
              <a:t>s</a:t>
            </a:r>
            <a:r>
              <a:rPr sz="1200" spc="-130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i</a:t>
            </a:r>
            <a:r>
              <a:rPr sz="1200" spc="-5" dirty="0">
                <a:latin typeface="Tahoma"/>
                <a:cs typeface="Tahoma"/>
              </a:rPr>
              <a:t>n</a:t>
            </a:r>
            <a:r>
              <a:rPr sz="1200" spc="-15" dirty="0">
                <a:latin typeface="Tahoma"/>
                <a:cs typeface="Tahoma"/>
              </a:rPr>
              <a:t>f</a:t>
            </a:r>
            <a:r>
              <a:rPr sz="1200" spc="-20" dirty="0">
                <a:latin typeface="Tahoma"/>
                <a:cs typeface="Tahoma"/>
              </a:rPr>
              <a:t>o</a:t>
            </a:r>
            <a:r>
              <a:rPr sz="1200" spc="-30" dirty="0">
                <a:latin typeface="Tahoma"/>
                <a:cs typeface="Tahoma"/>
              </a:rPr>
              <a:t>r</a:t>
            </a:r>
            <a:r>
              <a:rPr sz="1200" spc="-50" dirty="0">
                <a:latin typeface="Tahoma"/>
                <a:cs typeface="Tahoma"/>
              </a:rPr>
              <a:t>m</a:t>
            </a:r>
            <a:r>
              <a:rPr sz="1200" spc="35" dirty="0">
                <a:latin typeface="Tahoma"/>
                <a:cs typeface="Tahoma"/>
              </a:rPr>
              <a:t>a</a:t>
            </a:r>
            <a:r>
              <a:rPr sz="1200" spc="25" dirty="0">
                <a:latin typeface="Tahoma"/>
                <a:cs typeface="Tahoma"/>
              </a:rPr>
              <a:t>si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1999" cy="34353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27" y="221488"/>
            <a:ext cx="291338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90" dirty="0">
                <a:solidFill>
                  <a:schemeClr val="tx1"/>
                </a:solidFill>
              </a:rPr>
              <a:t>H</a:t>
            </a:r>
            <a:r>
              <a:rPr sz="2200" spc="5" dirty="0">
                <a:solidFill>
                  <a:schemeClr val="tx1"/>
                </a:solidFill>
              </a:rPr>
              <a:t>u</a:t>
            </a:r>
            <a:r>
              <a:rPr sz="2200" spc="-5" dirty="0">
                <a:solidFill>
                  <a:schemeClr val="tx1"/>
                </a:solidFill>
              </a:rPr>
              <a:t>b</a:t>
            </a:r>
            <a:r>
              <a:rPr sz="2200" dirty="0">
                <a:solidFill>
                  <a:schemeClr val="tx1"/>
                </a:solidFill>
              </a:rPr>
              <a:t>u</a:t>
            </a:r>
            <a:r>
              <a:rPr sz="2200" spc="-10" dirty="0">
                <a:solidFill>
                  <a:schemeClr val="tx1"/>
                </a:solidFill>
              </a:rPr>
              <a:t>n</a:t>
            </a:r>
            <a:r>
              <a:rPr sz="2200" spc="25" dirty="0">
                <a:solidFill>
                  <a:schemeClr val="tx1"/>
                </a:solidFill>
              </a:rPr>
              <a:t>g</a:t>
            </a:r>
            <a:r>
              <a:rPr sz="2200" spc="35" dirty="0">
                <a:solidFill>
                  <a:schemeClr val="tx1"/>
                </a:solidFill>
              </a:rPr>
              <a:t>an</a:t>
            </a:r>
            <a:r>
              <a:rPr sz="2200" spc="-235" dirty="0">
                <a:solidFill>
                  <a:schemeClr val="tx1"/>
                </a:solidFill>
              </a:rPr>
              <a:t> </a:t>
            </a:r>
            <a:r>
              <a:rPr sz="2200" spc="50" dirty="0">
                <a:solidFill>
                  <a:schemeClr val="tx1"/>
                </a:solidFill>
              </a:rPr>
              <a:t>Jus</a:t>
            </a:r>
            <a:r>
              <a:rPr sz="2200" spc="40" dirty="0">
                <a:solidFill>
                  <a:schemeClr val="tx1"/>
                </a:solidFill>
              </a:rPr>
              <a:t>t</a:t>
            </a:r>
            <a:r>
              <a:rPr sz="2200" spc="-60" dirty="0">
                <a:solidFill>
                  <a:schemeClr val="tx1"/>
                </a:solidFill>
              </a:rPr>
              <a:t>-</a:t>
            </a:r>
            <a:r>
              <a:rPr sz="2200" spc="-20" dirty="0">
                <a:solidFill>
                  <a:schemeClr val="tx1"/>
                </a:solidFill>
              </a:rPr>
              <a:t>i</a:t>
            </a:r>
            <a:r>
              <a:rPr sz="2200" spc="-15" dirty="0">
                <a:solidFill>
                  <a:schemeClr val="tx1"/>
                </a:solidFill>
              </a:rPr>
              <a:t>n</a:t>
            </a:r>
            <a:r>
              <a:rPr sz="2200" spc="-55" dirty="0">
                <a:solidFill>
                  <a:schemeClr val="tx1"/>
                </a:solidFill>
              </a:rPr>
              <a:t>-</a:t>
            </a:r>
            <a:r>
              <a:rPr sz="2200" spc="5" dirty="0">
                <a:solidFill>
                  <a:schemeClr val="tx1"/>
                </a:solidFill>
              </a:rPr>
              <a:t>T</a:t>
            </a:r>
            <a:r>
              <a:rPr sz="2200" spc="-30" dirty="0">
                <a:solidFill>
                  <a:schemeClr val="tx1"/>
                </a:solidFill>
              </a:rPr>
              <a:t>i</a:t>
            </a:r>
            <a:r>
              <a:rPr sz="2200" spc="-5" dirty="0">
                <a:solidFill>
                  <a:schemeClr val="tx1"/>
                </a:solidFill>
              </a:rPr>
              <a:t>m</a:t>
            </a:r>
            <a:r>
              <a:rPr sz="2200" spc="65" dirty="0">
                <a:solidFill>
                  <a:schemeClr val="tx1"/>
                </a:solidFill>
              </a:rPr>
              <a:t>e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315" y="803656"/>
            <a:ext cx="3829050" cy="2058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6690" marR="5080" indent="-173990">
              <a:lnSpc>
                <a:spcPct val="100000"/>
              </a:lnSpc>
              <a:spcBef>
                <a:spcPts val="90"/>
              </a:spcBef>
              <a:buChar char="•"/>
              <a:tabLst>
                <a:tab pos="186690" algn="l"/>
              </a:tabLst>
            </a:pPr>
            <a:r>
              <a:rPr sz="1400" spc="10" dirty="0">
                <a:latin typeface="Tahoma"/>
                <a:cs typeface="Tahoma"/>
              </a:rPr>
              <a:t>Dengan </a:t>
            </a:r>
            <a:r>
              <a:rPr sz="1400" spc="5" dirty="0">
                <a:latin typeface="Tahoma"/>
                <a:cs typeface="Tahoma"/>
              </a:rPr>
              <a:t>kemudahan </a:t>
            </a:r>
            <a:r>
              <a:rPr sz="1400" dirty="0">
                <a:latin typeface="Tahoma"/>
                <a:cs typeface="Tahoma"/>
              </a:rPr>
              <a:t>dan </a:t>
            </a:r>
            <a:r>
              <a:rPr sz="1400" spc="5" dirty="0">
                <a:latin typeface="Tahoma"/>
                <a:cs typeface="Tahoma"/>
              </a:rPr>
              <a:t>kecepatan 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-20" dirty="0">
                <a:latin typeface="Tahoma"/>
                <a:cs typeface="Tahoma"/>
              </a:rPr>
              <a:t>un</a:t>
            </a:r>
            <a:r>
              <a:rPr sz="1400" spc="-5" dirty="0">
                <a:latin typeface="Tahoma"/>
                <a:cs typeface="Tahoma"/>
              </a:rPr>
              <a:t>i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5" dirty="0">
                <a:latin typeface="Tahoma"/>
                <a:cs typeface="Tahoma"/>
              </a:rPr>
              <a:t>si,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hu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-20" dirty="0">
                <a:latin typeface="Tahoma"/>
                <a:cs typeface="Tahoma"/>
              </a:rPr>
              <a:t>un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spc="-15" dirty="0">
                <a:latin typeface="Tahoma"/>
                <a:cs typeface="Tahoma"/>
              </a:rPr>
              <a:t>i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–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-55" dirty="0">
                <a:latin typeface="Tahoma"/>
                <a:cs typeface="Tahoma"/>
              </a:rPr>
              <a:t>y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10" dirty="0">
                <a:latin typeface="Tahoma"/>
                <a:cs typeface="Tahoma"/>
              </a:rPr>
              <a:t>ia  </a:t>
            </a:r>
            <a:r>
              <a:rPr sz="1400" dirty="0">
                <a:latin typeface="Tahoma"/>
                <a:cs typeface="Tahoma"/>
              </a:rPr>
              <a:t>layanan </a:t>
            </a:r>
            <a:r>
              <a:rPr sz="1400" spc="5" dirty="0">
                <a:latin typeface="Tahoma"/>
                <a:cs typeface="Tahoma"/>
              </a:rPr>
              <a:t>sering </a:t>
            </a:r>
            <a:r>
              <a:rPr sz="1400" spc="-15" dirty="0">
                <a:latin typeface="Tahoma"/>
                <a:cs typeface="Tahoma"/>
              </a:rPr>
              <a:t>bersifat </a:t>
            </a:r>
            <a:r>
              <a:rPr sz="1400" i="1" spc="-10" dirty="0">
                <a:latin typeface="Arial"/>
                <a:cs typeface="Arial"/>
              </a:rPr>
              <a:t>just-in-time </a:t>
            </a:r>
            <a:r>
              <a:rPr sz="1400" spc="-20" dirty="0">
                <a:latin typeface="Lucida Sans Unicode"/>
                <a:cs typeface="Lucida Sans Unicode"/>
              </a:rPr>
              <a:t>€</a:t>
            </a:r>
            <a:r>
              <a:rPr sz="1400" spc="-15" dirty="0">
                <a:latin typeface="Lucida Sans Unicode"/>
                <a:cs typeface="Lucida Sans Unicode"/>
              </a:rPr>
              <a:t> </a:t>
            </a:r>
            <a:r>
              <a:rPr sz="1400" spc="-5" dirty="0">
                <a:latin typeface="Tahoma"/>
                <a:cs typeface="Tahoma"/>
              </a:rPr>
              <a:t>interaksi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berlangsung </a:t>
            </a:r>
            <a:r>
              <a:rPr sz="1400" spc="25" dirty="0">
                <a:latin typeface="Tahoma"/>
                <a:cs typeface="Tahoma"/>
              </a:rPr>
              <a:t>secara </a:t>
            </a:r>
            <a:r>
              <a:rPr sz="1400" i="1" spc="-20" dirty="0">
                <a:latin typeface="Arial"/>
                <a:cs typeface="Arial"/>
              </a:rPr>
              <a:t>ad-hoc</a:t>
            </a:r>
            <a:r>
              <a:rPr sz="1400" spc="-20" dirty="0">
                <a:latin typeface="Tahoma"/>
                <a:cs typeface="Tahoma"/>
              </a:rPr>
              <a:t>, </a:t>
            </a:r>
            <a:r>
              <a:rPr sz="1400" dirty="0">
                <a:latin typeface="Tahoma"/>
                <a:cs typeface="Tahoma"/>
              </a:rPr>
              <a:t>mendadak, dan 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tidak</a:t>
            </a:r>
            <a:r>
              <a:rPr sz="1400" spc="-8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berkelanjutan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i="1" spc="-15" dirty="0">
                <a:latin typeface="Arial"/>
                <a:cs typeface="Arial"/>
              </a:rPr>
              <a:t>(once-only)</a:t>
            </a:r>
            <a:endParaRPr sz="14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290"/>
              </a:spcBef>
              <a:buChar char="•"/>
              <a:tabLst>
                <a:tab pos="186690" algn="l"/>
              </a:tabLst>
            </a:pPr>
            <a:r>
              <a:rPr sz="1400" spc="105" dirty="0">
                <a:latin typeface="Tahoma"/>
                <a:cs typeface="Tahoma"/>
              </a:rPr>
              <a:t>K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50" dirty="0">
                <a:latin typeface="Tahoma"/>
                <a:cs typeface="Tahoma"/>
              </a:rPr>
              <a:t>s</a:t>
            </a:r>
            <a:r>
              <a:rPr sz="1400" spc="45" dirty="0">
                <a:latin typeface="Tahoma"/>
                <a:cs typeface="Tahoma"/>
              </a:rPr>
              <a:t>e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</a:t>
            </a:r>
            <a:r>
              <a:rPr sz="1400" spc="30" dirty="0">
                <a:latin typeface="Tahoma"/>
                <a:cs typeface="Tahoma"/>
              </a:rPr>
              <a:t>si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hu</a:t>
            </a:r>
            <a:r>
              <a:rPr sz="1400" spc="-10" dirty="0">
                <a:latin typeface="Tahoma"/>
                <a:cs typeface="Tahoma"/>
              </a:rPr>
              <a:t>b</a:t>
            </a:r>
            <a:r>
              <a:rPr sz="1400" spc="-20" dirty="0">
                <a:latin typeface="Tahoma"/>
                <a:cs typeface="Tahoma"/>
              </a:rPr>
              <a:t>un</a:t>
            </a:r>
            <a:r>
              <a:rPr sz="1400" spc="-10" dirty="0">
                <a:latin typeface="Tahoma"/>
                <a:cs typeface="Tahoma"/>
              </a:rPr>
              <a:t>g</a:t>
            </a:r>
            <a:r>
              <a:rPr sz="1400" spc="30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 </a:t>
            </a:r>
            <a:r>
              <a:rPr sz="1400" i="1" spc="-5" dirty="0">
                <a:latin typeface="Arial"/>
                <a:cs typeface="Arial"/>
              </a:rPr>
              <a:t>j</a:t>
            </a:r>
            <a:r>
              <a:rPr sz="1400" i="1" spc="-10" dirty="0">
                <a:latin typeface="Arial"/>
                <a:cs typeface="Arial"/>
              </a:rPr>
              <a:t>u</a:t>
            </a:r>
            <a:r>
              <a:rPr sz="1400" i="1" spc="-5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spc="-15" dirty="0">
                <a:latin typeface="Arial"/>
                <a:cs typeface="Arial"/>
              </a:rPr>
              <a:t>-</a:t>
            </a:r>
            <a:r>
              <a:rPr sz="1400" i="1" spc="-5" dirty="0">
                <a:latin typeface="Arial"/>
                <a:cs typeface="Arial"/>
              </a:rPr>
              <a:t>i</a:t>
            </a:r>
            <a:r>
              <a:rPr sz="1400" i="1" spc="-15" dirty="0">
                <a:latin typeface="Arial"/>
                <a:cs typeface="Arial"/>
              </a:rPr>
              <a:t>n-</a:t>
            </a:r>
            <a:r>
              <a:rPr sz="1400" i="1" spc="-5" dirty="0">
                <a:latin typeface="Arial"/>
                <a:cs typeface="Arial"/>
              </a:rPr>
              <a:t>ti</a:t>
            </a:r>
            <a:r>
              <a:rPr sz="1400" i="1" spc="-40" dirty="0">
                <a:latin typeface="Arial"/>
                <a:cs typeface="Arial"/>
              </a:rPr>
              <a:t>m</a:t>
            </a:r>
            <a:r>
              <a:rPr sz="1400" i="1" spc="-5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 marL="384810" lvl="1" indent="-143510">
              <a:lnSpc>
                <a:spcPct val="100000"/>
              </a:lnSpc>
              <a:spcBef>
                <a:spcPts val="315"/>
              </a:spcBef>
              <a:buChar char="–"/>
              <a:tabLst>
                <a:tab pos="384810" algn="l"/>
              </a:tabLst>
            </a:pPr>
            <a:r>
              <a:rPr sz="1400" spc="20" dirty="0">
                <a:latin typeface="Tahoma"/>
                <a:cs typeface="Tahoma"/>
              </a:rPr>
              <a:t>Perlu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kecepatan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respons</a:t>
            </a:r>
            <a:endParaRPr sz="1400">
              <a:latin typeface="Tahoma"/>
              <a:cs typeface="Tahoma"/>
            </a:endParaRPr>
          </a:p>
          <a:p>
            <a:pPr marL="384810" lvl="1" indent="-143510">
              <a:lnSpc>
                <a:spcPct val="100000"/>
              </a:lnSpc>
              <a:spcBef>
                <a:spcPts val="285"/>
              </a:spcBef>
              <a:buChar char="–"/>
              <a:tabLst>
                <a:tab pos="384810" algn="l"/>
              </a:tabLst>
            </a:pPr>
            <a:r>
              <a:rPr sz="1400" spc="16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10" dirty="0">
                <a:latin typeface="Tahoma"/>
                <a:cs typeface="Tahoma"/>
              </a:rPr>
              <a:t>lu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fl</a:t>
            </a:r>
            <a:r>
              <a:rPr sz="1400" spc="-30" dirty="0">
                <a:latin typeface="Tahoma"/>
                <a:cs typeface="Tahoma"/>
              </a:rPr>
              <a:t>e</a:t>
            </a:r>
            <a:r>
              <a:rPr sz="1400" spc="15" dirty="0">
                <a:latin typeface="Tahoma"/>
                <a:cs typeface="Tahoma"/>
              </a:rPr>
              <a:t>k</a:t>
            </a:r>
            <a:r>
              <a:rPr sz="1400" dirty="0">
                <a:latin typeface="Tahoma"/>
                <a:cs typeface="Tahoma"/>
              </a:rPr>
              <a:t>sibili</a:t>
            </a:r>
            <a:r>
              <a:rPr sz="1400" spc="-20" dirty="0">
                <a:latin typeface="Tahoma"/>
                <a:cs typeface="Tahoma"/>
              </a:rPr>
              <a:t>t</a:t>
            </a:r>
            <a:r>
              <a:rPr sz="1400" spc="-40" dirty="0">
                <a:latin typeface="Tahoma"/>
                <a:cs typeface="Tahoma"/>
              </a:rPr>
              <a:t>a</a:t>
            </a:r>
            <a:r>
              <a:rPr sz="1400" spc="70" dirty="0">
                <a:latin typeface="Tahoma"/>
                <a:cs typeface="Tahoma"/>
              </a:rPr>
              <a:t>s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</a:t>
            </a:r>
            <a:r>
              <a:rPr sz="1400" spc="25" dirty="0">
                <a:latin typeface="Tahoma"/>
                <a:cs typeface="Tahoma"/>
              </a:rPr>
              <a:t>a</a:t>
            </a:r>
            <a:r>
              <a:rPr sz="1400" dirty="0">
                <a:latin typeface="Tahoma"/>
                <a:cs typeface="Tahoma"/>
              </a:rPr>
              <a:t>lam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m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20" dirty="0">
                <a:latin typeface="Tahoma"/>
                <a:cs typeface="Tahoma"/>
              </a:rPr>
              <a:t>nuh</a:t>
            </a:r>
            <a:r>
              <a:rPr sz="1400" spc="-15" dirty="0">
                <a:latin typeface="Tahoma"/>
                <a:cs typeface="Tahoma"/>
              </a:rPr>
              <a:t>i</a:t>
            </a:r>
            <a:endParaRPr sz="1400">
              <a:latin typeface="Tahoma"/>
              <a:cs typeface="Tahoma"/>
            </a:endParaRPr>
          </a:p>
          <a:p>
            <a:pPr marL="38417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Tahoma"/>
                <a:cs typeface="Tahoma"/>
              </a:rPr>
              <a:t>p</a:t>
            </a:r>
            <a:r>
              <a:rPr sz="1400" spc="25" dirty="0">
                <a:latin typeface="Tahoma"/>
                <a:cs typeface="Tahoma"/>
              </a:rPr>
              <a:t>e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-5" dirty="0">
                <a:latin typeface="Tahoma"/>
                <a:cs typeface="Tahoma"/>
              </a:rPr>
              <a:t>mi</a:t>
            </a:r>
            <a:r>
              <a:rPr sz="1400" spc="-20" dirty="0">
                <a:latin typeface="Tahoma"/>
                <a:cs typeface="Tahoma"/>
              </a:rPr>
              <a:t>nt</a:t>
            </a:r>
            <a:r>
              <a:rPr sz="1400" spc="-40" dirty="0">
                <a:latin typeface="Tahoma"/>
                <a:cs typeface="Tahoma"/>
              </a:rPr>
              <a:t>a</a:t>
            </a:r>
            <a:r>
              <a:rPr sz="1400" spc="30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s</a:t>
            </a:r>
            <a:r>
              <a:rPr sz="1400" spc="45" dirty="0">
                <a:latin typeface="Tahoma"/>
                <a:cs typeface="Tahoma"/>
              </a:rPr>
              <a:t>e</a:t>
            </a:r>
            <a:r>
              <a:rPr sz="1400" spc="40" dirty="0">
                <a:latin typeface="Tahoma"/>
                <a:cs typeface="Tahoma"/>
              </a:rPr>
              <a:t>c</a:t>
            </a:r>
            <a:r>
              <a:rPr sz="1400" spc="35" dirty="0">
                <a:latin typeface="Tahoma"/>
                <a:cs typeface="Tahoma"/>
              </a:rPr>
              <a:t>a</a:t>
            </a:r>
            <a:r>
              <a:rPr sz="1400" spc="-55" dirty="0">
                <a:latin typeface="Tahoma"/>
                <a:cs typeface="Tahoma"/>
              </a:rPr>
              <a:t>r</a:t>
            </a:r>
            <a:r>
              <a:rPr sz="1400" spc="40" dirty="0">
                <a:latin typeface="Tahoma"/>
                <a:cs typeface="Tahoma"/>
              </a:rPr>
              <a:t>a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i="1" spc="-5" dirty="0">
                <a:latin typeface="Arial"/>
                <a:cs typeface="Arial"/>
              </a:rPr>
              <a:t>j</a:t>
            </a:r>
            <a:r>
              <a:rPr sz="1400" i="1" spc="-10" dirty="0">
                <a:latin typeface="Arial"/>
                <a:cs typeface="Arial"/>
              </a:rPr>
              <a:t>u</a:t>
            </a:r>
            <a:r>
              <a:rPr sz="1400" i="1" spc="-5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spc="-15" dirty="0">
                <a:latin typeface="Arial"/>
                <a:cs typeface="Arial"/>
              </a:rPr>
              <a:t>-</a:t>
            </a:r>
            <a:r>
              <a:rPr sz="1400" i="1" spc="-5" dirty="0">
                <a:latin typeface="Arial"/>
                <a:cs typeface="Arial"/>
              </a:rPr>
              <a:t>i</a:t>
            </a:r>
            <a:r>
              <a:rPr sz="1400" i="1" spc="-15" dirty="0">
                <a:latin typeface="Arial"/>
                <a:cs typeface="Arial"/>
              </a:rPr>
              <a:t>n-</a:t>
            </a:r>
            <a:r>
              <a:rPr sz="1400" i="1" spc="-5" dirty="0">
                <a:latin typeface="Arial"/>
                <a:cs typeface="Arial"/>
              </a:rPr>
              <a:t>ti</a:t>
            </a:r>
            <a:r>
              <a:rPr sz="1400" i="1" spc="-40" dirty="0">
                <a:latin typeface="Arial"/>
                <a:cs typeface="Arial"/>
              </a:rPr>
              <a:t>m</a:t>
            </a:r>
            <a:r>
              <a:rPr sz="1400" i="1" spc="-5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43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846</Words>
  <Application>Microsoft Office PowerPoint</Application>
  <PresentationFormat>Custom</PresentationFormat>
  <Paragraphs>146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Leelawadee UI</vt:lpstr>
      <vt:lpstr>Lucida Sans Unicode</vt:lpstr>
      <vt:lpstr>Tahoma</vt:lpstr>
      <vt:lpstr>Verdana</vt:lpstr>
      <vt:lpstr>Office Theme</vt:lpstr>
      <vt:lpstr>PowerPoint Presentation</vt:lpstr>
      <vt:lpstr>PowerPoint Presentation</vt:lpstr>
      <vt:lpstr>Era Informasi</vt:lpstr>
      <vt:lpstr>PERUBAHAN MANAJEMEN</vt:lpstr>
      <vt:lpstr>Ciri Era Informasi</vt:lpstr>
      <vt:lpstr>Ciri Era Informasi (2)</vt:lpstr>
      <vt:lpstr>Dampak Positip Era Informasi</vt:lpstr>
      <vt:lpstr>Dampak Negatif Era Informasi</vt:lpstr>
      <vt:lpstr>Kunci Keberhasilan Era Informasi</vt:lpstr>
      <vt:lpstr>Layanan Elektronis (e-Services)</vt:lpstr>
      <vt:lpstr>PowerPoint Presentation</vt:lpstr>
      <vt:lpstr>Sejarah (~1970 sd ~1990)</vt:lpstr>
      <vt:lpstr>Sejarah (~1990 sd ~2000) -2</vt:lpstr>
      <vt:lpstr>PowerPoint Presentation</vt:lpstr>
      <vt:lpstr>PowerPoint Presentation</vt:lpstr>
      <vt:lpstr>Perkembangan Saat Ini … (2000 - …)</vt:lpstr>
      <vt:lpstr>Airline reservation system</vt:lpstr>
      <vt:lpstr>Proses pemenuhan  layanan juga meli-  batkan banyak pihak  yang saling terkait.</vt:lpstr>
      <vt:lpstr>Layanan-layanan kontemporer, kombinasi dari inovasi ide, dukungan teknologi,  dan ketersediaan infrastruktur (terutama bandwidth Internet)</vt:lpstr>
      <vt:lpstr>Interaksi Penyedia - Pemakai</vt:lpstr>
      <vt:lpstr>PowerPoint Presentation</vt:lpstr>
      <vt:lpstr>Hubungan Satu-Satu dan Loyalitas</vt:lpstr>
      <vt:lpstr>Kepercayaan Pemakai</vt:lpstr>
      <vt:lpstr>Hubungan Just-in-Time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Windows User</cp:lastModifiedBy>
  <cp:revision>3</cp:revision>
  <dcterms:created xsi:type="dcterms:W3CDTF">2021-08-24T12:46:24Z</dcterms:created>
  <dcterms:modified xsi:type="dcterms:W3CDTF">2021-08-28T00:18:07Z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2021-08-24T00:00:00Z</vt:filetime>
  </property>
</Properties>
</file>