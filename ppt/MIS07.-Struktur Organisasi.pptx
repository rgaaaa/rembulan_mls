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6.xml" ContentType="application/vnd.openxmlformats-officedocument.theme+xml"/>
  <Override PartName="/ppt/slideLayouts/slideLayout16.xml" ContentType="application/vnd.openxmlformats-officedocument.presentationml.slideLayout+xml"/>
  <Override PartName="/ppt/theme/theme7.xml" ContentType="application/vnd.openxmlformats-officedocument.theme+xml"/>
  <Override PartName="/ppt/slideLayouts/slideLayout17.xml" ContentType="application/vnd.openxmlformats-officedocument.presentationml.slideLayout+xml"/>
  <Override PartName="/ppt/theme/theme8.xml" ContentType="application/vnd.openxmlformats-officedocument.theme+xml"/>
  <Override PartName="/ppt/media/image10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  <p:sldMasterId id="2147483671" r:id="rId2"/>
    <p:sldMasterId id="2147483673" r:id="rId3"/>
    <p:sldMasterId id="2147483675" r:id="rId4"/>
    <p:sldMasterId id="2147483677" r:id="rId5"/>
    <p:sldMasterId id="2147483679" r:id="rId6"/>
    <p:sldMasterId id="2147483687" r:id="rId7"/>
    <p:sldMasterId id="2147483689" r:id="rId8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08132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6176898" y="6520911"/>
            <a:ext cx="2298700" cy="16764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200"/>
              </a:lnSpc>
            </a:pPr>
            <a:r>
              <a:rPr b="0" spc="5" dirty="0">
                <a:latin typeface="Times New Roman"/>
                <a:cs typeface="Times New Roman"/>
              </a:rPr>
              <a:t>©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dirty="0"/>
              <a:t>2001</a:t>
            </a:r>
            <a:r>
              <a:rPr spc="-20" dirty="0"/>
              <a:t> </a:t>
            </a:r>
            <a:r>
              <a:rPr spc="-5" dirty="0"/>
              <a:t>South-Western</a:t>
            </a:r>
            <a:r>
              <a:rPr dirty="0"/>
              <a:t> College</a:t>
            </a:r>
            <a:r>
              <a:rPr spc="-15" dirty="0"/>
              <a:t> </a:t>
            </a:r>
            <a:r>
              <a:rPr spc="-5" dirty="0"/>
              <a:t>Publishing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917244" y="6520911"/>
            <a:ext cx="1863089" cy="16764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200"/>
              </a:lnSpc>
            </a:pPr>
            <a:r>
              <a:rPr spc="10" dirty="0"/>
              <a:t>M</a:t>
            </a:r>
            <a:r>
              <a:rPr spc="-35" dirty="0"/>
              <a:t>u</a:t>
            </a:r>
            <a:r>
              <a:rPr spc="5" dirty="0"/>
              <a:t>l</a:t>
            </a:r>
            <a:r>
              <a:rPr dirty="0"/>
              <a:t>t</a:t>
            </a:r>
            <a:r>
              <a:rPr spc="5" dirty="0"/>
              <a:t>iMe</a:t>
            </a:r>
            <a:r>
              <a:rPr spc="-10" dirty="0"/>
              <a:t>d</a:t>
            </a:r>
            <a:r>
              <a:rPr spc="5" dirty="0"/>
              <a:t>i</a:t>
            </a:r>
            <a:r>
              <a:rPr dirty="0"/>
              <a:t>a</a:t>
            </a:r>
            <a:r>
              <a:rPr spc="-85" dirty="0"/>
              <a:t> </a:t>
            </a:r>
            <a:r>
              <a:rPr spc="-10" dirty="0"/>
              <a:t>b</a:t>
            </a:r>
            <a:r>
              <a:rPr dirty="0"/>
              <a:t>y</a:t>
            </a:r>
            <a:r>
              <a:rPr spc="10" dirty="0"/>
              <a:t> </a:t>
            </a:r>
            <a:r>
              <a:rPr spc="-10" dirty="0"/>
              <a:t>S</a:t>
            </a:r>
            <a:r>
              <a:rPr dirty="0"/>
              <a:t>t</a:t>
            </a:r>
            <a:r>
              <a:rPr spc="5" dirty="0"/>
              <a:t>e</a:t>
            </a:r>
            <a:r>
              <a:rPr spc="-10" dirty="0"/>
              <a:t>ph</a:t>
            </a:r>
            <a:r>
              <a:rPr spc="5" dirty="0"/>
              <a:t>e</a:t>
            </a:r>
            <a:r>
              <a:rPr dirty="0"/>
              <a:t>n</a:t>
            </a:r>
            <a:r>
              <a:rPr spc="-45" dirty="0"/>
              <a:t> </a:t>
            </a:r>
            <a:r>
              <a:rPr spc="10" dirty="0"/>
              <a:t>M</a:t>
            </a:r>
            <a:r>
              <a:rPr dirty="0"/>
              <a:t>. </a:t>
            </a:r>
            <a:r>
              <a:rPr spc="-20" dirty="0"/>
              <a:t>P</a:t>
            </a:r>
            <a:r>
              <a:rPr spc="5" dirty="0"/>
              <a:t>e</a:t>
            </a:r>
            <a:r>
              <a:rPr dirty="0"/>
              <a:t>t</a:t>
            </a:r>
            <a:r>
              <a:rPr spc="5" dirty="0"/>
              <a:t>er</a:t>
            </a:r>
            <a:r>
              <a:rPr dirty="0"/>
              <a:t>s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74066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F487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3540" y="1380871"/>
            <a:ext cx="7898130" cy="1533525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 b="1" i="1">
                <a:solidFill>
                  <a:srgbClr val="1F487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176898" y="6520911"/>
            <a:ext cx="2298700" cy="16764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200"/>
              </a:lnSpc>
            </a:pPr>
            <a:r>
              <a:rPr b="0" spc="5" dirty="0">
                <a:latin typeface="Times New Roman"/>
                <a:cs typeface="Times New Roman"/>
              </a:rPr>
              <a:t>©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dirty="0"/>
              <a:t>2001</a:t>
            </a:r>
            <a:r>
              <a:rPr spc="-20" dirty="0"/>
              <a:t> </a:t>
            </a:r>
            <a:r>
              <a:rPr spc="-5" dirty="0"/>
              <a:t>South-Western</a:t>
            </a:r>
            <a:r>
              <a:rPr dirty="0"/>
              <a:t> College</a:t>
            </a:r>
            <a:r>
              <a:rPr spc="-15" dirty="0"/>
              <a:t> </a:t>
            </a:r>
            <a:r>
              <a:rPr spc="-5" dirty="0"/>
              <a:t>Publishing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7244" y="6520911"/>
            <a:ext cx="1863089" cy="16764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200"/>
              </a:lnSpc>
            </a:pPr>
            <a:r>
              <a:rPr spc="10" dirty="0"/>
              <a:t>M</a:t>
            </a:r>
            <a:r>
              <a:rPr spc="-35" dirty="0"/>
              <a:t>u</a:t>
            </a:r>
            <a:r>
              <a:rPr spc="5" dirty="0"/>
              <a:t>l</a:t>
            </a:r>
            <a:r>
              <a:rPr dirty="0"/>
              <a:t>t</a:t>
            </a:r>
            <a:r>
              <a:rPr spc="5" dirty="0"/>
              <a:t>iMe</a:t>
            </a:r>
            <a:r>
              <a:rPr spc="-10" dirty="0"/>
              <a:t>d</a:t>
            </a:r>
            <a:r>
              <a:rPr spc="5" dirty="0"/>
              <a:t>i</a:t>
            </a:r>
            <a:r>
              <a:rPr dirty="0"/>
              <a:t>a</a:t>
            </a:r>
            <a:r>
              <a:rPr spc="-85" dirty="0"/>
              <a:t> </a:t>
            </a:r>
            <a:r>
              <a:rPr spc="-10" dirty="0"/>
              <a:t>b</a:t>
            </a:r>
            <a:r>
              <a:rPr dirty="0"/>
              <a:t>y</a:t>
            </a:r>
            <a:r>
              <a:rPr spc="10" dirty="0"/>
              <a:t> </a:t>
            </a:r>
            <a:r>
              <a:rPr spc="-10" dirty="0"/>
              <a:t>S</a:t>
            </a:r>
            <a:r>
              <a:rPr dirty="0"/>
              <a:t>t</a:t>
            </a:r>
            <a:r>
              <a:rPr spc="5" dirty="0"/>
              <a:t>e</a:t>
            </a:r>
            <a:r>
              <a:rPr spc="-10" dirty="0"/>
              <a:t>ph</a:t>
            </a:r>
            <a:r>
              <a:rPr spc="5" dirty="0"/>
              <a:t>e</a:t>
            </a:r>
            <a:r>
              <a:rPr dirty="0"/>
              <a:t>n</a:t>
            </a:r>
            <a:r>
              <a:rPr spc="-45" dirty="0"/>
              <a:t> </a:t>
            </a:r>
            <a:r>
              <a:rPr spc="10" dirty="0"/>
              <a:t>M</a:t>
            </a:r>
            <a:r>
              <a:rPr dirty="0"/>
              <a:t>. </a:t>
            </a:r>
            <a:r>
              <a:rPr spc="-20" dirty="0"/>
              <a:t>P</a:t>
            </a:r>
            <a:r>
              <a:rPr spc="5" dirty="0"/>
              <a:t>e</a:t>
            </a:r>
            <a:r>
              <a:rPr dirty="0"/>
              <a:t>t</a:t>
            </a:r>
            <a:r>
              <a:rPr spc="5" dirty="0"/>
              <a:t>er</a:t>
            </a:r>
            <a:r>
              <a:rPr dirty="0"/>
              <a:t>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8003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F487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6176898" y="6520911"/>
            <a:ext cx="2298700" cy="16764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200"/>
              </a:lnSpc>
            </a:pPr>
            <a:r>
              <a:rPr b="0" spc="5" dirty="0">
                <a:latin typeface="Times New Roman"/>
                <a:cs typeface="Times New Roman"/>
              </a:rPr>
              <a:t>©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dirty="0"/>
              <a:t>2001</a:t>
            </a:r>
            <a:r>
              <a:rPr spc="-20" dirty="0"/>
              <a:t> </a:t>
            </a:r>
            <a:r>
              <a:rPr spc="-5" dirty="0"/>
              <a:t>South-Western</a:t>
            </a:r>
            <a:r>
              <a:rPr dirty="0"/>
              <a:t> College</a:t>
            </a:r>
            <a:r>
              <a:rPr spc="-15" dirty="0"/>
              <a:t> </a:t>
            </a:r>
            <a:r>
              <a:rPr spc="-5" dirty="0"/>
              <a:t>Publishing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917244" y="6520911"/>
            <a:ext cx="1863089" cy="16764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200"/>
              </a:lnSpc>
            </a:pPr>
            <a:r>
              <a:rPr spc="10" dirty="0"/>
              <a:t>M</a:t>
            </a:r>
            <a:r>
              <a:rPr spc="-35" dirty="0"/>
              <a:t>u</a:t>
            </a:r>
            <a:r>
              <a:rPr spc="5" dirty="0"/>
              <a:t>l</a:t>
            </a:r>
            <a:r>
              <a:rPr dirty="0"/>
              <a:t>t</a:t>
            </a:r>
            <a:r>
              <a:rPr spc="5" dirty="0"/>
              <a:t>iMe</a:t>
            </a:r>
            <a:r>
              <a:rPr spc="-10" dirty="0"/>
              <a:t>d</a:t>
            </a:r>
            <a:r>
              <a:rPr spc="5" dirty="0"/>
              <a:t>i</a:t>
            </a:r>
            <a:r>
              <a:rPr dirty="0"/>
              <a:t>a</a:t>
            </a:r>
            <a:r>
              <a:rPr spc="-85" dirty="0"/>
              <a:t> </a:t>
            </a:r>
            <a:r>
              <a:rPr spc="-10" dirty="0"/>
              <a:t>b</a:t>
            </a:r>
            <a:r>
              <a:rPr dirty="0"/>
              <a:t>y</a:t>
            </a:r>
            <a:r>
              <a:rPr spc="10" dirty="0"/>
              <a:t> </a:t>
            </a:r>
            <a:r>
              <a:rPr spc="-10" dirty="0"/>
              <a:t>S</a:t>
            </a:r>
            <a:r>
              <a:rPr dirty="0"/>
              <a:t>t</a:t>
            </a:r>
            <a:r>
              <a:rPr spc="5" dirty="0"/>
              <a:t>e</a:t>
            </a:r>
            <a:r>
              <a:rPr spc="-10" dirty="0"/>
              <a:t>ph</a:t>
            </a:r>
            <a:r>
              <a:rPr spc="5" dirty="0"/>
              <a:t>e</a:t>
            </a:r>
            <a:r>
              <a:rPr dirty="0"/>
              <a:t>n</a:t>
            </a:r>
            <a:r>
              <a:rPr spc="-45" dirty="0"/>
              <a:t> </a:t>
            </a:r>
            <a:r>
              <a:rPr spc="10" dirty="0"/>
              <a:t>M</a:t>
            </a:r>
            <a:r>
              <a:rPr dirty="0"/>
              <a:t>. </a:t>
            </a:r>
            <a:r>
              <a:rPr spc="-20" dirty="0"/>
              <a:t>P</a:t>
            </a:r>
            <a:r>
              <a:rPr spc="5" dirty="0"/>
              <a:t>e</a:t>
            </a:r>
            <a:r>
              <a:rPr dirty="0"/>
              <a:t>t</a:t>
            </a:r>
            <a:r>
              <a:rPr spc="5" dirty="0"/>
              <a:t>er</a:t>
            </a:r>
            <a:r>
              <a:rPr dirty="0"/>
              <a:t>s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91570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74586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FD6A74D-1C8D-4400-A44B-18C61420D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76306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A4314F5-9B88-4A10-889F-F5ED67983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71987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49F2F78-41F6-4DBD-A49B-20619A862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21488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="" xmlns:a16="http://schemas.microsoft.com/office/drawing/2014/main" id="{198065A5-1218-4E69-9EF0-90C3C2E67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92888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="" xmlns:a16="http://schemas.microsoft.com/office/drawing/2014/main" id="{F916FA04-1396-485D-A609-CD7E92522DD1}"/>
              </a:ext>
            </a:extLst>
          </p:cNvPr>
          <p:cNvCxnSpPr>
            <a:cxnSpLocks/>
          </p:cNvCxnSpPr>
          <p:nvPr userDrawn="1"/>
        </p:nvCxnSpPr>
        <p:spPr>
          <a:xfrm>
            <a:off x="0" y="683288"/>
            <a:ext cx="464233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1FFC4A87-0CB1-45CE-9554-8F044AAEC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58350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="" xmlns:a16="http://schemas.microsoft.com/office/drawing/2014/main" id="{F916FA04-1396-485D-A609-CD7E92522DD1}"/>
              </a:ext>
            </a:extLst>
          </p:cNvPr>
          <p:cNvCxnSpPr>
            <a:cxnSpLocks/>
          </p:cNvCxnSpPr>
          <p:nvPr userDrawn="1"/>
        </p:nvCxnSpPr>
        <p:spPr>
          <a:xfrm>
            <a:off x="4501662" y="683288"/>
            <a:ext cx="464233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F52A5D29-0C74-4DB5-80AC-205E2980D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163917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="" xmlns:a16="http://schemas.microsoft.com/office/drawing/2014/main" id="{2A08D90C-70B8-457C-95AE-141C49C3A3FB}"/>
              </a:ext>
            </a:extLst>
          </p:cNvPr>
          <p:cNvCxnSpPr>
            <a:cxnSpLocks/>
          </p:cNvCxnSpPr>
          <p:nvPr userDrawn="1"/>
        </p:nvCxnSpPr>
        <p:spPr>
          <a:xfrm>
            <a:off x="0" y="683288"/>
            <a:ext cx="91440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="" xmlns:a16="http://schemas.microsoft.com/office/drawing/2014/main" id="{ABE849F3-B6DF-4217-B464-9130928C9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262998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33BEC2E1-0AD8-452E-87EC-4D9066322202}"/>
              </a:ext>
            </a:extLst>
          </p:cNvPr>
          <p:cNvSpPr/>
          <p:nvPr userDrawn="1"/>
        </p:nvSpPr>
        <p:spPr>
          <a:xfrm>
            <a:off x="0" y="0"/>
            <a:ext cx="9144000" cy="108522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2CC0ADF-8FA4-4472-9031-72E465CB4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998876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4EBE2D0A-6E5C-4A94-8EF1-D947C32EBE56}"/>
              </a:ext>
            </a:extLst>
          </p:cNvPr>
          <p:cNvSpPr/>
          <p:nvPr userDrawn="1"/>
        </p:nvSpPr>
        <p:spPr>
          <a:xfrm>
            <a:off x="0" y="80391"/>
            <a:ext cx="9144000" cy="63304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4898FCA4-6365-4601-85C8-B9BFB43B3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588725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6570B6C2-5A8A-40C2-AE98-493677E13A21}"/>
              </a:ext>
            </a:extLst>
          </p:cNvPr>
          <p:cNvSpPr/>
          <p:nvPr userDrawn="1"/>
        </p:nvSpPr>
        <p:spPr>
          <a:xfrm>
            <a:off x="0" y="60293"/>
            <a:ext cx="9144000" cy="4571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sp>
        <p:nvSpPr>
          <p:cNvPr id="3" name="Title 2">
            <a:extLst>
              <a:ext uri="{FF2B5EF4-FFF2-40B4-BE49-F238E27FC236}">
                <a16:creationId xmlns="" xmlns:a16="http://schemas.microsoft.com/office/drawing/2014/main" id="{10892BB0-7181-4898-96B3-7ABD572DA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127690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6C3B74E-CCD6-46A2-96AD-028888784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309174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82CF78D-0AC0-4E71-8350-3BC2A8E4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3633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4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theme" Target="../theme/theme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8.png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7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/>
        </p:nvSpPr>
        <p:spPr>
          <a:xfrm>
            <a:off x="0" y="1"/>
            <a:ext cx="9144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ID" sz="15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1" y="38925"/>
            <a:ext cx="83946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456D31B-DA89-4FCC-A0CF-973CBA8BD493}"/>
              </a:ext>
            </a:extLst>
          </p:cNvPr>
          <p:cNvSpPr txBox="1"/>
          <p:nvPr/>
        </p:nvSpPr>
        <p:spPr>
          <a:xfrm>
            <a:off x="914194" y="166671"/>
            <a:ext cx="4414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800" dirty="0"/>
              <a:t>PROGRAM STUDI S1 TEKNIK INFORMATIKA</a:t>
            </a:r>
            <a:br>
              <a:rPr lang="en-US" sz="1800" dirty="0"/>
            </a:br>
            <a:r>
              <a:rPr lang="en-US" sz="1800" dirty="0"/>
              <a:t>UNIVERSITAS PAMULANG</a:t>
            </a:r>
            <a:endParaRPr lang="en-ID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264" y="0"/>
            <a:ext cx="1607736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=""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0446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="" xmlns:a16="http://schemas.microsoft.com/office/drawing/2014/main" id="{59788E57-52DB-4E2B-A81F-D18E71DA02CB}"/>
              </a:ext>
            </a:extLst>
          </p:cNvPr>
          <p:cNvSpPr/>
          <p:nvPr/>
        </p:nvSpPr>
        <p:spPr>
          <a:xfrm>
            <a:off x="0" y="6360608"/>
            <a:ext cx="9144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41" y="6422940"/>
            <a:ext cx="339764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2" y="6419058"/>
            <a:ext cx="285368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AC0EC3BD-0F33-4AAF-A3A2-953764A0D99A}"/>
              </a:ext>
            </a:extLst>
          </p:cNvPr>
          <p:cNvSpPr txBox="1"/>
          <p:nvPr/>
        </p:nvSpPr>
        <p:spPr>
          <a:xfrm>
            <a:off x="360100" y="6412026"/>
            <a:ext cx="134522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 err="1"/>
              <a:t>InfoTI_unpam</a:t>
            </a:r>
            <a:endParaRPr lang="en-ID" sz="1350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0CFA357-EB7B-4C90-B08D-FF68109B966A}"/>
              </a:ext>
            </a:extLst>
          </p:cNvPr>
          <p:cNvSpPr txBox="1"/>
          <p:nvPr/>
        </p:nvSpPr>
        <p:spPr>
          <a:xfrm>
            <a:off x="1895542" y="6412026"/>
            <a:ext cx="202331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informatika.unpam.ac.id</a:t>
            </a:r>
            <a:endParaRPr lang="en-ID" sz="1350" dirty="0"/>
          </a:p>
        </p:txBody>
      </p:sp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997" y="6412027"/>
            <a:ext cx="486272" cy="45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666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5">
            <a:extLst>
              <a:ext uri="{FF2B5EF4-FFF2-40B4-BE49-F238E27FC236}">
                <a16:creationId xmlns=""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0446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="" xmlns:a16="http://schemas.microsoft.com/office/drawing/2014/main" id="{59788E57-52DB-4E2B-A81F-D18E71DA02CB}"/>
              </a:ext>
            </a:extLst>
          </p:cNvPr>
          <p:cNvSpPr/>
          <p:nvPr/>
        </p:nvSpPr>
        <p:spPr>
          <a:xfrm>
            <a:off x="0" y="6360608"/>
            <a:ext cx="9144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41" y="6422940"/>
            <a:ext cx="339764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2" y="6419058"/>
            <a:ext cx="285368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AC0EC3BD-0F33-4AAF-A3A2-953764A0D99A}"/>
              </a:ext>
            </a:extLst>
          </p:cNvPr>
          <p:cNvSpPr txBox="1"/>
          <p:nvPr/>
        </p:nvSpPr>
        <p:spPr>
          <a:xfrm>
            <a:off x="360100" y="6412026"/>
            <a:ext cx="134522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 err="1"/>
              <a:t>InfoTI_unpam</a:t>
            </a:r>
            <a:endParaRPr lang="en-ID" sz="1350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0CFA357-EB7B-4C90-B08D-FF68109B966A}"/>
              </a:ext>
            </a:extLst>
          </p:cNvPr>
          <p:cNvSpPr txBox="1"/>
          <p:nvPr/>
        </p:nvSpPr>
        <p:spPr>
          <a:xfrm>
            <a:off x="1895542" y="6412026"/>
            <a:ext cx="202331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informatika.unpam.ac.id</a:t>
            </a:r>
            <a:endParaRPr lang="en-ID" sz="1350" dirty="0"/>
          </a:p>
        </p:txBody>
      </p:sp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997" y="6412027"/>
            <a:ext cx="486272" cy="4587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70E9772E-AF4F-4C17-B477-D78352308CB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8692" y="6366986"/>
            <a:ext cx="384305" cy="49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60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/>
        </p:nvSpPr>
        <p:spPr>
          <a:xfrm rot="16200000">
            <a:off x="7421965" y="5135961"/>
            <a:ext cx="1884065" cy="1560008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/>
        </p:nvSpPr>
        <p:spPr>
          <a:xfrm>
            <a:off x="0" y="6211615"/>
            <a:ext cx="9144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Program </a:t>
            </a:r>
            <a:r>
              <a:rPr lang="en-US" sz="1500" dirty="0" err="1">
                <a:solidFill>
                  <a:schemeClr val="tx1"/>
                </a:solidFill>
              </a:rPr>
              <a:t>Studi</a:t>
            </a:r>
            <a:r>
              <a:rPr lang="en-US" sz="1500" dirty="0">
                <a:solidFill>
                  <a:schemeClr val="tx1"/>
                </a:solidFill>
              </a:rPr>
              <a:t> Teknik </a:t>
            </a:r>
            <a:r>
              <a:rPr lang="en-US" sz="1500" dirty="0" err="1">
                <a:solidFill>
                  <a:schemeClr val="tx1"/>
                </a:solidFill>
              </a:rPr>
              <a:t>Informatika</a:t>
            </a:r>
            <a:r>
              <a:rPr lang="en-US" sz="1500" dirty="0">
                <a:solidFill>
                  <a:schemeClr val="tx1"/>
                </a:solidFill>
              </a:rPr>
              <a:t>, Universitas </a:t>
            </a:r>
            <a:r>
              <a:rPr lang="en-US" sz="1500" dirty="0" err="1">
                <a:solidFill>
                  <a:schemeClr val="tx1"/>
                </a:solidFill>
              </a:rPr>
              <a:t>Pamulang</a:t>
            </a:r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ID" sz="15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/>
        </p:nvSpPr>
        <p:spPr>
          <a:xfrm>
            <a:off x="0" y="5074416"/>
            <a:ext cx="1198266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379" y="5725289"/>
            <a:ext cx="781941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0436" y="5864994"/>
            <a:ext cx="1052616" cy="9930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A7710A05-4BC0-4640-9166-A8A038BAD88C}"/>
              </a:ext>
            </a:extLst>
          </p:cNvPr>
          <p:cNvSpPr txBox="1"/>
          <p:nvPr/>
        </p:nvSpPr>
        <p:spPr>
          <a:xfrm>
            <a:off x="2924071" y="2622620"/>
            <a:ext cx="3896249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50" dirty="0"/>
              <a:t>TERIMA KASIH</a:t>
            </a:r>
            <a:endParaRPr lang="en-ID" sz="4050" dirty="0"/>
          </a:p>
        </p:txBody>
      </p:sp>
    </p:spTree>
    <p:extLst>
      <p:ext uri="{BB962C8B-B14F-4D97-AF65-F5344CB8AC3E}">
        <p14:creationId xmlns:p14="http://schemas.microsoft.com/office/powerpoint/2010/main" val="3508307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/>
        </p:nvSpPr>
        <p:spPr>
          <a:xfrm rot="16200000">
            <a:off x="7421965" y="5135961"/>
            <a:ext cx="1884065" cy="1560008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/>
        </p:nvSpPr>
        <p:spPr>
          <a:xfrm>
            <a:off x="0" y="6211615"/>
            <a:ext cx="9144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Program </a:t>
            </a:r>
            <a:r>
              <a:rPr lang="en-US" sz="1500" dirty="0" err="1">
                <a:solidFill>
                  <a:schemeClr val="tx1"/>
                </a:solidFill>
              </a:rPr>
              <a:t>Studi</a:t>
            </a:r>
            <a:r>
              <a:rPr lang="en-US" sz="1500" dirty="0">
                <a:solidFill>
                  <a:schemeClr val="tx1"/>
                </a:solidFill>
              </a:rPr>
              <a:t> Teknik </a:t>
            </a:r>
            <a:r>
              <a:rPr lang="en-US" sz="1500" dirty="0" err="1">
                <a:solidFill>
                  <a:schemeClr val="tx1"/>
                </a:solidFill>
              </a:rPr>
              <a:t>Informatika</a:t>
            </a:r>
            <a:r>
              <a:rPr lang="en-US" sz="1500" dirty="0">
                <a:solidFill>
                  <a:schemeClr val="tx1"/>
                </a:solidFill>
              </a:rPr>
              <a:t>, Universitas </a:t>
            </a:r>
            <a:r>
              <a:rPr lang="en-US" sz="1500" dirty="0" err="1">
                <a:solidFill>
                  <a:schemeClr val="tx1"/>
                </a:solidFill>
              </a:rPr>
              <a:t>Pamulang</a:t>
            </a:r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ID" sz="15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/>
        </p:nvSpPr>
        <p:spPr>
          <a:xfrm>
            <a:off x="0" y="5074416"/>
            <a:ext cx="1198266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379" y="5725289"/>
            <a:ext cx="781941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0436" y="5864994"/>
            <a:ext cx="1052616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="" xmlns:a16="http://schemas.microsoft.com/office/drawing/2014/main" id="{38F377F8-55ED-4437-98B9-2D2AA5DD3B4A}"/>
              </a:ext>
            </a:extLst>
          </p:cNvPr>
          <p:cNvSpPr/>
          <p:nvPr/>
        </p:nvSpPr>
        <p:spPr>
          <a:xfrm>
            <a:off x="0" y="2582427"/>
            <a:ext cx="9144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TERIMA KASIH, MAHASISWA TEKNIK INFORMATIKA UNGGUL, ANDA SUDAH BELAJAR DENGAN LUAR BIASA</a:t>
            </a:r>
            <a:endParaRPr lang="en-ID" sz="1350" dirty="0"/>
          </a:p>
        </p:txBody>
      </p:sp>
    </p:spTree>
    <p:extLst>
      <p:ext uri="{BB962C8B-B14F-4D97-AF65-F5344CB8AC3E}">
        <p14:creationId xmlns:p14="http://schemas.microsoft.com/office/powerpoint/2010/main" val="846911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365A30DD-8BE8-42A1-85CC-D069AF516F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2057400"/>
            <a:ext cx="3657600" cy="27432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/>
        </p:nvSpPr>
        <p:spPr>
          <a:xfrm rot="16200000">
            <a:off x="7421965" y="5135961"/>
            <a:ext cx="1884065" cy="1560008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/>
        </p:nvSpPr>
        <p:spPr>
          <a:xfrm>
            <a:off x="0" y="6211615"/>
            <a:ext cx="9144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Program </a:t>
            </a:r>
            <a:r>
              <a:rPr lang="en-US" sz="1500" dirty="0" err="1">
                <a:solidFill>
                  <a:schemeClr val="tx1"/>
                </a:solidFill>
              </a:rPr>
              <a:t>Studi</a:t>
            </a:r>
            <a:r>
              <a:rPr lang="en-US" sz="1500" dirty="0">
                <a:solidFill>
                  <a:schemeClr val="tx1"/>
                </a:solidFill>
              </a:rPr>
              <a:t> Teknik </a:t>
            </a:r>
            <a:r>
              <a:rPr lang="en-US" sz="1500" dirty="0" err="1">
                <a:solidFill>
                  <a:schemeClr val="tx1"/>
                </a:solidFill>
              </a:rPr>
              <a:t>Informatika</a:t>
            </a:r>
            <a:r>
              <a:rPr lang="en-US" sz="1500" dirty="0">
                <a:solidFill>
                  <a:schemeClr val="tx1"/>
                </a:solidFill>
              </a:rPr>
              <a:t>, Universitas </a:t>
            </a:r>
            <a:r>
              <a:rPr lang="en-US" sz="1500" dirty="0" err="1">
                <a:solidFill>
                  <a:schemeClr val="tx1"/>
                </a:solidFill>
              </a:rPr>
              <a:t>Pamulang</a:t>
            </a:r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ID" sz="15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/>
        </p:nvSpPr>
        <p:spPr>
          <a:xfrm>
            <a:off x="0" y="5074416"/>
            <a:ext cx="1198266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379" y="5725289"/>
            <a:ext cx="781941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0436" y="5864994"/>
            <a:ext cx="1052616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="" xmlns:a16="http://schemas.microsoft.com/office/drawing/2014/main" id="{38F377F8-55ED-4437-98B9-2D2AA5DD3B4A}"/>
              </a:ext>
            </a:extLst>
          </p:cNvPr>
          <p:cNvSpPr/>
          <p:nvPr/>
        </p:nvSpPr>
        <p:spPr>
          <a:xfrm>
            <a:off x="0" y="1"/>
            <a:ext cx="9144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TERIMA KASIH, MAHASISWA TEKNIK INFORMATIKA UNGGUL, ANDA SUDAH BELAJAR DENGAN LUAR BIASA</a:t>
            </a:r>
            <a:endParaRPr lang="en-ID" sz="1350" dirty="0"/>
          </a:p>
        </p:txBody>
      </p:sp>
    </p:spTree>
    <p:extLst>
      <p:ext uri="{BB962C8B-B14F-4D97-AF65-F5344CB8AC3E}">
        <p14:creationId xmlns:p14="http://schemas.microsoft.com/office/powerpoint/2010/main" val="355028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/>
        </p:nvSpPr>
        <p:spPr>
          <a:xfrm rot="16200000">
            <a:off x="7421965" y="5135961"/>
            <a:ext cx="1884065" cy="1560008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/>
        </p:nvSpPr>
        <p:spPr>
          <a:xfrm>
            <a:off x="0" y="6211615"/>
            <a:ext cx="9144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Program </a:t>
            </a:r>
            <a:r>
              <a:rPr lang="en-US" sz="1500" dirty="0" err="1">
                <a:solidFill>
                  <a:schemeClr val="tx1"/>
                </a:solidFill>
              </a:rPr>
              <a:t>Studi</a:t>
            </a:r>
            <a:r>
              <a:rPr lang="en-US" sz="1500" dirty="0">
                <a:solidFill>
                  <a:schemeClr val="tx1"/>
                </a:solidFill>
              </a:rPr>
              <a:t> Teknik </a:t>
            </a:r>
            <a:r>
              <a:rPr lang="en-US" sz="1500" dirty="0" err="1">
                <a:solidFill>
                  <a:schemeClr val="tx1"/>
                </a:solidFill>
              </a:rPr>
              <a:t>Informatika</a:t>
            </a:r>
            <a:r>
              <a:rPr lang="en-US" sz="1500" dirty="0">
                <a:solidFill>
                  <a:schemeClr val="tx1"/>
                </a:solidFill>
              </a:rPr>
              <a:t>, Universitas </a:t>
            </a:r>
            <a:r>
              <a:rPr lang="en-US" sz="1500" dirty="0" err="1">
                <a:solidFill>
                  <a:schemeClr val="tx1"/>
                </a:solidFill>
              </a:rPr>
              <a:t>Pamulang</a:t>
            </a:r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ID" sz="15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/>
        </p:nvSpPr>
        <p:spPr>
          <a:xfrm>
            <a:off x="0" y="5074416"/>
            <a:ext cx="1198266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379" y="5725289"/>
            <a:ext cx="781941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0436" y="5864994"/>
            <a:ext cx="1052616" cy="993004"/>
          </a:xfrm>
          <a:prstGeom prst="rect">
            <a:avLst/>
          </a:prstGeom>
        </p:spPr>
      </p:pic>
      <p:sp>
        <p:nvSpPr>
          <p:cNvPr id="34" name="Text Placeholder 33">
            <a:extLst>
              <a:ext uri="{FF2B5EF4-FFF2-40B4-BE49-F238E27FC236}">
                <a16:creationId xmlns="" xmlns:a16="http://schemas.microsoft.com/office/drawing/2014/main" id="{73922ECC-A830-4C03-9B45-AEB8C3D23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D" dirty="0"/>
          </a:p>
        </p:txBody>
      </p:sp>
      <p:sp>
        <p:nvSpPr>
          <p:cNvPr id="35" name="Title Placeholder 34">
            <a:extLst>
              <a:ext uri="{FF2B5EF4-FFF2-40B4-BE49-F238E27FC236}">
                <a16:creationId xmlns="" xmlns:a16="http://schemas.microsoft.com/office/drawing/2014/main" id="{862CBB9D-7640-4DCE-8E7A-C98B9F67D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75381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/>
        </p:nvSpPr>
        <p:spPr>
          <a:xfrm>
            <a:off x="0" y="1"/>
            <a:ext cx="9144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ID" sz="15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1" y="38925"/>
            <a:ext cx="83946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456D31B-DA89-4FCC-A0CF-973CBA8BD493}"/>
              </a:ext>
            </a:extLst>
          </p:cNvPr>
          <p:cNvSpPr txBox="1"/>
          <p:nvPr/>
        </p:nvSpPr>
        <p:spPr>
          <a:xfrm>
            <a:off x="914194" y="166671"/>
            <a:ext cx="4414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800" dirty="0"/>
              <a:t>PROGRAM STUDI S1 TEKNIK INFORMATIKA</a:t>
            </a:r>
            <a:br>
              <a:rPr lang="en-US" sz="1800" dirty="0"/>
            </a:br>
            <a:r>
              <a:rPr lang="en-US" sz="1800" dirty="0"/>
              <a:t>UNIVERSITAS PAMULANG</a:t>
            </a:r>
            <a:endParaRPr lang="en-ID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264" y="0"/>
            <a:ext cx="1607736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=""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0446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="" xmlns:a16="http://schemas.microsoft.com/office/drawing/2014/main" id="{3FA5E565-A9FD-45A9-9262-E4CE87B5C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2329881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18501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567122B0-D188-4F1B-9170-48FB515F7D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/>
        </p:nvSpPr>
        <p:spPr>
          <a:xfrm rot="16200000">
            <a:off x="7421965" y="5135961"/>
            <a:ext cx="1884065" cy="1560008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/>
        </p:nvSpPr>
        <p:spPr>
          <a:xfrm>
            <a:off x="0" y="6211615"/>
            <a:ext cx="9144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Program </a:t>
            </a:r>
            <a:r>
              <a:rPr lang="en-US" sz="1500" dirty="0" err="1">
                <a:solidFill>
                  <a:schemeClr val="tx1"/>
                </a:solidFill>
              </a:rPr>
              <a:t>Studi</a:t>
            </a:r>
            <a:r>
              <a:rPr lang="en-US" sz="1500" dirty="0">
                <a:solidFill>
                  <a:schemeClr val="tx1"/>
                </a:solidFill>
              </a:rPr>
              <a:t> Teknik </a:t>
            </a:r>
            <a:r>
              <a:rPr lang="en-US" sz="1500" dirty="0" err="1">
                <a:solidFill>
                  <a:schemeClr val="tx1"/>
                </a:solidFill>
              </a:rPr>
              <a:t>Informatika</a:t>
            </a:r>
            <a:r>
              <a:rPr lang="en-US" sz="1500" dirty="0">
                <a:solidFill>
                  <a:schemeClr val="tx1"/>
                </a:solidFill>
              </a:rPr>
              <a:t>, Universitas </a:t>
            </a:r>
            <a:r>
              <a:rPr lang="en-US" sz="1500" dirty="0" err="1">
                <a:solidFill>
                  <a:schemeClr val="tx1"/>
                </a:solidFill>
              </a:rPr>
              <a:t>Pamulang</a:t>
            </a:r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ID" sz="15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/>
        </p:nvSpPr>
        <p:spPr>
          <a:xfrm>
            <a:off x="0" y="5074416"/>
            <a:ext cx="1198266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379" y="5725289"/>
            <a:ext cx="781941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0436" y="5864994"/>
            <a:ext cx="1052616" cy="99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126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5719698" y="2914599"/>
            <a:ext cx="296926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Times New Roman"/>
                <a:cs typeface="Times New Roman"/>
              </a:rPr>
              <a:t>O</a:t>
            </a:r>
            <a:r>
              <a:rPr sz="3600" b="1" spc="10" dirty="0">
                <a:latin typeface="Times New Roman"/>
                <a:cs typeface="Times New Roman"/>
              </a:rPr>
              <a:t>r</a:t>
            </a:r>
            <a:r>
              <a:rPr sz="3600" b="1" dirty="0">
                <a:latin typeface="Times New Roman"/>
                <a:cs typeface="Times New Roman"/>
              </a:rPr>
              <a:t>ga</a:t>
            </a:r>
            <a:r>
              <a:rPr sz="3600" b="1" spc="-15" dirty="0">
                <a:latin typeface="Times New Roman"/>
                <a:cs typeface="Times New Roman"/>
              </a:rPr>
              <a:t>n</a:t>
            </a:r>
            <a:r>
              <a:rPr sz="3600" b="1" dirty="0">
                <a:latin typeface="Times New Roman"/>
                <a:cs typeface="Times New Roman"/>
              </a:rPr>
              <a:t>i</a:t>
            </a:r>
            <a:r>
              <a:rPr sz="3600" b="1" spc="-35" dirty="0">
                <a:latin typeface="Times New Roman"/>
                <a:cs typeface="Times New Roman"/>
              </a:rPr>
              <a:t>z</a:t>
            </a:r>
            <a:r>
              <a:rPr sz="3600" b="1" dirty="0">
                <a:latin typeface="Times New Roman"/>
                <a:cs typeface="Times New Roman"/>
              </a:rPr>
              <a:t>ational  </a:t>
            </a:r>
            <a:r>
              <a:rPr sz="3600" b="1" spc="-10" dirty="0">
                <a:latin typeface="Times New Roman"/>
                <a:cs typeface="Times New Roman"/>
              </a:rPr>
              <a:t>Structure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0" y="381000"/>
            <a:ext cx="4375150" cy="59436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127250" y="582676"/>
            <a:ext cx="1744980" cy="31750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29209" rIns="0" bIns="0" rtlCol="0">
            <a:spAutoFit/>
          </a:bodyPr>
          <a:lstStyle/>
          <a:p>
            <a:pPr marL="211454">
              <a:lnSpc>
                <a:spcPct val="100000"/>
              </a:lnSpc>
              <a:spcBef>
                <a:spcPts val="229"/>
              </a:spcBef>
            </a:pP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1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16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160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du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1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16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ion</a:t>
            </a:r>
            <a:r>
              <a:rPr sz="1600" b="1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16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00"/>
              </a:lnSpc>
            </a:pPr>
            <a:r>
              <a:rPr b="0" spc="5" dirty="0">
                <a:latin typeface="Times New Roman"/>
                <a:cs typeface="Times New Roman"/>
              </a:rPr>
              <a:t>©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dirty="0"/>
              <a:t>2001</a:t>
            </a:r>
            <a:r>
              <a:rPr spc="-20" dirty="0"/>
              <a:t> </a:t>
            </a:r>
            <a:r>
              <a:rPr spc="-5" dirty="0"/>
              <a:t>South-Western</a:t>
            </a:r>
            <a:r>
              <a:rPr dirty="0"/>
              <a:t> College</a:t>
            </a:r>
            <a:r>
              <a:rPr spc="-15" dirty="0"/>
              <a:t> </a:t>
            </a:r>
            <a:r>
              <a:rPr spc="-5" dirty="0"/>
              <a:t>Publishing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00"/>
              </a:lnSpc>
            </a:pPr>
            <a:r>
              <a:rPr spc="10" dirty="0"/>
              <a:t>M</a:t>
            </a:r>
            <a:r>
              <a:rPr spc="-35" dirty="0"/>
              <a:t>u</a:t>
            </a:r>
            <a:r>
              <a:rPr spc="5" dirty="0"/>
              <a:t>l</a:t>
            </a:r>
            <a:r>
              <a:rPr dirty="0"/>
              <a:t>t</a:t>
            </a:r>
            <a:r>
              <a:rPr spc="5" dirty="0"/>
              <a:t>iMe</a:t>
            </a:r>
            <a:r>
              <a:rPr spc="-10" dirty="0"/>
              <a:t>d</a:t>
            </a:r>
            <a:r>
              <a:rPr spc="5" dirty="0"/>
              <a:t>i</a:t>
            </a:r>
            <a:r>
              <a:rPr dirty="0"/>
              <a:t>a</a:t>
            </a:r>
            <a:r>
              <a:rPr spc="-85" dirty="0"/>
              <a:t> </a:t>
            </a:r>
            <a:r>
              <a:rPr spc="-10" dirty="0"/>
              <a:t>b</a:t>
            </a:r>
            <a:r>
              <a:rPr dirty="0"/>
              <a:t>y</a:t>
            </a:r>
            <a:r>
              <a:rPr spc="10" dirty="0"/>
              <a:t> </a:t>
            </a:r>
            <a:r>
              <a:rPr spc="-10" dirty="0"/>
              <a:t>S</a:t>
            </a:r>
            <a:r>
              <a:rPr dirty="0"/>
              <a:t>t</a:t>
            </a:r>
            <a:r>
              <a:rPr spc="5" dirty="0"/>
              <a:t>e</a:t>
            </a:r>
            <a:r>
              <a:rPr spc="-10" dirty="0"/>
              <a:t>ph</a:t>
            </a:r>
            <a:r>
              <a:rPr spc="5" dirty="0"/>
              <a:t>e</a:t>
            </a:r>
            <a:r>
              <a:rPr dirty="0"/>
              <a:t>n</a:t>
            </a:r>
            <a:r>
              <a:rPr spc="-45" dirty="0"/>
              <a:t> </a:t>
            </a:r>
            <a:r>
              <a:rPr spc="10" dirty="0"/>
              <a:t>M</a:t>
            </a:r>
            <a:r>
              <a:rPr dirty="0"/>
              <a:t>. </a:t>
            </a:r>
            <a:r>
              <a:rPr spc="-20" dirty="0"/>
              <a:t>P</a:t>
            </a:r>
            <a:r>
              <a:rPr spc="5" dirty="0"/>
              <a:t>e</a:t>
            </a:r>
            <a:r>
              <a:rPr dirty="0"/>
              <a:t>t</a:t>
            </a:r>
            <a:r>
              <a:rPr spc="5" dirty="0"/>
              <a:t>er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133600" y="1371600"/>
            <a:ext cx="44577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Sasaran</a:t>
            </a:r>
            <a:r>
              <a:rPr spc="-80" dirty="0"/>
              <a:t> </a:t>
            </a:r>
            <a:r>
              <a:rPr dirty="0"/>
              <a:t>Pembelajaran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00"/>
              </a:lnSpc>
            </a:pPr>
            <a:r>
              <a:rPr b="0" spc="5" dirty="0">
                <a:latin typeface="Times New Roman"/>
                <a:cs typeface="Times New Roman"/>
              </a:rPr>
              <a:t>©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dirty="0"/>
              <a:t>2001</a:t>
            </a:r>
            <a:r>
              <a:rPr spc="-20" dirty="0"/>
              <a:t> </a:t>
            </a:r>
            <a:r>
              <a:rPr spc="-5" dirty="0"/>
              <a:t>South-Western</a:t>
            </a:r>
            <a:r>
              <a:rPr dirty="0"/>
              <a:t> College</a:t>
            </a:r>
            <a:r>
              <a:rPr spc="-15" dirty="0"/>
              <a:t> </a:t>
            </a:r>
            <a:r>
              <a:rPr spc="-5" dirty="0"/>
              <a:t>Publishing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00"/>
              </a:lnSpc>
            </a:pPr>
            <a:r>
              <a:rPr spc="10" dirty="0"/>
              <a:t>M</a:t>
            </a:r>
            <a:r>
              <a:rPr spc="-35" dirty="0"/>
              <a:t>u</a:t>
            </a:r>
            <a:r>
              <a:rPr spc="5" dirty="0"/>
              <a:t>l</a:t>
            </a:r>
            <a:r>
              <a:rPr dirty="0"/>
              <a:t>t</a:t>
            </a:r>
            <a:r>
              <a:rPr spc="5" dirty="0"/>
              <a:t>iMe</a:t>
            </a:r>
            <a:r>
              <a:rPr spc="-10" dirty="0"/>
              <a:t>d</a:t>
            </a:r>
            <a:r>
              <a:rPr spc="5" dirty="0"/>
              <a:t>i</a:t>
            </a:r>
            <a:r>
              <a:rPr dirty="0"/>
              <a:t>a</a:t>
            </a:r>
            <a:r>
              <a:rPr spc="-85" dirty="0"/>
              <a:t> </a:t>
            </a:r>
            <a:r>
              <a:rPr spc="-10" dirty="0"/>
              <a:t>b</a:t>
            </a:r>
            <a:r>
              <a:rPr dirty="0"/>
              <a:t>y</a:t>
            </a:r>
            <a:r>
              <a:rPr spc="10" dirty="0"/>
              <a:t> </a:t>
            </a:r>
            <a:r>
              <a:rPr spc="-10" dirty="0"/>
              <a:t>S</a:t>
            </a:r>
            <a:r>
              <a:rPr dirty="0"/>
              <a:t>t</a:t>
            </a:r>
            <a:r>
              <a:rPr spc="5" dirty="0"/>
              <a:t>e</a:t>
            </a:r>
            <a:r>
              <a:rPr spc="-10" dirty="0"/>
              <a:t>ph</a:t>
            </a:r>
            <a:r>
              <a:rPr spc="5" dirty="0"/>
              <a:t>e</a:t>
            </a:r>
            <a:r>
              <a:rPr dirty="0"/>
              <a:t>n</a:t>
            </a:r>
            <a:r>
              <a:rPr spc="-45" dirty="0"/>
              <a:t> </a:t>
            </a:r>
            <a:r>
              <a:rPr spc="10" dirty="0"/>
              <a:t>M</a:t>
            </a:r>
            <a:r>
              <a:rPr dirty="0"/>
              <a:t>. </a:t>
            </a:r>
            <a:r>
              <a:rPr spc="-20" dirty="0"/>
              <a:t>P</a:t>
            </a:r>
            <a:r>
              <a:rPr spc="5" dirty="0"/>
              <a:t>e</a:t>
            </a:r>
            <a:r>
              <a:rPr dirty="0"/>
              <a:t>t</a:t>
            </a:r>
            <a:r>
              <a:rPr spc="5" dirty="0"/>
              <a:t>er</a:t>
            </a:r>
            <a:r>
              <a:rPr dirty="0"/>
              <a:t>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57555" y="2317749"/>
            <a:ext cx="7656830" cy="2246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6870" marR="5080" indent="-344805" algn="just">
              <a:lnSpc>
                <a:spcPct val="100000"/>
              </a:lnSpc>
              <a:spcBef>
                <a:spcPts val="105"/>
              </a:spcBef>
            </a:pPr>
            <a:r>
              <a:rPr sz="2800" spc="15" dirty="0">
                <a:latin typeface="Wingdings"/>
                <a:cs typeface="Wingdings"/>
              </a:rPr>
              <a:t></a:t>
            </a:r>
            <a:r>
              <a:rPr sz="2800" spc="15" dirty="0">
                <a:latin typeface="Times New Roman"/>
                <a:cs typeface="Times New Roman"/>
              </a:rPr>
              <a:t>Menjelaskan </a:t>
            </a:r>
            <a:r>
              <a:rPr sz="2800" dirty="0">
                <a:latin typeface="Times New Roman"/>
                <a:cs typeface="Times New Roman"/>
              </a:rPr>
              <a:t>bagaimana </a:t>
            </a:r>
            <a:r>
              <a:rPr sz="2800" spc="5" dirty="0">
                <a:latin typeface="Times New Roman"/>
                <a:cs typeface="Times New Roman"/>
              </a:rPr>
              <a:t>sebuah struktur </a:t>
            </a:r>
            <a:r>
              <a:rPr sz="2800" spc="-5" dirty="0">
                <a:latin typeface="Times New Roman"/>
                <a:cs typeface="Times New Roman"/>
              </a:rPr>
              <a:t>organisasi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digunakan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oleh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sebuah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perusahaan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untuk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mencapai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sasaran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rencana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strategisnya.</a:t>
            </a:r>
          </a:p>
          <a:p>
            <a:pPr marL="356870" marR="379095" indent="-344805" algn="just">
              <a:lnSpc>
                <a:spcPct val="100000"/>
              </a:lnSpc>
              <a:spcBef>
                <a:spcPts val="680"/>
              </a:spcBef>
            </a:pPr>
            <a:r>
              <a:rPr sz="2800" spc="10" dirty="0">
                <a:latin typeface="Wingdings"/>
                <a:cs typeface="Wingdings"/>
              </a:rPr>
              <a:t></a:t>
            </a:r>
            <a:r>
              <a:rPr sz="2800" spc="10" dirty="0">
                <a:latin typeface="Times New Roman"/>
                <a:cs typeface="Times New Roman"/>
              </a:rPr>
              <a:t>Mengidentifikasi </a:t>
            </a:r>
            <a:r>
              <a:rPr sz="2800" dirty="0">
                <a:latin typeface="Times New Roman"/>
                <a:cs typeface="Times New Roman"/>
              </a:rPr>
              <a:t>metode-metode </a:t>
            </a:r>
            <a:r>
              <a:rPr sz="2800" spc="-5" dirty="0">
                <a:latin typeface="Times New Roman"/>
                <a:cs typeface="Times New Roman"/>
              </a:rPr>
              <a:t>yang </a:t>
            </a:r>
            <a:r>
              <a:rPr sz="2800" spc="5" dirty="0">
                <a:latin typeface="Times New Roman"/>
                <a:cs typeface="Times New Roman"/>
              </a:rPr>
              <a:t>dapat 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digunakan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untuk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tugas-tugas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departementalisasi.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585720" y="421894"/>
            <a:ext cx="39719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Struktur</a:t>
            </a:r>
            <a:r>
              <a:rPr spc="-45" dirty="0"/>
              <a:t> </a:t>
            </a:r>
            <a:r>
              <a:rPr spc="-5" dirty="0"/>
              <a:t>Organisasi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00"/>
              </a:lnSpc>
            </a:pPr>
            <a:r>
              <a:rPr b="0" spc="5" dirty="0">
                <a:latin typeface="Times New Roman"/>
                <a:cs typeface="Times New Roman"/>
              </a:rPr>
              <a:t>©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dirty="0"/>
              <a:t>2001</a:t>
            </a:r>
            <a:r>
              <a:rPr spc="-20" dirty="0"/>
              <a:t> </a:t>
            </a:r>
            <a:r>
              <a:rPr spc="-5" dirty="0"/>
              <a:t>South-Western</a:t>
            </a:r>
            <a:r>
              <a:rPr dirty="0"/>
              <a:t> College</a:t>
            </a:r>
            <a:r>
              <a:rPr spc="-15" dirty="0"/>
              <a:t> </a:t>
            </a:r>
            <a:r>
              <a:rPr spc="-5" dirty="0"/>
              <a:t>Publishing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00"/>
              </a:lnSpc>
            </a:pPr>
            <a:r>
              <a:rPr spc="10" dirty="0"/>
              <a:t>M</a:t>
            </a:r>
            <a:r>
              <a:rPr spc="-35" dirty="0"/>
              <a:t>u</a:t>
            </a:r>
            <a:r>
              <a:rPr spc="5" dirty="0"/>
              <a:t>l</a:t>
            </a:r>
            <a:r>
              <a:rPr dirty="0"/>
              <a:t>t</a:t>
            </a:r>
            <a:r>
              <a:rPr spc="5" dirty="0"/>
              <a:t>iMe</a:t>
            </a:r>
            <a:r>
              <a:rPr spc="-10" dirty="0"/>
              <a:t>d</a:t>
            </a:r>
            <a:r>
              <a:rPr spc="5" dirty="0"/>
              <a:t>i</a:t>
            </a:r>
            <a:r>
              <a:rPr dirty="0"/>
              <a:t>a</a:t>
            </a:r>
            <a:r>
              <a:rPr spc="-85" dirty="0"/>
              <a:t> </a:t>
            </a:r>
            <a:r>
              <a:rPr spc="-10" dirty="0"/>
              <a:t>b</a:t>
            </a:r>
            <a:r>
              <a:rPr dirty="0"/>
              <a:t>y</a:t>
            </a:r>
            <a:r>
              <a:rPr spc="10" dirty="0"/>
              <a:t> </a:t>
            </a:r>
            <a:r>
              <a:rPr spc="-10" dirty="0"/>
              <a:t>S</a:t>
            </a:r>
            <a:r>
              <a:rPr dirty="0"/>
              <a:t>t</a:t>
            </a:r>
            <a:r>
              <a:rPr spc="5" dirty="0"/>
              <a:t>e</a:t>
            </a:r>
            <a:r>
              <a:rPr spc="-10" dirty="0"/>
              <a:t>ph</a:t>
            </a:r>
            <a:r>
              <a:rPr spc="5" dirty="0"/>
              <a:t>e</a:t>
            </a:r>
            <a:r>
              <a:rPr dirty="0"/>
              <a:t>n</a:t>
            </a:r>
            <a:r>
              <a:rPr spc="-45" dirty="0"/>
              <a:t> </a:t>
            </a:r>
            <a:r>
              <a:rPr spc="10" dirty="0"/>
              <a:t>M</a:t>
            </a:r>
            <a:r>
              <a:rPr dirty="0"/>
              <a:t>. </a:t>
            </a:r>
            <a:r>
              <a:rPr spc="-20" dirty="0"/>
              <a:t>P</a:t>
            </a:r>
            <a:r>
              <a:rPr spc="5" dirty="0"/>
              <a:t>e</a:t>
            </a:r>
            <a:r>
              <a:rPr dirty="0"/>
              <a:t>t</a:t>
            </a:r>
            <a:r>
              <a:rPr spc="5" dirty="0"/>
              <a:t>er</a:t>
            </a:r>
            <a:r>
              <a:rPr dirty="0"/>
              <a:t>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93675" y="2930525"/>
            <a:ext cx="1524000" cy="838200"/>
          </a:xfrm>
          <a:prstGeom prst="rect">
            <a:avLst/>
          </a:prstGeom>
          <a:solidFill>
            <a:srgbClr val="8EB4E2"/>
          </a:solidFill>
          <a:ln w="12700">
            <a:solidFill>
              <a:srgbClr val="000000"/>
            </a:solidFill>
          </a:ln>
        </p:spPr>
        <p:txBody>
          <a:bodyPr vert="horz" wrap="square" lIns="0" tIns="170815" rIns="0" bIns="0" rtlCol="0">
            <a:spAutoFit/>
          </a:bodyPr>
          <a:lstStyle/>
          <a:p>
            <a:pPr marL="390525" marR="144145" indent="-229235">
              <a:lnSpc>
                <a:spcPct val="100000"/>
              </a:lnSpc>
              <a:spcBef>
                <a:spcPts val="1345"/>
              </a:spcBef>
            </a:pPr>
            <a:r>
              <a:rPr sz="1600" spc="-5" dirty="0">
                <a:latin typeface="Times New Roman"/>
                <a:cs typeface="Times New Roman"/>
              </a:rPr>
              <a:t>O</a:t>
            </a:r>
            <a:r>
              <a:rPr sz="1600" spc="-35" dirty="0">
                <a:latin typeface="Times New Roman"/>
                <a:cs typeface="Times New Roman"/>
              </a:rPr>
              <a:t>r</a:t>
            </a:r>
            <a:r>
              <a:rPr sz="1600" spc="-15" dirty="0">
                <a:latin typeface="Times New Roman"/>
                <a:cs typeface="Times New Roman"/>
              </a:rPr>
              <a:t>g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5" dirty="0">
                <a:latin typeface="Times New Roman"/>
                <a:cs typeface="Times New Roman"/>
              </a:rPr>
              <a:t>ni</a:t>
            </a:r>
            <a:r>
              <a:rPr sz="1600" spc="-20" dirty="0">
                <a:latin typeface="Times New Roman"/>
                <a:cs typeface="Times New Roman"/>
              </a:rPr>
              <a:t>z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5" dirty="0">
                <a:latin typeface="Times New Roman"/>
                <a:cs typeface="Times New Roman"/>
              </a:rPr>
              <a:t>ti</a:t>
            </a:r>
            <a:r>
              <a:rPr sz="1600" spc="-15" dirty="0">
                <a:latin typeface="Times New Roman"/>
                <a:cs typeface="Times New Roman"/>
              </a:rPr>
              <a:t>o</a:t>
            </a:r>
            <a:r>
              <a:rPr sz="1600" spc="5" dirty="0">
                <a:latin typeface="Times New Roman"/>
                <a:cs typeface="Times New Roman"/>
              </a:rPr>
              <a:t>n</a:t>
            </a:r>
            <a:r>
              <a:rPr sz="1600" dirty="0">
                <a:latin typeface="Times New Roman"/>
                <a:cs typeface="Times New Roman"/>
              </a:rPr>
              <a:t>al  Structure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74875" y="2743200"/>
            <a:ext cx="1524000" cy="1295400"/>
          </a:xfrm>
          <a:prstGeom prst="rect">
            <a:avLst/>
          </a:prstGeom>
          <a:solidFill>
            <a:srgbClr val="D99593"/>
          </a:solidFill>
          <a:ln w="12700">
            <a:solidFill>
              <a:srgbClr val="000000"/>
            </a:solidFill>
          </a:ln>
        </p:spPr>
        <p:txBody>
          <a:bodyPr vert="horz" wrap="square" lIns="0" tIns="165735" rIns="0" bIns="0" rtlCol="0">
            <a:spAutoFit/>
          </a:bodyPr>
          <a:lstStyle/>
          <a:p>
            <a:pPr marL="205104" marR="196850" indent="-1270" algn="ctr">
              <a:lnSpc>
                <a:spcPct val="100000"/>
              </a:lnSpc>
              <a:spcBef>
                <a:spcPts val="1305"/>
              </a:spcBef>
            </a:pPr>
            <a:r>
              <a:rPr sz="1600" spc="-10" dirty="0">
                <a:latin typeface="Times New Roman"/>
                <a:cs typeface="Times New Roman"/>
              </a:rPr>
              <a:t>Allocation </a:t>
            </a:r>
            <a:r>
              <a:rPr sz="1600" spc="-5" dirty="0">
                <a:latin typeface="Times New Roman"/>
                <a:cs typeface="Times New Roman"/>
              </a:rPr>
              <a:t>of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Employees </a:t>
            </a:r>
            <a:r>
              <a:rPr sz="1600" spc="5" dirty="0">
                <a:latin typeface="Times New Roman"/>
                <a:cs typeface="Times New Roman"/>
              </a:rPr>
              <a:t>to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Various </a:t>
            </a:r>
            <a:r>
              <a:rPr sz="1600" spc="-5" dirty="0">
                <a:latin typeface="Times New Roman"/>
                <a:cs typeface="Times New Roman"/>
              </a:rPr>
              <a:t>Job 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Tasks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70426" y="2971800"/>
            <a:ext cx="1295400" cy="762000"/>
          </a:xfrm>
          <a:prstGeom prst="rect">
            <a:avLst/>
          </a:prstGeom>
          <a:solidFill>
            <a:srgbClr val="FFC000"/>
          </a:solidFill>
          <a:ln w="12700">
            <a:solidFill>
              <a:srgbClr val="000000"/>
            </a:solidFill>
          </a:ln>
        </p:spPr>
        <p:txBody>
          <a:bodyPr vert="horz" wrap="square" lIns="0" tIns="165735" rIns="0" bIns="0" rtlCol="0">
            <a:spAutoFit/>
          </a:bodyPr>
          <a:lstStyle/>
          <a:p>
            <a:pPr marR="67310" algn="ctr">
              <a:lnSpc>
                <a:spcPct val="100000"/>
              </a:lnSpc>
              <a:spcBef>
                <a:spcPts val="1305"/>
              </a:spcBef>
            </a:pPr>
            <a:r>
              <a:rPr sz="1600" spc="-25" dirty="0">
                <a:latin typeface="Times New Roman"/>
                <a:cs typeface="Times New Roman"/>
              </a:rPr>
              <a:t>Firm’s</a:t>
            </a:r>
            <a:endParaRPr sz="1600">
              <a:latin typeface="Times New Roman"/>
              <a:cs typeface="Times New Roman"/>
            </a:endParaRPr>
          </a:p>
          <a:p>
            <a:pPr marR="64769" algn="ctr"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latin typeface="Times New Roman"/>
                <a:cs typeface="Times New Roman"/>
              </a:rPr>
              <a:t>Expenses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08675" y="2973451"/>
            <a:ext cx="1295400" cy="762000"/>
          </a:xfrm>
          <a:prstGeom prst="rect">
            <a:avLst/>
          </a:prstGeom>
          <a:solidFill>
            <a:srgbClr val="8EB4E2"/>
          </a:solidFill>
          <a:ln w="12700">
            <a:solidFill>
              <a:srgbClr val="000000"/>
            </a:solidFill>
          </a:ln>
        </p:spPr>
        <p:txBody>
          <a:bodyPr vert="horz" wrap="square" lIns="0" tIns="114935" rIns="0" bIns="0" rtlCol="0">
            <a:spAutoFit/>
          </a:bodyPr>
          <a:lstStyle/>
          <a:p>
            <a:pPr marL="395605">
              <a:lnSpc>
                <a:spcPct val="100000"/>
              </a:lnSpc>
              <a:spcBef>
                <a:spcPts val="905"/>
              </a:spcBef>
            </a:pPr>
            <a:r>
              <a:rPr sz="1600" spc="-5" dirty="0">
                <a:latin typeface="Times New Roman"/>
                <a:cs typeface="Times New Roman"/>
              </a:rPr>
              <a:t>Firm's</a:t>
            </a:r>
            <a:endParaRPr sz="16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Times New Roman"/>
                <a:cs typeface="Times New Roman"/>
              </a:rPr>
              <a:t>Earnings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61275" y="2971800"/>
            <a:ext cx="1295400" cy="762000"/>
          </a:xfrm>
          <a:prstGeom prst="rect">
            <a:avLst/>
          </a:prstGeom>
          <a:solidFill>
            <a:srgbClr val="00AF50"/>
          </a:solidFill>
          <a:ln w="12700">
            <a:solidFill>
              <a:srgbClr val="000000"/>
            </a:solidFill>
          </a:ln>
        </p:spPr>
        <p:txBody>
          <a:bodyPr vert="horz" wrap="square" lIns="0" tIns="114935" rIns="0" bIns="0" rtlCol="0">
            <a:spAutoFit/>
          </a:bodyPr>
          <a:lstStyle/>
          <a:p>
            <a:pPr marL="417830" marR="380365" indent="-21590">
              <a:lnSpc>
                <a:spcPct val="100000"/>
              </a:lnSpc>
              <a:spcBef>
                <a:spcPts val="905"/>
              </a:spcBef>
            </a:pPr>
            <a:r>
              <a:rPr sz="1600" spc="-30" dirty="0">
                <a:latin typeface="Times New Roman"/>
                <a:cs typeface="Times New Roman"/>
              </a:rPr>
              <a:t>F</a:t>
            </a:r>
            <a:r>
              <a:rPr sz="1600" spc="5" dirty="0">
                <a:latin typeface="Times New Roman"/>
                <a:cs typeface="Times New Roman"/>
              </a:rPr>
              <a:t>i</a:t>
            </a:r>
            <a:r>
              <a:rPr sz="1600" spc="-5" dirty="0">
                <a:latin typeface="Times New Roman"/>
                <a:cs typeface="Times New Roman"/>
              </a:rPr>
              <a:t>r</a:t>
            </a:r>
            <a:r>
              <a:rPr sz="1600" dirty="0">
                <a:latin typeface="Times New Roman"/>
                <a:cs typeface="Times New Roman"/>
              </a:rPr>
              <a:t>m's  </a:t>
            </a:r>
            <a:r>
              <a:rPr sz="1600" spc="-35" dirty="0">
                <a:latin typeface="Times New Roman"/>
                <a:cs typeface="Times New Roman"/>
              </a:rPr>
              <a:t>Value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204075" y="3309873"/>
            <a:ext cx="381000" cy="85725"/>
          </a:xfrm>
          <a:custGeom>
            <a:avLst/>
            <a:gdLst/>
            <a:ahLst/>
            <a:cxnLst/>
            <a:rect l="l" t="t" r="r" b="b"/>
            <a:pathLst>
              <a:path w="381000" h="85725">
                <a:moveTo>
                  <a:pt x="295275" y="0"/>
                </a:moveTo>
                <a:lnTo>
                  <a:pt x="295275" y="85725"/>
                </a:lnTo>
                <a:lnTo>
                  <a:pt x="352509" y="57150"/>
                </a:lnTo>
                <a:lnTo>
                  <a:pt x="309499" y="57150"/>
                </a:lnTo>
                <a:lnTo>
                  <a:pt x="309499" y="28575"/>
                </a:lnTo>
                <a:lnTo>
                  <a:pt x="352340" y="28575"/>
                </a:lnTo>
                <a:lnTo>
                  <a:pt x="295275" y="0"/>
                </a:lnTo>
                <a:close/>
              </a:path>
              <a:path w="381000" h="85725">
                <a:moveTo>
                  <a:pt x="295275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295275" y="57150"/>
                </a:lnTo>
                <a:lnTo>
                  <a:pt x="295275" y="28575"/>
                </a:lnTo>
                <a:close/>
              </a:path>
              <a:path w="381000" h="85725">
                <a:moveTo>
                  <a:pt x="352340" y="28575"/>
                </a:moveTo>
                <a:lnTo>
                  <a:pt x="309499" y="28575"/>
                </a:lnTo>
                <a:lnTo>
                  <a:pt x="309499" y="57150"/>
                </a:lnTo>
                <a:lnTo>
                  <a:pt x="352509" y="57150"/>
                </a:lnTo>
                <a:lnTo>
                  <a:pt x="381000" y="42925"/>
                </a:lnTo>
                <a:lnTo>
                  <a:pt x="352340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486400" y="3309873"/>
            <a:ext cx="381000" cy="85725"/>
          </a:xfrm>
          <a:custGeom>
            <a:avLst/>
            <a:gdLst/>
            <a:ahLst/>
            <a:cxnLst/>
            <a:rect l="l" t="t" r="r" b="b"/>
            <a:pathLst>
              <a:path w="381000" h="85725">
                <a:moveTo>
                  <a:pt x="295275" y="0"/>
                </a:moveTo>
                <a:lnTo>
                  <a:pt x="295275" y="85725"/>
                </a:lnTo>
                <a:lnTo>
                  <a:pt x="352509" y="57150"/>
                </a:lnTo>
                <a:lnTo>
                  <a:pt x="309499" y="57150"/>
                </a:lnTo>
                <a:lnTo>
                  <a:pt x="309499" y="28575"/>
                </a:lnTo>
                <a:lnTo>
                  <a:pt x="352340" y="28575"/>
                </a:lnTo>
                <a:lnTo>
                  <a:pt x="295275" y="0"/>
                </a:lnTo>
                <a:close/>
              </a:path>
              <a:path w="381000" h="85725">
                <a:moveTo>
                  <a:pt x="295275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295275" y="57150"/>
                </a:lnTo>
                <a:lnTo>
                  <a:pt x="295275" y="28575"/>
                </a:lnTo>
                <a:close/>
              </a:path>
              <a:path w="381000" h="85725">
                <a:moveTo>
                  <a:pt x="352340" y="28575"/>
                </a:moveTo>
                <a:lnTo>
                  <a:pt x="309499" y="28575"/>
                </a:lnTo>
                <a:lnTo>
                  <a:pt x="309499" y="57150"/>
                </a:lnTo>
                <a:lnTo>
                  <a:pt x="352509" y="57150"/>
                </a:lnTo>
                <a:lnTo>
                  <a:pt x="381000" y="42925"/>
                </a:lnTo>
                <a:lnTo>
                  <a:pt x="352340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717675" y="3309873"/>
            <a:ext cx="381000" cy="85725"/>
          </a:xfrm>
          <a:custGeom>
            <a:avLst/>
            <a:gdLst/>
            <a:ahLst/>
            <a:cxnLst/>
            <a:rect l="l" t="t" r="r" b="b"/>
            <a:pathLst>
              <a:path w="381000" h="85725">
                <a:moveTo>
                  <a:pt x="295275" y="0"/>
                </a:moveTo>
                <a:lnTo>
                  <a:pt x="295275" y="85725"/>
                </a:lnTo>
                <a:lnTo>
                  <a:pt x="352509" y="57150"/>
                </a:lnTo>
                <a:lnTo>
                  <a:pt x="309499" y="57150"/>
                </a:lnTo>
                <a:lnTo>
                  <a:pt x="309499" y="28575"/>
                </a:lnTo>
                <a:lnTo>
                  <a:pt x="352340" y="28575"/>
                </a:lnTo>
                <a:lnTo>
                  <a:pt x="295275" y="0"/>
                </a:lnTo>
                <a:close/>
              </a:path>
              <a:path w="381000" h="85725">
                <a:moveTo>
                  <a:pt x="295275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295275" y="57150"/>
                </a:lnTo>
                <a:lnTo>
                  <a:pt x="295275" y="28575"/>
                </a:lnTo>
                <a:close/>
              </a:path>
              <a:path w="381000" h="85725">
                <a:moveTo>
                  <a:pt x="352340" y="28575"/>
                </a:moveTo>
                <a:lnTo>
                  <a:pt x="309499" y="28575"/>
                </a:lnTo>
                <a:lnTo>
                  <a:pt x="309499" y="57150"/>
                </a:lnTo>
                <a:lnTo>
                  <a:pt x="352509" y="57150"/>
                </a:lnTo>
                <a:lnTo>
                  <a:pt x="381000" y="42925"/>
                </a:lnTo>
                <a:lnTo>
                  <a:pt x="352340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698875" y="3309873"/>
            <a:ext cx="381000" cy="85725"/>
          </a:xfrm>
          <a:custGeom>
            <a:avLst/>
            <a:gdLst/>
            <a:ahLst/>
            <a:cxnLst/>
            <a:rect l="l" t="t" r="r" b="b"/>
            <a:pathLst>
              <a:path w="381000" h="85725">
                <a:moveTo>
                  <a:pt x="295275" y="0"/>
                </a:moveTo>
                <a:lnTo>
                  <a:pt x="295275" y="85725"/>
                </a:lnTo>
                <a:lnTo>
                  <a:pt x="352509" y="57150"/>
                </a:lnTo>
                <a:lnTo>
                  <a:pt x="309499" y="57150"/>
                </a:lnTo>
                <a:lnTo>
                  <a:pt x="309499" y="28575"/>
                </a:lnTo>
                <a:lnTo>
                  <a:pt x="352340" y="28575"/>
                </a:lnTo>
                <a:lnTo>
                  <a:pt x="295275" y="0"/>
                </a:lnTo>
                <a:close/>
              </a:path>
              <a:path w="381000" h="85725">
                <a:moveTo>
                  <a:pt x="295275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295275" y="57150"/>
                </a:lnTo>
                <a:lnTo>
                  <a:pt x="295275" y="28575"/>
                </a:lnTo>
                <a:close/>
              </a:path>
              <a:path w="381000" h="85725">
                <a:moveTo>
                  <a:pt x="352340" y="28575"/>
                </a:moveTo>
                <a:lnTo>
                  <a:pt x="309499" y="28575"/>
                </a:lnTo>
                <a:lnTo>
                  <a:pt x="309499" y="57150"/>
                </a:lnTo>
                <a:lnTo>
                  <a:pt x="352509" y="57150"/>
                </a:lnTo>
                <a:lnTo>
                  <a:pt x="381000" y="42925"/>
                </a:lnTo>
                <a:lnTo>
                  <a:pt x="352340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585720" y="215849"/>
            <a:ext cx="3971290" cy="884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Struktur</a:t>
            </a:r>
            <a:r>
              <a:rPr spc="-55" dirty="0"/>
              <a:t> </a:t>
            </a:r>
            <a:r>
              <a:rPr spc="-5" dirty="0"/>
              <a:t>Organisasi</a:t>
            </a:r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sz="2000" spc="-5" dirty="0"/>
              <a:t>(Organizational</a:t>
            </a:r>
            <a:r>
              <a:rPr sz="2000" spc="-90" dirty="0"/>
              <a:t> </a:t>
            </a:r>
            <a:r>
              <a:rPr sz="2000" spc="-5" dirty="0"/>
              <a:t>Structure)</a:t>
            </a:r>
            <a:endParaRPr sz="2000"/>
          </a:p>
        </p:txBody>
      </p:sp>
      <p:sp>
        <p:nvSpPr>
          <p:cNvPr id="29" name="object 2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2125" marR="5080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Mengindentifikasikan</a:t>
            </a:r>
            <a:r>
              <a:rPr spc="-105" dirty="0"/>
              <a:t> </a:t>
            </a:r>
            <a:r>
              <a:rPr spc="5" dirty="0"/>
              <a:t>tanggung</a:t>
            </a:r>
            <a:r>
              <a:rPr spc="-55" dirty="0"/>
              <a:t> </a:t>
            </a:r>
            <a:r>
              <a:rPr dirty="0"/>
              <a:t>jawab</a:t>
            </a:r>
            <a:r>
              <a:rPr spc="-30" dirty="0"/>
              <a:t> </a:t>
            </a:r>
            <a:r>
              <a:rPr spc="5" dirty="0"/>
              <a:t>bagi</a:t>
            </a:r>
            <a:r>
              <a:rPr spc="-35" dirty="0"/>
              <a:t> </a:t>
            </a:r>
            <a:r>
              <a:rPr spc="5" dirty="0"/>
              <a:t>masing-masing</a:t>
            </a:r>
            <a:r>
              <a:rPr spc="-75" dirty="0"/>
              <a:t> </a:t>
            </a:r>
            <a:r>
              <a:rPr spc="5" dirty="0"/>
              <a:t>jabatan</a:t>
            </a:r>
            <a:r>
              <a:rPr spc="-60" dirty="0"/>
              <a:t> </a:t>
            </a:r>
            <a:r>
              <a:rPr dirty="0"/>
              <a:t>pekerjaan </a:t>
            </a:r>
            <a:r>
              <a:rPr spc="-434" dirty="0"/>
              <a:t> </a:t>
            </a:r>
            <a:r>
              <a:rPr spc="5" dirty="0"/>
              <a:t>dan</a:t>
            </a:r>
            <a:r>
              <a:rPr spc="-65" dirty="0"/>
              <a:t> </a:t>
            </a:r>
            <a:r>
              <a:rPr spc="5" dirty="0"/>
              <a:t>hubungan</a:t>
            </a:r>
            <a:r>
              <a:rPr spc="-65" dirty="0"/>
              <a:t> </a:t>
            </a:r>
            <a:r>
              <a:rPr dirty="0"/>
              <a:t>antara</a:t>
            </a:r>
            <a:r>
              <a:rPr spc="-40" dirty="0"/>
              <a:t> </a:t>
            </a:r>
            <a:r>
              <a:rPr spc="5" dirty="0"/>
              <a:t>jabatan-jabatan</a:t>
            </a:r>
            <a:r>
              <a:rPr spc="-110" dirty="0"/>
              <a:t> </a:t>
            </a:r>
            <a:r>
              <a:rPr dirty="0"/>
              <a:t>itu</a:t>
            </a:r>
            <a:r>
              <a:rPr spc="-15" dirty="0"/>
              <a:t> </a:t>
            </a:r>
            <a:r>
              <a:rPr spc="-5" dirty="0"/>
              <a:t>sendiri.</a:t>
            </a:r>
          </a:p>
          <a:p>
            <a:pPr marL="480695" algn="ctr">
              <a:lnSpc>
                <a:spcPct val="100000"/>
              </a:lnSpc>
            </a:pPr>
            <a:r>
              <a:rPr dirty="0"/>
              <a:t>Struktur</a:t>
            </a:r>
            <a:r>
              <a:rPr spc="-65" dirty="0"/>
              <a:t> </a:t>
            </a:r>
            <a:r>
              <a:rPr dirty="0"/>
              <a:t>organisasi</a:t>
            </a:r>
            <a:r>
              <a:rPr spc="-35" dirty="0"/>
              <a:t> </a:t>
            </a:r>
            <a:r>
              <a:rPr dirty="0"/>
              <a:t>perusahaan</a:t>
            </a:r>
            <a:r>
              <a:rPr spc="-50" dirty="0"/>
              <a:t> </a:t>
            </a:r>
            <a:r>
              <a:rPr spc="5" dirty="0"/>
              <a:t>dapat</a:t>
            </a:r>
            <a:r>
              <a:rPr spc="-30" dirty="0"/>
              <a:t> </a:t>
            </a:r>
            <a:r>
              <a:rPr spc="5" dirty="0"/>
              <a:t>digambarkan</a:t>
            </a:r>
            <a:r>
              <a:rPr spc="-100" dirty="0"/>
              <a:t> </a:t>
            </a:r>
            <a:r>
              <a:rPr dirty="0"/>
              <a:t>dengan</a:t>
            </a:r>
            <a:r>
              <a:rPr spc="40" dirty="0"/>
              <a:t> </a:t>
            </a:r>
            <a:r>
              <a:rPr dirty="0">
                <a:solidFill>
                  <a:srgbClr val="C00000"/>
                </a:solidFill>
              </a:rPr>
              <a:t>Organizational</a:t>
            </a:r>
          </a:p>
          <a:p>
            <a:pPr marL="483234" algn="ctr">
              <a:lnSpc>
                <a:spcPct val="100000"/>
              </a:lnSpc>
              <a:spcBef>
                <a:spcPts val="5"/>
              </a:spcBef>
            </a:pPr>
            <a:r>
              <a:rPr dirty="0">
                <a:solidFill>
                  <a:srgbClr val="C00000"/>
                </a:solidFill>
              </a:rPr>
              <a:t>Chart</a:t>
            </a:r>
          </a:p>
          <a:p>
            <a:pPr marR="3728085" algn="ctr">
              <a:lnSpc>
                <a:spcPct val="100000"/>
              </a:lnSpc>
              <a:spcBef>
                <a:spcPts val="1065"/>
              </a:spcBef>
            </a:pPr>
            <a:r>
              <a:rPr i="0" dirty="0">
                <a:solidFill>
                  <a:srgbClr val="000000"/>
                </a:solidFill>
                <a:latin typeface="Times New Roman"/>
                <a:cs typeface="Times New Roman"/>
              </a:rPr>
              <a:t>Bagan</a:t>
            </a:r>
            <a:r>
              <a:rPr i="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i="0" spc="-5" dirty="0">
                <a:solidFill>
                  <a:srgbClr val="000000"/>
                </a:solidFill>
                <a:latin typeface="Times New Roman"/>
                <a:cs typeface="Times New Roman"/>
              </a:rPr>
              <a:t>Organisasi</a:t>
            </a:r>
            <a:r>
              <a:rPr i="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i="0" spc="-5" dirty="0">
                <a:solidFill>
                  <a:srgbClr val="000000"/>
                </a:solidFill>
                <a:latin typeface="Times New Roman"/>
                <a:cs typeface="Times New Roman"/>
              </a:rPr>
              <a:t>(Organizational</a:t>
            </a:r>
            <a:r>
              <a:rPr i="0" spc="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i="0" spc="-5" dirty="0">
                <a:solidFill>
                  <a:srgbClr val="000000"/>
                </a:solidFill>
                <a:latin typeface="Times New Roman"/>
                <a:cs typeface="Times New Roman"/>
              </a:rPr>
              <a:t>Chart):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00"/>
              </a:lnSpc>
            </a:pPr>
            <a:r>
              <a:rPr b="0" spc="5" dirty="0">
                <a:latin typeface="Times New Roman"/>
                <a:cs typeface="Times New Roman"/>
              </a:rPr>
              <a:t>©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dirty="0"/>
              <a:t>2001</a:t>
            </a:r>
            <a:r>
              <a:rPr spc="-20" dirty="0"/>
              <a:t> </a:t>
            </a:r>
            <a:r>
              <a:rPr spc="-5" dirty="0"/>
              <a:t>South-Western</a:t>
            </a:r>
            <a:r>
              <a:rPr dirty="0"/>
              <a:t> College</a:t>
            </a:r>
            <a:r>
              <a:rPr spc="-15" dirty="0"/>
              <a:t> </a:t>
            </a:r>
            <a:r>
              <a:rPr spc="-5" dirty="0"/>
              <a:t>Publishing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00"/>
              </a:lnSpc>
            </a:pPr>
            <a:r>
              <a:rPr spc="10" dirty="0"/>
              <a:t>M</a:t>
            </a:r>
            <a:r>
              <a:rPr spc="-35" dirty="0"/>
              <a:t>u</a:t>
            </a:r>
            <a:r>
              <a:rPr spc="5" dirty="0"/>
              <a:t>l</a:t>
            </a:r>
            <a:r>
              <a:rPr dirty="0"/>
              <a:t>t</a:t>
            </a:r>
            <a:r>
              <a:rPr spc="5" dirty="0"/>
              <a:t>iMe</a:t>
            </a:r>
            <a:r>
              <a:rPr spc="-10" dirty="0"/>
              <a:t>d</a:t>
            </a:r>
            <a:r>
              <a:rPr spc="5" dirty="0"/>
              <a:t>i</a:t>
            </a:r>
            <a:r>
              <a:rPr dirty="0"/>
              <a:t>a</a:t>
            </a:r>
            <a:r>
              <a:rPr spc="-85" dirty="0"/>
              <a:t> </a:t>
            </a:r>
            <a:r>
              <a:rPr spc="-10" dirty="0"/>
              <a:t>b</a:t>
            </a:r>
            <a:r>
              <a:rPr dirty="0"/>
              <a:t>y</a:t>
            </a:r>
            <a:r>
              <a:rPr spc="10" dirty="0"/>
              <a:t> </a:t>
            </a:r>
            <a:r>
              <a:rPr spc="-10" dirty="0"/>
              <a:t>S</a:t>
            </a:r>
            <a:r>
              <a:rPr dirty="0"/>
              <a:t>t</a:t>
            </a:r>
            <a:r>
              <a:rPr spc="5" dirty="0"/>
              <a:t>e</a:t>
            </a:r>
            <a:r>
              <a:rPr spc="-10" dirty="0"/>
              <a:t>ph</a:t>
            </a:r>
            <a:r>
              <a:rPr spc="5" dirty="0"/>
              <a:t>e</a:t>
            </a:r>
            <a:r>
              <a:rPr dirty="0"/>
              <a:t>n</a:t>
            </a:r>
            <a:r>
              <a:rPr spc="-45" dirty="0"/>
              <a:t> </a:t>
            </a:r>
            <a:r>
              <a:rPr spc="10" dirty="0"/>
              <a:t>M</a:t>
            </a:r>
            <a:r>
              <a:rPr dirty="0"/>
              <a:t>. </a:t>
            </a:r>
            <a:r>
              <a:rPr spc="-20" dirty="0"/>
              <a:t>P</a:t>
            </a:r>
            <a:r>
              <a:rPr spc="5" dirty="0"/>
              <a:t>e</a:t>
            </a:r>
            <a:r>
              <a:rPr dirty="0"/>
              <a:t>t</a:t>
            </a:r>
            <a:r>
              <a:rPr spc="5" dirty="0"/>
              <a:t>er</a:t>
            </a:r>
            <a:r>
              <a:rPr dirty="0"/>
              <a:t>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132578" y="2843275"/>
            <a:ext cx="175260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latin typeface="Arial"/>
                <a:cs typeface="Arial"/>
              </a:rPr>
              <a:t>Bagan</a:t>
            </a:r>
            <a:r>
              <a:rPr sz="1600" b="1" spc="-11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Organisasi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169850" y="3837051"/>
            <a:ext cx="0" cy="330200"/>
          </a:xfrm>
          <a:custGeom>
            <a:avLst/>
            <a:gdLst/>
            <a:ahLst/>
            <a:cxnLst/>
            <a:rect l="l" t="t" r="r" b="b"/>
            <a:pathLst>
              <a:path h="330200">
                <a:moveTo>
                  <a:pt x="0" y="0"/>
                </a:moveTo>
                <a:lnTo>
                  <a:pt x="0" y="330136"/>
                </a:lnTo>
              </a:path>
            </a:pathLst>
          </a:custGeom>
          <a:ln w="159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4344257" y="4540250"/>
            <a:ext cx="3651250" cy="328930"/>
            <a:chOff x="4344257" y="4540250"/>
            <a:chExt cx="3651250" cy="328930"/>
          </a:xfrm>
        </p:grpSpPr>
        <p:sp>
          <p:nvSpPr>
            <p:cNvPr id="9" name="object 9"/>
            <p:cNvSpPr/>
            <p:nvPr/>
          </p:nvSpPr>
          <p:spPr>
            <a:xfrm>
              <a:off x="6169850" y="4540250"/>
              <a:ext cx="0" cy="328930"/>
            </a:xfrm>
            <a:custGeom>
              <a:avLst/>
              <a:gdLst/>
              <a:ahLst/>
              <a:cxnLst/>
              <a:rect l="l" t="t" r="r" b="b"/>
              <a:pathLst>
                <a:path h="328929">
                  <a:moveTo>
                    <a:pt x="0" y="0"/>
                  </a:moveTo>
                  <a:lnTo>
                    <a:pt x="0" y="170592"/>
                  </a:lnTo>
                </a:path>
                <a:path h="328929">
                  <a:moveTo>
                    <a:pt x="0" y="156305"/>
                  </a:moveTo>
                  <a:lnTo>
                    <a:pt x="0" y="328612"/>
                  </a:lnTo>
                </a:path>
              </a:pathLst>
            </a:custGeom>
            <a:ln w="159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352163" y="4696555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307"/>
                  </a:lnTo>
                </a:path>
              </a:pathLst>
            </a:custGeom>
            <a:ln w="158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51401" y="4703698"/>
              <a:ext cx="1818005" cy="1905"/>
            </a:xfrm>
            <a:custGeom>
              <a:avLst/>
              <a:gdLst/>
              <a:ahLst/>
              <a:cxnLst/>
              <a:rect l="l" t="t" r="r" b="b"/>
              <a:pathLst>
                <a:path w="1818004" h="1904">
                  <a:moveTo>
                    <a:pt x="0" y="0"/>
                  </a:moveTo>
                  <a:lnTo>
                    <a:pt x="1817624" y="1650"/>
                  </a:lnTo>
                </a:path>
              </a:pathLst>
            </a:custGeom>
            <a:ln w="14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987538" y="4696555"/>
              <a:ext cx="0" cy="172720"/>
            </a:xfrm>
            <a:custGeom>
              <a:avLst/>
              <a:gdLst/>
              <a:ahLst/>
              <a:cxnLst/>
              <a:rect l="l" t="t" r="r" b="b"/>
              <a:pathLst>
                <a:path h="172720">
                  <a:moveTo>
                    <a:pt x="0" y="0"/>
                  </a:moveTo>
                  <a:lnTo>
                    <a:pt x="0" y="172307"/>
                  </a:lnTo>
                </a:path>
              </a:pathLst>
            </a:custGeom>
            <a:ln w="158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169025" y="4703698"/>
              <a:ext cx="1818005" cy="1905"/>
            </a:xfrm>
            <a:custGeom>
              <a:avLst/>
              <a:gdLst/>
              <a:ahLst/>
              <a:cxnLst/>
              <a:rect l="l" t="t" r="r" b="b"/>
              <a:pathLst>
                <a:path w="1818004" h="1904">
                  <a:moveTo>
                    <a:pt x="0" y="0"/>
                  </a:moveTo>
                  <a:lnTo>
                    <a:pt x="1817751" y="1650"/>
                  </a:lnTo>
                </a:path>
              </a:pathLst>
            </a:custGeom>
            <a:ln w="14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527425" y="4868862"/>
            <a:ext cx="1646555" cy="373380"/>
          </a:xfrm>
          <a:prstGeom prst="rect">
            <a:avLst/>
          </a:prstGeom>
          <a:solidFill>
            <a:srgbClr val="000080"/>
          </a:solidFill>
          <a:ln w="14287">
            <a:solidFill>
              <a:srgbClr val="808080"/>
            </a:solidFill>
          </a:ln>
        </p:spPr>
        <p:txBody>
          <a:bodyPr vert="horz" wrap="square" lIns="0" tIns="59055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465"/>
              </a:spcBef>
            </a:pP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CFO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345906" y="5241925"/>
            <a:ext cx="1648460" cy="328930"/>
            <a:chOff x="5345906" y="5241925"/>
            <a:chExt cx="1648460" cy="328930"/>
          </a:xfrm>
        </p:grpSpPr>
        <p:sp>
          <p:nvSpPr>
            <p:cNvPr id="16" name="object 16"/>
            <p:cNvSpPr/>
            <p:nvPr/>
          </p:nvSpPr>
          <p:spPr>
            <a:xfrm>
              <a:off x="5353875" y="5241925"/>
              <a:ext cx="815975" cy="328930"/>
            </a:xfrm>
            <a:custGeom>
              <a:avLst/>
              <a:gdLst/>
              <a:ahLst/>
              <a:cxnLst/>
              <a:rect l="l" t="t" r="r" b="b"/>
              <a:pathLst>
                <a:path w="815975" h="328929">
                  <a:moveTo>
                    <a:pt x="815975" y="0"/>
                  </a:moveTo>
                  <a:lnTo>
                    <a:pt x="815975" y="172243"/>
                  </a:lnTo>
                </a:path>
                <a:path w="815975" h="328929">
                  <a:moveTo>
                    <a:pt x="0" y="157956"/>
                  </a:moveTo>
                  <a:lnTo>
                    <a:pt x="0" y="328612"/>
                  </a:lnTo>
                </a:path>
              </a:pathLst>
            </a:custGeom>
            <a:ln w="159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53050" y="5407025"/>
              <a:ext cx="815975" cy="1905"/>
            </a:xfrm>
            <a:custGeom>
              <a:avLst/>
              <a:gdLst/>
              <a:ahLst/>
              <a:cxnLst/>
              <a:rect l="l" t="t" r="r" b="b"/>
              <a:pathLst>
                <a:path w="815975" h="1904">
                  <a:moveTo>
                    <a:pt x="0" y="0"/>
                  </a:moveTo>
                  <a:lnTo>
                    <a:pt x="815975" y="1650"/>
                  </a:lnTo>
                </a:path>
              </a:pathLst>
            </a:custGeom>
            <a:ln w="14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985825" y="5399881"/>
              <a:ext cx="0" cy="170815"/>
            </a:xfrm>
            <a:custGeom>
              <a:avLst/>
              <a:gdLst/>
              <a:ahLst/>
              <a:cxnLst/>
              <a:rect l="l" t="t" r="r" b="b"/>
              <a:pathLst>
                <a:path h="170814">
                  <a:moveTo>
                    <a:pt x="0" y="0"/>
                  </a:moveTo>
                  <a:lnTo>
                    <a:pt x="0" y="170656"/>
                  </a:lnTo>
                </a:path>
              </a:pathLst>
            </a:custGeom>
            <a:ln w="159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69025" y="5407025"/>
              <a:ext cx="815975" cy="1905"/>
            </a:xfrm>
            <a:custGeom>
              <a:avLst/>
              <a:gdLst/>
              <a:ahLst/>
              <a:cxnLst/>
              <a:rect l="l" t="t" r="r" b="b"/>
              <a:pathLst>
                <a:path w="815975" h="1904">
                  <a:moveTo>
                    <a:pt x="0" y="0"/>
                  </a:moveTo>
                  <a:lnTo>
                    <a:pt x="815975" y="1650"/>
                  </a:lnTo>
                </a:path>
              </a:pathLst>
            </a:custGeom>
            <a:ln w="14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622800" y="5570537"/>
            <a:ext cx="1460500" cy="373380"/>
          </a:xfrm>
          <a:prstGeom prst="rect">
            <a:avLst/>
          </a:prstGeom>
          <a:solidFill>
            <a:srgbClr val="000080"/>
          </a:solidFill>
          <a:ln w="14287">
            <a:solidFill>
              <a:srgbClr val="808080"/>
            </a:solidFill>
          </a:ln>
        </p:spPr>
        <p:txBody>
          <a:bodyPr vert="horz" wrap="square" lIns="0" tIns="59055" rIns="0" bIns="0" rtlCol="0">
            <a:spAutoFit/>
          </a:bodyPr>
          <a:lstStyle/>
          <a:p>
            <a:pPr marL="66675">
              <a:lnSpc>
                <a:spcPct val="100000"/>
              </a:lnSpc>
              <a:spcBef>
                <a:spcPts val="465"/>
              </a:spcBef>
            </a:pP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Sales</a:t>
            </a:r>
            <a:r>
              <a:rPr sz="16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Manager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254750" y="5570537"/>
            <a:ext cx="1460500" cy="373380"/>
          </a:xfrm>
          <a:prstGeom prst="rect">
            <a:avLst/>
          </a:prstGeom>
          <a:solidFill>
            <a:srgbClr val="000080"/>
          </a:solidFill>
          <a:ln w="14287">
            <a:solidFill>
              <a:srgbClr val="808080"/>
            </a:solidFill>
          </a:ln>
        </p:spPr>
        <p:txBody>
          <a:bodyPr vert="horz" wrap="square" lIns="0" tIns="59055" rIns="0" bIns="0" rtlCol="0">
            <a:spAutoFit/>
          </a:bodyPr>
          <a:lstStyle/>
          <a:p>
            <a:pPr marL="238760">
              <a:lnSpc>
                <a:spcPct val="100000"/>
              </a:lnSpc>
              <a:spcBef>
                <a:spcPts val="465"/>
              </a:spcBef>
            </a:pP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Advertising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38619" y="4868862"/>
            <a:ext cx="1661795" cy="373380"/>
          </a:xfrm>
          <a:prstGeom prst="rect">
            <a:avLst/>
          </a:prstGeom>
          <a:solidFill>
            <a:srgbClr val="000080"/>
          </a:solidFill>
          <a:ln w="14287">
            <a:solidFill>
              <a:srgbClr val="808080"/>
            </a:solidFill>
          </a:ln>
        </p:spPr>
        <p:txBody>
          <a:bodyPr vert="horz" wrap="square" lIns="0" tIns="59055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465"/>
              </a:spcBef>
            </a:pPr>
            <a:r>
              <a:rPr sz="1600" spc="5" dirty="0">
                <a:solidFill>
                  <a:srgbClr val="FFFFFF"/>
                </a:solidFill>
                <a:latin typeface="Arial MT"/>
                <a:cs typeface="Arial MT"/>
              </a:rPr>
              <a:t>VP</a:t>
            </a:r>
            <a:r>
              <a:rPr sz="160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Marketing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164451" y="4868862"/>
            <a:ext cx="1646555" cy="373380"/>
          </a:xfrm>
          <a:prstGeom prst="rect">
            <a:avLst/>
          </a:prstGeom>
          <a:solidFill>
            <a:srgbClr val="000080"/>
          </a:solidFill>
          <a:ln w="14287">
            <a:solidFill>
              <a:srgbClr val="808080"/>
            </a:solidFill>
          </a:ln>
        </p:spPr>
        <p:txBody>
          <a:bodyPr vert="horz" wrap="square" lIns="0" tIns="59055" rIns="0" bIns="0" rtlCol="0">
            <a:spAutoFit/>
          </a:bodyPr>
          <a:lstStyle/>
          <a:p>
            <a:pPr marL="66040">
              <a:lnSpc>
                <a:spcPct val="100000"/>
              </a:lnSpc>
              <a:spcBef>
                <a:spcPts val="465"/>
              </a:spcBef>
            </a:pPr>
            <a:r>
              <a:rPr sz="1600" spc="5" dirty="0">
                <a:solidFill>
                  <a:srgbClr val="FFFFFF"/>
                </a:solidFill>
                <a:latin typeface="Arial MT"/>
                <a:cs typeface="Arial MT"/>
              </a:rPr>
              <a:t>VP</a:t>
            </a:r>
            <a:r>
              <a:rPr sz="160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of Operations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38619" y="4167187"/>
            <a:ext cx="1661795" cy="373380"/>
          </a:xfrm>
          <a:prstGeom prst="rect">
            <a:avLst/>
          </a:prstGeom>
          <a:solidFill>
            <a:srgbClr val="000080"/>
          </a:solidFill>
          <a:ln w="14287">
            <a:solidFill>
              <a:srgbClr val="808080"/>
            </a:solidFill>
          </a:ln>
        </p:spPr>
        <p:txBody>
          <a:bodyPr vert="horz" wrap="square" lIns="0" tIns="59054" rIns="0" bIns="0" rtlCol="0">
            <a:spAutoFit/>
          </a:bodyPr>
          <a:lstStyle/>
          <a:p>
            <a:pPr marL="409575">
              <a:lnSpc>
                <a:spcPct val="100000"/>
              </a:lnSpc>
              <a:spcBef>
                <a:spcPts val="464"/>
              </a:spcBef>
            </a:pP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President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338619" y="3465576"/>
            <a:ext cx="1687195" cy="371475"/>
          </a:xfrm>
          <a:prstGeom prst="rect">
            <a:avLst/>
          </a:prstGeom>
          <a:solidFill>
            <a:srgbClr val="000080"/>
          </a:solidFill>
          <a:ln w="14287">
            <a:solidFill>
              <a:srgbClr val="808080"/>
            </a:solidFill>
          </a:ln>
        </p:spPr>
        <p:txBody>
          <a:bodyPr vert="horz" wrap="square" lIns="0" tIns="58419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459"/>
              </a:spcBef>
            </a:pP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Board</a:t>
            </a:r>
            <a:r>
              <a:rPr sz="16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6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Directors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83540" y="3681425"/>
            <a:ext cx="35966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imes New Roman"/>
                <a:cs typeface="Times New Roman"/>
              </a:rPr>
              <a:t>Alur</a:t>
            </a:r>
            <a:r>
              <a:rPr sz="1800" b="1" spc="-6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Perintah</a:t>
            </a:r>
            <a:r>
              <a:rPr sz="1800" b="1" spc="2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(Chain</a:t>
            </a:r>
            <a:r>
              <a:rPr sz="1800" b="1" spc="2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of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Command):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83540" y="3956050"/>
            <a:ext cx="400557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Mengindentifikasi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posisi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pekerjaan</a:t>
            </a:r>
            <a:r>
              <a:rPr sz="1800" spc="48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kepada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83540" y="4230446"/>
            <a:ext cx="379285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siapa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karyawan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harus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bertanggung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jawab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83540" y="2888691"/>
            <a:ext cx="40386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Times New Roman"/>
                <a:cs typeface="Times New Roman"/>
              </a:rPr>
              <a:t>Adalah </a:t>
            </a:r>
            <a:r>
              <a:rPr sz="1800" dirty="0">
                <a:latin typeface="Times New Roman"/>
                <a:cs typeface="Times New Roman"/>
              </a:rPr>
              <a:t>sebuah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diagram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yang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menunjukkan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Times New Roman"/>
                <a:cs typeface="Times New Roman"/>
              </a:rPr>
              <a:t>interaksi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diantara </a:t>
            </a:r>
            <a:r>
              <a:rPr sz="1800" spc="-5" dirty="0">
                <a:latin typeface="Times New Roman"/>
                <a:cs typeface="Times New Roman"/>
              </a:rPr>
              <a:t>tanggungjawab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pekerja.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119373" y="421894"/>
            <a:ext cx="29038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" dirty="0"/>
              <a:t>Dewan</a:t>
            </a:r>
            <a:r>
              <a:rPr spc="-130" dirty="0"/>
              <a:t> </a:t>
            </a:r>
            <a:r>
              <a:rPr spc="-5" dirty="0"/>
              <a:t>Direksi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00"/>
              </a:lnSpc>
            </a:pPr>
            <a:r>
              <a:rPr b="0" spc="5" dirty="0">
                <a:latin typeface="Times New Roman"/>
                <a:cs typeface="Times New Roman"/>
              </a:rPr>
              <a:t>©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dirty="0"/>
              <a:t>2001</a:t>
            </a:r>
            <a:r>
              <a:rPr spc="-20" dirty="0"/>
              <a:t> </a:t>
            </a:r>
            <a:r>
              <a:rPr spc="-5" dirty="0"/>
              <a:t>South-Western</a:t>
            </a:r>
            <a:r>
              <a:rPr dirty="0"/>
              <a:t> College</a:t>
            </a:r>
            <a:r>
              <a:rPr spc="-15" dirty="0"/>
              <a:t> </a:t>
            </a:r>
            <a:r>
              <a:rPr spc="-5" dirty="0"/>
              <a:t>Publishing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00"/>
              </a:lnSpc>
            </a:pPr>
            <a:r>
              <a:rPr spc="10" dirty="0"/>
              <a:t>M</a:t>
            </a:r>
            <a:r>
              <a:rPr spc="-35" dirty="0"/>
              <a:t>u</a:t>
            </a:r>
            <a:r>
              <a:rPr spc="5" dirty="0"/>
              <a:t>l</a:t>
            </a:r>
            <a:r>
              <a:rPr dirty="0"/>
              <a:t>t</a:t>
            </a:r>
            <a:r>
              <a:rPr spc="5" dirty="0"/>
              <a:t>iMe</a:t>
            </a:r>
            <a:r>
              <a:rPr spc="-10" dirty="0"/>
              <a:t>d</a:t>
            </a:r>
            <a:r>
              <a:rPr spc="5" dirty="0"/>
              <a:t>i</a:t>
            </a:r>
            <a:r>
              <a:rPr dirty="0"/>
              <a:t>a</a:t>
            </a:r>
            <a:r>
              <a:rPr spc="-85" dirty="0"/>
              <a:t> </a:t>
            </a:r>
            <a:r>
              <a:rPr spc="-10" dirty="0"/>
              <a:t>b</a:t>
            </a:r>
            <a:r>
              <a:rPr dirty="0"/>
              <a:t>y</a:t>
            </a:r>
            <a:r>
              <a:rPr spc="10" dirty="0"/>
              <a:t> </a:t>
            </a:r>
            <a:r>
              <a:rPr spc="-10" dirty="0"/>
              <a:t>S</a:t>
            </a:r>
            <a:r>
              <a:rPr dirty="0"/>
              <a:t>t</a:t>
            </a:r>
            <a:r>
              <a:rPr spc="5" dirty="0"/>
              <a:t>e</a:t>
            </a:r>
            <a:r>
              <a:rPr spc="-10" dirty="0"/>
              <a:t>ph</a:t>
            </a:r>
            <a:r>
              <a:rPr spc="5" dirty="0"/>
              <a:t>e</a:t>
            </a:r>
            <a:r>
              <a:rPr dirty="0"/>
              <a:t>n</a:t>
            </a:r>
            <a:r>
              <a:rPr spc="-45" dirty="0"/>
              <a:t> </a:t>
            </a:r>
            <a:r>
              <a:rPr spc="10" dirty="0"/>
              <a:t>M</a:t>
            </a:r>
            <a:r>
              <a:rPr dirty="0"/>
              <a:t>. </a:t>
            </a:r>
            <a:r>
              <a:rPr spc="-20" dirty="0"/>
              <a:t>P</a:t>
            </a:r>
            <a:r>
              <a:rPr spc="5" dirty="0"/>
              <a:t>e</a:t>
            </a:r>
            <a:r>
              <a:rPr dirty="0"/>
              <a:t>t</a:t>
            </a:r>
            <a:r>
              <a:rPr spc="5" dirty="0"/>
              <a:t>er</a:t>
            </a:r>
            <a:r>
              <a:rPr dirty="0"/>
              <a:t>s</a:t>
            </a: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968868" y="3794657"/>
          <a:ext cx="5156834" cy="173575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3910"/>
                <a:gridCol w="803910"/>
                <a:gridCol w="156210"/>
                <a:gridCol w="815340"/>
                <a:gridCol w="815339"/>
                <a:gridCol w="155575"/>
                <a:gridCol w="803275"/>
                <a:gridCol w="803275"/>
              </a:tblGrid>
              <a:tr h="363993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80808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500" spc="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Board</a:t>
                      </a:r>
                      <a:r>
                        <a:rPr sz="1500" spc="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sz="1500" spc="-5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Directors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54610" marB="0">
                    <a:lnL w="19050">
                      <a:solidFill>
                        <a:srgbClr val="808080"/>
                      </a:solidFill>
                      <a:prstDash val="solid"/>
                    </a:lnL>
                    <a:lnR w="19050">
                      <a:solidFill>
                        <a:srgbClr val="808080"/>
                      </a:solidFill>
                      <a:prstDash val="solid"/>
                    </a:lnR>
                    <a:lnT w="19050">
                      <a:solidFill>
                        <a:srgbClr val="808080"/>
                      </a:solidFill>
                      <a:prstDash val="solid"/>
                    </a:lnT>
                    <a:lnB w="19050">
                      <a:solidFill>
                        <a:srgbClr val="808080"/>
                      </a:solidFill>
                      <a:prstDash val="solid"/>
                    </a:lnB>
                    <a:solidFill>
                      <a:srgbClr val="000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80808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21907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63946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80808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0259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500" spc="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President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54610" marB="0">
                    <a:lnL w="19050">
                      <a:solidFill>
                        <a:srgbClr val="808080"/>
                      </a:solidFill>
                      <a:prstDash val="solid"/>
                    </a:lnL>
                    <a:lnR w="19050">
                      <a:solidFill>
                        <a:srgbClr val="808080"/>
                      </a:solidFill>
                      <a:prstDash val="solid"/>
                    </a:lnR>
                    <a:lnT w="19050">
                      <a:solidFill>
                        <a:srgbClr val="808080"/>
                      </a:solidFill>
                      <a:prstDash val="solid"/>
                    </a:lnT>
                    <a:lnB w="19050">
                      <a:solidFill>
                        <a:srgbClr val="808080"/>
                      </a:solidFill>
                      <a:prstDash val="solid"/>
                    </a:lnB>
                    <a:solidFill>
                      <a:srgbClr val="000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80808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60879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6112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80808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  <a:tr h="363906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500" spc="2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CFO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53975" marB="0">
                    <a:lnL w="19050">
                      <a:solidFill>
                        <a:srgbClr val="808080"/>
                      </a:solidFill>
                      <a:prstDash val="solid"/>
                    </a:lnL>
                    <a:lnR w="19050">
                      <a:solidFill>
                        <a:srgbClr val="808080"/>
                      </a:solidFill>
                      <a:prstDash val="solid"/>
                    </a:lnR>
                    <a:lnT w="19050">
                      <a:solidFill>
                        <a:srgbClr val="808080"/>
                      </a:solidFill>
                      <a:prstDash val="solid"/>
                    </a:lnT>
                    <a:lnB w="19050">
                      <a:solidFill>
                        <a:srgbClr val="808080"/>
                      </a:solidFill>
                      <a:prstDash val="solid"/>
                    </a:lnB>
                    <a:solidFill>
                      <a:srgbClr val="000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808080"/>
                      </a:solidFill>
                      <a:prstDash val="solid"/>
                    </a:lnL>
                    <a:lnR w="19050">
                      <a:solidFill>
                        <a:srgbClr val="80808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500" spc="3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VP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of</a:t>
                      </a:r>
                      <a:r>
                        <a:rPr sz="1500" spc="-5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Marketing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53975" marB="0">
                    <a:lnL w="19050">
                      <a:solidFill>
                        <a:srgbClr val="808080"/>
                      </a:solidFill>
                      <a:prstDash val="solid"/>
                    </a:lnL>
                    <a:lnR w="19050">
                      <a:solidFill>
                        <a:srgbClr val="808080"/>
                      </a:solidFill>
                      <a:prstDash val="solid"/>
                    </a:lnR>
                    <a:lnT w="19050">
                      <a:solidFill>
                        <a:srgbClr val="808080"/>
                      </a:solidFill>
                      <a:prstDash val="solid"/>
                    </a:lnT>
                    <a:lnB w="19050">
                      <a:solidFill>
                        <a:srgbClr val="808080"/>
                      </a:solidFill>
                      <a:prstDash val="solid"/>
                    </a:lnB>
                    <a:solidFill>
                      <a:srgbClr val="000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808080"/>
                      </a:solidFill>
                      <a:prstDash val="solid"/>
                    </a:lnL>
                    <a:lnR w="19050">
                      <a:solidFill>
                        <a:srgbClr val="80808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500" spc="3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VP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of</a:t>
                      </a:r>
                      <a:r>
                        <a:rPr sz="1500" spc="-5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Operations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53975" marB="0">
                    <a:lnL w="19050">
                      <a:solidFill>
                        <a:srgbClr val="808080"/>
                      </a:solidFill>
                      <a:prstDash val="solid"/>
                    </a:lnL>
                    <a:lnR w="19050">
                      <a:solidFill>
                        <a:srgbClr val="808080"/>
                      </a:solidFill>
                      <a:prstDash val="solid"/>
                    </a:lnR>
                    <a:lnT w="19050">
                      <a:solidFill>
                        <a:srgbClr val="808080"/>
                      </a:solidFill>
                      <a:prstDash val="solid"/>
                    </a:lnT>
                    <a:lnB w="19050">
                      <a:solidFill>
                        <a:srgbClr val="808080"/>
                      </a:solidFill>
                      <a:prstDash val="solid"/>
                    </a:lnB>
                    <a:solidFill>
                      <a:srgbClr val="000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536244" y="1835403"/>
            <a:ext cx="3563620" cy="1672589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800" b="1" dirty="0">
                <a:latin typeface="Times New Roman"/>
                <a:cs typeface="Times New Roman"/>
              </a:rPr>
              <a:t>Dewan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Times New Roman"/>
                <a:cs typeface="Times New Roman"/>
              </a:rPr>
              <a:t>Direksi</a:t>
            </a:r>
            <a:r>
              <a:rPr sz="1800" b="1" spc="2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(Board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of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Directors):</a:t>
            </a:r>
            <a:endParaRPr sz="1800">
              <a:latin typeface="Times New Roman"/>
              <a:cs typeface="Times New Roman"/>
            </a:endParaRPr>
          </a:p>
          <a:p>
            <a:pPr marL="12700" marR="17780">
              <a:lnSpc>
                <a:spcPct val="100000"/>
              </a:lnSpc>
              <a:spcBef>
                <a:spcPts val="1085"/>
              </a:spcBef>
            </a:pPr>
            <a:r>
              <a:rPr sz="1800" spc="-5" dirty="0">
                <a:latin typeface="Times New Roman"/>
                <a:cs typeface="Times New Roman"/>
              </a:rPr>
              <a:t>Beberapa </a:t>
            </a:r>
            <a:r>
              <a:rPr sz="1800" dirty="0">
                <a:latin typeface="Times New Roman"/>
                <a:cs typeface="Times New Roman"/>
              </a:rPr>
              <a:t>orang </a:t>
            </a:r>
            <a:r>
              <a:rPr sz="1800" spc="-5" dirty="0">
                <a:latin typeface="Times New Roman"/>
                <a:cs typeface="Times New Roman"/>
              </a:rPr>
              <a:t>eksekutif </a:t>
            </a:r>
            <a:r>
              <a:rPr sz="1800" spc="-10" dirty="0">
                <a:latin typeface="Times New Roman"/>
                <a:cs typeface="Times New Roman"/>
              </a:rPr>
              <a:t>yang </a:t>
            </a:r>
            <a:r>
              <a:rPr sz="1800" spc="-5" dirty="0">
                <a:latin typeface="Times New Roman"/>
                <a:cs typeface="Times New Roman"/>
              </a:rPr>
              <a:t> bertanggung </a:t>
            </a:r>
            <a:r>
              <a:rPr sz="1800" spc="-10" dirty="0">
                <a:latin typeface="Times New Roman"/>
                <a:cs typeface="Times New Roman"/>
              </a:rPr>
              <a:t>jawab </a:t>
            </a:r>
            <a:r>
              <a:rPr sz="1800" spc="5" dirty="0">
                <a:latin typeface="Times New Roman"/>
                <a:cs typeface="Times New Roman"/>
              </a:rPr>
              <a:t>untuk </a:t>
            </a:r>
            <a:r>
              <a:rPr sz="1800" spc="-5" dirty="0">
                <a:latin typeface="Times New Roman"/>
                <a:cs typeface="Times New Roman"/>
              </a:rPr>
              <a:t>memonitor 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kegiatan </a:t>
            </a:r>
            <a:r>
              <a:rPr sz="1800" spc="-5" dirty="0">
                <a:latin typeface="Times New Roman"/>
                <a:cs typeface="Times New Roman"/>
              </a:rPr>
              <a:t>presiden perusahaan </a:t>
            </a:r>
            <a:r>
              <a:rPr sz="1800" dirty="0">
                <a:latin typeface="Times New Roman"/>
                <a:cs typeface="Times New Roman"/>
              </a:rPr>
              <a:t>dan para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manajer</a:t>
            </a:r>
            <a:r>
              <a:rPr sz="1800" spc="-5" dirty="0">
                <a:latin typeface="Times New Roman"/>
                <a:cs typeface="Times New Roman"/>
              </a:rPr>
              <a:t> tingkat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tinggi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lainnya.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99864" y="1853565"/>
            <a:ext cx="326517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u="heavy" spc="-5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Times New Roman"/>
                <a:cs typeface="Times New Roman"/>
              </a:rPr>
              <a:t>Jenis-jenis</a:t>
            </a:r>
            <a:r>
              <a:rPr sz="1800" b="1" u="heavy" spc="-25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b="1" u="heavy" spc="-5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Times New Roman"/>
                <a:cs typeface="Times New Roman"/>
              </a:rPr>
              <a:t>anggota Dewan: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Wingdings"/>
                <a:cs typeface="Wingdings"/>
              </a:rPr>
              <a:t></a:t>
            </a:r>
            <a:r>
              <a:rPr sz="1800" spc="-5" dirty="0">
                <a:latin typeface="Times New Roman"/>
                <a:cs typeface="Times New Roman"/>
              </a:rPr>
              <a:t>Anggota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dari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dalam</a:t>
            </a:r>
            <a:endParaRPr sz="1800">
              <a:latin typeface="Times New Roman"/>
              <a:cs typeface="Times New Roman"/>
            </a:endParaRPr>
          </a:p>
          <a:p>
            <a:pPr marL="128270">
              <a:lnSpc>
                <a:spcPct val="100000"/>
              </a:lnSpc>
            </a:pPr>
            <a:r>
              <a:rPr sz="1800" spc="-5" dirty="0">
                <a:latin typeface="Times New Roman"/>
                <a:cs typeface="Times New Roman"/>
              </a:rPr>
              <a:t>Seperti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CEO.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Wingdings"/>
                <a:cs typeface="Wingdings"/>
              </a:rPr>
              <a:t></a:t>
            </a:r>
            <a:r>
              <a:rPr sz="1800" spc="-5" dirty="0">
                <a:latin typeface="Times New Roman"/>
                <a:cs typeface="Times New Roman"/>
              </a:rPr>
              <a:t>Anggota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dari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luar</a:t>
            </a:r>
            <a:endParaRPr sz="1800">
              <a:latin typeface="Times New Roman"/>
              <a:cs typeface="Times New Roman"/>
            </a:endParaRPr>
          </a:p>
          <a:p>
            <a:pPr marL="12827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Times New Roman"/>
                <a:cs typeface="Times New Roman"/>
              </a:rPr>
              <a:t>Manajer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tingkat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tinggi-Firma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lain.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40358" y="455422"/>
            <a:ext cx="6863080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spc="-15" dirty="0"/>
              <a:t>Elemen-elemen</a:t>
            </a:r>
            <a:r>
              <a:rPr sz="3200" spc="70" dirty="0"/>
              <a:t> </a:t>
            </a:r>
            <a:r>
              <a:rPr sz="3200" spc="-10" dirty="0"/>
              <a:t>Stuktur</a:t>
            </a:r>
            <a:r>
              <a:rPr sz="3200" spc="15" dirty="0"/>
              <a:t> </a:t>
            </a:r>
            <a:r>
              <a:rPr sz="3200" dirty="0"/>
              <a:t>Organisasional</a:t>
            </a:r>
            <a:endParaRPr sz="3200"/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00"/>
              </a:lnSpc>
            </a:pPr>
            <a:r>
              <a:rPr b="0" spc="5" dirty="0">
                <a:latin typeface="Times New Roman"/>
                <a:cs typeface="Times New Roman"/>
              </a:rPr>
              <a:t>©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dirty="0"/>
              <a:t>2001</a:t>
            </a:r>
            <a:r>
              <a:rPr spc="-20" dirty="0"/>
              <a:t> </a:t>
            </a:r>
            <a:r>
              <a:rPr spc="-5" dirty="0"/>
              <a:t>South-Western</a:t>
            </a:r>
            <a:r>
              <a:rPr dirty="0"/>
              <a:t> College</a:t>
            </a:r>
            <a:r>
              <a:rPr spc="-15" dirty="0"/>
              <a:t> </a:t>
            </a:r>
            <a:r>
              <a:rPr spc="-5" dirty="0"/>
              <a:t>Publishing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00"/>
              </a:lnSpc>
            </a:pPr>
            <a:r>
              <a:rPr spc="10" dirty="0"/>
              <a:t>M</a:t>
            </a:r>
            <a:r>
              <a:rPr spc="-35" dirty="0"/>
              <a:t>u</a:t>
            </a:r>
            <a:r>
              <a:rPr spc="5" dirty="0"/>
              <a:t>l</a:t>
            </a:r>
            <a:r>
              <a:rPr dirty="0"/>
              <a:t>t</a:t>
            </a:r>
            <a:r>
              <a:rPr spc="5" dirty="0"/>
              <a:t>iMe</a:t>
            </a:r>
            <a:r>
              <a:rPr spc="-10" dirty="0"/>
              <a:t>d</a:t>
            </a:r>
            <a:r>
              <a:rPr spc="5" dirty="0"/>
              <a:t>i</a:t>
            </a:r>
            <a:r>
              <a:rPr dirty="0"/>
              <a:t>a</a:t>
            </a:r>
            <a:r>
              <a:rPr spc="-85" dirty="0"/>
              <a:t> </a:t>
            </a:r>
            <a:r>
              <a:rPr spc="-10" dirty="0"/>
              <a:t>b</a:t>
            </a:r>
            <a:r>
              <a:rPr dirty="0"/>
              <a:t>y</a:t>
            </a:r>
            <a:r>
              <a:rPr spc="10" dirty="0"/>
              <a:t> </a:t>
            </a:r>
            <a:r>
              <a:rPr spc="-10" dirty="0"/>
              <a:t>S</a:t>
            </a:r>
            <a:r>
              <a:rPr dirty="0"/>
              <a:t>t</a:t>
            </a:r>
            <a:r>
              <a:rPr spc="5" dirty="0"/>
              <a:t>e</a:t>
            </a:r>
            <a:r>
              <a:rPr spc="-10" dirty="0"/>
              <a:t>ph</a:t>
            </a:r>
            <a:r>
              <a:rPr spc="5" dirty="0"/>
              <a:t>e</a:t>
            </a:r>
            <a:r>
              <a:rPr dirty="0"/>
              <a:t>n</a:t>
            </a:r>
            <a:r>
              <a:rPr spc="-45" dirty="0"/>
              <a:t> </a:t>
            </a:r>
            <a:r>
              <a:rPr spc="10" dirty="0"/>
              <a:t>M</a:t>
            </a:r>
            <a:r>
              <a:rPr dirty="0"/>
              <a:t>. </a:t>
            </a:r>
            <a:r>
              <a:rPr spc="-20" dirty="0"/>
              <a:t>P</a:t>
            </a:r>
            <a:r>
              <a:rPr spc="5" dirty="0"/>
              <a:t>e</a:t>
            </a:r>
            <a:r>
              <a:rPr dirty="0"/>
              <a:t>t</a:t>
            </a:r>
            <a:r>
              <a:rPr spc="5" dirty="0"/>
              <a:t>er</a:t>
            </a:r>
            <a:r>
              <a:rPr dirty="0"/>
              <a:t>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441450" y="1574800"/>
            <a:ext cx="6127750" cy="3828415"/>
            <a:chOff x="1441450" y="1574800"/>
            <a:chExt cx="6127750" cy="382841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24250" y="1581150"/>
              <a:ext cx="4038600" cy="150457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524250" y="1581150"/>
              <a:ext cx="4038600" cy="1504950"/>
            </a:xfrm>
            <a:custGeom>
              <a:avLst/>
              <a:gdLst/>
              <a:ahLst/>
              <a:cxnLst/>
              <a:rect l="l" t="t" r="r" b="b"/>
              <a:pathLst>
                <a:path w="4038600" h="1504950">
                  <a:moveTo>
                    <a:pt x="0" y="0"/>
                  </a:moveTo>
                  <a:lnTo>
                    <a:pt x="4038600" y="0"/>
                  </a:lnTo>
                  <a:lnTo>
                    <a:pt x="4038600" y="1222121"/>
                  </a:lnTo>
                  <a:lnTo>
                    <a:pt x="3971292" y="1222295"/>
                  </a:lnTo>
                  <a:lnTo>
                    <a:pt x="3905480" y="1222812"/>
                  </a:lnTo>
                  <a:lnTo>
                    <a:pt x="3841129" y="1223662"/>
                  </a:lnTo>
                  <a:lnTo>
                    <a:pt x="3778204" y="1224834"/>
                  </a:lnTo>
                  <a:lnTo>
                    <a:pt x="3716672" y="1226318"/>
                  </a:lnTo>
                  <a:lnTo>
                    <a:pt x="3656497" y="1228104"/>
                  </a:lnTo>
                  <a:lnTo>
                    <a:pt x="3597645" y="1230181"/>
                  </a:lnTo>
                  <a:lnTo>
                    <a:pt x="3540083" y="1232540"/>
                  </a:lnTo>
                  <a:lnTo>
                    <a:pt x="3483775" y="1235171"/>
                  </a:lnTo>
                  <a:lnTo>
                    <a:pt x="3428687" y="1238062"/>
                  </a:lnTo>
                  <a:lnTo>
                    <a:pt x="3374785" y="1241205"/>
                  </a:lnTo>
                  <a:lnTo>
                    <a:pt x="3322034" y="1244588"/>
                  </a:lnTo>
                  <a:lnTo>
                    <a:pt x="3270401" y="1248202"/>
                  </a:lnTo>
                  <a:lnTo>
                    <a:pt x="3219850" y="1252036"/>
                  </a:lnTo>
                  <a:lnTo>
                    <a:pt x="3170348" y="1256081"/>
                  </a:lnTo>
                  <a:lnTo>
                    <a:pt x="3121860" y="1260326"/>
                  </a:lnTo>
                  <a:lnTo>
                    <a:pt x="3074351" y="1264760"/>
                  </a:lnTo>
                  <a:lnTo>
                    <a:pt x="3027788" y="1269375"/>
                  </a:lnTo>
                  <a:lnTo>
                    <a:pt x="2982135" y="1274159"/>
                  </a:lnTo>
                  <a:lnTo>
                    <a:pt x="2937359" y="1279102"/>
                  </a:lnTo>
                  <a:lnTo>
                    <a:pt x="2893426" y="1284194"/>
                  </a:lnTo>
                  <a:lnTo>
                    <a:pt x="2850299" y="1289426"/>
                  </a:lnTo>
                  <a:lnTo>
                    <a:pt x="2807947" y="1294786"/>
                  </a:lnTo>
                  <a:lnTo>
                    <a:pt x="2766333" y="1300265"/>
                  </a:lnTo>
                  <a:lnTo>
                    <a:pt x="2725424" y="1305852"/>
                  </a:lnTo>
                  <a:lnTo>
                    <a:pt x="2685185" y="1311538"/>
                  </a:lnTo>
                  <a:lnTo>
                    <a:pt x="2645582" y="1317312"/>
                  </a:lnTo>
                  <a:lnTo>
                    <a:pt x="2606581" y="1323164"/>
                  </a:lnTo>
                  <a:lnTo>
                    <a:pt x="2568146" y="1329083"/>
                  </a:lnTo>
                  <a:lnTo>
                    <a:pt x="2530245" y="1335060"/>
                  </a:lnTo>
                  <a:lnTo>
                    <a:pt x="2455903" y="1347146"/>
                  </a:lnTo>
                  <a:lnTo>
                    <a:pt x="2383279" y="1359341"/>
                  </a:lnTo>
                  <a:lnTo>
                    <a:pt x="2312099" y="1371562"/>
                  </a:lnTo>
                  <a:lnTo>
                    <a:pt x="2242088" y="1383728"/>
                  </a:lnTo>
                  <a:lnTo>
                    <a:pt x="2207435" y="1389766"/>
                  </a:lnTo>
                  <a:lnTo>
                    <a:pt x="2172971" y="1395759"/>
                  </a:lnTo>
                  <a:lnTo>
                    <a:pt x="2104472" y="1407571"/>
                  </a:lnTo>
                  <a:lnTo>
                    <a:pt x="2036317" y="1419085"/>
                  </a:lnTo>
                  <a:lnTo>
                    <a:pt x="1968230" y="1430219"/>
                  </a:lnTo>
                  <a:lnTo>
                    <a:pt x="1899938" y="1440890"/>
                  </a:lnTo>
                  <a:lnTo>
                    <a:pt x="1831164" y="1451018"/>
                  </a:lnTo>
                  <a:lnTo>
                    <a:pt x="1761634" y="1460522"/>
                  </a:lnTo>
                  <a:lnTo>
                    <a:pt x="1691073" y="1469319"/>
                  </a:lnTo>
                  <a:lnTo>
                    <a:pt x="1619206" y="1477329"/>
                  </a:lnTo>
                  <a:lnTo>
                    <a:pt x="1545757" y="1484470"/>
                  </a:lnTo>
                  <a:lnTo>
                    <a:pt x="1470453" y="1490660"/>
                  </a:lnTo>
                  <a:lnTo>
                    <a:pt x="1432018" y="1493374"/>
                  </a:lnTo>
                  <a:lnTo>
                    <a:pt x="1393017" y="1495819"/>
                  </a:lnTo>
                  <a:lnTo>
                    <a:pt x="1353414" y="1497986"/>
                  </a:lnTo>
                  <a:lnTo>
                    <a:pt x="1313175" y="1499864"/>
                  </a:lnTo>
                  <a:lnTo>
                    <a:pt x="1272266" y="1501444"/>
                  </a:lnTo>
                  <a:lnTo>
                    <a:pt x="1230652" y="1502715"/>
                  </a:lnTo>
                  <a:lnTo>
                    <a:pt x="1188300" y="1503667"/>
                  </a:lnTo>
                  <a:lnTo>
                    <a:pt x="1145173" y="1504289"/>
                  </a:lnTo>
                  <a:lnTo>
                    <a:pt x="1101240" y="1504573"/>
                  </a:lnTo>
                  <a:lnTo>
                    <a:pt x="1056464" y="1504506"/>
                  </a:lnTo>
                  <a:lnTo>
                    <a:pt x="1010811" y="1504080"/>
                  </a:lnTo>
                  <a:lnTo>
                    <a:pt x="964248" y="1503284"/>
                  </a:lnTo>
                  <a:lnTo>
                    <a:pt x="916739" y="1502108"/>
                  </a:lnTo>
                  <a:lnTo>
                    <a:pt x="868251" y="1500541"/>
                  </a:lnTo>
                  <a:lnTo>
                    <a:pt x="818749" y="1498575"/>
                  </a:lnTo>
                  <a:lnTo>
                    <a:pt x="768198" y="1496197"/>
                  </a:lnTo>
                  <a:lnTo>
                    <a:pt x="716565" y="1493399"/>
                  </a:lnTo>
                  <a:lnTo>
                    <a:pt x="663814" y="1490169"/>
                  </a:lnTo>
                  <a:lnTo>
                    <a:pt x="609912" y="1486499"/>
                  </a:lnTo>
                  <a:lnTo>
                    <a:pt x="554824" y="1482377"/>
                  </a:lnTo>
                  <a:lnTo>
                    <a:pt x="498516" y="1477793"/>
                  </a:lnTo>
                  <a:lnTo>
                    <a:pt x="440954" y="1472738"/>
                  </a:lnTo>
                  <a:lnTo>
                    <a:pt x="382102" y="1467201"/>
                  </a:lnTo>
                  <a:lnTo>
                    <a:pt x="321927" y="1461172"/>
                  </a:lnTo>
                  <a:lnTo>
                    <a:pt x="260395" y="1454640"/>
                  </a:lnTo>
                  <a:lnTo>
                    <a:pt x="197470" y="1447596"/>
                  </a:lnTo>
                  <a:lnTo>
                    <a:pt x="133119" y="1440030"/>
                  </a:lnTo>
                  <a:lnTo>
                    <a:pt x="67307" y="1431931"/>
                  </a:lnTo>
                  <a:lnTo>
                    <a:pt x="0" y="142328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38450" y="2266950"/>
              <a:ext cx="4419600" cy="150458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838450" y="2266950"/>
              <a:ext cx="4419600" cy="1504950"/>
            </a:xfrm>
            <a:custGeom>
              <a:avLst/>
              <a:gdLst/>
              <a:ahLst/>
              <a:cxnLst/>
              <a:rect l="l" t="t" r="r" b="b"/>
              <a:pathLst>
                <a:path w="4419600" h="1504950">
                  <a:moveTo>
                    <a:pt x="0" y="0"/>
                  </a:moveTo>
                  <a:lnTo>
                    <a:pt x="4419600" y="0"/>
                  </a:lnTo>
                  <a:lnTo>
                    <a:pt x="4419600" y="1222121"/>
                  </a:lnTo>
                  <a:lnTo>
                    <a:pt x="4351258" y="1222271"/>
                  </a:lnTo>
                  <a:lnTo>
                    <a:pt x="4284324" y="1222716"/>
                  </a:lnTo>
                  <a:lnTo>
                    <a:pt x="4218770" y="1223448"/>
                  </a:lnTo>
                  <a:lnTo>
                    <a:pt x="4154564" y="1224460"/>
                  </a:lnTo>
                  <a:lnTo>
                    <a:pt x="4091677" y="1225741"/>
                  </a:lnTo>
                  <a:lnTo>
                    <a:pt x="4030079" y="1227286"/>
                  </a:lnTo>
                  <a:lnTo>
                    <a:pt x="3969740" y="1229085"/>
                  </a:lnTo>
                  <a:lnTo>
                    <a:pt x="3910629" y="1231131"/>
                  </a:lnTo>
                  <a:lnTo>
                    <a:pt x="3852718" y="1233414"/>
                  </a:lnTo>
                  <a:lnTo>
                    <a:pt x="3795975" y="1235929"/>
                  </a:lnTo>
                  <a:lnTo>
                    <a:pt x="3740372" y="1238665"/>
                  </a:lnTo>
                  <a:lnTo>
                    <a:pt x="3685877" y="1241615"/>
                  </a:lnTo>
                  <a:lnTo>
                    <a:pt x="3632461" y="1244771"/>
                  </a:lnTo>
                  <a:lnTo>
                    <a:pt x="3580094" y="1248124"/>
                  </a:lnTo>
                  <a:lnTo>
                    <a:pt x="3528747" y="1251668"/>
                  </a:lnTo>
                  <a:lnTo>
                    <a:pt x="3478388" y="1255393"/>
                  </a:lnTo>
                  <a:lnTo>
                    <a:pt x="3428989" y="1259291"/>
                  </a:lnTo>
                  <a:lnTo>
                    <a:pt x="3380519" y="1263355"/>
                  </a:lnTo>
                  <a:lnTo>
                    <a:pt x="3332948" y="1267576"/>
                  </a:lnTo>
                  <a:lnTo>
                    <a:pt x="3286246" y="1271946"/>
                  </a:lnTo>
                  <a:lnTo>
                    <a:pt x="3240383" y="1276456"/>
                  </a:lnTo>
                  <a:lnTo>
                    <a:pt x="3195330" y="1281100"/>
                  </a:lnTo>
                  <a:lnTo>
                    <a:pt x="3151056" y="1285869"/>
                  </a:lnTo>
                  <a:lnTo>
                    <a:pt x="3107531" y="1290754"/>
                  </a:lnTo>
                  <a:lnTo>
                    <a:pt x="3064725" y="1295748"/>
                  </a:lnTo>
                  <a:lnTo>
                    <a:pt x="3022609" y="1300842"/>
                  </a:lnTo>
                  <a:lnTo>
                    <a:pt x="2981152" y="1306029"/>
                  </a:lnTo>
                  <a:lnTo>
                    <a:pt x="2940325" y="1311299"/>
                  </a:lnTo>
                  <a:lnTo>
                    <a:pt x="2900097" y="1316646"/>
                  </a:lnTo>
                  <a:lnTo>
                    <a:pt x="2860439" y="1322061"/>
                  </a:lnTo>
                  <a:lnTo>
                    <a:pt x="2821320" y="1327536"/>
                  </a:lnTo>
                  <a:lnTo>
                    <a:pt x="2782711" y="1333062"/>
                  </a:lnTo>
                  <a:lnTo>
                    <a:pt x="2744581" y="1338632"/>
                  </a:lnTo>
                  <a:lnTo>
                    <a:pt x="2669640" y="1349871"/>
                  </a:lnTo>
                  <a:lnTo>
                    <a:pt x="2596258" y="1361187"/>
                  </a:lnTo>
                  <a:lnTo>
                    <a:pt x="2524194" y="1372515"/>
                  </a:lnTo>
                  <a:lnTo>
                    <a:pt x="2453210" y="1383791"/>
                  </a:lnTo>
                  <a:lnTo>
                    <a:pt x="2418047" y="1389389"/>
                  </a:lnTo>
                  <a:lnTo>
                    <a:pt x="2383065" y="1394950"/>
                  </a:lnTo>
                  <a:lnTo>
                    <a:pt x="2313519" y="1405926"/>
                  </a:lnTo>
                  <a:lnTo>
                    <a:pt x="2244333" y="1416656"/>
                  </a:lnTo>
                  <a:lnTo>
                    <a:pt x="2175266" y="1427073"/>
                  </a:lnTo>
                  <a:lnTo>
                    <a:pt x="2106080" y="1437113"/>
                  </a:lnTo>
                  <a:lnTo>
                    <a:pt x="2036534" y="1446712"/>
                  </a:lnTo>
                  <a:lnTo>
                    <a:pt x="1966389" y="1455804"/>
                  </a:lnTo>
                  <a:lnTo>
                    <a:pt x="1895405" y="1464324"/>
                  </a:lnTo>
                  <a:lnTo>
                    <a:pt x="1823341" y="1472208"/>
                  </a:lnTo>
                  <a:lnTo>
                    <a:pt x="1749959" y="1479391"/>
                  </a:lnTo>
                  <a:lnTo>
                    <a:pt x="1675018" y="1485807"/>
                  </a:lnTo>
                  <a:lnTo>
                    <a:pt x="1636888" y="1488708"/>
                  </a:lnTo>
                  <a:lnTo>
                    <a:pt x="1598279" y="1491392"/>
                  </a:lnTo>
                  <a:lnTo>
                    <a:pt x="1559160" y="1493853"/>
                  </a:lnTo>
                  <a:lnTo>
                    <a:pt x="1519502" y="1496082"/>
                  </a:lnTo>
                  <a:lnTo>
                    <a:pt x="1479274" y="1498070"/>
                  </a:lnTo>
                  <a:lnTo>
                    <a:pt x="1438447" y="1499810"/>
                  </a:lnTo>
                  <a:lnTo>
                    <a:pt x="1396990" y="1501294"/>
                  </a:lnTo>
                  <a:lnTo>
                    <a:pt x="1354874" y="1502513"/>
                  </a:lnTo>
                  <a:lnTo>
                    <a:pt x="1312068" y="1503459"/>
                  </a:lnTo>
                  <a:lnTo>
                    <a:pt x="1268543" y="1504125"/>
                  </a:lnTo>
                  <a:lnTo>
                    <a:pt x="1224269" y="1504502"/>
                  </a:lnTo>
                  <a:lnTo>
                    <a:pt x="1179216" y="1504581"/>
                  </a:lnTo>
                  <a:lnTo>
                    <a:pt x="1133353" y="1504356"/>
                  </a:lnTo>
                  <a:lnTo>
                    <a:pt x="1086651" y="1503818"/>
                  </a:lnTo>
                  <a:lnTo>
                    <a:pt x="1039080" y="1502958"/>
                  </a:lnTo>
                  <a:lnTo>
                    <a:pt x="990610" y="1501768"/>
                  </a:lnTo>
                  <a:lnTo>
                    <a:pt x="941211" y="1500242"/>
                  </a:lnTo>
                  <a:lnTo>
                    <a:pt x="890852" y="1498369"/>
                  </a:lnTo>
                  <a:lnTo>
                    <a:pt x="839505" y="1496143"/>
                  </a:lnTo>
                  <a:lnTo>
                    <a:pt x="787138" y="1493555"/>
                  </a:lnTo>
                  <a:lnTo>
                    <a:pt x="733722" y="1490597"/>
                  </a:lnTo>
                  <a:lnTo>
                    <a:pt x="679227" y="1487261"/>
                  </a:lnTo>
                  <a:lnTo>
                    <a:pt x="623624" y="1483538"/>
                  </a:lnTo>
                  <a:lnTo>
                    <a:pt x="566881" y="1479421"/>
                  </a:lnTo>
                  <a:lnTo>
                    <a:pt x="508970" y="1474902"/>
                  </a:lnTo>
                  <a:lnTo>
                    <a:pt x="449859" y="1469973"/>
                  </a:lnTo>
                  <a:lnTo>
                    <a:pt x="389520" y="1464624"/>
                  </a:lnTo>
                  <a:lnTo>
                    <a:pt x="327922" y="1458849"/>
                  </a:lnTo>
                  <a:lnTo>
                    <a:pt x="265035" y="1452639"/>
                  </a:lnTo>
                  <a:lnTo>
                    <a:pt x="200829" y="1445986"/>
                  </a:lnTo>
                  <a:lnTo>
                    <a:pt x="135275" y="1438882"/>
                  </a:lnTo>
                  <a:lnTo>
                    <a:pt x="68341" y="1431319"/>
                  </a:lnTo>
                  <a:lnTo>
                    <a:pt x="0" y="142328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28850" y="2952750"/>
              <a:ext cx="4724400" cy="150456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228850" y="2952750"/>
              <a:ext cx="4724400" cy="1504950"/>
            </a:xfrm>
            <a:custGeom>
              <a:avLst/>
              <a:gdLst/>
              <a:ahLst/>
              <a:cxnLst/>
              <a:rect l="l" t="t" r="r" b="b"/>
              <a:pathLst>
                <a:path w="4724400" h="1504950">
                  <a:moveTo>
                    <a:pt x="0" y="0"/>
                  </a:moveTo>
                  <a:lnTo>
                    <a:pt x="4724400" y="0"/>
                  </a:lnTo>
                  <a:lnTo>
                    <a:pt x="4724400" y="1222120"/>
                  </a:lnTo>
                  <a:lnTo>
                    <a:pt x="4655600" y="1222254"/>
                  </a:lnTo>
                  <a:lnTo>
                    <a:pt x="4588136" y="1222649"/>
                  </a:lnTo>
                  <a:lnTo>
                    <a:pt x="4521980" y="1223299"/>
                  </a:lnTo>
                  <a:lnTo>
                    <a:pt x="4457107" y="1224197"/>
                  </a:lnTo>
                  <a:lnTo>
                    <a:pt x="4393489" y="1225337"/>
                  </a:lnTo>
                  <a:lnTo>
                    <a:pt x="4331100" y="1226711"/>
                  </a:lnTo>
                  <a:lnTo>
                    <a:pt x="4269913" y="1228314"/>
                  </a:lnTo>
                  <a:lnTo>
                    <a:pt x="4209901" y="1230138"/>
                  </a:lnTo>
                  <a:lnTo>
                    <a:pt x="4151038" y="1232176"/>
                  </a:lnTo>
                  <a:lnTo>
                    <a:pt x="4093297" y="1234422"/>
                  </a:lnTo>
                  <a:lnTo>
                    <a:pt x="4036651" y="1236869"/>
                  </a:lnTo>
                  <a:lnTo>
                    <a:pt x="3981073" y="1239510"/>
                  </a:lnTo>
                  <a:lnTo>
                    <a:pt x="3926538" y="1242339"/>
                  </a:lnTo>
                  <a:lnTo>
                    <a:pt x="3873017" y="1245348"/>
                  </a:lnTo>
                  <a:lnTo>
                    <a:pt x="3820484" y="1248532"/>
                  </a:lnTo>
                  <a:lnTo>
                    <a:pt x="3768913" y="1251882"/>
                  </a:lnTo>
                  <a:lnTo>
                    <a:pt x="3718277" y="1255393"/>
                  </a:lnTo>
                  <a:lnTo>
                    <a:pt x="3668549" y="1259057"/>
                  </a:lnTo>
                  <a:lnTo>
                    <a:pt x="3619703" y="1262868"/>
                  </a:lnTo>
                  <a:lnTo>
                    <a:pt x="3571712" y="1266820"/>
                  </a:lnTo>
                  <a:lnTo>
                    <a:pt x="3524548" y="1270904"/>
                  </a:lnTo>
                  <a:lnTo>
                    <a:pt x="3478186" y="1275116"/>
                  </a:lnTo>
                  <a:lnTo>
                    <a:pt x="3432598" y="1279447"/>
                  </a:lnTo>
                  <a:lnTo>
                    <a:pt x="3387759" y="1283891"/>
                  </a:lnTo>
                  <a:lnTo>
                    <a:pt x="3343640" y="1288441"/>
                  </a:lnTo>
                  <a:lnTo>
                    <a:pt x="3300216" y="1293091"/>
                  </a:lnTo>
                  <a:lnTo>
                    <a:pt x="3257460" y="1297834"/>
                  </a:lnTo>
                  <a:lnTo>
                    <a:pt x="3215345" y="1302662"/>
                  </a:lnTo>
                  <a:lnTo>
                    <a:pt x="3173845" y="1307570"/>
                  </a:lnTo>
                  <a:lnTo>
                    <a:pt x="3132932" y="1312551"/>
                  </a:lnTo>
                  <a:lnTo>
                    <a:pt x="3092579" y="1317597"/>
                  </a:lnTo>
                  <a:lnTo>
                    <a:pt x="3052762" y="1322702"/>
                  </a:lnTo>
                  <a:lnTo>
                    <a:pt x="3013451" y="1327859"/>
                  </a:lnTo>
                  <a:lnTo>
                    <a:pt x="2974622" y="1333062"/>
                  </a:lnTo>
                  <a:lnTo>
                    <a:pt x="2936246" y="1338303"/>
                  </a:lnTo>
                  <a:lnTo>
                    <a:pt x="2898298" y="1343577"/>
                  </a:lnTo>
                  <a:lnTo>
                    <a:pt x="2823577" y="1354192"/>
                  </a:lnTo>
                  <a:lnTo>
                    <a:pt x="2750246" y="1364854"/>
                  </a:lnTo>
                  <a:lnTo>
                    <a:pt x="2678089" y="1375508"/>
                  </a:lnTo>
                  <a:lnTo>
                    <a:pt x="2606894" y="1386101"/>
                  </a:lnTo>
                  <a:lnTo>
                    <a:pt x="2571591" y="1391357"/>
                  </a:lnTo>
                  <a:lnTo>
                    <a:pt x="2501437" y="1401755"/>
                  </a:lnTo>
                  <a:lnTo>
                    <a:pt x="2431712" y="1411957"/>
                  </a:lnTo>
                  <a:lnTo>
                    <a:pt x="2362200" y="1421907"/>
                  </a:lnTo>
                  <a:lnTo>
                    <a:pt x="2292687" y="1431553"/>
                  </a:lnTo>
                  <a:lnTo>
                    <a:pt x="2222962" y="1440839"/>
                  </a:lnTo>
                  <a:lnTo>
                    <a:pt x="2152808" y="1449712"/>
                  </a:lnTo>
                  <a:lnTo>
                    <a:pt x="2082014" y="1458117"/>
                  </a:lnTo>
                  <a:lnTo>
                    <a:pt x="2010365" y="1466001"/>
                  </a:lnTo>
                  <a:lnTo>
                    <a:pt x="1937648" y="1473310"/>
                  </a:lnTo>
                  <a:lnTo>
                    <a:pt x="1863648" y="1479989"/>
                  </a:lnTo>
                  <a:lnTo>
                    <a:pt x="1788153" y="1485983"/>
                  </a:lnTo>
                  <a:lnTo>
                    <a:pt x="1749777" y="1488708"/>
                  </a:lnTo>
                  <a:lnTo>
                    <a:pt x="1710948" y="1491241"/>
                  </a:lnTo>
                  <a:lnTo>
                    <a:pt x="1671637" y="1493575"/>
                  </a:lnTo>
                  <a:lnTo>
                    <a:pt x="1631820" y="1495706"/>
                  </a:lnTo>
                  <a:lnTo>
                    <a:pt x="1591467" y="1497624"/>
                  </a:lnTo>
                  <a:lnTo>
                    <a:pt x="1550554" y="1499325"/>
                  </a:lnTo>
                  <a:lnTo>
                    <a:pt x="1509054" y="1500800"/>
                  </a:lnTo>
                  <a:lnTo>
                    <a:pt x="1466939" y="1502043"/>
                  </a:lnTo>
                  <a:lnTo>
                    <a:pt x="1424183" y="1503048"/>
                  </a:lnTo>
                  <a:lnTo>
                    <a:pt x="1380759" y="1503808"/>
                  </a:lnTo>
                  <a:lnTo>
                    <a:pt x="1336640" y="1504315"/>
                  </a:lnTo>
                  <a:lnTo>
                    <a:pt x="1291801" y="1504564"/>
                  </a:lnTo>
                  <a:lnTo>
                    <a:pt x="1246213" y="1504547"/>
                  </a:lnTo>
                  <a:lnTo>
                    <a:pt x="1199851" y="1504258"/>
                  </a:lnTo>
                  <a:lnTo>
                    <a:pt x="1152687" y="1503689"/>
                  </a:lnTo>
                  <a:lnTo>
                    <a:pt x="1104696" y="1502835"/>
                  </a:lnTo>
                  <a:lnTo>
                    <a:pt x="1055850" y="1501688"/>
                  </a:lnTo>
                  <a:lnTo>
                    <a:pt x="1006122" y="1500242"/>
                  </a:lnTo>
                  <a:lnTo>
                    <a:pt x="955486" y="1498489"/>
                  </a:lnTo>
                  <a:lnTo>
                    <a:pt x="903915" y="1496424"/>
                  </a:lnTo>
                  <a:lnTo>
                    <a:pt x="851382" y="1494038"/>
                  </a:lnTo>
                  <a:lnTo>
                    <a:pt x="797861" y="1491327"/>
                  </a:lnTo>
                  <a:lnTo>
                    <a:pt x="743326" y="1488282"/>
                  </a:lnTo>
                  <a:lnTo>
                    <a:pt x="687748" y="1484897"/>
                  </a:lnTo>
                  <a:lnTo>
                    <a:pt x="631102" y="1481165"/>
                  </a:lnTo>
                  <a:lnTo>
                    <a:pt x="573361" y="1477080"/>
                  </a:lnTo>
                  <a:lnTo>
                    <a:pt x="514498" y="1472634"/>
                  </a:lnTo>
                  <a:lnTo>
                    <a:pt x="454486" y="1467822"/>
                  </a:lnTo>
                  <a:lnTo>
                    <a:pt x="393299" y="1462635"/>
                  </a:lnTo>
                  <a:lnTo>
                    <a:pt x="330910" y="1457068"/>
                  </a:lnTo>
                  <a:lnTo>
                    <a:pt x="267292" y="1451114"/>
                  </a:lnTo>
                  <a:lnTo>
                    <a:pt x="202419" y="1444766"/>
                  </a:lnTo>
                  <a:lnTo>
                    <a:pt x="136263" y="1438016"/>
                  </a:lnTo>
                  <a:lnTo>
                    <a:pt x="68799" y="1430860"/>
                  </a:lnTo>
                  <a:lnTo>
                    <a:pt x="0" y="142328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90700" y="3676650"/>
              <a:ext cx="4724400" cy="105321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790700" y="3676650"/>
              <a:ext cx="4724400" cy="1053465"/>
            </a:xfrm>
            <a:custGeom>
              <a:avLst/>
              <a:gdLst/>
              <a:ahLst/>
              <a:cxnLst/>
              <a:rect l="l" t="t" r="r" b="b"/>
              <a:pathLst>
                <a:path w="4724400" h="1053464">
                  <a:moveTo>
                    <a:pt x="0" y="0"/>
                  </a:moveTo>
                  <a:lnTo>
                    <a:pt x="4724400" y="0"/>
                  </a:lnTo>
                  <a:lnTo>
                    <a:pt x="4724400" y="855472"/>
                  </a:lnTo>
                  <a:lnTo>
                    <a:pt x="4654237" y="855568"/>
                  </a:lnTo>
                  <a:lnTo>
                    <a:pt x="4585464" y="855856"/>
                  </a:lnTo>
                  <a:lnTo>
                    <a:pt x="4518052" y="856329"/>
                  </a:lnTo>
                  <a:lnTo>
                    <a:pt x="4451972" y="856983"/>
                  </a:lnTo>
                  <a:lnTo>
                    <a:pt x="4387195" y="857812"/>
                  </a:lnTo>
                  <a:lnTo>
                    <a:pt x="4323695" y="858812"/>
                  </a:lnTo>
                  <a:lnTo>
                    <a:pt x="4261441" y="859977"/>
                  </a:lnTo>
                  <a:lnTo>
                    <a:pt x="4200407" y="861302"/>
                  </a:lnTo>
                  <a:lnTo>
                    <a:pt x="4140563" y="862783"/>
                  </a:lnTo>
                  <a:lnTo>
                    <a:pt x="4081881" y="864415"/>
                  </a:lnTo>
                  <a:lnTo>
                    <a:pt x="4024333" y="866191"/>
                  </a:lnTo>
                  <a:lnTo>
                    <a:pt x="3967891" y="868108"/>
                  </a:lnTo>
                  <a:lnTo>
                    <a:pt x="3912526" y="870161"/>
                  </a:lnTo>
                  <a:lnTo>
                    <a:pt x="3858209" y="872344"/>
                  </a:lnTo>
                  <a:lnTo>
                    <a:pt x="3804913" y="874652"/>
                  </a:lnTo>
                  <a:lnTo>
                    <a:pt x="3752609" y="877080"/>
                  </a:lnTo>
                  <a:lnTo>
                    <a:pt x="3701269" y="879623"/>
                  </a:lnTo>
                  <a:lnTo>
                    <a:pt x="3650865" y="882277"/>
                  </a:lnTo>
                  <a:lnTo>
                    <a:pt x="3601367" y="885036"/>
                  </a:lnTo>
                  <a:lnTo>
                    <a:pt x="3552748" y="887895"/>
                  </a:lnTo>
                  <a:lnTo>
                    <a:pt x="3504980" y="890849"/>
                  </a:lnTo>
                  <a:lnTo>
                    <a:pt x="3458034" y="893894"/>
                  </a:lnTo>
                  <a:lnTo>
                    <a:pt x="3411881" y="897023"/>
                  </a:lnTo>
                  <a:lnTo>
                    <a:pt x="3366494" y="900233"/>
                  </a:lnTo>
                  <a:lnTo>
                    <a:pt x="3321843" y="903517"/>
                  </a:lnTo>
                  <a:lnTo>
                    <a:pt x="3277902" y="906872"/>
                  </a:lnTo>
                  <a:lnTo>
                    <a:pt x="3234640" y="910291"/>
                  </a:lnTo>
                  <a:lnTo>
                    <a:pt x="3192031" y="913771"/>
                  </a:lnTo>
                  <a:lnTo>
                    <a:pt x="3150045" y="917305"/>
                  </a:lnTo>
                  <a:lnTo>
                    <a:pt x="3108655" y="920890"/>
                  </a:lnTo>
                  <a:lnTo>
                    <a:pt x="3067831" y="924519"/>
                  </a:lnTo>
                  <a:lnTo>
                    <a:pt x="3027546" y="928189"/>
                  </a:lnTo>
                  <a:lnTo>
                    <a:pt x="2987771" y="931893"/>
                  </a:lnTo>
                  <a:lnTo>
                    <a:pt x="2948479" y="935627"/>
                  </a:lnTo>
                  <a:lnTo>
                    <a:pt x="2909639" y="939386"/>
                  </a:lnTo>
                  <a:lnTo>
                    <a:pt x="2871225" y="943164"/>
                  </a:lnTo>
                  <a:lnTo>
                    <a:pt x="2833208" y="946958"/>
                  </a:lnTo>
                  <a:lnTo>
                    <a:pt x="2758251" y="954568"/>
                  </a:lnTo>
                  <a:lnTo>
                    <a:pt x="2684541" y="962178"/>
                  </a:lnTo>
                  <a:lnTo>
                    <a:pt x="2611851" y="969747"/>
                  </a:lnTo>
                  <a:lnTo>
                    <a:pt x="2575818" y="973503"/>
                  </a:lnTo>
                  <a:lnTo>
                    <a:pt x="2539955" y="977234"/>
                  </a:lnTo>
                  <a:lnTo>
                    <a:pt x="2468626" y="984599"/>
                  </a:lnTo>
                  <a:lnTo>
                    <a:pt x="2397637" y="991802"/>
                  </a:lnTo>
                  <a:lnTo>
                    <a:pt x="2326762" y="998803"/>
                  </a:lnTo>
                  <a:lnTo>
                    <a:pt x="2255773" y="1005562"/>
                  </a:lnTo>
                  <a:lnTo>
                    <a:pt x="2184444" y="1012038"/>
                  </a:lnTo>
                  <a:lnTo>
                    <a:pt x="2112548" y="1018192"/>
                  </a:lnTo>
                  <a:lnTo>
                    <a:pt x="2039858" y="1023983"/>
                  </a:lnTo>
                  <a:lnTo>
                    <a:pt x="1966148" y="1029370"/>
                  </a:lnTo>
                  <a:lnTo>
                    <a:pt x="1891191" y="1034315"/>
                  </a:lnTo>
                  <a:lnTo>
                    <a:pt x="1814760" y="1038776"/>
                  </a:lnTo>
                  <a:lnTo>
                    <a:pt x="1775920" y="1040813"/>
                  </a:lnTo>
                  <a:lnTo>
                    <a:pt x="1736628" y="1042714"/>
                  </a:lnTo>
                  <a:lnTo>
                    <a:pt x="1696853" y="1044474"/>
                  </a:lnTo>
                  <a:lnTo>
                    <a:pt x="1656568" y="1046088"/>
                  </a:lnTo>
                  <a:lnTo>
                    <a:pt x="1615744" y="1047551"/>
                  </a:lnTo>
                  <a:lnTo>
                    <a:pt x="1574354" y="1048858"/>
                  </a:lnTo>
                  <a:lnTo>
                    <a:pt x="1532368" y="1050003"/>
                  </a:lnTo>
                  <a:lnTo>
                    <a:pt x="1489759" y="1050983"/>
                  </a:lnTo>
                  <a:lnTo>
                    <a:pt x="1446497" y="1051792"/>
                  </a:lnTo>
                  <a:lnTo>
                    <a:pt x="1402556" y="1052425"/>
                  </a:lnTo>
                  <a:lnTo>
                    <a:pt x="1357905" y="1052876"/>
                  </a:lnTo>
                  <a:lnTo>
                    <a:pt x="1312518" y="1053142"/>
                  </a:lnTo>
                  <a:lnTo>
                    <a:pt x="1266365" y="1053216"/>
                  </a:lnTo>
                  <a:lnTo>
                    <a:pt x="1219419" y="1053094"/>
                  </a:lnTo>
                  <a:lnTo>
                    <a:pt x="1171651" y="1052771"/>
                  </a:lnTo>
                  <a:lnTo>
                    <a:pt x="1123032" y="1052241"/>
                  </a:lnTo>
                  <a:lnTo>
                    <a:pt x="1073534" y="1051500"/>
                  </a:lnTo>
                  <a:lnTo>
                    <a:pt x="1023130" y="1050543"/>
                  </a:lnTo>
                  <a:lnTo>
                    <a:pt x="971790" y="1049365"/>
                  </a:lnTo>
                  <a:lnTo>
                    <a:pt x="919486" y="1047960"/>
                  </a:lnTo>
                  <a:lnTo>
                    <a:pt x="866190" y="1046324"/>
                  </a:lnTo>
                  <a:lnTo>
                    <a:pt x="811873" y="1044452"/>
                  </a:lnTo>
                  <a:lnTo>
                    <a:pt x="756508" y="1042338"/>
                  </a:lnTo>
                  <a:lnTo>
                    <a:pt x="700066" y="1039978"/>
                  </a:lnTo>
                  <a:lnTo>
                    <a:pt x="642518" y="1037366"/>
                  </a:lnTo>
                  <a:lnTo>
                    <a:pt x="583836" y="1034498"/>
                  </a:lnTo>
                  <a:lnTo>
                    <a:pt x="523992" y="1031368"/>
                  </a:lnTo>
                  <a:lnTo>
                    <a:pt x="462958" y="1027972"/>
                  </a:lnTo>
                  <a:lnTo>
                    <a:pt x="400704" y="1024305"/>
                  </a:lnTo>
                  <a:lnTo>
                    <a:pt x="337204" y="1020360"/>
                  </a:lnTo>
                  <a:lnTo>
                    <a:pt x="272427" y="1016134"/>
                  </a:lnTo>
                  <a:lnTo>
                    <a:pt x="206347" y="1011622"/>
                  </a:lnTo>
                  <a:lnTo>
                    <a:pt x="138935" y="1006818"/>
                  </a:lnTo>
                  <a:lnTo>
                    <a:pt x="70162" y="1001717"/>
                  </a:lnTo>
                  <a:lnTo>
                    <a:pt x="0" y="996314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47800" y="4343400"/>
              <a:ext cx="4724400" cy="105321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447800" y="4343400"/>
              <a:ext cx="4724400" cy="1053465"/>
            </a:xfrm>
            <a:custGeom>
              <a:avLst/>
              <a:gdLst/>
              <a:ahLst/>
              <a:cxnLst/>
              <a:rect l="l" t="t" r="r" b="b"/>
              <a:pathLst>
                <a:path w="4724400" h="1053464">
                  <a:moveTo>
                    <a:pt x="0" y="0"/>
                  </a:moveTo>
                  <a:lnTo>
                    <a:pt x="4724400" y="0"/>
                  </a:lnTo>
                  <a:lnTo>
                    <a:pt x="4724400" y="855472"/>
                  </a:lnTo>
                  <a:lnTo>
                    <a:pt x="4654237" y="855568"/>
                  </a:lnTo>
                  <a:lnTo>
                    <a:pt x="4585464" y="855856"/>
                  </a:lnTo>
                  <a:lnTo>
                    <a:pt x="4518052" y="856329"/>
                  </a:lnTo>
                  <a:lnTo>
                    <a:pt x="4451972" y="856983"/>
                  </a:lnTo>
                  <a:lnTo>
                    <a:pt x="4387195" y="857812"/>
                  </a:lnTo>
                  <a:lnTo>
                    <a:pt x="4323695" y="858812"/>
                  </a:lnTo>
                  <a:lnTo>
                    <a:pt x="4261441" y="859977"/>
                  </a:lnTo>
                  <a:lnTo>
                    <a:pt x="4200407" y="861302"/>
                  </a:lnTo>
                  <a:lnTo>
                    <a:pt x="4140563" y="862783"/>
                  </a:lnTo>
                  <a:lnTo>
                    <a:pt x="4081881" y="864415"/>
                  </a:lnTo>
                  <a:lnTo>
                    <a:pt x="4024333" y="866191"/>
                  </a:lnTo>
                  <a:lnTo>
                    <a:pt x="3967891" y="868108"/>
                  </a:lnTo>
                  <a:lnTo>
                    <a:pt x="3912526" y="870161"/>
                  </a:lnTo>
                  <a:lnTo>
                    <a:pt x="3858209" y="872344"/>
                  </a:lnTo>
                  <a:lnTo>
                    <a:pt x="3804913" y="874652"/>
                  </a:lnTo>
                  <a:lnTo>
                    <a:pt x="3752609" y="877080"/>
                  </a:lnTo>
                  <a:lnTo>
                    <a:pt x="3701269" y="879623"/>
                  </a:lnTo>
                  <a:lnTo>
                    <a:pt x="3650865" y="882277"/>
                  </a:lnTo>
                  <a:lnTo>
                    <a:pt x="3601367" y="885036"/>
                  </a:lnTo>
                  <a:lnTo>
                    <a:pt x="3552748" y="887895"/>
                  </a:lnTo>
                  <a:lnTo>
                    <a:pt x="3504980" y="890849"/>
                  </a:lnTo>
                  <a:lnTo>
                    <a:pt x="3458034" y="893894"/>
                  </a:lnTo>
                  <a:lnTo>
                    <a:pt x="3411881" y="897023"/>
                  </a:lnTo>
                  <a:lnTo>
                    <a:pt x="3366494" y="900233"/>
                  </a:lnTo>
                  <a:lnTo>
                    <a:pt x="3321843" y="903517"/>
                  </a:lnTo>
                  <a:lnTo>
                    <a:pt x="3277902" y="906872"/>
                  </a:lnTo>
                  <a:lnTo>
                    <a:pt x="3234640" y="910291"/>
                  </a:lnTo>
                  <a:lnTo>
                    <a:pt x="3192031" y="913771"/>
                  </a:lnTo>
                  <a:lnTo>
                    <a:pt x="3150045" y="917305"/>
                  </a:lnTo>
                  <a:lnTo>
                    <a:pt x="3108655" y="920890"/>
                  </a:lnTo>
                  <a:lnTo>
                    <a:pt x="3067831" y="924519"/>
                  </a:lnTo>
                  <a:lnTo>
                    <a:pt x="3027546" y="928189"/>
                  </a:lnTo>
                  <a:lnTo>
                    <a:pt x="2987771" y="931893"/>
                  </a:lnTo>
                  <a:lnTo>
                    <a:pt x="2948479" y="935627"/>
                  </a:lnTo>
                  <a:lnTo>
                    <a:pt x="2909639" y="939386"/>
                  </a:lnTo>
                  <a:lnTo>
                    <a:pt x="2871225" y="943164"/>
                  </a:lnTo>
                  <a:lnTo>
                    <a:pt x="2833208" y="946958"/>
                  </a:lnTo>
                  <a:lnTo>
                    <a:pt x="2758251" y="954568"/>
                  </a:lnTo>
                  <a:lnTo>
                    <a:pt x="2684541" y="962178"/>
                  </a:lnTo>
                  <a:lnTo>
                    <a:pt x="2611851" y="969747"/>
                  </a:lnTo>
                  <a:lnTo>
                    <a:pt x="2575818" y="973503"/>
                  </a:lnTo>
                  <a:lnTo>
                    <a:pt x="2539955" y="977234"/>
                  </a:lnTo>
                  <a:lnTo>
                    <a:pt x="2468626" y="984599"/>
                  </a:lnTo>
                  <a:lnTo>
                    <a:pt x="2397637" y="991802"/>
                  </a:lnTo>
                  <a:lnTo>
                    <a:pt x="2326762" y="998803"/>
                  </a:lnTo>
                  <a:lnTo>
                    <a:pt x="2255773" y="1005562"/>
                  </a:lnTo>
                  <a:lnTo>
                    <a:pt x="2184444" y="1012038"/>
                  </a:lnTo>
                  <a:lnTo>
                    <a:pt x="2112548" y="1018192"/>
                  </a:lnTo>
                  <a:lnTo>
                    <a:pt x="2039858" y="1023983"/>
                  </a:lnTo>
                  <a:lnTo>
                    <a:pt x="1966148" y="1029370"/>
                  </a:lnTo>
                  <a:lnTo>
                    <a:pt x="1891191" y="1034315"/>
                  </a:lnTo>
                  <a:lnTo>
                    <a:pt x="1814760" y="1038776"/>
                  </a:lnTo>
                  <a:lnTo>
                    <a:pt x="1775920" y="1040813"/>
                  </a:lnTo>
                  <a:lnTo>
                    <a:pt x="1736628" y="1042714"/>
                  </a:lnTo>
                  <a:lnTo>
                    <a:pt x="1696853" y="1044474"/>
                  </a:lnTo>
                  <a:lnTo>
                    <a:pt x="1656568" y="1046088"/>
                  </a:lnTo>
                  <a:lnTo>
                    <a:pt x="1615744" y="1047551"/>
                  </a:lnTo>
                  <a:lnTo>
                    <a:pt x="1574354" y="1048858"/>
                  </a:lnTo>
                  <a:lnTo>
                    <a:pt x="1532368" y="1050003"/>
                  </a:lnTo>
                  <a:lnTo>
                    <a:pt x="1489759" y="1050983"/>
                  </a:lnTo>
                  <a:lnTo>
                    <a:pt x="1446497" y="1051792"/>
                  </a:lnTo>
                  <a:lnTo>
                    <a:pt x="1402556" y="1052425"/>
                  </a:lnTo>
                  <a:lnTo>
                    <a:pt x="1357905" y="1052876"/>
                  </a:lnTo>
                  <a:lnTo>
                    <a:pt x="1312518" y="1053142"/>
                  </a:lnTo>
                  <a:lnTo>
                    <a:pt x="1266365" y="1053216"/>
                  </a:lnTo>
                  <a:lnTo>
                    <a:pt x="1219419" y="1053094"/>
                  </a:lnTo>
                  <a:lnTo>
                    <a:pt x="1171651" y="1052771"/>
                  </a:lnTo>
                  <a:lnTo>
                    <a:pt x="1123032" y="1052241"/>
                  </a:lnTo>
                  <a:lnTo>
                    <a:pt x="1073534" y="1051500"/>
                  </a:lnTo>
                  <a:lnTo>
                    <a:pt x="1023130" y="1050543"/>
                  </a:lnTo>
                  <a:lnTo>
                    <a:pt x="971790" y="1049365"/>
                  </a:lnTo>
                  <a:lnTo>
                    <a:pt x="919486" y="1047960"/>
                  </a:lnTo>
                  <a:lnTo>
                    <a:pt x="866190" y="1046324"/>
                  </a:lnTo>
                  <a:lnTo>
                    <a:pt x="811873" y="1044452"/>
                  </a:lnTo>
                  <a:lnTo>
                    <a:pt x="756508" y="1042338"/>
                  </a:lnTo>
                  <a:lnTo>
                    <a:pt x="700066" y="1039978"/>
                  </a:lnTo>
                  <a:lnTo>
                    <a:pt x="642518" y="1037366"/>
                  </a:lnTo>
                  <a:lnTo>
                    <a:pt x="583836" y="1034498"/>
                  </a:lnTo>
                  <a:lnTo>
                    <a:pt x="523992" y="1031368"/>
                  </a:lnTo>
                  <a:lnTo>
                    <a:pt x="462958" y="1027972"/>
                  </a:lnTo>
                  <a:lnTo>
                    <a:pt x="400704" y="1024305"/>
                  </a:lnTo>
                  <a:lnTo>
                    <a:pt x="337204" y="1020360"/>
                  </a:lnTo>
                  <a:lnTo>
                    <a:pt x="272427" y="1016134"/>
                  </a:lnTo>
                  <a:lnTo>
                    <a:pt x="206347" y="1011622"/>
                  </a:lnTo>
                  <a:lnTo>
                    <a:pt x="138935" y="1006818"/>
                  </a:lnTo>
                  <a:lnTo>
                    <a:pt x="70162" y="1001717"/>
                  </a:lnTo>
                  <a:lnTo>
                    <a:pt x="0" y="99631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679575" y="1701164"/>
            <a:ext cx="5541010" cy="30740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223135">
              <a:lnSpc>
                <a:spcPct val="100000"/>
              </a:lnSpc>
              <a:spcBef>
                <a:spcPts val="90"/>
              </a:spcBef>
            </a:pPr>
            <a:r>
              <a:rPr sz="2000" b="1" dirty="0">
                <a:latin typeface="Times New Roman"/>
                <a:cs typeface="Times New Roman"/>
              </a:rPr>
              <a:t>Organizational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height</a:t>
            </a:r>
            <a:endParaRPr sz="2000">
              <a:latin typeface="Times New Roman"/>
              <a:cs typeface="Times New Roman"/>
            </a:endParaRPr>
          </a:p>
          <a:p>
            <a:pPr marL="869950" marR="5080" indent="533400">
              <a:lnSpc>
                <a:spcPts val="5880"/>
              </a:lnSpc>
              <a:spcBef>
                <a:spcPts val="150"/>
              </a:spcBef>
            </a:pPr>
            <a:r>
              <a:rPr sz="2000" b="1" spc="-5" dirty="0">
                <a:latin typeface="Times New Roman"/>
                <a:cs typeface="Times New Roman"/>
              </a:rPr>
              <a:t>Centralization versus decentralization </a:t>
            </a:r>
            <a:r>
              <a:rPr sz="2000" b="1" spc="-484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Line </a:t>
            </a:r>
            <a:r>
              <a:rPr sz="2000" b="1" spc="-5" dirty="0">
                <a:latin typeface="Times New Roman"/>
                <a:cs typeface="Times New Roman"/>
              </a:rPr>
              <a:t>versus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staff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positions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750">
              <a:latin typeface="Times New Roman"/>
              <a:cs typeface="Times New Roman"/>
            </a:endParaRPr>
          </a:p>
          <a:p>
            <a:pPr marL="279400">
              <a:lnSpc>
                <a:spcPct val="100000"/>
              </a:lnSpc>
            </a:pPr>
            <a:r>
              <a:rPr sz="2000" b="1" spc="-5" dirty="0">
                <a:latin typeface="Times New Roman"/>
                <a:cs typeface="Times New Roman"/>
              </a:rPr>
              <a:t>Alternative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structures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latin typeface="Times New Roman"/>
                <a:cs typeface="Times New Roman"/>
              </a:rPr>
              <a:t>Departmentalization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216911" y="269189"/>
            <a:ext cx="47136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Jangkauan</a:t>
            </a:r>
            <a:r>
              <a:rPr spc="-70" dirty="0"/>
              <a:t> </a:t>
            </a:r>
            <a:r>
              <a:rPr dirty="0"/>
              <a:t>Pengawasan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00"/>
              </a:lnSpc>
            </a:pPr>
            <a:r>
              <a:rPr b="0" spc="5" dirty="0">
                <a:latin typeface="Times New Roman"/>
                <a:cs typeface="Times New Roman"/>
              </a:rPr>
              <a:t>©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dirty="0"/>
              <a:t>2001</a:t>
            </a:r>
            <a:r>
              <a:rPr spc="-20" dirty="0"/>
              <a:t> </a:t>
            </a:r>
            <a:r>
              <a:rPr spc="-5" dirty="0"/>
              <a:t>South-Western</a:t>
            </a:r>
            <a:r>
              <a:rPr dirty="0"/>
              <a:t> College</a:t>
            </a:r>
            <a:r>
              <a:rPr spc="-15" dirty="0"/>
              <a:t> </a:t>
            </a:r>
            <a:r>
              <a:rPr spc="-5" dirty="0"/>
              <a:t>Publishing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00"/>
              </a:lnSpc>
            </a:pPr>
            <a:r>
              <a:rPr spc="10" dirty="0"/>
              <a:t>M</a:t>
            </a:r>
            <a:r>
              <a:rPr spc="-35" dirty="0"/>
              <a:t>u</a:t>
            </a:r>
            <a:r>
              <a:rPr spc="5" dirty="0"/>
              <a:t>l</a:t>
            </a:r>
            <a:r>
              <a:rPr dirty="0"/>
              <a:t>t</a:t>
            </a:r>
            <a:r>
              <a:rPr spc="5" dirty="0"/>
              <a:t>iMe</a:t>
            </a:r>
            <a:r>
              <a:rPr spc="-10" dirty="0"/>
              <a:t>d</a:t>
            </a:r>
            <a:r>
              <a:rPr spc="5" dirty="0"/>
              <a:t>i</a:t>
            </a:r>
            <a:r>
              <a:rPr dirty="0"/>
              <a:t>a</a:t>
            </a:r>
            <a:r>
              <a:rPr spc="-85" dirty="0"/>
              <a:t> </a:t>
            </a:r>
            <a:r>
              <a:rPr spc="-10" dirty="0"/>
              <a:t>b</a:t>
            </a:r>
            <a:r>
              <a:rPr dirty="0"/>
              <a:t>y</a:t>
            </a:r>
            <a:r>
              <a:rPr spc="10" dirty="0"/>
              <a:t> </a:t>
            </a:r>
            <a:r>
              <a:rPr spc="-10" dirty="0"/>
              <a:t>S</a:t>
            </a:r>
            <a:r>
              <a:rPr dirty="0"/>
              <a:t>t</a:t>
            </a:r>
            <a:r>
              <a:rPr spc="5" dirty="0"/>
              <a:t>e</a:t>
            </a:r>
            <a:r>
              <a:rPr spc="-10" dirty="0"/>
              <a:t>ph</a:t>
            </a:r>
            <a:r>
              <a:rPr spc="5" dirty="0"/>
              <a:t>e</a:t>
            </a:r>
            <a:r>
              <a:rPr dirty="0"/>
              <a:t>n</a:t>
            </a:r>
            <a:r>
              <a:rPr spc="-45" dirty="0"/>
              <a:t> </a:t>
            </a:r>
            <a:r>
              <a:rPr spc="10" dirty="0"/>
              <a:t>M</a:t>
            </a:r>
            <a:r>
              <a:rPr dirty="0"/>
              <a:t>. </a:t>
            </a:r>
            <a:r>
              <a:rPr spc="-20" dirty="0"/>
              <a:t>P</a:t>
            </a:r>
            <a:r>
              <a:rPr spc="5" dirty="0"/>
              <a:t>e</a:t>
            </a:r>
            <a:r>
              <a:rPr dirty="0"/>
              <a:t>t</a:t>
            </a:r>
            <a:r>
              <a:rPr spc="5" dirty="0"/>
              <a:t>er</a:t>
            </a:r>
            <a:r>
              <a:rPr dirty="0"/>
              <a:t>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76885" y="953896"/>
            <a:ext cx="8521065" cy="36849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983605" indent="313690">
              <a:lnSpc>
                <a:spcPct val="150100"/>
              </a:lnSpc>
              <a:spcBef>
                <a:spcPts val="100"/>
              </a:spcBef>
            </a:pPr>
            <a:r>
              <a:rPr sz="1800" b="1" spc="-50" dirty="0">
                <a:latin typeface="Times New Roman"/>
                <a:cs typeface="Times New Roman"/>
              </a:rPr>
              <a:t>Tall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Organizational 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Times New Roman"/>
                <a:cs typeface="Times New Roman"/>
              </a:rPr>
              <a:t>(Narrow</a:t>
            </a:r>
            <a:r>
              <a:rPr sz="1800" b="1" spc="-10" dirty="0">
                <a:latin typeface="Times New Roman"/>
                <a:cs typeface="Times New Roman"/>
              </a:rPr>
              <a:t> Span</a:t>
            </a:r>
            <a:r>
              <a:rPr sz="1800" b="1" spc="2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of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Times New Roman"/>
                <a:cs typeface="Times New Roman"/>
              </a:rPr>
              <a:t>Control)</a:t>
            </a:r>
            <a:endParaRPr sz="1800">
              <a:latin typeface="Times New Roman"/>
              <a:cs typeface="Times New Roman"/>
            </a:endParaRPr>
          </a:p>
          <a:p>
            <a:pPr marL="3649345" marR="878840" indent="-457200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latin typeface="Wingdings"/>
                <a:cs typeface="Wingdings"/>
              </a:rPr>
              <a:t>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Manajemen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menentukan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rentang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kendali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(span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control).</a:t>
            </a:r>
            <a:endParaRPr sz="2400">
              <a:latin typeface="Times New Roman"/>
              <a:cs typeface="Times New Roman"/>
            </a:endParaRPr>
          </a:p>
          <a:p>
            <a:pPr marL="3649345" marR="5080" indent="-457200">
              <a:lnSpc>
                <a:spcPct val="100000"/>
              </a:lnSpc>
              <a:spcBef>
                <a:spcPts val="1445"/>
              </a:spcBef>
            </a:pPr>
            <a:r>
              <a:rPr sz="2400" dirty="0">
                <a:latin typeface="Wingdings"/>
                <a:cs typeface="Wingdings"/>
              </a:rPr>
              <a:t>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Jika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terdapat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banyak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tugas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dengan </a:t>
            </a:r>
            <a:r>
              <a:rPr sz="2400" spc="-5" dirty="0">
                <a:latin typeface="Times New Roman"/>
                <a:cs typeface="Times New Roman"/>
              </a:rPr>
              <a:t> kualifikasi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yang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sama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maka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yang 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digunakan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jenjang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pengawasan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melebar</a:t>
            </a:r>
            <a:endParaRPr sz="2400">
              <a:latin typeface="Times New Roman"/>
              <a:cs typeface="Times New Roman"/>
            </a:endParaRPr>
          </a:p>
          <a:p>
            <a:pPr marL="4323715" marR="1913255" indent="106680">
              <a:lnSpc>
                <a:spcPct val="100000"/>
              </a:lnSpc>
              <a:spcBef>
                <a:spcPts val="1560"/>
              </a:spcBef>
            </a:pPr>
            <a:r>
              <a:rPr sz="1800" b="1" spc="-10" dirty="0">
                <a:latin typeface="Times New Roman"/>
                <a:cs typeface="Times New Roman"/>
              </a:rPr>
              <a:t>Short Organizational 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Times New Roman"/>
                <a:cs typeface="Times New Roman"/>
              </a:rPr>
              <a:t>(Wide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Span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of</a:t>
            </a:r>
            <a:r>
              <a:rPr sz="1800" b="1" spc="10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Times New Roman"/>
                <a:cs typeface="Times New Roman"/>
              </a:rPr>
              <a:t>Control)</a:t>
            </a:r>
            <a:endParaRPr sz="1800">
              <a:latin typeface="Times New Roman"/>
              <a:cs typeface="Times New Roman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50850" y="1898650"/>
          <a:ext cx="1722755" cy="317182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4550"/>
                <a:gridCol w="878205"/>
              </a:tblGrid>
              <a:tr h="359917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600" spc="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CEO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8676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59917">
                <a:tc gridSpan="2">
                  <a:txBody>
                    <a:bodyPr/>
                    <a:lstStyle/>
                    <a:p>
                      <a:pPr marL="49466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600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President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037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59917">
                <a:tc gridSpan="2">
                  <a:txBody>
                    <a:bodyPr/>
                    <a:lstStyle/>
                    <a:p>
                      <a:pPr marL="27940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6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CFO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092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59918">
                <a:tc gridSpan="2">
                  <a:txBody>
                    <a:bodyPr/>
                    <a:lstStyle/>
                    <a:p>
                      <a:pPr marL="25336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6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Sales</a:t>
                      </a:r>
                      <a:r>
                        <a:rPr sz="1600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Manager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924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9889">
                <a:tc gridSpan="2">
                  <a:txBody>
                    <a:bodyPr/>
                    <a:lstStyle/>
                    <a:p>
                      <a:pPr marL="377825">
                        <a:lnSpc>
                          <a:spcPct val="100000"/>
                        </a:lnSpc>
                        <a:spcBef>
                          <a:spcPts val="1120"/>
                        </a:spcBef>
                      </a:pPr>
                      <a:r>
                        <a:rPr sz="1600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Salesperson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422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2895600" y="5257800"/>
            <a:ext cx="4057650" cy="304800"/>
          </a:xfrm>
          <a:custGeom>
            <a:avLst/>
            <a:gdLst/>
            <a:ahLst/>
            <a:cxnLst/>
            <a:rect l="l" t="t" r="r" b="b"/>
            <a:pathLst>
              <a:path w="4057650" h="304800">
                <a:moveTo>
                  <a:pt x="0" y="142875"/>
                </a:moveTo>
                <a:lnTo>
                  <a:pt x="0" y="304800"/>
                </a:lnTo>
              </a:path>
              <a:path w="4057650" h="304800">
                <a:moveTo>
                  <a:pt x="1371600" y="142875"/>
                </a:moveTo>
                <a:lnTo>
                  <a:pt x="1371600" y="304800"/>
                </a:lnTo>
              </a:path>
              <a:path w="4057650" h="304800">
                <a:moveTo>
                  <a:pt x="4057650" y="142875"/>
                </a:moveTo>
                <a:lnTo>
                  <a:pt x="4057650" y="304800"/>
                </a:lnTo>
              </a:path>
              <a:path w="4057650" h="304800">
                <a:moveTo>
                  <a:pt x="2743200" y="0"/>
                </a:moveTo>
                <a:lnTo>
                  <a:pt x="2743200" y="3048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286000" y="5562600"/>
            <a:ext cx="1219200" cy="457200"/>
          </a:xfrm>
          <a:prstGeom prst="rect">
            <a:avLst/>
          </a:prstGeom>
          <a:solidFill>
            <a:srgbClr val="C0504D"/>
          </a:solidFill>
          <a:ln w="12700">
            <a:solidFill>
              <a:srgbClr val="000000"/>
            </a:solidFill>
          </a:ln>
        </p:spPr>
        <p:txBody>
          <a:bodyPr vert="horz" wrap="square" lIns="0" tIns="117475" rIns="0" bIns="0" rtlCol="0">
            <a:spAutoFit/>
          </a:bodyPr>
          <a:lstStyle/>
          <a:p>
            <a:pPr marL="120014">
              <a:lnSpc>
                <a:spcPct val="100000"/>
              </a:lnSpc>
              <a:spcBef>
                <a:spcPts val="925"/>
              </a:spcBef>
            </a:pP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Salesperson</a:t>
            </a:r>
            <a:r>
              <a:rPr sz="1400" spc="-5" dirty="0">
                <a:solidFill>
                  <a:srgbClr val="FFFFFF"/>
                </a:solidFill>
                <a:latin typeface="Times New Roman"/>
                <a:cs typeface="Times New Roman"/>
              </a:rPr>
              <a:t> 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57600" y="5562600"/>
            <a:ext cx="1219200" cy="457200"/>
          </a:xfrm>
          <a:prstGeom prst="rect">
            <a:avLst/>
          </a:prstGeom>
          <a:solidFill>
            <a:srgbClr val="C0504D"/>
          </a:solidFill>
          <a:ln w="12700">
            <a:solidFill>
              <a:srgbClr val="000000"/>
            </a:solidFill>
          </a:ln>
        </p:spPr>
        <p:txBody>
          <a:bodyPr vert="horz" wrap="square" lIns="0" tIns="117475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925"/>
              </a:spcBef>
            </a:pP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Salesperson</a:t>
            </a:r>
            <a:r>
              <a:rPr sz="1400" spc="-5" dirty="0">
                <a:solidFill>
                  <a:srgbClr val="FFFFFF"/>
                </a:solidFill>
                <a:latin typeface="Times New Roman"/>
                <a:cs typeface="Times New Roman"/>
              </a:rPr>
              <a:t> 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29200" y="5562600"/>
            <a:ext cx="1219200" cy="457200"/>
          </a:xfrm>
          <a:prstGeom prst="rect">
            <a:avLst/>
          </a:prstGeom>
          <a:solidFill>
            <a:srgbClr val="C0504D"/>
          </a:solidFill>
          <a:ln w="12700">
            <a:solidFill>
              <a:srgbClr val="000000"/>
            </a:solidFill>
          </a:ln>
        </p:spPr>
        <p:txBody>
          <a:bodyPr vert="horz" wrap="square" lIns="0" tIns="117475" rIns="0" bIns="0" rtlCol="0">
            <a:spAutoFit/>
          </a:bodyPr>
          <a:lstStyle/>
          <a:p>
            <a:pPr marL="121285">
              <a:lnSpc>
                <a:spcPct val="100000"/>
              </a:lnSpc>
              <a:spcBef>
                <a:spcPts val="925"/>
              </a:spcBef>
            </a:pP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Salesperson</a:t>
            </a:r>
            <a:r>
              <a:rPr sz="1400" spc="-5" dirty="0">
                <a:solidFill>
                  <a:srgbClr val="FFFFFF"/>
                </a:solidFill>
                <a:latin typeface="Times New Roman"/>
                <a:cs typeface="Times New Roman"/>
              </a:rPr>
              <a:t> 3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00800" y="5562600"/>
            <a:ext cx="1219200" cy="457200"/>
          </a:xfrm>
          <a:prstGeom prst="rect">
            <a:avLst/>
          </a:prstGeom>
          <a:solidFill>
            <a:srgbClr val="C0504D"/>
          </a:solidFill>
          <a:ln w="12700">
            <a:solidFill>
              <a:srgbClr val="000000"/>
            </a:solidFill>
          </a:ln>
        </p:spPr>
        <p:txBody>
          <a:bodyPr vert="horz" wrap="square" lIns="0" tIns="117475" rIns="0" bIns="0" rtlCol="0">
            <a:spAutoFit/>
          </a:bodyPr>
          <a:lstStyle/>
          <a:p>
            <a:pPr marL="121285">
              <a:lnSpc>
                <a:spcPct val="100000"/>
              </a:lnSpc>
              <a:spcBef>
                <a:spcPts val="925"/>
              </a:spcBef>
            </a:pPr>
            <a:r>
              <a:rPr sz="1400" spc="-5" dirty="0">
                <a:solidFill>
                  <a:srgbClr val="FFFFFF"/>
                </a:solidFill>
                <a:latin typeface="Times New Roman"/>
                <a:cs typeface="Times New Roman"/>
              </a:rPr>
              <a:t>Salesperson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696200" y="5562600"/>
            <a:ext cx="1219200" cy="457200"/>
          </a:xfrm>
          <a:custGeom>
            <a:avLst/>
            <a:gdLst/>
            <a:ahLst/>
            <a:cxnLst/>
            <a:rect l="l" t="t" r="r" b="b"/>
            <a:pathLst>
              <a:path w="1219200" h="457200">
                <a:moveTo>
                  <a:pt x="1219200" y="0"/>
                </a:moveTo>
                <a:lnTo>
                  <a:pt x="0" y="0"/>
                </a:lnTo>
                <a:lnTo>
                  <a:pt x="0" y="457200"/>
                </a:lnTo>
                <a:lnTo>
                  <a:pt x="1219200" y="457200"/>
                </a:lnTo>
                <a:lnTo>
                  <a:pt x="1219200" y="0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696200" y="5562600"/>
            <a:ext cx="1219200" cy="4572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17475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925"/>
              </a:spcBef>
            </a:pP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Salesperson</a:t>
            </a:r>
            <a:r>
              <a:rPr sz="1400" spc="-5" dirty="0">
                <a:solidFill>
                  <a:srgbClr val="FFFFFF"/>
                </a:solidFill>
                <a:latin typeface="Times New Roman"/>
                <a:cs typeface="Times New Roman"/>
              </a:rPr>
              <a:t> 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29200" y="4800600"/>
            <a:ext cx="1219200" cy="457200"/>
          </a:xfrm>
          <a:prstGeom prst="rect">
            <a:avLst/>
          </a:prstGeom>
          <a:solidFill>
            <a:srgbClr val="C0504D"/>
          </a:solidFill>
          <a:ln w="12700">
            <a:solidFill>
              <a:srgbClr val="000000"/>
            </a:solidFill>
          </a:ln>
        </p:spPr>
        <p:txBody>
          <a:bodyPr vert="horz" wrap="square" lIns="0" tIns="116839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919"/>
              </a:spcBef>
            </a:pP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CEO/President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895600" y="5391150"/>
            <a:ext cx="5410200" cy="228600"/>
          </a:xfrm>
          <a:custGeom>
            <a:avLst/>
            <a:gdLst/>
            <a:ahLst/>
            <a:cxnLst/>
            <a:rect l="l" t="t" r="r" b="b"/>
            <a:pathLst>
              <a:path w="5410200" h="228600">
                <a:moveTo>
                  <a:pt x="0" y="0"/>
                </a:moveTo>
                <a:lnTo>
                  <a:pt x="5410200" y="0"/>
                </a:lnTo>
              </a:path>
              <a:path w="5410200" h="228600">
                <a:moveTo>
                  <a:pt x="5400675" y="0"/>
                </a:moveTo>
                <a:lnTo>
                  <a:pt x="5400675" y="2286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799082" y="421894"/>
            <a:ext cx="55467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Sentralisasi</a:t>
            </a:r>
            <a:r>
              <a:rPr spc="-20" dirty="0"/>
              <a:t> </a:t>
            </a:r>
            <a:r>
              <a:rPr spc="-5" dirty="0"/>
              <a:t>vs.</a:t>
            </a:r>
            <a:r>
              <a:rPr spc="20" dirty="0"/>
              <a:t> </a:t>
            </a:r>
            <a:r>
              <a:rPr spc="-5" dirty="0"/>
              <a:t>Desentalisasi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00"/>
              </a:lnSpc>
            </a:pPr>
            <a:r>
              <a:rPr b="0" spc="5" dirty="0">
                <a:latin typeface="Times New Roman"/>
                <a:cs typeface="Times New Roman"/>
              </a:rPr>
              <a:t>©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dirty="0"/>
              <a:t>2001</a:t>
            </a:r>
            <a:r>
              <a:rPr spc="-20" dirty="0"/>
              <a:t> </a:t>
            </a:r>
            <a:r>
              <a:rPr spc="-5" dirty="0"/>
              <a:t>South-Western</a:t>
            </a:r>
            <a:r>
              <a:rPr dirty="0"/>
              <a:t> College</a:t>
            </a:r>
            <a:r>
              <a:rPr spc="-15" dirty="0"/>
              <a:t> </a:t>
            </a:r>
            <a:r>
              <a:rPr spc="-5" dirty="0"/>
              <a:t>Publishing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00"/>
              </a:lnSpc>
            </a:pPr>
            <a:r>
              <a:rPr spc="10" dirty="0"/>
              <a:t>M</a:t>
            </a:r>
            <a:r>
              <a:rPr spc="-35" dirty="0"/>
              <a:t>u</a:t>
            </a:r>
            <a:r>
              <a:rPr spc="5" dirty="0"/>
              <a:t>l</a:t>
            </a:r>
            <a:r>
              <a:rPr dirty="0"/>
              <a:t>t</a:t>
            </a:r>
            <a:r>
              <a:rPr spc="5" dirty="0"/>
              <a:t>iMe</a:t>
            </a:r>
            <a:r>
              <a:rPr spc="-10" dirty="0"/>
              <a:t>d</a:t>
            </a:r>
            <a:r>
              <a:rPr spc="5" dirty="0"/>
              <a:t>i</a:t>
            </a:r>
            <a:r>
              <a:rPr dirty="0"/>
              <a:t>a</a:t>
            </a:r>
            <a:r>
              <a:rPr spc="-85" dirty="0"/>
              <a:t> </a:t>
            </a:r>
            <a:r>
              <a:rPr spc="-10" dirty="0"/>
              <a:t>b</a:t>
            </a:r>
            <a:r>
              <a:rPr dirty="0"/>
              <a:t>y</a:t>
            </a:r>
            <a:r>
              <a:rPr spc="10" dirty="0"/>
              <a:t> </a:t>
            </a:r>
            <a:r>
              <a:rPr spc="-10" dirty="0"/>
              <a:t>S</a:t>
            </a:r>
            <a:r>
              <a:rPr dirty="0"/>
              <a:t>t</a:t>
            </a:r>
            <a:r>
              <a:rPr spc="5" dirty="0"/>
              <a:t>e</a:t>
            </a:r>
            <a:r>
              <a:rPr spc="-10" dirty="0"/>
              <a:t>ph</a:t>
            </a:r>
            <a:r>
              <a:rPr spc="5" dirty="0"/>
              <a:t>e</a:t>
            </a:r>
            <a:r>
              <a:rPr dirty="0"/>
              <a:t>n</a:t>
            </a:r>
            <a:r>
              <a:rPr spc="-45" dirty="0"/>
              <a:t> </a:t>
            </a:r>
            <a:r>
              <a:rPr spc="10" dirty="0"/>
              <a:t>M</a:t>
            </a:r>
            <a:r>
              <a:rPr dirty="0"/>
              <a:t>. </a:t>
            </a:r>
            <a:r>
              <a:rPr spc="-20" dirty="0"/>
              <a:t>P</a:t>
            </a:r>
            <a:r>
              <a:rPr spc="5" dirty="0"/>
              <a:t>e</a:t>
            </a:r>
            <a:r>
              <a:rPr dirty="0"/>
              <a:t>t</a:t>
            </a:r>
            <a:r>
              <a:rPr spc="5" dirty="0"/>
              <a:t>er</a:t>
            </a:r>
            <a:r>
              <a:rPr dirty="0"/>
              <a:t>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57555" y="2272741"/>
            <a:ext cx="3583304" cy="3391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29615">
              <a:lnSpc>
                <a:spcPct val="100000"/>
              </a:lnSpc>
              <a:spcBef>
                <a:spcPts val="100"/>
              </a:spcBef>
            </a:pPr>
            <a:r>
              <a:rPr sz="2400" b="1" u="heavy" spc="-5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Times New Roman"/>
                <a:cs typeface="Times New Roman"/>
              </a:rPr>
              <a:t>Sentralisasi</a:t>
            </a:r>
            <a:r>
              <a:rPr sz="2400" b="1" spc="-6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400" b="1" u="heavy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2300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spc="-20" dirty="0">
                <a:latin typeface="Times New Roman"/>
                <a:cs typeface="Times New Roman"/>
              </a:rPr>
              <a:t>Banyak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kontrol.</a:t>
            </a:r>
            <a:endParaRPr sz="2400">
              <a:latin typeface="Times New Roman"/>
              <a:cs typeface="Times New Roman"/>
            </a:endParaRPr>
          </a:p>
          <a:p>
            <a:pPr marL="356870" marR="703580" indent="-344805">
              <a:lnSpc>
                <a:spcPct val="100000"/>
              </a:lnSpc>
              <a:spcBef>
                <a:spcPts val="580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spc="-20" dirty="0">
                <a:latin typeface="Times New Roman"/>
                <a:cs typeface="Times New Roman"/>
              </a:rPr>
              <a:t>Hanya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manajer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berpengalaman </a:t>
            </a:r>
            <a:r>
              <a:rPr sz="2400" spc="-25" dirty="0">
                <a:latin typeface="Times New Roman"/>
                <a:cs typeface="Times New Roman"/>
              </a:rPr>
              <a:t>yang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membuat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keputusan.</a:t>
            </a:r>
            <a:endParaRPr sz="2400">
              <a:latin typeface="Times New Roman"/>
              <a:cs typeface="Times New Roman"/>
            </a:endParaRPr>
          </a:p>
          <a:p>
            <a:pPr marL="356870" marR="5080" indent="-344805">
              <a:lnSpc>
                <a:spcPct val="100000"/>
              </a:lnSpc>
              <a:spcBef>
                <a:spcPts val="580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spc="-10" dirty="0">
                <a:latin typeface="Times New Roman"/>
                <a:cs typeface="Times New Roman"/>
              </a:rPr>
              <a:t>Bagus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untuk</a:t>
            </a:r>
            <a:r>
              <a:rPr sz="2400" spc="-5" dirty="0">
                <a:latin typeface="Times New Roman"/>
                <a:cs typeface="Times New Roman"/>
              </a:rPr>
              <a:t> sebuah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perusahaan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yang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memiliki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permasalahan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keuangan.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95600" y="2622804"/>
            <a:ext cx="70485" cy="30480"/>
          </a:xfrm>
          <a:custGeom>
            <a:avLst/>
            <a:gdLst/>
            <a:ahLst/>
            <a:cxnLst/>
            <a:rect l="l" t="t" r="r" b="b"/>
            <a:pathLst>
              <a:path w="70485" h="30480">
                <a:moveTo>
                  <a:pt x="70104" y="0"/>
                </a:moveTo>
                <a:lnTo>
                  <a:pt x="0" y="0"/>
                </a:lnTo>
                <a:lnTo>
                  <a:pt x="0" y="30479"/>
                </a:lnTo>
                <a:lnTo>
                  <a:pt x="70104" y="30479"/>
                </a:lnTo>
                <a:lnTo>
                  <a:pt x="701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727575" y="2253741"/>
            <a:ext cx="3926204" cy="2679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6735">
              <a:lnSpc>
                <a:spcPct val="100000"/>
              </a:lnSpc>
              <a:spcBef>
                <a:spcPts val="100"/>
              </a:spcBef>
            </a:pPr>
            <a:r>
              <a:rPr sz="2400" b="1" u="heavy" spc="-5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Times New Roman"/>
                <a:cs typeface="Times New Roman"/>
              </a:rPr>
              <a:t>Desentralisasi</a:t>
            </a:r>
            <a:r>
              <a:rPr sz="2400" b="1" u="heavy" spc="-35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heavy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100">
              <a:latin typeface="Times New Roman"/>
              <a:cs typeface="Times New Roman"/>
            </a:endParaRPr>
          </a:p>
          <a:p>
            <a:pPr marL="356870" marR="1346835" indent="-344805">
              <a:lnSpc>
                <a:spcPct val="100000"/>
              </a:lnSpc>
              <a:buChar char="•"/>
              <a:tabLst>
                <a:tab pos="356870" algn="l"/>
                <a:tab pos="357505" algn="l"/>
              </a:tabLst>
            </a:pPr>
            <a:r>
              <a:rPr sz="2400" spc="-10" dirty="0">
                <a:latin typeface="Times New Roman"/>
                <a:cs typeface="Times New Roman"/>
              </a:rPr>
              <a:t>Mengurangi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biaya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operasional.</a:t>
            </a:r>
            <a:endParaRPr sz="2400">
              <a:latin typeface="Times New Roman"/>
              <a:cs typeface="Times New Roman"/>
            </a:endParaRPr>
          </a:p>
          <a:p>
            <a:pPr marL="356870" marR="5080" indent="-344805">
              <a:lnSpc>
                <a:spcPct val="100000"/>
              </a:lnSpc>
              <a:spcBef>
                <a:spcPts val="580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spc="-5" dirty="0">
                <a:latin typeface="Times New Roman"/>
                <a:cs typeface="Times New Roman"/>
              </a:rPr>
              <a:t>Pengambilan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keputusan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yang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cepat.</a:t>
            </a:r>
            <a:endParaRPr sz="24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580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spc="-5" dirty="0">
                <a:latin typeface="Times New Roman"/>
                <a:cs typeface="Times New Roman"/>
              </a:rPr>
              <a:t>Memotivasi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pekerja.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45414" y="211277"/>
            <a:ext cx="406463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2300" marR="5080" indent="-609600">
              <a:lnSpc>
                <a:spcPct val="100000"/>
              </a:lnSpc>
              <a:spcBef>
                <a:spcPts val="95"/>
              </a:spcBef>
              <a:tabLst>
                <a:tab pos="2303145" algn="l"/>
              </a:tabLst>
            </a:pPr>
            <a:r>
              <a:rPr sz="3200" spc="-5" dirty="0"/>
              <a:t>Perbandingan</a:t>
            </a:r>
            <a:r>
              <a:rPr sz="3200" spc="-50" dirty="0"/>
              <a:t> </a:t>
            </a:r>
            <a:r>
              <a:rPr sz="3200" spc="-5" dirty="0"/>
              <a:t>Lini</a:t>
            </a:r>
            <a:r>
              <a:rPr sz="3200" spc="-25" dirty="0"/>
              <a:t> </a:t>
            </a:r>
            <a:r>
              <a:rPr sz="3200" dirty="0"/>
              <a:t>dan </a:t>
            </a:r>
            <a:r>
              <a:rPr sz="3200" spc="-785" dirty="0"/>
              <a:t> </a:t>
            </a:r>
            <a:r>
              <a:rPr sz="3200" spc="-5" dirty="0"/>
              <a:t>Lini</a:t>
            </a:r>
            <a:r>
              <a:rPr sz="3200" spc="-25" dirty="0"/>
              <a:t> </a:t>
            </a:r>
            <a:r>
              <a:rPr sz="3200" dirty="0"/>
              <a:t>dan	</a:t>
            </a:r>
            <a:r>
              <a:rPr sz="3200" spc="-5" dirty="0"/>
              <a:t>&amp;</a:t>
            </a:r>
            <a:r>
              <a:rPr sz="3200" spc="-15" dirty="0"/>
              <a:t> </a:t>
            </a:r>
            <a:r>
              <a:rPr sz="3200" spc="-5" dirty="0"/>
              <a:t>Staf</a:t>
            </a:r>
            <a:endParaRPr sz="3200"/>
          </a:p>
        </p:txBody>
      </p:sp>
      <p:sp>
        <p:nvSpPr>
          <p:cNvPr id="40" name="object 4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00"/>
              </a:lnSpc>
            </a:pPr>
            <a:r>
              <a:rPr b="0" spc="5" dirty="0">
                <a:latin typeface="Times New Roman"/>
                <a:cs typeface="Times New Roman"/>
              </a:rPr>
              <a:t>©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dirty="0"/>
              <a:t>2001</a:t>
            </a:r>
            <a:r>
              <a:rPr spc="-20" dirty="0"/>
              <a:t> </a:t>
            </a:r>
            <a:r>
              <a:rPr spc="-5" dirty="0"/>
              <a:t>South-Western</a:t>
            </a:r>
            <a:r>
              <a:rPr dirty="0"/>
              <a:t> College</a:t>
            </a:r>
            <a:r>
              <a:rPr spc="-15" dirty="0"/>
              <a:t> </a:t>
            </a:r>
            <a:r>
              <a:rPr spc="-5" dirty="0"/>
              <a:t>Publishing</a:t>
            </a:r>
          </a:p>
        </p:txBody>
      </p:sp>
      <p:sp>
        <p:nvSpPr>
          <p:cNvPr id="39" name="object 3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00"/>
              </a:lnSpc>
            </a:pPr>
            <a:r>
              <a:rPr spc="10" dirty="0"/>
              <a:t>M</a:t>
            </a:r>
            <a:r>
              <a:rPr spc="-35" dirty="0"/>
              <a:t>u</a:t>
            </a:r>
            <a:r>
              <a:rPr spc="5" dirty="0"/>
              <a:t>l</a:t>
            </a:r>
            <a:r>
              <a:rPr dirty="0"/>
              <a:t>t</a:t>
            </a:r>
            <a:r>
              <a:rPr spc="5" dirty="0"/>
              <a:t>iMe</a:t>
            </a:r>
            <a:r>
              <a:rPr spc="-10" dirty="0"/>
              <a:t>d</a:t>
            </a:r>
            <a:r>
              <a:rPr spc="5" dirty="0"/>
              <a:t>i</a:t>
            </a:r>
            <a:r>
              <a:rPr dirty="0"/>
              <a:t>a</a:t>
            </a:r>
            <a:r>
              <a:rPr spc="-85" dirty="0"/>
              <a:t> </a:t>
            </a:r>
            <a:r>
              <a:rPr spc="-10" dirty="0"/>
              <a:t>b</a:t>
            </a:r>
            <a:r>
              <a:rPr dirty="0"/>
              <a:t>y</a:t>
            </a:r>
            <a:r>
              <a:rPr spc="10" dirty="0"/>
              <a:t> </a:t>
            </a:r>
            <a:r>
              <a:rPr spc="-10" dirty="0"/>
              <a:t>S</a:t>
            </a:r>
            <a:r>
              <a:rPr dirty="0"/>
              <a:t>t</a:t>
            </a:r>
            <a:r>
              <a:rPr spc="5" dirty="0"/>
              <a:t>e</a:t>
            </a:r>
            <a:r>
              <a:rPr spc="-10" dirty="0"/>
              <a:t>ph</a:t>
            </a:r>
            <a:r>
              <a:rPr spc="5" dirty="0"/>
              <a:t>e</a:t>
            </a:r>
            <a:r>
              <a:rPr dirty="0"/>
              <a:t>n</a:t>
            </a:r>
            <a:r>
              <a:rPr spc="-45" dirty="0"/>
              <a:t> </a:t>
            </a:r>
            <a:r>
              <a:rPr spc="10" dirty="0"/>
              <a:t>M</a:t>
            </a:r>
            <a:r>
              <a:rPr dirty="0"/>
              <a:t>. </a:t>
            </a:r>
            <a:r>
              <a:rPr spc="-20" dirty="0"/>
              <a:t>P</a:t>
            </a:r>
            <a:r>
              <a:rPr spc="5" dirty="0"/>
              <a:t>e</a:t>
            </a:r>
            <a:r>
              <a:rPr dirty="0"/>
              <a:t>t</a:t>
            </a:r>
            <a:r>
              <a:rPr spc="5" dirty="0"/>
              <a:t>er</a:t>
            </a:r>
            <a:r>
              <a:rPr dirty="0"/>
              <a:t>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956428" y="5053076"/>
            <a:ext cx="3653154" cy="51498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5"/>
              </a:spcBef>
              <a:buChar char="•"/>
              <a:tabLst>
                <a:tab pos="356870" algn="l"/>
                <a:tab pos="357505" algn="l"/>
              </a:tabLst>
            </a:pPr>
            <a:r>
              <a:rPr sz="1600" dirty="0">
                <a:latin typeface="Times New Roman"/>
                <a:cs typeface="Times New Roman"/>
              </a:rPr>
              <a:t>Membuat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keputusan</a:t>
            </a:r>
            <a:r>
              <a:rPr sz="1600" spc="-8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yang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menghasilkan</a:t>
            </a:r>
            <a:endParaRPr sz="1600">
              <a:latin typeface="Times New Roman"/>
              <a:cs typeface="Times New Roman"/>
            </a:endParaRPr>
          </a:p>
          <a:p>
            <a:pPr marL="35687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Times New Roman"/>
                <a:cs typeface="Times New Roman"/>
              </a:rPr>
              <a:t>sasaran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bisnis</a:t>
            </a:r>
            <a:r>
              <a:rPr sz="1600" spc="-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spesifik.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56428" y="5522772"/>
            <a:ext cx="95821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1F487C"/>
                </a:solidFill>
                <a:latin typeface="Times New Roman"/>
                <a:cs typeface="Times New Roman"/>
              </a:rPr>
              <a:t>P</a:t>
            </a:r>
            <a:r>
              <a:rPr sz="1600" b="1" spc="10" dirty="0">
                <a:solidFill>
                  <a:srgbClr val="1F487C"/>
                </a:solidFill>
                <a:latin typeface="Times New Roman"/>
                <a:cs typeface="Times New Roman"/>
              </a:rPr>
              <a:t>o</a:t>
            </a:r>
            <a:r>
              <a:rPr sz="1600" b="1" dirty="0">
                <a:solidFill>
                  <a:srgbClr val="1F487C"/>
                </a:solidFill>
                <a:latin typeface="Times New Roman"/>
                <a:cs typeface="Times New Roman"/>
              </a:rPr>
              <a:t>s</a:t>
            </a:r>
            <a:r>
              <a:rPr sz="1600" b="1" spc="5" dirty="0">
                <a:solidFill>
                  <a:srgbClr val="1F487C"/>
                </a:solidFill>
                <a:latin typeface="Times New Roman"/>
                <a:cs typeface="Times New Roman"/>
              </a:rPr>
              <a:t>i</a:t>
            </a:r>
            <a:r>
              <a:rPr sz="1600" b="1" dirty="0">
                <a:solidFill>
                  <a:srgbClr val="1F487C"/>
                </a:solidFill>
                <a:latin typeface="Times New Roman"/>
                <a:cs typeface="Times New Roman"/>
              </a:rPr>
              <a:t>si</a:t>
            </a:r>
            <a:r>
              <a:rPr sz="1600" b="1" spc="-6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1F487C"/>
                </a:solidFill>
                <a:latin typeface="Times New Roman"/>
                <a:cs typeface="Times New Roman"/>
              </a:rPr>
              <a:t>s</a:t>
            </a:r>
            <a:r>
              <a:rPr sz="1600" b="1" spc="-10" dirty="0">
                <a:solidFill>
                  <a:srgbClr val="1F487C"/>
                </a:solidFill>
                <a:latin typeface="Times New Roman"/>
                <a:cs typeface="Times New Roman"/>
              </a:rPr>
              <a:t>t</a:t>
            </a:r>
            <a:r>
              <a:rPr sz="1600" b="1" spc="5" dirty="0">
                <a:solidFill>
                  <a:srgbClr val="1F487C"/>
                </a:solidFill>
                <a:latin typeface="Times New Roman"/>
                <a:cs typeface="Times New Roman"/>
              </a:rPr>
              <a:t>a</a:t>
            </a:r>
            <a:r>
              <a:rPr sz="1600" b="1" spc="10" dirty="0">
                <a:solidFill>
                  <a:srgbClr val="1F487C"/>
                </a:solidFill>
                <a:latin typeface="Times New Roman"/>
                <a:cs typeface="Times New Roman"/>
              </a:rPr>
              <a:t>f</a:t>
            </a:r>
            <a:r>
              <a:rPr sz="1600" b="1" dirty="0">
                <a:solidFill>
                  <a:srgbClr val="1F487C"/>
                </a:solidFill>
                <a:latin typeface="Times New Roman"/>
                <a:cs typeface="Times New Roman"/>
              </a:rPr>
              <a:t>: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56428" y="5815380"/>
            <a:ext cx="372554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5"/>
              </a:spcBef>
              <a:buChar char="•"/>
              <a:tabLst>
                <a:tab pos="356870" algn="l"/>
                <a:tab pos="357505" algn="l"/>
              </a:tabLst>
            </a:pPr>
            <a:r>
              <a:rPr sz="1600" spc="10" dirty="0">
                <a:latin typeface="Times New Roman"/>
                <a:cs typeface="Times New Roman"/>
              </a:rPr>
              <a:t>M</a:t>
            </a:r>
            <a:r>
              <a:rPr sz="1600" spc="-20" dirty="0">
                <a:latin typeface="Times New Roman"/>
                <a:cs typeface="Times New Roman"/>
              </a:rPr>
              <a:t>e</a:t>
            </a:r>
            <a:r>
              <a:rPr sz="1600" spc="5" dirty="0">
                <a:latin typeface="Times New Roman"/>
                <a:cs typeface="Times New Roman"/>
              </a:rPr>
              <a:t>nduku</a:t>
            </a:r>
            <a:r>
              <a:rPr sz="1600" spc="-15" dirty="0">
                <a:latin typeface="Times New Roman"/>
                <a:cs typeface="Times New Roman"/>
              </a:rPr>
              <a:t>n</a:t>
            </a:r>
            <a:r>
              <a:rPr sz="1600" dirty="0">
                <a:latin typeface="Times New Roman"/>
                <a:cs typeface="Times New Roman"/>
              </a:rPr>
              <a:t>g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u</a:t>
            </a:r>
            <a:r>
              <a:rPr sz="1600" dirty="0">
                <a:latin typeface="Times New Roman"/>
                <a:cs typeface="Times New Roman"/>
              </a:rPr>
              <a:t>sa</a:t>
            </a:r>
            <a:r>
              <a:rPr sz="1600" spc="10" dirty="0">
                <a:latin typeface="Times New Roman"/>
                <a:cs typeface="Times New Roman"/>
              </a:rPr>
              <a:t>h</a:t>
            </a:r>
            <a:r>
              <a:rPr sz="1600" spc="25" dirty="0">
                <a:latin typeface="Times New Roman"/>
                <a:cs typeface="Times New Roman"/>
              </a:rPr>
              <a:t>a</a:t>
            </a:r>
            <a:r>
              <a:rPr sz="1600" spc="-10" dirty="0">
                <a:latin typeface="Times New Roman"/>
                <a:cs typeface="Times New Roman"/>
              </a:rPr>
              <a:t>-</a:t>
            </a:r>
            <a:r>
              <a:rPr sz="1600" spc="5" dirty="0">
                <a:latin typeface="Times New Roman"/>
                <a:cs typeface="Times New Roman"/>
              </a:rPr>
              <a:t>u</a:t>
            </a:r>
            <a:r>
              <a:rPr sz="1600" dirty="0">
                <a:latin typeface="Times New Roman"/>
                <a:cs typeface="Times New Roman"/>
              </a:rPr>
              <a:t>sa</a:t>
            </a:r>
            <a:r>
              <a:rPr sz="1600" spc="10" dirty="0">
                <a:latin typeface="Times New Roman"/>
                <a:cs typeface="Times New Roman"/>
              </a:rPr>
              <a:t>h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85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d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10" dirty="0">
                <a:latin typeface="Times New Roman"/>
                <a:cs typeface="Times New Roman"/>
              </a:rPr>
              <a:t>r</a:t>
            </a:r>
            <a:r>
              <a:rPr sz="1600" dirty="0">
                <a:latin typeface="Times New Roman"/>
                <a:cs typeface="Times New Roman"/>
              </a:rPr>
              <a:t>i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j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5" dirty="0">
                <a:latin typeface="Times New Roman"/>
                <a:cs typeface="Times New Roman"/>
              </a:rPr>
              <a:t>b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5" dirty="0">
                <a:latin typeface="Times New Roman"/>
                <a:cs typeface="Times New Roman"/>
              </a:rPr>
              <a:t>t</a:t>
            </a:r>
            <a:r>
              <a:rPr sz="1600" dirty="0">
                <a:latin typeface="Times New Roman"/>
                <a:cs typeface="Times New Roman"/>
              </a:rPr>
              <a:t>an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l</a:t>
            </a:r>
            <a:r>
              <a:rPr sz="1600" spc="5" dirty="0">
                <a:latin typeface="Times New Roman"/>
                <a:cs typeface="Times New Roman"/>
              </a:rPr>
              <a:t>in</a:t>
            </a:r>
            <a:r>
              <a:rPr sz="1600" dirty="0">
                <a:latin typeface="Times New Roman"/>
                <a:cs typeface="Times New Roman"/>
              </a:rPr>
              <a:t>i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66917" y="830707"/>
            <a:ext cx="2719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u="heavy" spc="-10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Times New Roman"/>
                <a:cs typeface="Times New Roman"/>
              </a:rPr>
              <a:t>Organisasi</a:t>
            </a:r>
            <a:r>
              <a:rPr sz="1800" b="1" u="heavy" spc="15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b="1" u="heavy" spc="-5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Times New Roman"/>
                <a:cs typeface="Times New Roman"/>
              </a:rPr>
              <a:t>Lini</a:t>
            </a:r>
            <a:r>
              <a:rPr sz="1800" b="1" u="heavy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b="1" u="heavy" spc="-15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Times New Roman"/>
                <a:cs typeface="Times New Roman"/>
              </a:rPr>
              <a:t>dan</a:t>
            </a:r>
            <a:r>
              <a:rPr sz="1800" b="1" u="heavy" spc="450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b="1" u="heavy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Times New Roman"/>
                <a:cs typeface="Times New Roman"/>
              </a:rPr>
              <a:t>&amp;</a:t>
            </a:r>
            <a:r>
              <a:rPr sz="1800" b="1" u="heavy" spc="-15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b="1" u="heavy" spc="-5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Times New Roman"/>
                <a:cs typeface="Times New Roman"/>
              </a:rPr>
              <a:t>Staf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25346" y="1867916"/>
            <a:ext cx="170243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u="heavy" spc="-5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Times New Roman"/>
                <a:cs typeface="Times New Roman"/>
              </a:rPr>
              <a:t>Organisasi</a:t>
            </a:r>
            <a:r>
              <a:rPr sz="2000" b="1" u="heavy" spc="-100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heavy" spc="-10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Times New Roman"/>
                <a:cs typeface="Times New Roman"/>
              </a:rPr>
              <a:t>Lini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0168" y="4891582"/>
            <a:ext cx="2958465" cy="109283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b="1" spc="-20" dirty="0">
                <a:latin typeface="Times New Roman"/>
                <a:cs typeface="Times New Roman"/>
              </a:rPr>
              <a:t>Bentuk</a:t>
            </a:r>
            <a:r>
              <a:rPr sz="1400" b="1" spc="30" dirty="0">
                <a:latin typeface="Times New Roman"/>
                <a:cs typeface="Times New Roman"/>
              </a:rPr>
              <a:t> </a:t>
            </a:r>
            <a:r>
              <a:rPr sz="1400" b="1" spc="-15" dirty="0">
                <a:latin typeface="Times New Roman"/>
                <a:cs typeface="Times New Roman"/>
              </a:rPr>
              <a:t>paling</a:t>
            </a:r>
            <a:r>
              <a:rPr sz="1400" b="1" spc="40" dirty="0">
                <a:latin typeface="Times New Roman"/>
                <a:cs typeface="Times New Roman"/>
              </a:rPr>
              <a:t> </a:t>
            </a:r>
            <a:r>
              <a:rPr sz="1400" b="1" spc="-15" dirty="0">
                <a:latin typeface="Times New Roman"/>
                <a:cs typeface="Times New Roman"/>
              </a:rPr>
              <a:t>sederhana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844"/>
              </a:spcBef>
            </a:pPr>
            <a:r>
              <a:rPr sz="1400" spc="-15" dirty="0">
                <a:latin typeface="Times New Roman"/>
                <a:cs typeface="Times New Roman"/>
              </a:rPr>
              <a:t>Mungkin</a:t>
            </a:r>
            <a:r>
              <a:rPr sz="1400" spc="7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sesuai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15" dirty="0">
                <a:latin typeface="Times New Roman"/>
                <a:cs typeface="Times New Roman"/>
              </a:rPr>
              <a:t>dengan</a:t>
            </a:r>
            <a:r>
              <a:rPr sz="1400" spc="8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bisnis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yang</a:t>
            </a:r>
            <a:r>
              <a:rPr sz="1400" spc="55" dirty="0">
                <a:latin typeface="Times New Roman"/>
                <a:cs typeface="Times New Roman"/>
              </a:rPr>
              <a:t> </a:t>
            </a:r>
            <a:r>
              <a:rPr sz="1400" spc="-15" dirty="0">
                <a:latin typeface="Times New Roman"/>
                <a:cs typeface="Times New Roman"/>
              </a:rPr>
              <a:t>tidak </a:t>
            </a:r>
            <a:r>
              <a:rPr sz="1400" spc="-33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mampu</a:t>
            </a:r>
            <a:r>
              <a:rPr sz="1400" spc="-20" dirty="0">
                <a:latin typeface="Times New Roman"/>
                <a:cs typeface="Times New Roman"/>
              </a:rPr>
              <a:t> untuk </a:t>
            </a:r>
            <a:r>
              <a:rPr sz="1400" spc="-10" dirty="0">
                <a:latin typeface="Times New Roman"/>
                <a:cs typeface="Times New Roman"/>
              </a:rPr>
              <a:t>mengadakan posisi </a:t>
            </a:r>
            <a:r>
              <a:rPr sz="1400" spc="-15" dirty="0">
                <a:latin typeface="Times New Roman"/>
                <a:cs typeface="Times New Roman"/>
              </a:rPr>
              <a:t>staff 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-15" dirty="0">
                <a:latin typeface="Times New Roman"/>
                <a:cs typeface="Times New Roman"/>
              </a:rPr>
              <a:t>pendukung.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107916" y="2856547"/>
            <a:ext cx="2823210" cy="260985"/>
            <a:chOff x="1107916" y="2856547"/>
            <a:chExt cx="2823210" cy="260985"/>
          </a:xfrm>
        </p:grpSpPr>
        <p:sp>
          <p:nvSpPr>
            <p:cNvPr id="13" name="object 13"/>
            <p:cNvSpPr/>
            <p:nvPr/>
          </p:nvSpPr>
          <p:spPr>
            <a:xfrm>
              <a:off x="2513838" y="2863850"/>
              <a:ext cx="0" cy="246379"/>
            </a:xfrm>
            <a:custGeom>
              <a:avLst/>
              <a:gdLst/>
              <a:ahLst/>
              <a:cxnLst/>
              <a:rect l="l" t="t" r="r" b="b"/>
              <a:pathLst>
                <a:path h="246380">
                  <a:moveTo>
                    <a:pt x="0" y="0"/>
                  </a:moveTo>
                  <a:lnTo>
                    <a:pt x="0" y="130175"/>
                  </a:lnTo>
                </a:path>
                <a:path h="246380">
                  <a:moveTo>
                    <a:pt x="0" y="117475"/>
                  </a:moveTo>
                  <a:lnTo>
                    <a:pt x="0" y="245999"/>
                  </a:lnTo>
                </a:path>
              </a:pathLst>
            </a:custGeom>
            <a:ln w="142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115218" y="2981325"/>
              <a:ext cx="0" cy="128905"/>
            </a:xfrm>
            <a:custGeom>
              <a:avLst/>
              <a:gdLst/>
              <a:ahLst/>
              <a:cxnLst/>
              <a:rect l="l" t="t" r="r" b="b"/>
              <a:pathLst>
                <a:path h="128905">
                  <a:moveTo>
                    <a:pt x="0" y="0"/>
                  </a:moveTo>
                  <a:lnTo>
                    <a:pt x="0" y="128524"/>
                  </a:lnTo>
                </a:path>
              </a:pathLst>
            </a:custGeom>
            <a:ln w="14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923538" y="2981325"/>
              <a:ext cx="0" cy="128905"/>
            </a:xfrm>
            <a:custGeom>
              <a:avLst/>
              <a:gdLst/>
              <a:ahLst/>
              <a:cxnLst/>
              <a:rect l="l" t="t" r="r" b="b"/>
              <a:pathLst>
                <a:path h="128905">
                  <a:moveTo>
                    <a:pt x="0" y="0"/>
                  </a:moveTo>
                  <a:lnTo>
                    <a:pt x="0" y="128524"/>
                  </a:lnTo>
                </a:path>
              </a:pathLst>
            </a:custGeom>
            <a:ln w="142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1115218" y="3389248"/>
            <a:ext cx="0" cy="246379"/>
          </a:xfrm>
          <a:custGeom>
            <a:avLst/>
            <a:gdLst/>
            <a:ahLst/>
            <a:cxnLst/>
            <a:rect l="l" t="t" r="r" b="b"/>
            <a:pathLst>
              <a:path h="246379">
                <a:moveTo>
                  <a:pt x="0" y="0"/>
                </a:moveTo>
                <a:lnTo>
                  <a:pt x="0" y="246062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82600" y="3635311"/>
            <a:ext cx="1270000" cy="462280"/>
          </a:xfrm>
          <a:prstGeom prst="rect">
            <a:avLst/>
          </a:prstGeom>
          <a:solidFill>
            <a:srgbClr val="000080"/>
          </a:solidFill>
          <a:ln w="12700">
            <a:solidFill>
              <a:srgbClr val="80808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47625">
              <a:lnSpc>
                <a:spcPct val="100000"/>
              </a:lnSpc>
              <a:spcBef>
                <a:spcPts val="350"/>
              </a:spcBef>
            </a:pP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Account</a:t>
            </a:r>
            <a:r>
              <a:rPr sz="12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Manager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2600" y="3109848"/>
            <a:ext cx="1270000" cy="279400"/>
          </a:xfrm>
          <a:prstGeom prst="rect">
            <a:avLst/>
          </a:prstGeom>
          <a:solidFill>
            <a:srgbClr val="000080"/>
          </a:solidFill>
          <a:ln w="12700">
            <a:solidFill>
              <a:srgbClr val="80808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5715" algn="ctr">
              <a:lnSpc>
                <a:spcPct val="100000"/>
              </a:lnSpc>
              <a:spcBef>
                <a:spcPts val="35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CFO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513838" y="3389248"/>
            <a:ext cx="0" cy="246379"/>
          </a:xfrm>
          <a:custGeom>
            <a:avLst/>
            <a:gdLst/>
            <a:ahLst/>
            <a:cxnLst/>
            <a:rect l="l" t="t" r="r" b="b"/>
            <a:pathLst>
              <a:path h="246379">
                <a:moveTo>
                  <a:pt x="0" y="0"/>
                </a:moveTo>
                <a:lnTo>
                  <a:pt x="0" y="246062"/>
                </a:lnTo>
              </a:path>
            </a:pathLst>
          </a:custGeom>
          <a:ln w="142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513838" y="4097273"/>
            <a:ext cx="0" cy="246379"/>
          </a:xfrm>
          <a:custGeom>
            <a:avLst/>
            <a:gdLst/>
            <a:ahLst/>
            <a:cxnLst/>
            <a:rect l="l" t="t" r="r" b="b"/>
            <a:pathLst>
              <a:path h="246379">
                <a:moveTo>
                  <a:pt x="0" y="0"/>
                </a:moveTo>
                <a:lnTo>
                  <a:pt x="0" y="246125"/>
                </a:lnTo>
              </a:path>
            </a:pathLst>
          </a:custGeom>
          <a:ln w="142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978025" y="4343400"/>
            <a:ext cx="1071880" cy="460375"/>
          </a:xfrm>
          <a:prstGeom prst="rect">
            <a:avLst/>
          </a:prstGeom>
          <a:solidFill>
            <a:srgbClr val="000080"/>
          </a:solidFill>
          <a:ln w="12700">
            <a:solidFill>
              <a:srgbClr val="808080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192405">
              <a:lnSpc>
                <a:spcPct val="100000"/>
              </a:lnSpc>
              <a:spcBef>
                <a:spcPts val="34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Sales</a:t>
            </a:r>
            <a:r>
              <a:rPr sz="12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Rep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81251" y="3635311"/>
            <a:ext cx="1270000" cy="462280"/>
          </a:xfrm>
          <a:prstGeom prst="rect">
            <a:avLst/>
          </a:prstGeom>
          <a:solidFill>
            <a:srgbClr val="000080"/>
          </a:solidFill>
          <a:ln w="12700">
            <a:solidFill>
              <a:srgbClr val="80808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133985">
              <a:lnSpc>
                <a:spcPct val="100000"/>
              </a:lnSpc>
              <a:spcBef>
                <a:spcPts val="35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Sales</a:t>
            </a:r>
            <a:r>
              <a:rPr sz="12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Manager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81251" y="3109848"/>
            <a:ext cx="1270000" cy="279400"/>
          </a:xfrm>
          <a:prstGeom prst="rect">
            <a:avLst/>
          </a:prstGeom>
          <a:solidFill>
            <a:srgbClr val="000080"/>
          </a:solidFill>
          <a:ln w="12700">
            <a:solidFill>
              <a:srgbClr val="80808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350"/>
              </a:spcBef>
            </a:pP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VP</a:t>
            </a:r>
            <a:r>
              <a:rPr sz="12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Marketing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914013" y="3389248"/>
            <a:ext cx="0" cy="246379"/>
          </a:xfrm>
          <a:custGeom>
            <a:avLst/>
            <a:gdLst/>
            <a:ahLst/>
            <a:cxnLst/>
            <a:rect l="l" t="t" r="r" b="b"/>
            <a:pathLst>
              <a:path h="246379">
                <a:moveTo>
                  <a:pt x="0" y="0"/>
                </a:moveTo>
                <a:lnTo>
                  <a:pt x="0" y="246062"/>
                </a:lnTo>
              </a:path>
            </a:pathLst>
          </a:custGeom>
          <a:ln w="142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914013" y="4097273"/>
            <a:ext cx="0" cy="246379"/>
          </a:xfrm>
          <a:custGeom>
            <a:avLst/>
            <a:gdLst/>
            <a:ahLst/>
            <a:cxnLst/>
            <a:rect l="l" t="t" r="r" b="b"/>
            <a:pathLst>
              <a:path h="246379">
                <a:moveTo>
                  <a:pt x="0" y="0"/>
                </a:moveTo>
                <a:lnTo>
                  <a:pt x="0" y="246125"/>
                </a:lnTo>
              </a:path>
            </a:pathLst>
          </a:custGeom>
          <a:ln w="142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376676" y="4343400"/>
            <a:ext cx="1071880" cy="460375"/>
          </a:xfrm>
          <a:prstGeom prst="rect">
            <a:avLst/>
          </a:prstGeom>
          <a:solidFill>
            <a:srgbClr val="000080"/>
          </a:solidFill>
          <a:ln w="12700">
            <a:solidFill>
              <a:srgbClr val="808080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257810" marR="26034" indent="-210185">
              <a:lnSpc>
                <a:spcPct val="100000"/>
              </a:lnSpc>
              <a:spcBef>
                <a:spcPts val="340"/>
              </a:spcBef>
            </a:pP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sse</a:t>
            </a:r>
            <a:r>
              <a:rPr sz="1200" spc="-45" dirty="0">
                <a:solidFill>
                  <a:srgbClr val="FFFFFF"/>
                </a:solidFill>
                <a:latin typeface="Arial MT"/>
                <a:cs typeface="Arial MT"/>
              </a:rPr>
              <a:t>m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b</a:t>
            </a:r>
            <a:r>
              <a:rPr sz="1200" spc="15" dirty="0">
                <a:solidFill>
                  <a:srgbClr val="FFFFFF"/>
                </a:solidFill>
                <a:latin typeface="Arial MT"/>
                <a:cs typeface="Arial MT"/>
              </a:rPr>
              <a:t>l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y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L</a:t>
            </a:r>
            <a:r>
              <a:rPr sz="1200" spc="15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ne 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Workers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279775" y="3635311"/>
            <a:ext cx="1270000" cy="462280"/>
          </a:xfrm>
          <a:prstGeom prst="rect">
            <a:avLst/>
          </a:prstGeom>
          <a:solidFill>
            <a:srgbClr val="000080"/>
          </a:solidFill>
          <a:ln w="12700">
            <a:solidFill>
              <a:srgbClr val="808080"/>
            </a:solidFill>
          </a:ln>
        </p:spPr>
        <p:txBody>
          <a:bodyPr vert="horz" wrap="square" lIns="0" tIns="52069" rIns="0" bIns="0" rtlCol="0">
            <a:spAutoFit/>
          </a:bodyPr>
          <a:lstStyle/>
          <a:p>
            <a:pPr marL="280035" marR="127635" indent="-135255">
              <a:lnSpc>
                <a:spcPts val="1430"/>
              </a:lnSpc>
              <a:spcBef>
                <a:spcPts val="409"/>
              </a:spcBef>
            </a:pP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sse</a:t>
            </a:r>
            <a:r>
              <a:rPr sz="1200" spc="-45" dirty="0">
                <a:solidFill>
                  <a:srgbClr val="FFFFFF"/>
                </a:solidFill>
                <a:latin typeface="Arial MT"/>
                <a:cs typeface="Arial MT"/>
              </a:rPr>
              <a:t>m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b</a:t>
            </a:r>
            <a:r>
              <a:rPr sz="1200" spc="15" dirty="0">
                <a:solidFill>
                  <a:srgbClr val="FFFFFF"/>
                </a:solidFill>
                <a:latin typeface="Arial MT"/>
                <a:cs typeface="Arial MT"/>
              </a:rPr>
              <a:t>l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y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L</a:t>
            </a:r>
            <a:r>
              <a:rPr sz="1200" spc="15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ne 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Supervisor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279775" y="3109848"/>
            <a:ext cx="1270000" cy="279400"/>
          </a:xfrm>
          <a:prstGeom prst="rect">
            <a:avLst/>
          </a:prstGeom>
          <a:solidFill>
            <a:srgbClr val="000080"/>
          </a:solidFill>
          <a:ln w="12700">
            <a:solidFill>
              <a:srgbClr val="80808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66040">
              <a:lnSpc>
                <a:spcPct val="100000"/>
              </a:lnSpc>
              <a:spcBef>
                <a:spcPts val="350"/>
              </a:spcBef>
            </a:pP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VP</a:t>
            </a:r>
            <a:r>
              <a:rPr sz="1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Operations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881251" y="2586037"/>
            <a:ext cx="1270000" cy="278130"/>
          </a:xfrm>
          <a:prstGeom prst="rect">
            <a:avLst/>
          </a:prstGeom>
          <a:solidFill>
            <a:srgbClr val="000080"/>
          </a:solidFill>
          <a:ln w="12700">
            <a:solidFill>
              <a:srgbClr val="80808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316230">
              <a:lnSpc>
                <a:spcPct val="100000"/>
              </a:lnSpc>
              <a:spcBef>
                <a:spcPts val="335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President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111250" y="2981325"/>
            <a:ext cx="2819400" cy="0"/>
          </a:xfrm>
          <a:custGeom>
            <a:avLst/>
            <a:gdLst/>
            <a:ahLst/>
            <a:cxnLst/>
            <a:rect l="l" t="t" r="r" b="b"/>
            <a:pathLst>
              <a:path w="2819400">
                <a:moveTo>
                  <a:pt x="0" y="0"/>
                </a:moveTo>
                <a:lnTo>
                  <a:pt x="28194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1" name="object 31"/>
          <p:cNvGrpSpPr/>
          <p:nvPr/>
        </p:nvGrpSpPr>
        <p:grpSpPr>
          <a:xfrm>
            <a:off x="5451475" y="4565650"/>
            <a:ext cx="241300" cy="165100"/>
            <a:chOff x="5451475" y="4565650"/>
            <a:chExt cx="241300" cy="165100"/>
          </a:xfrm>
        </p:grpSpPr>
        <p:sp>
          <p:nvSpPr>
            <p:cNvPr id="32" name="object 32"/>
            <p:cNvSpPr/>
            <p:nvPr/>
          </p:nvSpPr>
          <p:spPr>
            <a:xfrm>
              <a:off x="5457825" y="4572000"/>
              <a:ext cx="228600" cy="152400"/>
            </a:xfrm>
            <a:custGeom>
              <a:avLst/>
              <a:gdLst/>
              <a:ahLst/>
              <a:cxnLst/>
              <a:rect l="l" t="t" r="r" b="b"/>
              <a:pathLst>
                <a:path w="228600" h="152400">
                  <a:moveTo>
                    <a:pt x="2286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228600" y="1524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457825" y="4572000"/>
              <a:ext cx="228600" cy="152400"/>
            </a:xfrm>
            <a:custGeom>
              <a:avLst/>
              <a:gdLst/>
              <a:ahLst/>
              <a:cxnLst/>
              <a:rect l="l" t="t" r="r" b="b"/>
              <a:pathLst>
                <a:path w="228600" h="152400">
                  <a:moveTo>
                    <a:pt x="0" y="152400"/>
                  </a:moveTo>
                  <a:lnTo>
                    <a:pt x="228600" y="1524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4956428" y="4513312"/>
            <a:ext cx="3729354" cy="518159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822325">
              <a:lnSpc>
                <a:spcPct val="100000"/>
              </a:lnSpc>
              <a:spcBef>
                <a:spcPts val="220"/>
              </a:spcBef>
              <a:tabLst>
                <a:tab pos="2499360" algn="l"/>
              </a:tabLst>
            </a:pPr>
            <a:r>
              <a:rPr sz="1400" b="1" spc="-15" dirty="0">
                <a:latin typeface="Arial"/>
                <a:cs typeface="Arial"/>
              </a:rPr>
              <a:t>Line</a:t>
            </a:r>
            <a:r>
              <a:rPr sz="1400" b="1" spc="-5" dirty="0">
                <a:latin typeface="Arial"/>
                <a:cs typeface="Arial"/>
              </a:rPr>
              <a:t> </a:t>
            </a:r>
            <a:r>
              <a:rPr sz="1400" b="1" spc="-15" dirty="0">
                <a:latin typeface="Arial"/>
                <a:cs typeface="Arial"/>
              </a:rPr>
              <a:t>positions	</a:t>
            </a:r>
            <a:r>
              <a:rPr sz="2100" b="1" spc="-15" baseline="1984" dirty="0">
                <a:latin typeface="Arial"/>
                <a:cs typeface="Arial"/>
              </a:rPr>
              <a:t>Staff</a:t>
            </a:r>
            <a:r>
              <a:rPr sz="2100" b="1" spc="-97" baseline="1984" dirty="0">
                <a:latin typeface="Arial"/>
                <a:cs typeface="Arial"/>
              </a:rPr>
              <a:t> </a:t>
            </a:r>
            <a:r>
              <a:rPr sz="2100" b="1" spc="-22" baseline="1984" dirty="0">
                <a:latin typeface="Arial"/>
                <a:cs typeface="Arial"/>
              </a:rPr>
              <a:t>positions</a:t>
            </a:r>
            <a:endParaRPr sz="2100" baseline="1984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600" b="1" spc="5" dirty="0">
                <a:solidFill>
                  <a:srgbClr val="1F487C"/>
                </a:solidFill>
                <a:latin typeface="Times New Roman"/>
                <a:cs typeface="Times New Roman"/>
              </a:rPr>
              <a:t>Ja</a:t>
            </a:r>
            <a:r>
              <a:rPr sz="1600" b="1" spc="-10" dirty="0">
                <a:solidFill>
                  <a:srgbClr val="1F487C"/>
                </a:solidFill>
                <a:latin typeface="Times New Roman"/>
                <a:cs typeface="Times New Roman"/>
              </a:rPr>
              <a:t>b</a:t>
            </a:r>
            <a:r>
              <a:rPr sz="1600" b="1" spc="5" dirty="0">
                <a:solidFill>
                  <a:srgbClr val="1F487C"/>
                </a:solidFill>
                <a:latin typeface="Times New Roman"/>
                <a:cs typeface="Times New Roman"/>
              </a:rPr>
              <a:t>a</a:t>
            </a:r>
            <a:r>
              <a:rPr sz="1600" b="1" spc="-10" dirty="0">
                <a:solidFill>
                  <a:srgbClr val="1F487C"/>
                </a:solidFill>
                <a:latin typeface="Times New Roman"/>
                <a:cs typeface="Times New Roman"/>
              </a:rPr>
              <a:t>t</a:t>
            </a:r>
            <a:r>
              <a:rPr sz="1600" b="1" spc="5" dirty="0">
                <a:solidFill>
                  <a:srgbClr val="1F487C"/>
                </a:solidFill>
                <a:latin typeface="Times New Roman"/>
                <a:cs typeface="Times New Roman"/>
              </a:rPr>
              <a:t>a</a:t>
            </a:r>
            <a:r>
              <a:rPr sz="1600" b="1" dirty="0">
                <a:solidFill>
                  <a:srgbClr val="1F487C"/>
                </a:solidFill>
                <a:latin typeface="Times New Roman"/>
                <a:cs typeface="Times New Roman"/>
              </a:rPr>
              <a:t>n</a:t>
            </a:r>
            <a:r>
              <a:rPr sz="1600" b="1" spc="-9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1600" b="1" spc="5" dirty="0">
                <a:solidFill>
                  <a:srgbClr val="1F487C"/>
                </a:solidFill>
                <a:latin typeface="Times New Roman"/>
                <a:cs typeface="Times New Roman"/>
              </a:rPr>
              <a:t>li</a:t>
            </a:r>
            <a:r>
              <a:rPr sz="1600" b="1" spc="-10" dirty="0">
                <a:solidFill>
                  <a:srgbClr val="1F487C"/>
                </a:solidFill>
                <a:latin typeface="Times New Roman"/>
                <a:cs typeface="Times New Roman"/>
              </a:rPr>
              <a:t>n</a:t>
            </a:r>
            <a:r>
              <a:rPr sz="1600" b="1" spc="5" dirty="0">
                <a:solidFill>
                  <a:srgbClr val="1F487C"/>
                </a:solidFill>
                <a:latin typeface="Times New Roman"/>
                <a:cs typeface="Times New Roman"/>
              </a:rPr>
              <a:t>i</a:t>
            </a:r>
            <a:r>
              <a:rPr sz="1600" b="1" dirty="0">
                <a:solidFill>
                  <a:srgbClr val="1F487C"/>
                </a:solidFill>
                <a:latin typeface="Times New Roman"/>
                <a:cs typeface="Times New Roman"/>
              </a:rPr>
              <a:t>:</a:t>
            </a:r>
            <a:endParaRPr sz="1600">
              <a:latin typeface="Times New Roman"/>
              <a:cs typeface="Times New Roman"/>
            </a:endParaRPr>
          </a:p>
        </p:txBody>
      </p:sp>
      <p:graphicFrame>
        <p:nvGraphicFramePr>
          <p:cNvPr id="35" name="object 35"/>
          <p:cNvGraphicFramePr>
            <a:graphicFrameLocks noGrp="1"/>
          </p:cNvGraphicFramePr>
          <p:nvPr/>
        </p:nvGraphicFramePr>
        <p:xfrm>
          <a:off x="5327650" y="1325625"/>
          <a:ext cx="3423917" cy="31526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"/>
                <a:gridCol w="443230"/>
                <a:gridCol w="89534"/>
                <a:gridCol w="456565"/>
                <a:gridCol w="107315"/>
                <a:gridCol w="399415"/>
                <a:gridCol w="100964"/>
                <a:gridCol w="100964"/>
                <a:gridCol w="473710"/>
                <a:gridCol w="109855"/>
                <a:gridCol w="465455"/>
                <a:gridCol w="600710"/>
              </a:tblGrid>
              <a:tr h="304800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CEO/President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09537">
                <a:tc grid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00037">
                <a:tc rowSpan="2"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4">
                  <a:txBody>
                    <a:bodyPr/>
                    <a:lstStyle/>
                    <a:p>
                      <a:pPr marL="164465" marR="169545" indent="167640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200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Legal 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D</a:t>
                      </a:r>
                      <a:r>
                        <a:rPr sz="12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200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200" spc="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2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200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200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rowSpan="2" gridSpan="3">
                  <a:txBody>
                    <a:bodyPr/>
                    <a:lstStyle/>
                    <a:p>
                      <a:pPr marL="22860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Administrative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3815" algn="ctr">
                        <a:lnSpc>
                          <a:spcPct val="100000"/>
                        </a:lnSpc>
                      </a:pPr>
                      <a:r>
                        <a:rPr sz="1200" spc="-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Assistant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736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</a:tr>
              <a:tr h="233362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31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36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</a:tr>
              <a:tr h="131762">
                <a:tc grid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42748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3400">
                <a:tc gridSpan="4"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200" spc="-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Vice-President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937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R&amp;D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4"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200" spc="-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Vice-President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21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Marketing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200" spc="-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Vice-President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098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Manufacturing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01726">
                <a:tc grid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28600">
                <a:tc rowSpan="2"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4">
                  <a:txBody>
                    <a:bodyPr/>
                    <a:lstStyle/>
                    <a:p>
                      <a:pPr marL="250190" marR="93980" indent="-20193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200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200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200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2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200" spc="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200" spc="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200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iv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  </a:t>
                      </a:r>
                      <a:r>
                        <a:rPr sz="1200" spc="-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Assistant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04800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93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5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01600">
                <a:tc grid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5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26873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4">
                  <a:txBody>
                    <a:bodyPr/>
                    <a:lstStyle/>
                    <a:p>
                      <a:pPr marL="285750" marR="239395" indent="-6413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arke</a:t>
                      </a:r>
                      <a:r>
                        <a:rPr sz="1200" spc="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2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200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  </a:t>
                      </a:r>
                      <a:r>
                        <a:rPr sz="1200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Manager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330835" marR="175260" indent="-6413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200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sz="1200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200" spc="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2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200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  </a:t>
                      </a:r>
                      <a:r>
                        <a:rPr sz="12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Manager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77495" marR="208279" indent="-55244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200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sz="1200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200" spc="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2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200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  </a:t>
                      </a:r>
                      <a:r>
                        <a:rPr sz="1200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Research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grpSp>
        <p:nvGrpSpPr>
          <p:cNvPr id="36" name="object 36"/>
          <p:cNvGrpSpPr/>
          <p:nvPr/>
        </p:nvGrpSpPr>
        <p:grpSpPr>
          <a:xfrm>
            <a:off x="7127875" y="4543425"/>
            <a:ext cx="241300" cy="165100"/>
            <a:chOff x="7127875" y="4543425"/>
            <a:chExt cx="241300" cy="165100"/>
          </a:xfrm>
        </p:grpSpPr>
        <p:sp>
          <p:nvSpPr>
            <p:cNvPr id="37" name="object 37"/>
            <p:cNvSpPr/>
            <p:nvPr/>
          </p:nvSpPr>
          <p:spPr>
            <a:xfrm>
              <a:off x="7134225" y="4549775"/>
              <a:ext cx="228600" cy="152400"/>
            </a:xfrm>
            <a:custGeom>
              <a:avLst/>
              <a:gdLst/>
              <a:ahLst/>
              <a:cxnLst/>
              <a:rect l="l" t="t" r="r" b="b"/>
              <a:pathLst>
                <a:path w="228600" h="152400">
                  <a:moveTo>
                    <a:pt x="2286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228600" y="1524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134225" y="4549775"/>
              <a:ext cx="228600" cy="152400"/>
            </a:xfrm>
            <a:custGeom>
              <a:avLst/>
              <a:gdLst/>
              <a:ahLst/>
              <a:cxnLst/>
              <a:rect l="l" t="t" r="r" b="b"/>
              <a:pathLst>
                <a:path w="228600" h="152400">
                  <a:moveTo>
                    <a:pt x="0" y="152400"/>
                  </a:moveTo>
                  <a:lnTo>
                    <a:pt x="228600" y="1524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856994" y="299973"/>
            <a:ext cx="543242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22630" marR="5080" indent="-710565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Struktur</a:t>
            </a:r>
            <a:r>
              <a:rPr spc="-15" dirty="0"/>
              <a:t> </a:t>
            </a:r>
            <a:r>
              <a:rPr dirty="0"/>
              <a:t>yang</a:t>
            </a:r>
            <a:r>
              <a:rPr spc="-35" dirty="0"/>
              <a:t> </a:t>
            </a:r>
            <a:r>
              <a:rPr spc="-5" dirty="0"/>
              <a:t>Mengijinkan </a:t>
            </a:r>
            <a:r>
              <a:rPr spc="-885" dirty="0"/>
              <a:t> </a:t>
            </a:r>
            <a:r>
              <a:rPr dirty="0"/>
              <a:t>Lebih</a:t>
            </a:r>
            <a:r>
              <a:rPr spc="-35" dirty="0"/>
              <a:t> </a:t>
            </a:r>
            <a:r>
              <a:rPr spc="-15" dirty="0"/>
              <a:t>Input</a:t>
            </a:r>
            <a:r>
              <a:rPr dirty="0"/>
              <a:t> Pekerja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00"/>
              </a:lnSpc>
            </a:pPr>
            <a:r>
              <a:rPr b="0" spc="5" dirty="0">
                <a:latin typeface="Times New Roman"/>
                <a:cs typeface="Times New Roman"/>
              </a:rPr>
              <a:t>©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dirty="0"/>
              <a:t>2001</a:t>
            </a:r>
            <a:r>
              <a:rPr spc="-20" dirty="0"/>
              <a:t> </a:t>
            </a:r>
            <a:r>
              <a:rPr spc="-5" dirty="0"/>
              <a:t>South-Western</a:t>
            </a:r>
            <a:r>
              <a:rPr dirty="0"/>
              <a:t> College</a:t>
            </a:r>
            <a:r>
              <a:rPr spc="-15" dirty="0"/>
              <a:t> </a:t>
            </a:r>
            <a:r>
              <a:rPr spc="-5" dirty="0"/>
              <a:t>Publishing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00"/>
              </a:lnSpc>
            </a:pPr>
            <a:r>
              <a:rPr spc="10" dirty="0"/>
              <a:t>M</a:t>
            </a:r>
            <a:r>
              <a:rPr spc="-35" dirty="0"/>
              <a:t>u</a:t>
            </a:r>
            <a:r>
              <a:rPr spc="5" dirty="0"/>
              <a:t>l</a:t>
            </a:r>
            <a:r>
              <a:rPr dirty="0"/>
              <a:t>t</a:t>
            </a:r>
            <a:r>
              <a:rPr spc="5" dirty="0"/>
              <a:t>iMe</a:t>
            </a:r>
            <a:r>
              <a:rPr spc="-10" dirty="0"/>
              <a:t>d</a:t>
            </a:r>
            <a:r>
              <a:rPr spc="5" dirty="0"/>
              <a:t>i</a:t>
            </a:r>
            <a:r>
              <a:rPr dirty="0"/>
              <a:t>a</a:t>
            </a:r>
            <a:r>
              <a:rPr spc="-85" dirty="0"/>
              <a:t> </a:t>
            </a:r>
            <a:r>
              <a:rPr spc="-10" dirty="0"/>
              <a:t>b</a:t>
            </a:r>
            <a:r>
              <a:rPr dirty="0"/>
              <a:t>y</a:t>
            </a:r>
            <a:r>
              <a:rPr spc="10" dirty="0"/>
              <a:t> </a:t>
            </a:r>
            <a:r>
              <a:rPr spc="-10" dirty="0"/>
              <a:t>S</a:t>
            </a:r>
            <a:r>
              <a:rPr dirty="0"/>
              <a:t>t</a:t>
            </a:r>
            <a:r>
              <a:rPr spc="5" dirty="0"/>
              <a:t>e</a:t>
            </a:r>
            <a:r>
              <a:rPr spc="-10" dirty="0"/>
              <a:t>ph</a:t>
            </a:r>
            <a:r>
              <a:rPr spc="5" dirty="0"/>
              <a:t>e</a:t>
            </a:r>
            <a:r>
              <a:rPr dirty="0"/>
              <a:t>n</a:t>
            </a:r>
            <a:r>
              <a:rPr spc="-45" dirty="0"/>
              <a:t> </a:t>
            </a:r>
            <a:r>
              <a:rPr spc="10" dirty="0"/>
              <a:t>M</a:t>
            </a:r>
            <a:r>
              <a:rPr dirty="0"/>
              <a:t>. </a:t>
            </a:r>
            <a:r>
              <a:rPr spc="-20" dirty="0"/>
              <a:t>P</a:t>
            </a:r>
            <a:r>
              <a:rPr spc="5" dirty="0"/>
              <a:t>e</a:t>
            </a:r>
            <a:r>
              <a:rPr dirty="0"/>
              <a:t>t</a:t>
            </a:r>
            <a:r>
              <a:rPr spc="5" dirty="0"/>
              <a:t>er</a:t>
            </a:r>
            <a:r>
              <a:rPr dirty="0"/>
              <a:t>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2642616" y="2292095"/>
            <a:ext cx="3987165" cy="1213485"/>
            <a:chOff x="2642616" y="2292095"/>
            <a:chExt cx="3987165" cy="121348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57856" y="2353055"/>
              <a:ext cx="3904488" cy="108508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42616" y="2292095"/>
              <a:ext cx="2343911" cy="104546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43200" y="2438399"/>
              <a:ext cx="3886200" cy="106680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2743200" y="2438400"/>
            <a:ext cx="3886200" cy="10668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ts val="1839"/>
              </a:lnSpc>
              <a:tabLst>
                <a:tab pos="436880" algn="l"/>
              </a:tabLst>
            </a:pPr>
            <a:r>
              <a:rPr sz="1600" spc="5" dirty="0">
                <a:latin typeface="Wingdings"/>
                <a:cs typeface="Wingdings"/>
              </a:rPr>
              <a:t></a:t>
            </a:r>
            <a:r>
              <a:rPr sz="1600" spc="5" dirty="0">
                <a:latin typeface="Times New Roman"/>
                <a:cs typeface="Times New Roman"/>
              </a:rPr>
              <a:t>	</a:t>
            </a:r>
            <a:r>
              <a:rPr sz="1600" dirty="0">
                <a:latin typeface="Times New Roman"/>
                <a:cs typeface="Times New Roman"/>
              </a:rPr>
              <a:t>Organisasi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Matrik</a:t>
            </a:r>
            <a:endParaRPr sz="1600">
              <a:latin typeface="Times New Roman"/>
              <a:cs typeface="Times New Roman"/>
            </a:endParaRPr>
          </a:p>
          <a:p>
            <a:pPr marL="43688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(Matrix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organization)</a:t>
            </a:r>
            <a:endParaRPr sz="16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  <a:tabLst>
                <a:tab pos="436880" algn="l"/>
              </a:tabLst>
            </a:pPr>
            <a:r>
              <a:rPr sz="1600" spc="5" dirty="0">
                <a:latin typeface="Wingdings"/>
                <a:cs typeface="Wingdings"/>
              </a:rPr>
              <a:t></a:t>
            </a:r>
            <a:r>
              <a:rPr sz="1600" spc="5" dirty="0">
                <a:latin typeface="Times New Roman"/>
                <a:cs typeface="Times New Roman"/>
              </a:rPr>
              <a:t>	</a:t>
            </a:r>
            <a:r>
              <a:rPr sz="1600" spc="-5" dirty="0">
                <a:latin typeface="Times New Roman"/>
                <a:cs typeface="Times New Roman"/>
              </a:rPr>
              <a:t>Intrapreneurship</a:t>
            </a:r>
            <a:endParaRPr sz="1600">
              <a:latin typeface="Times New Roman"/>
              <a:cs typeface="Times New Roman"/>
            </a:endParaRPr>
          </a:p>
          <a:p>
            <a:pPr marL="436880">
              <a:lnSpc>
                <a:spcPct val="100000"/>
              </a:lnSpc>
            </a:pPr>
            <a:r>
              <a:rPr sz="1600" spc="-5" dirty="0">
                <a:latin typeface="Times New Roman"/>
                <a:cs typeface="Times New Roman"/>
              </a:rPr>
              <a:t>(Intrapreneurship)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607055" y="116789"/>
            <a:ext cx="39312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/>
              <a:t>Matrix</a:t>
            </a:r>
            <a:r>
              <a:rPr sz="3200" spc="-60" dirty="0"/>
              <a:t> </a:t>
            </a:r>
            <a:r>
              <a:rPr spc="-5" dirty="0"/>
              <a:t>Organization</a:t>
            </a:r>
            <a:endParaRPr sz="320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00"/>
              </a:lnSpc>
            </a:pPr>
            <a:r>
              <a:rPr b="0" spc="5" dirty="0">
                <a:latin typeface="Times New Roman"/>
                <a:cs typeface="Times New Roman"/>
              </a:rPr>
              <a:t>©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dirty="0"/>
              <a:t>2001</a:t>
            </a:r>
            <a:r>
              <a:rPr spc="-20" dirty="0"/>
              <a:t> </a:t>
            </a:r>
            <a:r>
              <a:rPr spc="-5" dirty="0"/>
              <a:t>South-Western</a:t>
            </a:r>
            <a:r>
              <a:rPr dirty="0"/>
              <a:t> College</a:t>
            </a:r>
            <a:r>
              <a:rPr spc="-15" dirty="0"/>
              <a:t> </a:t>
            </a:r>
            <a:r>
              <a:rPr spc="-5" dirty="0"/>
              <a:t>Publishing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00"/>
              </a:lnSpc>
            </a:pPr>
            <a:r>
              <a:rPr spc="10" dirty="0"/>
              <a:t>M</a:t>
            </a:r>
            <a:r>
              <a:rPr spc="-35" dirty="0"/>
              <a:t>u</a:t>
            </a:r>
            <a:r>
              <a:rPr spc="5" dirty="0"/>
              <a:t>l</a:t>
            </a:r>
            <a:r>
              <a:rPr dirty="0"/>
              <a:t>t</a:t>
            </a:r>
            <a:r>
              <a:rPr spc="5" dirty="0"/>
              <a:t>iMe</a:t>
            </a:r>
            <a:r>
              <a:rPr spc="-10" dirty="0"/>
              <a:t>d</a:t>
            </a:r>
            <a:r>
              <a:rPr spc="5" dirty="0"/>
              <a:t>i</a:t>
            </a:r>
            <a:r>
              <a:rPr dirty="0"/>
              <a:t>a</a:t>
            </a:r>
            <a:r>
              <a:rPr spc="-85" dirty="0"/>
              <a:t> </a:t>
            </a:r>
            <a:r>
              <a:rPr spc="-10" dirty="0"/>
              <a:t>b</a:t>
            </a:r>
            <a:r>
              <a:rPr dirty="0"/>
              <a:t>y</a:t>
            </a:r>
            <a:r>
              <a:rPr spc="10" dirty="0"/>
              <a:t> </a:t>
            </a:r>
            <a:r>
              <a:rPr spc="-10" dirty="0"/>
              <a:t>S</a:t>
            </a:r>
            <a:r>
              <a:rPr dirty="0"/>
              <a:t>t</a:t>
            </a:r>
            <a:r>
              <a:rPr spc="5" dirty="0"/>
              <a:t>e</a:t>
            </a:r>
            <a:r>
              <a:rPr spc="-10" dirty="0"/>
              <a:t>ph</a:t>
            </a:r>
            <a:r>
              <a:rPr spc="5" dirty="0"/>
              <a:t>e</a:t>
            </a:r>
            <a:r>
              <a:rPr dirty="0"/>
              <a:t>n</a:t>
            </a:r>
            <a:r>
              <a:rPr spc="-45" dirty="0"/>
              <a:t> </a:t>
            </a:r>
            <a:r>
              <a:rPr spc="10" dirty="0"/>
              <a:t>M</a:t>
            </a:r>
            <a:r>
              <a:rPr dirty="0"/>
              <a:t>. </a:t>
            </a:r>
            <a:r>
              <a:rPr spc="-20" dirty="0"/>
              <a:t>P</a:t>
            </a:r>
            <a:r>
              <a:rPr spc="5" dirty="0"/>
              <a:t>e</a:t>
            </a:r>
            <a:r>
              <a:rPr dirty="0"/>
              <a:t>t</a:t>
            </a:r>
            <a:r>
              <a:rPr spc="5" dirty="0"/>
              <a:t>er</a:t>
            </a:r>
            <a:r>
              <a:rPr dirty="0"/>
              <a:t>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57555" y="784936"/>
            <a:ext cx="7837170" cy="4770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0"/>
              </a:lnSpc>
              <a:spcBef>
                <a:spcPts val="100"/>
              </a:spcBef>
            </a:pPr>
            <a:r>
              <a:rPr sz="2400" i="1" spc="-5" dirty="0">
                <a:latin typeface="Times New Roman"/>
                <a:cs typeface="Times New Roman"/>
              </a:rPr>
              <a:t>Interaksi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diantara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beberapa</a:t>
            </a:r>
            <a:r>
              <a:rPr sz="2400" i="1" spc="3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bagian </a:t>
            </a:r>
            <a:r>
              <a:rPr sz="2400" i="1" spc="-5" dirty="0">
                <a:latin typeface="Times New Roman"/>
                <a:cs typeface="Times New Roman"/>
              </a:rPr>
              <a:t>perusahaan</a:t>
            </a:r>
            <a:r>
              <a:rPr sz="2400" i="1" spc="5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untuk</a:t>
            </a:r>
            <a:endParaRPr sz="2400">
              <a:latin typeface="Times New Roman"/>
              <a:cs typeface="Times New Roman"/>
            </a:endParaRPr>
          </a:p>
          <a:p>
            <a:pPr marL="73025">
              <a:lnSpc>
                <a:spcPts val="3350"/>
              </a:lnSpc>
            </a:pPr>
            <a:r>
              <a:rPr sz="2400" i="1" spc="-5" dirty="0">
                <a:latin typeface="Times New Roman"/>
                <a:cs typeface="Times New Roman"/>
              </a:rPr>
              <a:t>memfokuskan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diri</a:t>
            </a:r>
            <a:r>
              <a:rPr sz="2400" i="1" spc="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pada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suatu</a:t>
            </a:r>
            <a:r>
              <a:rPr sz="2400" i="1" spc="-25" dirty="0">
                <a:latin typeface="Times New Roman"/>
                <a:cs typeface="Times New Roman"/>
              </a:rPr>
              <a:t> </a:t>
            </a:r>
            <a:r>
              <a:rPr sz="2400" i="1" spc="-20" dirty="0">
                <a:latin typeface="Times New Roman"/>
                <a:cs typeface="Times New Roman"/>
              </a:rPr>
              <a:t>proyek</a:t>
            </a:r>
            <a:r>
              <a:rPr sz="2400" i="1" dirty="0">
                <a:latin typeface="Times New Roman"/>
                <a:cs typeface="Times New Roman"/>
              </a:rPr>
              <a:t> tertentu</a:t>
            </a:r>
            <a:r>
              <a:rPr sz="2800" i="1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2400" b="1" u="heavy" spc="-5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Times New Roman"/>
                <a:cs typeface="Times New Roman"/>
              </a:rPr>
              <a:t>Keuntungan:</a:t>
            </a:r>
            <a:endParaRPr sz="2400">
              <a:latin typeface="Times New Roman"/>
              <a:cs typeface="Times New Roman"/>
            </a:endParaRPr>
          </a:p>
          <a:p>
            <a:pPr marL="120014" indent="-107950">
              <a:lnSpc>
                <a:spcPct val="100000"/>
              </a:lnSpc>
              <a:spcBef>
                <a:spcPts val="575"/>
              </a:spcBef>
              <a:buSzPct val="95833"/>
              <a:buChar char="•"/>
              <a:tabLst>
                <a:tab pos="120650" algn="l"/>
              </a:tabLst>
            </a:pPr>
            <a:r>
              <a:rPr sz="2400" spc="-10" dirty="0">
                <a:latin typeface="Times New Roman"/>
                <a:cs typeface="Times New Roman"/>
              </a:rPr>
              <a:t>Gabungan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bakat </a:t>
            </a:r>
            <a:r>
              <a:rPr sz="2400" dirty="0">
                <a:latin typeface="Times New Roman"/>
                <a:cs typeface="Times New Roman"/>
              </a:rPr>
              <a:t>dan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ketrampilan.</a:t>
            </a:r>
            <a:endParaRPr sz="2400">
              <a:latin typeface="Times New Roman"/>
              <a:cs typeface="Times New Roman"/>
            </a:endParaRPr>
          </a:p>
          <a:p>
            <a:pPr marL="120014" indent="-107950">
              <a:lnSpc>
                <a:spcPct val="100000"/>
              </a:lnSpc>
              <a:spcBef>
                <a:spcPts val="580"/>
              </a:spcBef>
              <a:buSzPct val="95833"/>
              <a:buChar char="•"/>
              <a:tabLst>
                <a:tab pos="120650" algn="l"/>
              </a:tabLst>
            </a:pPr>
            <a:r>
              <a:rPr sz="2400" spc="-5" dirty="0">
                <a:latin typeface="Times New Roman"/>
                <a:cs typeface="Times New Roman"/>
              </a:rPr>
              <a:t>Keikutsertaan dalam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pengambilan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keputusan.</a:t>
            </a:r>
            <a:endParaRPr sz="2400">
              <a:latin typeface="Times New Roman"/>
              <a:cs typeface="Times New Roman"/>
            </a:endParaRPr>
          </a:p>
          <a:p>
            <a:pPr marL="120014" indent="-107950">
              <a:lnSpc>
                <a:spcPct val="100000"/>
              </a:lnSpc>
              <a:spcBef>
                <a:spcPts val="580"/>
              </a:spcBef>
              <a:buSzPct val="95833"/>
              <a:buChar char="•"/>
              <a:tabLst>
                <a:tab pos="120650" algn="l"/>
              </a:tabLst>
            </a:pPr>
            <a:r>
              <a:rPr sz="2400" spc="-5" dirty="0">
                <a:latin typeface="Times New Roman"/>
                <a:cs typeface="Times New Roman"/>
              </a:rPr>
              <a:t>Kepuasan</a:t>
            </a:r>
            <a:r>
              <a:rPr sz="2400" spc="-15" dirty="0">
                <a:latin typeface="Times New Roman"/>
                <a:cs typeface="Times New Roman"/>
              </a:rPr>
              <a:t> karyawan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lebih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besar.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2400" b="1" u="heavy" spc="-5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Times New Roman"/>
                <a:cs typeface="Times New Roman"/>
              </a:rPr>
              <a:t>Kerugian:</a:t>
            </a:r>
            <a:endParaRPr sz="2400">
              <a:latin typeface="Times New Roman"/>
              <a:cs typeface="Times New Roman"/>
            </a:endParaRPr>
          </a:p>
          <a:p>
            <a:pPr marL="120014" indent="-107950">
              <a:lnSpc>
                <a:spcPct val="100000"/>
              </a:lnSpc>
              <a:spcBef>
                <a:spcPts val="675"/>
              </a:spcBef>
              <a:buSzPct val="95833"/>
              <a:buChar char="•"/>
              <a:tabLst>
                <a:tab pos="120650" algn="l"/>
              </a:tabLst>
            </a:pPr>
            <a:r>
              <a:rPr sz="2400" dirty="0">
                <a:latin typeface="Times New Roman"/>
                <a:cs typeface="Times New Roman"/>
              </a:rPr>
              <a:t>Potensial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ketiadaan</a:t>
            </a:r>
            <a:r>
              <a:rPr sz="2400" spc="-10" dirty="0">
                <a:latin typeface="Times New Roman"/>
                <a:cs typeface="Times New Roman"/>
              </a:rPr>
              <a:t> tanggung-jawab.</a:t>
            </a:r>
            <a:endParaRPr sz="2400">
              <a:latin typeface="Times New Roman"/>
              <a:cs typeface="Times New Roman"/>
            </a:endParaRPr>
          </a:p>
          <a:p>
            <a:pPr marL="120014" indent="-107950">
              <a:lnSpc>
                <a:spcPct val="100000"/>
              </a:lnSpc>
              <a:spcBef>
                <a:spcPts val="575"/>
              </a:spcBef>
              <a:buSzPct val="95833"/>
              <a:buChar char="•"/>
              <a:tabLst>
                <a:tab pos="120650" algn="l"/>
                <a:tab pos="6168390" algn="l"/>
              </a:tabLst>
            </a:pPr>
            <a:r>
              <a:rPr sz="2400" spc="-40" dirty="0">
                <a:latin typeface="Times New Roman"/>
                <a:cs typeface="Times New Roman"/>
              </a:rPr>
              <a:t>Waktu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yang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digunakan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untuk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mengambil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bagian	</a:t>
            </a:r>
            <a:r>
              <a:rPr sz="2400" spc="-5" dirty="0">
                <a:latin typeface="Times New Roman"/>
                <a:cs typeface="Times New Roman"/>
              </a:rPr>
              <a:t>dalam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proyek</a:t>
            </a:r>
            <a:endParaRPr sz="2400">
              <a:latin typeface="Times New Roman"/>
              <a:cs typeface="Times New Roman"/>
            </a:endParaRPr>
          </a:p>
          <a:p>
            <a:pPr marL="73025">
              <a:lnSpc>
                <a:spcPct val="100000"/>
              </a:lnSpc>
            </a:pPr>
            <a:r>
              <a:rPr sz="2400" spc="-10" dirty="0">
                <a:latin typeface="Times New Roman"/>
                <a:cs typeface="Times New Roman"/>
              </a:rPr>
              <a:t>mengurangi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waktu </a:t>
            </a:r>
            <a:r>
              <a:rPr sz="2400" dirty="0">
                <a:latin typeface="Times New Roman"/>
                <a:cs typeface="Times New Roman"/>
              </a:rPr>
              <a:t>untuk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tugas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normal.</a:t>
            </a:r>
            <a:endParaRPr sz="2400">
              <a:latin typeface="Times New Roman"/>
              <a:cs typeface="Times New Roman"/>
            </a:endParaRPr>
          </a:p>
          <a:p>
            <a:pPr marL="120014" indent="-107950">
              <a:lnSpc>
                <a:spcPct val="100000"/>
              </a:lnSpc>
              <a:spcBef>
                <a:spcPts val="580"/>
              </a:spcBef>
              <a:buSzPct val="95833"/>
              <a:buChar char="•"/>
              <a:tabLst>
                <a:tab pos="120650" algn="l"/>
              </a:tabLst>
            </a:pPr>
            <a:r>
              <a:rPr sz="2400" spc="-20" dirty="0">
                <a:latin typeface="Times New Roman"/>
                <a:cs typeface="Times New Roman"/>
              </a:rPr>
              <a:t>Karyawan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mempunyai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dua bos.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049270" y="455422"/>
            <a:ext cx="304482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spc="-5" dirty="0"/>
              <a:t>Intr</a:t>
            </a:r>
            <a:r>
              <a:rPr sz="3200" dirty="0"/>
              <a:t>a</a:t>
            </a:r>
            <a:r>
              <a:rPr sz="3200" spc="-5" dirty="0"/>
              <a:t>preneurship</a:t>
            </a:r>
            <a:endParaRPr sz="320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00"/>
              </a:lnSpc>
            </a:pPr>
            <a:r>
              <a:rPr b="0" spc="5" dirty="0">
                <a:latin typeface="Times New Roman"/>
                <a:cs typeface="Times New Roman"/>
              </a:rPr>
              <a:t>©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dirty="0"/>
              <a:t>2001</a:t>
            </a:r>
            <a:r>
              <a:rPr spc="-20" dirty="0"/>
              <a:t> </a:t>
            </a:r>
            <a:r>
              <a:rPr spc="-5" dirty="0"/>
              <a:t>South-Western</a:t>
            </a:r>
            <a:r>
              <a:rPr dirty="0"/>
              <a:t> College</a:t>
            </a:r>
            <a:r>
              <a:rPr spc="-15" dirty="0"/>
              <a:t> </a:t>
            </a:r>
            <a:r>
              <a:rPr spc="-5" dirty="0"/>
              <a:t>Publishing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00"/>
              </a:lnSpc>
            </a:pPr>
            <a:r>
              <a:rPr spc="10" dirty="0"/>
              <a:t>M</a:t>
            </a:r>
            <a:r>
              <a:rPr spc="-35" dirty="0"/>
              <a:t>u</a:t>
            </a:r>
            <a:r>
              <a:rPr spc="5" dirty="0"/>
              <a:t>l</a:t>
            </a:r>
            <a:r>
              <a:rPr dirty="0"/>
              <a:t>t</a:t>
            </a:r>
            <a:r>
              <a:rPr spc="5" dirty="0"/>
              <a:t>iMe</a:t>
            </a:r>
            <a:r>
              <a:rPr spc="-10" dirty="0"/>
              <a:t>d</a:t>
            </a:r>
            <a:r>
              <a:rPr spc="5" dirty="0"/>
              <a:t>i</a:t>
            </a:r>
            <a:r>
              <a:rPr dirty="0"/>
              <a:t>a</a:t>
            </a:r>
            <a:r>
              <a:rPr spc="-85" dirty="0"/>
              <a:t> </a:t>
            </a:r>
            <a:r>
              <a:rPr spc="-10" dirty="0"/>
              <a:t>b</a:t>
            </a:r>
            <a:r>
              <a:rPr dirty="0"/>
              <a:t>y</a:t>
            </a:r>
            <a:r>
              <a:rPr spc="10" dirty="0"/>
              <a:t> </a:t>
            </a:r>
            <a:r>
              <a:rPr spc="-10" dirty="0"/>
              <a:t>S</a:t>
            </a:r>
            <a:r>
              <a:rPr dirty="0"/>
              <a:t>t</a:t>
            </a:r>
            <a:r>
              <a:rPr spc="5" dirty="0"/>
              <a:t>e</a:t>
            </a:r>
            <a:r>
              <a:rPr spc="-10" dirty="0"/>
              <a:t>ph</a:t>
            </a:r>
            <a:r>
              <a:rPr spc="5" dirty="0"/>
              <a:t>e</a:t>
            </a:r>
            <a:r>
              <a:rPr dirty="0"/>
              <a:t>n</a:t>
            </a:r>
            <a:r>
              <a:rPr spc="-45" dirty="0"/>
              <a:t> </a:t>
            </a:r>
            <a:r>
              <a:rPr spc="10" dirty="0"/>
              <a:t>M</a:t>
            </a:r>
            <a:r>
              <a:rPr dirty="0"/>
              <a:t>. </a:t>
            </a:r>
            <a:r>
              <a:rPr spc="-20" dirty="0"/>
              <a:t>P</a:t>
            </a:r>
            <a:r>
              <a:rPr spc="5" dirty="0"/>
              <a:t>e</a:t>
            </a:r>
            <a:r>
              <a:rPr dirty="0"/>
              <a:t>t</a:t>
            </a:r>
            <a:r>
              <a:rPr spc="5" dirty="0"/>
              <a:t>er</a:t>
            </a:r>
            <a:r>
              <a:rPr dirty="0"/>
              <a:t>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78685" y="1623516"/>
            <a:ext cx="5904230" cy="2513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5" dirty="0">
                <a:latin typeface="Times New Roman"/>
                <a:cs typeface="Times New Roman"/>
              </a:rPr>
              <a:t>Pekerja</a:t>
            </a:r>
            <a:r>
              <a:rPr sz="2400" i="1" spc="-3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ditugaskan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untuk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menciptakan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gagasan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i="1" spc="-5" dirty="0">
                <a:latin typeface="Times New Roman"/>
                <a:cs typeface="Times New Roman"/>
              </a:rPr>
              <a:t>seolah-olah</a:t>
            </a:r>
            <a:r>
              <a:rPr sz="2400" i="1" spc="-4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dia</a:t>
            </a:r>
            <a:r>
              <a:rPr sz="2400" i="1" spc="-3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wirausahawan.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400" b="1" u="heavy" spc="-5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Times New Roman"/>
                <a:cs typeface="Times New Roman"/>
              </a:rPr>
              <a:t>Keuntungan:</a:t>
            </a:r>
            <a:endParaRPr sz="2400">
              <a:latin typeface="Times New Roman"/>
              <a:cs typeface="Times New Roman"/>
            </a:endParaRPr>
          </a:p>
          <a:p>
            <a:pPr marL="186055" indent="-173990">
              <a:lnSpc>
                <a:spcPct val="100000"/>
              </a:lnSpc>
              <a:spcBef>
                <a:spcPts val="575"/>
              </a:spcBef>
              <a:buChar char="•"/>
              <a:tabLst>
                <a:tab pos="186690" algn="l"/>
              </a:tabLst>
            </a:pPr>
            <a:r>
              <a:rPr sz="2400" spc="-20" dirty="0">
                <a:latin typeface="Times New Roman"/>
                <a:cs typeface="Times New Roman"/>
              </a:rPr>
              <a:t>Timbulnya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pemikiran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inovatif.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400" b="1" u="heavy" spc="-5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Times New Roman"/>
                <a:cs typeface="Times New Roman"/>
              </a:rPr>
              <a:t>Kerugian:</a:t>
            </a:r>
            <a:endParaRPr sz="2400">
              <a:latin typeface="Times New Roman"/>
              <a:cs typeface="Times New Roman"/>
            </a:endParaRPr>
          </a:p>
          <a:p>
            <a:pPr marL="192405" indent="-180340">
              <a:lnSpc>
                <a:spcPct val="100000"/>
              </a:lnSpc>
              <a:spcBef>
                <a:spcPts val="575"/>
              </a:spcBef>
              <a:buChar char="•"/>
              <a:tabLst>
                <a:tab pos="193040" algn="l"/>
              </a:tabLst>
            </a:pPr>
            <a:r>
              <a:rPr sz="2400" spc="-5" dirty="0">
                <a:latin typeface="Times New Roman"/>
                <a:cs typeface="Times New Roman"/>
              </a:rPr>
              <a:t>Menarik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karyawan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menjauh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dari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tugas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normal.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978914" y="684098"/>
            <a:ext cx="518350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0" dirty="0"/>
              <a:t>Struktur</a:t>
            </a:r>
            <a:r>
              <a:rPr sz="3200" spc="-15" dirty="0"/>
              <a:t> </a:t>
            </a:r>
            <a:r>
              <a:rPr sz="3200" spc="-5" dirty="0"/>
              <a:t>Organisasi</a:t>
            </a:r>
            <a:r>
              <a:rPr sz="3200" dirty="0"/>
              <a:t> </a:t>
            </a:r>
            <a:r>
              <a:rPr sz="3200" spc="-10" dirty="0"/>
              <a:t>Informal</a:t>
            </a:r>
            <a:endParaRPr sz="3200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00"/>
              </a:lnSpc>
            </a:pPr>
            <a:r>
              <a:rPr b="0" spc="5" dirty="0">
                <a:latin typeface="Times New Roman"/>
                <a:cs typeface="Times New Roman"/>
              </a:rPr>
              <a:t>©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dirty="0"/>
              <a:t>2001</a:t>
            </a:r>
            <a:r>
              <a:rPr spc="-20" dirty="0"/>
              <a:t> </a:t>
            </a:r>
            <a:r>
              <a:rPr spc="-5" dirty="0"/>
              <a:t>South-Western</a:t>
            </a:r>
            <a:r>
              <a:rPr dirty="0"/>
              <a:t> College</a:t>
            </a:r>
            <a:r>
              <a:rPr spc="-15" dirty="0"/>
              <a:t> </a:t>
            </a:r>
            <a:r>
              <a:rPr spc="-5" dirty="0"/>
              <a:t>Publishing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00"/>
              </a:lnSpc>
            </a:pPr>
            <a:r>
              <a:rPr spc="10" dirty="0"/>
              <a:t>M</a:t>
            </a:r>
            <a:r>
              <a:rPr spc="-35" dirty="0"/>
              <a:t>u</a:t>
            </a:r>
            <a:r>
              <a:rPr spc="5" dirty="0"/>
              <a:t>l</a:t>
            </a:r>
            <a:r>
              <a:rPr dirty="0"/>
              <a:t>t</a:t>
            </a:r>
            <a:r>
              <a:rPr spc="5" dirty="0"/>
              <a:t>iMe</a:t>
            </a:r>
            <a:r>
              <a:rPr spc="-10" dirty="0"/>
              <a:t>d</a:t>
            </a:r>
            <a:r>
              <a:rPr spc="5" dirty="0"/>
              <a:t>i</a:t>
            </a:r>
            <a:r>
              <a:rPr dirty="0"/>
              <a:t>a</a:t>
            </a:r>
            <a:r>
              <a:rPr spc="-85" dirty="0"/>
              <a:t> </a:t>
            </a:r>
            <a:r>
              <a:rPr spc="-10" dirty="0"/>
              <a:t>b</a:t>
            </a:r>
            <a:r>
              <a:rPr dirty="0"/>
              <a:t>y</a:t>
            </a:r>
            <a:r>
              <a:rPr spc="10" dirty="0"/>
              <a:t> </a:t>
            </a:r>
            <a:r>
              <a:rPr spc="-10" dirty="0"/>
              <a:t>S</a:t>
            </a:r>
            <a:r>
              <a:rPr dirty="0"/>
              <a:t>t</a:t>
            </a:r>
            <a:r>
              <a:rPr spc="5" dirty="0"/>
              <a:t>e</a:t>
            </a:r>
            <a:r>
              <a:rPr spc="-10" dirty="0"/>
              <a:t>ph</a:t>
            </a:r>
            <a:r>
              <a:rPr spc="5" dirty="0"/>
              <a:t>e</a:t>
            </a:r>
            <a:r>
              <a:rPr dirty="0"/>
              <a:t>n</a:t>
            </a:r>
            <a:r>
              <a:rPr spc="-45" dirty="0"/>
              <a:t> </a:t>
            </a:r>
            <a:r>
              <a:rPr spc="10" dirty="0"/>
              <a:t>M</a:t>
            </a:r>
            <a:r>
              <a:rPr dirty="0"/>
              <a:t>. </a:t>
            </a:r>
            <a:r>
              <a:rPr spc="-20" dirty="0"/>
              <a:t>P</a:t>
            </a:r>
            <a:r>
              <a:rPr spc="5" dirty="0"/>
              <a:t>e</a:t>
            </a:r>
            <a:r>
              <a:rPr dirty="0"/>
              <a:t>t</a:t>
            </a:r>
            <a:r>
              <a:rPr spc="5" dirty="0"/>
              <a:t>er</a:t>
            </a:r>
            <a:r>
              <a:rPr dirty="0"/>
              <a:t>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86155" y="1626298"/>
            <a:ext cx="7417434" cy="3465829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400" i="1" spc="-5" dirty="0">
                <a:latin typeface="Times New Roman"/>
                <a:cs typeface="Times New Roman"/>
              </a:rPr>
              <a:t>Jaringan</a:t>
            </a:r>
            <a:r>
              <a:rPr sz="2400" i="1" spc="-25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komunikasi</a:t>
            </a:r>
            <a:r>
              <a:rPr sz="2400" i="1" dirty="0">
                <a:latin typeface="Times New Roman"/>
                <a:cs typeface="Times New Roman"/>
              </a:rPr>
              <a:t> informal</a:t>
            </a:r>
            <a:r>
              <a:rPr sz="2400" i="1" spc="-2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diantara </a:t>
            </a:r>
            <a:r>
              <a:rPr sz="2400" i="1" spc="-5" dirty="0">
                <a:latin typeface="Times New Roman"/>
                <a:cs typeface="Times New Roman"/>
              </a:rPr>
              <a:t>pekerja</a:t>
            </a:r>
            <a:r>
              <a:rPr sz="2400" i="1" dirty="0">
                <a:latin typeface="Times New Roman"/>
                <a:cs typeface="Times New Roman"/>
              </a:rPr>
              <a:t> perusahaan.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b="1" u="heavy" spc="-5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Times New Roman"/>
                <a:cs typeface="Times New Roman"/>
              </a:rPr>
              <a:t>Keuntungan:</a:t>
            </a:r>
            <a:endParaRPr sz="24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580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spc="-5" dirty="0">
                <a:latin typeface="Times New Roman"/>
                <a:cs typeface="Times New Roman"/>
              </a:rPr>
              <a:t>Pekerja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belajar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dari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panutan.</a:t>
            </a:r>
            <a:endParaRPr sz="24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575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spc="-10" dirty="0">
                <a:latin typeface="Times New Roman"/>
                <a:cs typeface="Times New Roman"/>
              </a:rPr>
              <a:t>Mengurangi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keterlibatan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manajerial.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b="1" u="heavy" spc="-5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Times New Roman"/>
                <a:cs typeface="Times New Roman"/>
              </a:rPr>
              <a:t>Kerugian:</a:t>
            </a:r>
            <a:endParaRPr sz="24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580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spc="-20" dirty="0">
                <a:latin typeface="Times New Roman"/>
                <a:cs typeface="Times New Roman"/>
              </a:rPr>
              <a:t>Karyawan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memperoleh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informasi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yang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tidak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benar.</a:t>
            </a:r>
            <a:endParaRPr sz="24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580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spc="-10" dirty="0">
                <a:latin typeface="Times New Roman"/>
                <a:cs typeface="Times New Roman"/>
              </a:rPr>
              <a:t>Informasi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tidak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benar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dapat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berdampak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kurang baik buat</a:t>
            </a:r>
            <a:endParaRPr sz="2400">
              <a:latin typeface="Times New Roman"/>
              <a:cs typeface="Times New Roman"/>
            </a:endParaRPr>
          </a:p>
          <a:p>
            <a:pPr marL="35687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moral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pekerja.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28650" y="762000"/>
            <a:ext cx="7886700" cy="13255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Depart</a:t>
            </a:r>
            <a:r>
              <a:rPr spc="5" dirty="0"/>
              <a:t>e</a:t>
            </a:r>
            <a:r>
              <a:rPr spc="-5" dirty="0"/>
              <a:t>m</a:t>
            </a:r>
            <a:r>
              <a:rPr dirty="0"/>
              <a:t>ental</a:t>
            </a:r>
            <a:r>
              <a:rPr spc="10" dirty="0"/>
              <a:t>i</a:t>
            </a:r>
            <a:r>
              <a:rPr spc="-5" dirty="0"/>
              <a:t>sa</a:t>
            </a:r>
            <a:r>
              <a:rPr spc="-25" dirty="0"/>
              <a:t>s</a:t>
            </a:r>
            <a:r>
              <a:rPr dirty="0"/>
              <a:t>i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00"/>
              </a:lnSpc>
            </a:pPr>
            <a:r>
              <a:rPr b="0" spc="5" dirty="0">
                <a:latin typeface="Times New Roman"/>
                <a:cs typeface="Times New Roman"/>
              </a:rPr>
              <a:t>©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dirty="0"/>
              <a:t>2001</a:t>
            </a:r>
            <a:r>
              <a:rPr spc="-20" dirty="0"/>
              <a:t> </a:t>
            </a:r>
            <a:r>
              <a:rPr spc="-5" dirty="0"/>
              <a:t>South-Western</a:t>
            </a:r>
            <a:r>
              <a:rPr dirty="0"/>
              <a:t> College</a:t>
            </a:r>
            <a:r>
              <a:rPr spc="-15" dirty="0"/>
              <a:t> </a:t>
            </a:r>
            <a:r>
              <a:rPr spc="-5" dirty="0"/>
              <a:t>Publishing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00"/>
              </a:lnSpc>
            </a:pPr>
            <a:r>
              <a:rPr spc="10" dirty="0"/>
              <a:t>M</a:t>
            </a:r>
            <a:r>
              <a:rPr spc="-35" dirty="0"/>
              <a:t>u</a:t>
            </a:r>
            <a:r>
              <a:rPr spc="5" dirty="0"/>
              <a:t>l</a:t>
            </a:r>
            <a:r>
              <a:rPr dirty="0"/>
              <a:t>t</a:t>
            </a:r>
            <a:r>
              <a:rPr spc="5" dirty="0"/>
              <a:t>iMe</a:t>
            </a:r>
            <a:r>
              <a:rPr spc="-10" dirty="0"/>
              <a:t>d</a:t>
            </a:r>
            <a:r>
              <a:rPr spc="5" dirty="0"/>
              <a:t>i</a:t>
            </a:r>
            <a:r>
              <a:rPr dirty="0"/>
              <a:t>a</a:t>
            </a:r>
            <a:r>
              <a:rPr spc="-85" dirty="0"/>
              <a:t> </a:t>
            </a:r>
            <a:r>
              <a:rPr spc="-10" dirty="0"/>
              <a:t>b</a:t>
            </a:r>
            <a:r>
              <a:rPr dirty="0"/>
              <a:t>y</a:t>
            </a:r>
            <a:r>
              <a:rPr spc="10" dirty="0"/>
              <a:t> </a:t>
            </a:r>
            <a:r>
              <a:rPr spc="-10" dirty="0"/>
              <a:t>S</a:t>
            </a:r>
            <a:r>
              <a:rPr dirty="0"/>
              <a:t>t</a:t>
            </a:r>
            <a:r>
              <a:rPr spc="5" dirty="0"/>
              <a:t>e</a:t>
            </a:r>
            <a:r>
              <a:rPr spc="-10" dirty="0"/>
              <a:t>ph</a:t>
            </a:r>
            <a:r>
              <a:rPr spc="5" dirty="0"/>
              <a:t>e</a:t>
            </a:r>
            <a:r>
              <a:rPr dirty="0"/>
              <a:t>n</a:t>
            </a:r>
            <a:r>
              <a:rPr spc="-45" dirty="0"/>
              <a:t> </a:t>
            </a:r>
            <a:r>
              <a:rPr spc="10" dirty="0"/>
              <a:t>M</a:t>
            </a:r>
            <a:r>
              <a:rPr dirty="0"/>
              <a:t>. </a:t>
            </a:r>
            <a:r>
              <a:rPr spc="-20" dirty="0"/>
              <a:t>P</a:t>
            </a:r>
            <a:r>
              <a:rPr spc="5" dirty="0"/>
              <a:t>e</a:t>
            </a:r>
            <a:r>
              <a:rPr dirty="0"/>
              <a:t>t</a:t>
            </a:r>
            <a:r>
              <a:rPr spc="5" dirty="0"/>
              <a:t>er</a:t>
            </a:r>
            <a:r>
              <a:rPr dirty="0"/>
              <a:t>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38555" y="1696669"/>
            <a:ext cx="6518275" cy="34423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73025" marR="5080" indent="-60960">
              <a:lnSpc>
                <a:spcPct val="100000"/>
              </a:lnSpc>
              <a:spcBef>
                <a:spcPts val="110"/>
              </a:spcBef>
            </a:pPr>
            <a:r>
              <a:rPr sz="2800" i="1" spc="-5" dirty="0">
                <a:latin typeface="Times New Roman"/>
                <a:cs typeface="Times New Roman"/>
              </a:rPr>
              <a:t>Departmentalization:</a:t>
            </a:r>
            <a:r>
              <a:rPr sz="2800" i="1" spc="-7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penciptaan</a:t>
            </a:r>
            <a:r>
              <a:rPr sz="2800" i="1" spc="-6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departemen </a:t>
            </a:r>
            <a:r>
              <a:rPr sz="2800" i="1" spc="-685" dirty="0">
                <a:latin typeface="Times New Roman"/>
                <a:cs typeface="Times New Roman"/>
              </a:rPr>
              <a:t> </a:t>
            </a:r>
            <a:r>
              <a:rPr sz="2800" i="1" spc="5" dirty="0">
                <a:latin typeface="Times New Roman"/>
                <a:cs typeface="Times New Roman"/>
              </a:rPr>
              <a:t>yang</a:t>
            </a:r>
            <a:r>
              <a:rPr sz="2800" i="1" spc="-75" dirty="0">
                <a:latin typeface="Times New Roman"/>
                <a:cs typeface="Times New Roman"/>
              </a:rPr>
              <a:t> </a:t>
            </a:r>
            <a:r>
              <a:rPr sz="2800" i="1" spc="5" dirty="0">
                <a:latin typeface="Times New Roman"/>
                <a:cs typeface="Times New Roman"/>
              </a:rPr>
              <a:t>akan</a:t>
            </a:r>
            <a:r>
              <a:rPr sz="2800" i="1" spc="-70" dirty="0">
                <a:latin typeface="Times New Roman"/>
                <a:cs typeface="Times New Roman"/>
              </a:rPr>
              <a:t> </a:t>
            </a:r>
            <a:r>
              <a:rPr sz="2800" i="1" spc="5" dirty="0">
                <a:latin typeface="Times New Roman"/>
                <a:cs typeface="Times New Roman"/>
              </a:rPr>
              <a:t>medapatkan</a:t>
            </a:r>
            <a:r>
              <a:rPr sz="2800" i="1" spc="-125" dirty="0">
                <a:latin typeface="Times New Roman"/>
                <a:cs typeface="Times New Roman"/>
              </a:rPr>
              <a:t> </a:t>
            </a:r>
            <a:r>
              <a:rPr sz="2800" i="1" spc="5" dirty="0">
                <a:latin typeface="Times New Roman"/>
                <a:cs typeface="Times New Roman"/>
              </a:rPr>
              <a:t>penugasan.</a:t>
            </a: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b="1" u="heavy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Times New Roman"/>
                <a:cs typeface="Times New Roman"/>
              </a:rPr>
              <a:t>Organisasi</a:t>
            </a:r>
            <a:r>
              <a:rPr sz="2800" b="1" u="heavy" spc="-110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spc="5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Times New Roman"/>
                <a:cs typeface="Times New Roman"/>
              </a:rPr>
              <a:t>dapat</a:t>
            </a:r>
            <a:r>
              <a:rPr sz="2800" b="1" u="heavy" spc="-40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heavy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Times New Roman"/>
                <a:cs typeface="Times New Roman"/>
              </a:rPr>
              <a:t>didepartemenlisasi:</a:t>
            </a:r>
            <a:endParaRPr sz="2800" dirty="0">
              <a:latin typeface="Times New Roman"/>
              <a:cs typeface="Times New Roman"/>
            </a:endParaRPr>
          </a:p>
          <a:p>
            <a:pPr marL="222885" indent="-210820">
              <a:lnSpc>
                <a:spcPct val="100000"/>
              </a:lnSpc>
              <a:spcBef>
                <a:spcPts val="670"/>
              </a:spcBef>
              <a:buChar char="•"/>
              <a:tabLst>
                <a:tab pos="223520" algn="l"/>
              </a:tabLst>
            </a:pPr>
            <a:r>
              <a:rPr sz="2800" dirty="0">
                <a:latin typeface="Times New Roman"/>
                <a:cs typeface="Times New Roman"/>
              </a:rPr>
              <a:t>Per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fungsi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(By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function)</a:t>
            </a:r>
            <a:endParaRPr sz="2800" dirty="0">
              <a:latin typeface="Times New Roman"/>
              <a:cs typeface="Times New Roman"/>
            </a:endParaRPr>
          </a:p>
          <a:p>
            <a:pPr marL="222885" indent="-210820">
              <a:lnSpc>
                <a:spcPct val="100000"/>
              </a:lnSpc>
              <a:spcBef>
                <a:spcPts val="675"/>
              </a:spcBef>
              <a:buChar char="•"/>
              <a:tabLst>
                <a:tab pos="223520" algn="l"/>
              </a:tabLst>
            </a:pPr>
            <a:r>
              <a:rPr sz="2800" dirty="0">
                <a:latin typeface="Times New Roman"/>
                <a:cs typeface="Times New Roman"/>
              </a:rPr>
              <a:t>Per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produk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(By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product)</a:t>
            </a:r>
            <a:endParaRPr sz="2800" dirty="0">
              <a:latin typeface="Times New Roman"/>
              <a:cs typeface="Times New Roman"/>
            </a:endParaRPr>
          </a:p>
          <a:p>
            <a:pPr marL="222885" indent="-210820">
              <a:lnSpc>
                <a:spcPct val="100000"/>
              </a:lnSpc>
              <a:spcBef>
                <a:spcPts val="675"/>
              </a:spcBef>
              <a:buChar char="•"/>
              <a:tabLst>
                <a:tab pos="223520" algn="l"/>
              </a:tabLst>
            </a:pPr>
            <a:r>
              <a:rPr sz="2800" dirty="0">
                <a:latin typeface="Times New Roman"/>
                <a:cs typeface="Times New Roman"/>
              </a:rPr>
              <a:t>Per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lokasi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(By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location)</a:t>
            </a:r>
            <a:endParaRPr sz="2800" dirty="0">
              <a:latin typeface="Times New Roman"/>
              <a:cs typeface="Times New Roman"/>
            </a:endParaRPr>
          </a:p>
          <a:p>
            <a:pPr marL="222885" indent="-210820">
              <a:lnSpc>
                <a:spcPct val="100000"/>
              </a:lnSpc>
              <a:spcBef>
                <a:spcPts val="675"/>
              </a:spcBef>
              <a:buChar char="•"/>
              <a:tabLst>
                <a:tab pos="223520" algn="l"/>
              </a:tabLst>
            </a:pPr>
            <a:r>
              <a:rPr sz="2800" dirty="0">
                <a:latin typeface="Times New Roman"/>
                <a:cs typeface="Times New Roman"/>
              </a:rPr>
              <a:t>Per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pelanggan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(By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customer)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307810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PPT TI50hal</Template>
  <TotalTime>6</TotalTime>
  <Words>691</Words>
  <Application>Microsoft Office PowerPoint</Application>
  <PresentationFormat>On-screen Show (4:3)</PresentationFormat>
  <Paragraphs>180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15</vt:i4>
      </vt:variant>
    </vt:vector>
  </HeadingPairs>
  <TitlesOfParts>
    <vt:vector size="29" baseType="lpstr">
      <vt:lpstr>Arial</vt:lpstr>
      <vt:lpstr>Arial MT</vt:lpstr>
      <vt:lpstr>Calibri</vt:lpstr>
      <vt:lpstr>Calibri Light</vt:lpstr>
      <vt:lpstr>Times New Roman</vt:lpstr>
      <vt:lpstr>Wingdings</vt:lpstr>
      <vt:lpstr>6_Office Theme</vt:lpstr>
      <vt:lpstr>7_Office Theme</vt:lpstr>
      <vt:lpstr>4_Office Theme</vt:lpstr>
      <vt:lpstr>3_Office Theme</vt:lpstr>
      <vt:lpstr>2_Office Theme</vt:lpstr>
      <vt:lpstr>Office Theme</vt:lpstr>
      <vt:lpstr>5_Office Theme</vt:lpstr>
      <vt:lpstr>1_Office Theme</vt:lpstr>
      <vt:lpstr>PowerPoint Presentation</vt:lpstr>
      <vt:lpstr>Sasaran Pembelajaran</vt:lpstr>
      <vt:lpstr>Struktur Organisasi</vt:lpstr>
      <vt:lpstr>Struktur Organisasi (Organizational Structure)</vt:lpstr>
      <vt:lpstr>Dewan Direksi</vt:lpstr>
      <vt:lpstr>Elemen-elemen Stuktur Organisasional</vt:lpstr>
      <vt:lpstr>Jangkauan Pengawasan</vt:lpstr>
      <vt:lpstr>Sentralisasi vs. Desentalisasi</vt:lpstr>
      <vt:lpstr>Perbandingan Lini dan  Lini dan &amp; Staf</vt:lpstr>
      <vt:lpstr>Struktur yang Mengijinkan  Lebih Input Pekerja</vt:lpstr>
      <vt:lpstr>Matrix Organization</vt:lpstr>
      <vt:lpstr>Intrapreneurship</vt:lpstr>
      <vt:lpstr>Struktur Organisasi Informal</vt:lpstr>
      <vt:lpstr>Departementalisasi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Organizational Structure</dc:title>
  <dc:creator>Stephen M Peters, President</dc:creator>
  <cp:lastModifiedBy>Windows User</cp:lastModifiedBy>
  <cp:revision>3</cp:revision>
  <dcterms:created xsi:type="dcterms:W3CDTF">2021-08-24T12:44:46Z</dcterms:created>
  <dcterms:modified xsi:type="dcterms:W3CDTF">2021-08-27T23:28:20Z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2016-09-18T00:00:00Z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2021-08-24T00:00:00Z</vt:filetime>
  </property>
</Properties>
</file>