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theme/theme8.xml" ContentType="application/vnd.openxmlformats-officedocument.theme+xml"/>
  <Override PartName="/ppt/media/image13.jpg" ContentType="image/jpg"/>
  <Override PartName="/ppt/media/image14.jpg" ContentType="image/jpg"/>
  <Override PartName="/ppt/media/image15.jpg" ContentType="image/jpg"/>
  <Override PartName="/ppt/media/image16.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71" r:id="rId2"/>
    <p:sldMasterId id="2147483673" r:id="rId3"/>
    <p:sldMasterId id="2147483675" r:id="rId4"/>
    <p:sldMasterId id="2147483677" r:id="rId5"/>
    <p:sldMasterId id="2147483679" r:id="rId6"/>
    <p:sldMasterId id="2147483687" r:id="rId7"/>
    <p:sldMasterId id="2147483689" r:id="rId8"/>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3" Type="http://schemas.openxmlformats.org/officeDocument/2006/relationships/slideMaster" Target="slideMasters/slideMaster3.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slide" Target="slides/slide3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8" Type="http://schemas.openxmlformats.org/officeDocument/2006/relationships/slideMaster" Target="slideMasters/slideMaster8.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EBA360-16FD-48D7-AA37-D01665392D4C}"/>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134633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8/28/2021</a:t>
            </a:fld>
            <a:endParaRPr lang="en-US"/>
          </a:p>
        </p:txBody>
      </p:sp>
      <p:sp>
        <p:nvSpPr>
          <p:cNvPr id="4" name="Holder 4"/>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80826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Arial MT"/>
                <a:cs typeface="Arial MT"/>
              </a:defRPr>
            </a:lvl1pPr>
          </a:lstStyle>
          <a:p>
            <a:endParaRPr/>
          </a:p>
        </p:txBody>
      </p:sp>
      <p:sp>
        <p:nvSpPr>
          <p:cNvPr id="3" name="Holder 3"/>
          <p:cNvSpPr>
            <a:spLocks noGrp="1"/>
          </p:cNvSpPr>
          <p:nvPr>
            <p:ph type="body" idx="1"/>
          </p:nvPr>
        </p:nvSpPr>
        <p:spPr>
          <a:xfrm>
            <a:off x="364642" y="1815846"/>
            <a:ext cx="7886065" cy="2660650"/>
          </a:xfrm>
          <a:prstGeom prst="rect">
            <a:avLst/>
          </a:prstGeom>
        </p:spPr>
        <p:txBody>
          <a:bodyPr lIns="0" tIns="0" rIns="0" bIns="0"/>
          <a:lstStyle>
            <a:lvl1pPr>
              <a:defRPr sz="2400" b="0" i="0">
                <a:solidFill>
                  <a:schemeClr val="tx1"/>
                </a:solidFill>
                <a:latin typeface="Constantia"/>
                <a:cs typeface="Constanti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8/28/2021</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281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Arial MT"/>
                <a:cs typeface="Arial MT"/>
              </a:defRPr>
            </a:lvl1pPr>
          </a:lstStyle>
          <a:p>
            <a:endParaRPr/>
          </a:p>
        </p:txBody>
      </p:sp>
      <p:sp>
        <p:nvSpPr>
          <p:cNvPr id="3" name="Holder 3"/>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8/28/2021</a:t>
            </a:fld>
            <a:endParaRPr lang="en-US"/>
          </a:p>
        </p:txBody>
      </p:sp>
      <p:sp>
        <p:nvSpPr>
          <p:cNvPr id="5" name="Holder 5"/>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10399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EBA360-16FD-48D7-AA37-D01665392D4C}"/>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1339159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D6A74D-1C8D-4400-A44B-18C61420D474}"/>
              </a:ext>
            </a:extLst>
          </p:cNvPr>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ID"/>
          </a:p>
        </p:txBody>
      </p:sp>
    </p:spTree>
    <p:extLst>
      <p:ext uri="{BB962C8B-B14F-4D97-AF65-F5344CB8AC3E}">
        <p14:creationId xmlns:p14="http://schemas.microsoft.com/office/powerpoint/2010/main" val="271728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8/28/2021</a:t>
            </a:fld>
            <a:endParaRPr lang="en-US"/>
          </a:p>
        </p:txBody>
      </p:sp>
      <p:sp>
        <p:nvSpPr>
          <p:cNvPr id="4" name="Holder 4"/>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14505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28650" y="1204467"/>
            <a:ext cx="7886700" cy="1325563"/>
          </a:xfrm>
          <a:prstGeom prst="rect">
            <a:avLst/>
          </a:prstGeom>
        </p:spPr>
        <p:txBody>
          <a:bodyPr lIns="0" tIns="0" rIns="0" bIns="0"/>
          <a:lstStyle>
            <a:lvl1pPr>
              <a:defRPr sz="1600" b="0" i="0">
                <a:solidFill>
                  <a:schemeClr val="tx1"/>
                </a:solidFill>
                <a:latin typeface="Arial MT"/>
                <a:cs typeface="Arial MT"/>
              </a:defRPr>
            </a:lvl1pPr>
          </a:lstStyle>
          <a:p>
            <a:endParaRPr/>
          </a:p>
        </p:txBody>
      </p:sp>
      <p:sp>
        <p:nvSpPr>
          <p:cNvPr id="3" name="Holder 3"/>
          <p:cNvSpPr>
            <a:spLocks noGrp="1"/>
          </p:cNvSpPr>
          <p:nvPr>
            <p:ph type="body" idx="1"/>
          </p:nvPr>
        </p:nvSpPr>
        <p:spPr>
          <a:xfrm>
            <a:off x="364642" y="1815846"/>
            <a:ext cx="7886065" cy="2660650"/>
          </a:xfrm>
          <a:prstGeom prst="rect">
            <a:avLst/>
          </a:prstGeom>
        </p:spPr>
        <p:txBody>
          <a:bodyPr lIns="0" tIns="0" rIns="0" bIns="0"/>
          <a:lstStyle>
            <a:lvl1pPr>
              <a:defRPr sz="2400" b="0" i="0">
                <a:solidFill>
                  <a:schemeClr val="tx1"/>
                </a:solidFill>
                <a:latin typeface="Constantia"/>
                <a:cs typeface="Constanti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8/28/2021</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87269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28650" y="1204467"/>
            <a:ext cx="7886700" cy="1325563"/>
          </a:xfrm>
          <a:prstGeom prst="rect">
            <a:avLst/>
          </a:prstGeom>
        </p:spPr>
        <p:txBody>
          <a:bodyPr lIns="0" tIns="0" rIns="0" bIns="0"/>
          <a:lstStyle>
            <a:lvl1pPr>
              <a:defRPr sz="1600" b="0" i="0">
                <a:solidFill>
                  <a:schemeClr val="tx1"/>
                </a:solidFill>
                <a:latin typeface="Arial MT"/>
                <a:cs typeface="Arial MT"/>
              </a:defRPr>
            </a:lvl1pPr>
          </a:lstStyle>
          <a:p>
            <a:endParaRPr/>
          </a:p>
        </p:txBody>
      </p:sp>
      <p:sp>
        <p:nvSpPr>
          <p:cNvPr id="3" name="Holder 3"/>
          <p:cNvSpPr>
            <a:spLocks noGrp="1"/>
          </p:cNvSpPr>
          <p:nvPr>
            <p:ph type="ftr" sz="quarter" idx="5"/>
          </p:nvPr>
        </p:nvSpPr>
        <p:spPr>
          <a:xfrm>
            <a:off x="3108960" y="6377940"/>
            <a:ext cx="2926080" cy="342900"/>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8/28/2021</a:t>
            </a:fld>
            <a:endParaRPr lang="en-US"/>
          </a:p>
        </p:txBody>
      </p:sp>
      <p:sp>
        <p:nvSpPr>
          <p:cNvPr id="5" name="Holder 5"/>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2732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4314F5-9B88-4A10-889F-F5ED679835B3}"/>
              </a:ext>
            </a:extLst>
          </p:cNvPr>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ID"/>
          </a:p>
        </p:txBody>
      </p:sp>
    </p:spTree>
    <p:extLst>
      <p:ext uri="{BB962C8B-B14F-4D97-AF65-F5344CB8AC3E}">
        <p14:creationId xmlns:p14="http://schemas.microsoft.com/office/powerpoint/2010/main" val="3649436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9F2F78-41F6-4DBD-A49B-20619A8622EC}"/>
              </a:ext>
            </a:extLst>
          </p:cNvPr>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ID"/>
          </a:p>
        </p:txBody>
      </p:sp>
    </p:spTree>
    <p:extLst>
      <p:ext uri="{BB962C8B-B14F-4D97-AF65-F5344CB8AC3E}">
        <p14:creationId xmlns:p14="http://schemas.microsoft.com/office/powerpoint/2010/main" val="426515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Title 21">
            <a:extLst>
              <a:ext uri="{FF2B5EF4-FFF2-40B4-BE49-F238E27FC236}">
                <a16:creationId xmlns="" xmlns:a16="http://schemas.microsoft.com/office/drawing/2014/main" id="{198065A5-1218-4E69-9EF0-90C3C2E671DF}"/>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3427945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F916FA04-1396-485D-A609-CD7E92522DD1}"/>
              </a:ext>
            </a:extLst>
          </p:cNvPr>
          <p:cNvCxnSpPr>
            <a:cxnSpLocks/>
          </p:cNvCxnSpPr>
          <p:nvPr userDrawn="1"/>
        </p:nvCxnSpPr>
        <p:spPr>
          <a:xfrm>
            <a:off x="0" y="683288"/>
            <a:ext cx="464233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 xmlns:a16="http://schemas.microsoft.com/office/drawing/2014/main" id="{1FFC4A87-0CB1-45CE-9554-8F044AAEC6AC}"/>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22612858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F916FA04-1396-485D-A609-CD7E92522DD1}"/>
              </a:ext>
            </a:extLst>
          </p:cNvPr>
          <p:cNvCxnSpPr>
            <a:cxnSpLocks/>
          </p:cNvCxnSpPr>
          <p:nvPr userDrawn="1"/>
        </p:nvCxnSpPr>
        <p:spPr>
          <a:xfrm>
            <a:off x="4501662" y="683288"/>
            <a:ext cx="464233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F52A5D29-0C74-4DB5-80AC-205E2980DEB0}"/>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1846121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2A08D90C-70B8-457C-95AE-141C49C3A3FB}"/>
              </a:ext>
            </a:extLst>
          </p:cNvPr>
          <p:cNvCxnSpPr>
            <a:cxnSpLocks/>
          </p:cNvCxnSpPr>
          <p:nvPr userDrawn="1"/>
        </p:nvCxnSpPr>
        <p:spPr>
          <a:xfrm>
            <a:off x="0" y="683288"/>
            <a:ext cx="9144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 xmlns:a16="http://schemas.microsoft.com/office/drawing/2014/main" id="{ABE849F3-B6DF-4217-B464-9130928C9C74}"/>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431926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33BEC2E1-0AD8-452E-87EC-4D9066322202}"/>
              </a:ext>
            </a:extLst>
          </p:cNvPr>
          <p:cNvSpPr/>
          <p:nvPr userDrawn="1"/>
        </p:nvSpPr>
        <p:spPr>
          <a:xfrm>
            <a:off x="0" y="0"/>
            <a:ext cx="9144000" cy="108522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4" name="Title 3">
            <a:extLst>
              <a:ext uri="{FF2B5EF4-FFF2-40B4-BE49-F238E27FC236}">
                <a16:creationId xmlns="" xmlns:a16="http://schemas.microsoft.com/office/drawing/2014/main" id="{22CC0ADF-8FA4-4472-9031-72E465CB401C}"/>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3897389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4EBE2D0A-6E5C-4A94-8EF1-D947C32EBE56}"/>
              </a:ext>
            </a:extLst>
          </p:cNvPr>
          <p:cNvSpPr/>
          <p:nvPr userDrawn="1"/>
        </p:nvSpPr>
        <p:spPr>
          <a:xfrm>
            <a:off x="0" y="80391"/>
            <a:ext cx="9144000" cy="63304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4" name="Title 3">
            <a:extLst>
              <a:ext uri="{FF2B5EF4-FFF2-40B4-BE49-F238E27FC236}">
                <a16:creationId xmlns="" xmlns:a16="http://schemas.microsoft.com/office/drawing/2014/main" id="{4898FCA4-6365-4601-85C8-B9BFB43B3CCD}"/>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3050219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6570B6C2-5A8A-40C2-AE98-493677E13A21}"/>
              </a:ext>
            </a:extLst>
          </p:cNvPr>
          <p:cNvSpPr/>
          <p:nvPr userDrawn="1"/>
        </p:nvSpPr>
        <p:spPr>
          <a:xfrm>
            <a:off x="0" y="60293"/>
            <a:ext cx="9144000" cy="4571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3" name="Title 2">
            <a:extLst>
              <a:ext uri="{FF2B5EF4-FFF2-40B4-BE49-F238E27FC236}">
                <a16:creationId xmlns="" xmlns:a16="http://schemas.microsoft.com/office/drawing/2014/main" id="{10892BB0-7181-4898-96B3-7ABD572DA6F9}"/>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519967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C3B74E-CCD6-46A2-96AD-028888784453}"/>
              </a:ext>
            </a:extLst>
          </p:cNvPr>
          <p:cNvSpPr>
            <a:spLocks noGrp="1"/>
          </p:cNvSpPr>
          <p:nvPr>
            <p:ph type="title"/>
          </p:nvPr>
        </p:nvSpPr>
        <p:spPr/>
        <p:txBody>
          <a:bodyPr/>
          <a:lstStyle/>
          <a:p>
            <a:r>
              <a:rPr lang="en-US" smtClean="0"/>
              <a:t>Click to edit Master title style</a:t>
            </a:r>
            <a:endParaRPr lang="en-ID"/>
          </a:p>
        </p:txBody>
      </p:sp>
    </p:spTree>
    <p:extLst>
      <p:ext uri="{BB962C8B-B14F-4D97-AF65-F5344CB8AC3E}">
        <p14:creationId xmlns:p14="http://schemas.microsoft.com/office/powerpoint/2010/main" val="1191960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2CF78D-0AC0-4E71-8350-3BC2A8E43060}"/>
              </a:ext>
            </a:extLst>
          </p:cNvPr>
          <p:cNvSpPr>
            <a:spLocks noGrp="1"/>
          </p:cNvSpPr>
          <p:nvPr>
            <p:ph type="title"/>
          </p:nvPr>
        </p:nvSpPr>
        <p:spPr>
          <a:xfrm>
            <a:off x="628650" y="365126"/>
            <a:ext cx="7886700" cy="1325563"/>
          </a:xfrm>
          <a:prstGeom prst="rect">
            <a:avLst/>
          </a:prstGeom>
        </p:spPr>
        <p:txBody>
          <a:bodyPr/>
          <a:lstStyle/>
          <a:p>
            <a:r>
              <a:rPr lang="en-US" smtClean="0"/>
              <a:t>Click to edit Master title style</a:t>
            </a:r>
            <a:endParaRPr lang="en-ID"/>
          </a:p>
        </p:txBody>
      </p:sp>
    </p:spTree>
    <p:extLst>
      <p:ext uri="{BB962C8B-B14F-4D97-AF65-F5344CB8AC3E}">
        <p14:creationId xmlns:p14="http://schemas.microsoft.com/office/powerpoint/2010/main" val="525504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10"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theme" Target="../theme/theme3.xml"/><Relationship Id="rId4"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10.xml"/><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8.png"/><Relationship Id="rId4" Type="http://schemas.openxmlformats.org/officeDocument/2006/relationships/slideLayout" Target="../slideLayouts/slideLayout15.xml"/><Relationship Id="rId9"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19.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20.xml"/><Relationship Id="rId5" Type="http://schemas.openxmlformats.org/officeDocument/2006/relationships/image" Target="../media/image8.png"/><Relationship Id="rId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F6310508-6870-44FB-B67F-C3F1350DB66D}"/>
              </a:ext>
            </a:extLst>
          </p:cNvPr>
          <p:cNvSpPr/>
          <p:nvPr/>
        </p:nvSpPr>
        <p:spPr>
          <a:xfrm>
            <a:off x="0" y="1"/>
            <a:ext cx="9144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731" y="38925"/>
            <a:ext cx="839462" cy="1086491"/>
          </a:xfrm>
          <a:prstGeom prst="rect">
            <a:avLst/>
          </a:prstGeom>
        </p:spPr>
      </p:pic>
      <p:sp>
        <p:nvSpPr>
          <p:cNvPr id="2" name="TextBox 1">
            <a:extLst>
              <a:ext uri="{FF2B5EF4-FFF2-40B4-BE49-F238E27FC236}">
                <a16:creationId xmlns="" xmlns:a16="http://schemas.microsoft.com/office/drawing/2014/main" id="{6456D31B-DA89-4FCC-A0CF-973CBA8BD493}"/>
              </a:ext>
            </a:extLst>
          </p:cNvPr>
          <p:cNvSpPr txBox="1"/>
          <p:nvPr/>
        </p:nvSpPr>
        <p:spPr>
          <a:xfrm>
            <a:off x="914194" y="166671"/>
            <a:ext cx="4414577" cy="646331"/>
          </a:xfrm>
          <a:prstGeom prst="rect">
            <a:avLst/>
          </a:prstGeom>
          <a:noFill/>
        </p:spPr>
        <p:txBody>
          <a:bodyPr wrap="square" rtlCol="0">
            <a:spAutoFit/>
          </a:bodyPr>
          <a:lstStyle/>
          <a:p>
            <a:pPr algn="just"/>
            <a:r>
              <a:rPr lang="en-US" sz="1800" dirty="0"/>
              <a:t>PROGRAM STUDI S1 TEKNIK INFORMATIKA</a:t>
            </a:r>
            <a:br>
              <a:rPr lang="en-US" sz="1800" dirty="0"/>
            </a:br>
            <a:r>
              <a:rPr lang="en-US" sz="1800" dirty="0"/>
              <a:t>UNIVERSITAS PAMULANG</a:t>
            </a:r>
            <a:endParaRPr lang="en-ID" sz="1800" dirty="0"/>
          </a:p>
        </p:txBody>
      </p:sp>
      <p:pic>
        <p:nvPicPr>
          <p:cNvPr id="5" name="Picture 4">
            <a:extLst>
              <a:ext uri="{FF2B5EF4-FFF2-40B4-BE49-F238E27FC236}">
                <a16:creationId xmlns="" xmlns:a16="http://schemas.microsoft.com/office/drawing/2014/main" id="{C960A43D-3921-41B8-B4DC-C239EAEA847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36264" y="0"/>
            <a:ext cx="1607736" cy="1205802"/>
          </a:xfrm>
          <a:prstGeom prst="rect">
            <a:avLst/>
          </a:prstGeom>
        </p:spPr>
      </p:pic>
      <p:sp>
        <p:nvSpPr>
          <p:cNvPr id="6" name="Title Placeholder 5">
            <a:extLst>
              <a:ext uri="{FF2B5EF4-FFF2-40B4-BE49-F238E27FC236}">
                <a16:creationId xmlns="" xmlns:a16="http://schemas.microsoft.com/office/drawing/2014/main" id="{36AE1D4B-E2EF-47C4-A1A7-5689711E6FCE}"/>
              </a:ext>
            </a:extLst>
          </p:cNvPr>
          <p:cNvSpPr>
            <a:spLocks noGrp="1"/>
          </p:cNvSpPr>
          <p:nvPr>
            <p:ph type="title"/>
          </p:nvPr>
        </p:nvSpPr>
        <p:spPr>
          <a:xfrm>
            <a:off x="628650" y="1204467"/>
            <a:ext cx="7886700" cy="1325563"/>
          </a:xfrm>
          <a:prstGeom prst="rect">
            <a:avLst/>
          </a:prstGeom>
        </p:spPr>
        <p:txBody>
          <a:bodyPr vert="horz" lIns="91440" tIns="45720" rIns="91440" bIns="45720" rtlCol="0" anchor="ctr">
            <a:normAutofit/>
          </a:bodyPr>
          <a:lstStyle/>
          <a:p>
            <a:r>
              <a:rPr lang="en-US" smtClean="0"/>
              <a:t>Click to edit Master title style</a:t>
            </a:r>
            <a:endParaRPr lang="en-ID"/>
          </a:p>
        </p:txBody>
      </p:sp>
      <p:sp>
        <p:nvSpPr>
          <p:cNvPr id="3" name="Flowchart: Process 2">
            <a:extLst>
              <a:ext uri="{FF2B5EF4-FFF2-40B4-BE49-F238E27FC236}">
                <a16:creationId xmlns="" xmlns:a16="http://schemas.microsoft.com/office/drawing/2014/main" id="{59788E57-52DB-4E2B-A81F-D18E71DA02CB}"/>
              </a:ext>
            </a:extLst>
          </p:cNvPr>
          <p:cNvSpPr/>
          <p:nvPr/>
        </p:nvSpPr>
        <p:spPr>
          <a:xfrm>
            <a:off x="0" y="6360608"/>
            <a:ext cx="9144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8" name="Picture 7">
            <a:extLst>
              <a:ext uri="{FF2B5EF4-FFF2-40B4-BE49-F238E27FC236}">
                <a16:creationId xmlns="" xmlns:a16="http://schemas.microsoft.com/office/drawing/2014/main" id="{EE8BF5A5-79AC-4428-A4CF-F44278AA4D6F}"/>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5441" y="6422940"/>
            <a:ext cx="339764" cy="439110"/>
          </a:xfrm>
          <a:prstGeom prst="rect">
            <a:avLst/>
          </a:prstGeom>
        </p:spPr>
      </p:pic>
      <p:pic>
        <p:nvPicPr>
          <p:cNvPr id="12" name="Picture 11">
            <a:extLst>
              <a:ext uri="{FF2B5EF4-FFF2-40B4-BE49-F238E27FC236}">
                <a16:creationId xmlns="" xmlns:a16="http://schemas.microsoft.com/office/drawing/2014/main" id="{0F13C787-49DC-45B2-99DA-FD9DF4541EF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732" y="6419058"/>
            <a:ext cx="285368" cy="380491"/>
          </a:xfrm>
          <a:prstGeom prst="rect">
            <a:avLst/>
          </a:prstGeom>
        </p:spPr>
      </p:pic>
      <p:sp>
        <p:nvSpPr>
          <p:cNvPr id="13" name="TextBox 12">
            <a:extLst>
              <a:ext uri="{FF2B5EF4-FFF2-40B4-BE49-F238E27FC236}">
                <a16:creationId xmlns="" xmlns:a16="http://schemas.microsoft.com/office/drawing/2014/main" id="{AC0EC3BD-0F33-4AAF-A3A2-953764A0D99A}"/>
              </a:ext>
            </a:extLst>
          </p:cNvPr>
          <p:cNvSpPr txBox="1"/>
          <p:nvPr/>
        </p:nvSpPr>
        <p:spPr>
          <a:xfrm>
            <a:off x="360100" y="6412026"/>
            <a:ext cx="1345223" cy="300082"/>
          </a:xfrm>
          <a:prstGeom prst="rect">
            <a:avLst/>
          </a:prstGeom>
          <a:noFill/>
        </p:spPr>
        <p:txBody>
          <a:bodyPr wrap="square" rtlCol="0">
            <a:spAutoFit/>
          </a:bodyPr>
          <a:lstStyle/>
          <a:p>
            <a:r>
              <a:rPr lang="en-US" sz="1350" dirty="0" err="1"/>
              <a:t>InfoTI_unpam</a:t>
            </a:r>
            <a:endParaRPr lang="en-ID" sz="1350" dirty="0"/>
          </a:p>
        </p:txBody>
      </p:sp>
      <p:sp>
        <p:nvSpPr>
          <p:cNvPr id="14" name="TextBox 13">
            <a:extLst>
              <a:ext uri="{FF2B5EF4-FFF2-40B4-BE49-F238E27FC236}">
                <a16:creationId xmlns="" xmlns:a16="http://schemas.microsoft.com/office/drawing/2014/main" id="{60CFA357-EB7B-4C90-B08D-FF68109B966A}"/>
              </a:ext>
            </a:extLst>
          </p:cNvPr>
          <p:cNvSpPr txBox="1"/>
          <p:nvPr/>
        </p:nvSpPr>
        <p:spPr>
          <a:xfrm>
            <a:off x="1895542" y="6412026"/>
            <a:ext cx="2023316" cy="300082"/>
          </a:xfrm>
          <a:prstGeom prst="rect">
            <a:avLst/>
          </a:prstGeom>
          <a:noFill/>
        </p:spPr>
        <p:txBody>
          <a:bodyPr wrap="square" rtlCol="0">
            <a:spAutoFit/>
          </a:bodyPr>
          <a:lstStyle/>
          <a:p>
            <a:r>
              <a:rPr lang="en-US" sz="1350" dirty="0"/>
              <a:t>informatika.unpam.ac.id</a:t>
            </a:r>
            <a:endParaRPr lang="en-ID" sz="1350" dirty="0"/>
          </a:p>
        </p:txBody>
      </p:sp>
      <p:pic>
        <p:nvPicPr>
          <p:cNvPr id="16" name="Picture 15">
            <a:extLst>
              <a:ext uri="{FF2B5EF4-FFF2-40B4-BE49-F238E27FC236}">
                <a16:creationId xmlns="" xmlns:a16="http://schemas.microsoft.com/office/drawing/2014/main" id="{C10FF8DC-21DB-400A-A27F-9751868D2AF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582997" y="6412027"/>
            <a:ext cx="486272" cy="458733"/>
          </a:xfrm>
          <a:prstGeom prst="rect">
            <a:avLst/>
          </a:prstGeom>
        </p:spPr>
      </p:pic>
    </p:spTree>
    <p:extLst>
      <p:ext uri="{BB962C8B-B14F-4D97-AF65-F5344CB8AC3E}">
        <p14:creationId xmlns:p14="http://schemas.microsoft.com/office/powerpoint/2010/main" val="216820475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5">
            <a:extLst>
              <a:ext uri="{FF2B5EF4-FFF2-40B4-BE49-F238E27FC236}">
                <a16:creationId xmlns="" xmlns:a16="http://schemas.microsoft.com/office/drawing/2014/main" id="{36AE1D4B-E2EF-47C4-A1A7-5689711E6FCE}"/>
              </a:ext>
            </a:extLst>
          </p:cNvPr>
          <p:cNvSpPr>
            <a:spLocks noGrp="1"/>
          </p:cNvSpPr>
          <p:nvPr>
            <p:ph type="title"/>
          </p:nvPr>
        </p:nvSpPr>
        <p:spPr>
          <a:xfrm>
            <a:off x="628650" y="1204467"/>
            <a:ext cx="7886700" cy="1325563"/>
          </a:xfrm>
          <a:prstGeom prst="rect">
            <a:avLst/>
          </a:prstGeom>
        </p:spPr>
        <p:txBody>
          <a:bodyPr vert="horz" lIns="91440" tIns="45720" rIns="91440" bIns="45720" rtlCol="0" anchor="ctr">
            <a:normAutofit/>
          </a:bodyPr>
          <a:lstStyle/>
          <a:p>
            <a:r>
              <a:rPr lang="en-US" smtClean="0"/>
              <a:t>Click to edit Master title style</a:t>
            </a:r>
            <a:endParaRPr lang="en-ID"/>
          </a:p>
        </p:txBody>
      </p:sp>
      <p:sp>
        <p:nvSpPr>
          <p:cNvPr id="3" name="Flowchart: Process 2">
            <a:extLst>
              <a:ext uri="{FF2B5EF4-FFF2-40B4-BE49-F238E27FC236}">
                <a16:creationId xmlns="" xmlns:a16="http://schemas.microsoft.com/office/drawing/2014/main" id="{59788E57-52DB-4E2B-A81F-D18E71DA02CB}"/>
              </a:ext>
            </a:extLst>
          </p:cNvPr>
          <p:cNvSpPr/>
          <p:nvPr/>
        </p:nvSpPr>
        <p:spPr>
          <a:xfrm>
            <a:off x="0" y="6360608"/>
            <a:ext cx="9144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8" name="Picture 7">
            <a:extLst>
              <a:ext uri="{FF2B5EF4-FFF2-40B4-BE49-F238E27FC236}">
                <a16:creationId xmlns="" xmlns:a16="http://schemas.microsoft.com/office/drawing/2014/main" id="{EE8BF5A5-79AC-4428-A4CF-F44278AA4D6F}"/>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5441" y="6422940"/>
            <a:ext cx="339764" cy="439110"/>
          </a:xfrm>
          <a:prstGeom prst="rect">
            <a:avLst/>
          </a:prstGeom>
        </p:spPr>
      </p:pic>
      <p:pic>
        <p:nvPicPr>
          <p:cNvPr id="12" name="Picture 11">
            <a:extLst>
              <a:ext uri="{FF2B5EF4-FFF2-40B4-BE49-F238E27FC236}">
                <a16:creationId xmlns="" xmlns:a16="http://schemas.microsoft.com/office/drawing/2014/main" id="{0F13C787-49DC-45B2-99DA-FD9DF4541E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732" y="6419058"/>
            <a:ext cx="285368" cy="380491"/>
          </a:xfrm>
          <a:prstGeom prst="rect">
            <a:avLst/>
          </a:prstGeom>
        </p:spPr>
      </p:pic>
      <p:sp>
        <p:nvSpPr>
          <p:cNvPr id="13" name="TextBox 12">
            <a:extLst>
              <a:ext uri="{FF2B5EF4-FFF2-40B4-BE49-F238E27FC236}">
                <a16:creationId xmlns="" xmlns:a16="http://schemas.microsoft.com/office/drawing/2014/main" id="{AC0EC3BD-0F33-4AAF-A3A2-953764A0D99A}"/>
              </a:ext>
            </a:extLst>
          </p:cNvPr>
          <p:cNvSpPr txBox="1"/>
          <p:nvPr/>
        </p:nvSpPr>
        <p:spPr>
          <a:xfrm>
            <a:off x="360100" y="6412026"/>
            <a:ext cx="1345223" cy="300082"/>
          </a:xfrm>
          <a:prstGeom prst="rect">
            <a:avLst/>
          </a:prstGeom>
          <a:noFill/>
        </p:spPr>
        <p:txBody>
          <a:bodyPr wrap="square" rtlCol="0">
            <a:spAutoFit/>
          </a:bodyPr>
          <a:lstStyle/>
          <a:p>
            <a:r>
              <a:rPr lang="en-US" sz="1350" dirty="0" err="1"/>
              <a:t>InfoTI_unpam</a:t>
            </a:r>
            <a:endParaRPr lang="en-ID" sz="1350" dirty="0"/>
          </a:p>
        </p:txBody>
      </p:sp>
      <p:sp>
        <p:nvSpPr>
          <p:cNvPr id="14" name="TextBox 13">
            <a:extLst>
              <a:ext uri="{FF2B5EF4-FFF2-40B4-BE49-F238E27FC236}">
                <a16:creationId xmlns="" xmlns:a16="http://schemas.microsoft.com/office/drawing/2014/main" id="{60CFA357-EB7B-4C90-B08D-FF68109B966A}"/>
              </a:ext>
            </a:extLst>
          </p:cNvPr>
          <p:cNvSpPr txBox="1"/>
          <p:nvPr/>
        </p:nvSpPr>
        <p:spPr>
          <a:xfrm>
            <a:off x="1895542" y="6412026"/>
            <a:ext cx="2023316" cy="300082"/>
          </a:xfrm>
          <a:prstGeom prst="rect">
            <a:avLst/>
          </a:prstGeom>
          <a:noFill/>
        </p:spPr>
        <p:txBody>
          <a:bodyPr wrap="square" rtlCol="0">
            <a:spAutoFit/>
          </a:bodyPr>
          <a:lstStyle/>
          <a:p>
            <a:r>
              <a:rPr lang="en-US" sz="1350" dirty="0"/>
              <a:t>informatika.unpam.ac.id</a:t>
            </a:r>
            <a:endParaRPr lang="en-ID" sz="1350" dirty="0"/>
          </a:p>
        </p:txBody>
      </p:sp>
      <p:pic>
        <p:nvPicPr>
          <p:cNvPr id="16" name="Picture 15">
            <a:extLst>
              <a:ext uri="{FF2B5EF4-FFF2-40B4-BE49-F238E27FC236}">
                <a16:creationId xmlns="" xmlns:a16="http://schemas.microsoft.com/office/drawing/2014/main" id="{C10FF8DC-21DB-400A-A27F-9751868D2A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2997" y="6412027"/>
            <a:ext cx="486272" cy="458733"/>
          </a:xfrm>
          <a:prstGeom prst="rect">
            <a:avLst/>
          </a:prstGeom>
        </p:spPr>
      </p:pic>
      <p:pic>
        <p:nvPicPr>
          <p:cNvPr id="15" name="Picture 14">
            <a:extLst>
              <a:ext uri="{FF2B5EF4-FFF2-40B4-BE49-F238E27FC236}">
                <a16:creationId xmlns="" xmlns:a16="http://schemas.microsoft.com/office/drawing/2014/main" id="{70E9772E-AF4F-4C17-B477-D78352308CB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98692" y="6366986"/>
            <a:ext cx="384305" cy="497394"/>
          </a:xfrm>
          <a:prstGeom prst="rect">
            <a:avLst/>
          </a:prstGeom>
        </p:spPr>
      </p:pic>
    </p:spTree>
    <p:extLst>
      <p:ext uri="{BB962C8B-B14F-4D97-AF65-F5344CB8AC3E}">
        <p14:creationId xmlns:p14="http://schemas.microsoft.com/office/powerpoint/2010/main" val="1345575473"/>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 xmlns:a16="http://schemas.microsoft.com/office/drawing/2014/main" id="{0FE1B4E5-ADBE-44E9-94B8-12353259E240}"/>
              </a:ext>
            </a:extLst>
          </p:cNvPr>
          <p:cNvSpPr/>
          <p:nvPr/>
        </p:nvSpPr>
        <p:spPr>
          <a:xfrm rot="16200000">
            <a:off x="7421965" y="5135961"/>
            <a:ext cx="1884065" cy="156000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7" name="Rectangle 6">
            <a:extLst>
              <a:ext uri="{FF2B5EF4-FFF2-40B4-BE49-F238E27FC236}">
                <a16:creationId xmlns="" xmlns:a16="http://schemas.microsoft.com/office/drawing/2014/main" id="{F6310508-6870-44FB-B67F-C3F1350DB66D}"/>
              </a:ext>
            </a:extLst>
          </p:cNvPr>
          <p:cNvSpPr/>
          <p:nvPr/>
        </p:nvSpPr>
        <p:spPr>
          <a:xfrm>
            <a:off x="0" y="6211615"/>
            <a:ext cx="9144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Program </a:t>
            </a:r>
            <a:r>
              <a:rPr lang="en-US" sz="1500" dirty="0" err="1">
                <a:solidFill>
                  <a:schemeClr val="tx1"/>
                </a:solidFill>
              </a:rPr>
              <a:t>Studi</a:t>
            </a:r>
            <a:r>
              <a:rPr lang="en-US" sz="1500" dirty="0">
                <a:solidFill>
                  <a:schemeClr val="tx1"/>
                </a:solidFill>
              </a:rPr>
              <a:t> Teknik </a:t>
            </a:r>
            <a:r>
              <a:rPr lang="en-US" sz="1500" dirty="0" err="1">
                <a:solidFill>
                  <a:schemeClr val="tx1"/>
                </a:solidFill>
              </a:rPr>
              <a:t>Informatika</a:t>
            </a:r>
            <a:r>
              <a:rPr lang="en-US" sz="1500" dirty="0">
                <a:solidFill>
                  <a:schemeClr val="tx1"/>
                </a:solidFill>
              </a:rPr>
              <a:t>, Universitas </a:t>
            </a:r>
            <a:r>
              <a:rPr lang="en-US" sz="1500" dirty="0" err="1">
                <a:solidFill>
                  <a:schemeClr val="tx1"/>
                </a:solidFill>
              </a:rPr>
              <a:t>Pamulang</a:t>
            </a: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p:nvSpPr>
        <p:spPr>
          <a:xfrm>
            <a:off x="0" y="5074416"/>
            <a:ext cx="1198266"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24379" y="5725289"/>
            <a:ext cx="781941"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436" y="5864994"/>
            <a:ext cx="1052616" cy="993004"/>
          </a:xfrm>
          <a:prstGeom prst="rect">
            <a:avLst/>
          </a:prstGeom>
        </p:spPr>
      </p:pic>
      <p:sp>
        <p:nvSpPr>
          <p:cNvPr id="2" name="TextBox 1">
            <a:extLst>
              <a:ext uri="{FF2B5EF4-FFF2-40B4-BE49-F238E27FC236}">
                <a16:creationId xmlns="" xmlns:a16="http://schemas.microsoft.com/office/drawing/2014/main" id="{A7710A05-4BC0-4640-9166-A8A038BAD88C}"/>
              </a:ext>
            </a:extLst>
          </p:cNvPr>
          <p:cNvSpPr txBox="1"/>
          <p:nvPr/>
        </p:nvSpPr>
        <p:spPr>
          <a:xfrm>
            <a:off x="2924071" y="2622620"/>
            <a:ext cx="3896249" cy="715581"/>
          </a:xfrm>
          <a:prstGeom prst="rect">
            <a:avLst/>
          </a:prstGeom>
          <a:noFill/>
        </p:spPr>
        <p:txBody>
          <a:bodyPr wrap="square" rtlCol="0">
            <a:spAutoFit/>
          </a:bodyPr>
          <a:lstStyle/>
          <a:p>
            <a:r>
              <a:rPr lang="en-US" sz="4050" dirty="0"/>
              <a:t>TERIMA KASIH</a:t>
            </a:r>
            <a:endParaRPr lang="en-ID" sz="4050" dirty="0"/>
          </a:p>
        </p:txBody>
      </p:sp>
    </p:spTree>
    <p:extLst>
      <p:ext uri="{BB962C8B-B14F-4D97-AF65-F5344CB8AC3E}">
        <p14:creationId xmlns:p14="http://schemas.microsoft.com/office/powerpoint/2010/main" val="2762243865"/>
      </p:ext>
    </p:extLst>
  </p:cSld>
  <p:clrMap bg1="lt1" tx1="dk1" bg2="lt2" tx2="dk2" accent1="accent1" accent2="accent2" accent3="accent3" accent4="accent4" accent5="accent5" accent6="accent6" hlink="hlink" folHlink="folHlink"/>
  <p:sldLayoutIdLst>
    <p:sldLayoutId id="2147483674" r:id="rId1"/>
    <p:sldLayoutId id="2147483691" r:id="rId2"/>
    <p:sldLayoutId id="2147483692" r:id="rId3"/>
    <p:sldLayoutId id="2147483693"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 xmlns:a16="http://schemas.microsoft.com/office/drawing/2014/main" id="{0FE1B4E5-ADBE-44E9-94B8-12353259E240}"/>
              </a:ext>
            </a:extLst>
          </p:cNvPr>
          <p:cNvSpPr/>
          <p:nvPr/>
        </p:nvSpPr>
        <p:spPr>
          <a:xfrm rot="16200000">
            <a:off x="7421965" y="5135961"/>
            <a:ext cx="1884065" cy="156000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7" name="Rectangle 6">
            <a:extLst>
              <a:ext uri="{FF2B5EF4-FFF2-40B4-BE49-F238E27FC236}">
                <a16:creationId xmlns="" xmlns:a16="http://schemas.microsoft.com/office/drawing/2014/main" id="{F6310508-6870-44FB-B67F-C3F1350DB66D}"/>
              </a:ext>
            </a:extLst>
          </p:cNvPr>
          <p:cNvSpPr/>
          <p:nvPr/>
        </p:nvSpPr>
        <p:spPr>
          <a:xfrm>
            <a:off x="0" y="6211615"/>
            <a:ext cx="9144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Program </a:t>
            </a:r>
            <a:r>
              <a:rPr lang="en-US" sz="1500" dirty="0" err="1">
                <a:solidFill>
                  <a:schemeClr val="tx1"/>
                </a:solidFill>
              </a:rPr>
              <a:t>Studi</a:t>
            </a:r>
            <a:r>
              <a:rPr lang="en-US" sz="1500" dirty="0">
                <a:solidFill>
                  <a:schemeClr val="tx1"/>
                </a:solidFill>
              </a:rPr>
              <a:t> Teknik </a:t>
            </a:r>
            <a:r>
              <a:rPr lang="en-US" sz="1500" dirty="0" err="1">
                <a:solidFill>
                  <a:schemeClr val="tx1"/>
                </a:solidFill>
              </a:rPr>
              <a:t>Informatika</a:t>
            </a:r>
            <a:r>
              <a:rPr lang="en-US" sz="1500" dirty="0">
                <a:solidFill>
                  <a:schemeClr val="tx1"/>
                </a:solidFill>
              </a:rPr>
              <a:t>, Universitas </a:t>
            </a:r>
            <a:r>
              <a:rPr lang="en-US" sz="1500" dirty="0" err="1">
                <a:solidFill>
                  <a:schemeClr val="tx1"/>
                </a:solidFill>
              </a:rPr>
              <a:t>Pamulang</a:t>
            </a: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p:nvSpPr>
        <p:spPr>
          <a:xfrm>
            <a:off x="0" y="5074416"/>
            <a:ext cx="1198266"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4379" y="5725289"/>
            <a:ext cx="781941"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436" y="5864994"/>
            <a:ext cx="1052616" cy="993004"/>
          </a:xfrm>
          <a:prstGeom prst="rect">
            <a:avLst/>
          </a:prstGeom>
        </p:spPr>
      </p:pic>
      <p:sp>
        <p:nvSpPr>
          <p:cNvPr id="6" name="Flowchart: Process 5">
            <a:extLst>
              <a:ext uri="{FF2B5EF4-FFF2-40B4-BE49-F238E27FC236}">
                <a16:creationId xmlns="" xmlns:a16="http://schemas.microsoft.com/office/drawing/2014/main" id="{38F377F8-55ED-4437-98B9-2D2AA5DD3B4A}"/>
              </a:ext>
            </a:extLst>
          </p:cNvPr>
          <p:cNvSpPr/>
          <p:nvPr/>
        </p:nvSpPr>
        <p:spPr>
          <a:xfrm>
            <a:off x="0" y="2582427"/>
            <a:ext cx="9144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TERIMA KASIH, MAHASISWA TEKNIK INFORMATIKA UNGGUL, ANDA SUDAH BELAJAR DENGAN LUAR BIASA</a:t>
            </a:r>
            <a:endParaRPr lang="en-ID" sz="1350" dirty="0"/>
          </a:p>
        </p:txBody>
      </p:sp>
    </p:spTree>
    <p:extLst>
      <p:ext uri="{BB962C8B-B14F-4D97-AF65-F5344CB8AC3E}">
        <p14:creationId xmlns:p14="http://schemas.microsoft.com/office/powerpoint/2010/main" val="3039513537"/>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365A30DD-8BE8-42A1-85CC-D069AF516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057400"/>
            <a:ext cx="3657600" cy="2743200"/>
          </a:xfrm>
          <a:prstGeom prst="rect">
            <a:avLst/>
          </a:prstGeom>
        </p:spPr>
      </p:pic>
      <p:sp>
        <p:nvSpPr>
          <p:cNvPr id="9" name="Right Triangle 8">
            <a:extLst>
              <a:ext uri="{FF2B5EF4-FFF2-40B4-BE49-F238E27FC236}">
                <a16:creationId xmlns="" xmlns:a16="http://schemas.microsoft.com/office/drawing/2014/main" id="{0FE1B4E5-ADBE-44E9-94B8-12353259E240}"/>
              </a:ext>
            </a:extLst>
          </p:cNvPr>
          <p:cNvSpPr/>
          <p:nvPr/>
        </p:nvSpPr>
        <p:spPr>
          <a:xfrm rot="16200000">
            <a:off x="7421965" y="5135961"/>
            <a:ext cx="1884065" cy="156000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7" name="Rectangle 6">
            <a:extLst>
              <a:ext uri="{FF2B5EF4-FFF2-40B4-BE49-F238E27FC236}">
                <a16:creationId xmlns="" xmlns:a16="http://schemas.microsoft.com/office/drawing/2014/main" id="{F6310508-6870-44FB-B67F-C3F1350DB66D}"/>
              </a:ext>
            </a:extLst>
          </p:cNvPr>
          <p:cNvSpPr/>
          <p:nvPr/>
        </p:nvSpPr>
        <p:spPr>
          <a:xfrm>
            <a:off x="0" y="6211615"/>
            <a:ext cx="9144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Program </a:t>
            </a:r>
            <a:r>
              <a:rPr lang="en-US" sz="1500" dirty="0" err="1">
                <a:solidFill>
                  <a:schemeClr val="tx1"/>
                </a:solidFill>
              </a:rPr>
              <a:t>Studi</a:t>
            </a:r>
            <a:r>
              <a:rPr lang="en-US" sz="1500" dirty="0">
                <a:solidFill>
                  <a:schemeClr val="tx1"/>
                </a:solidFill>
              </a:rPr>
              <a:t> Teknik </a:t>
            </a:r>
            <a:r>
              <a:rPr lang="en-US" sz="1500" dirty="0" err="1">
                <a:solidFill>
                  <a:schemeClr val="tx1"/>
                </a:solidFill>
              </a:rPr>
              <a:t>Informatika</a:t>
            </a:r>
            <a:r>
              <a:rPr lang="en-US" sz="1500" dirty="0">
                <a:solidFill>
                  <a:schemeClr val="tx1"/>
                </a:solidFill>
              </a:rPr>
              <a:t>, Universitas </a:t>
            </a:r>
            <a:r>
              <a:rPr lang="en-US" sz="1500" dirty="0" err="1">
                <a:solidFill>
                  <a:schemeClr val="tx1"/>
                </a:solidFill>
              </a:rPr>
              <a:t>Pamulang</a:t>
            </a: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p:nvSpPr>
        <p:spPr>
          <a:xfrm>
            <a:off x="0" y="5074416"/>
            <a:ext cx="1198266"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24379" y="5725289"/>
            <a:ext cx="781941"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436" y="5864994"/>
            <a:ext cx="1052616" cy="993004"/>
          </a:xfrm>
          <a:prstGeom prst="rect">
            <a:avLst/>
          </a:prstGeom>
        </p:spPr>
      </p:pic>
      <p:sp>
        <p:nvSpPr>
          <p:cNvPr id="6" name="Flowchart: Process 5">
            <a:extLst>
              <a:ext uri="{FF2B5EF4-FFF2-40B4-BE49-F238E27FC236}">
                <a16:creationId xmlns="" xmlns:a16="http://schemas.microsoft.com/office/drawing/2014/main" id="{38F377F8-55ED-4437-98B9-2D2AA5DD3B4A}"/>
              </a:ext>
            </a:extLst>
          </p:cNvPr>
          <p:cNvSpPr/>
          <p:nvPr/>
        </p:nvSpPr>
        <p:spPr>
          <a:xfrm>
            <a:off x="0" y="1"/>
            <a:ext cx="9144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TERIMA KASIH, MAHASISWA TEKNIK INFORMATIKA UNGGUL, ANDA SUDAH BELAJAR DENGAN LUAR BIASA</a:t>
            </a:r>
            <a:endParaRPr lang="en-ID" sz="1350" dirty="0"/>
          </a:p>
        </p:txBody>
      </p:sp>
    </p:spTree>
    <p:extLst>
      <p:ext uri="{BB962C8B-B14F-4D97-AF65-F5344CB8AC3E}">
        <p14:creationId xmlns:p14="http://schemas.microsoft.com/office/powerpoint/2010/main" val="1516356707"/>
      </p:ext>
    </p:extLst>
  </p:cSld>
  <p:clrMap bg1="lt1" tx1="dk1" bg2="lt2" tx2="dk2" accent1="accent1" accent2="accent2" accent3="accent3" accent4="accent4" accent5="accent5" accent6="accent6" hlink="hlink" folHlink="folHlink"/>
  <p:sldLayoutIdLst>
    <p:sldLayoutId id="2147483678"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 xmlns:a16="http://schemas.microsoft.com/office/drawing/2014/main" id="{0FE1B4E5-ADBE-44E9-94B8-12353259E240}"/>
              </a:ext>
            </a:extLst>
          </p:cNvPr>
          <p:cNvSpPr/>
          <p:nvPr/>
        </p:nvSpPr>
        <p:spPr>
          <a:xfrm rot="16200000">
            <a:off x="7421965" y="5135961"/>
            <a:ext cx="1884065" cy="156000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7" name="Rectangle 6">
            <a:extLst>
              <a:ext uri="{FF2B5EF4-FFF2-40B4-BE49-F238E27FC236}">
                <a16:creationId xmlns="" xmlns:a16="http://schemas.microsoft.com/office/drawing/2014/main" id="{F6310508-6870-44FB-B67F-C3F1350DB66D}"/>
              </a:ext>
            </a:extLst>
          </p:cNvPr>
          <p:cNvSpPr/>
          <p:nvPr/>
        </p:nvSpPr>
        <p:spPr>
          <a:xfrm>
            <a:off x="0" y="6211615"/>
            <a:ext cx="9144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Program </a:t>
            </a:r>
            <a:r>
              <a:rPr lang="en-US" sz="1500" dirty="0" err="1">
                <a:solidFill>
                  <a:schemeClr val="tx1"/>
                </a:solidFill>
              </a:rPr>
              <a:t>Studi</a:t>
            </a:r>
            <a:r>
              <a:rPr lang="en-US" sz="1500" dirty="0">
                <a:solidFill>
                  <a:schemeClr val="tx1"/>
                </a:solidFill>
              </a:rPr>
              <a:t> Teknik </a:t>
            </a:r>
            <a:r>
              <a:rPr lang="en-US" sz="1500" dirty="0" err="1">
                <a:solidFill>
                  <a:schemeClr val="tx1"/>
                </a:solidFill>
              </a:rPr>
              <a:t>Informatika</a:t>
            </a:r>
            <a:r>
              <a:rPr lang="en-US" sz="1500" dirty="0">
                <a:solidFill>
                  <a:schemeClr val="tx1"/>
                </a:solidFill>
              </a:rPr>
              <a:t>, Universitas </a:t>
            </a:r>
            <a:r>
              <a:rPr lang="en-US" sz="1500" dirty="0" err="1">
                <a:solidFill>
                  <a:schemeClr val="tx1"/>
                </a:solidFill>
              </a:rPr>
              <a:t>Pamulang</a:t>
            </a: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p:nvSpPr>
        <p:spPr>
          <a:xfrm>
            <a:off x="0" y="5074416"/>
            <a:ext cx="1198266"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324379" y="5725289"/>
            <a:ext cx="781941"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0436" y="5864994"/>
            <a:ext cx="1052616" cy="993004"/>
          </a:xfrm>
          <a:prstGeom prst="rect">
            <a:avLst/>
          </a:prstGeom>
        </p:spPr>
      </p:pic>
      <p:sp>
        <p:nvSpPr>
          <p:cNvPr id="34" name="Text Placeholder 33">
            <a:extLst>
              <a:ext uri="{FF2B5EF4-FFF2-40B4-BE49-F238E27FC236}">
                <a16:creationId xmlns="" xmlns:a16="http://schemas.microsoft.com/office/drawing/2014/main" id="{73922ECC-A830-4C03-9B45-AEB8C3D23C3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D" dirty="0"/>
          </a:p>
        </p:txBody>
      </p:sp>
      <p:sp>
        <p:nvSpPr>
          <p:cNvPr id="35" name="Title Placeholder 34">
            <a:extLst>
              <a:ext uri="{FF2B5EF4-FFF2-40B4-BE49-F238E27FC236}">
                <a16:creationId xmlns="" xmlns:a16="http://schemas.microsoft.com/office/drawing/2014/main" id="{862CBB9D-7640-4DCE-8E7A-C98B9F67D6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ID"/>
          </a:p>
        </p:txBody>
      </p:sp>
    </p:spTree>
    <p:extLst>
      <p:ext uri="{BB962C8B-B14F-4D97-AF65-F5344CB8AC3E}">
        <p14:creationId xmlns:p14="http://schemas.microsoft.com/office/powerpoint/2010/main" val="27746918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F6310508-6870-44FB-B67F-C3F1350DB66D}"/>
              </a:ext>
            </a:extLst>
          </p:cNvPr>
          <p:cNvSpPr/>
          <p:nvPr/>
        </p:nvSpPr>
        <p:spPr>
          <a:xfrm>
            <a:off x="0" y="1"/>
            <a:ext cx="9144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731" y="38925"/>
            <a:ext cx="839462" cy="1086491"/>
          </a:xfrm>
          <a:prstGeom prst="rect">
            <a:avLst/>
          </a:prstGeom>
        </p:spPr>
      </p:pic>
      <p:sp>
        <p:nvSpPr>
          <p:cNvPr id="2" name="TextBox 1">
            <a:extLst>
              <a:ext uri="{FF2B5EF4-FFF2-40B4-BE49-F238E27FC236}">
                <a16:creationId xmlns="" xmlns:a16="http://schemas.microsoft.com/office/drawing/2014/main" id="{6456D31B-DA89-4FCC-A0CF-973CBA8BD493}"/>
              </a:ext>
            </a:extLst>
          </p:cNvPr>
          <p:cNvSpPr txBox="1"/>
          <p:nvPr/>
        </p:nvSpPr>
        <p:spPr>
          <a:xfrm>
            <a:off x="914194" y="166671"/>
            <a:ext cx="4414577" cy="646331"/>
          </a:xfrm>
          <a:prstGeom prst="rect">
            <a:avLst/>
          </a:prstGeom>
          <a:noFill/>
        </p:spPr>
        <p:txBody>
          <a:bodyPr wrap="square" rtlCol="0">
            <a:spAutoFit/>
          </a:bodyPr>
          <a:lstStyle/>
          <a:p>
            <a:pPr algn="just"/>
            <a:r>
              <a:rPr lang="en-US" sz="1800" dirty="0"/>
              <a:t>PROGRAM STUDI S1 TEKNIK INFORMATIKA</a:t>
            </a:r>
            <a:br>
              <a:rPr lang="en-US" sz="1800" dirty="0"/>
            </a:br>
            <a:r>
              <a:rPr lang="en-US" sz="1800" dirty="0"/>
              <a:t>UNIVERSITAS PAMULANG</a:t>
            </a:r>
            <a:endParaRPr lang="en-ID" sz="1800" dirty="0"/>
          </a:p>
        </p:txBody>
      </p:sp>
      <p:pic>
        <p:nvPicPr>
          <p:cNvPr id="5" name="Picture 4">
            <a:extLst>
              <a:ext uri="{FF2B5EF4-FFF2-40B4-BE49-F238E27FC236}">
                <a16:creationId xmlns="" xmlns:a16="http://schemas.microsoft.com/office/drawing/2014/main" id="{C960A43D-3921-41B8-B4DC-C239EAEA84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6264" y="0"/>
            <a:ext cx="1607736" cy="1205802"/>
          </a:xfrm>
          <a:prstGeom prst="rect">
            <a:avLst/>
          </a:prstGeom>
        </p:spPr>
      </p:pic>
      <p:sp>
        <p:nvSpPr>
          <p:cNvPr id="6" name="Title Placeholder 5">
            <a:extLst>
              <a:ext uri="{FF2B5EF4-FFF2-40B4-BE49-F238E27FC236}">
                <a16:creationId xmlns="" xmlns:a16="http://schemas.microsoft.com/office/drawing/2014/main" id="{36AE1D4B-E2EF-47C4-A1A7-5689711E6FCE}"/>
              </a:ext>
            </a:extLst>
          </p:cNvPr>
          <p:cNvSpPr>
            <a:spLocks noGrp="1"/>
          </p:cNvSpPr>
          <p:nvPr>
            <p:ph type="title"/>
          </p:nvPr>
        </p:nvSpPr>
        <p:spPr>
          <a:xfrm>
            <a:off x="628650" y="1204467"/>
            <a:ext cx="7886700" cy="1325563"/>
          </a:xfrm>
          <a:prstGeom prst="rect">
            <a:avLst/>
          </a:prstGeom>
        </p:spPr>
        <p:txBody>
          <a:bodyPr vert="horz" lIns="91440" tIns="45720" rIns="91440" bIns="45720" rtlCol="0" anchor="ctr">
            <a:normAutofit/>
          </a:bodyPr>
          <a:lstStyle/>
          <a:p>
            <a:r>
              <a:rPr lang="en-US" smtClean="0"/>
              <a:t>Click to edit Master title style</a:t>
            </a:r>
            <a:endParaRPr lang="en-ID"/>
          </a:p>
        </p:txBody>
      </p:sp>
      <p:sp>
        <p:nvSpPr>
          <p:cNvPr id="10" name="Text Placeholder 9">
            <a:extLst>
              <a:ext uri="{FF2B5EF4-FFF2-40B4-BE49-F238E27FC236}">
                <a16:creationId xmlns="" xmlns:a16="http://schemas.microsoft.com/office/drawing/2014/main" id="{3FA5E565-A9FD-45A9-9262-E4CE87B5C47A}"/>
              </a:ext>
            </a:extLst>
          </p:cNvPr>
          <p:cNvSpPr>
            <a:spLocks noGrp="1"/>
          </p:cNvSpPr>
          <p:nvPr>
            <p:ph type="body" idx="1"/>
          </p:nvPr>
        </p:nvSpPr>
        <p:spPr>
          <a:xfrm>
            <a:off x="628650" y="2329881"/>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D"/>
          </a:p>
        </p:txBody>
      </p:sp>
    </p:spTree>
    <p:extLst>
      <p:ext uri="{BB962C8B-B14F-4D97-AF65-F5344CB8AC3E}">
        <p14:creationId xmlns:p14="http://schemas.microsoft.com/office/powerpoint/2010/main" val="2585652410"/>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67122B0-D188-4F1B-9170-48FB515F7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ight Triangle 8">
            <a:extLst>
              <a:ext uri="{FF2B5EF4-FFF2-40B4-BE49-F238E27FC236}">
                <a16:creationId xmlns="" xmlns:a16="http://schemas.microsoft.com/office/drawing/2014/main" id="{0FE1B4E5-ADBE-44E9-94B8-12353259E240}"/>
              </a:ext>
            </a:extLst>
          </p:cNvPr>
          <p:cNvSpPr/>
          <p:nvPr/>
        </p:nvSpPr>
        <p:spPr>
          <a:xfrm rot="16200000">
            <a:off x="7421965" y="5135961"/>
            <a:ext cx="1884065" cy="156000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sp>
        <p:nvSpPr>
          <p:cNvPr id="7" name="Rectangle 6">
            <a:extLst>
              <a:ext uri="{FF2B5EF4-FFF2-40B4-BE49-F238E27FC236}">
                <a16:creationId xmlns="" xmlns:a16="http://schemas.microsoft.com/office/drawing/2014/main" id="{F6310508-6870-44FB-B67F-C3F1350DB66D}"/>
              </a:ext>
            </a:extLst>
          </p:cNvPr>
          <p:cNvSpPr/>
          <p:nvPr/>
        </p:nvSpPr>
        <p:spPr>
          <a:xfrm>
            <a:off x="0" y="6211615"/>
            <a:ext cx="9144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solidFill>
                <a:schemeClr val="tx1"/>
              </a:solidFill>
            </a:endParaRPr>
          </a:p>
          <a:p>
            <a:pPr algn="ctr"/>
            <a:r>
              <a:rPr lang="en-US" sz="1500" dirty="0">
                <a:solidFill>
                  <a:schemeClr val="tx1"/>
                </a:solidFill>
              </a:rPr>
              <a:t>Program </a:t>
            </a:r>
            <a:r>
              <a:rPr lang="en-US" sz="1500" dirty="0" err="1">
                <a:solidFill>
                  <a:schemeClr val="tx1"/>
                </a:solidFill>
              </a:rPr>
              <a:t>Studi</a:t>
            </a:r>
            <a:r>
              <a:rPr lang="en-US" sz="1500" dirty="0">
                <a:solidFill>
                  <a:schemeClr val="tx1"/>
                </a:solidFill>
              </a:rPr>
              <a:t> Teknik </a:t>
            </a:r>
            <a:r>
              <a:rPr lang="en-US" sz="1500" dirty="0" err="1">
                <a:solidFill>
                  <a:schemeClr val="tx1"/>
                </a:solidFill>
              </a:rPr>
              <a:t>Informatika</a:t>
            </a:r>
            <a:r>
              <a:rPr lang="en-US" sz="1500" dirty="0">
                <a:solidFill>
                  <a:schemeClr val="tx1"/>
                </a:solidFill>
              </a:rPr>
              <a:t>, Universitas </a:t>
            </a:r>
            <a:r>
              <a:rPr lang="en-US" sz="1500" dirty="0" err="1">
                <a:solidFill>
                  <a:schemeClr val="tx1"/>
                </a:solidFill>
              </a:rPr>
              <a:t>Pamulang</a:t>
            </a:r>
            <a:endParaRPr lang="en-US" sz="1500" dirty="0">
              <a:solidFill>
                <a:schemeClr val="tx1"/>
              </a:solidFill>
            </a:endParaRPr>
          </a:p>
          <a:p>
            <a:pPr algn="ctr"/>
            <a:r>
              <a:rPr lang="en-US" sz="1500" dirty="0">
                <a:solidFill>
                  <a:schemeClr val="tx1"/>
                </a:solidFill>
              </a:rPr>
              <a:t> </a:t>
            </a:r>
            <a:endParaRPr lang="en-ID" sz="15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p:nvSpPr>
        <p:spPr>
          <a:xfrm>
            <a:off x="0" y="5074416"/>
            <a:ext cx="1198266"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50"/>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24379" y="5725289"/>
            <a:ext cx="781941"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436" y="5864994"/>
            <a:ext cx="1052616" cy="993004"/>
          </a:xfrm>
          <a:prstGeom prst="rect">
            <a:avLst/>
          </a:prstGeom>
        </p:spPr>
      </p:pic>
    </p:spTree>
    <p:extLst>
      <p:ext uri="{BB962C8B-B14F-4D97-AF65-F5344CB8AC3E}">
        <p14:creationId xmlns:p14="http://schemas.microsoft.com/office/powerpoint/2010/main" val="2537766216"/>
      </p:ext>
    </p:extLst>
  </p:cSld>
  <p:clrMap bg1="lt1" tx1="dk1" bg2="lt2" tx2="dk2" accent1="accent1" accent2="accent2" accent3="accent3" accent4="accent4" accent5="accent5" accent6="accent6" hlink="hlink" folHlink="folHlink"/>
  <p:sldLayoutIdLst>
    <p:sldLayoutId id="2147483690"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6350"/>
            <a:ext cx="9135549" cy="6864350"/>
          </a:xfrm>
          <a:prstGeom prst="rect">
            <a:avLst/>
          </a:prstGeom>
        </p:spPr>
      </p:pic>
      <p:pic>
        <p:nvPicPr>
          <p:cNvPr id="8" name="object 8"/>
          <p:cNvPicPr/>
          <p:nvPr/>
        </p:nvPicPr>
        <p:blipFill>
          <a:blip r:embed="rId3" cstate="print"/>
          <a:stretch>
            <a:fillRect/>
          </a:stretch>
        </p:blipFill>
        <p:spPr>
          <a:xfrm>
            <a:off x="1066800" y="2743200"/>
            <a:ext cx="6798564" cy="15499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ject 8"/>
          <p:cNvPicPr/>
          <p:nvPr/>
        </p:nvPicPr>
        <p:blipFill>
          <a:blip r:embed="rId3" cstate="print"/>
          <a:stretch>
            <a:fillRect/>
          </a:stretch>
        </p:blipFill>
        <p:spPr>
          <a:xfrm>
            <a:off x="297179" y="1645920"/>
            <a:ext cx="8846820" cy="3712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a:spLocks noGrp="1"/>
          </p:cNvSpPr>
          <p:nvPr>
            <p:ph type="title"/>
          </p:nvPr>
        </p:nvSpPr>
        <p:spPr>
          <a:xfrm>
            <a:off x="-12700" y="85166"/>
            <a:ext cx="6881495" cy="1123315"/>
          </a:xfrm>
          <a:prstGeom prst="rect">
            <a:avLst/>
          </a:prstGeom>
        </p:spPr>
        <p:txBody>
          <a:bodyPr vert="horz" wrap="square" lIns="0" tIns="12700" rIns="0" bIns="0" rtlCol="0">
            <a:spAutoFit/>
          </a:bodyPr>
          <a:lstStyle/>
          <a:p>
            <a:pPr marL="12700" marR="5080">
              <a:lnSpc>
                <a:spcPct val="100000"/>
              </a:lnSpc>
              <a:spcBef>
                <a:spcPts val="100"/>
              </a:spcBef>
            </a:pPr>
            <a:r>
              <a:rPr sz="3600" spc="-5" dirty="0">
                <a:solidFill>
                  <a:srgbClr val="04607A"/>
                </a:solidFill>
                <a:latin typeface="Calibri"/>
                <a:cs typeface="Calibri"/>
              </a:rPr>
              <a:t>MENGORGANISASIKAN</a:t>
            </a:r>
            <a:r>
              <a:rPr sz="3600" spc="-60" dirty="0">
                <a:solidFill>
                  <a:srgbClr val="04607A"/>
                </a:solidFill>
                <a:latin typeface="Calibri"/>
                <a:cs typeface="Calibri"/>
              </a:rPr>
              <a:t> </a:t>
            </a:r>
            <a:r>
              <a:rPr sz="3600" spc="-160" dirty="0">
                <a:solidFill>
                  <a:srgbClr val="04607A"/>
                </a:solidFill>
                <a:latin typeface="Calibri"/>
                <a:cs typeface="Calibri"/>
              </a:rPr>
              <a:t>DATA</a:t>
            </a:r>
            <a:r>
              <a:rPr sz="3600" spc="5" dirty="0">
                <a:solidFill>
                  <a:srgbClr val="04607A"/>
                </a:solidFill>
                <a:latin typeface="Calibri"/>
                <a:cs typeface="Calibri"/>
              </a:rPr>
              <a:t> </a:t>
            </a:r>
            <a:r>
              <a:rPr sz="3600" spc="-10" dirty="0">
                <a:solidFill>
                  <a:srgbClr val="04607A"/>
                </a:solidFill>
                <a:latin typeface="Calibri"/>
                <a:cs typeface="Calibri"/>
              </a:rPr>
              <a:t>DALAM </a:t>
            </a:r>
            <a:r>
              <a:rPr sz="3600" spc="-800" dirty="0">
                <a:solidFill>
                  <a:srgbClr val="04607A"/>
                </a:solidFill>
                <a:latin typeface="Calibri"/>
                <a:cs typeface="Calibri"/>
              </a:rPr>
              <a:t> </a:t>
            </a:r>
            <a:r>
              <a:rPr sz="3600" spc="-5" dirty="0">
                <a:solidFill>
                  <a:srgbClr val="04607A"/>
                </a:solidFill>
                <a:latin typeface="Calibri"/>
                <a:cs typeface="Calibri"/>
              </a:rPr>
              <a:t>LINGKUNGAN</a:t>
            </a:r>
            <a:r>
              <a:rPr sz="3600" spc="-50" dirty="0">
                <a:solidFill>
                  <a:srgbClr val="04607A"/>
                </a:solidFill>
                <a:latin typeface="Calibri"/>
                <a:cs typeface="Calibri"/>
              </a:rPr>
              <a:t> </a:t>
            </a:r>
            <a:r>
              <a:rPr sz="3600" spc="-5" dirty="0">
                <a:solidFill>
                  <a:srgbClr val="04607A"/>
                </a:solidFill>
                <a:latin typeface="Calibri"/>
                <a:cs typeface="Calibri"/>
              </a:rPr>
              <a:t>FILE</a:t>
            </a:r>
            <a:r>
              <a:rPr sz="3600" spc="10" dirty="0">
                <a:solidFill>
                  <a:srgbClr val="04607A"/>
                </a:solidFill>
                <a:latin typeface="Calibri"/>
                <a:cs typeface="Calibri"/>
              </a:rPr>
              <a:t> </a:t>
            </a:r>
            <a:r>
              <a:rPr sz="3600" spc="-5" dirty="0">
                <a:solidFill>
                  <a:srgbClr val="04607A"/>
                </a:solidFill>
                <a:latin typeface="Calibri"/>
                <a:cs typeface="Calibri"/>
              </a:rPr>
              <a:t>TRADISIONAL</a:t>
            </a:r>
            <a:endParaRPr sz="3600">
              <a:latin typeface="Calibri"/>
              <a:cs typeface="Calibri"/>
            </a:endParaRPr>
          </a:p>
        </p:txBody>
      </p:sp>
      <p:sp>
        <p:nvSpPr>
          <p:cNvPr id="9" name="object 9"/>
          <p:cNvSpPr txBox="1"/>
          <p:nvPr/>
        </p:nvSpPr>
        <p:spPr>
          <a:xfrm>
            <a:off x="78739" y="1221486"/>
            <a:ext cx="8994140" cy="5594985"/>
          </a:xfrm>
          <a:prstGeom prst="rect">
            <a:avLst/>
          </a:prstGeom>
        </p:spPr>
        <p:txBody>
          <a:bodyPr vert="horz" wrap="square" lIns="0" tIns="13335" rIns="0" bIns="0" rtlCol="0">
            <a:spAutoFit/>
          </a:bodyPr>
          <a:lstStyle/>
          <a:p>
            <a:pPr marL="12700" marR="5080" algn="just">
              <a:lnSpc>
                <a:spcPct val="100000"/>
              </a:lnSpc>
              <a:spcBef>
                <a:spcPts val="105"/>
              </a:spcBef>
            </a:pPr>
            <a:r>
              <a:rPr sz="2200" dirty="0">
                <a:latin typeface="Arial MT"/>
                <a:cs typeface="Arial MT"/>
              </a:rPr>
              <a:t>Sistem</a:t>
            </a:r>
            <a:r>
              <a:rPr sz="2200" spc="5" dirty="0">
                <a:latin typeface="Arial MT"/>
                <a:cs typeface="Arial MT"/>
              </a:rPr>
              <a:t> </a:t>
            </a:r>
            <a:r>
              <a:rPr sz="2200" spc="-5" dirty="0">
                <a:latin typeface="Arial MT"/>
                <a:cs typeface="Arial MT"/>
              </a:rPr>
              <a:t>Komputer</a:t>
            </a:r>
            <a:r>
              <a:rPr sz="2200" dirty="0">
                <a:latin typeface="Arial MT"/>
                <a:cs typeface="Arial MT"/>
              </a:rPr>
              <a:t> mengorganisasikan</a:t>
            </a:r>
            <a:r>
              <a:rPr sz="2200" spc="5" dirty="0">
                <a:latin typeface="Arial MT"/>
                <a:cs typeface="Arial MT"/>
              </a:rPr>
              <a:t> </a:t>
            </a:r>
            <a:r>
              <a:rPr sz="2200" dirty="0">
                <a:latin typeface="Arial MT"/>
                <a:cs typeface="Arial MT"/>
              </a:rPr>
              <a:t>data</a:t>
            </a:r>
            <a:r>
              <a:rPr sz="2200" spc="5" dirty="0">
                <a:latin typeface="Arial MT"/>
                <a:cs typeface="Arial MT"/>
              </a:rPr>
              <a:t> </a:t>
            </a:r>
            <a:r>
              <a:rPr sz="2200" spc="-5" dirty="0">
                <a:latin typeface="Arial MT"/>
                <a:cs typeface="Arial MT"/>
              </a:rPr>
              <a:t>kedalam</a:t>
            </a:r>
            <a:r>
              <a:rPr sz="2200" dirty="0">
                <a:latin typeface="Arial MT"/>
                <a:cs typeface="Arial MT"/>
              </a:rPr>
              <a:t> sebuah</a:t>
            </a:r>
            <a:r>
              <a:rPr sz="2200" spc="5" dirty="0">
                <a:latin typeface="Arial MT"/>
                <a:cs typeface="Arial MT"/>
              </a:rPr>
              <a:t> </a:t>
            </a:r>
            <a:r>
              <a:rPr sz="2200" dirty="0">
                <a:latin typeface="Arial MT"/>
                <a:cs typeface="Arial MT"/>
              </a:rPr>
              <a:t>hierarki </a:t>
            </a:r>
            <a:r>
              <a:rPr sz="2200" spc="5" dirty="0">
                <a:latin typeface="Arial MT"/>
                <a:cs typeface="Arial MT"/>
              </a:rPr>
              <a:t> </a:t>
            </a:r>
            <a:r>
              <a:rPr sz="2200" spc="-5" dirty="0">
                <a:latin typeface="Arial MT"/>
                <a:cs typeface="Arial MT"/>
              </a:rPr>
              <a:t>yang</a:t>
            </a:r>
            <a:r>
              <a:rPr sz="2200" dirty="0">
                <a:latin typeface="Arial MT"/>
                <a:cs typeface="Arial MT"/>
              </a:rPr>
              <a:t> </a:t>
            </a:r>
            <a:r>
              <a:rPr sz="2200" spc="-5" dirty="0">
                <a:latin typeface="Arial MT"/>
                <a:cs typeface="Arial MT"/>
              </a:rPr>
              <a:t>dimulai</a:t>
            </a:r>
            <a:r>
              <a:rPr sz="2200" dirty="0">
                <a:latin typeface="Arial MT"/>
                <a:cs typeface="Arial MT"/>
              </a:rPr>
              <a:t> dengan </a:t>
            </a:r>
            <a:r>
              <a:rPr sz="2200" spc="-10" dirty="0">
                <a:latin typeface="Arial MT"/>
                <a:cs typeface="Arial MT"/>
              </a:rPr>
              <a:t>bit</a:t>
            </a:r>
            <a:r>
              <a:rPr sz="2200" spc="-5" dirty="0">
                <a:latin typeface="Arial MT"/>
                <a:cs typeface="Arial MT"/>
              </a:rPr>
              <a:t> </a:t>
            </a:r>
            <a:r>
              <a:rPr sz="2200" dirty="0">
                <a:latin typeface="Arial MT"/>
                <a:cs typeface="Arial MT"/>
              </a:rPr>
              <a:t>dan </a:t>
            </a:r>
            <a:r>
              <a:rPr sz="2200" spc="-5" dirty="0">
                <a:latin typeface="Arial MT"/>
                <a:cs typeface="Arial MT"/>
              </a:rPr>
              <a:t>byte,</a:t>
            </a:r>
            <a:r>
              <a:rPr sz="2200" dirty="0">
                <a:latin typeface="Arial MT"/>
                <a:cs typeface="Arial MT"/>
              </a:rPr>
              <a:t> </a:t>
            </a:r>
            <a:r>
              <a:rPr sz="2200" spc="-10" dirty="0">
                <a:latin typeface="Arial MT"/>
                <a:cs typeface="Arial MT"/>
              </a:rPr>
              <a:t>lalu</a:t>
            </a:r>
            <a:r>
              <a:rPr sz="2200" spc="-5" dirty="0">
                <a:latin typeface="Arial MT"/>
                <a:cs typeface="Arial MT"/>
              </a:rPr>
              <a:t> berlanjut</a:t>
            </a:r>
            <a:r>
              <a:rPr sz="2200" dirty="0">
                <a:latin typeface="Arial MT"/>
                <a:cs typeface="Arial MT"/>
              </a:rPr>
              <a:t> </a:t>
            </a:r>
            <a:r>
              <a:rPr sz="2200" spc="15" dirty="0">
                <a:latin typeface="Arial MT"/>
                <a:cs typeface="Arial MT"/>
              </a:rPr>
              <a:t>ke </a:t>
            </a:r>
            <a:r>
              <a:rPr sz="2200" spc="-5" dirty="0">
                <a:latin typeface="Arial MT"/>
                <a:cs typeface="Arial MT"/>
              </a:rPr>
              <a:t>field,</a:t>
            </a:r>
            <a:r>
              <a:rPr sz="2200" spc="600" dirty="0">
                <a:latin typeface="Arial MT"/>
                <a:cs typeface="Arial MT"/>
              </a:rPr>
              <a:t> </a:t>
            </a:r>
            <a:r>
              <a:rPr sz="2200" dirty="0">
                <a:latin typeface="Arial MT"/>
                <a:cs typeface="Arial MT"/>
              </a:rPr>
              <a:t>record dan </a:t>
            </a:r>
            <a:r>
              <a:rPr sz="2200" spc="5" dirty="0">
                <a:latin typeface="Arial MT"/>
                <a:cs typeface="Arial MT"/>
              </a:rPr>
              <a:t> </a:t>
            </a:r>
            <a:r>
              <a:rPr sz="2200" spc="-5" dirty="0">
                <a:latin typeface="Arial MT"/>
                <a:cs typeface="Arial MT"/>
              </a:rPr>
              <a:t>basis</a:t>
            </a:r>
            <a:r>
              <a:rPr sz="2200" spc="-15" dirty="0">
                <a:latin typeface="Arial MT"/>
                <a:cs typeface="Arial MT"/>
              </a:rPr>
              <a:t> </a:t>
            </a:r>
            <a:r>
              <a:rPr sz="2200" dirty="0">
                <a:latin typeface="Arial MT"/>
                <a:cs typeface="Arial MT"/>
              </a:rPr>
              <a:t>data.</a:t>
            </a:r>
            <a:endParaRPr sz="2200">
              <a:latin typeface="Arial MT"/>
              <a:cs typeface="Arial MT"/>
            </a:endParaRPr>
          </a:p>
          <a:p>
            <a:pPr marL="287020" marR="9525" indent="-274320" algn="just">
              <a:lnSpc>
                <a:spcPct val="100000"/>
              </a:lnSpc>
              <a:spcBef>
                <a:spcPts val="535"/>
              </a:spcBef>
              <a:buClr>
                <a:srgbClr val="0AD0D9"/>
              </a:buClr>
              <a:buSzPct val="93181"/>
              <a:buFont typeface="Segoe UI Symbol"/>
              <a:buChar char="⚫"/>
              <a:tabLst>
                <a:tab pos="287020" algn="l"/>
              </a:tabLst>
            </a:pPr>
            <a:r>
              <a:rPr sz="2200" b="1" dirty="0">
                <a:solidFill>
                  <a:srgbClr val="0000CC"/>
                </a:solidFill>
                <a:latin typeface="Arial"/>
                <a:cs typeface="Arial"/>
              </a:rPr>
              <a:t>Bit</a:t>
            </a:r>
            <a:r>
              <a:rPr sz="2200" b="1" spc="5" dirty="0">
                <a:solidFill>
                  <a:srgbClr val="0000CC"/>
                </a:solidFill>
                <a:latin typeface="Arial"/>
                <a:cs typeface="Arial"/>
              </a:rPr>
              <a:t> </a:t>
            </a:r>
            <a:r>
              <a:rPr sz="2200" b="1" dirty="0">
                <a:solidFill>
                  <a:srgbClr val="0000CC"/>
                </a:solidFill>
                <a:latin typeface="Arial"/>
                <a:cs typeface="Arial"/>
              </a:rPr>
              <a:t>:</a:t>
            </a:r>
            <a:r>
              <a:rPr sz="2200" b="1" spc="5" dirty="0">
                <a:solidFill>
                  <a:srgbClr val="0000CC"/>
                </a:solidFill>
                <a:latin typeface="Arial"/>
                <a:cs typeface="Arial"/>
              </a:rPr>
              <a:t> </a:t>
            </a:r>
            <a:r>
              <a:rPr sz="2200" spc="-10" dirty="0">
                <a:latin typeface="Arial MT"/>
                <a:cs typeface="Arial MT"/>
              </a:rPr>
              <a:t>Mewakili</a:t>
            </a:r>
            <a:r>
              <a:rPr sz="2200" spc="-5" dirty="0">
                <a:latin typeface="Arial MT"/>
                <a:cs typeface="Arial MT"/>
              </a:rPr>
              <a:t> unit</a:t>
            </a:r>
            <a:r>
              <a:rPr sz="2200" dirty="0">
                <a:latin typeface="Arial MT"/>
                <a:cs typeface="Arial MT"/>
              </a:rPr>
              <a:t> terkecil</a:t>
            </a:r>
            <a:r>
              <a:rPr sz="2200" spc="5" dirty="0">
                <a:latin typeface="Arial MT"/>
                <a:cs typeface="Arial MT"/>
              </a:rPr>
              <a:t> </a:t>
            </a:r>
            <a:r>
              <a:rPr sz="2200" dirty="0">
                <a:latin typeface="Arial MT"/>
                <a:cs typeface="Arial MT"/>
              </a:rPr>
              <a:t>dari</a:t>
            </a:r>
            <a:r>
              <a:rPr sz="2200" spc="5" dirty="0">
                <a:latin typeface="Arial MT"/>
                <a:cs typeface="Arial MT"/>
              </a:rPr>
              <a:t> </a:t>
            </a:r>
            <a:r>
              <a:rPr sz="2200" spc="-5" dirty="0">
                <a:latin typeface="Arial MT"/>
                <a:cs typeface="Arial MT"/>
              </a:rPr>
              <a:t>data</a:t>
            </a:r>
            <a:r>
              <a:rPr sz="2200" dirty="0">
                <a:latin typeface="Arial MT"/>
                <a:cs typeface="Arial MT"/>
              </a:rPr>
              <a:t> </a:t>
            </a:r>
            <a:r>
              <a:rPr sz="2200" spc="-10" dirty="0">
                <a:latin typeface="Arial MT"/>
                <a:cs typeface="Arial MT"/>
              </a:rPr>
              <a:t>yg</a:t>
            </a:r>
            <a:r>
              <a:rPr sz="2200" spc="-5" dirty="0">
                <a:latin typeface="Arial MT"/>
                <a:cs typeface="Arial MT"/>
              </a:rPr>
              <a:t> dapat</a:t>
            </a:r>
            <a:r>
              <a:rPr sz="2200" dirty="0">
                <a:latin typeface="Arial MT"/>
                <a:cs typeface="Arial MT"/>
              </a:rPr>
              <a:t> </a:t>
            </a:r>
            <a:r>
              <a:rPr sz="2200" spc="-5" dirty="0">
                <a:latin typeface="Arial MT"/>
                <a:cs typeface="Arial MT"/>
              </a:rPr>
              <a:t>disimpan</a:t>
            </a:r>
            <a:r>
              <a:rPr sz="2200" spc="600" dirty="0">
                <a:latin typeface="Arial MT"/>
                <a:cs typeface="Arial MT"/>
              </a:rPr>
              <a:t> </a:t>
            </a:r>
            <a:r>
              <a:rPr sz="2200" spc="-5" dirty="0">
                <a:latin typeface="Arial MT"/>
                <a:cs typeface="Arial MT"/>
              </a:rPr>
              <a:t>dalam </a:t>
            </a:r>
            <a:r>
              <a:rPr sz="2200" dirty="0">
                <a:latin typeface="Arial MT"/>
                <a:cs typeface="Arial MT"/>
              </a:rPr>
              <a:t> </a:t>
            </a:r>
            <a:r>
              <a:rPr sz="2200" spc="5" dirty="0">
                <a:latin typeface="Arial MT"/>
                <a:cs typeface="Arial MT"/>
              </a:rPr>
              <a:t>komputer</a:t>
            </a:r>
            <a:endParaRPr sz="2200">
              <a:latin typeface="Arial MT"/>
              <a:cs typeface="Arial MT"/>
            </a:endParaRPr>
          </a:p>
          <a:p>
            <a:pPr marL="287020" indent="-274320" algn="just">
              <a:lnSpc>
                <a:spcPct val="100000"/>
              </a:lnSpc>
              <a:spcBef>
                <a:spcPts val="530"/>
              </a:spcBef>
              <a:buClr>
                <a:srgbClr val="0AD0D9"/>
              </a:buClr>
              <a:buSzPct val="93181"/>
              <a:buFont typeface="Segoe UI Symbol"/>
              <a:buChar char="⚫"/>
              <a:tabLst>
                <a:tab pos="287020" algn="l"/>
              </a:tabLst>
            </a:pPr>
            <a:r>
              <a:rPr sz="2200" b="1" spc="-10" dirty="0">
                <a:solidFill>
                  <a:srgbClr val="0000CC"/>
                </a:solidFill>
                <a:latin typeface="Arial"/>
                <a:cs typeface="Arial"/>
              </a:rPr>
              <a:t>Byte</a:t>
            </a:r>
            <a:r>
              <a:rPr sz="2200" b="1" spc="180" dirty="0">
                <a:solidFill>
                  <a:srgbClr val="0000CC"/>
                </a:solidFill>
                <a:latin typeface="Arial"/>
                <a:cs typeface="Arial"/>
              </a:rPr>
              <a:t> </a:t>
            </a:r>
            <a:r>
              <a:rPr sz="2200" b="1" dirty="0">
                <a:solidFill>
                  <a:srgbClr val="0000CC"/>
                </a:solidFill>
                <a:latin typeface="Arial"/>
                <a:cs typeface="Arial"/>
              </a:rPr>
              <a:t>:</a:t>
            </a:r>
            <a:r>
              <a:rPr sz="2200" b="1" spc="185" dirty="0">
                <a:solidFill>
                  <a:srgbClr val="0000CC"/>
                </a:solidFill>
                <a:latin typeface="Arial"/>
                <a:cs typeface="Arial"/>
              </a:rPr>
              <a:t> </a:t>
            </a:r>
            <a:r>
              <a:rPr sz="2200" dirty="0">
                <a:latin typeface="Arial MT"/>
                <a:cs typeface="Arial MT"/>
              </a:rPr>
              <a:t>Sekumpulan</a:t>
            </a:r>
            <a:r>
              <a:rPr sz="2200" spc="180" dirty="0">
                <a:latin typeface="Arial MT"/>
                <a:cs typeface="Arial MT"/>
              </a:rPr>
              <a:t> </a:t>
            </a:r>
            <a:r>
              <a:rPr sz="2200" spc="-15" dirty="0">
                <a:latin typeface="Arial MT"/>
                <a:cs typeface="Arial MT"/>
              </a:rPr>
              <a:t>Bit</a:t>
            </a:r>
            <a:r>
              <a:rPr sz="2200" spc="195" dirty="0">
                <a:latin typeface="Arial MT"/>
                <a:cs typeface="Arial MT"/>
              </a:rPr>
              <a:t> </a:t>
            </a:r>
            <a:r>
              <a:rPr sz="2200" spc="-5" dirty="0">
                <a:latin typeface="Arial MT"/>
                <a:cs typeface="Arial MT"/>
              </a:rPr>
              <a:t>yang</a:t>
            </a:r>
            <a:r>
              <a:rPr sz="2200" spc="175" dirty="0">
                <a:latin typeface="Arial MT"/>
                <a:cs typeface="Arial MT"/>
              </a:rPr>
              <a:t> </a:t>
            </a:r>
            <a:r>
              <a:rPr sz="2200" spc="-5" dirty="0">
                <a:latin typeface="Arial MT"/>
                <a:cs typeface="Arial MT"/>
              </a:rPr>
              <a:t>mewakili</a:t>
            </a:r>
            <a:r>
              <a:rPr sz="2200" spc="175" dirty="0">
                <a:latin typeface="Arial MT"/>
                <a:cs typeface="Arial MT"/>
              </a:rPr>
              <a:t> </a:t>
            </a:r>
            <a:r>
              <a:rPr sz="2200" dirty="0">
                <a:latin typeface="Arial MT"/>
                <a:cs typeface="Arial MT"/>
              </a:rPr>
              <a:t>sebuah</a:t>
            </a:r>
            <a:r>
              <a:rPr sz="2200" spc="175" dirty="0">
                <a:latin typeface="Arial MT"/>
                <a:cs typeface="Arial MT"/>
              </a:rPr>
              <a:t> </a:t>
            </a:r>
            <a:r>
              <a:rPr sz="2200" dirty="0">
                <a:latin typeface="Arial MT"/>
                <a:cs typeface="Arial MT"/>
              </a:rPr>
              <a:t>karakter</a:t>
            </a:r>
            <a:r>
              <a:rPr sz="2200" spc="180" dirty="0">
                <a:latin typeface="Arial MT"/>
                <a:cs typeface="Arial MT"/>
              </a:rPr>
              <a:t> </a:t>
            </a:r>
            <a:r>
              <a:rPr sz="2200" dirty="0">
                <a:latin typeface="Arial MT"/>
                <a:cs typeface="Arial MT"/>
              </a:rPr>
              <a:t>tunggal,</a:t>
            </a:r>
            <a:r>
              <a:rPr sz="2200" spc="190" dirty="0">
                <a:latin typeface="Arial MT"/>
                <a:cs typeface="Arial MT"/>
              </a:rPr>
              <a:t> </a:t>
            </a:r>
            <a:r>
              <a:rPr sz="2200" spc="-5" dirty="0">
                <a:latin typeface="Arial MT"/>
                <a:cs typeface="Arial MT"/>
              </a:rPr>
              <a:t>yang</a:t>
            </a:r>
            <a:endParaRPr sz="2200">
              <a:latin typeface="Arial MT"/>
              <a:cs typeface="Arial MT"/>
            </a:endParaRPr>
          </a:p>
          <a:p>
            <a:pPr marL="287020" algn="just">
              <a:lnSpc>
                <a:spcPct val="100000"/>
              </a:lnSpc>
            </a:pPr>
            <a:r>
              <a:rPr sz="2200" dirty="0">
                <a:latin typeface="Arial MT"/>
                <a:cs typeface="Arial MT"/>
              </a:rPr>
              <a:t>dapat</a:t>
            </a:r>
            <a:r>
              <a:rPr sz="2200" spc="-25" dirty="0">
                <a:latin typeface="Arial MT"/>
                <a:cs typeface="Arial MT"/>
              </a:rPr>
              <a:t> </a:t>
            </a:r>
            <a:r>
              <a:rPr sz="2200" dirty="0">
                <a:latin typeface="Arial MT"/>
                <a:cs typeface="Arial MT"/>
              </a:rPr>
              <a:t>menjadi</a:t>
            </a:r>
            <a:r>
              <a:rPr sz="2200" spc="-15" dirty="0">
                <a:latin typeface="Arial MT"/>
                <a:cs typeface="Arial MT"/>
              </a:rPr>
              <a:t> </a:t>
            </a:r>
            <a:r>
              <a:rPr sz="2200" spc="5" dirty="0">
                <a:latin typeface="Arial MT"/>
                <a:cs typeface="Arial MT"/>
              </a:rPr>
              <a:t>huruf,</a:t>
            </a:r>
            <a:r>
              <a:rPr sz="2200" spc="-30" dirty="0">
                <a:latin typeface="Arial MT"/>
                <a:cs typeface="Arial MT"/>
              </a:rPr>
              <a:t> </a:t>
            </a:r>
            <a:r>
              <a:rPr sz="2200" spc="5" dirty="0">
                <a:latin typeface="Arial MT"/>
                <a:cs typeface="Arial MT"/>
              </a:rPr>
              <a:t>angka</a:t>
            </a:r>
            <a:r>
              <a:rPr sz="2200" spc="-60" dirty="0">
                <a:latin typeface="Arial MT"/>
                <a:cs typeface="Arial MT"/>
              </a:rPr>
              <a:t> </a:t>
            </a:r>
            <a:r>
              <a:rPr sz="2200" dirty="0">
                <a:latin typeface="Arial MT"/>
                <a:cs typeface="Arial MT"/>
              </a:rPr>
              <a:t>atau</a:t>
            </a:r>
            <a:r>
              <a:rPr sz="2200" spc="-15" dirty="0">
                <a:latin typeface="Arial MT"/>
                <a:cs typeface="Arial MT"/>
              </a:rPr>
              <a:t> </a:t>
            </a:r>
            <a:r>
              <a:rPr sz="2200" spc="-5" dirty="0">
                <a:latin typeface="Arial MT"/>
                <a:cs typeface="Arial MT"/>
              </a:rPr>
              <a:t>simbol</a:t>
            </a:r>
            <a:r>
              <a:rPr sz="2200" spc="5" dirty="0">
                <a:latin typeface="Arial MT"/>
                <a:cs typeface="Arial MT"/>
              </a:rPr>
              <a:t> </a:t>
            </a:r>
            <a:r>
              <a:rPr sz="2200" spc="-5" dirty="0">
                <a:latin typeface="Arial MT"/>
                <a:cs typeface="Arial MT"/>
              </a:rPr>
              <a:t>lain.</a:t>
            </a:r>
            <a:endParaRPr sz="2200">
              <a:latin typeface="Arial MT"/>
              <a:cs typeface="Arial MT"/>
            </a:endParaRPr>
          </a:p>
          <a:p>
            <a:pPr marL="287020" indent="-274320" algn="just">
              <a:lnSpc>
                <a:spcPct val="100000"/>
              </a:lnSpc>
              <a:spcBef>
                <a:spcPts val="530"/>
              </a:spcBef>
              <a:buClr>
                <a:srgbClr val="0AD0D9"/>
              </a:buClr>
              <a:buSzPct val="93181"/>
              <a:buFont typeface="Segoe UI Symbol"/>
              <a:buChar char="⚫"/>
              <a:tabLst>
                <a:tab pos="287020" algn="l"/>
              </a:tabLst>
            </a:pPr>
            <a:r>
              <a:rPr sz="2200" b="1" dirty="0">
                <a:solidFill>
                  <a:srgbClr val="0000CC"/>
                </a:solidFill>
                <a:latin typeface="Arial"/>
                <a:cs typeface="Arial"/>
              </a:rPr>
              <a:t>Field</a:t>
            </a:r>
            <a:r>
              <a:rPr sz="2200" b="1" spc="5" dirty="0">
                <a:solidFill>
                  <a:srgbClr val="0000CC"/>
                </a:solidFill>
                <a:latin typeface="Arial"/>
                <a:cs typeface="Arial"/>
              </a:rPr>
              <a:t> </a:t>
            </a:r>
            <a:r>
              <a:rPr sz="2200" dirty="0">
                <a:solidFill>
                  <a:srgbClr val="0000CC"/>
                </a:solidFill>
                <a:latin typeface="Arial MT"/>
                <a:cs typeface="Arial MT"/>
              </a:rPr>
              <a:t>:</a:t>
            </a:r>
            <a:r>
              <a:rPr sz="2200" spc="20" dirty="0">
                <a:solidFill>
                  <a:srgbClr val="0000CC"/>
                </a:solidFill>
                <a:latin typeface="Arial MT"/>
                <a:cs typeface="Arial MT"/>
              </a:rPr>
              <a:t> </a:t>
            </a:r>
            <a:r>
              <a:rPr sz="2200" dirty="0">
                <a:latin typeface="Arial MT"/>
                <a:cs typeface="Arial MT"/>
              </a:rPr>
              <a:t>pengelompokan</a:t>
            </a:r>
            <a:r>
              <a:rPr sz="2200" spc="-10" dirty="0">
                <a:latin typeface="Arial MT"/>
                <a:cs typeface="Arial MT"/>
              </a:rPr>
              <a:t> </a:t>
            </a:r>
            <a:r>
              <a:rPr sz="2200" dirty="0">
                <a:latin typeface="Arial MT"/>
                <a:cs typeface="Arial MT"/>
              </a:rPr>
              <a:t>karakter</a:t>
            </a:r>
            <a:r>
              <a:rPr sz="2200" spc="-5" dirty="0">
                <a:latin typeface="Arial MT"/>
                <a:cs typeface="Arial MT"/>
              </a:rPr>
              <a:t> </a:t>
            </a:r>
            <a:r>
              <a:rPr sz="2200" dirty="0">
                <a:latin typeface="Arial MT"/>
                <a:cs typeface="Arial MT"/>
              </a:rPr>
              <a:t>menjadi</a:t>
            </a:r>
            <a:r>
              <a:rPr sz="2200" spc="5" dirty="0">
                <a:latin typeface="Arial MT"/>
                <a:cs typeface="Arial MT"/>
              </a:rPr>
              <a:t> </a:t>
            </a:r>
            <a:r>
              <a:rPr sz="2200" dirty="0">
                <a:latin typeface="Arial MT"/>
                <a:cs typeface="Arial MT"/>
              </a:rPr>
              <a:t>sebuah</a:t>
            </a:r>
            <a:r>
              <a:rPr sz="2200" spc="-15" dirty="0">
                <a:latin typeface="Arial MT"/>
                <a:cs typeface="Arial MT"/>
              </a:rPr>
              <a:t> </a:t>
            </a:r>
            <a:r>
              <a:rPr sz="2200" dirty="0">
                <a:latin typeface="Arial MT"/>
                <a:cs typeface="Arial MT"/>
              </a:rPr>
              <a:t>kata,</a:t>
            </a:r>
            <a:r>
              <a:rPr sz="2200" spc="-5" dirty="0">
                <a:latin typeface="Arial MT"/>
                <a:cs typeface="Arial MT"/>
              </a:rPr>
              <a:t> </a:t>
            </a:r>
            <a:r>
              <a:rPr sz="2200" dirty="0">
                <a:latin typeface="Arial MT"/>
                <a:cs typeface="Arial MT"/>
              </a:rPr>
              <a:t>kumpulan</a:t>
            </a:r>
            <a:r>
              <a:rPr sz="2200" spc="-10" dirty="0">
                <a:latin typeface="Arial MT"/>
                <a:cs typeface="Arial MT"/>
              </a:rPr>
              <a:t> </a:t>
            </a:r>
            <a:r>
              <a:rPr sz="2200" dirty="0">
                <a:latin typeface="Arial MT"/>
                <a:cs typeface="Arial MT"/>
              </a:rPr>
              <a:t>kata,</a:t>
            </a:r>
            <a:endParaRPr sz="2200">
              <a:latin typeface="Arial MT"/>
              <a:cs typeface="Arial MT"/>
            </a:endParaRPr>
          </a:p>
          <a:p>
            <a:pPr marL="287020" algn="just">
              <a:lnSpc>
                <a:spcPct val="100000"/>
              </a:lnSpc>
            </a:pPr>
            <a:r>
              <a:rPr sz="2200" dirty="0">
                <a:latin typeface="Arial MT"/>
                <a:cs typeface="Arial MT"/>
              </a:rPr>
              <a:t>atau</a:t>
            </a:r>
            <a:r>
              <a:rPr sz="2200" spc="-55" dirty="0">
                <a:latin typeface="Arial MT"/>
                <a:cs typeface="Arial MT"/>
              </a:rPr>
              <a:t> </a:t>
            </a:r>
            <a:r>
              <a:rPr sz="2200" dirty="0">
                <a:latin typeface="Arial MT"/>
                <a:cs typeface="Arial MT"/>
              </a:rPr>
              <a:t>bilangan</a:t>
            </a:r>
            <a:r>
              <a:rPr sz="2200" spc="-10" dirty="0">
                <a:latin typeface="Arial MT"/>
                <a:cs typeface="Arial MT"/>
              </a:rPr>
              <a:t> </a:t>
            </a:r>
            <a:r>
              <a:rPr sz="2200" dirty="0">
                <a:latin typeface="Arial MT"/>
                <a:cs typeface="Arial MT"/>
              </a:rPr>
              <a:t>lengkap</a:t>
            </a:r>
            <a:endParaRPr sz="2200">
              <a:latin typeface="Arial MT"/>
              <a:cs typeface="Arial MT"/>
            </a:endParaRPr>
          </a:p>
          <a:p>
            <a:pPr marL="287020" indent="-274320" algn="just">
              <a:lnSpc>
                <a:spcPct val="100000"/>
              </a:lnSpc>
              <a:spcBef>
                <a:spcPts val="530"/>
              </a:spcBef>
              <a:buClr>
                <a:srgbClr val="0AD0D9"/>
              </a:buClr>
              <a:buSzPct val="93181"/>
              <a:buFont typeface="Segoe UI Symbol"/>
              <a:buChar char="⚫"/>
              <a:tabLst>
                <a:tab pos="287020" algn="l"/>
              </a:tabLst>
            </a:pPr>
            <a:r>
              <a:rPr sz="2200" b="1" dirty="0">
                <a:solidFill>
                  <a:srgbClr val="0000CC"/>
                </a:solidFill>
                <a:latin typeface="Arial"/>
                <a:cs typeface="Arial"/>
              </a:rPr>
              <a:t>Record</a:t>
            </a:r>
            <a:r>
              <a:rPr sz="2200" b="1" spc="-20" dirty="0">
                <a:solidFill>
                  <a:srgbClr val="0000CC"/>
                </a:solidFill>
                <a:latin typeface="Arial"/>
                <a:cs typeface="Arial"/>
              </a:rPr>
              <a:t> </a:t>
            </a:r>
            <a:r>
              <a:rPr sz="2200" dirty="0">
                <a:solidFill>
                  <a:srgbClr val="0000CC"/>
                </a:solidFill>
                <a:latin typeface="Arial MT"/>
                <a:cs typeface="Arial MT"/>
              </a:rPr>
              <a:t>:</a:t>
            </a:r>
            <a:r>
              <a:rPr sz="2200" spc="-5" dirty="0">
                <a:solidFill>
                  <a:srgbClr val="0000CC"/>
                </a:solidFill>
                <a:latin typeface="Arial MT"/>
                <a:cs typeface="Arial MT"/>
              </a:rPr>
              <a:t> </a:t>
            </a:r>
            <a:r>
              <a:rPr sz="2200" dirty="0">
                <a:latin typeface="Arial MT"/>
                <a:cs typeface="Arial MT"/>
              </a:rPr>
              <a:t>Sekumpulan</a:t>
            </a:r>
            <a:r>
              <a:rPr sz="2200" spc="-35" dirty="0">
                <a:latin typeface="Arial MT"/>
                <a:cs typeface="Arial MT"/>
              </a:rPr>
              <a:t> </a:t>
            </a:r>
            <a:r>
              <a:rPr sz="2200" spc="-5" dirty="0">
                <a:latin typeface="Arial MT"/>
                <a:cs typeface="Arial MT"/>
              </a:rPr>
              <a:t>Field</a:t>
            </a:r>
            <a:r>
              <a:rPr sz="2200" spc="30" dirty="0">
                <a:latin typeface="Arial MT"/>
                <a:cs typeface="Arial MT"/>
              </a:rPr>
              <a:t> </a:t>
            </a:r>
            <a:r>
              <a:rPr sz="2200" spc="-5" dirty="0">
                <a:latin typeface="Arial MT"/>
                <a:cs typeface="Arial MT"/>
              </a:rPr>
              <a:t>yang</a:t>
            </a:r>
            <a:r>
              <a:rPr sz="2200" spc="10" dirty="0">
                <a:latin typeface="Arial MT"/>
                <a:cs typeface="Arial MT"/>
              </a:rPr>
              <a:t> </a:t>
            </a:r>
            <a:r>
              <a:rPr sz="2200" spc="-5" dirty="0">
                <a:latin typeface="Arial MT"/>
                <a:cs typeface="Arial MT"/>
              </a:rPr>
              <a:t>saling</a:t>
            </a:r>
            <a:r>
              <a:rPr sz="2200" spc="5" dirty="0">
                <a:latin typeface="Arial MT"/>
                <a:cs typeface="Arial MT"/>
              </a:rPr>
              <a:t> </a:t>
            </a:r>
            <a:r>
              <a:rPr sz="2200" dirty="0">
                <a:latin typeface="Arial MT"/>
                <a:cs typeface="Arial MT"/>
              </a:rPr>
              <a:t>berhubungan</a:t>
            </a:r>
            <a:endParaRPr sz="2200">
              <a:latin typeface="Arial MT"/>
              <a:cs typeface="Arial MT"/>
            </a:endParaRPr>
          </a:p>
          <a:p>
            <a:pPr marL="652780" lvl="1" indent="-247650" algn="just">
              <a:lnSpc>
                <a:spcPct val="100000"/>
              </a:lnSpc>
              <a:spcBef>
                <a:spcPts val="530"/>
              </a:spcBef>
              <a:buClr>
                <a:srgbClr val="0E6EC5"/>
              </a:buClr>
              <a:buSzPct val="84090"/>
              <a:buFont typeface="Segoe UI Symbol"/>
              <a:buChar char="⚫"/>
              <a:tabLst>
                <a:tab pos="653415" algn="l"/>
              </a:tabLst>
            </a:pPr>
            <a:r>
              <a:rPr sz="2200" spc="-5" dirty="0">
                <a:latin typeface="Arial MT"/>
                <a:cs typeface="Arial MT"/>
              </a:rPr>
              <a:t>Sebuah</a:t>
            </a:r>
            <a:r>
              <a:rPr sz="2200" spc="-20" dirty="0">
                <a:latin typeface="Arial MT"/>
                <a:cs typeface="Arial MT"/>
              </a:rPr>
              <a:t> </a:t>
            </a:r>
            <a:r>
              <a:rPr sz="2200" dirty="0">
                <a:latin typeface="Arial MT"/>
                <a:cs typeface="Arial MT"/>
              </a:rPr>
              <a:t>record</a:t>
            </a:r>
            <a:r>
              <a:rPr sz="2200" spc="-20" dirty="0">
                <a:latin typeface="Arial MT"/>
                <a:cs typeface="Arial MT"/>
              </a:rPr>
              <a:t> </a:t>
            </a:r>
            <a:r>
              <a:rPr sz="2200" spc="5" dirty="0">
                <a:latin typeface="Arial MT"/>
                <a:cs typeface="Arial MT"/>
              </a:rPr>
              <a:t>menggambarkan</a:t>
            </a:r>
            <a:r>
              <a:rPr sz="2200" spc="-105" dirty="0">
                <a:latin typeface="Arial MT"/>
                <a:cs typeface="Arial MT"/>
              </a:rPr>
              <a:t> </a:t>
            </a:r>
            <a:r>
              <a:rPr sz="2200" dirty="0">
                <a:latin typeface="Arial MT"/>
                <a:cs typeface="Arial MT"/>
              </a:rPr>
              <a:t>sebuah</a:t>
            </a:r>
            <a:r>
              <a:rPr sz="2200" spc="5" dirty="0">
                <a:latin typeface="Arial MT"/>
                <a:cs typeface="Arial MT"/>
              </a:rPr>
              <a:t> </a:t>
            </a:r>
            <a:r>
              <a:rPr sz="2200" dirty="0">
                <a:latin typeface="Arial MT"/>
                <a:cs typeface="Arial MT"/>
              </a:rPr>
              <a:t>entitas</a:t>
            </a:r>
            <a:endParaRPr sz="2200">
              <a:latin typeface="Arial MT"/>
              <a:cs typeface="Arial MT"/>
            </a:endParaRPr>
          </a:p>
          <a:p>
            <a:pPr marL="652780" marR="6350" lvl="1" indent="-247015" algn="just">
              <a:lnSpc>
                <a:spcPct val="100000"/>
              </a:lnSpc>
              <a:spcBef>
                <a:spcPts val="530"/>
              </a:spcBef>
              <a:buClr>
                <a:srgbClr val="0E6EC5"/>
              </a:buClr>
              <a:buSzPct val="84090"/>
              <a:buFont typeface="Segoe UI Symbol"/>
              <a:buChar char="⚫"/>
              <a:tabLst>
                <a:tab pos="653415" algn="l"/>
              </a:tabLst>
            </a:pPr>
            <a:r>
              <a:rPr sz="2200" spc="-5" dirty="0">
                <a:latin typeface="Arial MT"/>
                <a:cs typeface="Arial MT"/>
              </a:rPr>
              <a:t>Atribut </a:t>
            </a:r>
            <a:r>
              <a:rPr sz="2200" dirty="0">
                <a:latin typeface="Arial MT"/>
                <a:cs typeface="Arial MT"/>
              </a:rPr>
              <a:t>merupakan karakteristik </a:t>
            </a:r>
            <a:r>
              <a:rPr sz="2200" spc="-5" dirty="0">
                <a:latin typeface="Arial MT"/>
                <a:cs typeface="Arial MT"/>
              </a:rPr>
              <a:t>atau </a:t>
            </a:r>
            <a:r>
              <a:rPr sz="2200" dirty="0">
                <a:latin typeface="Arial MT"/>
                <a:cs typeface="Arial MT"/>
              </a:rPr>
              <a:t>kualitas </a:t>
            </a:r>
            <a:r>
              <a:rPr sz="2200" spc="-5" dirty="0">
                <a:latin typeface="Arial MT"/>
                <a:cs typeface="Arial MT"/>
              </a:rPr>
              <a:t>yang </a:t>
            </a:r>
            <a:r>
              <a:rPr sz="2200" dirty="0">
                <a:latin typeface="Arial MT"/>
                <a:cs typeface="Arial MT"/>
              </a:rPr>
              <a:t>mengambarkan </a:t>
            </a:r>
            <a:r>
              <a:rPr sz="2200" spc="5" dirty="0">
                <a:latin typeface="Arial MT"/>
                <a:cs typeface="Arial MT"/>
              </a:rPr>
              <a:t> </a:t>
            </a:r>
            <a:r>
              <a:rPr sz="2200" spc="-5" dirty="0">
                <a:latin typeface="Arial MT"/>
                <a:cs typeface="Arial MT"/>
              </a:rPr>
              <a:t>ciri</a:t>
            </a:r>
            <a:r>
              <a:rPr sz="2200" spc="-25" dirty="0">
                <a:latin typeface="Arial MT"/>
                <a:cs typeface="Arial MT"/>
              </a:rPr>
              <a:t> </a:t>
            </a:r>
            <a:r>
              <a:rPr sz="2200" dirty="0">
                <a:latin typeface="Arial MT"/>
                <a:cs typeface="Arial MT"/>
              </a:rPr>
              <a:t>dari</a:t>
            </a:r>
            <a:r>
              <a:rPr sz="2200" spc="-20" dirty="0">
                <a:latin typeface="Arial MT"/>
                <a:cs typeface="Arial MT"/>
              </a:rPr>
              <a:t> </a:t>
            </a:r>
            <a:r>
              <a:rPr sz="2200" dirty="0">
                <a:latin typeface="Arial MT"/>
                <a:cs typeface="Arial MT"/>
              </a:rPr>
              <a:t>sebuah</a:t>
            </a:r>
            <a:r>
              <a:rPr sz="2200" spc="5" dirty="0">
                <a:latin typeface="Arial MT"/>
                <a:cs typeface="Arial MT"/>
              </a:rPr>
              <a:t> </a:t>
            </a:r>
            <a:r>
              <a:rPr sz="2200" dirty="0">
                <a:latin typeface="Arial MT"/>
                <a:cs typeface="Arial MT"/>
              </a:rPr>
              <a:t>entitas</a:t>
            </a:r>
            <a:r>
              <a:rPr sz="2200" spc="-10" dirty="0">
                <a:latin typeface="Arial MT"/>
                <a:cs typeface="Arial MT"/>
              </a:rPr>
              <a:t> </a:t>
            </a:r>
            <a:r>
              <a:rPr sz="2200" spc="5" dirty="0">
                <a:latin typeface="Arial MT"/>
                <a:cs typeface="Arial MT"/>
              </a:rPr>
              <a:t>khusus</a:t>
            </a:r>
            <a:endParaRPr sz="2200">
              <a:latin typeface="Arial MT"/>
              <a:cs typeface="Arial MT"/>
            </a:endParaRPr>
          </a:p>
          <a:p>
            <a:pPr marL="287020" indent="-274320" algn="just">
              <a:lnSpc>
                <a:spcPct val="100000"/>
              </a:lnSpc>
              <a:spcBef>
                <a:spcPts val="530"/>
              </a:spcBef>
              <a:buClr>
                <a:srgbClr val="0AD0D9"/>
              </a:buClr>
              <a:buSzPct val="95454"/>
              <a:buFont typeface="Segoe UI Symbol"/>
              <a:buChar char="⚫"/>
              <a:tabLst>
                <a:tab pos="287020" algn="l"/>
              </a:tabLst>
            </a:pPr>
            <a:r>
              <a:rPr sz="2200" b="1" spc="5" dirty="0">
                <a:solidFill>
                  <a:srgbClr val="0000CC"/>
                </a:solidFill>
                <a:latin typeface="Arial"/>
                <a:cs typeface="Arial"/>
              </a:rPr>
              <a:t>File</a:t>
            </a:r>
            <a:r>
              <a:rPr sz="2200" b="1" spc="-45" dirty="0">
                <a:solidFill>
                  <a:srgbClr val="0000CC"/>
                </a:solidFill>
                <a:latin typeface="Arial"/>
                <a:cs typeface="Arial"/>
              </a:rPr>
              <a:t> </a:t>
            </a:r>
            <a:r>
              <a:rPr sz="2200" dirty="0">
                <a:solidFill>
                  <a:srgbClr val="0000CC"/>
                </a:solidFill>
                <a:latin typeface="Arial MT"/>
                <a:cs typeface="Arial MT"/>
              </a:rPr>
              <a:t>:</a:t>
            </a:r>
            <a:r>
              <a:rPr sz="2200" spc="-10" dirty="0">
                <a:solidFill>
                  <a:srgbClr val="0000CC"/>
                </a:solidFill>
                <a:latin typeface="Arial MT"/>
                <a:cs typeface="Arial MT"/>
              </a:rPr>
              <a:t> </a:t>
            </a:r>
            <a:r>
              <a:rPr sz="2200" dirty="0">
                <a:latin typeface="Arial MT"/>
                <a:cs typeface="Arial MT"/>
              </a:rPr>
              <a:t>Sekelompok</a:t>
            </a:r>
            <a:r>
              <a:rPr sz="2200" spc="-35" dirty="0">
                <a:latin typeface="Arial MT"/>
                <a:cs typeface="Arial MT"/>
              </a:rPr>
              <a:t> </a:t>
            </a:r>
            <a:r>
              <a:rPr sz="2200" dirty="0">
                <a:latin typeface="Arial MT"/>
                <a:cs typeface="Arial MT"/>
              </a:rPr>
              <a:t>Record</a:t>
            </a:r>
            <a:r>
              <a:rPr sz="2200" spc="-20" dirty="0">
                <a:latin typeface="Arial MT"/>
                <a:cs typeface="Arial MT"/>
              </a:rPr>
              <a:t> </a:t>
            </a:r>
            <a:r>
              <a:rPr sz="2200" spc="-5" dirty="0">
                <a:latin typeface="Arial MT"/>
                <a:cs typeface="Arial MT"/>
              </a:rPr>
              <a:t>yang</a:t>
            </a:r>
            <a:r>
              <a:rPr sz="2200" spc="25" dirty="0">
                <a:latin typeface="Arial MT"/>
                <a:cs typeface="Arial MT"/>
              </a:rPr>
              <a:t> </a:t>
            </a:r>
            <a:r>
              <a:rPr sz="2200" dirty="0">
                <a:latin typeface="Arial MT"/>
                <a:cs typeface="Arial MT"/>
              </a:rPr>
              <a:t>memiliki</a:t>
            </a:r>
            <a:r>
              <a:rPr sz="2200" spc="-15" dirty="0">
                <a:latin typeface="Arial MT"/>
                <a:cs typeface="Arial MT"/>
              </a:rPr>
              <a:t> </a:t>
            </a:r>
            <a:r>
              <a:rPr sz="2200" dirty="0">
                <a:latin typeface="Arial MT"/>
                <a:cs typeface="Arial MT"/>
              </a:rPr>
              <a:t>jenis</a:t>
            </a:r>
            <a:r>
              <a:rPr sz="2200" spc="-15" dirty="0">
                <a:latin typeface="Arial MT"/>
                <a:cs typeface="Arial MT"/>
              </a:rPr>
              <a:t> </a:t>
            </a:r>
            <a:r>
              <a:rPr sz="2200" spc="-5" dirty="0">
                <a:latin typeface="Arial MT"/>
                <a:cs typeface="Arial MT"/>
              </a:rPr>
              <a:t>yang</a:t>
            </a:r>
            <a:r>
              <a:rPr sz="2200" spc="5" dirty="0">
                <a:latin typeface="Arial MT"/>
                <a:cs typeface="Arial MT"/>
              </a:rPr>
              <a:t> sama</a:t>
            </a:r>
            <a:endParaRPr sz="2200">
              <a:latin typeface="Arial MT"/>
              <a:cs typeface="Arial MT"/>
            </a:endParaRPr>
          </a:p>
          <a:p>
            <a:pPr marL="287020" indent="-274320" algn="just">
              <a:lnSpc>
                <a:spcPct val="100000"/>
              </a:lnSpc>
              <a:spcBef>
                <a:spcPts val="530"/>
              </a:spcBef>
              <a:buClr>
                <a:srgbClr val="0AD0D9"/>
              </a:buClr>
              <a:buSzPct val="93181"/>
              <a:buFont typeface="Segoe UI Symbol"/>
              <a:buChar char="⚫"/>
              <a:tabLst>
                <a:tab pos="287020" algn="l"/>
              </a:tabLst>
            </a:pPr>
            <a:r>
              <a:rPr sz="2200" b="1" dirty="0">
                <a:solidFill>
                  <a:srgbClr val="0000CC"/>
                </a:solidFill>
                <a:latin typeface="Arial"/>
                <a:cs typeface="Arial"/>
              </a:rPr>
              <a:t>Database</a:t>
            </a:r>
            <a:r>
              <a:rPr sz="2200" b="1" spc="-15" dirty="0">
                <a:solidFill>
                  <a:srgbClr val="0000CC"/>
                </a:solidFill>
                <a:latin typeface="Arial"/>
                <a:cs typeface="Arial"/>
              </a:rPr>
              <a:t> </a:t>
            </a:r>
            <a:r>
              <a:rPr sz="2200" dirty="0">
                <a:solidFill>
                  <a:srgbClr val="0000CC"/>
                </a:solidFill>
                <a:latin typeface="Arial MT"/>
                <a:cs typeface="Arial MT"/>
              </a:rPr>
              <a:t>:</a:t>
            </a:r>
            <a:r>
              <a:rPr sz="2200" spc="-5" dirty="0">
                <a:solidFill>
                  <a:srgbClr val="0000CC"/>
                </a:solidFill>
                <a:latin typeface="Arial MT"/>
                <a:cs typeface="Arial MT"/>
              </a:rPr>
              <a:t> </a:t>
            </a:r>
            <a:r>
              <a:rPr sz="2200" dirty="0">
                <a:latin typeface="Arial MT"/>
                <a:cs typeface="Arial MT"/>
              </a:rPr>
              <a:t>Sekelompok</a:t>
            </a:r>
            <a:r>
              <a:rPr sz="2200" spc="-30" dirty="0">
                <a:latin typeface="Arial MT"/>
                <a:cs typeface="Arial MT"/>
              </a:rPr>
              <a:t> </a:t>
            </a:r>
            <a:r>
              <a:rPr sz="2200" spc="-10" dirty="0">
                <a:latin typeface="Arial MT"/>
                <a:cs typeface="Arial MT"/>
              </a:rPr>
              <a:t>File</a:t>
            </a:r>
            <a:r>
              <a:rPr sz="2200" spc="35" dirty="0">
                <a:latin typeface="Arial MT"/>
                <a:cs typeface="Arial MT"/>
              </a:rPr>
              <a:t> </a:t>
            </a:r>
            <a:r>
              <a:rPr sz="2200" spc="-5" dirty="0">
                <a:latin typeface="Arial MT"/>
                <a:cs typeface="Arial MT"/>
              </a:rPr>
              <a:t>yang</a:t>
            </a:r>
            <a:r>
              <a:rPr sz="2200" spc="5" dirty="0">
                <a:latin typeface="Arial MT"/>
                <a:cs typeface="Arial MT"/>
              </a:rPr>
              <a:t> </a:t>
            </a:r>
            <a:r>
              <a:rPr sz="2200" spc="-5" dirty="0">
                <a:latin typeface="Arial MT"/>
                <a:cs typeface="Arial MT"/>
              </a:rPr>
              <a:t>saling</a:t>
            </a:r>
            <a:r>
              <a:rPr sz="2200" spc="10" dirty="0">
                <a:latin typeface="Arial MT"/>
                <a:cs typeface="Arial MT"/>
              </a:rPr>
              <a:t> </a:t>
            </a:r>
            <a:r>
              <a:rPr sz="2200" dirty="0">
                <a:latin typeface="Arial MT"/>
                <a:cs typeface="Arial MT"/>
              </a:rPr>
              <a:t>berhubungan</a:t>
            </a:r>
            <a:endParaRPr sz="22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625" y="589229"/>
            <a:ext cx="3592195" cy="786765"/>
          </a:xfrm>
          <a:prstGeom prst="rect">
            <a:avLst/>
          </a:prstGeom>
        </p:spPr>
        <p:txBody>
          <a:bodyPr vert="horz" wrap="square" lIns="0" tIns="12065" rIns="0" bIns="0" rtlCol="0">
            <a:spAutoFit/>
          </a:bodyPr>
          <a:lstStyle/>
          <a:p>
            <a:pPr marL="12700">
              <a:lnSpc>
                <a:spcPct val="100000"/>
              </a:lnSpc>
              <a:spcBef>
                <a:spcPts val="95"/>
              </a:spcBef>
            </a:pPr>
            <a:r>
              <a:rPr sz="5000" spc="-10" dirty="0">
                <a:solidFill>
                  <a:srgbClr val="04607A"/>
                </a:solidFill>
                <a:latin typeface="Calibri"/>
                <a:cs typeface="Calibri"/>
              </a:rPr>
              <a:t>HIRARKI</a:t>
            </a:r>
            <a:r>
              <a:rPr sz="5000" spc="-90" dirty="0">
                <a:solidFill>
                  <a:srgbClr val="04607A"/>
                </a:solidFill>
                <a:latin typeface="Calibri"/>
                <a:cs typeface="Calibri"/>
              </a:rPr>
              <a:t> </a:t>
            </a:r>
            <a:r>
              <a:rPr sz="5000" spc="-220" dirty="0">
                <a:solidFill>
                  <a:srgbClr val="04607A"/>
                </a:solidFill>
                <a:latin typeface="Calibri"/>
                <a:cs typeface="Calibri"/>
              </a:rPr>
              <a:t>DATA</a:t>
            </a:r>
            <a:endParaRPr sz="5000">
              <a:latin typeface="Calibri"/>
              <a:cs typeface="Calibri"/>
            </a:endParaRPr>
          </a:p>
        </p:txBody>
      </p:sp>
      <p:pic>
        <p:nvPicPr>
          <p:cNvPr id="3" name="object 3"/>
          <p:cNvPicPr/>
          <p:nvPr/>
        </p:nvPicPr>
        <p:blipFill>
          <a:blip r:embed="rId2" cstate="print"/>
          <a:stretch>
            <a:fillRect/>
          </a:stretch>
        </p:blipFill>
        <p:spPr>
          <a:xfrm>
            <a:off x="2214626" y="1214499"/>
            <a:ext cx="4857750" cy="55355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590" y="376554"/>
            <a:ext cx="8524875" cy="2059939"/>
          </a:xfrm>
          <a:prstGeom prst="rect">
            <a:avLst/>
          </a:prstGeom>
        </p:spPr>
        <p:txBody>
          <a:bodyPr vert="horz" wrap="square" lIns="0" tIns="13970" rIns="0" bIns="0" rtlCol="0">
            <a:spAutoFit/>
          </a:bodyPr>
          <a:lstStyle/>
          <a:p>
            <a:pPr marL="20955">
              <a:lnSpc>
                <a:spcPct val="100000"/>
              </a:lnSpc>
              <a:spcBef>
                <a:spcPts val="110"/>
              </a:spcBef>
            </a:pPr>
            <a:r>
              <a:rPr sz="4500" spc="-10" dirty="0">
                <a:solidFill>
                  <a:srgbClr val="04607A"/>
                </a:solidFill>
                <a:latin typeface="Calibri"/>
                <a:cs typeface="Calibri"/>
              </a:rPr>
              <a:t>PEMROSESAN</a:t>
            </a:r>
            <a:r>
              <a:rPr sz="4500" spc="-120" dirty="0">
                <a:solidFill>
                  <a:srgbClr val="04607A"/>
                </a:solidFill>
                <a:latin typeface="Calibri"/>
                <a:cs typeface="Calibri"/>
              </a:rPr>
              <a:t> </a:t>
            </a:r>
            <a:r>
              <a:rPr sz="4500" dirty="0">
                <a:solidFill>
                  <a:srgbClr val="04607A"/>
                </a:solidFill>
                <a:latin typeface="Calibri"/>
                <a:cs typeface="Calibri"/>
              </a:rPr>
              <a:t>FILE</a:t>
            </a:r>
            <a:r>
              <a:rPr sz="4500" spc="-15" dirty="0">
                <a:solidFill>
                  <a:srgbClr val="04607A"/>
                </a:solidFill>
                <a:latin typeface="Calibri"/>
                <a:cs typeface="Calibri"/>
              </a:rPr>
              <a:t> </a:t>
            </a:r>
            <a:r>
              <a:rPr sz="4500" dirty="0">
                <a:solidFill>
                  <a:srgbClr val="04607A"/>
                </a:solidFill>
                <a:latin typeface="Calibri"/>
                <a:cs typeface="Calibri"/>
              </a:rPr>
              <a:t>TRADISIONAL</a:t>
            </a:r>
            <a:endParaRPr sz="4500">
              <a:latin typeface="Calibri"/>
              <a:cs typeface="Calibri"/>
            </a:endParaRPr>
          </a:p>
          <a:p>
            <a:pPr marL="12700" marR="5080">
              <a:lnSpc>
                <a:spcPct val="100000"/>
              </a:lnSpc>
              <a:spcBef>
                <a:spcPts val="40"/>
              </a:spcBef>
            </a:pPr>
            <a:r>
              <a:rPr sz="2200" spc="-5" dirty="0">
                <a:latin typeface="Constantia"/>
                <a:cs typeface="Constantia"/>
              </a:rPr>
              <a:t>Pada </a:t>
            </a:r>
            <a:r>
              <a:rPr sz="2200" spc="-10" dirty="0">
                <a:latin typeface="Constantia"/>
                <a:cs typeface="Constantia"/>
              </a:rPr>
              <a:t>kebanyakan </a:t>
            </a:r>
            <a:r>
              <a:rPr sz="2200" spc="-5" dirty="0">
                <a:latin typeface="Constantia"/>
                <a:cs typeface="Constantia"/>
              </a:rPr>
              <a:t>organisasi, </a:t>
            </a:r>
            <a:r>
              <a:rPr sz="2200" spc="5" dirty="0">
                <a:latin typeface="Constantia"/>
                <a:cs typeface="Constantia"/>
              </a:rPr>
              <a:t>file </a:t>
            </a:r>
            <a:r>
              <a:rPr sz="2200" spc="-5" dirty="0">
                <a:latin typeface="Constantia"/>
                <a:cs typeface="Constantia"/>
              </a:rPr>
              <a:t>data dan </a:t>
            </a:r>
            <a:r>
              <a:rPr sz="2200" spc="-10" dirty="0">
                <a:latin typeface="Constantia"/>
                <a:cs typeface="Constantia"/>
              </a:rPr>
              <a:t>sistem cenderung </a:t>
            </a:r>
            <a:r>
              <a:rPr sz="2200" spc="-5" dirty="0">
                <a:latin typeface="Constantia"/>
                <a:cs typeface="Constantia"/>
              </a:rPr>
              <a:t>ber </a:t>
            </a:r>
            <a:r>
              <a:rPr sz="2200" dirty="0">
                <a:latin typeface="Constantia"/>
                <a:cs typeface="Constantia"/>
              </a:rPr>
              <a:t> </a:t>
            </a:r>
            <a:r>
              <a:rPr sz="2200" spc="-5" dirty="0">
                <a:latin typeface="Constantia"/>
                <a:cs typeface="Constantia"/>
              </a:rPr>
              <a:t>tumbuh </a:t>
            </a:r>
            <a:r>
              <a:rPr sz="2200" spc="-10" dirty="0">
                <a:latin typeface="Constantia"/>
                <a:cs typeface="Constantia"/>
              </a:rPr>
              <a:t>secara </a:t>
            </a:r>
            <a:r>
              <a:rPr sz="2200" dirty="0">
                <a:latin typeface="Constantia"/>
                <a:cs typeface="Constantia"/>
              </a:rPr>
              <a:t>mandiri tanpa </a:t>
            </a:r>
            <a:r>
              <a:rPr sz="2200" spc="-5" dirty="0">
                <a:latin typeface="Constantia"/>
                <a:cs typeface="Constantia"/>
              </a:rPr>
              <a:t>rencana </a:t>
            </a:r>
            <a:r>
              <a:rPr sz="2200" spc="-10" dirty="0">
                <a:latin typeface="Constantia"/>
                <a:cs typeface="Constantia"/>
              </a:rPr>
              <a:t>menyeluruh </a:t>
            </a:r>
            <a:r>
              <a:rPr sz="2200" spc="-5" dirty="0">
                <a:latin typeface="Constantia"/>
                <a:cs typeface="Constantia"/>
              </a:rPr>
              <a:t>untuk perusahaan. </a:t>
            </a:r>
            <a:r>
              <a:rPr sz="2200" spc="-540" dirty="0">
                <a:latin typeface="Constantia"/>
                <a:cs typeface="Constantia"/>
              </a:rPr>
              <a:t> </a:t>
            </a:r>
            <a:r>
              <a:rPr sz="2200" spc="-5" dirty="0">
                <a:latin typeface="Constantia"/>
                <a:cs typeface="Constantia"/>
              </a:rPr>
              <a:t>Akuntansi, Keuangan, </a:t>
            </a:r>
            <a:r>
              <a:rPr sz="2200" spc="-25" dirty="0">
                <a:latin typeface="Constantia"/>
                <a:cs typeface="Constantia"/>
              </a:rPr>
              <a:t>Manufaktur, </a:t>
            </a:r>
            <a:r>
              <a:rPr sz="2200" dirty="0">
                <a:latin typeface="Constantia"/>
                <a:cs typeface="Constantia"/>
              </a:rPr>
              <a:t>SDM, </a:t>
            </a:r>
            <a:r>
              <a:rPr sz="2200" spc="-5" dirty="0">
                <a:latin typeface="Constantia"/>
                <a:cs typeface="Constantia"/>
              </a:rPr>
              <a:t>juga </a:t>
            </a:r>
            <a:r>
              <a:rPr sz="2200" dirty="0">
                <a:latin typeface="Constantia"/>
                <a:cs typeface="Constantia"/>
              </a:rPr>
              <a:t>penjualan </a:t>
            </a:r>
            <a:r>
              <a:rPr sz="2200" spc="-5" dirty="0">
                <a:latin typeface="Constantia"/>
                <a:cs typeface="Constantia"/>
              </a:rPr>
              <a:t>dan </a:t>
            </a:r>
            <a:r>
              <a:rPr sz="2200" dirty="0">
                <a:latin typeface="Constantia"/>
                <a:cs typeface="Constantia"/>
              </a:rPr>
              <a:t> </a:t>
            </a:r>
            <a:r>
              <a:rPr sz="2200" spc="-5" dirty="0">
                <a:latin typeface="Constantia"/>
                <a:cs typeface="Constantia"/>
              </a:rPr>
              <a:t>pemasaran,</a:t>
            </a:r>
            <a:r>
              <a:rPr sz="2200" spc="-125" dirty="0">
                <a:latin typeface="Constantia"/>
                <a:cs typeface="Constantia"/>
              </a:rPr>
              <a:t> </a:t>
            </a:r>
            <a:r>
              <a:rPr sz="2200" dirty="0">
                <a:latin typeface="Constantia"/>
                <a:cs typeface="Constantia"/>
              </a:rPr>
              <a:t>semua</a:t>
            </a:r>
            <a:r>
              <a:rPr sz="2200" spc="-80" dirty="0">
                <a:latin typeface="Constantia"/>
                <a:cs typeface="Constantia"/>
              </a:rPr>
              <a:t> </a:t>
            </a:r>
            <a:r>
              <a:rPr sz="2200" spc="-5" dirty="0">
                <a:latin typeface="Constantia"/>
                <a:cs typeface="Constantia"/>
              </a:rPr>
              <a:t>berkembang</a:t>
            </a:r>
            <a:r>
              <a:rPr sz="2200" spc="-130" dirty="0">
                <a:latin typeface="Constantia"/>
                <a:cs typeface="Constantia"/>
              </a:rPr>
              <a:t> </a:t>
            </a:r>
            <a:r>
              <a:rPr sz="2200" dirty="0">
                <a:latin typeface="Constantia"/>
                <a:cs typeface="Constantia"/>
              </a:rPr>
              <a:t>dengan</a:t>
            </a:r>
            <a:r>
              <a:rPr sz="2200" spc="-130" dirty="0">
                <a:latin typeface="Constantia"/>
                <a:cs typeface="Constantia"/>
              </a:rPr>
              <a:t> </a:t>
            </a:r>
            <a:r>
              <a:rPr sz="2200" spc="-10" dirty="0">
                <a:latin typeface="Constantia"/>
                <a:cs typeface="Constantia"/>
              </a:rPr>
              <a:t>sistem</a:t>
            </a:r>
            <a:r>
              <a:rPr sz="2200" spc="-105" dirty="0">
                <a:latin typeface="Constantia"/>
                <a:cs typeface="Constantia"/>
              </a:rPr>
              <a:t> </a:t>
            </a:r>
            <a:r>
              <a:rPr sz="2200" spc="-5" dirty="0">
                <a:latin typeface="Constantia"/>
                <a:cs typeface="Constantia"/>
              </a:rPr>
              <a:t>dan</a:t>
            </a:r>
            <a:r>
              <a:rPr sz="2200" spc="-35" dirty="0">
                <a:latin typeface="Constantia"/>
                <a:cs typeface="Constantia"/>
              </a:rPr>
              <a:t> </a:t>
            </a:r>
            <a:r>
              <a:rPr sz="2200" spc="5" dirty="0">
                <a:latin typeface="Constantia"/>
                <a:cs typeface="Constantia"/>
              </a:rPr>
              <a:t>file</a:t>
            </a:r>
            <a:r>
              <a:rPr sz="2200" spc="-114" dirty="0">
                <a:latin typeface="Constantia"/>
                <a:cs typeface="Constantia"/>
              </a:rPr>
              <a:t> </a:t>
            </a:r>
            <a:r>
              <a:rPr sz="2200" spc="-10" dirty="0">
                <a:latin typeface="Constantia"/>
                <a:cs typeface="Constantia"/>
              </a:rPr>
              <a:t>datanya</a:t>
            </a:r>
            <a:r>
              <a:rPr sz="2200" spc="-145" dirty="0">
                <a:latin typeface="Constantia"/>
                <a:cs typeface="Constantia"/>
              </a:rPr>
              <a:t> </a:t>
            </a:r>
            <a:r>
              <a:rPr sz="2200" spc="-5" dirty="0">
                <a:latin typeface="Constantia"/>
                <a:cs typeface="Constantia"/>
              </a:rPr>
              <a:t>sendiri.</a:t>
            </a:r>
            <a:endParaRPr sz="2200">
              <a:latin typeface="Constantia"/>
              <a:cs typeface="Constantia"/>
            </a:endParaRPr>
          </a:p>
        </p:txBody>
      </p:sp>
      <p:pic>
        <p:nvPicPr>
          <p:cNvPr id="3" name="object 3"/>
          <p:cNvPicPr/>
          <p:nvPr/>
        </p:nvPicPr>
        <p:blipFill>
          <a:blip r:embed="rId2" cstate="print"/>
          <a:stretch>
            <a:fillRect/>
          </a:stretch>
        </p:blipFill>
        <p:spPr>
          <a:xfrm>
            <a:off x="1571625" y="2786062"/>
            <a:ext cx="5786374" cy="3854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804" y="427177"/>
            <a:ext cx="7877175" cy="1399540"/>
          </a:xfrm>
          <a:prstGeom prst="rect">
            <a:avLst/>
          </a:prstGeom>
        </p:spPr>
        <p:txBody>
          <a:bodyPr vert="horz" wrap="square" lIns="0" tIns="14605" rIns="0" bIns="0" rtlCol="0">
            <a:spAutoFit/>
          </a:bodyPr>
          <a:lstStyle/>
          <a:p>
            <a:pPr marL="12700" marR="5080">
              <a:lnSpc>
                <a:spcPct val="100000"/>
              </a:lnSpc>
              <a:spcBef>
                <a:spcPts val="115"/>
              </a:spcBef>
            </a:pPr>
            <a:r>
              <a:rPr sz="4500" dirty="0">
                <a:solidFill>
                  <a:srgbClr val="04607A"/>
                </a:solidFill>
                <a:latin typeface="Calibri"/>
                <a:cs typeface="Calibri"/>
              </a:rPr>
              <a:t>MASALAH</a:t>
            </a:r>
            <a:r>
              <a:rPr sz="4500" spc="-135" dirty="0">
                <a:solidFill>
                  <a:srgbClr val="04607A"/>
                </a:solidFill>
                <a:latin typeface="Calibri"/>
                <a:cs typeface="Calibri"/>
              </a:rPr>
              <a:t> </a:t>
            </a:r>
            <a:r>
              <a:rPr sz="4500" dirty="0">
                <a:solidFill>
                  <a:srgbClr val="04607A"/>
                </a:solidFill>
                <a:latin typeface="Calibri"/>
                <a:cs typeface="Calibri"/>
              </a:rPr>
              <a:t>DENGAN</a:t>
            </a:r>
            <a:r>
              <a:rPr sz="4500" spc="-70" dirty="0">
                <a:solidFill>
                  <a:srgbClr val="04607A"/>
                </a:solidFill>
                <a:latin typeface="Calibri"/>
                <a:cs typeface="Calibri"/>
              </a:rPr>
              <a:t> </a:t>
            </a:r>
            <a:r>
              <a:rPr sz="4500" spc="-5" dirty="0">
                <a:solidFill>
                  <a:srgbClr val="04607A"/>
                </a:solidFill>
                <a:latin typeface="Calibri"/>
                <a:cs typeface="Calibri"/>
              </a:rPr>
              <a:t>LINGKUNGAN </a:t>
            </a:r>
            <a:r>
              <a:rPr sz="4500" spc="-1005" dirty="0">
                <a:solidFill>
                  <a:srgbClr val="04607A"/>
                </a:solidFill>
                <a:latin typeface="Calibri"/>
                <a:cs typeface="Calibri"/>
              </a:rPr>
              <a:t> </a:t>
            </a:r>
            <a:r>
              <a:rPr sz="4500" spc="-5" dirty="0">
                <a:solidFill>
                  <a:srgbClr val="04607A"/>
                </a:solidFill>
                <a:latin typeface="Calibri"/>
                <a:cs typeface="Calibri"/>
              </a:rPr>
              <a:t>FILE</a:t>
            </a:r>
            <a:r>
              <a:rPr sz="4500" spc="-40" dirty="0">
                <a:solidFill>
                  <a:srgbClr val="04607A"/>
                </a:solidFill>
                <a:latin typeface="Calibri"/>
                <a:cs typeface="Calibri"/>
              </a:rPr>
              <a:t> </a:t>
            </a:r>
            <a:r>
              <a:rPr sz="4500" dirty="0">
                <a:solidFill>
                  <a:srgbClr val="04607A"/>
                </a:solidFill>
                <a:latin typeface="Calibri"/>
                <a:cs typeface="Calibri"/>
              </a:rPr>
              <a:t>TRADISIONAL</a:t>
            </a:r>
            <a:endParaRPr sz="4500">
              <a:latin typeface="Calibri"/>
              <a:cs typeface="Calibri"/>
            </a:endParaRPr>
          </a:p>
        </p:txBody>
      </p:sp>
      <p:sp>
        <p:nvSpPr>
          <p:cNvPr id="3" name="object 3"/>
          <p:cNvSpPr txBox="1"/>
          <p:nvPr/>
        </p:nvSpPr>
        <p:spPr>
          <a:xfrm>
            <a:off x="536244" y="1877782"/>
            <a:ext cx="8060690" cy="4160520"/>
          </a:xfrm>
          <a:prstGeom prst="rect">
            <a:avLst/>
          </a:prstGeom>
        </p:spPr>
        <p:txBody>
          <a:bodyPr vert="horz" wrap="square" lIns="0" tIns="48895" rIns="0" bIns="0" rtlCol="0">
            <a:spAutoFit/>
          </a:bodyPr>
          <a:lstStyle/>
          <a:p>
            <a:pPr marL="287020" indent="-274320">
              <a:lnSpc>
                <a:spcPct val="100000"/>
              </a:lnSpc>
              <a:spcBef>
                <a:spcPts val="385"/>
              </a:spcBef>
              <a:buClr>
                <a:srgbClr val="0AD0D9"/>
              </a:buClr>
              <a:buSzPct val="93750"/>
              <a:buFont typeface="Segoe UI Symbol"/>
              <a:buChar char="⚫"/>
              <a:tabLst>
                <a:tab pos="287020" algn="l"/>
              </a:tabLst>
            </a:pPr>
            <a:r>
              <a:rPr sz="2400" spc="-15" dirty="0">
                <a:latin typeface="Constantia"/>
                <a:cs typeface="Constantia"/>
              </a:rPr>
              <a:t>REDUDANSI</a:t>
            </a:r>
            <a:r>
              <a:rPr sz="2400" spc="-40" dirty="0">
                <a:latin typeface="Constantia"/>
                <a:cs typeface="Constantia"/>
              </a:rPr>
              <a:t> </a:t>
            </a:r>
            <a:r>
              <a:rPr sz="2400" spc="-30" dirty="0">
                <a:latin typeface="Constantia"/>
                <a:cs typeface="Constantia"/>
              </a:rPr>
              <a:t>DAN</a:t>
            </a:r>
            <a:r>
              <a:rPr sz="2400" spc="-15" dirty="0">
                <a:latin typeface="Constantia"/>
                <a:cs typeface="Constantia"/>
              </a:rPr>
              <a:t> </a:t>
            </a:r>
            <a:r>
              <a:rPr sz="2400" spc="-20" dirty="0">
                <a:latin typeface="Constantia"/>
                <a:cs typeface="Constantia"/>
              </a:rPr>
              <a:t>INKONSISTENSI</a:t>
            </a:r>
            <a:r>
              <a:rPr sz="2400" spc="-15" dirty="0">
                <a:latin typeface="Constantia"/>
                <a:cs typeface="Constantia"/>
              </a:rPr>
              <a:t> </a:t>
            </a:r>
            <a:r>
              <a:rPr sz="2400" spc="-85" dirty="0">
                <a:latin typeface="Constantia"/>
                <a:cs typeface="Constantia"/>
              </a:rPr>
              <a:t>DATA</a:t>
            </a:r>
            <a:endParaRPr sz="2400">
              <a:latin typeface="Constantia"/>
              <a:cs typeface="Constantia"/>
            </a:endParaRPr>
          </a:p>
          <a:p>
            <a:pPr marL="652780" marR="5080" lvl="1" indent="-247015">
              <a:lnSpc>
                <a:spcPct val="90100"/>
              </a:lnSpc>
              <a:spcBef>
                <a:spcPts val="575"/>
              </a:spcBef>
              <a:buClr>
                <a:srgbClr val="0E6EC5"/>
              </a:buClr>
              <a:buSzPct val="85416"/>
              <a:buFont typeface="Segoe UI Symbol"/>
              <a:buChar char="⚫"/>
              <a:tabLst>
                <a:tab pos="652780" algn="l"/>
              </a:tabLst>
            </a:pPr>
            <a:r>
              <a:rPr sz="2400" spc="-20" dirty="0">
                <a:latin typeface="Constantia"/>
                <a:cs typeface="Constantia"/>
              </a:rPr>
              <a:t>Adanya </a:t>
            </a:r>
            <a:r>
              <a:rPr sz="2400" spc="-5" dirty="0">
                <a:latin typeface="Constantia"/>
                <a:cs typeface="Constantia"/>
              </a:rPr>
              <a:t>Duplikasi </a:t>
            </a:r>
            <a:r>
              <a:rPr sz="2400" spc="-10" dirty="0">
                <a:latin typeface="Constantia"/>
                <a:cs typeface="Constantia"/>
              </a:rPr>
              <a:t>Data </a:t>
            </a:r>
            <a:r>
              <a:rPr sz="2400" spc="-5" dirty="0">
                <a:latin typeface="Constantia"/>
                <a:cs typeface="Constantia"/>
              </a:rPr>
              <a:t>Dalam </a:t>
            </a:r>
            <a:r>
              <a:rPr sz="2400" spc="-10" dirty="0">
                <a:latin typeface="Constantia"/>
                <a:cs typeface="Constantia"/>
              </a:rPr>
              <a:t>Beberapa File Data </a:t>
            </a:r>
            <a:r>
              <a:rPr sz="2400" spc="-5" dirty="0">
                <a:latin typeface="Constantia"/>
                <a:cs typeface="Constantia"/>
              </a:rPr>
              <a:t> Sehingga</a:t>
            </a:r>
            <a:r>
              <a:rPr sz="2400" spc="-80" dirty="0">
                <a:latin typeface="Constantia"/>
                <a:cs typeface="Constantia"/>
              </a:rPr>
              <a:t> </a:t>
            </a:r>
            <a:r>
              <a:rPr sz="2400" spc="-10" dirty="0">
                <a:latin typeface="Constantia"/>
                <a:cs typeface="Constantia"/>
              </a:rPr>
              <a:t>Data</a:t>
            </a:r>
            <a:r>
              <a:rPr sz="2400" spc="-130" dirty="0">
                <a:latin typeface="Constantia"/>
                <a:cs typeface="Constantia"/>
              </a:rPr>
              <a:t> </a:t>
            </a:r>
            <a:r>
              <a:rPr sz="2400" spc="-50" dirty="0">
                <a:latin typeface="Constantia"/>
                <a:cs typeface="Constantia"/>
              </a:rPr>
              <a:t>Yang</a:t>
            </a:r>
            <a:r>
              <a:rPr sz="2400" spc="20" dirty="0">
                <a:latin typeface="Constantia"/>
                <a:cs typeface="Constantia"/>
              </a:rPr>
              <a:t> </a:t>
            </a:r>
            <a:r>
              <a:rPr sz="2400" dirty="0">
                <a:latin typeface="Constantia"/>
                <a:cs typeface="Constantia"/>
              </a:rPr>
              <a:t>Sama</a:t>
            </a:r>
            <a:r>
              <a:rPr sz="2400" spc="-75" dirty="0">
                <a:latin typeface="Constantia"/>
                <a:cs typeface="Constantia"/>
              </a:rPr>
              <a:t> </a:t>
            </a:r>
            <a:r>
              <a:rPr sz="2400" spc="-5" dirty="0">
                <a:latin typeface="Constantia"/>
                <a:cs typeface="Constantia"/>
              </a:rPr>
              <a:t>Disimpan</a:t>
            </a:r>
            <a:r>
              <a:rPr sz="2400" spc="-35" dirty="0">
                <a:latin typeface="Constantia"/>
                <a:cs typeface="Constantia"/>
              </a:rPr>
              <a:t> </a:t>
            </a:r>
            <a:r>
              <a:rPr sz="2400" spc="-5" dirty="0">
                <a:latin typeface="Constantia"/>
                <a:cs typeface="Constantia"/>
              </a:rPr>
              <a:t>Didalam</a:t>
            </a:r>
            <a:r>
              <a:rPr sz="2400" spc="-75" dirty="0">
                <a:latin typeface="Constantia"/>
                <a:cs typeface="Constantia"/>
              </a:rPr>
              <a:t> </a:t>
            </a:r>
            <a:r>
              <a:rPr sz="2400" spc="5" dirty="0">
                <a:latin typeface="Constantia"/>
                <a:cs typeface="Constantia"/>
              </a:rPr>
              <a:t>Lebih</a:t>
            </a:r>
            <a:r>
              <a:rPr sz="2400" spc="-55" dirty="0">
                <a:latin typeface="Constantia"/>
                <a:cs typeface="Constantia"/>
              </a:rPr>
              <a:t> </a:t>
            </a:r>
            <a:r>
              <a:rPr sz="2400" spc="-10" dirty="0">
                <a:latin typeface="Constantia"/>
                <a:cs typeface="Constantia"/>
              </a:rPr>
              <a:t>Dari </a:t>
            </a:r>
            <a:r>
              <a:rPr sz="2400" spc="-590" dirty="0">
                <a:latin typeface="Constantia"/>
                <a:cs typeface="Constantia"/>
              </a:rPr>
              <a:t> </a:t>
            </a:r>
            <a:r>
              <a:rPr sz="2400" dirty="0">
                <a:latin typeface="Constantia"/>
                <a:cs typeface="Constantia"/>
              </a:rPr>
              <a:t>Satu</a:t>
            </a:r>
            <a:r>
              <a:rPr sz="2400" spc="-60" dirty="0">
                <a:latin typeface="Constantia"/>
                <a:cs typeface="Constantia"/>
              </a:rPr>
              <a:t> </a:t>
            </a:r>
            <a:r>
              <a:rPr sz="2400" dirty="0">
                <a:latin typeface="Constantia"/>
                <a:cs typeface="Constantia"/>
              </a:rPr>
              <a:t>Lokasi</a:t>
            </a:r>
            <a:endParaRPr sz="2400">
              <a:latin typeface="Constantia"/>
              <a:cs typeface="Constantia"/>
            </a:endParaRPr>
          </a:p>
          <a:p>
            <a:pPr marL="287020" indent="-274320">
              <a:lnSpc>
                <a:spcPct val="100000"/>
              </a:lnSpc>
              <a:spcBef>
                <a:spcPts val="290"/>
              </a:spcBef>
              <a:buClr>
                <a:srgbClr val="0AD0D9"/>
              </a:buClr>
              <a:buSzPct val="93750"/>
              <a:buFont typeface="Segoe UI Symbol"/>
              <a:buChar char="⚫"/>
              <a:tabLst>
                <a:tab pos="287020" algn="l"/>
              </a:tabLst>
            </a:pPr>
            <a:r>
              <a:rPr sz="2400" spc="-15" dirty="0">
                <a:latin typeface="Constantia"/>
                <a:cs typeface="Constantia"/>
              </a:rPr>
              <a:t>KETERGANTUNGAN</a:t>
            </a:r>
            <a:r>
              <a:rPr sz="2400" spc="10" dirty="0">
                <a:latin typeface="Constantia"/>
                <a:cs typeface="Constantia"/>
              </a:rPr>
              <a:t> </a:t>
            </a:r>
            <a:r>
              <a:rPr sz="2400" spc="-25" dirty="0">
                <a:latin typeface="Constantia"/>
                <a:cs typeface="Constantia"/>
              </a:rPr>
              <a:t>PROGRAM</a:t>
            </a:r>
            <a:r>
              <a:rPr sz="2400" spc="35" dirty="0">
                <a:latin typeface="Constantia"/>
                <a:cs typeface="Constantia"/>
              </a:rPr>
              <a:t> </a:t>
            </a:r>
            <a:r>
              <a:rPr sz="2400" dirty="0">
                <a:latin typeface="Constantia"/>
                <a:cs typeface="Constantia"/>
              </a:rPr>
              <a:t>–</a:t>
            </a:r>
            <a:r>
              <a:rPr sz="2400" spc="-5" dirty="0">
                <a:latin typeface="Constantia"/>
                <a:cs typeface="Constantia"/>
              </a:rPr>
              <a:t> </a:t>
            </a:r>
            <a:r>
              <a:rPr sz="2400" spc="-90" dirty="0">
                <a:latin typeface="Constantia"/>
                <a:cs typeface="Constantia"/>
              </a:rPr>
              <a:t>DATA</a:t>
            </a:r>
            <a:endParaRPr sz="2400">
              <a:latin typeface="Constantia"/>
              <a:cs typeface="Constantia"/>
            </a:endParaRPr>
          </a:p>
          <a:p>
            <a:pPr marL="652780" marR="386080" lvl="1" indent="-247015">
              <a:lnSpc>
                <a:spcPts val="2590"/>
              </a:lnSpc>
              <a:spcBef>
                <a:spcPts val="615"/>
              </a:spcBef>
              <a:buClr>
                <a:srgbClr val="0E6EC5"/>
              </a:buClr>
              <a:buSzPct val="85416"/>
              <a:buFont typeface="Segoe UI Symbol"/>
              <a:buChar char="⚫"/>
              <a:tabLst>
                <a:tab pos="652780" algn="l"/>
              </a:tabLst>
            </a:pPr>
            <a:r>
              <a:rPr sz="2400" spc="-10" dirty="0">
                <a:latin typeface="Constantia"/>
                <a:cs typeface="Constantia"/>
              </a:rPr>
              <a:t>Perubahan</a:t>
            </a:r>
            <a:r>
              <a:rPr sz="2400" spc="-140" dirty="0">
                <a:latin typeface="Constantia"/>
                <a:cs typeface="Constantia"/>
              </a:rPr>
              <a:t> </a:t>
            </a:r>
            <a:r>
              <a:rPr sz="2400" dirty="0">
                <a:latin typeface="Constantia"/>
                <a:cs typeface="Constantia"/>
              </a:rPr>
              <a:t>dalam</a:t>
            </a:r>
            <a:r>
              <a:rPr sz="2400" spc="-80" dirty="0">
                <a:latin typeface="Constantia"/>
                <a:cs typeface="Constantia"/>
              </a:rPr>
              <a:t> </a:t>
            </a:r>
            <a:r>
              <a:rPr sz="2400" spc="-15" dirty="0">
                <a:latin typeface="Constantia"/>
                <a:cs typeface="Constantia"/>
              </a:rPr>
              <a:t>program</a:t>
            </a:r>
            <a:r>
              <a:rPr sz="2400" spc="-60" dirty="0">
                <a:latin typeface="Constantia"/>
                <a:cs typeface="Constantia"/>
              </a:rPr>
              <a:t> </a:t>
            </a:r>
            <a:r>
              <a:rPr sz="2400" spc="-5" dirty="0">
                <a:latin typeface="Constantia"/>
                <a:cs typeface="Constantia"/>
              </a:rPr>
              <a:t>membutuhkan</a:t>
            </a:r>
            <a:r>
              <a:rPr sz="2400" spc="-90" dirty="0">
                <a:latin typeface="Constantia"/>
                <a:cs typeface="Constantia"/>
              </a:rPr>
              <a:t> </a:t>
            </a:r>
            <a:r>
              <a:rPr sz="2400" dirty="0">
                <a:latin typeface="Constantia"/>
                <a:cs typeface="Constantia"/>
              </a:rPr>
              <a:t>perubahan </a:t>
            </a:r>
            <a:r>
              <a:rPr sz="2400" spc="-590" dirty="0">
                <a:latin typeface="Constantia"/>
                <a:cs typeface="Constantia"/>
              </a:rPr>
              <a:t> </a:t>
            </a:r>
            <a:r>
              <a:rPr sz="2400" spc="-5" dirty="0">
                <a:latin typeface="Constantia"/>
                <a:cs typeface="Constantia"/>
              </a:rPr>
              <a:t>dalam</a:t>
            </a:r>
            <a:r>
              <a:rPr sz="2400" spc="-145" dirty="0">
                <a:latin typeface="Constantia"/>
                <a:cs typeface="Constantia"/>
              </a:rPr>
              <a:t> </a:t>
            </a:r>
            <a:r>
              <a:rPr sz="2400" spc="-5" dirty="0">
                <a:latin typeface="Constantia"/>
                <a:cs typeface="Constantia"/>
              </a:rPr>
              <a:t>data</a:t>
            </a:r>
            <a:endParaRPr sz="2400">
              <a:latin typeface="Constantia"/>
              <a:cs typeface="Constantia"/>
            </a:endParaRPr>
          </a:p>
          <a:p>
            <a:pPr marL="287020" indent="-274320">
              <a:lnSpc>
                <a:spcPct val="100000"/>
              </a:lnSpc>
              <a:spcBef>
                <a:spcPts val="254"/>
              </a:spcBef>
              <a:buClr>
                <a:srgbClr val="0AD0D9"/>
              </a:buClr>
              <a:buSzPct val="93750"/>
              <a:buFont typeface="Segoe UI Symbol"/>
              <a:buChar char="⚫"/>
              <a:tabLst>
                <a:tab pos="287020" algn="l"/>
              </a:tabLst>
            </a:pPr>
            <a:r>
              <a:rPr sz="2400" spc="-30" dirty="0">
                <a:latin typeface="Constantia"/>
                <a:cs typeface="Constantia"/>
              </a:rPr>
              <a:t>KURANGNYA</a:t>
            </a:r>
            <a:r>
              <a:rPr sz="2400" spc="-45" dirty="0">
                <a:latin typeface="Constantia"/>
                <a:cs typeface="Constantia"/>
              </a:rPr>
              <a:t> </a:t>
            </a:r>
            <a:r>
              <a:rPr sz="2400" spc="-15" dirty="0">
                <a:latin typeface="Constantia"/>
                <a:cs typeface="Constantia"/>
              </a:rPr>
              <a:t>FLEKSIBILITAS</a:t>
            </a:r>
            <a:endParaRPr sz="2400">
              <a:latin typeface="Constantia"/>
              <a:cs typeface="Constantia"/>
            </a:endParaRPr>
          </a:p>
          <a:p>
            <a:pPr marL="287020" indent="-274320">
              <a:lnSpc>
                <a:spcPct val="100000"/>
              </a:lnSpc>
              <a:spcBef>
                <a:spcPts val="290"/>
              </a:spcBef>
              <a:buClr>
                <a:srgbClr val="0AD0D9"/>
              </a:buClr>
              <a:buSzPct val="93750"/>
              <a:buFont typeface="Segoe UI Symbol"/>
              <a:buChar char="⚫"/>
              <a:tabLst>
                <a:tab pos="287020" algn="l"/>
              </a:tabLst>
            </a:pPr>
            <a:r>
              <a:rPr sz="2400" spc="-5" dirty="0">
                <a:latin typeface="Constantia"/>
                <a:cs typeface="Constantia"/>
              </a:rPr>
              <a:t>KEAMANAN</a:t>
            </a:r>
            <a:r>
              <a:rPr sz="2400" spc="-95" dirty="0">
                <a:latin typeface="Constantia"/>
                <a:cs typeface="Constantia"/>
              </a:rPr>
              <a:t> </a:t>
            </a:r>
            <a:r>
              <a:rPr sz="2400" spc="-55" dirty="0">
                <a:latin typeface="Constantia"/>
                <a:cs typeface="Constantia"/>
              </a:rPr>
              <a:t>YANG</a:t>
            </a:r>
            <a:r>
              <a:rPr sz="2400" spc="-10" dirty="0">
                <a:latin typeface="Constantia"/>
                <a:cs typeface="Constantia"/>
              </a:rPr>
              <a:t> </a:t>
            </a:r>
            <a:r>
              <a:rPr sz="2400" spc="-25" dirty="0">
                <a:latin typeface="Constantia"/>
                <a:cs typeface="Constantia"/>
              </a:rPr>
              <a:t>BURUK</a:t>
            </a:r>
            <a:endParaRPr sz="2400">
              <a:latin typeface="Constantia"/>
              <a:cs typeface="Constantia"/>
            </a:endParaRPr>
          </a:p>
          <a:p>
            <a:pPr marL="287020" marR="2203450" indent="-274320">
              <a:lnSpc>
                <a:spcPts val="2590"/>
              </a:lnSpc>
              <a:spcBef>
                <a:spcPts val="620"/>
              </a:spcBef>
              <a:buClr>
                <a:srgbClr val="0AD0D9"/>
              </a:buClr>
              <a:buSzPct val="93750"/>
              <a:buFont typeface="Segoe UI Symbol"/>
              <a:buChar char="⚫"/>
              <a:tabLst>
                <a:tab pos="287020" algn="l"/>
              </a:tabLst>
            </a:pPr>
            <a:r>
              <a:rPr sz="2400" spc="-30" dirty="0">
                <a:latin typeface="Constantia"/>
                <a:cs typeface="Constantia"/>
              </a:rPr>
              <a:t>KURANGNYA </a:t>
            </a:r>
            <a:r>
              <a:rPr sz="2400" spc="-15" dirty="0">
                <a:latin typeface="Constantia"/>
                <a:cs typeface="Constantia"/>
              </a:rPr>
              <a:t>DALAM </a:t>
            </a:r>
            <a:r>
              <a:rPr sz="2400" spc="-20" dirty="0">
                <a:latin typeface="Constantia"/>
                <a:cs typeface="Constantia"/>
              </a:rPr>
              <a:t>PEMBAGIAN </a:t>
            </a:r>
            <a:r>
              <a:rPr sz="2400" spc="-30" dirty="0">
                <a:latin typeface="Constantia"/>
                <a:cs typeface="Constantia"/>
              </a:rPr>
              <a:t>DAN </a:t>
            </a:r>
            <a:r>
              <a:rPr sz="2400" spc="-590" dirty="0">
                <a:latin typeface="Constantia"/>
                <a:cs typeface="Constantia"/>
              </a:rPr>
              <a:t> </a:t>
            </a:r>
            <a:r>
              <a:rPr sz="2400" spc="-10" dirty="0">
                <a:latin typeface="Constantia"/>
                <a:cs typeface="Constantia"/>
              </a:rPr>
              <a:t>KETERSEDIAAN</a:t>
            </a:r>
            <a:r>
              <a:rPr sz="2400" spc="-30" dirty="0">
                <a:latin typeface="Constantia"/>
                <a:cs typeface="Constantia"/>
              </a:rPr>
              <a:t> </a:t>
            </a:r>
            <a:r>
              <a:rPr sz="2400" spc="-85" dirty="0">
                <a:latin typeface="Constantia"/>
                <a:cs typeface="Constantia"/>
              </a:rPr>
              <a:t>DATA</a:t>
            </a:r>
            <a:endParaRPr sz="2400">
              <a:latin typeface="Constantia"/>
              <a:cs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a:spLocks noGrp="1"/>
          </p:cNvSpPr>
          <p:nvPr>
            <p:ph type="title"/>
          </p:nvPr>
        </p:nvSpPr>
        <p:spPr>
          <a:xfrm>
            <a:off x="444804" y="55575"/>
            <a:ext cx="7452995" cy="1399540"/>
          </a:xfrm>
          <a:prstGeom prst="rect">
            <a:avLst/>
          </a:prstGeom>
        </p:spPr>
        <p:txBody>
          <a:bodyPr vert="horz" wrap="square" lIns="0" tIns="14605" rIns="0" bIns="0" rtlCol="0">
            <a:spAutoFit/>
          </a:bodyPr>
          <a:lstStyle/>
          <a:p>
            <a:pPr marL="12700" marR="5080">
              <a:lnSpc>
                <a:spcPct val="100000"/>
              </a:lnSpc>
              <a:spcBef>
                <a:spcPts val="115"/>
              </a:spcBef>
            </a:pPr>
            <a:r>
              <a:rPr sz="4500" spc="-70" dirty="0">
                <a:solidFill>
                  <a:srgbClr val="04607A"/>
                </a:solidFill>
                <a:latin typeface="Calibri"/>
                <a:cs typeface="Calibri"/>
              </a:rPr>
              <a:t>PENDEKATAN </a:t>
            </a:r>
            <a:r>
              <a:rPr sz="4500" spc="-10" dirty="0">
                <a:solidFill>
                  <a:srgbClr val="04607A"/>
                </a:solidFill>
                <a:latin typeface="Calibri"/>
                <a:cs typeface="Calibri"/>
              </a:rPr>
              <a:t>BASIS </a:t>
            </a:r>
            <a:r>
              <a:rPr sz="4500" spc="-190" dirty="0">
                <a:solidFill>
                  <a:srgbClr val="04607A"/>
                </a:solidFill>
                <a:latin typeface="Calibri"/>
                <a:cs typeface="Calibri"/>
              </a:rPr>
              <a:t>DATA </a:t>
            </a:r>
            <a:r>
              <a:rPr sz="4500" spc="-185" dirty="0">
                <a:solidFill>
                  <a:srgbClr val="04607A"/>
                </a:solidFill>
                <a:latin typeface="Calibri"/>
                <a:cs typeface="Calibri"/>
              </a:rPr>
              <a:t> </a:t>
            </a:r>
            <a:r>
              <a:rPr sz="4500" spc="-5" dirty="0">
                <a:solidFill>
                  <a:srgbClr val="04607A"/>
                </a:solidFill>
                <a:latin typeface="Calibri"/>
                <a:cs typeface="Calibri"/>
              </a:rPr>
              <a:t>TERHADAP</a:t>
            </a:r>
            <a:r>
              <a:rPr sz="4500" spc="-135" dirty="0">
                <a:solidFill>
                  <a:srgbClr val="04607A"/>
                </a:solidFill>
                <a:latin typeface="Calibri"/>
                <a:cs typeface="Calibri"/>
              </a:rPr>
              <a:t> </a:t>
            </a:r>
            <a:r>
              <a:rPr sz="4500" spc="-5" dirty="0">
                <a:solidFill>
                  <a:srgbClr val="04607A"/>
                </a:solidFill>
                <a:latin typeface="Calibri"/>
                <a:cs typeface="Calibri"/>
              </a:rPr>
              <a:t>PENGELOLAAN</a:t>
            </a:r>
            <a:r>
              <a:rPr sz="4500" spc="-155" dirty="0">
                <a:solidFill>
                  <a:srgbClr val="04607A"/>
                </a:solidFill>
                <a:latin typeface="Calibri"/>
                <a:cs typeface="Calibri"/>
              </a:rPr>
              <a:t> </a:t>
            </a:r>
            <a:r>
              <a:rPr sz="4500" spc="-190" dirty="0">
                <a:solidFill>
                  <a:srgbClr val="04607A"/>
                </a:solidFill>
                <a:latin typeface="Calibri"/>
                <a:cs typeface="Calibri"/>
              </a:rPr>
              <a:t>DATA</a:t>
            </a:r>
            <a:endParaRPr sz="4500">
              <a:latin typeface="Calibri"/>
              <a:cs typeface="Calibri"/>
            </a:endParaRPr>
          </a:p>
        </p:txBody>
      </p:sp>
      <p:sp>
        <p:nvSpPr>
          <p:cNvPr id="9" name="object 9"/>
          <p:cNvSpPr txBox="1"/>
          <p:nvPr/>
        </p:nvSpPr>
        <p:spPr>
          <a:xfrm>
            <a:off x="460044" y="1386916"/>
            <a:ext cx="8045450" cy="4270375"/>
          </a:xfrm>
          <a:prstGeom prst="rect">
            <a:avLst/>
          </a:prstGeom>
        </p:spPr>
        <p:txBody>
          <a:bodyPr vert="horz" wrap="square" lIns="0" tIns="12700" rIns="0" bIns="0" rtlCol="0">
            <a:spAutoFit/>
          </a:bodyPr>
          <a:lstStyle/>
          <a:p>
            <a:pPr marL="287020" indent="-274320">
              <a:lnSpc>
                <a:spcPct val="100000"/>
              </a:lnSpc>
              <a:spcBef>
                <a:spcPts val="100"/>
              </a:spcBef>
              <a:buClr>
                <a:srgbClr val="0AD0D9"/>
              </a:buClr>
              <a:buSzPct val="93750"/>
              <a:buFont typeface="Segoe UI Symbol"/>
              <a:buChar char="⚫"/>
              <a:tabLst>
                <a:tab pos="287020" algn="l"/>
              </a:tabLst>
            </a:pPr>
            <a:r>
              <a:rPr sz="2400" spc="-30" dirty="0">
                <a:latin typeface="Constantia"/>
                <a:cs typeface="Constantia"/>
              </a:rPr>
              <a:t>Teknologi</a:t>
            </a:r>
            <a:r>
              <a:rPr sz="2400" spc="10" dirty="0">
                <a:latin typeface="Constantia"/>
                <a:cs typeface="Constantia"/>
              </a:rPr>
              <a:t> </a:t>
            </a:r>
            <a:r>
              <a:rPr sz="2400" spc="-5" dirty="0">
                <a:latin typeface="Constantia"/>
                <a:cs typeface="Constantia"/>
              </a:rPr>
              <a:t>Basis</a:t>
            </a:r>
            <a:r>
              <a:rPr sz="2400" spc="-40" dirty="0">
                <a:latin typeface="Constantia"/>
                <a:cs typeface="Constantia"/>
              </a:rPr>
              <a:t> </a:t>
            </a:r>
            <a:r>
              <a:rPr sz="2400" spc="-10" dirty="0">
                <a:latin typeface="Constantia"/>
                <a:cs typeface="Constantia"/>
              </a:rPr>
              <a:t>Data</a:t>
            </a:r>
            <a:r>
              <a:rPr sz="2400" spc="-55" dirty="0">
                <a:latin typeface="Constantia"/>
                <a:cs typeface="Constantia"/>
              </a:rPr>
              <a:t> </a:t>
            </a:r>
            <a:r>
              <a:rPr sz="2400" spc="-10" dirty="0">
                <a:latin typeface="Constantia"/>
                <a:cs typeface="Constantia"/>
              </a:rPr>
              <a:t>Mengatasi</a:t>
            </a:r>
            <a:r>
              <a:rPr sz="2400" spc="15" dirty="0">
                <a:latin typeface="Constantia"/>
                <a:cs typeface="Constantia"/>
              </a:rPr>
              <a:t> </a:t>
            </a:r>
            <a:r>
              <a:rPr sz="2400" spc="-5" dirty="0">
                <a:latin typeface="Constantia"/>
                <a:cs typeface="Constantia"/>
              </a:rPr>
              <a:t>Masalah</a:t>
            </a:r>
            <a:r>
              <a:rPr sz="2400" spc="-30" dirty="0">
                <a:latin typeface="Constantia"/>
                <a:cs typeface="Constantia"/>
              </a:rPr>
              <a:t> </a:t>
            </a:r>
            <a:r>
              <a:rPr sz="2400" spc="-5" dirty="0">
                <a:latin typeface="Constantia"/>
                <a:cs typeface="Constantia"/>
              </a:rPr>
              <a:t>Dalam</a:t>
            </a:r>
            <a:r>
              <a:rPr sz="2400" spc="-75" dirty="0">
                <a:latin typeface="Constantia"/>
                <a:cs typeface="Constantia"/>
              </a:rPr>
              <a:t> </a:t>
            </a:r>
            <a:r>
              <a:rPr sz="2400" spc="-10" dirty="0">
                <a:latin typeface="Constantia"/>
                <a:cs typeface="Constantia"/>
              </a:rPr>
              <a:t>Organisasi</a:t>
            </a:r>
            <a:endParaRPr sz="2400">
              <a:latin typeface="Constantia"/>
              <a:cs typeface="Constantia"/>
            </a:endParaRPr>
          </a:p>
          <a:p>
            <a:pPr marL="287020">
              <a:lnSpc>
                <a:spcPct val="100000"/>
              </a:lnSpc>
            </a:pPr>
            <a:r>
              <a:rPr sz="2400" spc="-25" dirty="0">
                <a:latin typeface="Constantia"/>
                <a:cs typeface="Constantia"/>
              </a:rPr>
              <a:t>F</a:t>
            </a:r>
            <a:r>
              <a:rPr sz="2400" spc="-5" dirty="0">
                <a:latin typeface="Constantia"/>
                <a:cs typeface="Constantia"/>
              </a:rPr>
              <a:t>i</a:t>
            </a:r>
            <a:r>
              <a:rPr sz="2400" spc="-15" dirty="0">
                <a:latin typeface="Constantia"/>
                <a:cs typeface="Constantia"/>
              </a:rPr>
              <a:t>l</a:t>
            </a:r>
            <a:r>
              <a:rPr sz="2400" dirty="0">
                <a:latin typeface="Constantia"/>
                <a:cs typeface="Constantia"/>
              </a:rPr>
              <a:t>e</a:t>
            </a:r>
            <a:r>
              <a:rPr sz="2400" spc="-120" dirty="0">
                <a:latin typeface="Constantia"/>
                <a:cs typeface="Constantia"/>
              </a:rPr>
              <a:t> </a:t>
            </a:r>
            <a:r>
              <a:rPr sz="2400" spc="-155" dirty="0">
                <a:latin typeface="Constantia"/>
                <a:cs typeface="Constantia"/>
              </a:rPr>
              <a:t>T</a:t>
            </a:r>
            <a:r>
              <a:rPr sz="2400" spc="-60" dirty="0">
                <a:latin typeface="Constantia"/>
                <a:cs typeface="Constantia"/>
              </a:rPr>
              <a:t>r</a:t>
            </a:r>
            <a:r>
              <a:rPr sz="2400" dirty="0">
                <a:latin typeface="Constantia"/>
                <a:cs typeface="Constantia"/>
              </a:rPr>
              <a:t>ad</a:t>
            </a:r>
            <a:r>
              <a:rPr sz="2400" spc="-5" dirty="0">
                <a:latin typeface="Constantia"/>
                <a:cs typeface="Constantia"/>
              </a:rPr>
              <a:t>i</a:t>
            </a:r>
            <a:r>
              <a:rPr sz="2400" spc="-20" dirty="0">
                <a:latin typeface="Constantia"/>
                <a:cs typeface="Constantia"/>
              </a:rPr>
              <a:t>s</a:t>
            </a:r>
            <a:r>
              <a:rPr sz="2400" spc="-5" dirty="0">
                <a:latin typeface="Constantia"/>
                <a:cs typeface="Constantia"/>
              </a:rPr>
              <a:t>i</a:t>
            </a:r>
            <a:r>
              <a:rPr sz="2400" spc="-15" dirty="0">
                <a:latin typeface="Constantia"/>
                <a:cs typeface="Constantia"/>
              </a:rPr>
              <a:t>o</a:t>
            </a:r>
            <a:r>
              <a:rPr sz="2400" spc="-5" dirty="0">
                <a:latin typeface="Constantia"/>
                <a:cs typeface="Constantia"/>
              </a:rPr>
              <a:t>na</a:t>
            </a:r>
            <a:r>
              <a:rPr sz="2400" dirty="0">
                <a:latin typeface="Constantia"/>
                <a:cs typeface="Constantia"/>
              </a:rPr>
              <a:t>l.</a:t>
            </a:r>
            <a:endParaRPr sz="2400">
              <a:latin typeface="Constantia"/>
              <a:cs typeface="Constantia"/>
            </a:endParaRPr>
          </a:p>
          <a:p>
            <a:pPr marL="287020" marR="186690" indent="-274320">
              <a:lnSpc>
                <a:spcPct val="100000"/>
              </a:lnSpc>
              <a:spcBef>
                <a:spcPts val="580"/>
              </a:spcBef>
              <a:buClr>
                <a:srgbClr val="0AD0D9"/>
              </a:buClr>
              <a:buSzPct val="93750"/>
              <a:buFont typeface="Segoe UI Symbol"/>
              <a:buChar char="⚫"/>
              <a:tabLst>
                <a:tab pos="287020" algn="l"/>
              </a:tabLst>
            </a:pPr>
            <a:r>
              <a:rPr sz="2400" spc="-5" dirty="0">
                <a:solidFill>
                  <a:srgbClr val="0000CC"/>
                </a:solidFill>
                <a:latin typeface="Constantia"/>
                <a:cs typeface="Constantia"/>
              </a:rPr>
              <a:t>Basis </a:t>
            </a:r>
            <a:r>
              <a:rPr sz="2400" spc="-10" dirty="0">
                <a:solidFill>
                  <a:srgbClr val="0000CC"/>
                </a:solidFill>
                <a:latin typeface="Constantia"/>
                <a:cs typeface="Constantia"/>
              </a:rPr>
              <a:t>Data </a:t>
            </a:r>
            <a:r>
              <a:rPr sz="2400" spc="-10" dirty="0">
                <a:latin typeface="Constantia"/>
                <a:cs typeface="Constantia"/>
              </a:rPr>
              <a:t>Adalah </a:t>
            </a:r>
            <a:r>
              <a:rPr sz="2400" spc="-5" dirty="0">
                <a:latin typeface="Constantia"/>
                <a:cs typeface="Constantia"/>
              </a:rPr>
              <a:t>Sekumpulan </a:t>
            </a:r>
            <a:r>
              <a:rPr sz="2400" spc="-10" dirty="0">
                <a:latin typeface="Constantia"/>
                <a:cs typeface="Constantia"/>
              </a:rPr>
              <a:t>Data Organisasi </a:t>
            </a:r>
            <a:r>
              <a:rPr sz="2400" spc="-20" dirty="0">
                <a:latin typeface="Constantia"/>
                <a:cs typeface="Constantia"/>
              </a:rPr>
              <a:t>Untuk </a:t>
            </a:r>
            <a:r>
              <a:rPr sz="2400" spc="-15" dirty="0">
                <a:latin typeface="Constantia"/>
                <a:cs typeface="Constantia"/>
              </a:rPr>
              <a:t> Melayani Banyak </a:t>
            </a:r>
            <a:r>
              <a:rPr sz="2400" spc="-10" dirty="0">
                <a:latin typeface="Constantia"/>
                <a:cs typeface="Constantia"/>
              </a:rPr>
              <a:t>Aplikasi Secara </a:t>
            </a:r>
            <a:r>
              <a:rPr sz="2400" dirty="0">
                <a:latin typeface="Constantia"/>
                <a:cs typeface="Constantia"/>
              </a:rPr>
              <a:t>Efisien Dengan </a:t>
            </a:r>
            <a:r>
              <a:rPr sz="2400" spc="5" dirty="0">
                <a:latin typeface="Constantia"/>
                <a:cs typeface="Constantia"/>
              </a:rPr>
              <a:t> </a:t>
            </a:r>
            <a:r>
              <a:rPr sz="2400" spc="-10" dirty="0">
                <a:latin typeface="Constantia"/>
                <a:cs typeface="Constantia"/>
              </a:rPr>
              <a:t>Memusatkan</a:t>
            </a:r>
            <a:r>
              <a:rPr sz="2400" spc="-55" dirty="0">
                <a:latin typeface="Constantia"/>
                <a:cs typeface="Constantia"/>
              </a:rPr>
              <a:t> </a:t>
            </a:r>
            <a:r>
              <a:rPr sz="2400" spc="-10" dirty="0">
                <a:latin typeface="Constantia"/>
                <a:cs typeface="Constantia"/>
              </a:rPr>
              <a:t>Data</a:t>
            </a:r>
            <a:r>
              <a:rPr sz="2400" spc="-50" dirty="0">
                <a:latin typeface="Constantia"/>
                <a:cs typeface="Constantia"/>
              </a:rPr>
              <a:t> </a:t>
            </a:r>
            <a:r>
              <a:rPr sz="2400" spc="-15" dirty="0">
                <a:latin typeface="Constantia"/>
                <a:cs typeface="Constantia"/>
              </a:rPr>
              <a:t>Dan</a:t>
            </a:r>
            <a:r>
              <a:rPr sz="2400" spc="-55" dirty="0">
                <a:latin typeface="Constantia"/>
                <a:cs typeface="Constantia"/>
              </a:rPr>
              <a:t> </a:t>
            </a:r>
            <a:r>
              <a:rPr sz="2400" spc="-10" dirty="0">
                <a:latin typeface="Constantia"/>
                <a:cs typeface="Constantia"/>
              </a:rPr>
              <a:t>Mengendalikan</a:t>
            </a:r>
            <a:r>
              <a:rPr sz="2400" dirty="0">
                <a:latin typeface="Constantia"/>
                <a:cs typeface="Constantia"/>
              </a:rPr>
              <a:t> </a:t>
            </a:r>
            <a:r>
              <a:rPr sz="2400" spc="-5" dirty="0">
                <a:latin typeface="Constantia"/>
                <a:cs typeface="Constantia"/>
              </a:rPr>
              <a:t>Rendudansi</a:t>
            </a:r>
            <a:r>
              <a:rPr sz="2400" spc="-10" dirty="0">
                <a:latin typeface="Constantia"/>
                <a:cs typeface="Constantia"/>
              </a:rPr>
              <a:t> Data.</a:t>
            </a:r>
            <a:endParaRPr sz="2400">
              <a:latin typeface="Constantia"/>
              <a:cs typeface="Constantia"/>
            </a:endParaRPr>
          </a:p>
          <a:p>
            <a:pPr marL="287020" marR="121920" indent="-274320">
              <a:lnSpc>
                <a:spcPct val="100000"/>
              </a:lnSpc>
              <a:spcBef>
                <a:spcPts val="580"/>
              </a:spcBef>
              <a:buClr>
                <a:srgbClr val="0AD0D9"/>
              </a:buClr>
              <a:buSzPct val="93750"/>
              <a:buFont typeface="Segoe UI Symbol"/>
              <a:buChar char="⚫"/>
              <a:tabLst>
                <a:tab pos="287020" algn="l"/>
              </a:tabLst>
            </a:pPr>
            <a:r>
              <a:rPr sz="2400" spc="-10" dirty="0">
                <a:solidFill>
                  <a:srgbClr val="0000CC"/>
                </a:solidFill>
                <a:latin typeface="Constantia"/>
                <a:cs typeface="Constantia"/>
              </a:rPr>
              <a:t>Sistem </a:t>
            </a:r>
            <a:r>
              <a:rPr sz="2400" spc="-5" dirty="0">
                <a:solidFill>
                  <a:srgbClr val="0000CC"/>
                </a:solidFill>
                <a:latin typeface="Constantia"/>
                <a:cs typeface="Constantia"/>
              </a:rPr>
              <a:t>Manajemen </a:t>
            </a:r>
            <a:r>
              <a:rPr sz="2400" spc="-10" dirty="0">
                <a:solidFill>
                  <a:srgbClr val="0000CC"/>
                </a:solidFill>
                <a:latin typeface="Constantia"/>
                <a:cs typeface="Constantia"/>
              </a:rPr>
              <a:t>Basis Data </a:t>
            </a:r>
            <a:r>
              <a:rPr sz="2400" dirty="0">
                <a:solidFill>
                  <a:srgbClr val="0000CC"/>
                </a:solidFill>
                <a:latin typeface="Constantia"/>
                <a:cs typeface="Constantia"/>
              </a:rPr>
              <a:t>(DBMS) </a:t>
            </a:r>
            <a:r>
              <a:rPr sz="2400" spc="-10" dirty="0">
                <a:latin typeface="Constantia"/>
                <a:cs typeface="Constantia"/>
              </a:rPr>
              <a:t>Adalah </a:t>
            </a:r>
            <a:r>
              <a:rPr sz="2400" spc="-20" dirty="0">
                <a:latin typeface="Constantia"/>
                <a:cs typeface="Constantia"/>
              </a:rPr>
              <a:t>Perangkat </a:t>
            </a:r>
            <a:r>
              <a:rPr sz="2400" spc="-15" dirty="0">
                <a:latin typeface="Constantia"/>
                <a:cs typeface="Constantia"/>
              </a:rPr>
              <a:t> </a:t>
            </a:r>
            <a:r>
              <a:rPr sz="2400" spc="-5" dirty="0">
                <a:latin typeface="Constantia"/>
                <a:cs typeface="Constantia"/>
              </a:rPr>
              <a:t>Lunak </a:t>
            </a:r>
            <a:r>
              <a:rPr sz="2400" spc="-45" dirty="0">
                <a:latin typeface="Constantia"/>
                <a:cs typeface="Constantia"/>
              </a:rPr>
              <a:t>Yang </a:t>
            </a:r>
            <a:r>
              <a:rPr sz="2400" spc="-5" dirty="0">
                <a:latin typeface="Constantia"/>
                <a:cs typeface="Constantia"/>
              </a:rPr>
              <a:t>Memudahkan </a:t>
            </a:r>
            <a:r>
              <a:rPr sz="2400" spc="-10" dirty="0">
                <a:latin typeface="Constantia"/>
                <a:cs typeface="Constantia"/>
              </a:rPr>
              <a:t>Organisasi </a:t>
            </a:r>
            <a:r>
              <a:rPr sz="2400" spc="-20" dirty="0">
                <a:latin typeface="Constantia"/>
                <a:cs typeface="Constantia"/>
              </a:rPr>
              <a:t>Untuk </a:t>
            </a:r>
            <a:r>
              <a:rPr sz="2400" spc="-10" dirty="0">
                <a:latin typeface="Constantia"/>
                <a:cs typeface="Constantia"/>
              </a:rPr>
              <a:t>Memusatkan </a:t>
            </a:r>
            <a:r>
              <a:rPr sz="2400" spc="-590" dirty="0">
                <a:latin typeface="Constantia"/>
                <a:cs typeface="Constantia"/>
              </a:rPr>
              <a:t> </a:t>
            </a:r>
            <a:r>
              <a:rPr sz="2400" spc="-10" dirty="0">
                <a:latin typeface="Constantia"/>
                <a:cs typeface="Constantia"/>
              </a:rPr>
              <a:t>Data, </a:t>
            </a:r>
            <a:r>
              <a:rPr sz="2400" spc="-15" dirty="0">
                <a:latin typeface="Constantia"/>
                <a:cs typeface="Constantia"/>
              </a:rPr>
              <a:t>Mengelola </a:t>
            </a:r>
            <a:r>
              <a:rPr sz="2400" spc="-10" dirty="0">
                <a:latin typeface="Constantia"/>
                <a:cs typeface="Constantia"/>
              </a:rPr>
              <a:t>Data Secara </a:t>
            </a:r>
            <a:r>
              <a:rPr sz="2400" dirty="0">
                <a:latin typeface="Constantia"/>
                <a:cs typeface="Constantia"/>
              </a:rPr>
              <a:t>Efisien </a:t>
            </a:r>
            <a:r>
              <a:rPr sz="2400" spc="-10" dirty="0">
                <a:latin typeface="Constantia"/>
                <a:cs typeface="Constantia"/>
              </a:rPr>
              <a:t>Dan </a:t>
            </a:r>
            <a:r>
              <a:rPr sz="2400" spc="-15" dirty="0">
                <a:latin typeface="Constantia"/>
                <a:cs typeface="Constantia"/>
              </a:rPr>
              <a:t>Menyediakan </a:t>
            </a:r>
            <a:r>
              <a:rPr sz="2400" spc="-10" dirty="0">
                <a:latin typeface="Constantia"/>
                <a:cs typeface="Constantia"/>
              </a:rPr>
              <a:t> Akses</a:t>
            </a:r>
            <a:r>
              <a:rPr sz="2400" spc="-40" dirty="0">
                <a:latin typeface="Constantia"/>
                <a:cs typeface="Constantia"/>
              </a:rPr>
              <a:t> </a:t>
            </a:r>
            <a:r>
              <a:rPr sz="2400" spc="-10" dirty="0">
                <a:latin typeface="Constantia"/>
                <a:cs typeface="Constantia"/>
              </a:rPr>
              <a:t>Data</a:t>
            </a:r>
            <a:r>
              <a:rPr sz="2400" spc="-60" dirty="0">
                <a:latin typeface="Constantia"/>
                <a:cs typeface="Constantia"/>
              </a:rPr>
              <a:t> </a:t>
            </a:r>
            <a:r>
              <a:rPr sz="2400" spc="-5" dirty="0">
                <a:latin typeface="Constantia"/>
                <a:cs typeface="Constantia"/>
              </a:rPr>
              <a:t>Bagi</a:t>
            </a:r>
            <a:r>
              <a:rPr sz="2400" spc="-10" dirty="0">
                <a:latin typeface="Constantia"/>
                <a:cs typeface="Constantia"/>
              </a:rPr>
              <a:t> Progam</a:t>
            </a:r>
            <a:r>
              <a:rPr sz="2400" spc="-65" dirty="0">
                <a:latin typeface="Constantia"/>
                <a:cs typeface="Constantia"/>
              </a:rPr>
              <a:t> </a:t>
            </a:r>
            <a:r>
              <a:rPr sz="2400" spc="-10" dirty="0">
                <a:latin typeface="Constantia"/>
                <a:cs typeface="Constantia"/>
              </a:rPr>
              <a:t>Aplikasi.</a:t>
            </a:r>
            <a:endParaRPr sz="2400">
              <a:latin typeface="Constantia"/>
              <a:cs typeface="Constantia"/>
            </a:endParaRPr>
          </a:p>
          <a:p>
            <a:pPr marL="287020" indent="-274320">
              <a:lnSpc>
                <a:spcPct val="100000"/>
              </a:lnSpc>
              <a:spcBef>
                <a:spcPts val="580"/>
              </a:spcBef>
              <a:buClr>
                <a:srgbClr val="0AD0D9"/>
              </a:buClr>
              <a:buSzPct val="93750"/>
              <a:buFont typeface="Segoe UI Symbol"/>
              <a:buChar char="⚫"/>
              <a:tabLst>
                <a:tab pos="287020" algn="l"/>
              </a:tabLst>
            </a:pPr>
            <a:r>
              <a:rPr sz="2400" dirty="0">
                <a:solidFill>
                  <a:srgbClr val="0000CC"/>
                </a:solidFill>
                <a:latin typeface="Constantia"/>
                <a:cs typeface="Constantia"/>
              </a:rPr>
              <a:t>DBMS</a:t>
            </a:r>
            <a:r>
              <a:rPr sz="2400" spc="-25" dirty="0">
                <a:solidFill>
                  <a:srgbClr val="0000CC"/>
                </a:solidFill>
                <a:latin typeface="Constantia"/>
                <a:cs typeface="Constantia"/>
              </a:rPr>
              <a:t> </a:t>
            </a:r>
            <a:r>
              <a:rPr sz="2400" i="1" spc="-15" dirty="0">
                <a:solidFill>
                  <a:srgbClr val="0000CC"/>
                </a:solidFill>
                <a:latin typeface="Constantia"/>
                <a:cs typeface="Constantia"/>
              </a:rPr>
              <a:t>(Database</a:t>
            </a:r>
            <a:r>
              <a:rPr sz="2400" i="1" spc="35" dirty="0">
                <a:solidFill>
                  <a:srgbClr val="0000CC"/>
                </a:solidFill>
                <a:latin typeface="Constantia"/>
                <a:cs typeface="Constantia"/>
              </a:rPr>
              <a:t> </a:t>
            </a:r>
            <a:r>
              <a:rPr sz="2400" i="1" spc="-5" dirty="0">
                <a:solidFill>
                  <a:srgbClr val="0000CC"/>
                </a:solidFill>
                <a:latin typeface="Constantia"/>
                <a:cs typeface="Constantia"/>
              </a:rPr>
              <a:t>management</a:t>
            </a:r>
            <a:r>
              <a:rPr sz="2400" i="1" spc="5" dirty="0">
                <a:solidFill>
                  <a:srgbClr val="0000CC"/>
                </a:solidFill>
                <a:latin typeface="Constantia"/>
                <a:cs typeface="Constantia"/>
              </a:rPr>
              <a:t> </a:t>
            </a:r>
            <a:r>
              <a:rPr sz="2400" i="1" spc="-15" dirty="0">
                <a:solidFill>
                  <a:srgbClr val="0000CC"/>
                </a:solidFill>
                <a:latin typeface="Constantia"/>
                <a:cs typeface="Constantia"/>
              </a:rPr>
              <a:t>system)</a:t>
            </a:r>
            <a:r>
              <a:rPr sz="2400" i="1" spc="35" dirty="0">
                <a:solidFill>
                  <a:srgbClr val="0000CC"/>
                </a:solidFill>
                <a:latin typeface="Constantia"/>
                <a:cs typeface="Constantia"/>
              </a:rPr>
              <a:t> </a:t>
            </a:r>
            <a:r>
              <a:rPr sz="2400" spc="-5" dirty="0">
                <a:latin typeface="Constantia"/>
                <a:cs typeface="Constantia"/>
              </a:rPr>
              <a:t>Bertindak</a:t>
            </a:r>
            <a:r>
              <a:rPr sz="2400" spc="-60" dirty="0">
                <a:latin typeface="Constantia"/>
                <a:cs typeface="Constantia"/>
              </a:rPr>
              <a:t> </a:t>
            </a:r>
            <a:r>
              <a:rPr sz="2400" spc="-5" dirty="0">
                <a:latin typeface="Constantia"/>
                <a:cs typeface="Constantia"/>
              </a:rPr>
              <a:t>sebagai</a:t>
            </a:r>
            <a:endParaRPr sz="2400">
              <a:latin typeface="Constantia"/>
              <a:cs typeface="Constantia"/>
            </a:endParaRPr>
          </a:p>
          <a:p>
            <a:pPr marL="287020">
              <a:lnSpc>
                <a:spcPct val="100000"/>
              </a:lnSpc>
            </a:pPr>
            <a:r>
              <a:rPr sz="2400" spc="-5" dirty="0">
                <a:latin typeface="Constantia"/>
                <a:cs typeface="Constantia"/>
              </a:rPr>
              <a:t>antar</a:t>
            </a:r>
            <a:r>
              <a:rPr sz="2400" spc="-85" dirty="0">
                <a:latin typeface="Constantia"/>
                <a:cs typeface="Constantia"/>
              </a:rPr>
              <a:t> </a:t>
            </a:r>
            <a:r>
              <a:rPr sz="2400" spc="-5" dirty="0">
                <a:latin typeface="Constantia"/>
                <a:cs typeface="Constantia"/>
              </a:rPr>
              <a:t>muka</a:t>
            </a:r>
            <a:r>
              <a:rPr sz="2400" spc="-125" dirty="0">
                <a:latin typeface="Constantia"/>
                <a:cs typeface="Constantia"/>
              </a:rPr>
              <a:t> </a:t>
            </a:r>
            <a:r>
              <a:rPr sz="2400" spc="-5" dirty="0">
                <a:latin typeface="Constantia"/>
                <a:cs typeface="Constantia"/>
              </a:rPr>
              <a:t>antar</a:t>
            </a:r>
            <a:r>
              <a:rPr sz="2400" spc="-110" dirty="0">
                <a:latin typeface="Constantia"/>
                <a:cs typeface="Constantia"/>
              </a:rPr>
              <a:t> </a:t>
            </a:r>
            <a:r>
              <a:rPr sz="2400" spc="-15" dirty="0">
                <a:latin typeface="Constantia"/>
                <a:cs typeface="Constantia"/>
              </a:rPr>
              <a:t>program</a:t>
            </a:r>
            <a:r>
              <a:rPr sz="2400" spc="-100" dirty="0">
                <a:latin typeface="Constantia"/>
                <a:cs typeface="Constantia"/>
              </a:rPr>
              <a:t> </a:t>
            </a:r>
            <a:r>
              <a:rPr sz="2400" spc="-5" dirty="0">
                <a:latin typeface="Constantia"/>
                <a:cs typeface="Constantia"/>
              </a:rPr>
              <a:t>aplikasi</a:t>
            </a:r>
            <a:r>
              <a:rPr sz="2400" spc="-40" dirty="0">
                <a:latin typeface="Constantia"/>
                <a:cs typeface="Constantia"/>
              </a:rPr>
              <a:t> </a:t>
            </a:r>
            <a:r>
              <a:rPr sz="2400" dirty="0">
                <a:latin typeface="Constantia"/>
                <a:cs typeface="Constantia"/>
              </a:rPr>
              <a:t>dan</a:t>
            </a:r>
            <a:r>
              <a:rPr sz="2400" spc="-55" dirty="0">
                <a:latin typeface="Constantia"/>
                <a:cs typeface="Constantia"/>
              </a:rPr>
              <a:t> </a:t>
            </a:r>
            <a:r>
              <a:rPr sz="2400" spc="5" dirty="0">
                <a:latin typeface="Constantia"/>
                <a:cs typeface="Constantia"/>
              </a:rPr>
              <a:t>file</a:t>
            </a:r>
            <a:r>
              <a:rPr sz="2400" spc="-105" dirty="0">
                <a:latin typeface="Constantia"/>
                <a:cs typeface="Constantia"/>
              </a:rPr>
              <a:t> </a:t>
            </a:r>
            <a:r>
              <a:rPr sz="2400" dirty="0">
                <a:latin typeface="Constantia"/>
                <a:cs typeface="Constantia"/>
              </a:rPr>
              <a:t>data</a:t>
            </a:r>
            <a:r>
              <a:rPr sz="2400" spc="-80" dirty="0">
                <a:latin typeface="Constantia"/>
                <a:cs typeface="Constantia"/>
              </a:rPr>
              <a:t> </a:t>
            </a:r>
            <a:r>
              <a:rPr sz="2400" dirty="0">
                <a:latin typeface="Constantia"/>
                <a:cs typeface="Constantia"/>
              </a:rPr>
              <a:t>fisik</a:t>
            </a:r>
            <a:endParaRPr sz="2400">
              <a:latin typeface="Constantia"/>
              <a:cs typeface="Constant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8728" y="328625"/>
            <a:ext cx="7975600" cy="786765"/>
          </a:xfrm>
          <a:prstGeom prst="rect">
            <a:avLst/>
          </a:prstGeom>
        </p:spPr>
        <p:txBody>
          <a:bodyPr vert="horz" wrap="square" lIns="0" tIns="12065" rIns="0" bIns="0" rtlCol="0">
            <a:spAutoFit/>
          </a:bodyPr>
          <a:lstStyle/>
          <a:p>
            <a:pPr marL="12700">
              <a:lnSpc>
                <a:spcPct val="100000"/>
              </a:lnSpc>
              <a:spcBef>
                <a:spcPts val="95"/>
              </a:spcBef>
            </a:pPr>
            <a:r>
              <a:rPr sz="5000" spc="-90" dirty="0">
                <a:solidFill>
                  <a:srgbClr val="04607A"/>
                </a:solidFill>
                <a:latin typeface="Calibri"/>
                <a:cs typeface="Calibri"/>
              </a:rPr>
              <a:t>TABEL</a:t>
            </a:r>
            <a:r>
              <a:rPr sz="5000" spc="-20" dirty="0">
                <a:solidFill>
                  <a:srgbClr val="04607A"/>
                </a:solidFill>
                <a:latin typeface="Calibri"/>
                <a:cs typeface="Calibri"/>
              </a:rPr>
              <a:t> </a:t>
            </a:r>
            <a:r>
              <a:rPr sz="5000" spc="-15" dirty="0">
                <a:solidFill>
                  <a:srgbClr val="04607A"/>
                </a:solidFill>
                <a:latin typeface="Calibri"/>
                <a:cs typeface="Calibri"/>
              </a:rPr>
              <a:t>BASIS</a:t>
            </a:r>
            <a:r>
              <a:rPr sz="5000" spc="5" dirty="0">
                <a:solidFill>
                  <a:srgbClr val="04607A"/>
                </a:solidFill>
                <a:latin typeface="Calibri"/>
                <a:cs typeface="Calibri"/>
              </a:rPr>
              <a:t> </a:t>
            </a:r>
            <a:r>
              <a:rPr sz="5000" spc="-225" dirty="0">
                <a:solidFill>
                  <a:srgbClr val="04607A"/>
                </a:solidFill>
                <a:latin typeface="Calibri"/>
                <a:cs typeface="Calibri"/>
              </a:rPr>
              <a:t>DATA</a:t>
            </a:r>
            <a:r>
              <a:rPr sz="5000" spc="-15" dirty="0">
                <a:solidFill>
                  <a:srgbClr val="04607A"/>
                </a:solidFill>
                <a:latin typeface="Calibri"/>
                <a:cs typeface="Calibri"/>
              </a:rPr>
              <a:t> </a:t>
            </a:r>
            <a:r>
              <a:rPr sz="5000" spc="-10" dirty="0">
                <a:solidFill>
                  <a:srgbClr val="04607A"/>
                </a:solidFill>
                <a:latin typeface="Calibri"/>
                <a:cs typeface="Calibri"/>
              </a:rPr>
              <a:t>RELASIONAL</a:t>
            </a:r>
            <a:endParaRPr sz="5000">
              <a:latin typeface="Calibri"/>
              <a:cs typeface="Calibri"/>
            </a:endParaRPr>
          </a:p>
        </p:txBody>
      </p:sp>
      <p:pic>
        <p:nvPicPr>
          <p:cNvPr id="3" name="object 3"/>
          <p:cNvPicPr/>
          <p:nvPr/>
        </p:nvPicPr>
        <p:blipFill>
          <a:blip r:embed="rId2" cstate="print"/>
          <a:stretch>
            <a:fillRect/>
          </a:stretch>
        </p:blipFill>
        <p:spPr>
          <a:xfrm>
            <a:off x="1357375" y="1428750"/>
            <a:ext cx="6962775" cy="51339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804" y="517982"/>
            <a:ext cx="4873625" cy="786765"/>
          </a:xfrm>
          <a:prstGeom prst="rect">
            <a:avLst/>
          </a:prstGeom>
        </p:spPr>
        <p:txBody>
          <a:bodyPr vert="horz" wrap="square" lIns="0" tIns="12065" rIns="0" bIns="0" rtlCol="0">
            <a:spAutoFit/>
          </a:bodyPr>
          <a:lstStyle/>
          <a:p>
            <a:pPr marL="12700">
              <a:lnSpc>
                <a:spcPct val="100000"/>
              </a:lnSpc>
              <a:spcBef>
                <a:spcPts val="95"/>
              </a:spcBef>
            </a:pPr>
            <a:r>
              <a:rPr sz="5000" spc="-10" dirty="0">
                <a:solidFill>
                  <a:srgbClr val="04607A"/>
                </a:solidFill>
                <a:latin typeface="Calibri"/>
                <a:cs typeface="Calibri"/>
              </a:rPr>
              <a:t>QUERI</a:t>
            </a:r>
            <a:r>
              <a:rPr sz="5000" spc="-40" dirty="0">
                <a:solidFill>
                  <a:srgbClr val="04607A"/>
                </a:solidFill>
                <a:latin typeface="Calibri"/>
                <a:cs typeface="Calibri"/>
              </a:rPr>
              <a:t> </a:t>
            </a:r>
            <a:r>
              <a:rPr sz="5000" spc="-5" dirty="0">
                <a:solidFill>
                  <a:srgbClr val="04607A"/>
                </a:solidFill>
                <a:latin typeface="Calibri"/>
                <a:cs typeface="Calibri"/>
              </a:rPr>
              <a:t>MS.</a:t>
            </a:r>
            <a:r>
              <a:rPr sz="5000" spc="-45" dirty="0">
                <a:solidFill>
                  <a:srgbClr val="04607A"/>
                </a:solidFill>
                <a:latin typeface="Calibri"/>
                <a:cs typeface="Calibri"/>
              </a:rPr>
              <a:t> </a:t>
            </a:r>
            <a:r>
              <a:rPr sz="5000" spc="-25" dirty="0">
                <a:solidFill>
                  <a:srgbClr val="04607A"/>
                </a:solidFill>
                <a:latin typeface="Calibri"/>
                <a:cs typeface="Calibri"/>
              </a:rPr>
              <a:t>ACCESS</a:t>
            </a:r>
            <a:endParaRPr sz="5000">
              <a:latin typeface="Calibri"/>
              <a:cs typeface="Calibri"/>
            </a:endParaRPr>
          </a:p>
        </p:txBody>
      </p:sp>
      <p:pic>
        <p:nvPicPr>
          <p:cNvPr id="3" name="object 3"/>
          <p:cNvPicPr/>
          <p:nvPr/>
        </p:nvPicPr>
        <p:blipFill>
          <a:blip r:embed="rId2" cstate="print"/>
          <a:stretch>
            <a:fillRect/>
          </a:stretch>
        </p:blipFill>
        <p:spPr>
          <a:xfrm>
            <a:off x="428625" y="1571561"/>
            <a:ext cx="8499475" cy="43577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ject 8"/>
          <p:cNvPicPr/>
          <p:nvPr/>
        </p:nvPicPr>
        <p:blipFill>
          <a:blip r:embed="rId3" cstate="print"/>
          <a:stretch>
            <a:fillRect/>
          </a:stretch>
        </p:blipFill>
        <p:spPr>
          <a:xfrm>
            <a:off x="2144267" y="704087"/>
            <a:ext cx="6789420" cy="17967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457200"/>
            <a:ext cx="3759200" cy="457200"/>
          </a:xfrm>
          <a:prstGeom prst="rect">
            <a:avLst/>
          </a:prstGeom>
        </p:spPr>
      </p:pic>
      <p:sp>
        <p:nvSpPr>
          <p:cNvPr id="3" name="object 3"/>
          <p:cNvSpPr txBox="1"/>
          <p:nvPr/>
        </p:nvSpPr>
        <p:spPr>
          <a:xfrm>
            <a:off x="1201318" y="523443"/>
            <a:ext cx="2830830"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ENTITY-RELATIONSHIP</a:t>
            </a:r>
            <a:r>
              <a:rPr sz="1400" spc="25"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grpSp>
        <p:nvGrpSpPr>
          <p:cNvPr id="4" name="object 4"/>
          <p:cNvGrpSpPr/>
          <p:nvPr/>
        </p:nvGrpSpPr>
        <p:grpSpPr>
          <a:xfrm>
            <a:off x="2432050" y="1289050"/>
            <a:ext cx="4219575" cy="622300"/>
            <a:chOff x="2432050" y="1289050"/>
            <a:chExt cx="4219575" cy="622300"/>
          </a:xfrm>
        </p:grpSpPr>
        <p:sp>
          <p:nvSpPr>
            <p:cNvPr id="5" name="object 5"/>
            <p:cNvSpPr/>
            <p:nvPr/>
          </p:nvSpPr>
          <p:spPr>
            <a:xfrm>
              <a:off x="2438400" y="1295400"/>
              <a:ext cx="4206875" cy="609600"/>
            </a:xfrm>
            <a:custGeom>
              <a:avLst/>
              <a:gdLst/>
              <a:ahLst/>
              <a:cxnLst/>
              <a:rect l="l" t="t" r="r" b="b"/>
              <a:pathLst>
                <a:path w="4206875" h="609600">
                  <a:moveTo>
                    <a:pt x="0" y="609600"/>
                  </a:moveTo>
                  <a:lnTo>
                    <a:pt x="1143000" y="609600"/>
                  </a:lnTo>
                  <a:lnTo>
                    <a:pt x="1143000" y="0"/>
                  </a:lnTo>
                  <a:lnTo>
                    <a:pt x="0" y="0"/>
                  </a:lnTo>
                  <a:lnTo>
                    <a:pt x="0" y="609600"/>
                  </a:lnTo>
                  <a:close/>
                </a:path>
                <a:path w="4206875" h="609600">
                  <a:moveTo>
                    <a:pt x="3063875" y="609600"/>
                  </a:moveTo>
                  <a:lnTo>
                    <a:pt x="4206875" y="609600"/>
                  </a:lnTo>
                  <a:lnTo>
                    <a:pt x="4206875" y="0"/>
                  </a:lnTo>
                  <a:lnTo>
                    <a:pt x="3063875" y="0"/>
                  </a:lnTo>
                  <a:lnTo>
                    <a:pt x="3063875" y="609600"/>
                  </a:lnTo>
                  <a:close/>
                </a:path>
                <a:path w="4206875" h="609600">
                  <a:moveTo>
                    <a:pt x="1524000" y="304800"/>
                  </a:moveTo>
                  <a:lnTo>
                    <a:pt x="2057400" y="0"/>
                  </a:lnTo>
                  <a:lnTo>
                    <a:pt x="2590800" y="304800"/>
                  </a:lnTo>
                  <a:lnTo>
                    <a:pt x="2057400" y="609600"/>
                  </a:lnTo>
                  <a:lnTo>
                    <a:pt x="1524000" y="304800"/>
                  </a:lnTo>
                  <a:close/>
                </a:path>
              </a:pathLst>
            </a:custGeom>
            <a:ln w="12700">
              <a:solidFill>
                <a:srgbClr val="000000"/>
              </a:solidFill>
            </a:ln>
          </p:spPr>
          <p:txBody>
            <a:bodyPr wrap="square" lIns="0" tIns="0" rIns="0" bIns="0" rtlCol="0"/>
            <a:lstStyle/>
            <a:p>
              <a:endParaRPr/>
            </a:p>
          </p:txBody>
        </p:sp>
        <p:sp>
          <p:nvSpPr>
            <p:cNvPr id="6" name="object 6"/>
            <p:cNvSpPr/>
            <p:nvPr/>
          </p:nvSpPr>
          <p:spPr>
            <a:xfrm>
              <a:off x="3581400" y="16002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7" name="object 7"/>
          <p:cNvSpPr txBox="1"/>
          <p:nvPr/>
        </p:nvSpPr>
        <p:spPr>
          <a:xfrm>
            <a:off x="1144625" y="2494533"/>
            <a:ext cx="659130" cy="238125"/>
          </a:xfrm>
          <a:prstGeom prst="rect">
            <a:avLst/>
          </a:prstGeom>
        </p:spPr>
        <p:txBody>
          <a:bodyPr vert="horz" wrap="square" lIns="0" tIns="11430" rIns="0" bIns="0" rtlCol="0">
            <a:spAutoFit/>
          </a:bodyPr>
          <a:lstStyle/>
          <a:p>
            <a:pPr marL="12700">
              <a:lnSpc>
                <a:spcPct val="100000"/>
              </a:lnSpc>
              <a:spcBef>
                <a:spcPts val="90"/>
              </a:spcBef>
            </a:pPr>
            <a:r>
              <a:rPr sz="1400" spc="-20" dirty="0">
                <a:latin typeface="Times New Roman"/>
                <a:cs typeface="Times New Roman"/>
              </a:rPr>
              <a:t>E</a:t>
            </a:r>
            <a:r>
              <a:rPr sz="1400" spc="-10" dirty="0">
                <a:latin typeface="Times New Roman"/>
                <a:cs typeface="Times New Roman"/>
              </a:rPr>
              <a:t>N</a:t>
            </a:r>
            <a:r>
              <a:rPr sz="1400" spc="-15" dirty="0">
                <a:latin typeface="Times New Roman"/>
                <a:cs typeface="Times New Roman"/>
              </a:rPr>
              <a:t>TI</a:t>
            </a:r>
            <a:r>
              <a:rPr sz="1400" spc="-20" dirty="0">
                <a:latin typeface="Times New Roman"/>
                <a:cs typeface="Times New Roman"/>
              </a:rPr>
              <a:t>T</a:t>
            </a:r>
            <a:r>
              <a:rPr sz="1400" spc="-10" dirty="0">
                <a:latin typeface="Times New Roman"/>
                <a:cs typeface="Times New Roman"/>
              </a:rPr>
              <a:t>Y</a:t>
            </a:r>
            <a:endParaRPr sz="1400">
              <a:latin typeface="Times New Roman"/>
              <a:cs typeface="Times New Roman"/>
            </a:endParaRPr>
          </a:p>
        </p:txBody>
      </p:sp>
      <p:sp>
        <p:nvSpPr>
          <p:cNvPr id="8" name="object 8"/>
          <p:cNvSpPr txBox="1"/>
          <p:nvPr/>
        </p:nvSpPr>
        <p:spPr>
          <a:xfrm>
            <a:off x="7319009" y="2418333"/>
            <a:ext cx="659130" cy="238125"/>
          </a:xfrm>
          <a:prstGeom prst="rect">
            <a:avLst/>
          </a:prstGeom>
        </p:spPr>
        <p:txBody>
          <a:bodyPr vert="horz" wrap="square" lIns="0" tIns="11430" rIns="0" bIns="0" rtlCol="0">
            <a:spAutoFit/>
          </a:bodyPr>
          <a:lstStyle/>
          <a:p>
            <a:pPr marL="12700">
              <a:lnSpc>
                <a:spcPct val="100000"/>
              </a:lnSpc>
              <a:spcBef>
                <a:spcPts val="90"/>
              </a:spcBef>
            </a:pPr>
            <a:r>
              <a:rPr sz="1400" spc="-20" dirty="0">
                <a:latin typeface="Times New Roman"/>
                <a:cs typeface="Times New Roman"/>
              </a:rPr>
              <a:t>E</a:t>
            </a:r>
            <a:r>
              <a:rPr sz="1400" spc="-10" dirty="0">
                <a:latin typeface="Times New Roman"/>
                <a:cs typeface="Times New Roman"/>
              </a:rPr>
              <a:t>N</a:t>
            </a:r>
            <a:r>
              <a:rPr sz="1400" spc="-15" dirty="0">
                <a:latin typeface="Times New Roman"/>
                <a:cs typeface="Times New Roman"/>
              </a:rPr>
              <a:t>TI</a:t>
            </a:r>
            <a:r>
              <a:rPr sz="1400" spc="-20" dirty="0">
                <a:latin typeface="Times New Roman"/>
                <a:cs typeface="Times New Roman"/>
              </a:rPr>
              <a:t>T</a:t>
            </a:r>
            <a:r>
              <a:rPr sz="1400" spc="-10" dirty="0">
                <a:latin typeface="Times New Roman"/>
                <a:cs typeface="Times New Roman"/>
              </a:rPr>
              <a:t>Y</a:t>
            </a:r>
            <a:endParaRPr sz="1400">
              <a:latin typeface="Times New Roman"/>
              <a:cs typeface="Times New Roman"/>
            </a:endParaRPr>
          </a:p>
        </p:txBody>
      </p:sp>
      <p:sp>
        <p:nvSpPr>
          <p:cNvPr id="9" name="object 9"/>
          <p:cNvSpPr txBox="1"/>
          <p:nvPr/>
        </p:nvSpPr>
        <p:spPr>
          <a:xfrm>
            <a:off x="3659885" y="2799410"/>
            <a:ext cx="1266825" cy="238125"/>
          </a:xfrm>
          <a:prstGeom prst="rect">
            <a:avLst/>
          </a:prstGeom>
        </p:spPr>
        <p:txBody>
          <a:bodyPr vert="horz" wrap="square" lIns="0" tIns="12065" rIns="0" bIns="0" rtlCol="0">
            <a:spAutoFit/>
          </a:bodyPr>
          <a:lstStyle/>
          <a:p>
            <a:pPr marL="12700">
              <a:lnSpc>
                <a:spcPct val="100000"/>
              </a:lnSpc>
              <a:spcBef>
                <a:spcPts val="95"/>
              </a:spcBef>
            </a:pPr>
            <a:r>
              <a:rPr sz="1400" spc="-25" dirty="0">
                <a:latin typeface="Times New Roman"/>
                <a:cs typeface="Times New Roman"/>
              </a:rPr>
              <a:t>RELATIONSHIP</a:t>
            </a:r>
            <a:endParaRPr sz="1400">
              <a:latin typeface="Times New Roman"/>
              <a:cs typeface="Times New Roman"/>
            </a:endParaRPr>
          </a:p>
        </p:txBody>
      </p:sp>
      <p:sp>
        <p:nvSpPr>
          <p:cNvPr id="10" name="object 10"/>
          <p:cNvSpPr/>
          <p:nvPr/>
        </p:nvSpPr>
        <p:spPr>
          <a:xfrm>
            <a:off x="1879600" y="1904999"/>
            <a:ext cx="5360035" cy="866775"/>
          </a:xfrm>
          <a:custGeom>
            <a:avLst/>
            <a:gdLst/>
            <a:ahLst/>
            <a:cxnLst/>
            <a:rect l="l" t="t" r="r" b="b"/>
            <a:pathLst>
              <a:path w="5360034" h="866775">
                <a:moveTo>
                  <a:pt x="1170178" y="136271"/>
                </a:moveTo>
                <a:lnTo>
                  <a:pt x="1162773" y="110998"/>
                </a:lnTo>
                <a:lnTo>
                  <a:pt x="1130300" y="0"/>
                </a:lnTo>
                <a:lnTo>
                  <a:pt x="1045210" y="113665"/>
                </a:lnTo>
                <a:lnTo>
                  <a:pt x="1100658" y="123698"/>
                </a:lnTo>
                <a:lnTo>
                  <a:pt x="1098931" y="130556"/>
                </a:lnTo>
                <a:lnTo>
                  <a:pt x="1092454" y="146812"/>
                </a:lnTo>
                <a:lnTo>
                  <a:pt x="1068832" y="194945"/>
                </a:lnTo>
                <a:lnTo>
                  <a:pt x="1039368" y="242316"/>
                </a:lnTo>
                <a:lnTo>
                  <a:pt x="1016254" y="273431"/>
                </a:lnTo>
                <a:lnTo>
                  <a:pt x="990854" y="303911"/>
                </a:lnTo>
                <a:lnTo>
                  <a:pt x="948563" y="348488"/>
                </a:lnTo>
                <a:lnTo>
                  <a:pt x="917575" y="377317"/>
                </a:lnTo>
                <a:lnTo>
                  <a:pt x="884428" y="405511"/>
                </a:lnTo>
                <a:lnTo>
                  <a:pt x="849376" y="432816"/>
                </a:lnTo>
                <a:lnTo>
                  <a:pt x="812546" y="459232"/>
                </a:lnTo>
                <a:lnTo>
                  <a:pt x="773811" y="484632"/>
                </a:lnTo>
                <a:lnTo>
                  <a:pt x="733425" y="509143"/>
                </a:lnTo>
                <a:lnTo>
                  <a:pt x="691515" y="532384"/>
                </a:lnTo>
                <a:lnTo>
                  <a:pt x="648208" y="554482"/>
                </a:lnTo>
                <a:lnTo>
                  <a:pt x="603504" y="575437"/>
                </a:lnTo>
                <a:lnTo>
                  <a:pt x="557530" y="594995"/>
                </a:lnTo>
                <a:lnTo>
                  <a:pt x="510540" y="613283"/>
                </a:lnTo>
                <a:lnTo>
                  <a:pt x="462407" y="630174"/>
                </a:lnTo>
                <a:lnTo>
                  <a:pt x="413385" y="645541"/>
                </a:lnTo>
                <a:lnTo>
                  <a:pt x="363474" y="659257"/>
                </a:lnTo>
                <a:lnTo>
                  <a:pt x="312928" y="671322"/>
                </a:lnTo>
                <a:lnTo>
                  <a:pt x="261747" y="681863"/>
                </a:lnTo>
                <a:lnTo>
                  <a:pt x="210058" y="690499"/>
                </a:lnTo>
                <a:lnTo>
                  <a:pt x="157988" y="697357"/>
                </a:lnTo>
                <a:lnTo>
                  <a:pt x="105537" y="702437"/>
                </a:lnTo>
                <a:lnTo>
                  <a:pt x="52959" y="705485"/>
                </a:lnTo>
                <a:lnTo>
                  <a:pt x="0" y="706501"/>
                </a:lnTo>
                <a:lnTo>
                  <a:pt x="127" y="719201"/>
                </a:lnTo>
                <a:lnTo>
                  <a:pt x="53086" y="718185"/>
                </a:lnTo>
                <a:lnTo>
                  <a:pt x="106299" y="715137"/>
                </a:lnTo>
                <a:lnTo>
                  <a:pt x="159131" y="710057"/>
                </a:lnTo>
                <a:lnTo>
                  <a:pt x="211709" y="703199"/>
                </a:lnTo>
                <a:lnTo>
                  <a:pt x="263779" y="694309"/>
                </a:lnTo>
                <a:lnTo>
                  <a:pt x="315468" y="683768"/>
                </a:lnTo>
                <a:lnTo>
                  <a:pt x="366395" y="671576"/>
                </a:lnTo>
                <a:lnTo>
                  <a:pt x="416814" y="657733"/>
                </a:lnTo>
                <a:lnTo>
                  <a:pt x="466217" y="642239"/>
                </a:lnTo>
                <a:lnTo>
                  <a:pt x="514731" y="625348"/>
                </a:lnTo>
                <a:lnTo>
                  <a:pt x="562102" y="606806"/>
                </a:lnTo>
                <a:lnTo>
                  <a:pt x="608584" y="587121"/>
                </a:lnTo>
                <a:lnTo>
                  <a:pt x="653542" y="566039"/>
                </a:lnTo>
                <a:lnTo>
                  <a:pt x="697357" y="543687"/>
                </a:lnTo>
                <a:lnTo>
                  <a:pt x="739648" y="520192"/>
                </a:lnTo>
                <a:lnTo>
                  <a:pt x="780415" y="495554"/>
                </a:lnTo>
                <a:lnTo>
                  <a:pt x="819404" y="469900"/>
                </a:lnTo>
                <a:lnTo>
                  <a:pt x="856869" y="443103"/>
                </a:lnTo>
                <a:lnTo>
                  <a:pt x="892302" y="415544"/>
                </a:lnTo>
                <a:lnTo>
                  <a:pt x="925830" y="386969"/>
                </a:lnTo>
                <a:lnTo>
                  <a:pt x="957326" y="357759"/>
                </a:lnTo>
                <a:lnTo>
                  <a:pt x="986536" y="327660"/>
                </a:lnTo>
                <a:lnTo>
                  <a:pt x="1013587" y="296926"/>
                </a:lnTo>
                <a:lnTo>
                  <a:pt x="1038225" y="265557"/>
                </a:lnTo>
                <a:lnTo>
                  <a:pt x="1060323" y="233807"/>
                </a:lnTo>
                <a:lnTo>
                  <a:pt x="1088644" y="184912"/>
                </a:lnTo>
                <a:lnTo>
                  <a:pt x="1110742" y="135382"/>
                </a:lnTo>
                <a:lnTo>
                  <a:pt x="1113142" y="125958"/>
                </a:lnTo>
                <a:lnTo>
                  <a:pt x="1170178" y="136271"/>
                </a:lnTo>
                <a:close/>
              </a:path>
              <a:path w="5360034" h="866775">
                <a:moveTo>
                  <a:pt x="2653792" y="136906"/>
                </a:moveTo>
                <a:lnTo>
                  <a:pt x="2646642" y="110871"/>
                </a:lnTo>
                <a:lnTo>
                  <a:pt x="2616200" y="0"/>
                </a:lnTo>
                <a:lnTo>
                  <a:pt x="2529205" y="112268"/>
                </a:lnTo>
                <a:lnTo>
                  <a:pt x="2585275" y="123367"/>
                </a:lnTo>
                <a:lnTo>
                  <a:pt x="2438527" y="863981"/>
                </a:lnTo>
                <a:lnTo>
                  <a:pt x="2450973" y="866394"/>
                </a:lnTo>
                <a:lnTo>
                  <a:pt x="2597734" y="125831"/>
                </a:lnTo>
                <a:lnTo>
                  <a:pt x="2653792" y="136906"/>
                </a:lnTo>
                <a:close/>
              </a:path>
              <a:path w="5360034" h="866775">
                <a:moveTo>
                  <a:pt x="5359527" y="630301"/>
                </a:moveTo>
                <a:lnTo>
                  <a:pt x="5304917" y="629412"/>
                </a:lnTo>
                <a:lnTo>
                  <a:pt x="5250688" y="626745"/>
                </a:lnTo>
                <a:lnTo>
                  <a:pt x="5196586" y="622173"/>
                </a:lnTo>
                <a:lnTo>
                  <a:pt x="5142738" y="616077"/>
                </a:lnTo>
                <a:lnTo>
                  <a:pt x="5089398" y="608330"/>
                </a:lnTo>
                <a:lnTo>
                  <a:pt x="5036693" y="598932"/>
                </a:lnTo>
                <a:lnTo>
                  <a:pt x="4984496" y="588010"/>
                </a:lnTo>
                <a:lnTo>
                  <a:pt x="4933061" y="575818"/>
                </a:lnTo>
                <a:lnTo>
                  <a:pt x="4882388" y="561975"/>
                </a:lnTo>
                <a:lnTo>
                  <a:pt x="4832858" y="546989"/>
                </a:lnTo>
                <a:lnTo>
                  <a:pt x="4784344" y="530733"/>
                </a:lnTo>
                <a:lnTo>
                  <a:pt x="4736973" y="513207"/>
                </a:lnTo>
                <a:lnTo>
                  <a:pt x="4690872" y="494411"/>
                </a:lnTo>
                <a:lnTo>
                  <a:pt x="4646041" y="474726"/>
                </a:lnTo>
                <a:lnTo>
                  <a:pt x="4602988" y="453898"/>
                </a:lnTo>
                <a:lnTo>
                  <a:pt x="4561332" y="432054"/>
                </a:lnTo>
                <a:lnTo>
                  <a:pt x="4521327" y="409321"/>
                </a:lnTo>
                <a:lnTo>
                  <a:pt x="4483227" y="385826"/>
                </a:lnTo>
                <a:lnTo>
                  <a:pt x="4447159" y="361315"/>
                </a:lnTo>
                <a:lnTo>
                  <a:pt x="4412996" y="336296"/>
                </a:lnTo>
                <a:lnTo>
                  <a:pt x="4381119" y="310388"/>
                </a:lnTo>
                <a:lnTo>
                  <a:pt x="4351401" y="283972"/>
                </a:lnTo>
                <a:lnTo>
                  <a:pt x="4323969" y="257048"/>
                </a:lnTo>
                <a:lnTo>
                  <a:pt x="4287520" y="215646"/>
                </a:lnTo>
                <a:lnTo>
                  <a:pt x="4257167" y="173482"/>
                </a:lnTo>
                <a:lnTo>
                  <a:pt x="4233240" y="131445"/>
                </a:lnTo>
                <a:lnTo>
                  <a:pt x="4233011" y="131025"/>
                </a:lnTo>
                <a:lnTo>
                  <a:pt x="4232872" y="130556"/>
                </a:lnTo>
                <a:lnTo>
                  <a:pt x="4230078" y="122059"/>
                </a:lnTo>
                <a:lnTo>
                  <a:pt x="4284599" y="109474"/>
                </a:lnTo>
                <a:lnTo>
                  <a:pt x="4284484" y="109347"/>
                </a:lnTo>
                <a:lnTo>
                  <a:pt x="4194175" y="0"/>
                </a:lnTo>
                <a:lnTo>
                  <a:pt x="4160774" y="138049"/>
                </a:lnTo>
                <a:lnTo>
                  <a:pt x="4217644" y="124929"/>
                </a:lnTo>
                <a:lnTo>
                  <a:pt x="4221226" y="135763"/>
                </a:lnTo>
                <a:lnTo>
                  <a:pt x="4221353" y="136017"/>
                </a:lnTo>
                <a:lnTo>
                  <a:pt x="4246499" y="180467"/>
                </a:lnTo>
                <a:lnTo>
                  <a:pt x="4277868" y="223774"/>
                </a:lnTo>
                <a:lnTo>
                  <a:pt x="4314952" y="265938"/>
                </a:lnTo>
                <a:lnTo>
                  <a:pt x="4342765" y="293370"/>
                </a:lnTo>
                <a:lnTo>
                  <a:pt x="4373118" y="320294"/>
                </a:lnTo>
                <a:lnTo>
                  <a:pt x="4405503" y="346456"/>
                </a:lnTo>
                <a:lnTo>
                  <a:pt x="4440047" y="371856"/>
                </a:lnTo>
                <a:lnTo>
                  <a:pt x="4476623" y="396621"/>
                </a:lnTo>
                <a:lnTo>
                  <a:pt x="4515104" y="420370"/>
                </a:lnTo>
                <a:lnTo>
                  <a:pt x="4555363" y="443357"/>
                </a:lnTo>
                <a:lnTo>
                  <a:pt x="4597400" y="465328"/>
                </a:lnTo>
                <a:lnTo>
                  <a:pt x="4640948" y="486283"/>
                </a:lnTo>
                <a:lnTo>
                  <a:pt x="4686046" y="506222"/>
                </a:lnTo>
                <a:lnTo>
                  <a:pt x="4732528" y="525018"/>
                </a:lnTo>
                <a:lnTo>
                  <a:pt x="4780280" y="542798"/>
                </a:lnTo>
                <a:lnTo>
                  <a:pt x="4829175" y="559181"/>
                </a:lnTo>
                <a:lnTo>
                  <a:pt x="4879086" y="574294"/>
                </a:lnTo>
                <a:lnTo>
                  <a:pt x="4930013" y="588137"/>
                </a:lnTo>
                <a:lnTo>
                  <a:pt x="4981829" y="600456"/>
                </a:lnTo>
                <a:lnTo>
                  <a:pt x="5034407" y="611505"/>
                </a:lnTo>
                <a:lnTo>
                  <a:pt x="5087620" y="620776"/>
                </a:lnTo>
                <a:lnTo>
                  <a:pt x="5141341" y="628650"/>
                </a:lnTo>
                <a:lnTo>
                  <a:pt x="5195570" y="634873"/>
                </a:lnTo>
                <a:lnTo>
                  <a:pt x="5250053" y="639318"/>
                </a:lnTo>
                <a:lnTo>
                  <a:pt x="5304663" y="641985"/>
                </a:lnTo>
                <a:lnTo>
                  <a:pt x="5359273" y="643001"/>
                </a:lnTo>
                <a:lnTo>
                  <a:pt x="5359527" y="630301"/>
                </a:lnTo>
                <a:close/>
              </a:path>
            </a:pathLst>
          </a:custGeom>
          <a:solidFill>
            <a:srgbClr val="000000"/>
          </a:solidFill>
        </p:spPr>
        <p:txBody>
          <a:bodyPr wrap="square" lIns="0" tIns="0" rIns="0" bIns="0" rtlCol="0"/>
          <a:lstStyle/>
          <a:p>
            <a:endParaRPr/>
          </a:p>
        </p:txBody>
      </p:sp>
      <p:grpSp>
        <p:nvGrpSpPr>
          <p:cNvPr id="11" name="object 11"/>
          <p:cNvGrpSpPr/>
          <p:nvPr/>
        </p:nvGrpSpPr>
        <p:grpSpPr>
          <a:xfrm>
            <a:off x="2501900" y="3956050"/>
            <a:ext cx="4219575" cy="622300"/>
            <a:chOff x="2501900" y="3956050"/>
            <a:chExt cx="4219575" cy="622300"/>
          </a:xfrm>
        </p:grpSpPr>
        <p:sp>
          <p:nvSpPr>
            <p:cNvPr id="12" name="object 12"/>
            <p:cNvSpPr/>
            <p:nvPr/>
          </p:nvSpPr>
          <p:spPr>
            <a:xfrm>
              <a:off x="2508250" y="3962400"/>
              <a:ext cx="4206875" cy="609600"/>
            </a:xfrm>
            <a:custGeom>
              <a:avLst/>
              <a:gdLst/>
              <a:ahLst/>
              <a:cxnLst/>
              <a:rect l="l" t="t" r="r" b="b"/>
              <a:pathLst>
                <a:path w="4206875" h="609600">
                  <a:moveTo>
                    <a:pt x="0" y="609600"/>
                  </a:moveTo>
                  <a:lnTo>
                    <a:pt x="1143000" y="609600"/>
                  </a:lnTo>
                  <a:lnTo>
                    <a:pt x="1143000" y="0"/>
                  </a:lnTo>
                  <a:lnTo>
                    <a:pt x="0" y="0"/>
                  </a:lnTo>
                  <a:lnTo>
                    <a:pt x="0" y="609600"/>
                  </a:lnTo>
                  <a:close/>
                </a:path>
                <a:path w="4206875" h="609600">
                  <a:moveTo>
                    <a:pt x="3063875" y="609600"/>
                  </a:moveTo>
                  <a:lnTo>
                    <a:pt x="4206875" y="609600"/>
                  </a:lnTo>
                  <a:lnTo>
                    <a:pt x="4206875" y="0"/>
                  </a:lnTo>
                  <a:lnTo>
                    <a:pt x="3063875" y="0"/>
                  </a:lnTo>
                  <a:lnTo>
                    <a:pt x="3063875" y="609600"/>
                  </a:lnTo>
                  <a:close/>
                </a:path>
                <a:path w="4206875" h="609600">
                  <a:moveTo>
                    <a:pt x="1524000" y="304800"/>
                  </a:moveTo>
                  <a:lnTo>
                    <a:pt x="2057400" y="0"/>
                  </a:lnTo>
                  <a:lnTo>
                    <a:pt x="2590800" y="304800"/>
                  </a:lnTo>
                  <a:lnTo>
                    <a:pt x="2057400" y="609600"/>
                  </a:lnTo>
                  <a:lnTo>
                    <a:pt x="1524000" y="304800"/>
                  </a:lnTo>
                  <a:close/>
                </a:path>
              </a:pathLst>
            </a:custGeom>
            <a:ln w="12700">
              <a:solidFill>
                <a:srgbClr val="000000"/>
              </a:solidFill>
            </a:ln>
          </p:spPr>
          <p:txBody>
            <a:bodyPr wrap="square" lIns="0" tIns="0" rIns="0" bIns="0" rtlCol="0"/>
            <a:lstStyle/>
            <a:p>
              <a:endParaRPr/>
            </a:p>
          </p:txBody>
        </p:sp>
        <p:sp>
          <p:nvSpPr>
            <p:cNvPr id="13" name="object 13"/>
            <p:cNvSpPr/>
            <p:nvPr/>
          </p:nvSpPr>
          <p:spPr>
            <a:xfrm>
              <a:off x="3651250" y="42672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14" name="object 14"/>
          <p:cNvSpPr txBox="1"/>
          <p:nvPr/>
        </p:nvSpPr>
        <p:spPr>
          <a:xfrm>
            <a:off x="1309242" y="5162803"/>
            <a:ext cx="631825" cy="451484"/>
          </a:xfrm>
          <a:prstGeom prst="rect">
            <a:avLst/>
          </a:prstGeom>
        </p:spPr>
        <p:txBody>
          <a:bodyPr vert="horz" wrap="square" lIns="0" tIns="11430" rIns="0" bIns="0" rtlCol="0">
            <a:spAutoFit/>
          </a:bodyPr>
          <a:lstStyle/>
          <a:p>
            <a:pPr marL="12700" marR="5080" indent="154940">
              <a:lnSpc>
                <a:spcPct val="100000"/>
              </a:lnSpc>
              <a:spcBef>
                <a:spcPts val="90"/>
              </a:spcBef>
            </a:pPr>
            <a:r>
              <a:rPr sz="1400" spc="-35" dirty="0">
                <a:latin typeface="Times New Roman"/>
                <a:cs typeface="Times New Roman"/>
              </a:rPr>
              <a:t>K</a:t>
            </a:r>
            <a:r>
              <a:rPr sz="1400" spc="-180" dirty="0">
                <a:latin typeface="Times New Roman"/>
                <a:cs typeface="Times New Roman"/>
              </a:rPr>
              <a:t>A</a:t>
            </a:r>
            <a:r>
              <a:rPr sz="1400" spc="-140" dirty="0">
                <a:latin typeface="Times New Roman"/>
                <a:cs typeface="Times New Roman"/>
              </a:rPr>
              <a:t>T</a:t>
            </a:r>
            <a:r>
              <a:rPr sz="1400" spc="-5" dirty="0">
                <a:latin typeface="Times New Roman"/>
                <a:cs typeface="Times New Roman"/>
              </a:rPr>
              <a:t>A  </a:t>
            </a:r>
            <a:r>
              <a:rPr sz="1400" spc="-30" dirty="0">
                <a:latin typeface="Times New Roman"/>
                <a:cs typeface="Times New Roman"/>
              </a:rPr>
              <a:t>B</a:t>
            </a:r>
            <a:r>
              <a:rPr sz="1400" spc="-20" dirty="0">
                <a:latin typeface="Times New Roman"/>
                <a:cs typeface="Times New Roman"/>
              </a:rPr>
              <a:t>E</a:t>
            </a:r>
            <a:r>
              <a:rPr sz="1400" spc="-10" dirty="0">
                <a:latin typeface="Times New Roman"/>
                <a:cs typeface="Times New Roman"/>
              </a:rPr>
              <a:t>NDA</a:t>
            </a:r>
            <a:endParaRPr sz="1400">
              <a:latin typeface="Times New Roman"/>
              <a:cs typeface="Times New Roman"/>
            </a:endParaRPr>
          </a:p>
        </p:txBody>
      </p:sp>
      <p:sp>
        <p:nvSpPr>
          <p:cNvPr id="15" name="object 15"/>
          <p:cNvSpPr txBox="1"/>
          <p:nvPr/>
        </p:nvSpPr>
        <p:spPr>
          <a:xfrm>
            <a:off x="7388732" y="5086603"/>
            <a:ext cx="631825" cy="451484"/>
          </a:xfrm>
          <a:prstGeom prst="rect">
            <a:avLst/>
          </a:prstGeom>
        </p:spPr>
        <p:txBody>
          <a:bodyPr vert="horz" wrap="square" lIns="0" tIns="11430" rIns="0" bIns="0" rtlCol="0">
            <a:spAutoFit/>
          </a:bodyPr>
          <a:lstStyle/>
          <a:p>
            <a:pPr marL="12700" marR="5080">
              <a:lnSpc>
                <a:spcPct val="100000"/>
              </a:lnSpc>
              <a:spcBef>
                <a:spcPts val="90"/>
              </a:spcBef>
            </a:pPr>
            <a:r>
              <a:rPr sz="1400" spc="-90" dirty="0">
                <a:latin typeface="Times New Roman"/>
                <a:cs typeface="Times New Roman"/>
              </a:rPr>
              <a:t>KATA </a:t>
            </a:r>
            <a:r>
              <a:rPr sz="1400" spc="-85" dirty="0">
                <a:latin typeface="Times New Roman"/>
                <a:cs typeface="Times New Roman"/>
              </a:rPr>
              <a:t> </a:t>
            </a:r>
            <a:r>
              <a:rPr sz="1400" spc="-30" dirty="0">
                <a:latin typeface="Times New Roman"/>
                <a:cs typeface="Times New Roman"/>
              </a:rPr>
              <a:t>B</a:t>
            </a:r>
            <a:r>
              <a:rPr sz="1400" spc="-20" dirty="0">
                <a:latin typeface="Times New Roman"/>
                <a:cs typeface="Times New Roman"/>
              </a:rPr>
              <a:t>E</a:t>
            </a:r>
            <a:r>
              <a:rPr sz="1400" spc="-10" dirty="0">
                <a:latin typeface="Times New Roman"/>
                <a:cs typeface="Times New Roman"/>
              </a:rPr>
              <a:t>NDA</a:t>
            </a:r>
            <a:endParaRPr sz="1400">
              <a:latin typeface="Times New Roman"/>
              <a:cs typeface="Times New Roman"/>
            </a:endParaRPr>
          </a:p>
        </p:txBody>
      </p:sp>
      <p:sp>
        <p:nvSpPr>
          <p:cNvPr id="16" name="object 16"/>
          <p:cNvSpPr txBox="1"/>
          <p:nvPr/>
        </p:nvSpPr>
        <p:spPr>
          <a:xfrm>
            <a:off x="3729990" y="5467603"/>
            <a:ext cx="1064260"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K</a:t>
            </a:r>
            <a:r>
              <a:rPr sz="1400" spc="-175" dirty="0">
                <a:latin typeface="Times New Roman"/>
                <a:cs typeface="Times New Roman"/>
              </a:rPr>
              <a:t>A</a:t>
            </a:r>
            <a:r>
              <a:rPr sz="1400" spc="-140" dirty="0">
                <a:latin typeface="Times New Roman"/>
                <a:cs typeface="Times New Roman"/>
              </a:rPr>
              <a:t>T</a:t>
            </a:r>
            <a:r>
              <a:rPr sz="1400" spc="-5" dirty="0">
                <a:latin typeface="Times New Roman"/>
                <a:cs typeface="Times New Roman"/>
              </a:rPr>
              <a:t>A</a:t>
            </a:r>
            <a:r>
              <a:rPr sz="1400" spc="-40" dirty="0">
                <a:latin typeface="Times New Roman"/>
                <a:cs typeface="Times New Roman"/>
              </a:rPr>
              <a:t> </a:t>
            </a:r>
            <a:r>
              <a:rPr sz="1400" spc="-30" dirty="0">
                <a:latin typeface="Times New Roman"/>
                <a:cs typeface="Times New Roman"/>
              </a:rPr>
              <a:t>K</a:t>
            </a:r>
            <a:r>
              <a:rPr sz="1400" spc="-20" dirty="0">
                <a:latin typeface="Times New Roman"/>
                <a:cs typeface="Times New Roman"/>
              </a:rPr>
              <a:t>E</a:t>
            </a:r>
            <a:r>
              <a:rPr sz="1400" spc="-5" dirty="0">
                <a:latin typeface="Times New Roman"/>
                <a:cs typeface="Times New Roman"/>
              </a:rPr>
              <a:t>R</a:t>
            </a:r>
            <a:r>
              <a:rPr sz="1400" dirty="0">
                <a:latin typeface="Times New Roman"/>
                <a:cs typeface="Times New Roman"/>
              </a:rPr>
              <a:t>J</a:t>
            </a:r>
            <a:r>
              <a:rPr sz="1400" spc="-5" dirty="0">
                <a:latin typeface="Times New Roman"/>
                <a:cs typeface="Times New Roman"/>
              </a:rPr>
              <a:t>A</a:t>
            </a:r>
            <a:endParaRPr sz="1400">
              <a:latin typeface="Times New Roman"/>
              <a:cs typeface="Times New Roman"/>
            </a:endParaRPr>
          </a:p>
        </p:txBody>
      </p:sp>
      <p:sp>
        <p:nvSpPr>
          <p:cNvPr id="17" name="object 17"/>
          <p:cNvSpPr/>
          <p:nvPr/>
        </p:nvSpPr>
        <p:spPr>
          <a:xfrm>
            <a:off x="2014474" y="4571872"/>
            <a:ext cx="5294630" cy="867410"/>
          </a:xfrm>
          <a:custGeom>
            <a:avLst/>
            <a:gdLst/>
            <a:ahLst/>
            <a:cxnLst/>
            <a:rect l="l" t="t" r="r" b="b"/>
            <a:pathLst>
              <a:path w="5294630" h="867410">
                <a:moveTo>
                  <a:pt x="1111758" y="134112"/>
                </a:moveTo>
                <a:lnTo>
                  <a:pt x="1104138" y="112268"/>
                </a:lnTo>
                <a:lnTo>
                  <a:pt x="1065022" y="0"/>
                </a:lnTo>
                <a:lnTo>
                  <a:pt x="985774" y="117856"/>
                </a:lnTo>
                <a:lnTo>
                  <a:pt x="1041844" y="125095"/>
                </a:lnTo>
                <a:lnTo>
                  <a:pt x="1040638" y="132080"/>
                </a:lnTo>
                <a:lnTo>
                  <a:pt x="1035177" y="150876"/>
                </a:lnTo>
                <a:lnTo>
                  <a:pt x="1022350" y="188087"/>
                </a:lnTo>
                <a:lnTo>
                  <a:pt x="1006856" y="225044"/>
                </a:lnTo>
                <a:lnTo>
                  <a:pt x="988695" y="261493"/>
                </a:lnTo>
                <a:lnTo>
                  <a:pt x="968375" y="297434"/>
                </a:lnTo>
                <a:lnTo>
                  <a:pt x="945515" y="332867"/>
                </a:lnTo>
                <a:lnTo>
                  <a:pt x="920496" y="367665"/>
                </a:lnTo>
                <a:lnTo>
                  <a:pt x="893318" y="401574"/>
                </a:lnTo>
                <a:lnTo>
                  <a:pt x="864108" y="434848"/>
                </a:lnTo>
                <a:lnTo>
                  <a:pt x="832993" y="467233"/>
                </a:lnTo>
                <a:lnTo>
                  <a:pt x="799846" y="498602"/>
                </a:lnTo>
                <a:lnTo>
                  <a:pt x="765048" y="528955"/>
                </a:lnTo>
                <a:lnTo>
                  <a:pt x="728726" y="558165"/>
                </a:lnTo>
                <a:lnTo>
                  <a:pt x="690626" y="586232"/>
                </a:lnTo>
                <a:lnTo>
                  <a:pt x="651129" y="613029"/>
                </a:lnTo>
                <a:lnTo>
                  <a:pt x="610362" y="638429"/>
                </a:lnTo>
                <a:lnTo>
                  <a:pt x="568198" y="662432"/>
                </a:lnTo>
                <a:lnTo>
                  <a:pt x="524891" y="684911"/>
                </a:lnTo>
                <a:lnTo>
                  <a:pt x="480695" y="705866"/>
                </a:lnTo>
                <a:lnTo>
                  <a:pt x="435356" y="725297"/>
                </a:lnTo>
                <a:lnTo>
                  <a:pt x="389255" y="742823"/>
                </a:lnTo>
                <a:lnTo>
                  <a:pt x="342265" y="758698"/>
                </a:lnTo>
                <a:lnTo>
                  <a:pt x="294640" y="772668"/>
                </a:lnTo>
                <a:lnTo>
                  <a:pt x="246380" y="784606"/>
                </a:lnTo>
                <a:lnTo>
                  <a:pt x="197739" y="794639"/>
                </a:lnTo>
                <a:lnTo>
                  <a:pt x="148717" y="802513"/>
                </a:lnTo>
                <a:lnTo>
                  <a:pt x="99314" y="808228"/>
                </a:lnTo>
                <a:lnTo>
                  <a:pt x="49784" y="811784"/>
                </a:lnTo>
                <a:lnTo>
                  <a:pt x="0" y="812927"/>
                </a:lnTo>
                <a:lnTo>
                  <a:pt x="127" y="825627"/>
                </a:lnTo>
                <a:lnTo>
                  <a:pt x="50165" y="824484"/>
                </a:lnTo>
                <a:lnTo>
                  <a:pt x="100330" y="820928"/>
                </a:lnTo>
                <a:lnTo>
                  <a:pt x="150114" y="815086"/>
                </a:lnTo>
                <a:lnTo>
                  <a:pt x="199771" y="807212"/>
                </a:lnTo>
                <a:lnTo>
                  <a:pt x="249047" y="797052"/>
                </a:lnTo>
                <a:lnTo>
                  <a:pt x="297688" y="784987"/>
                </a:lnTo>
                <a:lnTo>
                  <a:pt x="345821" y="770890"/>
                </a:lnTo>
                <a:lnTo>
                  <a:pt x="393319" y="754888"/>
                </a:lnTo>
                <a:lnTo>
                  <a:pt x="439928" y="737108"/>
                </a:lnTo>
                <a:lnTo>
                  <a:pt x="485648" y="717550"/>
                </a:lnTo>
                <a:lnTo>
                  <a:pt x="530352" y="696468"/>
                </a:lnTo>
                <a:lnTo>
                  <a:pt x="574167" y="673735"/>
                </a:lnTo>
                <a:lnTo>
                  <a:pt x="616585" y="649478"/>
                </a:lnTo>
                <a:lnTo>
                  <a:pt x="657860" y="623836"/>
                </a:lnTo>
                <a:lnTo>
                  <a:pt x="697865" y="596646"/>
                </a:lnTo>
                <a:lnTo>
                  <a:pt x="736219" y="568325"/>
                </a:lnTo>
                <a:lnTo>
                  <a:pt x="773049" y="538861"/>
                </a:lnTo>
                <a:lnTo>
                  <a:pt x="808228" y="508127"/>
                </a:lnTo>
                <a:lnTo>
                  <a:pt x="841629" y="476377"/>
                </a:lnTo>
                <a:lnTo>
                  <a:pt x="873252" y="443611"/>
                </a:lnTo>
                <a:lnTo>
                  <a:pt x="902843" y="409956"/>
                </a:lnTo>
                <a:lnTo>
                  <a:pt x="930402" y="375539"/>
                </a:lnTo>
                <a:lnTo>
                  <a:pt x="955802" y="340233"/>
                </a:lnTo>
                <a:lnTo>
                  <a:pt x="979043" y="304165"/>
                </a:lnTo>
                <a:lnTo>
                  <a:pt x="999871" y="267589"/>
                </a:lnTo>
                <a:lnTo>
                  <a:pt x="1018286" y="230505"/>
                </a:lnTo>
                <a:lnTo>
                  <a:pt x="1034034" y="192786"/>
                </a:lnTo>
                <a:lnTo>
                  <a:pt x="1047242" y="154813"/>
                </a:lnTo>
                <a:lnTo>
                  <a:pt x="1054430" y="126720"/>
                </a:lnTo>
                <a:lnTo>
                  <a:pt x="1111758" y="134112"/>
                </a:lnTo>
                <a:close/>
              </a:path>
              <a:path w="5294630" h="867410">
                <a:moveTo>
                  <a:pt x="2572512" y="140462"/>
                </a:moveTo>
                <a:lnTo>
                  <a:pt x="2567406" y="106934"/>
                </a:lnTo>
                <a:lnTo>
                  <a:pt x="2551176" y="127"/>
                </a:lnTo>
                <a:lnTo>
                  <a:pt x="2451735" y="101473"/>
                </a:lnTo>
                <a:lnTo>
                  <a:pt x="2506116" y="119037"/>
                </a:lnTo>
                <a:lnTo>
                  <a:pt x="2265680" y="863346"/>
                </a:lnTo>
                <a:lnTo>
                  <a:pt x="2277872" y="867283"/>
                </a:lnTo>
                <a:lnTo>
                  <a:pt x="2518194" y="122936"/>
                </a:lnTo>
                <a:lnTo>
                  <a:pt x="2572512" y="140462"/>
                </a:lnTo>
                <a:close/>
              </a:path>
              <a:path w="5294630" h="867410">
                <a:moveTo>
                  <a:pt x="5294503" y="736727"/>
                </a:moveTo>
                <a:lnTo>
                  <a:pt x="5240020" y="735711"/>
                </a:lnTo>
                <a:lnTo>
                  <a:pt x="5185791" y="732409"/>
                </a:lnTo>
                <a:lnTo>
                  <a:pt x="5131689" y="727202"/>
                </a:lnTo>
                <a:lnTo>
                  <a:pt x="5077968" y="720090"/>
                </a:lnTo>
                <a:lnTo>
                  <a:pt x="5024628" y="710946"/>
                </a:lnTo>
                <a:lnTo>
                  <a:pt x="4971923" y="700151"/>
                </a:lnTo>
                <a:lnTo>
                  <a:pt x="4919726" y="687451"/>
                </a:lnTo>
                <a:lnTo>
                  <a:pt x="4868291" y="673100"/>
                </a:lnTo>
                <a:lnTo>
                  <a:pt x="4817745" y="657098"/>
                </a:lnTo>
                <a:lnTo>
                  <a:pt x="4768088" y="639572"/>
                </a:lnTo>
                <a:lnTo>
                  <a:pt x="4719574" y="620522"/>
                </a:lnTo>
                <a:lnTo>
                  <a:pt x="4672203" y="600075"/>
                </a:lnTo>
                <a:lnTo>
                  <a:pt x="4626102" y="578358"/>
                </a:lnTo>
                <a:lnTo>
                  <a:pt x="4581398" y="555244"/>
                </a:lnTo>
                <a:lnTo>
                  <a:pt x="4538218" y="530987"/>
                </a:lnTo>
                <a:lnTo>
                  <a:pt x="4496549" y="505587"/>
                </a:lnTo>
                <a:lnTo>
                  <a:pt x="4456684" y="479044"/>
                </a:lnTo>
                <a:lnTo>
                  <a:pt x="4418584" y="451358"/>
                </a:lnTo>
                <a:lnTo>
                  <a:pt x="4382389" y="423037"/>
                </a:lnTo>
                <a:lnTo>
                  <a:pt x="4348353" y="393700"/>
                </a:lnTo>
                <a:lnTo>
                  <a:pt x="4316349" y="363474"/>
                </a:lnTo>
                <a:lnTo>
                  <a:pt x="4286631" y="332613"/>
                </a:lnTo>
                <a:lnTo>
                  <a:pt x="4259199" y="301244"/>
                </a:lnTo>
                <a:lnTo>
                  <a:pt x="4234307" y="269113"/>
                </a:lnTo>
                <a:lnTo>
                  <a:pt x="4211955" y="236601"/>
                </a:lnTo>
                <a:lnTo>
                  <a:pt x="4192270" y="203454"/>
                </a:lnTo>
                <a:lnTo>
                  <a:pt x="4167886" y="153289"/>
                </a:lnTo>
                <a:lnTo>
                  <a:pt x="4157980" y="124028"/>
                </a:lnTo>
                <a:lnTo>
                  <a:pt x="4213225" y="114554"/>
                </a:lnTo>
                <a:lnTo>
                  <a:pt x="4210697" y="111125"/>
                </a:lnTo>
                <a:lnTo>
                  <a:pt x="4129151" y="127"/>
                </a:lnTo>
                <a:lnTo>
                  <a:pt x="4088003" y="136017"/>
                </a:lnTo>
                <a:lnTo>
                  <a:pt x="4145483" y="126174"/>
                </a:lnTo>
                <a:lnTo>
                  <a:pt x="4149471" y="141097"/>
                </a:lnTo>
                <a:lnTo>
                  <a:pt x="4172204" y="192786"/>
                </a:lnTo>
                <a:lnTo>
                  <a:pt x="4191000" y="226695"/>
                </a:lnTo>
                <a:lnTo>
                  <a:pt x="4212463" y="260223"/>
                </a:lnTo>
                <a:lnTo>
                  <a:pt x="4236593" y="293116"/>
                </a:lnTo>
                <a:lnTo>
                  <a:pt x="4263136" y="325501"/>
                </a:lnTo>
                <a:lnTo>
                  <a:pt x="4292219" y="357124"/>
                </a:lnTo>
                <a:lnTo>
                  <a:pt x="4340098" y="403225"/>
                </a:lnTo>
                <a:lnTo>
                  <a:pt x="4374642" y="432943"/>
                </a:lnTo>
                <a:lnTo>
                  <a:pt x="4411218" y="461645"/>
                </a:lnTo>
                <a:lnTo>
                  <a:pt x="4449699" y="489585"/>
                </a:lnTo>
                <a:lnTo>
                  <a:pt x="4489945" y="516382"/>
                </a:lnTo>
                <a:lnTo>
                  <a:pt x="4531995" y="542036"/>
                </a:lnTo>
                <a:lnTo>
                  <a:pt x="4575556" y="566547"/>
                </a:lnTo>
                <a:lnTo>
                  <a:pt x="4620641" y="589788"/>
                </a:lnTo>
                <a:lnTo>
                  <a:pt x="4667123" y="611759"/>
                </a:lnTo>
                <a:lnTo>
                  <a:pt x="4714875" y="632460"/>
                </a:lnTo>
                <a:lnTo>
                  <a:pt x="4763897" y="651510"/>
                </a:lnTo>
                <a:lnTo>
                  <a:pt x="4813935" y="669163"/>
                </a:lnTo>
                <a:lnTo>
                  <a:pt x="4864862" y="685419"/>
                </a:lnTo>
                <a:lnTo>
                  <a:pt x="4916678" y="699770"/>
                </a:lnTo>
                <a:lnTo>
                  <a:pt x="4969256" y="712470"/>
                </a:lnTo>
                <a:lnTo>
                  <a:pt x="5022469" y="723519"/>
                </a:lnTo>
                <a:lnTo>
                  <a:pt x="5076190" y="732663"/>
                </a:lnTo>
                <a:lnTo>
                  <a:pt x="5130419" y="739902"/>
                </a:lnTo>
                <a:lnTo>
                  <a:pt x="5185029" y="745109"/>
                </a:lnTo>
                <a:lnTo>
                  <a:pt x="5239766" y="748411"/>
                </a:lnTo>
                <a:lnTo>
                  <a:pt x="5294376" y="749427"/>
                </a:lnTo>
                <a:lnTo>
                  <a:pt x="5294503" y="736727"/>
                </a:lnTo>
                <a:close/>
              </a:path>
            </a:pathLst>
          </a:custGeom>
          <a:solidFill>
            <a:srgbClr val="000000"/>
          </a:solid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457200"/>
            <a:ext cx="3759200" cy="457200"/>
          </a:xfrm>
          <a:prstGeom prst="rect">
            <a:avLst/>
          </a:prstGeom>
        </p:spPr>
      </p:pic>
      <p:sp>
        <p:nvSpPr>
          <p:cNvPr id="3" name="object 3"/>
          <p:cNvSpPr txBox="1"/>
          <p:nvPr/>
        </p:nvSpPr>
        <p:spPr>
          <a:xfrm>
            <a:off x="1201318" y="523443"/>
            <a:ext cx="2830830"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ENTITY-RELATIONSHIP</a:t>
            </a:r>
            <a:r>
              <a:rPr sz="1400" spc="25"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sp>
        <p:nvSpPr>
          <p:cNvPr id="4" name="object 4"/>
          <p:cNvSpPr txBox="1"/>
          <p:nvPr/>
        </p:nvSpPr>
        <p:spPr>
          <a:xfrm>
            <a:off x="1143000" y="1447800"/>
            <a:ext cx="1143000" cy="609600"/>
          </a:xfrm>
          <a:prstGeom prst="rect">
            <a:avLst/>
          </a:prstGeom>
          <a:ln w="12700">
            <a:solidFill>
              <a:srgbClr val="000000"/>
            </a:solidFill>
          </a:ln>
        </p:spPr>
        <p:txBody>
          <a:bodyPr vert="horz" wrap="square" lIns="0" tIns="1905" rIns="0" bIns="0" rtlCol="0">
            <a:spAutoFit/>
          </a:bodyPr>
          <a:lstStyle/>
          <a:p>
            <a:pPr>
              <a:lnSpc>
                <a:spcPct val="100000"/>
              </a:lnSpc>
              <a:spcBef>
                <a:spcPts val="15"/>
              </a:spcBef>
            </a:pPr>
            <a:endParaRPr sz="1300">
              <a:latin typeface="Times New Roman"/>
              <a:cs typeface="Times New Roman"/>
            </a:endParaRPr>
          </a:p>
          <a:p>
            <a:pPr marL="91440">
              <a:lnSpc>
                <a:spcPct val="100000"/>
              </a:lnSpc>
            </a:pPr>
            <a:r>
              <a:rPr sz="1400" spc="-55" dirty="0">
                <a:latin typeface="Times New Roman"/>
                <a:cs typeface="Times New Roman"/>
              </a:rPr>
              <a:t>PEGAWAI</a:t>
            </a:r>
            <a:endParaRPr sz="1400">
              <a:latin typeface="Times New Roman"/>
              <a:cs typeface="Times New Roman"/>
            </a:endParaRPr>
          </a:p>
        </p:txBody>
      </p:sp>
      <p:sp>
        <p:nvSpPr>
          <p:cNvPr id="5" name="object 5"/>
          <p:cNvSpPr txBox="1"/>
          <p:nvPr/>
        </p:nvSpPr>
        <p:spPr>
          <a:xfrm>
            <a:off x="4206875" y="1447800"/>
            <a:ext cx="1143000" cy="609600"/>
          </a:xfrm>
          <a:prstGeom prst="rect">
            <a:avLst/>
          </a:prstGeom>
          <a:ln w="12700">
            <a:solidFill>
              <a:srgbClr val="000000"/>
            </a:solidFill>
          </a:ln>
        </p:spPr>
        <p:txBody>
          <a:bodyPr vert="horz" wrap="square" lIns="0" tIns="5715" rIns="0" bIns="0" rtlCol="0">
            <a:spAutoFit/>
          </a:bodyPr>
          <a:lstStyle/>
          <a:p>
            <a:pPr>
              <a:lnSpc>
                <a:spcPct val="100000"/>
              </a:lnSpc>
              <a:spcBef>
                <a:spcPts val="45"/>
              </a:spcBef>
            </a:pPr>
            <a:endParaRPr sz="1350">
              <a:latin typeface="Times New Roman"/>
              <a:cs typeface="Times New Roman"/>
            </a:endParaRPr>
          </a:p>
          <a:p>
            <a:pPr marL="172085">
              <a:lnSpc>
                <a:spcPct val="100000"/>
              </a:lnSpc>
            </a:pPr>
            <a:r>
              <a:rPr sz="1400" spc="-60" dirty="0">
                <a:latin typeface="Times New Roman"/>
                <a:cs typeface="Times New Roman"/>
              </a:rPr>
              <a:t>JABATAN</a:t>
            </a:r>
            <a:endParaRPr sz="1400">
              <a:latin typeface="Times New Roman"/>
              <a:cs typeface="Times New Roman"/>
            </a:endParaRPr>
          </a:p>
        </p:txBody>
      </p:sp>
      <p:sp>
        <p:nvSpPr>
          <p:cNvPr id="6" name="object 6"/>
          <p:cNvSpPr txBox="1"/>
          <p:nvPr/>
        </p:nvSpPr>
        <p:spPr>
          <a:xfrm>
            <a:off x="2889630" y="1628901"/>
            <a:ext cx="61658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10" dirty="0">
                <a:latin typeface="Times New Roman"/>
                <a:cs typeface="Times New Roman"/>
              </a:rPr>
              <a:t>UN</a:t>
            </a:r>
            <a:r>
              <a:rPr sz="1400" spc="-155" dirty="0">
                <a:latin typeface="Times New Roman"/>
                <a:cs typeface="Times New Roman"/>
              </a:rPr>
              <a:t>Y</a:t>
            </a:r>
            <a:r>
              <a:rPr sz="1400" spc="-10" dirty="0">
                <a:latin typeface="Times New Roman"/>
                <a:cs typeface="Times New Roman"/>
              </a:rPr>
              <a:t>A</a:t>
            </a:r>
            <a:endParaRPr sz="1400">
              <a:latin typeface="Times New Roman"/>
              <a:cs typeface="Times New Roman"/>
            </a:endParaRPr>
          </a:p>
        </p:txBody>
      </p:sp>
      <p:grpSp>
        <p:nvGrpSpPr>
          <p:cNvPr id="7" name="object 7"/>
          <p:cNvGrpSpPr/>
          <p:nvPr/>
        </p:nvGrpSpPr>
        <p:grpSpPr>
          <a:xfrm>
            <a:off x="2286000" y="1441450"/>
            <a:ext cx="1905000" cy="622300"/>
            <a:chOff x="2286000" y="1441450"/>
            <a:chExt cx="1905000" cy="622300"/>
          </a:xfrm>
        </p:grpSpPr>
        <p:sp>
          <p:nvSpPr>
            <p:cNvPr id="8" name="object 8"/>
            <p:cNvSpPr/>
            <p:nvPr/>
          </p:nvSpPr>
          <p:spPr>
            <a:xfrm>
              <a:off x="2667000" y="14478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9" name="object 9"/>
            <p:cNvSpPr/>
            <p:nvPr/>
          </p:nvSpPr>
          <p:spPr>
            <a:xfrm>
              <a:off x="2286000" y="17526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10" name="object 10"/>
          <p:cNvSpPr txBox="1"/>
          <p:nvPr/>
        </p:nvSpPr>
        <p:spPr>
          <a:xfrm>
            <a:off x="993444" y="2237689"/>
            <a:ext cx="80073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20" dirty="0">
                <a:latin typeface="Times New Roman"/>
                <a:cs typeface="Times New Roman"/>
              </a:rPr>
              <a:t>E</a:t>
            </a:r>
            <a:r>
              <a:rPr sz="1400" spc="-5" dirty="0">
                <a:latin typeface="Times New Roman"/>
                <a:cs typeface="Times New Roman"/>
              </a:rPr>
              <a:t>G</a:t>
            </a:r>
            <a:r>
              <a:rPr sz="1400" spc="-150" dirty="0">
                <a:latin typeface="Times New Roman"/>
                <a:cs typeface="Times New Roman"/>
              </a:rPr>
              <a:t>A</a:t>
            </a:r>
            <a:r>
              <a:rPr sz="1400" spc="-155" dirty="0">
                <a:latin typeface="Times New Roman"/>
                <a:cs typeface="Times New Roman"/>
              </a:rPr>
              <a:t>W</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11" name="object 11"/>
          <p:cNvSpPr txBox="1"/>
          <p:nvPr/>
        </p:nvSpPr>
        <p:spPr>
          <a:xfrm>
            <a:off x="2822829" y="2237689"/>
            <a:ext cx="1096010"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Times New Roman"/>
                <a:cs typeface="Times New Roman"/>
              </a:rPr>
              <a:t>M</a:t>
            </a:r>
            <a:r>
              <a:rPr sz="1400" spc="-20" dirty="0">
                <a:latin typeface="Times New Roman"/>
                <a:cs typeface="Times New Roman"/>
              </a:rPr>
              <a:t>E</a:t>
            </a:r>
            <a:r>
              <a:rPr sz="1400" spc="-5" dirty="0">
                <a:latin typeface="Times New Roman"/>
                <a:cs typeface="Times New Roman"/>
              </a:rPr>
              <a:t>M</a:t>
            </a:r>
            <a:r>
              <a:rPr sz="1400" spc="-15" dirty="0">
                <a:latin typeface="Times New Roman"/>
                <a:cs typeface="Times New Roman"/>
              </a:rPr>
              <a:t>P</a:t>
            </a:r>
            <a:r>
              <a:rPr sz="1400" spc="-5" dirty="0">
                <a:latin typeface="Times New Roman"/>
                <a:cs typeface="Times New Roman"/>
              </a:rPr>
              <a:t>UN</a:t>
            </a:r>
            <a:r>
              <a:rPr sz="1400" spc="-150" dirty="0">
                <a:latin typeface="Times New Roman"/>
                <a:cs typeface="Times New Roman"/>
              </a:rPr>
              <a:t>Y</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12" name="object 12"/>
          <p:cNvSpPr txBox="1"/>
          <p:nvPr/>
        </p:nvSpPr>
        <p:spPr>
          <a:xfrm>
            <a:off x="4652264" y="2237689"/>
            <a:ext cx="787400" cy="238125"/>
          </a:xfrm>
          <a:prstGeom prst="rect">
            <a:avLst/>
          </a:prstGeom>
        </p:spPr>
        <p:txBody>
          <a:bodyPr vert="horz" wrap="square" lIns="0" tIns="12065" rIns="0" bIns="0" rtlCol="0">
            <a:spAutoFit/>
          </a:bodyPr>
          <a:lstStyle/>
          <a:p>
            <a:pPr marL="12700">
              <a:lnSpc>
                <a:spcPct val="100000"/>
              </a:lnSpc>
              <a:spcBef>
                <a:spcPts val="95"/>
              </a:spcBef>
            </a:pPr>
            <a:r>
              <a:rPr sz="1400" spc="-60" dirty="0">
                <a:latin typeface="Times New Roman"/>
                <a:cs typeface="Times New Roman"/>
              </a:rPr>
              <a:t>JABATAN</a:t>
            </a:r>
            <a:endParaRPr sz="1400">
              <a:latin typeface="Times New Roman"/>
              <a:cs typeface="Times New Roman"/>
            </a:endParaRPr>
          </a:p>
        </p:txBody>
      </p:sp>
      <p:sp>
        <p:nvSpPr>
          <p:cNvPr id="13" name="object 13"/>
          <p:cNvSpPr txBox="1"/>
          <p:nvPr/>
        </p:nvSpPr>
        <p:spPr>
          <a:xfrm>
            <a:off x="993444" y="2847543"/>
            <a:ext cx="80073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20" dirty="0">
                <a:latin typeface="Times New Roman"/>
                <a:cs typeface="Times New Roman"/>
              </a:rPr>
              <a:t>E</a:t>
            </a:r>
            <a:r>
              <a:rPr sz="1400" spc="-5" dirty="0">
                <a:latin typeface="Times New Roman"/>
                <a:cs typeface="Times New Roman"/>
              </a:rPr>
              <a:t>G</a:t>
            </a:r>
            <a:r>
              <a:rPr sz="1400" spc="-150" dirty="0">
                <a:latin typeface="Times New Roman"/>
                <a:cs typeface="Times New Roman"/>
              </a:rPr>
              <a:t>A</a:t>
            </a:r>
            <a:r>
              <a:rPr sz="1400" spc="-155" dirty="0">
                <a:latin typeface="Times New Roman"/>
                <a:cs typeface="Times New Roman"/>
              </a:rPr>
              <a:t>W</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14" name="object 14"/>
          <p:cNvSpPr txBox="1"/>
          <p:nvPr/>
        </p:nvSpPr>
        <p:spPr>
          <a:xfrm>
            <a:off x="2822829" y="2847543"/>
            <a:ext cx="1372235"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DIPUNYAI </a:t>
            </a:r>
            <a:r>
              <a:rPr sz="1400" spc="-20" dirty="0">
                <a:latin typeface="Times New Roman"/>
                <a:cs typeface="Times New Roman"/>
              </a:rPr>
              <a:t>OLEH</a:t>
            </a:r>
            <a:endParaRPr sz="1400">
              <a:latin typeface="Times New Roman"/>
              <a:cs typeface="Times New Roman"/>
            </a:endParaRPr>
          </a:p>
        </p:txBody>
      </p:sp>
      <p:sp>
        <p:nvSpPr>
          <p:cNvPr id="15" name="object 15"/>
          <p:cNvSpPr txBox="1"/>
          <p:nvPr/>
        </p:nvSpPr>
        <p:spPr>
          <a:xfrm>
            <a:off x="4652264" y="2847543"/>
            <a:ext cx="787400" cy="238125"/>
          </a:xfrm>
          <a:prstGeom prst="rect">
            <a:avLst/>
          </a:prstGeom>
        </p:spPr>
        <p:txBody>
          <a:bodyPr vert="horz" wrap="square" lIns="0" tIns="12065" rIns="0" bIns="0" rtlCol="0">
            <a:spAutoFit/>
          </a:bodyPr>
          <a:lstStyle/>
          <a:p>
            <a:pPr marL="12700">
              <a:lnSpc>
                <a:spcPct val="100000"/>
              </a:lnSpc>
              <a:spcBef>
                <a:spcPts val="95"/>
              </a:spcBef>
            </a:pPr>
            <a:r>
              <a:rPr sz="1400" spc="-60" dirty="0">
                <a:latin typeface="Times New Roman"/>
                <a:cs typeface="Times New Roman"/>
              </a:rPr>
              <a:t>JABATAN</a:t>
            </a:r>
            <a:endParaRPr sz="1400">
              <a:latin typeface="Times New Roman"/>
              <a:cs typeface="Times New Roman"/>
            </a:endParaRPr>
          </a:p>
        </p:txBody>
      </p:sp>
      <p:sp>
        <p:nvSpPr>
          <p:cNvPr id="16" name="object 16"/>
          <p:cNvSpPr/>
          <p:nvPr/>
        </p:nvSpPr>
        <p:spPr>
          <a:xfrm>
            <a:off x="1066800" y="2451100"/>
            <a:ext cx="4267200" cy="127000"/>
          </a:xfrm>
          <a:custGeom>
            <a:avLst/>
            <a:gdLst/>
            <a:ahLst/>
            <a:cxnLst/>
            <a:rect l="l" t="t" r="r" b="b"/>
            <a:pathLst>
              <a:path w="4267200" h="127000">
                <a:moveTo>
                  <a:pt x="4140200" y="0"/>
                </a:moveTo>
                <a:lnTo>
                  <a:pt x="4140200" y="127000"/>
                </a:lnTo>
                <a:lnTo>
                  <a:pt x="4254500" y="69850"/>
                </a:lnTo>
                <a:lnTo>
                  <a:pt x="4152900" y="69850"/>
                </a:lnTo>
                <a:lnTo>
                  <a:pt x="4152900" y="57150"/>
                </a:lnTo>
                <a:lnTo>
                  <a:pt x="4254500" y="57150"/>
                </a:lnTo>
                <a:lnTo>
                  <a:pt x="4140200" y="0"/>
                </a:lnTo>
                <a:close/>
              </a:path>
              <a:path w="4267200" h="127000">
                <a:moveTo>
                  <a:pt x="4140200" y="57150"/>
                </a:moveTo>
                <a:lnTo>
                  <a:pt x="0" y="57150"/>
                </a:lnTo>
                <a:lnTo>
                  <a:pt x="0" y="69850"/>
                </a:lnTo>
                <a:lnTo>
                  <a:pt x="4140200" y="69850"/>
                </a:lnTo>
                <a:lnTo>
                  <a:pt x="4140200" y="57150"/>
                </a:lnTo>
                <a:close/>
              </a:path>
              <a:path w="4267200" h="127000">
                <a:moveTo>
                  <a:pt x="4254500" y="57150"/>
                </a:moveTo>
                <a:lnTo>
                  <a:pt x="4152900" y="57150"/>
                </a:lnTo>
                <a:lnTo>
                  <a:pt x="4152900" y="69850"/>
                </a:lnTo>
                <a:lnTo>
                  <a:pt x="4254500" y="69850"/>
                </a:lnTo>
                <a:lnTo>
                  <a:pt x="4267200" y="63500"/>
                </a:lnTo>
                <a:lnTo>
                  <a:pt x="4254500" y="57150"/>
                </a:lnTo>
                <a:close/>
              </a:path>
            </a:pathLst>
          </a:custGeom>
          <a:solidFill>
            <a:srgbClr val="000000"/>
          </a:solidFill>
        </p:spPr>
        <p:txBody>
          <a:bodyPr wrap="square" lIns="0" tIns="0" rIns="0" bIns="0" rtlCol="0"/>
          <a:lstStyle/>
          <a:p>
            <a:endParaRPr/>
          </a:p>
        </p:txBody>
      </p:sp>
      <p:sp>
        <p:nvSpPr>
          <p:cNvPr id="17" name="object 17"/>
          <p:cNvSpPr/>
          <p:nvPr/>
        </p:nvSpPr>
        <p:spPr>
          <a:xfrm>
            <a:off x="1143000" y="3060700"/>
            <a:ext cx="4267200" cy="127000"/>
          </a:xfrm>
          <a:custGeom>
            <a:avLst/>
            <a:gdLst/>
            <a:ahLst/>
            <a:cxnLst/>
            <a:rect l="l" t="t" r="r" b="b"/>
            <a:pathLst>
              <a:path w="4267200" h="127000">
                <a:moveTo>
                  <a:pt x="127000" y="0"/>
                </a:moveTo>
                <a:lnTo>
                  <a:pt x="0" y="63500"/>
                </a:lnTo>
                <a:lnTo>
                  <a:pt x="127000" y="127000"/>
                </a:lnTo>
                <a:lnTo>
                  <a:pt x="127000" y="69850"/>
                </a:lnTo>
                <a:lnTo>
                  <a:pt x="114300" y="69850"/>
                </a:lnTo>
                <a:lnTo>
                  <a:pt x="114300" y="57150"/>
                </a:lnTo>
                <a:lnTo>
                  <a:pt x="127000" y="57150"/>
                </a:lnTo>
                <a:lnTo>
                  <a:pt x="127000" y="0"/>
                </a:lnTo>
                <a:close/>
              </a:path>
              <a:path w="4267200" h="127000">
                <a:moveTo>
                  <a:pt x="127000" y="57150"/>
                </a:moveTo>
                <a:lnTo>
                  <a:pt x="114300" y="57150"/>
                </a:lnTo>
                <a:lnTo>
                  <a:pt x="114300" y="69850"/>
                </a:lnTo>
                <a:lnTo>
                  <a:pt x="127000" y="69850"/>
                </a:lnTo>
                <a:lnTo>
                  <a:pt x="127000" y="57150"/>
                </a:lnTo>
                <a:close/>
              </a:path>
              <a:path w="4267200" h="127000">
                <a:moveTo>
                  <a:pt x="4267200" y="57150"/>
                </a:moveTo>
                <a:lnTo>
                  <a:pt x="127000" y="57150"/>
                </a:lnTo>
                <a:lnTo>
                  <a:pt x="127000" y="69850"/>
                </a:lnTo>
                <a:lnTo>
                  <a:pt x="4267200" y="69850"/>
                </a:lnTo>
                <a:lnTo>
                  <a:pt x="4267200" y="57150"/>
                </a:lnTo>
                <a:close/>
              </a:path>
            </a:pathLst>
          </a:custGeom>
          <a:solidFill>
            <a:srgbClr val="000000"/>
          </a:solidFill>
        </p:spPr>
        <p:txBody>
          <a:bodyPr wrap="square" lIns="0" tIns="0" rIns="0" bIns="0" rtlCol="0"/>
          <a:lstStyle/>
          <a:p>
            <a:endParaRPr/>
          </a:p>
        </p:txBody>
      </p:sp>
      <p:sp>
        <p:nvSpPr>
          <p:cNvPr id="18" name="object 18"/>
          <p:cNvSpPr txBox="1"/>
          <p:nvPr/>
        </p:nvSpPr>
        <p:spPr>
          <a:xfrm>
            <a:off x="3733800" y="3962400"/>
            <a:ext cx="1143000" cy="609600"/>
          </a:xfrm>
          <a:prstGeom prst="rect">
            <a:avLst/>
          </a:prstGeom>
          <a:ln w="12700">
            <a:solidFill>
              <a:srgbClr val="000000"/>
            </a:solidFill>
          </a:ln>
        </p:spPr>
        <p:txBody>
          <a:bodyPr vert="horz" wrap="square" lIns="0" tIns="3175" rIns="0" bIns="0" rtlCol="0">
            <a:spAutoFit/>
          </a:bodyPr>
          <a:lstStyle/>
          <a:p>
            <a:pPr>
              <a:lnSpc>
                <a:spcPct val="100000"/>
              </a:lnSpc>
              <a:spcBef>
                <a:spcPts val="25"/>
              </a:spcBef>
            </a:pPr>
            <a:endParaRPr sz="1300">
              <a:latin typeface="Times New Roman"/>
              <a:cs typeface="Times New Roman"/>
            </a:endParaRPr>
          </a:p>
          <a:p>
            <a:pPr marL="92710">
              <a:lnSpc>
                <a:spcPct val="100000"/>
              </a:lnSpc>
            </a:pPr>
            <a:r>
              <a:rPr sz="1400" spc="-10" dirty="0">
                <a:latin typeface="Times New Roman"/>
                <a:cs typeface="Times New Roman"/>
              </a:rPr>
              <a:t>PROYEK</a:t>
            </a:r>
            <a:endParaRPr sz="1400">
              <a:latin typeface="Times New Roman"/>
              <a:cs typeface="Times New Roman"/>
            </a:endParaRPr>
          </a:p>
        </p:txBody>
      </p:sp>
      <p:sp>
        <p:nvSpPr>
          <p:cNvPr id="19" name="object 19"/>
          <p:cNvSpPr txBox="1"/>
          <p:nvPr/>
        </p:nvSpPr>
        <p:spPr>
          <a:xfrm>
            <a:off x="6797675" y="3962400"/>
            <a:ext cx="1143000" cy="609600"/>
          </a:xfrm>
          <a:prstGeom prst="rect">
            <a:avLst/>
          </a:prstGeom>
          <a:ln w="12700">
            <a:solidFill>
              <a:srgbClr val="000000"/>
            </a:solidFill>
          </a:ln>
        </p:spPr>
        <p:txBody>
          <a:bodyPr vert="horz" wrap="square" lIns="0" tIns="6350" rIns="0" bIns="0" rtlCol="0">
            <a:spAutoFit/>
          </a:bodyPr>
          <a:lstStyle/>
          <a:p>
            <a:pPr>
              <a:lnSpc>
                <a:spcPct val="100000"/>
              </a:lnSpc>
              <a:spcBef>
                <a:spcPts val="50"/>
              </a:spcBef>
            </a:pPr>
            <a:endParaRPr sz="1350">
              <a:latin typeface="Times New Roman"/>
              <a:cs typeface="Times New Roman"/>
            </a:endParaRPr>
          </a:p>
          <a:p>
            <a:pPr marL="162560">
              <a:lnSpc>
                <a:spcPct val="100000"/>
              </a:lnSpc>
              <a:spcBef>
                <a:spcPts val="5"/>
              </a:spcBef>
            </a:pPr>
            <a:r>
              <a:rPr sz="1400" spc="-50" dirty="0">
                <a:latin typeface="Times New Roman"/>
                <a:cs typeface="Times New Roman"/>
              </a:rPr>
              <a:t>PEGAWAI</a:t>
            </a:r>
            <a:endParaRPr sz="1400">
              <a:latin typeface="Times New Roman"/>
              <a:cs typeface="Times New Roman"/>
            </a:endParaRPr>
          </a:p>
        </p:txBody>
      </p:sp>
      <p:sp>
        <p:nvSpPr>
          <p:cNvPr id="20" name="object 20"/>
          <p:cNvSpPr txBox="1"/>
          <p:nvPr/>
        </p:nvSpPr>
        <p:spPr>
          <a:xfrm>
            <a:off x="5498719" y="4144771"/>
            <a:ext cx="574040"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KERJA</a:t>
            </a:r>
            <a:endParaRPr sz="1400">
              <a:latin typeface="Times New Roman"/>
              <a:cs typeface="Times New Roman"/>
            </a:endParaRPr>
          </a:p>
        </p:txBody>
      </p:sp>
      <p:grpSp>
        <p:nvGrpSpPr>
          <p:cNvPr id="21" name="object 21"/>
          <p:cNvGrpSpPr/>
          <p:nvPr/>
        </p:nvGrpSpPr>
        <p:grpSpPr>
          <a:xfrm>
            <a:off x="4876800" y="3956050"/>
            <a:ext cx="1905000" cy="622300"/>
            <a:chOff x="4876800" y="3956050"/>
            <a:chExt cx="1905000" cy="622300"/>
          </a:xfrm>
        </p:grpSpPr>
        <p:sp>
          <p:nvSpPr>
            <p:cNvPr id="22" name="object 22"/>
            <p:cNvSpPr/>
            <p:nvPr/>
          </p:nvSpPr>
          <p:spPr>
            <a:xfrm>
              <a:off x="5257800" y="39624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23" name="object 23"/>
            <p:cNvSpPr/>
            <p:nvPr/>
          </p:nvSpPr>
          <p:spPr>
            <a:xfrm>
              <a:off x="4876800" y="42672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24" name="object 24"/>
          <p:cNvSpPr txBox="1"/>
          <p:nvPr/>
        </p:nvSpPr>
        <p:spPr>
          <a:xfrm>
            <a:off x="3661409" y="4829632"/>
            <a:ext cx="73215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5" dirty="0">
                <a:latin typeface="Times New Roman"/>
                <a:cs typeface="Times New Roman"/>
              </a:rPr>
              <a:t>ROY</a:t>
            </a:r>
            <a:r>
              <a:rPr sz="1400" spc="-15" dirty="0">
                <a:latin typeface="Times New Roman"/>
                <a:cs typeface="Times New Roman"/>
              </a:rPr>
              <a:t>E</a:t>
            </a:r>
            <a:r>
              <a:rPr sz="1400" spc="-5" dirty="0">
                <a:latin typeface="Times New Roman"/>
                <a:cs typeface="Times New Roman"/>
              </a:rPr>
              <a:t>K</a:t>
            </a:r>
            <a:endParaRPr sz="1400">
              <a:latin typeface="Times New Roman"/>
              <a:cs typeface="Times New Roman"/>
            </a:endParaRPr>
          </a:p>
        </p:txBody>
      </p:sp>
      <p:sp>
        <p:nvSpPr>
          <p:cNvPr id="25" name="object 25"/>
          <p:cNvSpPr txBox="1"/>
          <p:nvPr/>
        </p:nvSpPr>
        <p:spPr>
          <a:xfrm>
            <a:off x="4945806" y="4829632"/>
            <a:ext cx="166179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DIKERJAKAN</a:t>
            </a:r>
            <a:r>
              <a:rPr sz="1400" spc="45" dirty="0">
                <a:latin typeface="Times New Roman"/>
                <a:cs typeface="Times New Roman"/>
              </a:rPr>
              <a:t> </a:t>
            </a:r>
            <a:r>
              <a:rPr sz="1400" spc="-20" dirty="0">
                <a:latin typeface="Times New Roman"/>
                <a:cs typeface="Times New Roman"/>
              </a:rPr>
              <a:t>OLEH</a:t>
            </a:r>
            <a:endParaRPr sz="1400">
              <a:latin typeface="Times New Roman"/>
              <a:cs typeface="Times New Roman"/>
            </a:endParaRPr>
          </a:p>
        </p:txBody>
      </p:sp>
      <p:sp>
        <p:nvSpPr>
          <p:cNvPr id="26" name="object 26"/>
          <p:cNvSpPr txBox="1"/>
          <p:nvPr/>
        </p:nvSpPr>
        <p:spPr>
          <a:xfrm>
            <a:off x="7320153" y="4829632"/>
            <a:ext cx="80073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20" dirty="0">
                <a:latin typeface="Times New Roman"/>
                <a:cs typeface="Times New Roman"/>
              </a:rPr>
              <a:t>E</a:t>
            </a:r>
            <a:r>
              <a:rPr sz="1400" spc="-5" dirty="0">
                <a:latin typeface="Times New Roman"/>
                <a:cs typeface="Times New Roman"/>
              </a:rPr>
              <a:t>G</a:t>
            </a:r>
            <a:r>
              <a:rPr sz="1400" spc="-150" dirty="0">
                <a:latin typeface="Times New Roman"/>
                <a:cs typeface="Times New Roman"/>
              </a:rPr>
              <a:t>A</a:t>
            </a:r>
            <a:r>
              <a:rPr sz="1400" spc="-155" dirty="0">
                <a:latin typeface="Times New Roman"/>
                <a:cs typeface="Times New Roman"/>
              </a:rPr>
              <a:t>W</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27" name="object 27"/>
          <p:cNvSpPr txBox="1"/>
          <p:nvPr/>
        </p:nvSpPr>
        <p:spPr>
          <a:xfrm>
            <a:off x="3661409" y="5439562"/>
            <a:ext cx="73215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5" dirty="0">
                <a:latin typeface="Times New Roman"/>
                <a:cs typeface="Times New Roman"/>
              </a:rPr>
              <a:t>R</a:t>
            </a:r>
            <a:r>
              <a:rPr sz="1400" spc="-10" dirty="0">
                <a:latin typeface="Times New Roman"/>
                <a:cs typeface="Times New Roman"/>
              </a:rPr>
              <a:t>OY</a:t>
            </a:r>
            <a:r>
              <a:rPr sz="1400" spc="-20" dirty="0">
                <a:latin typeface="Times New Roman"/>
                <a:cs typeface="Times New Roman"/>
              </a:rPr>
              <a:t>E</a:t>
            </a:r>
            <a:r>
              <a:rPr sz="1400" spc="-10" dirty="0">
                <a:latin typeface="Times New Roman"/>
                <a:cs typeface="Times New Roman"/>
              </a:rPr>
              <a:t>K</a:t>
            </a:r>
            <a:endParaRPr sz="1400">
              <a:latin typeface="Times New Roman"/>
              <a:cs typeface="Times New Roman"/>
            </a:endParaRPr>
          </a:p>
        </p:txBody>
      </p:sp>
      <p:sp>
        <p:nvSpPr>
          <p:cNvPr id="28" name="object 28"/>
          <p:cNvSpPr txBox="1"/>
          <p:nvPr/>
        </p:nvSpPr>
        <p:spPr>
          <a:xfrm>
            <a:off x="5018278" y="5439562"/>
            <a:ext cx="2188210"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MENGERJAKAN</a:t>
            </a:r>
            <a:r>
              <a:rPr sz="1400" spc="130" dirty="0">
                <a:latin typeface="Times New Roman"/>
                <a:cs typeface="Times New Roman"/>
              </a:rPr>
              <a:t> </a:t>
            </a:r>
            <a:r>
              <a:rPr sz="1400" spc="-55" dirty="0">
                <a:latin typeface="Times New Roman"/>
                <a:cs typeface="Times New Roman"/>
              </a:rPr>
              <a:t>PEGAWAI</a:t>
            </a:r>
            <a:endParaRPr sz="1400">
              <a:latin typeface="Times New Roman"/>
              <a:cs typeface="Times New Roman"/>
            </a:endParaRPr>
          </a:p>
        </p:txBody>
      </p:sp>
      <p:sp>
        <p:nvSpPr>
          <p:cNvPr id="29" name="object 29"/>
          <p:cNvSpPr/>
          <p:nvPr/>
        </p:nvSpPr>
        <p:spPr>
          <a:xfrm>
            <a:off x="3733800" y="5041900"/>
            <a:ext cx="4267200" cy="127000"/>
          </a:xfrm>
          <a:custGeom>
            <a:avLst/>
            <a:gdLst/>
            <a:ahLst/>
            <a:cxnLst/>
            <a:rect l="l" t="t" r="r" b="b"/>
            <a:pathLst>
              <a:path w="4267200" h="127000">
                <a:moveTo>
                  <a:pt x="4140200" y="0"/>
                </a:moveTo>
                <a:lnTo>
                  <a:pt x="4140200" y="127000"/>
                </a:lnTo>
                <a:lnTo>
                  <a:pt x="4254500" y="69850"/>
                </a:lnTo>
                <a:lnTo>
                  <a:pt x="4152900" y="69850"/>
                </a:lnTo>
                <a:lnTo>
                  <a:pt x="4152900" y="57150"/>
                </a:lnTo>
                <a:lnTo>
                  <a:pt x="4254500" y="57150"/>
                </a:lnTo>
                <a:lnTo>
                  <a:pt x="4140200" y="0"/>
                </a:lnTo>
                <a:close/>
              </a:path>
              <a:path w="4267200" h="127000">
                <a:moveTo>
                  <a:pt x="4140200" y="57150"/>
                </a:moveTo>
                <a:lnTo>
                  <a:pt x="0" y="57150"/>
                </a:lnTo>
                <a:lnTo>
                  <a:pt x="0" y="69850"/>
                </a:lnTo>
                <a:lnTo>
                  <a:pt x="4140200" y="69850"/>
                </a:lnTo>
                <a:lnTo>
                  <a:pt x="4140200" y="57150"/>
                </a:lnTo>
                <a:close/>
              </a:path>
              <a:path w="4267200" h="127000">
                <a:moveTo>
                  <a:pt x="4254500" y="57150"/>
                </a:moveTo>
                <a:lnTo>
                  <a:pt x="4152900" y="57150"/>
                </a:lnTo>
                <a:lnTo>
                  <a:pt x="4152900" y="69850"/>
                </a:lnTo>
                <a:lnTo>
                  <a:pt x="4254500" y="69850"/>
                </a:lnTo>
                <a:lnTo>
                  <a:pt x="4267200" y="63500"/>
                </a:lnTo>
                <a:lnTo>
                  <a:pt x="4254500" y="57150"/>
                </a:lnTo>
                <a:close/>
              </a:path>
            </a:pathLst>
          </a:custGeom>
          <a:solidFill>
            <a:srgbClr val="000000"/>
          </a:solidFill>
        </p:spPr>
        <p:txBody>
          <a:bodyPr wrap="square" lIns="0" tIns="0" rIns="0" bIns="0" rtlCol="0"/>
          <a:lstStyle/>
          <a:p>
            <a:endParaRPr/>
          </a:p>
        </p:txBody>
      </p:sp>
      <p:sp>
        <p:nvSpPr>
          <p:cNvPr id="30" name="object 30"/>
          <p:cNvSpPr/>
          <p:nvPr/>
        </p:nvSpPr>
        <p:spPr>
          <a:xfrm>
            <a:off x="3810000" y="5651500"/>
            <a:ext cx="4267200" cy="127000"/>
          </a:xfrm>
          <a:custGeom>
            <a:avLst/>
            <a:gdLst/>
            <a:ahLst/>
            <a:cxnLst/>
            <a:rect l="l" t="t" r="r" b="b"/>
            <a:pathLst>
              <a:path w="4267200" h="127000">
                <a:moveTo>
                  <a:pt x="127000" y="0"/>
                </a:moveTo>
                <a:lnTo>
                  <a:pt x="0" y="63500"/>
                </a:lnTo>
                <a:lnTo>
                  <a:pt x="127000" y="127000"/>
                </a:lnTo>
                <a:lnTo>
                  <a:pt x="127000" y="69850"/>
                </a:lnTo>
                <a:lnTo>
                  <a:pt x="114300" y="69850"/>
                </a:lnTo>
                <a:lnTo>
                  <a:pt x="114300" y="57150"/>
                </a:lnTo>
                <a:lnTo>
                  <a:pt x="127000" y="57150"/>
                </a:lnTo>
                <a:lnTo>
                  <a:pt x="127000" y="0"/>
                </a:lnTo>
                <a:close/>
              </a:path>
              <a:path w="4267200" h="127000">
                <a:moveTo>
                  <a:pt x="127000" y="57150"/>
                </a:moveTo>
                <a:lnTo>
                  <a:pt x="114300" y="57150"/>
                </a:lnTo>
                <a:lnTo>
                  <a:pt x="114300" y="69850"/>
                </a:lnTo>
                <a:lnTo>
                  <a:pt x="127000" y="69850"/>
                </a:lnTo>
                <a:lnTo>
                  <a:pt x="127000" y="57150"/>
                </a:lnTo>
                <a:close/>
              </a:path>
              <a:path w="4267200" h="127000">
                <a:moveTo>
                  <a:pt x="4267200" y="57150"/>
                </a:moveTo>
                <a:lnTo>
                  <a:pt x="127000" y="57150"/>
                </a:lnTo>
                <a:lnTo>
                  <a:pt x="127000" y="69850"/>
                </a:lnTo>
                <a:lnTo>
                  <a:pt x="4267200" y="69850"/>
                </a:lnTo>
                <a:lnTo>
                  <a:pt x="4267200" y="57150"/>
                </a:lnTo>
                <a:close/>
              </a:path>
            </a:pathLst>
          </a:custGeom>
          <a:solidFill>
            <a:srgbClr val="000000"/>
          </a:solid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Picture 4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ject 8"/>
          <p:cNvPicPr/>
          <p:nvPr/>
        </p:nvPicPr>
        <p:blipFill>
          <a:blip r:embed="rId3" cstate="print"/>
          <a:stretch>
            <a:fillRect/>
          </a:stretch>
        </p:blipFill>
        <p:spPr>
          <a:xfrm>
            <a:off x="762000" y="457200"/>
            <a:ext cx="3759200" cy="457200"/>
          </a:xfrm>
          <a:prstGeom prst="rect">
            <a:avLst/>
          </a:prstGeom>
        </p:spPr>
      </p:pic>
      <p:sp>
        <p:nvSpPr>
          <p:cNvPr id="9" name="object 9"/>
          <p:cNvSpPr txBox="1"/>
          <p:nvPr/>
        </p:nvSpPr>
        <p:spPr>
          <a:xfrm>
            <a:off x="1125118" y="523443"/>
            <a:ext cx="2830830"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ENTITY-RELATIONSHIP</a:t>
            </a:r>
            <a:r>
              <a:rPr sz="1400" spc="25"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sp>
        <p:nvSpPr>
          <p:cNvPr id="10" name="object 10"/>
          <p:cNvSpPr txBox="1"/>
          <p:nvPr/>
        </p:nvSpPr>
        <p:spPr>
          <a:xfrm>
            <a:off x="2209800" y="3048000"/>
            <a:ext cx="1143000" cy="609600"/>
          </a:xfrm>
          <a:prstGeom prst="rect">
            <a:avLst/>
          </a:prstGeom>
          <a:ln w="12700">
            <a:solidFill>
              <a:srgbClr val="000000"/>
            </a:solidFill>
          </a:ln>
        </p:spPr>
        <p:txBody>
          <a:bodyPr vert="horz" wrap="square" lIns="0" tIns="2540" rIns="0" bIns="0" rtlCol="0">
            <a:spAutoFit/>
          </a:bodyPr>
          <a:lstStyle/>
          <a:p>
            <a:pPr>
              <a:lnSpc>
                <a:spcPct val="100000"/>
              </a:lnSpc>
              <a:spcBef>
                <a:spcPts val="20"/>
              </a:spcBef>
            </a:pPr>
            <a:endParaRPr sz="1300">
              <a:latin typeface="Times New Roman"/>
              <a:cs typeface="Times New Roman"/>
            </a:endParaRPr>
          </a:p>
          <a:p>
            <a:pPr marL="92075">
              <a:lnSpc>
                <a:spcPct val="100000"/>
              </a:lnSpc>
            </a:pPr>
            <a:r>
              <a:rPr sz="1400" spc="-20" dirty="0">
                <a:latin typeface="Times New Roman"/>
                <a:cs typeface="Times New Roman"/>
              </a:rPr>
              <a:t>NASABAH</a:t>
            </a:r>
            <a:endParaRPr sz="1400">
              <a:latin typeface="Times New Roman"/>
              <a:cs typeface="Times New Roman"/>
            </a:endParaRPr>
          </a:p>
        </p:txBody>
      </p:sp>
      <p:sp>
        <p:nvSpPr>
          <p:cNvPr id="11" name="object 11"/>
          <p:cNvSpPr txBox="1"/>
          <p:nvPr/>
        </p:nvSpPr>
        <p:spPr>
          <a:xfrm>
            <a:off x="5273675" y="3048000"/>
            <a:ext cx="1143000" cy="609600"/>
          </a:xfrm>
          <a:prstGeom prst="rect">
            <a:avLst/>
          </a:prstGeom>
          <a:ln w="12700">
            <a:solidFill>
              <a:srgbClr val="000000"/>
            </a:solidFill>
          </a:ln>
        </p:spPr>
        <p:txBody>
          <a:bodyPr vert="horz" wrap="square" lIns="0" tIns="6350" rIns="0" bIns="0" rtlCol="0">
            <a:spAutoFit/>
          </a:bodyPr>
          <a:lstStyle/>
          <a:p>
            <a:pPr>
              <a:lnSpc>
                <a:spcPct val="100000"/>
              </a:lnSpc>
              <a:spcBef>
                <a:spcPts val="50"/>
              </a:spcBef>
            </a:pPr>
            <a:endParaRPr sz="1350">
              <a:latin typeface="Times New Roman"/>
              <a:cs typeface="Times New Roman"/>
            </a:endParaRPr>
          </a:p>
          <a:p>
            <a:pPr marL="104139">
              <a:lnSpc>
                <a:spcPct val="100000"/>
              </a:lnSpc>
            </a:pPr>
            <a:r>
              <a:rPr sz="1400" spc="-15" dirty="0">
                <a:latin typeface="Times New Roman"/>
                <a:cs typeface="Times New Roman"/>
              </a:rPr>
              <a:t>REKENING</a:t>
            </a:r>
            <a:endParaRPr sz="1400">
              <a:latin typeface="Times New Roman"/>
              <a:cs typeface="Times New Roman"/>
            </a:endParaRPr>
          </a:p>
        </p:txBody>
      </p:sp>
      <p:sp>
        <p:nvSpPr>
          <p:cNvPr id="12" name="object 12"/>
          <p:cNvSpPr txBox="1"/>
          <p:nvPr/>
        </p:nvSpPr>
        <p:spPr>
          <a:xfrm>
            <a:off x="3953636" y="3229813"/>
            <a:ext cx="61658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5" dirty="0">
                <a:latin typeface="Times New Roman"/>
                <a:cs typeface="Times New Roman"/>
              </a:rPr>
              <a:t>UN</a:t>
            </a:r>
            <a:r>
              <a:rPr sz="1400" spc="-150" dirty="0">
                <a:latin typeface="Times New Roman"/>
                <a:cs typeface="Times New Roman"/>
              </a:rPr>
              <a:t>Y</a:t>
            </a:r>
            <a:r>
              <a:rPr sz="1400" spc="-5" dirty="0">
                <a:latin typeface="Times New Roman"/>
                <a:cs typeface="Times New Roman"/>
              </a:rPr>
              <a:t>A</a:t>
            </a:r>
            <a:endParaRPr sz="1400">
              <a:latin typeface="Times New Roman"/>
              <a:cs typeface="Times New Roman"/>
            </a:endParaRPr>
          </a:p>
        </p:txBody>
      </p:sp>
      <p:grpSp>
        <p:nvGrpSpPr>
          <p:cNvPr id="13" name="object 13"/>
          <p:cNvGrpSpPr/>
          <p:nvPr/>
        </p:nvGrpSpPr>
        <p:grpSpPr>
          <a:xfrm>
            <a:off x="3352800" y="3041650"/>
            <a:ext cx="1905000" cy="622300"/>
            <a:chOff x="3352800" y="3041650"/>
            <a:chExt cx="1905000" cy="622300"/>
          </a:xfrm>
        </p:grpSpPr>
        <p:sp>
          <p:nvSpPr>
            <p:cNvPr id="14" name="object 14"/>
            <p:cNvSpPr/>
            <p:nvPr/>
          </p:nvSpPr>
          <p:spPr>
            <a:xfrm>
              <a:off x="3733800" y="30480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15" name="object 15"/>
            <p:cNvSpPr/>
            <p:nvPr/>
          </p:nvSpPr>
          <p:spPr>
            <a:xfrm>
              <a:off x="3352800" y="33528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16" name="object 16"/>
          <p:cNvSpPr txBox="1"/>
          <p:nvPr/>
        </p:nvSpPr>
        <p:spPr>
          <a:xfrm>
            <a:off x="2209800" y="2209800"/>
            <a:ext cx="1143000" cy="609600"/>
          </a:xfrm>
          <a:prstGeom prst="rect">
            <a:avLst/>
          </a:prstGeom>
          <a:ln w="12700">
            <a:solidFill>
              <a:srgbClr val="000000"/>
            </a:solidFill>
          </a:ln>
        </p:spPr>
        <p:txBody>
          <a:bodyPr vert="horz" wrap="square" lIns="0" tIns="178435" rIns="0" bIns="0" rtlCol="0">
            <a:spAutoFit/>
          </a:bodyPr>
          <a:lstStyle/>
          <a:p>
            <a:pPr marL="92075">
              <a:lnSpc>
                <a:spcPct val="100000"/>
              </a:lnSpc>
              <a:spcBef>
                <a:spcPts val="1405"/>
              </a:spcBef>
            </a:pPr>
            <a:r>
              <a:rPr sz="1500" spc="-190" dirty="0">
                <a:latin typeface="Arial MT"/>
                <a:cs typeface="Arial MT"/>
              </a:rPr>
              <a:t>PELANGGAN</a:t>
            </a:r>
            <a:endParaRPr sz="1500">
              <a:latin typeface="Arial MT"/>
              <a:cs typeface="Arial MT"/>
            </a:endParaRPr>
          </a:p>
        </p:txBody>
      </p:sp>
      <p:sp>
        <p:nvSpPr>
          <p:cNvPr id="17" name="object 17"/>
          <p:cNvSpPr txBox="1"/>
          <p:nvPr/>
        </p:nvSpPr>
        <p:spPr>
          <a:xfrm>
            <a:off x="5273675" y="2209800"/>
            <a:ext cx="1143000" cy="609600"/>
          </a:xfrm>
          <a:prstGeom prst="rect">
            <a:avLst/>
          </a:prstGeom>
          <a:ln w="12700">
            <a:solidFill>
              <a:srgbClr val="000000"/>
            </a:solidFill>
          </a:ln>
        </p:spPr>
        <p:txBody>
          <a:bodyPr vert="horz" wrap="square" lIns="0" tIns="5715" rIns="0" bIns="0" rtlCol="0">
            <a:spAutoFit/>
          </a:bodyPr>
          <a:lstStyle/>
          <a:p>
            <a:pPr>
              <a:lnSpc>
                <a:spcPct val="100000"/>
              </a:lnSpc>
              <a:spcBef>
                <a:spcPts val="45"/>
              </a:spcBef>
            </a:pPr>
            <a:endParaRPr sz="1350">
              <a:latin typeface="Times New Roman"/>
              <a:cs typeface="Times New Roman"/>
            </a:endParaRPr>
          </a:p>
          <a:p>
            <a:pPr marL="183515">
              <a:lnSpc>
                <a:spcPct val="100000"/>
              </a:lnSpc>
            </a:pPr>
            <a:r>
              <a:rPr sz="1400" spc="-15" dirty="0">
                <a:latin typeface="Times New Roman"/>
                <a:cs typeface="Times New Roman"/>
              </a:rPr>
              <a:t>BARANG</a:t>
            </a:r>
            <a:endParaRPr sz="1400">
              <a:latin typeface="Times New Roman"/>
              <a:cs typeface="Times New Roman"/>
            </a:endParaRPr>
          </a:p>
        </p:txBody>
      </p:sp>
      <p:sp>
        <p:nvSpPr>
          <p:cNvPr id="18" name="object 18"/>
          <p:cNvSpPr txBox="1"/>
          <p:nvPr/>
        </p:nvSpPr>
        <p:spPr>
          <a:xfrm>
            <a:off x="4054221" y="2391282"/>
            <a:ext cx="410845" cy="238125"/>
          </a:xfrm>
          <a:prstGeom prst="rect">
            <a:avLst/>
          </a:prstGeom>
        </p:spPr>
        <p:txBody>
          <a:bodyPr vert="horz" wrap="square" lIns="0" tIns="11430" rIns="0" bIns="0" rtlCol="0">
            <a:spAutoFit/>
          </a:bodyPr>
          <a:lstStyle/>
          <a:p>
            <a:pPr marL="12700">
              <a:lnSpc>
                <a:spcPct val="100000"/>
              </a:lnSpc>
              <a:spcBef>
                <a:spcPts val="90"/>
              </a:spcBef>
            </a:pPr>
            <a:r>
              <a:rPr sz="1400" spc="-30" dirty="0">
                <a:latin typeface="Times New Roman"/>
                <a:cs typeface="Times New Roman"/>
              </a:rPr>
              <a:t>B</a:t>
            </a:r>
            <a:r>
              <a:rPr sz="1400" spc="-20" dirty="0">
                <a:latin typeface="Times New Roman"/>
                <a:cs typeface="Times New Roman"/>
              </a:rPr>
              <a:t>E</a:t>
            </a:r>
            <a:r>
              <a:rPr sz="1400" spc="-40" dirty="0">
                <a:latin typeface="Times New Roman"/>
                <a:cs typeface="Times New Roman"/>
              </a:rPr>
              <a:t>L</a:t>
            </a:r>
            <a:r>
              <a:rPr sz="1400" spc="-5" dirty="0">
                <a:latin typeface="Times New Roman"/>
                <a:cs typeface="Times New Roman"/>
              </a:rPr>
              <a:t>I</a:t>
            </a:r>
            <a:endParaRPr sz="1400">
              <a:latin typeface="Times New Roman"/>
              <a:cs typeface="Times New Roman"/>
            </a:endParaRPr>
          </a:p>
        </p:txBody>
      </p:sp>
      <p:grpSp>
        <p:nvGrpSpPr>
          <p:cNvPr id="19" name="object 19"/>
          <p:cNvGrpSpPr/>
          <p:nvPr/>
        </p:nvGrpSpPr>
        <p:grpSpPr>
          <a:xfrm>
            <a:off x="3352800" y="2203450"/>
            <a:ext cx="1905000" cy="622300"/>
            <a:chOff x="3352800" y="2203450"/>
            <a:chExt cx="1905000" cy="622300"/>
          </a:xfrm>
        </p:grpSpPr>
        <p:sp>
          <p:nvSpPr>
            <p:cNvPr id="20" name="object 20"/>
            <p:cNvSpPr/>
            <p:nvPr/>
          </p:nvSpPr>
          <p:spPr>
            <a:xfrm>
              <a:off x="3733800" y="22098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21" name="object 21"/>
            <p:cNvSpPr/>
            <p:nvPr/>
          </p:nvSpPr>
          <p:spPr>
            <a:xfrm>
              <a:off x="3352800" y="25146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22" name="object 22"/>
          <p:cNvSpPr txBox="1"/>
          <p:nvPr/>
        </p:nvSpPr>
        <p:spPr>
          <a:xfrm>
            <a:off x="2209800" y="1371600"/>
            <a:ext cx="1143000" cy="609600"/>
          </a:xfrm>
          <a:prstGeom prst="rect">
            <a:avLst/>
          </a:prstGeom>
          <a:ln w="12700">
            <a:solidFill>
              <a:srgbClr val="000000"/>
            </a:solidFill>
          </a:ln>
        </p:spPr>
        <p:txBody>
          <a:bodyPr vert="horz" wrap="square" lIns="0" tIns="178435" rIns="0" bIns="0" rtlCol="0">
            <a:spAutoFit/>
          </a:bodyPr>
          <a:lstStyle/>
          <a:p>
            <a:pPr marL="92075">
              <a:lnSpc>
                <a:spcPct val="100000"/>
              </a:lnSpc>
              <a:spcBef>
                <a:spcPts val="1405"/>
              </a:spcBef>
            </a:pPr>
            <a:r>
              <a:rPr sz="1500" spc="-195" dirty="0">
                <a:latin typeface="Arial MT"/>
                <a:cs typeface="Arial MT"/>
              </a:rPr>
              <a:t>MAHASISWA</a:t>
            </a:r>
            <a:endParaRPr sz="1500">
              <a:latin typeface="Arial MT"/>
              <a:cs typeface="Arial MT"/>
            </a:endParaRPr>
          </a:p>
        </p:txBody>
      </p:sp>
      <p:sp>
        <p:nvSpPr>
          <p:cNvPr id="23" name="object 23"/>
          <p:cNvSpPr txBox="1"/>
          <p:nvPr/>
        </p:nvSpPr>
        <p:spPr>
          <a:xfrm>
            <a:off x="5273675" y="1371600"/>
            <a:ext cx="1143000" cy="609600"/>
          </a:xfrm>
          <a:prstGeom prst="rect">
            <a:avLst/>
          </a:prstGeom>
          <a:ln w="12700">
            <a:solidFill>
              <a:srgbClr val="000000"/>
            </a:solidFill>
          </a:ln>
        </p:spPr>
        <p:txBody>
          <a:bodyPr vert="horz" wrap="square" lIns="0" tIns="5715" rIns="0" bIns="0" rtlCol="0">
            <a:spAutoFit/>
          </a:bodyPr>
          <a:lstStyle/>
          <a:p>
            <a:pPr>
              <a:lnSpc>
                <a:spcPct val="100000"/>
              </a:lnSpc>
              <a:spcBef>
                <a:spcPts val="45"/>
              </a:spcBef>
            </a:pPr>
            <a:endParaRPr sz="1350">
              <a:latin typeface="Times New Roman"/>
              <a:cs typeface="Times New Roman"/>
            </a:endParaRPr>
          </a:p>
          <a:p>
            <a:pPr marL="71755">
              <a:lnSpc>
                <a:spcPct val="100000"/>
              </a:lnSpc>
            </a:pPr>
            <a:r>
              <a:rPr sz="1400" spc="-30" dirty="0">
                <a:latin typeface="Times New Roman"/>
                <a:cs typeface="Times New Roman"/>
              </a:rPr>
              <a:t>MT-KULIAH</a:t>
            </a:r>
            <a:endParaRPr sz="1400">
              <a:latin typeface="Times New Roman"/>
              <a:cs typeface="Times New Roman"/>
            </a:endParaRPr>
          </a:p>
        </p:txBody>
      </p:sp>
      <p:sp>
        <p:nvSpPr>
          <p:cNvPr id="24" name="object 24"/>
          <p:cNvSpPr txBox="1"/>
          <p:nvPr/>
        </p:nvSpPr>
        <p:spPr>
          <a:xfrm>
            <a:off x="4044822" y="1552701"/>
            <a:ext cx="444500"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I</a:t>
            </a:r>
            <a:r>
              <a:rPr sz="1400" spc="-35" dirty="0">
                <a:latin typeface="Times New Roman"/>
                <a:cs typeface="Times New Roman"/>
              </a:rPr>
              <a:t>K</a:t>
            </a:r>
            <a:r>
              <a:rPr sz="1400" spc="-10" dirty="0">
                <a:latin typeface="Times New Roman"/>
                <a:cs typeface="Times New Roman"/>
              </a:rPr>
              <a:t>UT</a:t>
            </a:r>
            <a:endParaRPr sz="1400">
              <a:latin typeface="Times New Roman"/>
              <a:cs typeface="Times New Roman"/>
            </a:endParaRPr>
          </a:p>
        </p:txBody>
      </p:sp>
      <p:grpSp>
        <p:nvGrpSpPr>
          <p:cNvPr id="25" name="object 25"/>
          <p:cNvGrpSpPr/>
          <p:nvPr/>
        </p:nvGrpSpPr>
        <p:grpSpPr>
          <a:xfrm>
            <a:off x="3352800" y="1365250"/>
            <a:ext cx="1905000" cy="622300"/>
            <a:chOff x="3352800" y="1365250"/>
            <a:chExt cx="1905000" cy="622300"/>
          </a:xfrm>
        </p:grpSpPr>
        <p:sp>
          <p:nvSpPr>
            <p:cNvPr id="26" name="object 26"/>
            <p:cNvSpPr/>
            <p:nvPr/>
          </p:nvSpPr>
          <p:spPr>
            <a:xfrm>
              <a:off x="3733800" y="13716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27" name="object 27"/>
            <p:cNvSpPr/>
            <p:nvPr/>
          </p:nvSpPr>
          <p:spPr>
            <a:xfrm>
              <a:off x="3352800" y="16764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28" name="object 28"/>
          <p:cNvSpPr txBox="1"/>
          <p:nvPr/>
        </p:nvSpPr>
        <p:spPr>
          <a:xfrm>
            <a:off x="2209800" y="5562600"/>
            <a:ext cx="1143000" cy="609600"/>
          </a:xfrm>
          <a:prstGeom prst="rect">
            <a:avLst/>
          </a:prstGeom>
          <a:ln w="12700">
            <a:solidFill>
              <a:srgbClr val="000000"/>
            </a:solidFill>
          </a:ln>
        </p:spPr>
        <p:txBody>
          <a:bodyPr vert="horz" wrap="square" lIns="0" tIns="3810" rIns="0" bIns="0" rtlCol="0">
            <a:spAutoFit/>
          </a:bodyPr>
          <a:lstStyle/>
          <a:p>
            <a:pPr>
              <a:lnSpc>
                <a:spcPct val="100000"/>
              </a:lnSpc>
              <a:spcBef>
                <a:spcPts val="30"/>
              </a:spcBef>
            </a:pPr>
            <a:endParaRPr sz="1300">
              <a:latin typeface="Times New Roman"/>
              <a:cs typeface="Times New Roman"/>
            </a:endParaRPr>
          </a:p>
          <a:p>
            <a:pPr marL="92075">
              <a:lnSpc>
                <a:spcPct val="100000"/>
              </a:lnSpc>
            </a:pPr>
            <a:r>
              <a:rPr sz="1400" spc="-55" dirty="0">
                <a:latin typeface="Times New Roman"/>
                <a:cs typeface="Times New Roman"/>
              </a:rPr>
              <a:t>PEGAWAI</a:t>
            </a:r>
            <a:endParaRPr sz="1400">
              <a:latin typeface="Times New Roman"/>
              <a:cs typeface="Times New Roman"/>
            </a:endParaRPr>
          </a:p>
        </p:txBody>
      </p:sp>
      <p:sp>
        <p:nvSpPr>
          <p:cNvPr id="29" name="object 29"/>
          <p:cNvSpPr txBox="1"/>
          <p:nvPr/>
        </p:nvSpPr>
        <p:spPr>
          <a:xfrm>
            <a:off x="5273675" y="5562600"/>
            <a:ext cx="1143000" cy="609600"/>
          </a:xfrm>
          <a:prstGeom prst="rect">
            <a:avLst/>
          </a:prstGeom>
          <a:ln w="12700">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marL="106045">
              <a:lnSpc>
                <a:spcPct val="100000"/>
              </a:lnSpc>
            </a:pPr>
            <a:r>
              <a:rPr sz="1400" spc="-15" dirty="0">
                <a:latin typeface="Times New Roman"/>
                <a:cs typeface="Times New Roman"/>
              </a:rPr>
              <a:t>PINJAMAN</a:t>
            </a:r>
            <a:endParaRPr sz="1400">
              <a:latin typeface="Times New Roman"/>
              <a:cs typeface="Times New Roman"/>
            </a:endParaRPr>
          </a:p>
        </p:txBody>
      </p:sp>
      <p:sp>
        <p:nvSpPr>
          <p:cNvPr id="30" name="object 30"/>
          <p:cNvSpPr txBox="1"/>
          <p:nvPr/>
        </p:nvSpPr>
        <p:spPr>
          <a:xfrm>
            <a:off x="3953636" y="5745581"/>
            <a:ext cx="61658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5" dirty="0">
                <a:latin typeface="Times New Roman"/>
                <a:cs typeface="Times New Roman"/>
              </a:rPr>
              <a:t>UN</a:t>
            </a:r>
            <a:r>
              <a:rPr sz="1400" spc="-150" dirty="0">
                <a:latin typeface="Times New Roman"/>
                <a:cs typeface="Times New Roman"/>
              </a:rPr>
              <a:t>Y</a:t>
            </a:r>
            <a:r>
              <a:rPr sz="1400" spc="-5" dirty="0">
                <a:latin typeface="Times New Roman"/>
                <a:cs typeface="Times New Roman"/>
              </a:rPr>
              <a:t>A</a:t>
            </a:r>
            <a:endParaRPr sz="1400">
              <a:latin typeface="Times New Roman"/>
              <a:cs typeface="Times New Roman"/>
            </a:endParaRPr>
          </a:p>
        </p:txBody>
      </p:sp>
      <p:grpSp>
        <p:nvGrpSpPr>
          <p:cNvPr id="31" name="object 31"/>
          <p:cNvGrpSpPr/>
          <p:nvPr/>
        </p:nvGrpSpPr>
        <p:grpSpPr>
          <a:xfrm>
            <a:off x="3352800" y="5556250"/>
            <a:ext cx="1905000" cy="622300"/>
            <a:chOff x="3352800" y="5556250"/>
            <a:chExt cx="1905000" cy="622300"/>
          </a:xfrm>
        </p:grpSpPr>
        <p:sp>
          <p:nvSpPr>
            <p:cNvPr id="32" name="object 32"/>
            <p:cNvSpPr/>
            <p:nvPr/>
          </p:nvSpPr>
          <p:spPr>
            <a:xfrm>
              <a:off x="3733800" y="55626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33" name="object 33"/>
            <p:cNvSpPr/>
            <p:nvPr/>
          </p:nvSpPr>
          <p:spPr>
            <a:xfrm>
              <a:off x="3352800" y="58674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34" name="object 34"/>
          <p:cNvSpPr txBox="1"/>
          <p:nvPr/>
        </p:nvSpPr>
        <p:spPr>
          <a:xfrm>
            <a:off x="2209800" y="3886200"/>
            <a:ext cx="1143000" cy="609600"/>
          </a:xfrm>
          <a:prstGeom prst="rect">
            <a:avLst/>
          </a:prstGeom>
          <a:ln w="12700">
            <a:solidFill>
              <a:srgbClr val="000000"/>
            </a:solidFill>
          </a:ln>
        </p:spPr>
        <p:txBody>
          <a:bodyPr vert="horz" wrap="square" lIns="0" tIns="179070" rIns="0" bIns="0" rtlCol="0">
            <a:spAutoFit/>
          </a:bodyPr>
          <a:lstStyle/>
          <a:p>
            <a:pPr marL="104139">
              <a:lnSpc>
                <a:spcPct val="100000"/>
              </a:lnSpc>
              <a:spcBef>
                <a:spcPts val="1410"/>
              </a:spcBef>
            </a:pPr>
            <a:r>
              <a:rPr sz="1500" spc="-204" dirty="0">
                <a:latin typeface="Arial MT"/>
                <a:cs typeface="Arial MT"/>
              </a:rPr>
              <a:t>ANGGOTA</a:t>
            </a:r>
            <a:endParaRPr sz="1500">
              <a:latin typeface="Arial MT"/>
              <a:cs typeface="Arial MT"/>
            </a:endParaRPr>
          </a:p>
        </p:txBody>
      </p:sp>
      <p:sp>
        <p:nvSpPr>
          <p:cNvPr id="35" name="object 35"/>
          <p:cNvSpPr txBox="1"/>
          <p:nvPr/>
        </p:nvSpPr>
        <p:spPr>
          <a:xfrm>
            <a:off x="5273675" y="3886200"/>
            <a:ext cx="1143000" cy="609600"/>
          </a:xfrm>
          <a:prstGeom prst="rect">
            <a:avLst/>
          </a:prstGeom>
          <a:ln w="12700">
            <a:solidFill>
              <a:srgbClr val="000000"/>
            </a:solidFill>
          </a:ln>
        </p:spPr>
        <p:txBody>
          <a:bodyPr vert="horz" wrap="square" lIns="0" tIns="6350" rIns="0" bIns="0" rtlCol="0">
            <a:spAutoFit/>
          </a:bodyPr>
          <a:lstStyle/>
          <a:p>
            <a:pPr>
              <a:lnSpc>
                <a:spcPct val="100000"/>
              </a:lnSpc>
              <a:spcBef>
                <a:spcPts val="50"/>
              </a:spcBef>
            </a:pPr>
            <a:endParaRPr sz="1350">
              <a:latin typeface="Times New Roman"/>
              <a:cs typeface="Times New Roman"/>
            </a:endParaRPr>
          </a:p>
          <a:p>
            <a:pPr marL="314325">
              <a:lnSpc>
                <a:spcPct val="100000"/>
              </a:lnSpc>
              <a:spcBef>
                <a:spcPts val="5"/>
              </a:spcBef>
            </a:pPr>
            <a:r>
              <a:rPr sz="1400" spc="-15" dirty="0">
                <a:latin typeface="Times New Roman"/>
                <a:cs typeface="Times New Roman"/>
              </a:rPr>
              <a:t>BUKU</a:t>
            </a:r>
            <a:endParaRPr sz="1400">
              <a:latin typeface="Times New Roman"/>
              <a:cs typeface="Times New Roman"/>
            </a:endParaRPr>
          </a:p>
        </p:txBody>
      </p:sp>
      <p:sp>
        <p:nvSpPr>
          <p:cNvPr id="36" name="object 36"/>
          <p:cNvSpPr txBox="1"/>
          <p:nvPr/>
        </p:nvSpPr>
        <p:spPr>
          <a:xfrm>
            <a:off x="3936238" y="4068571"/>
            <a:ext cx="661670"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PINJAM</a:t>
            </a:r>
            <a:endParaRPr sz="1400">
              <a:latin typeface="Times New Roman"/>
              <a:cs typeface="Times New Roman"/>
            </a:endParaRPr>
          </a:p>
        </p:txBody>
      </p:sp>
      <p:grpSp>
        <p:nvGrpSpPr>
          <p:cNvPr id="37" name="object 37"/>
          <p:cNvGrpSpPr/>
          <p:nvPr/>
        </p:nvGrpSpPr>
        <p:grpSpPr>
          <a:xfrm>
            <a:off x="3352800" y="3879850"/>
            <a:ext cx="1905000" cy="622300"/>
            <a:chOff x="3352800" y="3879850"/>
            <a:chExt cx="1905000" cy="622300"/>
          </a:xfrm>
        </p:grpSpPr>
        <p:sp>
          <p:nvSpPr>
            <p:cNvPr id="38" name="object 38"/>
            <p:cNvSpPr/>
            <p:nvPr/>
          </p:nvSpPr>
          <p:spPr>
            <a:xfrm>
              <a:off x="3733800" y="38862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39" name="object 39"/>
            <p:cNvSpPr/>
            <p:nvPr/>
          </p:nvSpPr>
          <p:spPr>
            <a:xfrm>
              <a:off x="3352800" y="41910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40" name="object 40"/>
          <p:cNvSpPr txBox="1"/>
          <p:nvPr/>
        </p:nvSpPr>
        <p:spPr>
          <a:xfrm>
            <a:off x="2209800" y="4648200"/>
            <a:ext cx="1143000" cy="609600"/>
          </a:xfrm>
          <a:prstGeom prst="rect">
            <a:avLst/>
          </a:prstGeom>
          <a:ln w="12700">
            <a:solidFill>
              <a:srgbClr val="000000"/>
            </a:solidFill>
          </a:ln>
        </p:spPr>
        <p:txBody>
          <a:bodyPr vert="horz" wrap="square" lIns="0" tIns="179705" rIns="0" bIns="0" rtlCol="0">
            <a:spAutoFit/>
          </a:bodyPr>
          <a:lstStyle/>
          <a:p>
            <a:pPr marL="257175">
              <a:lnSpc>
                <a:spcPct val="100000"/>
              </a:lnSpc>
              <a:spcBef>
                <a:spcPts val="1415"/>
              </a:spcBef>
            </a:pPr>
            <a:r>
              <a:rPr sz="1500" spc="-195" dirty="0">
                <a:latin typeface="Arial MT"/>
                <a:cs typeface="Arial MT"/>
              </a:rPr>
              <a:t>FAKTUR</a:t>
            </a:r>
            <a:endParaRPr sz="1500">
              <a:latin typeface="Arial MT"/>
              <a:cs typeface="Arial MT"/>
            </a:endParaRPr>
          </a:p>
        </p:txBody>
      </p:sp>
      <p:sp>
        <p:nvSpPr>
          <p:cNvPr id="41" name="object 41"/>
          <p:cNvSpPr txBox="1"/>
          <p:nvPr/>
        </p:nvSpPr>
        <p:spPr>
          <a:xfrm>
            <a:off x="5273675" y="4648200"/>
            <a:ext cx="1143000" cy="609600"/>
          </a:xfrm>
          <a:prstGeom prst="rect">
            <a:avLst/>
          </a:prstGeom>
          <a:ln w="12700">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marL="275590">
              <a:lnSpc>
                <a:spcPct val="100000"/>
              </a:lnSpc>
            </a:pPr>
            <a:r>
              <a:rPr sz="1400" spc="-15" dirty="0">
                <a:latin typeface="Times New Roman"/>
                <a:cs typeface="Times New Roman"/>
              </a:rPr>
              <a:t>STOCK</a:t>
            </a:r>
            <a:endParaRPr sz="1400">
              <a:latin typeface="Times New Roman"/>
              <a:cs typeface="Times New Roman"/>
            </a:endParaRPr>
          </a:p>
        </p:txBody>
      </p:sp>
      <p:sp>
        <p:nvSpPr>
          <p:cNvPr id="42" name="object 42"/>
          <p:cNvSpPr txBox="1"/>
          <p:nvPr/>
        </p:nvSpPr>
        <p:spPr>
          <a:xfrm>
            <a:off x="3888994" y="4830826"/>
            <a:ext cx="768985" cy="238125"/>
          </a:xfrm>
          <a:prstGeom prst="rect">
            <a:avLst/>
          </a:prstGeom>
        </p:spPr>
        <p:txBody>
          <a:bodyPr vert="horz" wrap="square" lIns="0" tIns="11430" rIns="0" bIns="0" rtlCol="0">
            <a:spAutoFit/>
          </a:bodyPr>
          <a:lstStyle/>
          <a:p>
            <a:pPr marL="12700">
              <a:lnSpc>
                <a:spcPct val="100000"/>
              </a:lnSpc>
              <a:spcBef>
                <a:spcPts val="90"/>
              </a:spcBef>
            </a:pPr>
            <a:r>
              <a:rPr sz="1400" spc="-140" dirty="0">
                <a:latin typeface="Times New Roman"/>
                <a:cs typeface="Times New Roman"/>
              </a:rPr>
              <a:t>T</a:t>
            </a:r>
            <a:r>
              <a:rPr sz="1400" spc="-35" dirty="0">
                <a:latin typeface="Times New Roman"/>
                <a:cs typeface="Times New Roman"/>
              </a:rPr>
              <a:t>A</a:t>
            </a:r>
            <a:r>
              <a:rPr sz="1400" spc="-5" dirty="0">
                <a:latin typeface="Times New Roman"/>
                <a:cs typeface="Times New Roman"/>
              </a:rPr>
              <a:t>M</a:t>
            </a:r>
            <a:r>
              <a:rPr sz="1400" spc="-30" dirty="0">
                <a:latin typeface="Times New Roman"/>
                <a:cs typeface="Times New Roman"/>
              </a:rPr>
              <a:t>B</a:t>
            </a:r>
            <a:r>
              <a:rPr sz="1400" spc="-35" dirty="0">
                <a:latin typeface="Times New Roman"/>
                <a:cs typeface="Times New Roman"/>
              </a:rPr>
              <a:t>A</a:t>
            </a:r>
            <a:r>
              <a:rPr sz="1400" spc="-10" dirty="0">
                <a:latin typeface="Times New Roman"/>
                <a:cs typeface="Times New Roman"/>
              </a:rPr>
              <a:t>H</a:t>
            </a:r>
            <a:endParaRPr sz="1400">
              <a:latin typeface="Times New Roman"/>
              <a:cs typeface="Times New Roman"/>
            </a:endParaRPr>
          </a:p>
        </p:txBody>
      </p:sp>
      <p:grpSp>
        <p:nvGrpSpPr>
          <p:cNvPr id="43" name="object 43"/>
          <p:cNvGrpSpPr/>
          <p:nvPr/>
        </p:nvGrpSpPr>
        <p:grpSpPr>
          <a:xfrm>
            <a:off x="3352800" y="4641850"/>
            <a:ext cx="1905000" cy="622300"/>
            <a:chOff x="3352800" y="4641850"/>
            <a:chExt cx="1905000" cy="622300"/>
          </a:xfrm>
        </p:grpSpPr>
        <p:sp>
          <p:nvSpPr>
            <p:cNvPr id="44" name="object 44"/>
            <p:cNvSpPr/>
            <p:nvPr/>
          </p:nvSpPr>
          <p:spPr>
            <a:xfrm>
              <a:off x="3733800" y="46482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45" name="object 45"/>
            <p:cNvSpPr/>
            <p:nvPr/>
          </p:nvSpPr>
          <p:spPr>
            <a:xfrm>
              <a:off x="3352800" y="49530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7000" y="1609725"/>
            <a:ext cx="1143000" cy="609600"/>
          </a:xfrm>
          <a:prstGeom prst="rect">
            <a:avLst/>
          </a:prstGeom>
          <a:ln w="12700">
            <a:solidFill>
              <a:srgbClr val="000000"/>
            </a:solidFill>
          </a:ln>
        </p:spPr>
        <p:txBody>
          <a:bodyPr vert="horz" wrap="square" lIns="0" tIns="1905" rIns="0" bIns="0" rtlCol="0">
            <a:spAutoFit/>
          </a:bodyPr>
          <a:lstStyle/>
          <a:p>
            <a:pPr>
              <a:lnSpc>
                <a:spcPct val="100000"/>
              </a:lnSpc>
              <a:spcBef>
                <a:spcPts val="15"/>
              </a:spcBef>
            </a:pPr>
            <a:endParaRPr sz="1300">
              <a:latin typeface="Times New Roman"/>
              <a:cs typeface="Times New Roman"/>
            </a:endParaRPr>
          </a:p>
          <a:p>
            <a:pPr marL="92075">
              <a:lnSpc>
                <a:spcPct val="100000"/>
              </a:lnSpc>
            </a:pPr>
            <a:r>
              <a:rPr sz="1400" spc="-55" dirty="0">
                <a:latin typeface="Times New Roman"/>
                <a:cs typeface="Times New Roman"/>
              </a:rPr>
              <a:t>PEGAWAI</a:t>
            </a:r>
            <a:endParaRPr sz="1400">
              <a:latin typeface="Times New Roman"/>
              <a:cs typeface="Times New Roman"/>
            </a:endParaRPr>
          </a:p>
        </p:txBody>
      </p:sp>
      <p:sp>
        <p:nvSpPr>
          <p:cNvPr id="3" name="object 3"/>
          <p:cNvSpPr txBox="1"/>
          <p:nvPr/>
        </p:nvSpPr>
        <p:spPr>
          <a:xfrm>
            <a:off x="5730875" y="1609725"/>
            <a:ext cx="1143000" cy="609600"/>
          </a:xfrm>
          <a:prstGeom prst="rect">
            <a:avLst/>
          </a:prstGeom>
          <a:ln w="12700">
            <a:solidFill>
              <a:srgbClr val="000000"/>
            </a:solidFill>
          </a:ln>
        </p:spPr>
        <p:txBody>
          <a:bodyPr vert="horz" wrap="square" lIns="0" tIns="5715" rIns="0" bIns="0" rtlCol="0">
            <a:spAutoFit/>
          </a:bodyPr>
          <a:lstStyle/>
          <a:p>
            <a:pPr>
              <a:lnSpc>
                <a:spcPct val="100000"/>
              </a:lnSpc>
              <a:spcBef>
                <a:spcPts val="45"/>
              </a:spcBef>
            </a:pPr>
            <a:endParaRPr sz="1350">
              <a:latin typeface="Times New Roman"/>
              <a:cs typeface="Times New Roman"/>
            </a:endParaRPr>
          </a:p>
          <a:p>
            <a:pPr marL="172085">
              <a:lnSpc>
                <a:spcPct val="100000"/>
              </a:lnSpc>
            </a:pPr>
            <a:r>
              <a:rPr sz="1400" spc="-60" dirty="0">
                <a:latin typeface="Times New Roman"/>
                <a:cs typeface="Times New Roman"/>
              </a:rPr>
              <a:t>JABATAN</a:t>
            </a:r>
            <a:endParaRPr sz="1400">
              <a:latin typeface="Times New Roman"/>
              <a:cs typeface="Times New Roman"/>
            </a:endParaRPr>
          </a:p>
        </p:txBody>
      </p:sp>
      <p:sp>
        <p:nvSpPr>
          <p:cNvPr id="4" name="object 4"/>
          <p:cNvSpPr txBox="1"/>
          <p:nvPr/>
        </p:nvSpPr>
        <p:spPr>
          <a:xfrm>
            <a:off x="4414265" y="1791081"/>
            <a:ext cx="61658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10" dirty="0">
                <a:latin typeface="Times New Roman"/>
                <a:cs typeface="Times New Roman"/>
              </a:rPr>
              <a:t>UN</a:t>
            </a:r>
            <a:r>
              <a:rPr sz="1400" spc="-155" dirty="0">
                <a:latin typeface="Times New Roman"/>
                <a:cs typeface="Times New Roman"/>
              </a:rPr>
              <a:t>Y</a:t>
            </a:r>
            <a:r>
              <a:rPr sz="1400" spc="-10" dirty="0">
                <a:latin typeface="Times New Roman"/>
                <a:cs typeface="Times New Roman"/>
              </a:rPr>
              <a:t>A</a:t>
            </a:r>
            <a:endParaRPr sz="1400">
              <a:latin typeface="Times New Roman"/>
              <a:cs typeface="Times New Roman"/>
            </a:endParaRPr>
          </a:p>
        </p:txBody>
      </p:sp>
      <p:grpSp>
        <p:nvGrpSpPr>
          <p:cNvPr id="5" name="object 5"/>
          <p:cNvGrpSpPr/>
          <p:nvPr/>
        </p:nvGrpSpPr>
        <p:grpSpPr>
          <a:xfrm>
            <a:off x="3810000" y="1603375"/>
            <a:ext cx="1905000" cy="622300"/>
            <a:chOff x="3810000" y="1603375"/>
            <a:chExt cx="1905000" cy="622300"/>
          </a:xfrm>
        </p:grpSpPr>
        <p:sp>
          <p:nvSpPr>
            <p:cNvPr id="6" name="object 6"/>
            <p:cNvSpPr/>
            <p:nvPr/>
          </p:nvSpPr>
          <p:spPr>
            <a:xfrm>
              <a:off x="4191000" y="1609725"/>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7" name="object 7"/>
            <p:cNvSpPr/>
            <p:nvPr/>
          </p:nvSpPr>
          <p:spPr>
            <a:xfrm>
              <a:off x="3810000" y="1914525"/>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8" name="object 8"/>
          <p:cNvSpPr txBox="1"/>
          <p:nvPr/>
        </p:nvSpPr>
        <p:spPr>
          <a:xfrm>
            <a:off x="3874389" y="1649730"/>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9" name="object 9"/>
          <p:cNvSpPr txBox="1"/>
          <p:nvPr/>
        </p:nvSpPr>
        <p:spPr>
          <a:xfrm>
            <a:off x="5551423" y="1649730"/>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10" name="object 10"/>
          <p:cNvSpPr/>
          <p:nvPr/>
        </p:nvSpPr>
        <p:spPr>
          <a:xfrm>
            <a:off x="3429000" y="2384425"/>
            <a:ext cx="2590800" cy="127000"/>
          </a:xfrm>
          <a:custGeom>
            <a:avLst/>
            <a:gdLst/>
            <a:ahLst/>
            <a:cxnLst/>
            <a:rect l="l" t="t" r="r" b="b"/>
            <a:pathLst>
              <a:path w="2590800" h="127000">
                <a:moveTo>
                  <a:pt x="2463800" y="0"/>
                </a:moveTo>
                <a:lnTo>
                  <a:pt x="2463800" y="127000"/>
                </a:lnTo>
                <a:lnTo>
                  <a:pt x="2578100" y="69850"/>
                </a:lnTo>
                <a:lnTo>
                  <a:pt x="2476500" y="69850"/>
                </a:lnTo>
                <a:lnTo>
                  <a:pt x="2476500" y="57150"/>
                </a:lnTo>
                <a:lnTo>
                  <a:pt x="2578100" y="57150"/>
                </a:lnTo>
                <a:lnTo>
                  <a:pt x="2463800" y="0"/>
                </a:lnTo>
                <a:close/>
              </a:path>
              <a:path w="2590800" h="127000">
                <a:moveTo>
                  <a:pt x="2463800" y="57150"/>
                </a:moveTo>
                <a:lnTo>
                  <a:pt x="0" y="57150"/>
                </a:lnTo>
                <a:lnTo>
                  <a:pt x="0" y="69850"/>
                </a:lnTo>
                <a:lnTo>
                  <a:pt x="2463800" y="69850"/>
                </a:lnTo>
                <a:lnTo>
                  <a:pt x="2463800" y="57150"/>
                </a:lnTo>
                <a:close/>
              </a:path>
              <a:path w="2590800" h="127000">
                <a:moveTo>
                  <a:pt x="2578100" y="57150"/>
                </a:moveTo>
                <a:lnTo>
                  <a:pt x="2476500" y="57150"/>
                </a:lnTo>
                <a:lnTo>
                  <a:pt x="2476500" y="69850"/>
                </a:lnTo>
                <a:lnTo>
                  <a:pt x="2578100" y="69850"/>
                </a:lnTo>
                <a:lnTo>
                  <a:pt x="2590800" y="63500"/>
                </a:lnTo>
                <a:lnTo>
                  <a:pt x="2578100" y="57150"/>
                </a:lnTo>
                <a:close/>
              </a:path>
            </a:pathLst>
          </a:custGeom>
          <a:solidFill>
            <a:srgbClr val="000000"/>
          </a:solidFill>
        </p:spPr>
        <p:txBody>
          <a:bodyPr wrap="square" lIns="0" tIns="0" rIns="0" bIns="0" rtlCol="0"/>
          <a:lstStyle/>
          <a:p>
            <a:endParaRPr/>
          </a:p>
        </p:txBody>
      </p:sp>
      <p:sp>
        <p:nvSpPr>
          <p:cNvPr id="11" name="object 11"/>
          <p:cNvSpPr txBox="1"/>
          <p:nvPr/>
        </p:nvSpPr>
        <p:spPr>
          <a:xfrm>
            <a:off x="3202685" y="2231799"/>
            <a:ext cx="114300" cy="635635"/>
          </a:xfrm>
          <a:prstGeom prst="rect">
            <a:avLst/>
          </a:prstGeom>
        </p:spPr>
        <p:txBody>
          <a:bodyPr vert="horz" wrap="square" lIns="0" tIns="104775" rIns="0" bIns="0" rtlCol="0">
            <a:spAutoFit/>
          </a:bodyPr>
          <a:lstStyle/>
          <a:p>
            <a:pPr marL="12700">
              <a:lnSpc>
                <a:spcPct val="100000"/>
              </a:lnSpc>
              <a:spcBef>
                <a:spcPts val="825"/>
              </a:spcBef>
            </a:pPr>
            <a:r>
              <a:rPr sz="1400" spc="-5" dirty="0">
                <a:latin typeface="Times New Roman"/>
                <a:cs typeface="Times New Roman"/>
              </a:rPr>
              <a:t>1</a:t>
            </a:r>
            <a:endParaRPr sz="1400">
              <a:latin typeface="Times New Roman"/>
              <a:cs typeface="Times New Roman"/>
            </a:endParaRPr>
          </a:p>
          <a:p>
            <a:pPr marL="12700">
              <a:lnSpc>
                <a:spcPct val="100000"/>
              </a:lnSpc>
              <a:spcBef>
                <a:spcPts val="720"/>
              </a:spcBef>
            </a:pPr>
            <a:r>
              <a:rPr sz="1400" spc="-5" dirty="0">
                <a:latin typeface="Times New Roman"/>
                <a:cs typeface="Times New Roman"/>
              </a:rPr>
              <a:t>1</a:t>
            </a:r>
            <a:endParaRPr sz="1400">
              <a:latin typeface="Times New Roman"/>
              <a:cs typeface="Times New Roman"/>
            </a:endParaRPr>
          </a:p>
        </p:txBody>
      </p:sp>
      <p:sp>
        <p:nvSpPr>
          <p:cNvPr id="12" name="object 12"/>
          <p:cNvSpPr txBox="1"/>
          <p:nvPr/>
        </p:nvSpPr>
        <p:spPr>
          <a:xfrm>
            <a:off x="6175375" y="2231799"/>
            <a:ext cx="114300" cy="635635"/>
          </a:xfrm>
          <a:prstGeom prst="rect">
            <a:avLst/>
          </a:prstGeom>
        </p:spPr>
        <p:txBody>
          <a:bodyPr vert="horz" wrap="square" lIns="0" tIns="104775" rIns="0" bIns="0" rtlCol="0">
            <a:spAutoFit/>
          </a:bodyPr>
          <a:lstStyle/>
          <a:p>
            <a:pPr marL="12700">
              <a:lnSpc>
                <a:spcPct val="100000"/>
              </a:lnSpc>
              <a:spcBef>
                <a:spcPts val="825"/>
              </a:spcBef>
            </a:pPr>
            <a:r>
              <a:rPr sz="1400" spc="-5" dirty="0">
                <a:latin typeface="Times New Roman"/>
                <a:cs typeface="Times New Roman"/>
              </a:rPr>
              <a:t>1</a:t>
            </a:r>
            <a:endParaRPr sz="1400">
              <a:latin typeface="Times New Roman"/>
              <a:cs typeface="Times New Roman"/>
            </a:endParaRPr>
          </a:p>
          <a:p>
            <a:pPr marL="12700">
              <a:lnSpc>
                <a:spcPct val="100000"/>
              </a:lnSpc>
              <a:spcBef>
                <a:spcPts val="720"/>
              </a:spcBef>
            </a:pPr>
            <a:r>
              <a:rPr sz="1400" spc="-5" dirty="0">
                <a:latin typeface="Times New Roman"/>
                <a:cs typeface="Times New Roman"/>
              </a:rPr>
              <a:t>1</a:t>
            </a:r>
            <a:endParaRPr sz="1400">
              <a:latin typeface="Times New Roman"/>
              <a:cs typeface="Times New Roman"/>
            </a:endParaRPr>
          </a:p>
        </p:txBody>
      </p:sp>
      <p:sp>
        <p:nvSpPr>
          <p:cNvPr id="13" name="object 13"/>
          <p:cNvSpPr/>
          <p:nvPr/>
        </p:nvSpPr>
        <p:spPr>
          <a:xfrm>
            <a:off x="3429000" y="2689225"/>
            <a:ext cx="2590800" cy="127000"/>
          </a:xfrm>
          <a:custGeom>
            <a:avLst/>
            <a:gdLst/>
            <a:ahLst/>
            <a:cxnLst/>
            <a:rect l="l" t="t" r="r" b="b"/>
            <a:pathLst>
              <a:path w="2590800" h="127000">
                <a:moveTo>
                  <a:pt x="127000" y="0"/>
                </a:moveTo>
                <a:lnTo>
                  <a:pt x="0" y="63500"/>
                </a:lnTo>
                <a:lnTo>
                  <a:pt x="127000" y="127000"/>
                </a:lnTo>
                <a:lnTo>
                  <a:pt x="127000" y="69850"/>
                </a:lnTo>
                <a:lnTo>
                  <a:pt x="114300" y="69850"/>
                </a:lnTo>
                <a:lnTo>
                  <a:pt x="114300" y="57150"/>
                </a:lnTo>
                <a:lnTo>
                  <a:pt x="127000" y="57150"/>
                </a:lnTo>
                <a:lnTo>
                  <a:pt x="127000" y="0"/>
                </a:lnTo>
                <a:close/>
              </a:path>
              <a:path w="2590800" h="127000">
                <a:moveTo>
                  <a:pt x="127000" y="57150"/>
                </a:moveTo>
                <a:lnTo>
                  <a:pt x="114300" y="57150"/>
                </a:lnTo>
                <a:lnTo>
                  <a:pt x="114300" y="69850"/>
                </a:lnTo>
                <a:lnTo>
                  <a:pt x="127000" y="69850"/>
                </a:lnTo>
                <a:lnTo>
                  <a:pt x="127000" y="57150"/>
                </a:lnTo>
                <a:close/>
              </a:path>
              <a:path w="2590800" h="127000">
                <a:moveTo>
                  <a:pt x="2590800" y="57150"/>
                </a:moveTo>
                <a:lnTo>
                  <a:pt x="127000" y="57150"/>
                </a:lnTo>
                <a:lnTo>
                  <a:pt x="127000" y="69850"/>
                </a:lnTo>
                <a:lnTo>
                  <a:pt x="2590800" y="69850"/>
                </a:lnTo>
                <a:lnTo>
                  <a:pt x="2590800" y="57150"/>
                </a:lnTo>
                <a:close/>
              </a:path>
            </a:pathLst>
          </a:custGeom>
          <a:solidFill>
            <a:srgbClr val="000000"/>
          </a:solidFill>
        </p:spPr>
        <p:txBody>
          <a:bodyPr wrap="square" lIns="0" tIns="0" rIns="0" bIns="0" rtlCol="0"/>
          <a:lstStyle/>
          <a:p>
            <a:endParaRPr/>
          </a:p>
        </p:txBody>
      </p:sp>
      <p:sp>
        <p:nvSpPr>
          <p:cNvPr id="14" name="object 14"/>
          <p:cNvSpPr txBox="1"/>
          <p:nvPr/>
        </p:nvSpPr>
        <p:spPr>
          <a:xfrm>
            <a:off x="2667000" y="3590925"/>
            <a:ext cx="1143000" cy="609600"/>
          </a:xfrm>
          <a:prstGeom prst="rect">
            <a:avLst/>
          </a:prstGeom>
          <a:ln w="12700">
            <a:solidFill>
              <a:srgbClr val="000000"/>
            </a:solidFill>
          </a:ln>
        </p:spPr>
        <p:txBody>
          <a:bodyPr vert="horz" wrap="square" lIns="0" tIns="2540" rIns="0" bIns="0" rtlCol="0">
            <a:spAutoFit/>
          </a:bodyPr>
          <a:lstStyle/>
          <a:p>
            <a:pPr>
              <a:lnSpc>
                <a:spcPct val="100000"/>
              </a:lnSpc>
              <a:spcBef>
                <a:spcPts val="20"/>
              </a:spcBef>
            </a:pPr>
            <a:endParaRPr sz="1300">
              <a:latin typeface="Times New Roman"/>
              <a:cs typeface="Times New Roman"/>
            </a:endParaRPr>
          </a:p>
          <a:p>
            <a:pPr marL="92075">
              <a:lnSpc>
                <a:spcPct val="100000"/>
              </a:lnSpc>
            </a:pPr>
            <a:r>
              <a:rPr sz="1400" spc="-10" dirty="0">
                <a:latin typeface="Times New Roman"/>
                <a:cs typeface="Times New Roman"/>
              </a:rPr>
              <a:t>PROYEK</a:t>
            </a:r>
            <a:endParaRPr sz="1400">
              <a:latin typeface="Times New Roman"/>
              <a:cs typeface="Times New Roman"/>
            </a:endParaRPr>
          </a:p>
        </p:txBody>
      </p:sp>
      <p:sp>
        <p:nvSpPr>
          <p:cNvPr id="15" name="object 15"/>
          <p:cNvSpPr txBox="1"/>
          <p:nvPr/>
        </p:nvSpPr>
        <p:spPr>
          <a:xfrm>
            <a:off x="5730875" y="3590925"/>
            <a:ext cx="1143000" cy="609600"/>
          </a:xfrm>
          <a:prstGeom prst="rect">
            <a:avLst/>
          </a:prstGeom>
          <a:ln w="12700">
            <a:solidFill>
              <a:srgbClr val="000000"/>
            </a:solidFill>
          </a:ln>
        </p:spPr>
        <p:txBody>
          <a:bodyPr vert="horz" wrap="square" lIns="0" tIns="6350" rIns="0" bIns="0" rtlCol="0">
            <a:spAutoFit/>
          </a:bodyPr>
          <a:lstStyle/>
          <a:p>
            <a:pPr>
              <a:lnSpc>
                <a:spcPct val="100000"/>
              </a:lnSpc>
              <a:spcBef>
                <a:spcPts val="50"/>
              </a:spcBef>
            </a:pPr>
            <a:endParaRPr sz="1350">
              <a:latin typeface="Times New Roman"/>
              <a:cs typeface="Times New Roman"/>
            </a:endParaRPr>
          </a:p>
          <a:p>
            <a:pPr marL="162560">
              <a:lnSpc>
                <a:spcPct val="100000"/>
              </a:lnSpc>
              <a:spcBef>
                <a:spcPts val="5"/>
              </a:spcBef>
            </a:pPr>
            <a:r>
              <a:rPr sz="1400" spc="-55" dirty="0">
                <a:latin typeface="Times New Roman"/>
                <a:cs typeface="Times New Roman"/>
              </a:rPr>
              <a:t>PEGAWAI</a:t>
            </a:r>
            <a:endParaRPr sz="1400">
              <a:latin typeface="Times New Roman"/>
              <a:cs typeface="Times New Roman"/>
            </a:endParaRPr>
          </a:p>
        </p:txBody>
      </p:sp>
      <p:sp>
        <p:nvSpPr>
          <p:cNvPr id="16" name="object 16"/>
          <p:cNvSpPr txBox="1"/>
          <p:nvPr/>
        </p:nvSpPr>
        <p:spPr>
          <a:xfrm>
            <a:off x="4431538" y="3773170"/>
            <a:ext cx="573405" cy="238125"/>
          </a:xfrm>
          <a:prstGeom prst="rect">
            <a:avLst/>
          </a:prstGeom>
        </p:spPr>
        <p:txBody>
          <a:bodyPr vert="horz" wrap="square" lIns="0" tIns="11430" rIns="0" bIns="0" rtlCol="0">
            <a:spAutoFit/>
          </a:bodyPr>
          <a:lstStyle/>
          <a:p>
            <a:pPr marL="12700">
              <a:lnSpc>
                <a:spcPct val="100000"/>
              </a:lnSpc>
              <a:spcBef>
                <a:spcPts val="90"/>
              </a:spcBef>
            </a:pPr>
            <a:r>
              <a:rPr sz="1400" spc="-35" dirty="0">
                <a:latin typeface="Times New Roman"/>
                <a:cs typeface="Times New Roman"/>
              </a:rPr>
              <a:t>K</a:t>
            </a:r>
            <a:r>
              <a:rPr sz="1400" spc="-20" dirty="0">
                <a:latin typeface="Times New Roman"/>
                <a:cs typeface="Times New Roman"/>
              </a:rPr>
              <a:t>E</a:t>
            </a:r>
            <a:r>
              <a:rPr sz="1400" spc="-5" dirty="0">
                <a:latin typeface="Times New Roman"/>
                <a:cs typeface="Times New Roman"/>
              </a:rPr>
              <a:t>R</a:t>
            </a:r>
            <a:r>
              <a:rPr sz="1400" dirty="0">
                <a:latin typeface="Times New Roman"/>
                <a:cs typeface="Times New Roman"/>
              </a:rPr>
              <a:t>J</a:t>
            </a:r>
            <a:r>
              <a:rPr sz="1400" spc="-10" dirty="0">
                <a:latin typeface="Times New Roman"/>
                <a:cs typeface="Times New Roman"/>
              </a:rPr>
              <a:t>A</a:t>
            </a:r>
            <a:endParaRPr sz="1400">
              <a:latin typeface="Times New Roman"/>
              <a:cs typeface="Times New Roman"/>
            </a:endParaRPr>
          </a:p>
        </p:txBody>
      </p:sp>
      <p:grpSp>
        <p:nvGrpSpPr>
          <p:cNvPr id="17" name="object 17"/>
          <p:cNvGrpSpPr/>
          <p:nvPr/>
        </p:nvGrpSpPr>
        <p:grpSpPr>
          <a:xfrm>
            <a:off x="3810000" y="3584575"/>
            <a:ext cx="1905000" cy="622300"/>
            <a:chOff x="3810000" y="3584575"/>
            <a:chExt cx="1905000" cy="622300"/>
          </a:xfrm>
        </p:grpSpPr>
        <p:sp>
          <p:nvSpPr>
            <p:cNvPr id="18" name="object 18"/>
            <p:cNvSpPr/>
            <p:nvPr/>
          </p:nvSpPr>
          <p:spPr>
            <a:xfrm>
              <a:off x="4191000" y="3590925"/>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19" name="object 19"/>
            <p:cNvSpPr/>
            <p:nvPr/>
          </p:nvSpPr>
          <p:spPr>
            <a:xfrm>
              <a:off x="3810000" y="3895725"/>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20" name="object 20"/>
          <p:cNvSpPr txBox="1"/>
          <p:nvPr/>
        </p:nvSpPr>
        <p:spPr>
          <a:xfrm>
            <a:off x="3874389" y="3631819"/>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21" name="object 21"/>
          <p:cNvSpPr txBox="1"/>
          <p:nvPr/>
        </p:nvSpPr>
        <p:spPr>
          <a:xfrm>
            <a:off x="5551423" y="3631819"/>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22" name="object 22"/>
          <p:cNvSpPr/>
          <p:nvPr/>
        </p:nvSpPr>
        <p:spPr>
          <a:xfrm>
            <a:off x="3429000" y="4365625"/>
            <a:ext cx="2590800" cy="127000"/>
          </a:xfrm>
          <a:custGeom>
            <a:avLst/>
            <a:gdLst/>
            <a:ahLst/>
            <a:cxnLst/>
            <a:rect l="l" t="t" r="r" b="b"/>
            <a:pathLst>
              <a:path w="2590800" h="127000">
                <a:moveTo>
                  <a:pt x="2463800" y="0"/>
                </a:moveTo>
                <a:lnTo>
                  <a:pt x="2463800" y="127000"/>
                </a:lnTo>
                <a:lnTo>
                  <a:pt x="2578100" y="69850"/>
                </a:lnTo>
                <a:lnTo>
                  <a:pt x="2476500" y="69850"/>
                </a:lnTo>
                <a:lnTo>
                  <a:pt x="2476500" y="57150"/>
                </a:lnTo>
                <a:lnTo>
                  <a:pt x="2578100" y="57150"/>
                </a:lnTo>
                <a:lnTo>
                  <a:pt x="2463800" y="0"/>
                </a:lnTo>
                <a:close/>
              </a:path>
              <a:path w="2590800" h="127000">
                <a:moveTo>
                  <a:pt x="2463800" y="57150"/>
                </a:moveTo>
                <a:lnTo>
                  <a:pt x="0" y="57150"/>
                </a:lnTo>
                <a:lnTo>
                  <a:pt x="0" y="69850"/>
                </a:lnTo>
                <a:lnTo>
                  <a:pt x="2463800" y="69850"/>
                </a:lnTo>
                <a:lnTo>
                  <a:pt x="2463800" y="57150"/>
                </a:lnTo>
                <a:close/>
              </a:path>
              <a:path w="2590800" h="127000">
                <a:moveTo>
                  <a:pt x="2578100" y="57150"/>
                </a:moveTo>
                <a:lnTo>
                  <a:pt x="2476500" y="57150"/>
                </a:lnTo>
                <a:lnTo>
                  <a:pt x="2476500" y="69850"/>
                </a:lnTo>
                <a:lnTo>
                  <a:pt x="2578100" y="69850"/>
                </a:lnTo>
                <a:lnTo>
                  <a:pt x="2590800" y="63500"/>
                </a:lnTo>
                <a:lnTo>
                  <a:pt x="2578100" y="57150"/>
                </a:lnTo>
                <a:close/>
              </a:path>
            </a:pathLst>
          </a:custGeom>
          <a:solidFill>
            <a:srgbClr val="000000"/>
          </a:solidFill>
        </p:spPr>
        <p:txBody>
          <a:bodyPr wrap="square" lIns="0" tIns="0" rIns="0" bIns="0" rtlCol="0"/>
          <a:lstStyle/>
          <a:p>
            <a:endParaRPr/>
          </a:p>
        </p:txBody>
      </p:sp>
      <p:sp>
        <p:nvSpPr>
          <p:cNvPr id="23" name="object 23"/>
          <p:cNvSpPr txBox="1"/>
          <p:nvPr/>
        </p:nvSpPr>
        <p:spPr>
          <a:xfrm>
            <a:off x="3202685" y="4213888"/>
            <a:ext cx="114300" cy="635635"/>
          </a:xfrm>
          <a:prstGeom prst="rect">
            <a:avLst/>
          </a:prstGeom>
        </p:spPr>
        <p:txBody>
          <a:bodyPr vert="horz" wrap="square" lIns="0" tIns="104775" rIns="0" bIns="0" rtlCol="0">
            <a:spAutoFit/>
          </a:bodyPr>
          <a:lstStyle/>
          <a:p>
            <a:pPr marL="12700">
              <a:lnSpc>
                <a:spcPct val="100000"/>
              </a:lnSpc>
              <a:spcBef>
                <a:spcPts val="825"/>
              </a:spcBef>
            </a:pPr>
            <a:r>
              <a:rPr sz="1400" spc="-5" dirty="0">
                <a:latin typeface="Times New Roman"/>
                <a:cs typeface="Times New Roman"/>
              </a:rPr>
              <a:t>1</a:t>
            </a:r>
            <a:endParaRPr sz="1400">
              <a:latin typeface="Times New Roman"/>
              <a:cs typeface="Times New Roman"/>
            </a:endParaRPr>
          </a:p>
          <a:p>
            <a:pPr marL="12700">
              <a:lnSpc>
                <a:spcPct val="100000"/>
              </a:lnSpc>
              <a:spcBef>
                <a:spcPts val="720"/>
              </a:spcBef>
            </a:pPr>
            <a:r>
              <a:rPr sz="1400" spc="-5" dirty="0">
                <a:latin typeface="Times New Roman"/>
                <a:cs typeface="Times New Roman"/>
              </a:rPr>
              <a:t>1</a:t>
            </a:r>
            <a:endParaRPr sz="1400">
              <a:latin typeface="Times New Roman"/>
              <a:cs typeface="Times New Roman"/>
            </a:endParaRPr>
          </a:p>
        </p:txBody>
      </p:sp>
      <p:sp>
        <p:nvSpPr>
          <p:cNvPr id="24" name="object 24"/>
          <p:cNvSpPr txBox="1"/>
          <p:nvPr/>
        </p:nvSpPr>
        <p:spPr>
          <a:xfrm>
            <a:off x="6175375" y="4213888"/>
            <a:ext cx="182880" cy="635635"/>
          </a:xfrm>
          <a:prstGeom prst="rect">
            <a:avLst/>
          </a:prstGeom>
        </p:spPr>
        <p:txBody>
          <a:bodyPr vert="horz" wrap="square" lIns="0" tIns="104775" rIns="0" bIns="0" rtlCol="0">
            <a:spAutoFit/>
          </a:bodyPr>
          <a:lstStyle/>
          <a:p>
            <a:pPr marL="12700">
              <a:lnSpc>
                <a:spcPct val="100000"/>
              </a:lnSpc>
              <a:spcBef>
                <a:spcPts val="825"/>
              </a:spcBef>
            </a:pPr>
            <a:r>
              <a:rPr sz="1400" spc="-10" dirty="0">
                <a:latin typeface="Times New Roman"/>
                <a:cs typeface="Times New Roman"/>
              </a:rPr>
              <a:t>M</a:t>
            </a:r>
            <a:endParaRPr sz="1400">
              <a:latin typeface="Times New Roman"/>
              <a:cs typeface="Times New Roman"/>
            </a:endParaRPr>
          </a:p>
          <a:p>
            <a:pPr marL="12700">
              <a:lnSpc>
                <a:spcPct val="100000"/>
              </a:lnSpc>
              <a:spcBef>
                <a:spcPts val="720"/>
              </a:spcBef>
            </a:pPr>
            <a:r>
              <a:rPr sz="1400" spc="-5" dirty="0">
                <a:latin typeface="Times New Roman"/>
                <a:cs typeface="Times New Roman"/>
              </a:rPr>
              <a:t>1</a:t>
            </a:r>
            <a:endParaRPr sz="1400">
              <a:latin typeface="Times New Roman"/>
              <a:cs typeface="Times New Roman"/>
            </a:endParaRPr>
          </a:p>
        </p:txBody>
      </p:sp>
      <p:sp>
        <p:nvSpPr>
          <p:cNvPr id="25" name="object 25"/>
          <p:cNvSpPr/>
          <p:nvPr/>
        </p:nvSpPr>
        <p:spPr>
          <a:xfrm>
            <a:off x="3429000" y="4670425"/>
            <a:ext cx="2590800" cy="127000"/>
          </a:xfrm>
          <a:custGeom>
            <a:avLst/>
            <a:gdLst/>
            <a:ahLst/>
            <a:cxnLst/>
            <a:rect l="l" t="t" r="r" b="b"/>
            <a:pathLst>
              <a:path w="2590800" h="127000">
                <a:moveTo>
                  <a:pt x="127000" y="0"/>
                </a:moveTo>
                <a:lnTo>
                  <a:pt x="0" y="63500"/>
                </a:lnTo>
                <a:lnTo>
                  <a:pt x="127000" y="127000"/>
                </a:lnTo>
                <a:lnTo>
                  <a:pt x="127000" y="69850"/>
                </a:lnTo>
                <a:lnTo>
                  <a:pt x="114300" y="69850"/>
                </a:lnTo>
                <a:lnTo>
                  <a:pt x="114300" y="57150"/>
                </a:lnTo>
                <a:lnTo>
                  <a:pt x="127000" y="57150"/>
                </a:lnTo>
                <a:lnTo>
                  <a:pt x="127000" y="0"/>
                </a:lnTo>
                <a:close/>
              </a:path>
              <a:path w="2590800" h="127000">
                <a:moveTo>
                  <a:pt x="127000" y="57150"/>
                </a:moveTo>
                <a:lnTo>
                  <a:pt x="114300" y="57150"/>
                </a:lnTo>
                <a:lnTo>
                  <a:pt x="114300" y="69850"/>
                </a:lnTo>
                <a:lnTo>
                  <a:pt x="127000" y="69850"/>
                </a:lnTo>
                <a:lnTo>
                  <a:pt x="127000" y="57150"/>
                </a:lnTo>
                <a:close/>
              </a:path>
              <a:path w="2590800" h="127000">
                <a:moveTo>
                  <a:pt x="2590800" y="57150"/>
                </a:moveTo>
                <a:lnTo>
                  <a:pt x="127000" y="57150"/>
                </a:lnTo>
                <a:lnTo>
                  <a:pt x="127000" y="69850"/>
                </a:lnTo>
                <a:lnTo>
                  <a:pt x="2590800" y="69850"/>
                </a:lnTo>
                <a:lnTo>
                  <a:pt x="2590800" y="57150"/>
                </a:lnTo>
                <a:close/>
              </a:path>
            </a:pathLst>
          </a:custGeom>
          <a:solidFill>
            <a:srgbClr val="000000"/>
          </a:solidFill>
        </p:spPr>
        <p:txBody>
          <a:bodyPr wrap="square" lIns="0" tIns="0" rIns="0" bIns="0" rtlCol="0"/>
          <a:lstStyle/>
          <a:p>
            <a:endParaRPr/>
          </a:p>
        </p:txBody>
      </p:sp>
      <p:sp>
        <p:nvSpPr>
          <p:cNvPr id="26" name="object 26"/>
          <p:cNvSpPr txBox="1"/>
          <p:nvPr/>
        </p:nvSpPr>
        <p:spPr>
          <a:xfrm>
            <a:off x="2743200" y="5419725"/>
            <a:ext cx="1143000" cy="609600"/>
          </a:xfrm>
          <a:prstGeom prst="rect">
            <a:avLst/>
          </a:prstGeom>
          <a:ln w="12700">
            <a:solidFill>
              <a:srgbClr val="000000"/>
            </a:solidFill>
          </a:ln>
        </p:spPr>
        <p:txBody>
          <a:bodyPr vert="horz" wrap="square" lIns="0" tIns="3810" rIns="0" bIns="0" rtlCol="0">
            <a:spAutoFit/>
          </a:bodyPr>
          <a:lstStyle/>
          <a:p>
            <a:pPr>
              <a:lnSpc>
                <a:spcPct val="100000"/>
              </a:lnSpc>
              <a:spcBef>
                <a:spcPts val="30"/>
              </a:spcBef>
            </a:pPr>
            <a:endParaRPr sz="1300">
              <a:latin typeface="Times New Roman"/>
              <a:cs typeface="Times New Roman"/>
            </a:endParaRPr>
          </a:p>
          <a:p>
            <a:pPr marL="92075">
              <a:lnSpc>
                <a:spcPct val="100000"/>
              </a:lnSpc>
            </a:pPr>
            <a:r>
              <a:rPr sz="1400" spc="-35" dirty="0">
                <a:latin typeface="Times New Roman"/>
                <a:cs typeface="Times New Roman"/>
              </a:rPr>
              <a:t>MHSISWA</a:t>
            </a:r>
            <a:endParaRPr sz="1400">
              <a:latin typeface="Times New Roman"/>
              <a:cs typeface="Times New Roman"/>
            </a:endParaRPr>
          </a:p>
        </p:txBody>
      </p:sp>
      <p:sp>
        <p:nvSpPr>
          <p:cNvPr id="27" name="object 27"/>
          <p:cNvSpPr txBox="1"/>
          <p:nvPr/>
        </p:nvSpPr>
        <p:spPr>
          <a:xfrm>
            <a:off x="5807075" y="5419725"/>
            <a:ext cx="1143000" cy="609600"/>
          </a:xfrm>
          <a:prstGeom prst="rect">
            <a:avLst/>
          </a:prstGeom>
          <a:ln w="12700">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marL="59055">
              <a:lnSpc>
                <a:spcPct val="100000"/>
              </a:lnSpc>
            </a:pPr>
            <a:r>
              <a:rPr sz="1400" spc="-30" dirty="0">
                <a:latin typeface="Times New Roman"/>
                <a:cs typeface="Times New Roman"/>
              </a:rPr>
              <a:t>MT-KULIAH</a:t>
            </a:r>
            <a:endParaRPr sz="1400">
              <a:latin typeface="Times New Roman"/>
              <a:cs typeface="Times New Roman"/>
            </a:endParaRPr>
          </a:p>
        </p:txBody>
      </p:sp>
      <p:sp>
        <p:nvSpPr>
          <p:cNvPr id="28" name="object 28"/>
          <p:cNvSpPr txBox="1"/>
          <p:nvPr/>
        </p:nvSpPr>
        <p:spPr>
          <a:xfrm>
            <a:off x="4568697" y="5602630"/>
            <a:ext cx="445134"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I</a:t>
            </a:r>
            <a:r>
              <a:rPr sz="1400" spc="-30" dirty="0">
                <a:latin typeface="Times New Roman"/>
                <a:cs typeface="Times New Roman"/>
              </a:rPr>
              <a:t>K</a:t>
            </a:r>
            <a:r>
              <a:rPr sz="1400" spc="-5" dirty="0">
                <a:latin typeface="Times New Roman"/>
                <a:cs typeface="Times New Roman"/>
              </a:rPr>
              <a:t>UT</a:t>
            </a:r>
            <a:endParaRPr sz="1400">
              <a:latin typeface="Times New Roman"/>
              <a:cs typeface="Times New Roman"/>
            </a:endParaRPr>
          </a:p>
        </p:txBody>
      </p:sp>
      <p:grpSp>
        <p:nvGrpSpPr>
          <p:cNvPr id="29" name="object 29"/>
          <p:cNvGrpSpPr/>
          <p:nvPr/>
        </p:nvGrpSpPr>
        <p:grpSpPr>
          <a:xfrm>
            <a:off x="3886200" y="5413375"/>
            <a:ext cx="1905000" cy="622300"/>
            <a:chOff x="3886200" y="5413375"/>
            <a:chExt cx="1905000" cy="622300"/>
          </a:xfrm>
        </p:grpSpPr>
        <p:sp>
          <p:nvSpPr>
            <p:cNvPr id="30" name="object 30"/>
            <p:cNvSpPr/>
            <p:nvPr/>
          </p:nvSpPr>
          <p:spPr>
            <a:xfrm>
              <a:off x="4267200" y="5419725"/>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31" name="object 31"/>
            <p:cNvSpPr/>
            <p:nvPr/>
          </p:nvSpPr>
          <p:spPr>
            <a:xfrm>
              <a:off x="3886200" y="5724525"/>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32" name="object 32"/>
          <p:cNvSpPr txBox="1"/>
          <p:nvPr/>
        </p:nvSpPr>
        <p:spPr>
          <a:xfrm>
            <a:off x="3950589" y="5461508"/>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33" name="object 33"/>
          <p:cNvSpPr txBox="1"/>
          <p:nvPr/>
        </p:nvSpPr>
        <p:spPr>
          <a:xfrm>
            <a:off x="5627623" y="5461508"/>
            <a:ext cx="153035"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N</a:t>
            </a:r>
            <a:endParaRPr sz="1400">
              <a:latin typeface="Times New Roman"/>
              <a:cs typeface="Times New Roman"/>
            </a:endParaRPr>
          </a:p>
        </p:txBody>
      </p:sp>
      <p:sp>
        <p:nvSpPr>
          <p:cNvPr id="34" name="object 34"/>
          <p:cNvSpPr/>
          <p:nvPr/>
        </p:nvSpPr>
        <p:spPr>
          <a:xfrm>
            <a:off x="3505200" y="6194425"/>
            <a:ext cx="2590800" cy="127000"/>
          </a:xfrm>
          <a:custGeom>
            <a:avLst/>
            <a:gdLst/>
            <a:ahLst/>
            <a:cxnLst/>
            <a:rect l="l" t="t" r="r" b="b"/>
            <a:pathLst>
              <a:path w="2590800" h="127000">
                <a:moveTo>
                  <a:pt x="2463800" y="0"/>
                </a:moveTo>
                <a:lnTo>
                  <a:pt x="2463800" y="127000"/>
                </a:lnTo>
                <a:lnTo>
                  <a:pt x="2578100" y="69850"/>
                </a:lnTo>
                <a:lnTo>
                  <a:pt x="2476500" y="69850"/>
                </a:lnTo>
                <a:lnTo>
                  <a:pt x="2476500" y="57150"/>
                </a:lnTo>
                <a:lnTo>
                  <a:pt x="2578100" y="57150"/>
                </a:lnTo>
                <a:lnTo>
                  <a:pt x="2463800" y="0"/>
                </a:lnTo>
                <a:close/>
              </a:path>
              <a:path w="2590800" h="127000">
                <a:moveTo>
                  <a:pt x="2463800" y="57150"/>
                </a:moveTo>
                <a:lnTo>
                  <a:pt x="0" y="57150"/>
                </a:lnTo>
                <a:lnTo>
                  <a:pt x="0" y="69850"/>
                </a:lnTo>
                <a:lnTo>
                  <a:pt x="2463800" y="69850"/>
                </a:lnTo>
                <a:lnTo>
                  <a:pt x="2463800" y="57150"/>
                </a:lnTo>
                <a:close/>
              </a:path>
              <a:path w="2590800" h="127000">
                <a:moveTo>
                  <a:pt x="2578100" y="57150"/>
                </a:moveTo>
                <a:lnTo>
                  <a:pt x="2476500" y="57150"/>
                </a:lnTo>
                <a:lnTo>
                  <a:pt x="2476500" y="69850"/>
                </a:lnTo>
                <a:lnTo>
                  <a:pt x="2578100" y="69850"/>
                </a:lnTo>
                <a:lnTo>
                  <a:pt x="2590800" y="63500"/>
                </a:lnTo>
                <a:lnTo>
                  <a:pt x="2578100" y="57150"/>
                </a:lnTo>
                <a:close/>
              </a:path>
            </a:pathLst>
          </a:custGeom>
          <a:solidFill>
            <a:srgbClr val="000000"/>
          </a:solidFill>
        </p:spPr>
        <p:txBody>
          <a:bodyPr wrap="square" lIns="0" tIns="0" rIns="0" bIns="0" rtlCol="0"/>
          <a:lstStyle/>
          <a:p>
            <a:endParaRPr/>
          </a:p>
        </p:txBody>
      </p:sp>
      <p:sp>
        <p:nvSpPr>
          <p:cNvPr id="35" name="object 35"/>
          <p:cNvSpPr txBox="1"/>
          <p:nvPr/>
        </p:nvSpPr>
        <p:spPr>
          <a:xfrm>
            <a:off x="3278885" y="6043371"/>
            <a:ext cx="182880" cy="635635"/>
          </a:xfrm>
          <a:prstGeom prst="rect">
            <a:avLst/>
          </a:prstGeom>
        </p:spPr>
        <p:txBody>
          <a:bodyPr vert="horz" wrap="square" lIns="0" tIns="104775" rIns="0" bIns="0" rtlCol="0">
            <a:spAutoFit/>
          </a:bodyPr>
          <a:lstStyle/>
          <a:p>
            <a:pPr marL="12700">
              <a:lnSpc>
                <a:spcPct val="100000"/>
              </a:lnSpc>
              <a:spcBef>
                <a:spcPts val="825"/>
              </a:spcBef>
            </a:pPr>
            <a:r>
              <a:rPr sz="1400" spc="-5" dirty="0">
                <a:latin typeface="Times New Roman"/>
                <a:cs typeface="Times New Roman"/>
              </a:rPr>
              <a:t>1</a:t>
            </a:r>
            <a:endParaRPr sz="1400">
              <a:latin typeface="Times New Roman"/>
              <a:cs typeface="Times New Roman"/>
            </a:endParaRPr>
          </a:p>
          <a:p>
            <a:pPr marL="12700">
              <a:lnSpc>
                <a:spcPct val="100000"/>
              </a:lnSpc>
              <a:spcBef>
                <a:spcPts val="720"/>
              </a:spcBef>
            </a:pPr>
            <a:r>
              <a:rPr sz="1400" spc="-10" dirty="0">
                <a:latin typeface="Times New Roman"/>
                <a:cs typeface="Times New Roman"/>
              </a:rPr>
              <a:t>M</a:t>
            </a:r>
            <a:endParaRPr sz="1400">
              <a:latin typeface="Times New Roman"/>
              <a:cs typeface="Times New Roman"/>
            </a:endParaRPr>
          </a:p>
        </p:txBody>
      </p:sp>
      <p:sp>
        <p:nvSpPr>
          <p:cNvPr id="36" name="object 36"/>
          <p:cNvSpPr txBox="1"/>
          <p:nvPr/>
        </p:nvSpPr>
        <p:spPr>
          <a:xfrm>
            <a:off x="6251575" y="6043371"/>
            <a:ext cx="182880" cy="635635"/>
          </a:xfrm>
          <a:prstGeom prst="rect">
            <a:avLst/>
          </a:prstGeom>
        </p:spPr>
        <p:txBody>
          <a:bodyPr vert="horz" wrap="square" lIns="0" tIns="12700" rIns="0" bIns="0" rtlCol="0">
            <a:spAutoFit/>
          </a:bodyPr>
          <a:lstStyle/>
          <a:p>
            <a:pPr marL="12700" marR="5080">
              <a:lnSpc>
                <a:spcPct val="143000"/>
              </a:lnSpc>
              <a:spcBef>
                <a:spcPts val="100"/>
              </a:spcBef>
            </a:pPr>
            <a:r>
              <a:rPr sz="1400" spc="-5" dirty="0">
                <a:latin typeface="Times New Roman"/>
                <a:cs typeface="Times New Roman"/>
              </a:rPr>
              <a:t>M  1</a:t>
            </a:r>
            <a:endParaRPr sz="1400">
              <a:latin typeface="Times New Roman"/>
              <a:cs typeface="Times New Roman"/>
            </a:endParaRPr>
          </a:p>
        </p:txBody>
      </p:sp>
      <p:sp>
        <p:nvSpPr>
          <p:cNvPr id="37" name="object 37"/>
          <p:cNvSpPr/>
          <p:nvPr/>
        </p:nvSpPr>
        <p:spPr>
          <a:xfrm>
            <a:off x="3505200" y="6499225"/>
            <a:ext cx="2590800" cy="127000"/>
          </a:xfrm>
          <a:custGeom>
            <a:avLst/>
            <a:gdLst/>
            <a:ahLst/>
            <a:cxnLst/>
            <a:rect l="l" t="t" r="r" b="b"/>
            <a:pathLst>
              <a:path w="2590800" h="127000">
                <a:moveTo>
                  <a:pt x="127000" y="0"/>
                </a:moveTo>
                <a:lnTo>
                  <a:pt x="0" y="63500"/>
                </a:lnTo>
                <a:lnTo>
                  <a:pt x="127000" y="127000"/>
                </a:lnTo>
                <a:lnTo>
                  <a:pt x="127000" y="69850"/>
                </a:lnTo>
                <a:lnTo>
                  <a:pt x="114300" y="69850"/>
                </a:lnTo>
                <a:lnTo>
                  <a:pt x="114300" y="57150"/>
                </a:lnTo>
                <a:lnTo>
                  <a:pt x="127000" y="57150"/>
                </a:lnTo>
                <a:lnTo>
                  <a:pt x="127000" y="0"/>
                </a:lnTo>
                <a:close/>
              </a:path>
              <a:path w="2590800" h="127000">
                <a:moveTo>
                  <a:pt x="127000" y="57150"/>
                </a:moveTo>
                <a:lnTo>
                  <a:pt x="114300" y="57150"/>
                </a:lnTo>
                <a:lnTo>
                  <a:pt x="114300" y="69850"/>
                </a:lnTo>
                <a:lnTo>
                  <a:pt x="127000" y="69850"/>
                </a:lnTo>
                <a:lnTo>
                  <a:pt x="127000" y="57150"/>
                </a:lnTo>
                <a:close/>
              </a:path>
              <a:path w="2590800" h="127000">
                <a:moveTo>
                  <a:pt x="2590800" y="57150"/>
                </a:moveTo>
                <a:lnTo>
                  <a:pt x="127000" y="57150"/>
                </a:lnTo>
                <a:lnTo>
                  <a:pt x="127000" y="69850"/>
                </a:lnTo>
                <a:lnTo>
                  <a:pt x="2590800" y="69850"/>
                </a:lnTo>
                <a:lnTo>
                  <a:pt x="2590800" y="57150"/>
                </a:lnTo>
                <a:close/>
              </a:path>
            </a:pathLst>
          </a:custGeom>
          <a:solidFill>
            <a:srgbClr val="000000"/>
          </a:solidFill>
        </p:spPr>
        <p:txBody>
          <a:bodyPr wrap="square" lIns="0" tIns="0" rIns="0" bIns="0" rtlCol="0"/>
          <a:lstStyle/>
          <a:p>
            <a:endParaRPr/>
          </a:p>
        </p:txBody>
      </p:sp>
      <p:pic>
        <p:nvPicPr>
          <p:cNvPr id="38" name="object 38"/>
          <p:cNvPicPr/>
          <p:nvPr/>
        </p:nvPicPr>
        <p:blipFill>
          <a:blip r:embed="rId2" cstate="print"/>
          <a:stretch>
            <a:fillRect/>
          </a:stretch>
        </p:blipFill>
        <p:spPr>
          <a:xfrm>
            <a:off x="762000" y="457200"/>
            <a:ext cx="3759200" cy="457200"/>
          </a:xfrm>
          <a:prstGeom prst="rect">
            <a:avLst/>
          </a:prstGeom>
        </p:spPr>
      </p:pic>
      <p:sp>
        <p:nvSpPr>
          <p:cNvPr id="39" name="object 39"/>
          <p:cNvSpPr txBox="1"/>
          <p:nvPr/>
        </p:nvSpPr>
        <p:spPr>
          <a:xfrm>
            <a:off x="1125118" y="523443"/>
            <a:ext cx="2830830"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ENTITY-RELATIONSHIP</a:t>
            </a:r>
            <a:r>
              <a:rPr sz="1400" spc="25"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587375"/>
            <a:ext cx="3759200" cy="457200"/>
          </a:xfrm>
          <a:prstGeom prst="rect">
            <a:avLst/>
          </a:prstGeom>
        </p:spPr>
      </p:pic>
      <p:sp>
        <p:nvSpPr>
          <p:cNvPr id="3" name="object 3"/>
          <p:cNvSpPr txBox="1"/>
          <p:nvPr/>
        </p:nvSpPr>
        <p:spPr>
          <a:xfrm>
            <a:off x="1201318" y="653923"/>
            <a:ext cx="2830830" cy="238125"/>
          </a:xfrm>
          <a:prstGeom prst="rect">
            <a:avLst/>
          </a:prstGeom>
        </p:spPr>
        <p:txBody>
          <a:bodyPr vert="horz" wrap="square" lIns="0" tIns="11430" rIns="0" bIns="0" rtlCol="0">
            <a:spAutoFit/>
          </a:bodyPr>
          <a:lstStyle/>
          <a:p>
            <a:pPr marL="12700">
              <a:lnSpc>
                <a:spcPct val="100000"/>
              </a:lnSpc>
              <a:spcBef>
                <a:spcPts val="90"/>
              </a:spcBef>
            </a:pPr>
            <a:r>
              <a:rPr sz="1400" spc="-30" dirty="0">
                <a:latin typeface="Times New Roman"/>
                <a:cs typeface="Times New Roman"/>
              </a:rPr>
              <a:t>ENTITY-RELATIONSHIP</a:t>
            </a:r>
            <a:r>
              <a:rPr sz="1400" spc="20"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sp>
        <p:nvSpPr>
          <p:cNvPr id="4" name="object 4"/>
          <p:cNvSpPr txBox="1"/>
          <p:nvPr/>
        </p:nvSpPr>
        <p:spPr>
          <a:xfrm>
            <a:off x="2745104" y="5647131"/>
            <a:ext cx="753110" cy="664845"/>
          </a:xfrm>
          <a:prstGeom prst="rect">
            <a:avLst/>
          </a:prstGeom>
        </p:spPr>
        <p:txBody>
          <a:bodyPr vert="horz" wrap="square" lIns="0" tIns="11430" rIns="0" bIns="0" rtlCol="0">
            <a:spAutoFit/>
          </a:bodyPr>
          <a:lstStyle/>
          <a:p>
            <a:pPr marL="12700" marR="5080">
              <a:lnSpc>
                <a:spcPct val="100000"/>
              </a:lnSpc>
              <a:spcBef>
                <a:spcPts val="90"/>
              </a:spcBef>
            </a:pPr>
            <a:r>
              <a:rPr sz="1400" u="sng" spc="-10" dirty="0">
                <a:uFill>
                  <a:solidFill>
                    <a:srgbClr val="000000"/>
                  </a:solidFill>
                </a:uFill>
                <a:latin typeface="Times New Roman"/>
                <a:cs typeface="Times New Roman"/>
              </a:rPr>
              <a:t>NIM </a:t>
            </a:r>
            <a:r>
              <a:rPr sz="1400" spc="-5" dirty="0">
                <a:latin typeface="Times New Roman"/>
                <a:cs typeface="Times New Roman"/>
              </a:rPr>
              <a:t> </a:t>
            </a:r>
            <a:r>
              <a:rPr sz="1400" spc="-10" dirty="0">
                <a:latin typeface="Times New Roman"/>
                <a:cs typeface="Times New Roman"/>
              </a:rPr>
              <a:t>NAMA </a:t>
            </a:r>
            <a:r>
              <a:rPr sz="1400" spc="-5" dirty="0">
                <a:latin typeface="Times New Roman"/>
                <a:cs typeface="Times New Roman"/>
              </a:rPr>
              <a:t> </a:t>
            </a:r>
            <a:r>
              <a:rPr sz="1400" spc="-30" dirty="0">
                <a:latin typeface="Times New Roman"/>
                <a:cs typeface="Times New Roman"/>
              </a:rPr>
              <a:t>A</a:t>
            </a:r>
            <a:r>
              <a:rPr sz="1400" spc="-40" dirty="0">
                <a:latin typeface="Times New Roman"/>
                <a:cs typeface="Times New Roman"/>
              </a:rPr>
              <a:t>L</a:t>
            </a:r>
            <a:r>
              <a:rPr sz="1400" spc="-30" dirty="0">
                <a:latin typeface="Times New Roman"/>
                <a:cs typeface="Times New Roman"/>
              </a:rPr>
              <a:t>A</a:t>
            </a:r>
            <a:r>
              <a:rPr sz="1400" dirty="0">
                <a:latin typeface="Times New Roman"/>
                <a:cs typeface="Times New Roman"/>
              </a:rPr>
              <a:t>M</a:t>
            </a:r>
            <a:r>
              <a:rPr sz="1400" spc="-180" dirty="0">
                <a:latin typeface="Times New Roman"/>
                <a:cs typeface="Times New Roman"/>
              </a:rPr>
              <a:t>A</a:t>
            </a:r>
            <a:r>
              <a:rPr sz="1400" spc="-5" dirty="0">
                <a:latin typeface="Times New Roman"/>
                <a:cs typeface="Times New Roman"/>
              </a:rPr>
              <a:t>T</a:t>
            </a:r>
            <a:endParaRPr sz="1400">
              <a:latin typeface="Times New Roman"/>
              <a:cs typeface="Times New Roman"/>
            </a:endParaRPr>
          </a:p>
        </p:txBody>
      </p:sp>
      <p:sp>
        <p:nvSpPr>
          <p:cNvPr id="5" name="object 5"/>
          <p:cNvSpPr txBox="1"/>
          <p:nvPr/>
        </p:nvSpPr>
        <p:spPr>
          <a:xfrm>
            <a:off x="5794375" y="5647131"/>
            <a:ext cx="1102360" cy="664845"/>
          </a:xfrm>
          <a:prstGeom prst="rect">
            <a:avLst/>
          </a:prstGeom>
        </p:spPr>
        <p:txBody>
          <a:bodyPr vert="horz" wrap="square" lIns="0" tIns="11430" rIns="0" bIns="0" rtlCol="0">
            <a:spAutoFit/>
          </a:bodyPr>
          <a:lstStyle/>
          <a:p>
            <a:pPr marL="12700" marR="5080" algn="just">
              <a:lnSpc>
                <a:spcPct val="100000"/>
              </a:lnSpc>
              <a:spcBef>
                <a:spcPts val="90"/>
              </a:spcBef>
            </a:pPr>
            <a:r>
              <a:rPr sz="1400" u="sng" spc="-30" dirty="0">
                <a:uFill>
                  <a:solidFill>
                    <a:srgbClr val="000000"/>
                  </a:solidFill>
                </a:uFill>
                <a:latin typeface="Times New Roman"/>
                <a:cs typeface="Times New Roman"/>
              </a:rPr>
              <a:t>KD-MATKUL </a:t>
            </a:r>
            <a:r>
              <a:rPr sz="1400" spc="-340" dirty="0">
                <a:latin typeface="Times New Roman"/>
                <a:cs typeface="Times New Roman"/>
              </a:rPr>
              <a:t> </a:t>
            </a:r>
            <a:r>
              <a:rPr sz="1400" spc="-10" dirty="0">
                <a:latin typeface="Times New Roman"/>
                <a:cs typeface="Times New Roman"/>
              </a:rPr>
              <a:t>N</a:t>
            </a:r>
            <a:r>
              <a:rPr sz="1400" dirty="0">
                <a:latin typeface="Times New Roman"/>
                <a:cs typeface="Times New Roman"/>
              </a:rPr>
              <a:t>M</a:t>
            </a:r>
            <a:r>
              <a:rPr sz="1400" spc="-15" dirty="0">
                <a:latin typeface="Times New Roman"/>
                <a:cs typeface="Times New Roman"/>
              </a:rPr>
              <a:t>-</a:t>
            </a:r>
            <a:r>
              <a:rPr sz="1400" spc="-5" dirty="0">
                <a:latin typeface="Times New Roman"/>
                <a:cs typeface="Times New Roman"/>
              </a:rPr>
              <a:t>M</a:t>
            </a:r>
            <a:r>
              <a:rPr sz="1400" spc="-180" dirty="0">
                <a:latin typeface="Times New Roman"/>
                <a:cs typeface="Times New Roman"/>
              </a:rPr>
              <a:t>A</a:t>
            </a:r>
            <a:r>
              <a:rPr sz="1400" spc="-20" dirty="0">
                <a:latin typeface="Times New Roman"/>
                <a:cs typeface="Times New Roman"/>
              </a:rPr>
              <a:t>T</a:t>
            </a:r>
            <a:r>
              <a:rPr sz="1400" spc="-35" dirty="0">
                <a:latin typeface="Times New Roman"/>
                <a:cs typeface="Times New Roman"/>
              </a:rPr>
              <a:t>K</a:t>
            </a:r>
            <a:r>
              <a:rPr sz="1400" spc="-5" dirty="0">
                <a:latin typeface="Times New Roman"/>
                <a:cs typeface="Times New Roman"/>
              </a:rPr>
              <a:t>UL  </a:t>
            </a:r>
            <a:r>
              <a:rPr sz="1400" spc="-20" dirty="0">
                <a:latin typeface="Times New Roman"/>
                <a:cs typeface="Times New Roman"/>
              </a:rPr>
              <a:t>SKS</a:t>
            </a:r>
            <a:endParaRPr sz="1400">
              <a:latin typeface="Times New Roman"/>
              <a:cs typeface="Times New Roman"/>
            </a:endParaRPr>
          </a:p>
        </p:txBody>
      </p:sp>
      <p:sp>
        <p:nvSpPr>
          <p:cNvPr id="6" name="object 6"/>
          <p:cNvSpPr txBox="1"/>
          <p:nvPr/>
        </p:nvSpPr>
        <p:spPr>
          <a:xfrm>
            <a:off x="2667000" y="5006975"/>
            <a:ext cx="1143000" cy="609600"/>
          </a:xfrm>
          <a:prstGeom prst="rect">
            <a:avLst/>
          </a:prstGeom>
          <a:ln w="12700">
            <a:solidFill>
              <a:srgbClr val="000000"/>
            </a:solidFill>
          </a:ln>
        </p:spPr>
        <p:txBody>
          <a:bodyPr vert="horz" wrap="square" lIns="0" tIns="3175" rIns="0" bIns="0" rtlCol="0">
            <a:spAutoFit/>
          </a:bodyPr>
          <a:lstStyle/>
          <a:p>
            <a:pPr>
              <a:lnSpc>
                <a:spcPct val="100000"/>
              </a:lnSpc>
              <a:spcBef>
                <a:spcPts val="25"/>
              </a:spcBef>
            </a:pPr>
            <a:endParaRPr sz="1300">
              <a:latin typeface="Times New Roman"/>
              <a:cs typeface="Times New Roman"/>
            </a:endParaRPr>
          </a:p>
          <a:p>
            <a:pPr marL="92075">
              <a:lnSpc>
                <a:spcPct val="100000"/>
              </a:lnSpc>
            </a:pPr>
            <a:r>
              <a:rPr sz="1400" spc="-35" dirty="0">
                <a:latin typeface="Times New Roman"/>
                <a:cs typeface="Times New Roman"/>
              </a:rPr>
              <a:t>MHSISWA</a:t>
            </a:r>
            <a:endParaRPr sz="1400">
              <a:latin typeface="Times New Roman"/>
              <a:cs typeface="Times New Roman"/>
            </a:endParaRPr>
          </a:p>
        </p:txBody>
      </p:sp>
      <p:sp>
        <p:nvSpPr>
          <p:cNvPr id="7" name="object 7"/>
          <p:cNvSpPr txBox="1"/>
          <p:nvPr/>
        </p:nvSpPr>
        <p:spPr>
          <a:xfrm>
            <a:off x="5730875" y="5006975"/>
            <a:ext cx="1143000" cy="609600"/>
          </a:xfrm>
          <a:prstGeom prst="rect">
            <a:avLst/>
          </a:prstGeom>
          <a:ln w="12700">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marL="59055">
              <a:lnSpc>
                <a:spcPct val="100000"/>
              </a:lnSpc>
            </a:pPr>
            <a:r>
              <a:rPr sz="1400" spc="-30" dirty="0">
                <a:latin typeface="Times New Roman"/>
                <a:cs typeface="Times New Roman"/>
              </a:rPr>
              <a:t>MT-KULIAH</a:t>
            </a:r>
            <a:endParaRPr sz="1400">
              <a:latin typeface="Times New Roman"/>
              <a:cs typeface="Times New Roman"/>
            </a:endParaRPr>
          </a:p>
        </p:txBody>
      </p:sp>
      <p:sp>
        <p:nvSpPr>
          <p:cNvPr id="8" name="object 8"/>
          <p:cNvSpPr txBox="1"/>
          <p:nvPr/>
        </p:nvSpPr>
        <p:spPr>
          <a:xfrm>
            <a:off x="4492497" y="5189677"/>
            <a:ext cx="445134"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I</a:t>
            </a:r>
            <a:r>
              <a:rPr sz="1400" spc="-30" dirty="0">
                <a:latin typeface="Times New Roman"/>
                <a:cs typeface="Times New Roman"/>
              </a:rPr>
              <a:t>K</a:t>
            </a:r>
            <a:r>
              <a:rPr sz="1400" spc="-5" dirty="0">
                <a:latin typeface="Times New Roman"/>
                <a:cs typeface="Times New Roman"/>
              </a:rPr>
              <a:t>UT</a:t>
            </a:r>
            <a:endParaRPr sz="1400">
              <a:latin typeface="Times New Roman"/>
              <a:cs typeface="Times New Roman"/>
            </a:endParaRPr>
          </a:p>
        </p:txBody>
      </p:sp>
      <p:grpSp>
        <p:nvGrpSpPr>
          <p:cNvPr id="9" name="object 9"/>
          <p:cNvGrpSpPr/>
          <p:nvPr/>
        </p:nvGrpSpPr>
        <p:grpSpPr>
          <a:xfrm>
            <a:off x="3810000" y="5000625"/>
            <a:ext cx="1905000" cy="622300"/>
            <a:chOff x="3810000" y="5000625"/>
            <a:chExt cx="1905000" cy="622300"/>
          </a:xfrm>
        </p:grpSpPr>
        <p:sp>
          <p:nvSpPr>
            <p:cNvPr id="10" name="object 10"/>
            <p:cNvSpPr/>
            <p:nvPr/>
          </p:nvSpPr>
          <p:spPr>
            <a:xfrm>
              <a:off x="4191000" y="5006975"/>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11" name="object 11"/>
            <p:cNvSpPr/>
            <p:nvPr/>
          </p:nvSpPr>
          <p:spPr>
            <a:xfrm>
              <a:off x="3810000" y="5311775"/>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12" name="object 12"/>
          <p:cNvSpPr txBox="1"/>
          <p:nvPr/>
        </p:nvSpPr>
        <p:spPr>
          <a:xfrm>
            <a:off x="3874389" y="5048503"/>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13" name="object 13"/>
          <p:cNvSpPr txBox="1"/>
          <p:nvPr/>
        </p:nvSpPr>
        <p:spPr>
          <a:xfrm>
            <a:off x="5551423" y="5048503"/>
            <a:ext cx="153035"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N</a:t>
            </a:r>
            <a:endParaRPr sz="1400">
              <a:latin typeface="Times New Roman"/>
              <a:cs typeface="Times New Roman"/>
            </a:endParaRPr>
          </a:p>
        </p:txBody>
      </p:sp>
      <p:sp>
        <p:nvSpPr>
          <p:cNvPr id="14" name="object 14"/>
          <p:cNvSpPr txBox="1"/>
          <p:nvPr/>
        </p:nvSpPr>
        <p:spPr>
          <a:xfrm>
            <a:off x="4331589" y="5658408"/>
            <a:ext cx="1072515" cy="664845"/>
          </a:xfrm>
          <a:prstGeom prst="rect">
            <a:avLst/>
          </a:prstGeom>
        </p:spPr>
        <p:txBody>
          <a:bodyPr vert="horz" wrap="square" lIns="0" tIns="11430" rIns="0" bIns="0" rtlCol="0">
            <a:spAutoFit/>
          </a:bodyPr>
          <a:lstStyle/>
          <a:p>
            <a:pPr marL="12700">
              <a:lnSpc>
                <a:spcPct val="100000"/>
              </a:lnSpc>
              <a:spcBef>
                <a:spcPts val="90"/>
              </a:spcBef>
            </a:pPr>
            <a:r>
              <a:rPr sz="1400" u="sng" spc="-10" dirty="0">
                <a:uFill>
                  <a:solidFill>
                    <a:srgbClr val="000000"/>
                  </a:solidFill>
                </a:uFill>
                <a:latin typeface="Times New Roman"/>
                <a:cs typeface="Times New Roman"/>
              </a:rPr>
              <a:t>NIM</a:t>
            </a:r>
            <a:endParaRPr sz="1400">
              <a:latin typeface="Times New Roman"/>
              <a:cs typeface="Times New Roman"/>
            </a:endParaRPr>
          </a:p>
          <a:p>
            <a:pPr marL="12700">
              <a:lnSpc>
                <a:spcPct val="100000"/>
              </a:lnSpc>
            </a:pPr>
            <a:r>
              <a:rPr sz="1400" u="sng" spc="-35" dirty="0">
                <a:uFill>
                  <a:solidFill>
                    <a:srgbClr val="000000"/>
                  </a:solidFill>
                </a:uFill>
                <a:latin typeface="Times New Roman"/>
                <a:cs typeface="Times New Roman"/>
              </a:rPr>
              <a:t>K</a:t>
            </a:r>
            <a:r>
              <a:rPr sz="1400" u="sng" spc="-5" dirty="0">
                <a:uFill>
                  <a:solidFill>
                    <a:srgbClr val="000000"/>
                  </a:solidFill>
                </a:uFill>
                <a:latin typeface="Times New Roman"/>
                <a:cs typeface="Times New Roman"/>
              </a:rPr>
              <a:t>D</a:t>
            </a:r>
            <a:r>
              <a:rPr sz="1400" u="sng" spc="-15" dirty="0">
                <a:uFill>
                  <a:solidFill>
                    <a:srgbClr val="000000"/>
                  </a:solidFill>
                </a:uFill>
                <a:latin typeface="Times New Roman"/>
                <a:cs typeface="Times New Roman"/>
              </a:rPr>
              <a:t>-</a:t>
            </a:r>
            <a:r>
              <a:rPr sz="1400" u="sng" spc="-5" dirty="0">
                <a:uFill>
                  <a:solidFill>
                    <a:srgbClr val="000000"/>
                  </a:solidFill>
                </a:uFill>
                <a:latin typeface="Times New Roman"/>
                <a:cs typeface="Times New Roman"/>
              </a:rPr>
              <a:t>M</a:t>
            </a:r>
            <a:r>
              <a:rPr sz="1400" u="sng" spc="-180" dirty="0">
                <a:uFill>
                  <a:solidFill>
                    <a:srgbClr val="000000"/>
                  </a:solidFill>
                </a:uFill>
                <a:latin typeface="Times New Roman"/>
                <a:cs typeface="Times New Roman"/>
              </a:rPr>
              <a:t>A</a:t>
            </a:r>
            <a:r>
              <a:rPr sz="1400" u="sng" spc="-20" dirty="0">
                <a:uFill>
                  <a:solidFill>
                    <a:srgbClr val="000000"/>
                  </a:solidFill>
                </a:uFill>
                <a:latin typeface="Times New Roman"/>
                <a:cs typeface="Times New Roman"/>
              </a:rPr>
              <a:t>T</a:t>
            </a:r>
            <a:r>
              <a:rPr sz="1400" u="sng" spc="-35" dirty="0">
                <a:uFill>
                  <a:solidFill>
                    <a:srgbClr val="000000"/>
                  </a:solidFill>
                </a:uFill>
                <a:latin typeface="Times New Roman"/>
                <a:cs typeface="Times New Roman"/>
              </a:rPr>
              <a:t>K</a:t>
            </a:r>
            <a:r>
              <a:rPr sz="1400" u="sng" spc="15" dirty="0">
                <a:uFill>
                  <a:solidFill>
                    <a:srgbClr val="000000"/>
                  </a:solidFill>
                </a:uFill>
                <a:latin typeface="Times New Roman"/>
                <a:cs typeface="Times New Roman"/>
              </a:rPr>
              <a:t>U</a:t>
            </a:r>
            <a:r>
              <a:rPr sz="1400" u="sng" spc="-5" dirty="0">
                <a:uFill>
                  <a:solidFill>
                    <a:srgbClr val="000000"/>
                  </a:solidFill>
                </a:uFill>
                <a:latin typeface="Times New Roman"/>
                <a:cs typeface="Times New Roman"/>
              </a:rPr>
              <a:t>L</a:t>
            </a:r>
            <a:endParaRPr sz="1400">
              <a:latin typeface="Times New Roman"/>
              <a:cs typeface="Times New Roman"/>
            </a:endParaRPr>
          </a:p>
          <a:p>
            <a:pPr marL="12700">
              <a:lnSpc>
                <a:spcPct val="100000"/>
              </a:lnSpc>
              <a:spcBef>
                <a:spcPts val="5"/>
              </a:spcBef>
            </a:pPr>
            <a:r>
              <a:rPr sz="1400" spc="-20" dirty="0">
                <a:latin typeface="Times New Roman"/>
                <a:cs typeface="Times New Roman"/>
              </a:rPr>
              <a:t>NILAI</a:t>
            </a:r>
            <a:endParaRPr sz="1400">
              <a:latin typeface="Times New Roman"/>
              <a:cs typeface="Times New Roman"/>
            </a:endParaRPr>
          </a:p>
        </p:txBody>
      </p:sp>
      <p:sp>
        <p:nvSpPr>
          <p:cNvPr id="15" name="object 15"/>
          <p:cNvSpPr txBox="1"/>
          <p:nvPr/>
        </p:nvSpPr>
        <p:spPr>
          <a:xfrm>
            <a:off x="2667000" y="1273175"/>
            <a:ext cx="1143000" cy="609600"/>
          </a:xfrm>
          <a:prstGeom prst="rect">
            <a:avLst/>
          </a:prstGeom>
          <a:ln w="12700">
            <a:solidFill>
              <a:srgbClr val="000000"/>
            </a:solidFill>
          </a:ln>
        </p:spPr>
        <p:txBody>
          <a:bodyPr vert="horz" wrap="square" lIns="0" tIns="1905" rIns="0" bIns="0" rtlCol="0">
            <a:spAutoFit/>
          </a:bodyPr>
          <a:lstStyle/>
          <a:p>
            <a:pPr>
              <a:lnSpc>
                <a:spcPct val="100000"/>
              </a:lnSpc>
              <a:spcBef>
                <a:spcPts val="15"/>
              </a:spcBef>
            </a:pPr>
            <a:endParaRPr sz="1300">
              <a:latin typeface="Times New Roman"/>
              <a:cs typeface="Times New Roman"/>
            </a:endParaRPr>
          </a:p>
          <a:p>
            <a:pPr marL="92075">
              <a:lnSpc>
                <a:spcPct val="100000"/>
              </a:lnSpc>
            </a:pPr>
            <a:r>
              <a:rPr sz="1400" spc="-55" dirty="0">
                <a:latin typeface="Times New Roman"/>
                <a:cs typeface="Times New Roman"/>
              </a:rPr>
              <a:t>PEGAWAI</a:t>
            </a:r>
            <a:endParaRPr sz="1400">
              <a:latin typeface="Times New Roman"/>
              <a:cs typeface="Times New Roman"/>
            </a:endParaRPr>
          </a:p>
        </p:txBody>
      </p:sp>
      <p:sp>
        <p:nvSpPr>
          <p:cNvPr id="16" name="object 16"/>
          <p:cNvSpPr txBox="1"/>
          <p:nvPr/>
        </p:nvSpPr>
        <p:spPr>
          <a:xfrm>
            <a:off x="5730875" y="1273175"/>
            <a:ext cx="1143000" cy="609600"/>
          </a:xfrm>
          <a:prstGeom prst="rect">
            <a:avLst/>
          </a:prstGeom>
          <a:ln w="12700">
            <a:solidFill>
              <a:srgbClr val="000000"/>
            </a:solidFill>
          </a:ln>
        </p:spPr>
        <p:txBody>
          <a:bodyPr vert="horz" wrap="square" lIns="0" tIns="5080" rIns="0" bIns="0" rtlCol="0">
            <a:spAutoFit/>
          </a:bodyPr>
          <a:lstStyle/>
          <a:p>
            <a:pPr>
              <a:lnSpc>
                <a:spcPct val="100000"/>
              </a:lnSpc>
              <a:spcBef>
                <a:spcPts val="40"/>
              </a:spcBef>
            </a:pPr>
            <a:endParaRPr sz="1350">
              <a:latin typeface="Times New Roman"/>
              <a:cs typeface="Times New Roman"/>
            </a:endParaRPr>
          </a:p>
          <a:p>
            <a:pPr marL="172085">
              <a:lnSpc>
                <a:spcPct val="100000"/>
              </a:lnSpc>
              <a:spcBef>
                <a:spcPts val="5"/>
              </a:spcBef>
            </a:pPr>
            <a:r>
              <a:rPr sz="1400" spc="-60" dirty="0">
                <a:latin typeface="Times New Roman"/>
                <a:cs typeface="Times New Roman"/>
              </a:rPr>
              <a:t>JABATAN</a:t>
            </a:r>
            <a:endParaRPr sz="1400">
              <a:latin typeface="Times New Roman"/>
              <a:cs typeface="Times New Roman"/>
            </a:endParaRPr>
          </a:p>
        </p:txBody>
      </p:sp>
      <p:sp>
        <p:nvSpPr>
          <p:cNvPr id="17" name="object 17"/>
          <p:cNvSpPr txBox="1"/>
          <p:nvPr/>
        </p:nvSpPr>
        <p:spPr>
          <a:xfrm>
            <a:off x="4414265" y="1454276"/>
            <a:ext cx="61658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10" dirty="0">
                <a:latin typeface="Times New Roman"/>
                <a:cs typeface="Times New Roman"/>
              </a:rPr>
              <a:t>UN</a:t>
            </a:r>
            <a:r>
              <a:rPr sz="1400" spc="-155" dirty="0">
                <a:latin typeface="Times New Roman"/>
                <a:cs typeface="Times New Roman"/>
              </a:rPr>
              <a:t>Y</a:t>
            </a:r>
            <a:r>
              <a:rPr sz="1400" spc="-10" dirty="0">
                <a:latin typeface="Times New Roman"/>
                <a:cs typeface="Times New Roman"/>
              </a:rPr>
              <a:t>A</a:t>
            </a:r>
            <a:endParaRPr sz="1400">
              <a:latin typeface="Times New Roman"/>
              <a:cs typeface="Times New Roman"/>
            </a:endParaRPr>
          </a:p>
        </p:txBody>
      </p:sp>
      <p:grpSp>
        <p:nvGrpSpPr>
          <p:cNvPr id="18" name="object 18"/>
          <p:cNvGrpSpPr/>
          <p:nvPr/>
        </p:nvGrpSpPr>
        <p:grpSpPr>
          <a:xfrm>
            <a:off x="3810000" y="1266825"/>
            <a:ext cx="1905000" cy="622300"/>
            <a:chOff x="3810000" y="1266825"/>
            <a:chExt cx="1905000" cy="622300"/>
          </a:xfrm>
        </p:grpSpPr>
        <p:sp>
          <p:nvSpPr>
            <p:cNvPr id="19" name="object 19"/>
            <p:cNvSpPr/>
            <p:nvPr/>
          </p:nvSpPr>
          <p:spPr>
            <a:xfrm>
              <a:off x="4191000" y="1273175"/>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20" name="object 20"/>
            <p:cNvSpPr/>
            <p:nvPr/>
          </p:nvSpPr>
          <p:spPr>
            <a:xfrm>
              <a:off x="3810000" y="1577975"/>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21" name="object 21"/>
          <p:cNvSpPr txBox="1"/>
          <p:nvPr/>
        </p:nvSpPr>
        <p:spPr>
          <a:xfrm>
            <a:off x="3874389" y="1312925"/>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22" name="object 22"/>
          <p:cNvSpPr txBox="1"/>
          <p:nvPr/>
        </p:nvSpPr>
        <p:spPr>
          <a:xfrm>
            <a:off x="5551423" y="1312925"/>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23" name="object 23"/>
          <p:cNvSpPr txBox="1"/>
          <p:nvPr/>
        </p:nvSpPr>
        <p:spPr>
          <a:xfrm>
            <a:off x="2807335" y="1922780"/>
            <a:ext cx="752475" cy="664845"/>
          </a:xfrm>
          <a:prstGeom prst="rect">
            <a:avLst/>
          </a:prstGeom>
        </p:spPr>
        <p:txBody>
          <a:bodyPr vert="horz" wrap="square" lIns="0" tIns="11430" rIns="0" bIns="0" rtlCol="0">
            <a:spAutoFit/>
          </a:bodyPr>
          <a:lstStyle/>
          <a:p>
            <a:pPr marL="12700" marR="5080">
              <a:lnSpc>
                <a:spcPct val="100000"/>
              </a:lnSpc>
              <a:spcBef>
                <a:spcPts val="90"/>
              </a:spcBef>
            </a:pPr>
            <a:r>
              <a:rPr sz="1400" u="sng" spc="-15" dirty="0">
                <a:uFill>
                  <a:solidFill>
                    <a:srgbClr val="000000"/>
                  </a:solidFill>
                </a:uFill>
                <a:latin typeface="Times New Roman"/>
                <a:cs typeface="Times New Roman"/>
              </a:rPr>
              <a:t>NO-PEG </a:t>
            </a:r>
            <a:r>
              <a:rPr sz="1400" spc="-10" dirty="0">
                <a:latin typeface="Times New Roman"/>
                <a:cs typeface="Times New Roman"/>
              </a:rPr>
              <a:t> NAMA </a:t>
            </a:r>
            <a:r>
              <a:rPr sz="1400" spc="-5" dirty="0">
                <a:latin typeface="Times New Roman"/>
                <a:cs typeface="Times New Roman"/>
              </a:rPr>
              <a:t> </a:t>
            </a:r>
            <a:r>
              <a:rPr sz="1400" spc="-35" dirty="0">
                <a:latin typeface="Times New Roman"/>
                <a:cs typeface="Times New Roman"/>
              </a:rPr>
              <a:t>A</a:t>
            </a:r>
            <a:r>
              <a:rPr sz="1400" spc="-40" dirty="0">
                <a:latin typeface="Times New Roman"/>
                <a:cs typeface="Times New Roman"/>
              </a:rPr>
              <a:t>L</a:t>
            </a:r>
            <a:r>
              <a:rPr sz="1400" spc="-35" dirty="0">
                <a:latin typeface="Times New Roman"/>
                <a:cs typeface="Times New Roman"/>
              </a:rPr>
              <a:t>A</a:t>
            </a:r>
            <a:r>
              <a:rPr sz="1400" spc="-5" dirty="0">
                <a:latin typeface="Times New Roman"/>
                <a:cs typeface="Times New Roman"/>
              </a:rPr>
              <a:t>M</a:t>
            </a:r>
            <a:r>
              <a:rPr sz="1400" spc="-180" dirty="0">
                <a:latin typeface="Times New Roman"/>
                <a:cs typeface="Times New Roman"/>
              </a:rPr>
              <a:t>A</a:t>
            </a:r>
            <a:r>
              <a:rPr sz="1400" spc="-5" dirty="0">
                <a:latin typeface="Times New Roman"/>
                <a:cs typeface="Times New Roman"/>
              </a:rPr>
              <a:t>T</a:t>
            </a:r>
            <a:endParaRPr sz="1400">
              <a:latin typeface="Times New Roman"/>
              <a:cs typeface="Times New Roman"/>
            </a:endParaRPr>
          </a:p>
        </p:txBody>
      </p:sp>
      <p:sp>
        <p:nvSpPr>
          <p:cNvPr id="24" name="object 24"/>
          <p:cNvSpPr txBox="1"/>
          <p:nvPr/>
        </p:nvSpPr>
        <p:spPr>
          <a:xfrm>
            <a:off x="5780023" y="1922780"/>
            <a:ext cx="1091565" cy="664845"/>
          </a:xfrm>
          <a:prstGeom prst="rect">
            <a:avLst/>
          </a:prstGeom>
        </p:spPr>
        <p:txBody>
          <a:bodyPr vert="horz" wrap="square" lIns="0" tIns="11430" rIns="0" bIns="0" rtlCol="0">
            <a:spAutoFit/>
          </a:bodyPr>
          <a:lstStyle/>
          <a:p>
            <a:pPr marL="12700" marR="5080">
              <a:lnSpc>
                <a:spcPct val="100000"/>
              </a:lnSpc>
              <a:spcBef>
                <a:spcPts val="90"/>
              </a:spcBef>
            </a:pPr>
            <a:r>
              <a:rPr sz="1400" u="sng" spc="-15" dirty="0">
                <a:uFill>
                  <a:solidFill>
                    <a:srgbClr val="000000"/>
                  </a:solidFill>
                </a:uFill>
                <a:latin typeface="Times New Roman"/>
                <a:cs typeface="Times New Roman"/>
              </a:rPr>
              <a:t>KD-JAB </a:t>
            </a:r>
            <a:r>
              <a:rPr sz="1400" spc="-10" dirty="0">
                <a:latin typeface="Times New Roman"/>
                <a:cs typeface="Times New Roman"/>
              </a:rPr>
              <a:t> </a:t>
            </a:r>
            <a:r>
              <a:rPr sz="1400" spc="-15" dirty="0">
                <a:latin typeface="Times New Roman"/>
                <a:cs typeface="Times New Roman"/>
              </a:rPr>
              <a:t>URAIAN </a:t>
            </a:r>
            <a:r>
              <a:rPr sz="1400" spc="-10" dirty="0">
                <a:latin typeface="Times New Roman"/>
                <a:cs typeface="Times New Roman"/>
              </a:rPr>
              <a:t> </a:t>
            </a:r>
            <a:r>
              <a:rPr sz="1400" spc="-20" dirty="0">
                <a:latin typeface="Times New Roman"/>
                <a:cs typeface="Times New Roman"/>
              </a:rPr>
              <a:t>T</a:t>
            </a:r>
            <a:r>
              <a:rPr sz="1400" spc="-10" dirty="0">
                <a:latin typeface="Times New Roman"/>
                <a:cs typeface="Times New Roman"/>
              </a:rPr>
              <a:t>UN</a:t>
            </a:r>
            <a:r>
              <a:rPr sz="1400" dirty="0">
                <a:latin typeface="Times New Roman"/>
                <a:cs typeface="Times New Roman"/>
              </a:rPr>
              <a:t>J</a:t>
            </a:r>
            <a:r>
              <a:rPr sz="1400" spc="-35" dirty="0">
                <a:latin typeface="Times New Roman"/>
                <a:cs typeface="Times New Roman"/>
              </a:rPr>
              <a:t>A</a:t>
            </a:r>
            <a:r>
              <a:rPr sz="1400" spc="-10" dirty="0">
                <a:latin typeface="Times New Roman"/>
                <a:cs typeface="Times New Roman"/>
              </a:rPr>
              <a:t>NG</a:t>
            </a:r>
            <a:r>
              <a:rPr sz="1400" spc="-35" dirty="0">
                <a:latin typeface="Times New Roman"/>
                <a:cs typeface="Times New Roman"/>
              </a:rPr>
              <a:t>A</a:t>
            </a:r>
            <a:r>
              <a:rPr sz="1400" spc="-10" dirty="0">
                <a:latin typeface="Times New Roman"/>
                <a:cs typeface="Times New Roman"/>
              </a:rPr>
              <a:t>N</a:t>
            </a:r>
            <a:endParaRPr sz="1400">
              <a:latin typeface="Times New Roman"/>
              <a:cs typeface="Times New Roman"/>
            </a:endParaRPr>
          </a:p>
        </p:txBody>
      </p:sp>
      <p:sp>
        <p:nvSpPr>
          <p:cNvPr id="25" name="object 25"/>
          <p:cNvSpPr txBox="1"/>
          <p:nvPr/>
        </p:nvSpPr>
        <p:spPr>
          <a:xfrm>
            <a:off x="4407789" y="1922780"/>
            <a:ext cx="671830" cy="451484"/>
          </a:xfrm>
          <a:prstGeom prst="rect">
            <a:avLst/>
          </a:prstGeom>
        </p:spPr>
        <p:txBody>
          <a:bodyPr vert="horz" wrap="square" lIns="0" tIns="11430" rIns="0" bIns="0" rtlCol="0">
            <a:spAutoFit/>
          </a:bodyPr>
          <a:lstStyle/>
          <a:p>
            <a:pPr marL="12700">
              <a:lnSpc>
                <a:spcPct val="100000"/>
              </a:lnSpc>
              <a:spcBef>
                <a:spcPts val="90"/>
              </a:spcBef>
            </a:pPr>
            <a:r>
              <a:rPr sz="1400" u="sng" spc="-5" dirty="0">
                <a:uFill>
                  <a:solidFill>
                    <a:srgbClr val="000000"/>
                  </a:solidFill>
                </a:uFill>
                <a:latin typeface="Times New Roman"/>
                <a:cs typeface="Times New Roman"/>
              </a:rPr>
              <a:t>N</a:t>
            </a:r>
            <a:r>
              <a:rPr sz="1400" u="sng" spc="-10" dirty="0">
                <a:uFill>
                  <a:solidFill>
                    <a:srgbClr val="000000"/>
                  </a:solidFill>
                </a:uFill>
                <a:latin typeface="Times New Roman"/>
                <a:cs typeface="Times New Roman"/>
              </a:rPr>
              <a:t>O</a:t>
            </a:r>
            <a:r>
              <a:rPr sz="1400" u="sng" spc="-15" dirty="0">
                <a:uFill>
                  <a:solidFill>
                    <a:srgbClr val="000000"/>
                  </a:solidFill>
                </a:uFill>
                <a:latin typeface="Times New Roman"/>
                <a:cs typeface="Times New Roman"/>
              </a:rPr>
              <a:t>-P</a:t>
            </a:r>
            <a:r>
              <a:rPr sz="1400" u="sng" spc="-20" dirty="0">
                <a:uFill>
                  <a:solidFill>
                    <a:srgbClr val="000000"/>
                  </a:solidFill>
                </a:uFill>
                <a:latin typeface="Times New Roman"/>
                <a:cs typeface="Times New Roman"/>
              </a:rPr>
              <a:t>E</a:t>
            </a:r>
            <a:r>
              <a:rPr sz="1400" u="sng" spc="-10" dirty="0">
                <a:uFill>
                  <a:solidFill>
                    <a:srgbClr val="000000"/>
                  </a:solidFill>
                </a:uFill>
                <a:latin typeface="Times New Roman"/>
                <a:cs typeface="Times New Roman"/>
              </a:rPr>
              <a:t>G</a:t>
            </a:r>
            <a:endParaRPr sz="1400">
              <a:latin typeface="Times New Roman"/>
              <a:cs typeface="Times New Roman"/>
            </a:endParaRPr>
          </a:p>
          <a:p>
            <a:pPr marL="12700">
              <a:lnSpc>
                <a:spcPct val="100000"/>
              </a:lnSpc>
              <a:spcBef>
                <a:spcPts val="5"/>
              </a:spcBef>
            </a:pPr>
            <a:r>
              <a:rPr sz="1400" u="sng" spc="-15" dirty="0">
                <a:uFill>
                  <a:solidFill>
                    <a:srgbClr val="000000"/>
                  </a:solidFill>
                </a:uFill>
                <a:latin typeface="Times New Roman"/>
                <a:cs typeface="Times New Roman"/>
              </a:rPr>
              <a:t>KD-JAB</a:t>
            </a:r>
            <a:endParaRPr sz="1400">
              <a:latin typeface="Times New Roman"/>
              <a:cs typeface="Times New Roman"/>
            </a:endParaRPr>
          </a:p>
        </p:txBody>
      </p:sp>
      <p:sp>
        <p:nvSpPr>
          <p:cNvPr id="26" name="object 26"/>
          <p:cNvSpPr txBox="1"/>
          <p:nvPr/>
        </p:nvSpPr>
        <p:spPr>
          <a:xfrm>
            <a:off x="2681351" y="3025775"/>
            <a:ext cx="1143000" cy="609600"/>
          </a:xfrm>
          <a:prstGeom prst="rect">
            <a:avLst/>
          </a:prstGeom>
          <a:ln w="12700">
            <a:solidFill>
              <a:srgbClr val="000000"/>
            </a:solidFill>
          </a:ln>
        </p:spPr>
        <p:txBody>
          <a:bodyPr vert="horz" wrap="square" lIns="0" tIns="2540" rIns="0" bIns="0" rtlCol="0">
            <a:spAutoFit/>
          </a:bodyPr>
          <a:lstStyle/>
          <a:p>
            <a:pPr>
              <a:lnSpc>
                <a:spcPct val="100000"/>
              </a:lnSpc>
              <a:spcBef>
                <a:spcPts val="20"/>
              </a:spcBef>
            </a:pPr>
            <a:endParaRPr sz="1300">
              <a:latin typeface="Times New Roman"/>
              <a:cs typeface="Times New Roman"/>
            </a:endParaRPr>
          </a:p>
          <a:p>
            <a:pPr marL="92075">
              <a:lnSpc>
                <a:spcPct val="100000"/>
              </a:lnSpc>
            </a:pPr>
            <a:r>
              <a:rPr sz="1400" spc="-10" dirty="0">
                <a:latin typeface="Times New Roman"/>
                <a:cs typeface="Times New Roman"/>
              </a:rPr>
              <a:t>PROYEK</a:t>
            </a:r>
            <a:endParaRPr sz="1400">
              <a:latin typeface="Times New Roman"/>
              <a:cs typeface="Times New Roman"/>
            </a:endParaRPr>
          </a:p>
        </p:txBody>
      </p:sp>
      <p:sp>
        <p:nvSpPr>
          <p:cNvPr id="27" name="object 27"/>
          <p:cNvSpPr txBox="1"/>
          <p:nvPr/>
        </p:nvSpPr>
        <p:spPr>
          <a:xfrm>
            <a:off x="5745226" y="3025775"/>
            <a:ext cx="1143000" cy="609600"/>
          </a:xfrm>
          <a:prstGeom prst="rect">
            <a:avLst/>
          </a:prstGeom>
          <a:ln w="12700">
            <a:solidFill>
              <a:srgbClr val="000000"/>
            </a:solidFill>
          </a:ln>
        </p:spPr>
        <p:txBody>
          <a:bodyPr vert="horz" wrap="square" lIns="0" tIns="6350" rIns="0" bIns="0" rtlCol="0">
            <a:spAutoFit/>
          </a:bodyPr>
          <a:lstStyle/>
          <a:p>
            <a:pPr>
              <a:lnSpc>
                <a:spcPct val="100000"/>
              </a:lnSpc>
              <a:spcBef>
                <a:spcPts val="50"/>
              </a:spcBef>
            </a:pPr>
            <a:endParaRPr sz="1350">
              <a:latin typeface="Times New Roman"/>
              <a:cs typeface="Times New Roman"/>
            </a:endParaRPr>
          </a:p>
          <a:p>
            <a:pPr marL="162560">
              <a:lnSpc>
                <a:spcPct val="100000"/>
              </a:lnSpc>
            </a:pPr>
            <a:r>
              <a:rPr sz="1400" spc="-55" dirty="0">
                <a:latin typeface="Times New Roman"/>
                <a:cs typeface="Times New Roman"/>
              </a:rPr>
              <a:t>PEGAWAI</a:t>
            </a:r>
            <a:endParaRPr sz="1400">
              <a:latin typeface="Times New Roman"/>
              <a:cs typeface="Times New Roman"/>
            </a:endParaRPr>
          </a:p>
        </p:txBody>
      </p:sp>
      <p:sp>
        <p:nvSpPr>
          <p:cNvPr id="28" name="object 28"/>
          <p:cNvSpPr txBox="1"/>
          <p:nvPr/>
        </p:nvSpPr>
        <p:spPr>
          <a:xfrm>
            <a:off x="4445889" y="3207766"/>
            <a:ext cx="573405" cy="238125"/>
          </a:xfrm>
          <a:prstGeom prst="rect">
            <a:avLst/>
          </a:prstGeom>
        </p:spPr>
        <p:txBody>
          <a:bodyPr vert="horz" wrap="square" lIns="0" tIns="11430" rIns="0" bIns="0" rtlCol="0">
            <a:spAutoFit/>
          </a:bodyPr>
          <a:lstStyle/>
          <a:p>
            <a:pPr marL="12700">
              <a:lnSpc>
                <a:spcPct val="100000"/>
              </a:lnSpc>
              <a:spcBef>
                <a:spcPts val="90"/>
              </a:spcBef>
            </a:pPr>
            <a:r>
              <a:rPr sz="1400" spc="-35" dirty="0">
                <a:latin typeface="Times New Roman"/>
                <a:cs typeface="Times New Roman"/>
              </a:rPr>
              <a:t>K</a:t>
            </a:r>
            <a:r>
              <a:rPr sz="1400" spc="-20" dirty="0">
                <a:latin typeface="Times New Roman"/>
                <a:cs typeface="Times New Roman"/>
              </a:rPr>
              <a:t>E</a:t>
            </a:r>
            <a:r>
              <a:rPr sz="1400" spc="-5" dirty="0">
                <a:latin typeface="Times New Roman"/>
                <a:cs typeface="Times New Roman"/>
              </a:rPr>
              <a:t>R</a:t>
            </a:r>
            <a:r>
              <a:rPr sz="1400" dirty="0">
                <a:latin typeface="Times New Roman"/>
                <a:cs typeface="Times New Roman"/>
              </a:rPr>
              <a:t>J</a:t>
            </a:r>
            <a:r>
              <a:rPr sz="1400" spc="-10" dirty="0">
                <a:latin typeface="Times New Roman"/>
                <a:cs typeface="Times New Roman"/>
              </a:rPr>
              <a:t>A</a:t>
            </a:r>
            <a:endParaRPr sz="1400">
              <a:latin typeface="Times New Roman"/>
              <a:cs typeface="Times New Roman"/>
            </a:endParaRPr>
          </a:p>
        </p:txBody>
      </p:sp>
      <p:grpSp>
        <p:nvGrpSpPr>
          <p:cNvPr id="29" name="object 29"/>
          <p:cNvGrpSpPr/>
          <p:nvPr/>
        </p:nvGrpSpPr>
        <p:grpSpPr>
          <a:xfrm>
            <a:off x="3824351" y="3019425"/>
            <a:ext cx="1905000" cy="622300"/>
            <a:chOff x="3824351" y="3019425"/>
            <a:chExt cx="1905000" cy="622300"/>
          </a:xfrm>
        </p:grpSpPr>
        <p:sp>
          <p:nvSpPr>
            <p:cNvPr id="30" name="object 30"/>
            <p:cNvSpPr/>
            <p:nvPr/>
          </p:nvSpPr>
          <p:spPr>
            <a:xfrm>
              <a:off x="4205351" y="3025775"/>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31" name="object 31"/>
            <p:cNvSpPr/>
            <p:nvPr/>
          </p:nvSpPr>
          <p:spPr>
            <a:xfrm>
              <a:off x="3824351" y="3330575"/>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32" name="object 32"/>
          <p:cNvSpPr txBox="1"/>
          <p:nvPr/>
        </p:nvSpPr>
        <p:spPr>
          <a:xfrm>
            <a:off x="3888740" y="3066414"/>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33" name="object 33"/>
          <p:cNvSpPr txBox="1"/>
          <p:nvPr/>
        </p:nvSpPr>
        <p:spPr>
          <a:xfrm>
            <a:off x="5565775" y="3066414"/>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34" name="object 34"/>
          <p:cNvSpPr txBox="1"/>
          <p:nvPr/>
        </p:nvSpPr>
        <p:spPr>
          <a:xfrm>
            <a:off x="2745104" y="3752469"/>
            <a:ext cx="1033144" cy="664845"/>
          </a:xfrm>
          <a:prstGeom prst="rect">
            <a:avLst/>
          </a:prstGeom>
        </p:spPr>
        <p:txBody>
          <a:bodyPr vert="horz" wrap="square" lIns="0" tIns="11430" rIns="0" bIns="0" rtlCol="0">
            <a:spAutoFit/>
          </a:bodyPr>
          <a:lstStyle/>
          <a:p>
            <a:pPr marL="12700" marR="5080">
              <a:lnSpc>
                <a:spcPct val="100000"/>
              </a:lnSpc>
              <a:spcBef>
                <a:spcPts val="90"/>
              </a:spcBef>
            </a:pPr>
            <a:r>
              <a:rPr sz="1400" u="sng" spc="-15" dirty="0">
                <a:uFill>
                  <a:solidFill>
                    <a:srgbClr val="000000"/>
                  </a:solidFill>
                </a:uFill>
                <a:latin typeface="Times New Roman"/>
                <a:cs typeface="Times New Roman"/>
              </a:rPr>
              <a:t>KD-PROY </a:t>
            </a:r>
            <a:r>
              <a:rPr sz="1400" spc="-10" dirty="0">
                <a:latin typeface="Times New Roman"/>
                <a:cs typeface="Times New Roman"/>
              </a:rPr>
              <a:t> NM-PROY </a:t>
            </a:r>
            <a:r>
              <a:rPr sz="1400" spc="-5" dirty="0">
                <a:latin typeface="Times New Roman"/>
                <a:cs typeface="Times New Roman"/>
              </a:rPr>
              <a:t> </a:t>
            </a:r>
            <a:r>
              <a:rPr sz="1400" spc="-30" dirty="0">
                <a:latin typeface="Times New Roman"/>
                <a:cs typeface="Times New Roman"/>
              </a:rPr>
              <a:t>A</a:t>
            </a:r>
            <a:r>
              <a:rPr sz="1400" spc="-5" dirty="0">
                <a:latin typeface="Times New Roman"/>
                <a:cs typeface="Times New Roman"/>
              </a:rPr>
              <a:t>N</a:t>
            </a:r>
            <a:r>
              <a:rPr sz="1400" dirty="0">
                <a:latin typeface="Times New Roman"/>
                <a:cs typeface="Times New Roman"/>
              </a:rPr>
              <a:t>G</a:t>
            </a:r>
            <a:r>
              <a:rPr sz="1400" spc="-5" dirty="0">
                <a:latin typeface="Times New Roman"/>
                <a:cs typeface="Times New Roman"/>
              </a:rPr>
              <a:t>G</a:t>
            </a:r>
            <a:r>
              <a:rPr sz="1400" spc="-25" dirty="0">
                <a:latin typeface="Times New Roman"/>
                <a:cs typeface="Times New Roman"/>
              </a:rPr>
              <a:t>A</a:t>
            </a:r>
            <a:r>
              <a:rPr sz="1400" dirty="0">
                <a:latin typeface="Times New Roman"/>
                <a:cs typeface="Times New Roman"/>
              </a:rPr>
              <a:t>R</a:t>
            </a:r>
            <a:r>
              <a:rPr sz="1400" spc="-30" dirty="0">
                <a:latin typeface="Times New Roman"/>
                <a:cs typeface="Times New Roman"/>
              </a:rPr>
              <a:t>A</a:t>
            </a:r>
            <a:r>
              <a:rPr sz="1400" spc="-5" dirty="0">
                <a:latin typeface="Times New Roman"/>
                <a:cs typeface="Times New Roman"/>
              </a:rPr>
              <a:t>N</a:t>
            </a:r>
            <a:endParaRPr sz="1400">
              <a:latin typeface="Times New Roman"/>
              <a:cs typeface="Times New Roman"/>
            </a:endParaRPr>
          </a:p>
        </p:txBody>
      </p:sp>
      <p:sp>
        <p:nvSpPr>
          <p:cNvPr id="35" name="object 35"/>
          <p:cNvSpPr txBox="1"/>
          <p:nvPr/>
        </p:nvSpPr>
        <p:spPr>
          <a:xfrm>
            <a:off x="5794375" y="3752469"/>
            <a:ext cx="671195" cy="664845"/>
          </a:xfrm>
          <a:prstGeom prst="rect">
            <a:avLst/>
          </a:prstGeom>
        </p:spPr>
        <p:txBody>
          <a:bodyPr vert="horz" wrap="square" lIns="0" tIns="11430" rIns="0" bIns="0" rtlCol="0">
            <a:spAutoFit/>
          </a:bodyPr>
          <a:lstStyle/>
          <a:p>
            <a:pPr marL="12700" marR="5080">
              <a:lnSpc>
                <a:spcPct val="100000"/>
              </a:lnSpc>
              <a:spcBef>
                <a:spcPts val="90"/>
              </a:spcBef>
            </a:pPr>
            <a:r>
              <a:rPr sz="1400" u="sng" spc="-10" dirty="0">
                <a:uFill>
                  <a:solidFill>
                    <a:srgbClr val="000000"/>
                  </a:solidFill>
                </a:uFill>
                <a:latin typeface="Times New Roman"/>
                <a:cs typeface="Times New Roman"/>
              </a:rPr>
              <a:t>NO</a:t>
            </a:r>
            <a:r>
              <a:rPr sz="1400" u="sng" spc="-15" dirty="0">
                <a:uFill>
                  <a:solidFill>
                    <a:srgbClr val="000000"/>
                  </a:solidFill>
                </a:uFill>
                <a:latin typeface="Times New Roman"/>
                <a:cs typeface="Times New Roman"/>
              </a:rPr>
              <a:t>-P</a:t>
            </a:r>
            <a:r>
              <a:rPr sz="1400" u="sng" spc="-20" dirty="0">
                <a:uFill>
                  <a:solidFill>
                    <a:srgbClr val="000000"/>
                  </a:solidFill>
                </a:uFill>
                <a:latin typeface="Times New Roman"/>
                <a:cs typeface="Times New Roman"/>
              </a:rPr>
              <a:t>E</a:t>
            </a:r>
            <a:r>
              <a:rPr sz="1400" u="sng" spc="-5" dirty="0">
                <a:uFill>
                  <a:solidFill>
                    <a:srgbClr val="000000"/>
                  </a:solidFill>
                </a:uFill>
                <a:latin typeface="Times New Roman"/>
                <a:cs typeface="Times New Roman"/>
              </a:rPr>
              <a:t>G </a:t>
            </a:r>
            <a:r>
              <a:rPr sz="1400" spc="-5" dirty="0">
                <a:latin typeface="Times New Roman"/>
                <a:cs typeface="Times New Roman"/>
              </a:rPr>
              <a:t> </a:t>
            </a:r>
            <a:r>
              <a:rPr sz="1400" spc="-15" dirty="0">
                <a:latin typeface="Times New Roman"/>
                <a:cs typeface="Times New Roman"/>
              </a:rPr>
              <a:t>NAMA </a:t>
            </a:r>
            <a:r>
              <a:rPr sz="1400" spc="-10" dirty="0">
                <a:latin typeface="Times New Roman"/>
                <a:cs typeface="Times New Roman"/>
              </a:rPr>
              <a:t> HONOR</a:t>
            </a:r>
            <a:endParaRPr sz="1400">
              <a:latin typeface="Times New Roman"/>
              <a:cs typeface="Times New Roman"/>
            </a:endParaRPr>
          </a:p>
        </p:txBody>
      </p:sp>
      <p:sp>
        <p:nvSpPr>
          <p:cNvPr id="36" name="object 36"/>
          <p:cNvSpPr txBox="1"/>
          <p:nvPr/>
        </p:nvSpPr>
        <p:spPr>
          <a:xfrm>
            <a:off x="4484370" y="3828669"/>
            <a:ext cx="808355" cy="451484"/>
          </a:xfrm>
          <a:prstGeom prst="rect">
            <a:avLst/>
          </a:prstGeom>
        </p:spPr>
        <p:txBody>
          <a:bodyPr vert="horz" wrap="square" lIns="0" tIns="11430" rIns="0" bIns="0" rtlCol="0">
            <a:spAutoFit/>
          </a:bodyPr>
          <a:lstStyle/>
          <a:p>
            <a:pPr marL="12700" marR="5080">
              <a:lnSpc>
                <a:spcPct val="100000"/>
              </a:lnSpc>
              <a:spcBef>
                <a:spcPts val="90"/>
              </a:spcBef>
            </a:pPr>
            <a:r>
              <a:rPr sz="1400" u="sng" spc="-35" dirty="0">
                <a:uFill>
                  <a:solidFill>
                    <a:srgbClr val="000000"/>
                  </a:solidFill>
                </a:uFill>
                <a:latin typeface="Times New Roman"/>
                <a:cs typeface="Times New Roman"/>
              </a:rPr>
              <a:t>K</a:t>
            </a:r>
            <a:r>
              <a:rPr sz="1400" u="sng" spc="-10" dirty="0">
                <a:uFill>
                  <a:solidFill>
                    <a:srgbClr val="000000"/>
                  </a:solidFill>
                </a:uFill>
                <a:latin typeface="Times New Roman"/>
                <a:cs typeface="Times New Roman"/>
              </a:rPr>
              <a:t>D</a:t>
            </a:r>
            <a:r>
              <a:rPr sz="1400" u="sng" spc="-15" dirty="0">
                <a:uFill>
                  <a:solidFill>
                    <a:srgbClr val="000000"/>
                  </a:solidFill>
                </a:uFill>
                <a:latin typeface="Times New Roman"/>
                <a:cs typeface="Times New Roman"/>
              </a:rPr>
              <a:t>-P</a:t>
            </a:r>
            <a:r>
              <a:rPr sz="1400" u="sng" spc="-5" dirty="0">
                <a:uFill>
                  <a:solidFill>
                    <a:srgbClr val="000000"/>
                  </a:solidFill>
                </a:uFill>
                <a:latin typeface="Times New Roman"/>
                <a:cs typeface="Times New Roman"/>
              </a:rPr>
              <a:t>ROY </a:t>
            </a:r>
            <a:r>
              <a:rPr sz="1400" spc="-5" dirty="0">
                <a:latin typeface="Times New Roman"/>
                <a:cs typeface="Times New Roman"/>
              </a:rPr>
              <a:t> </a:t>
            </a:r>
            <a:r>
              <a:rPr sz="1400" u="sng" spc="-15" dirty="0">
                <a:uFill>
                  <a:solidFill>
                    <a:srgbClr val="000000"/>
                  </a:solidFill>
                </a:uFill>
                <a:latin typeface="Times New Roman"/>
                <a:cs typeface="Times New Roman"/>
              </a:rPr>
              <a:t>NO-PEG</a:t>
            </a:r>
            <a:endParaRPr sz="14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5" name="Picture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ject 8"/>
          <p:cNvPicPr/>
          <p:nvPr/>
        </p:nvPicPr>
        <p:blipFill>
          <a:blip r:embed="rId3" cstate="print"/>
          <a:stretch>
            <a:fillRect/>
          </a:stretch>
        </p:blipFill>
        <p:spPr>
          <a:xfrm>
            <a:off x="838200" y="571500"/>
            <a:ext cx="3759200" cy="457200"/>
          </a:xfrm>
          <a:prstGeom prst="rect">
            <a:avLst/>
          </a:prstGeom>
        </p:spPr>
      </p:pic>
      <p:sp>
        <p:nvSpPr>
          <p:cNvPr id="9" name="object 9"/>
          <p:cNvSpPr txBox="1"/>
          <p:nvPr/>
        </p:nvSpPr>
        <p:spPr>
          <a:xfrm>
            <a:off x="1201318" y="638048"/>
            <a:ext cx="2830830" cy="908050"/>
          </a:xfrm>
          <a:prstGeom prst="rect">
            <a:avLst/>
          </a:prstGeom>
        </p:spPr>
        <p:txBody>
          <a:bodyPr vert="horz" wrap="square" lIns="0" tIns="11430" rIns="0" bIns="0" rtlCol="0">
            <a:spAutoFit/>
          </a:bodyPr>
          <a:lstStyle/>
          <a:p>
            <a:pPr marL="12700">
              <a:lnSpc>
                <a:spcPct val="100000"/>
              </a:lnSpc>
              <a:spcBef>
                <a:spcPts val="90"/>
              </a:spcBef>
            </a:pPr>
            <a:r>
              <a:rPr sz="1400" spc="-30" dirty="0">
                <a:latin typeface="Times New Roman"/>
                <a:cs typeface="Times New Roman"/>
              </a:rPr>
              <a:t>ENTITY-RELATIONSHIP</a:t>
            </a:r>
            <a:r>
              <a:rPr sz="1400" spc="20"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a:p>
            <a:pPr>
              <a:lnSpc>
                <a:spcPct val="100000"/>
              </a:lnSpc>
            </a:pPr>
            <a:endParaRPr sz="1500">
              <a:latin typeface="Times New Roman"/>
              <a:cs typeface="Times New Roman"/>
            </a:endParaRPr>
          </a:p>
          <a:p>
            <a:pPr>
              <a:lnSpc>
                <a:spcPct val="100000"/>
              </a:lnSpc>
              <a:spcBef>
                <a:spcPts val="10"/>
              </a:spcBef>
            </a:pPr>
            <a:endParaRPr sz="1350">
              <a:latin typeface="Times New Roman"/>
              <a:cs typeface="Times New Roman"/>
            </a:endParaRPr>
          </a:p>
          <a:p>
            <a:pPr marL="282575" indent="-265430">
              <a:lnSpc>
                <a:spcPct val="100000"/>
              </a:lnSpc>
              <a:spcBef>
                <a:spcPts val="5"/>
              </a:spcBef>
              <a:buClr>
                <a:srgbClr val="FF0000"/>
              </a:buClr>
              <a:buSzPct val="118750"/>
              <a:buFont typeface="Wingdings"/>
              <a:buChar char=""/>
              <a:tabLst>
                <a:tab pos="283210" algn="l"/>
              </a:tabLst>
            </a:pPr>
            <a:r>
              <a:rPr sz="1600" spc="-10" dirty="0">
                <a:latin typeface="Times New Roman"/>
                <a:cs typeface="Times New Roman"/>
              </a:rPr>
              <a:t>JENIS</a:t>
            </a:r>
            <a:r>
              <a:rPr sz="1600" spc="-25" dirty="0">
                <a:latin typeface="Times New Roman"/>
                <a:cs typeface="Times New Roman"/>
              </a:rPr>
              <a:t> </a:t>
            </a:r>
            <a:r>
              <a:rPr sz="1600" spc="-15" dirty="0">
                <a:latin typeface="Times New Roman"/>
                <a:cs typeface="Times New Roman"/>
              </a:rPr>
              <a:t>ENTITY</a:t>
            </a:r>
            <a:endParaRPr sz="1600">
              <a:latin typeface="Times New Roman"/>
              <a:cs typeface="Times New Roman"/>
            </a:endParaRPr>
          </a:p>
        </p:txBody>
      </p:sp>
      <p:sp>
        <p:nvSpPr>
          <p:cNvPr id="10" name="object 10"/>
          <p:cNvSpPr txBox="1"/>
          <p:nvPr/>
        </p:nvSpPr>
        <p:spPr>
          <a:xfrm>
            <a:off x="2362200" y="1714500"/>
            <a:ext cx="1143000" cy="609600"/>
          </a:xfrm>
          <a:prstGeom prst="rect">
            <a:avLst/>
          </a:prstGeom>
          <a:ln w="12700">
            <a:solidFill>
              <a:srgbClr val="000000"/>
            </a:solidFill>
          </a:ln>
        </p:spPr>
        <p:txBody>
          <a:bodyPr vert="horz" wrap="square" lIns="0" tIns="1905" rIns="0" bIns="0" rtlCol="0">
            <a:spAutoFit/>
          </a:bodyPr>
          <a:lstStyle/>
          <a:p>
            <a:pPr>
              <a:lnSpc>
                <a:spcPct val="100000"/>
              </a:lnSpc>
              <a:spcBef>
                <a:spcPts val="15"/>
              </a:spcBef>
            </a:pPr>
            <a:endParaRPr sz="1300">
              <a:latin typeface="Times New Roman"/>
              <a:cs typeface="Times New Roman"/>
            </a:endParaRPr>
          </a:p>
          <a:p>
            <a:pPr marL="92075">
              <a:lnSpc>
                <a:spcPct val="100000"/>
              </a:lnSpc>
            </a:pPr>
            <a:r>
              <a:rPr sz="1400" spc="-55" dirty="0">
                <a:latin typeface="Times New Roman"/>
                <a:cs typeface="Times New Roman"/>
              </a:rPr>
              <a:t>PEGAWAI</a:t>
            </a:r>
            <a:endParaRPr sz="1400">
              <a:latin typeface="Times New Roman"/>
              <a:cs typeface="Times New Roman"/>
            </a:endParaRPr>
          </a:p>
        </p:txBody>
      </p:sp>
      <p:sp>
        <p:nvSpPr>
          <p:cNvPr id="11" name="object 11"/>
          <p:cNvSpPr txBox="1"/>
          <p:nvPr/>
        </p:nvSpPr>
        <p:spPr>
          <a:xfrm>
            <a:off x="5426075" y="1714500"/>
            <a:ext cx="1143000" cy="609600"/>
          </a:xfrm>
          <a:prstGeom prst="rect">
            <a:avLst/>
          </a:prstGeom>
          <a:ln w="12700">
            <a:solidFill>
              <a:srgbClr val="000000"/>
            </a:solidFill>
          </a:ln>
        </p:spPr>
        <p:txBody>
          <a:bodyPr vert="horz" wrap="square" lIns="0" tIns="5715" rIns="0" bIns="0" rtlCol="0">
            <a:spAutoFit/>
          </a:bodyPr>
          <a:lstStyle/>
          <a:p>
            <a:pPr>
              <a:lnSpc>
                <a:spcPct val="100000"/>
              </a:lnSpc>
              <a:spcBef>
                <a:spcPts val="45"/>
              </a:spcBef>
            </a:pPr>
            <a:endParaRPr sz="1350">
              <a:latin typeface="Times New Roman"/>
              <a:cs typeface="Times New Roman"/>
            </a:endParaRPr>
          </a:p>
          <a:p>
            <a:pPr marL="258445">
              <a:lnSpc>
                <a:spcPct val="100000"/>
              </a:lnSpc>
            </a:pPr>
            <a:r>
              <a:rPr sz="1400" spc="-20" dirty="0">
                <a:latin typeface="Times New Roman"/>
                <a:cs typeface="Times New Roman"/>
              </a:rPr>
              <a:t>ABSEN</a:t>
            </a:r>
            <a:endParaRPr sz="1400">
              <a:latin typeface="Times New Roman"/>
              <a:cs typeface="Times New Roman"/>
            </a:endParaRPr>
          </a:p>
        </p:txBody>
      </p:sp>
      <p:sp>
        <p:nvSpPr>
          <p:cNvPr id="12" name="object 12"/>
          <p:cNvSpPr txBox="1"/>
          <p:nvPr/>
        </p:nvSpPr>
        <p:spPr>
          <a:xfrm>
            <a:off x="4241038" y="1906905"/>
            <a:ext cx="240029"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IS</a:t>
            </a:r>
            <a:r>
              <a:rPr sz="1400" spc="-5" dirty="0">
                <a:latin typeface="Times New Roman"/>
                <a:cs typeface="Times New Roman"/>
              </a:rPr>
              <a:t>I</a:t>
            </a:r>
            <a:endParaRPr sz="1400">
              <a:latin typeface="Times New Roman"/>
              <a:cs typeface="Times New Roman"/>
            </a:endParaRPr>
          </a:p>
        </p:txBody>
      </p:sp>
      <p:grpSp>
        <p:nvGrpSpPr>
          <p:cNvPr id="13" name="object 13"/>
          <p:cNvGrpSpPr/>
          <p:nvPr/>
        </p:nvGrpSpPr>
        <p:grpSpPr>
          <a:xfrm>
            <a:off x="3505200" y="1708150"/>
            <a:ext cx="1905000" cy="622300"/>
            <a:chOff x="3505200" y="1708150"/>
            <a:chExt cx="1905000" cy="622300"/>
          </a:xfrm>
        </p:grpSpPr>
        <p:sp>
          <p:nvSpPr>
            <p:cNvPr id="14" name="object 14"/>
            <p:cNvSpPr/>
            <p:nvPr/>
          </p:nvSpPr>
          <p:spPr>
            <a:xfrm>
              <a:off x="3886200" y="17145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15" name="object 15"/>
            <p:cNvSpPr/>
            <p:nvPr/>
          </p:nvSpPr>
          <p:spPr>
            <a:xfrm>
              <a:off x="3505200" y="20193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16" name="object 16"/>
          <p:cNvSpPr txBox="1"/>
          <p:nvPr/>
        </p:nvSpPr>
        <p:spPr>
          <a:xfrm>
            <a:off x="3569334" y="1754505"/>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17" name="object 17"/>
          <p:cNvSpPr txBox="1"/>
          <p:nvPr/>
        </p:nvSpPr>
        <p:spPr>
          <a:xfrm>
            <a:off x="5246370" y="1754505"/>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18" name="object 18"/>
          <p:cNvSpPr txBox="1"/>
          <p:nvPr/>
        </p:nvSpPr>
        <p:spPr>
          <a:xfrm>
            <a:off x="1754251" y="3112465"/>
            <a:ext cx="1605280" cy="271145"/>
          </a:xfrm>
          <a:prstGeom prst="rect">
            <a:avLst/>
          </a:prstGeom>
        </p:spPr>
        <p:txBody>
          <a:bodyPr vert="horz" wrap="square" lIns="0" tIns="13970" rIns="0" bIns="0" rtlCol="0">
            <a:spAutoFit/>
          </a:bodyPr>
          <a:lstStyle/>
          <a:p>
            <a:pPr marL="12700">
              <a:lnSpc>
                <a:spcPct val="100000"/>
              </a:lnSpc>
              <a:spcBef>
                <a:spcPts val="110"/>
              </a:spcBef>
            </a:pPr>
            <a:r>
              <a:rPr sz="1600" spc="-5" dirty="0">
                <a:latin typeface="Times New Roman"/>
                <a:cs typeface="Times New Roman"/>
              </a:rPr>
              <a:t>S</a:t>
            </a:r>
            <a:r>
              <a:rPr sz="1600" spc="-20" dirty="0">
                <a:latin typeface="Times New Roman"/>
                <a:cs typeface="Times New Roman"/>
              </a:rPr>
              <a:t>T</a:t>
            </a:r>
            <a:r>
              <a:rPr sz="1600" spc="5" dirty="0">
                <a:latin typeface="Times New Roman"/>
                <a:cs typeface="Times New Roman"/>
              </a:rPr>
              <a:t>R</a:t>
            </a:r>
            <a:r>
              <a:rPr sz="1600" spc="-10" dirty="0">
                <a:latin typeface="Times New Roman"/>
                <a:cs typeface="Times New Roman"/>
              </a:rPr>
              <a:t>ON</a:t>
            </a:r>
            <a:r>
              <a:rPr sz="1600" spc="5" dirty="0">
                <a:latin typeface="Times New Roman"/>
                <a:cs typeface="Times New Roman"/>
              </a:rPr>
              <a:t>G</a:t>
            </a:r>
            <a:r>
              <a:rPr sz="1600" spc="-55" dirty="0">
                <a:latin typeface="Times New Roman"/>
                <a:cs typeface="Times New Roman"/>
              </a:rPr>
              <a:t> </a:t>
            </a:r>
            <a:r>
              <a:rPr sz="1600" spc="5" dirty="0">
                <a:latin typeface="Times New Roman"/>
                <a:cs typeface="Times New Roman"/>
              </a:rPr>
              <a:t>E</a:t>
            </a:r>
            <a:r>
              <a:rPr sz="1600" spc="-10" dirty="0">
                <a:latin typeface="Times New Roman"/>
                <a:cs typeface="Times New Roman"/>
              </a:rPr>
              <a:t>N</a:t>
            </a:r>
            <a:r>
              <a:rPr sz="1600" spc="-20" dirty="0">
                <a:latin typeface="Times New Roman"/>
                <a:cs typeface="Times New Roman"/>
              </a:rPr>
              <a:t>T</a:t>
            </a:r>
            <a:r>
              <a:rPr sz="1600" spc="-60" dirty="0">
                <a:latin typeface="Times New Roman"/>
                <a:cs typeface="Times New Roman"/>
              </a:rPr>
              <a:t>I</a:t>
            </a:r>
            <a:r>
              <a:rPr sz="1600" spc="-20" dirty="0">
                <a:latin typeface="Times New Roman"/>
                <a:cs typeface="Times New Roman"/>
              </a:rPr>
              <a:t>T</a:t>
            </a:r>
            <a:r>
              <a:rPr sz="1600" spc="5" dirty="0">
                <a:latin typeface="Times New Roman"/>
                <a:cs typeface="Times New Roman"/>
              </a:rPr>
              <a:t>Y</a:t>
            </a:r>
            <a:endParaRPr sz="1600">
              <a:latin typeface="Times New Roman"/>
              <a:cs typeface="Times New Roman"/>
            </a:endParaRPr>
          </a:p>
        </p:txBody>
      </p:sp>
      <p:sp>
        <p:nvSpPr>
          <p:cNvPr id="19" name="object 19"/>
          <p:cNvSpPr txBox="1"/>
          <p:nvPr/>
        </p:nvSpPr>
        <p:spPr>
          <a:xfrm>
            <a:off x="6022975" y="3112465"/>
            <a:ext cx="1403985" cy="271145"/>
          </a:xfrm>
          <a:prstGeom prst="rect">
            <a:avLst/>
          </a:prstGeom>
        </p:spPr>
        <p:txBody>
          <a:bodyPr vert="horz" wrap="square" lIns="0" tIns="13970" rIns="0" bIns="0" rtlCol="0">
            <a:spAutoFit/>
          </a:bodyPr>
          <a:lstStyle/>
          <a:p>
            <a:pPr marL="12700">
              <a:lnSpc>
                <a:spcPct val="100000"/>
              </a:lnSpc>
              <a:spcBef>
                <a:spcPts val="110"/>
              </a:spcBef>
            </a:pPr>
            <a:r>
              <a:rPr sz="1600" spc="-15" dirty="0">
                <a:latin typeface="Times New Roman"/>
                <a:cs typeface="Times New Roman"/>
              </a:rPr>
              <a:t>WEAK</a:t>
            </a:r>
            <a:r>
              <a:rPr sz="1600" spc="-75" dirty="0">
                <a:latin typeface="Times New Roman"/>
                <a:cs typeface="Times New Roman"/>
              </a:rPr>
              <a:t> </a:t>
            </a:r>
            <a:r>
              <a:rPr sz="1600" spc="-15" dirty="0">
                <a:latin typeface="Times New Roman"/>
                <a:cs typeface="Times New Roman"/>
              </a:rPr>
              <a:t>ENTITY</a:t>
            </a:r>
            <a:endParaRPr sz="1600">
              <a:latin typeface="Times New Roman"/>
              <a:cs typeface="Times New Roman"/>
            </a:endParaRPr>
          </a:p>
        </p:txBody>
      </p:sp>
      <p:sp>
        <p:nvSpPr>
          <p:cNvPr id="20" name="object 20"/>
          <p:cNvSpPr/>
          <p:nvPr/>
        </p:nvSpPr>
        <p:spPr>
          <a:xfrm>
            <a:off x="2584450" y="2400300"/>
            <a:ext cx="132080" cy="687070"/>
          </a:xfrm>
          <a:custGeom>
            <a:avLst/>
            <a:gdLst/>
            <a:ahLst/>
            <a:cxnLst/>
            <a:rect l="l" t="t" r="r" b="b"/>
            <a:pathLst>
              <a:path w="132080" h="687069">
                <a:moveTo>
                  <a:pt x="62222" y="125534"/>
                </a:moveTo>
                <a:lnTo>
                  <a:pt x="0" y="685038"/>
                </a:lnTo>
                <a:lnTo>
                  <a:pt x="12700" y="686562"/>
                </a:lnTo>
                <a:lnTo>
                  <a:pt x="74798" y="126926"/>
                </a:lnTo>
                <a:lnTo>
                  <a:pt x="62222" y="125534"/>
                </a:lnTo>
                <a:close/>
              </a:path>
              <a:path w="132080" h="687069">
                <a:moveTo>
                  <a:pt x="124202" y="112902"/>
                </a:moveTo>
                <a:lnTo>
                  <a:pt x="63626" y="112902"/>
                </a:lnTo>
                <a:lnTo>
                  <a:pt x="76200" y="114300"/>
                </a:lnTo>
                <a:lnTo>
                  <a:pt x="74798" y="126926"/>
                </a:lnTo>
                <a:lnTo>
                  <a:pt x="131699" y="133223"/>
                </a:lnTo>
                <a:lnTo>
                  <a:pt x="124202" y="112902"/>
                </a:lnTo>
                <a:close/>
              </a:path>
              <a:path w="132080" h="687069">
                <a:moveTo>
                  <a:pt x="63626" y="112902"/>
                </a:moveTo>
                <a:lnTo>
                  <a:pt x="62222" y="125534"/>
                </a:lnTo>
                <a:lnTo>
                  <a:pt x="74798" y="126926"/>
                </a:lnTo>
                <a:lnTo>
                  <a:pt x="76200" y="114300"/>
                </a:lnTo>
                <a:lnTo>
                  <a:pt x="63626" y="112902"/>
                </a:lnTo>
                <a:close/>
              </a:path>
              <a:path w="132080" h="687069">
                <a:moveTo>
                  <a:pt x="82550" y="0"/>
                </a:moveTo>
                <a:lnTo>
                  <a:pt x="5461" y="119252"/>
                </a:lnTo>
                <a:lnTo>
                  <a:pt x="62222" y="125534"/>
                </a:lnTo>
                <a:lnTo>
                  <a:pt x="63626" y="112902"/>
                </a:lnTo>
                <a:lnTo>
                  <a:pt x="124202" y="112902"/>
                </a:lnTo>
                <a:lnTo>
                  <a:pt x="82550" y="0"/>
                </a:lnTo>
                <a:close/>
              </a:path>
            </a:pathLst>
          </a:custGeom>
          <a:solidFill>
            <a:srgbClr val="000000"/>
          </a:solidFill>
        </p:spPr>
        <p:txBody>
          <a:bodyPr wrap="square" lIns="0" tIns="0" rIns="0" bIns="0" rtlCol="0"/>
          <a:lstStyle/>
          <a:p>
            <a:endParaRPr/>
          </a:p>
        </p:txBody>
      </p:sp>
      <p:sp>
        <p:nvSpPr>
          <p:cNvPr id="21" name="object 21"/>
          <p:cNvSpPr/>
          <p:nvPr/>
        </p:nvSpPr>
        <p:spPr>
          <a:xfrm>
            <a:off x="6013322" y="2400300"/>
            <a:ext cx="317500" cy="688340"/>
          </a:xfrm>
          <a:custGeom>
            <a:avLst/>
            <a:gdLst/>
            <a:ahLst/>
            <a:cxnLst/>
            <a:rect l="l" t="t" r="r" b="b"/>
            <a:pathLst>
              <a:path w="317500" h="688339">
                <a:moveTo>
                  <a:pt x="63849" y="113496"/>
                </a:moveTo>
                <a:lnTo>
                  <a:pt x="52264" y="118643"/>
                </a:lnTo>
                <a:lnTo>
                  <a:pt x="305435" y="688339"/>
                </a:lnTo>
                <a:lnTo>
                  <a:pt x="317118" y="683260"/>
                </a:lnTo>
                <a:lnTo>
                  <a:pt x="63849" y="113496"/>
                </a:lnTo>
                <a:close/>
              </a:path>
              <a:path w="317500" h="688339">
                <a:moveTo>
                  <a:pt x="6476" y="0"/>
                </a:moveTo>
                <a:lnTo>
                  <a:pt x="0" y="141859"/>
                </a:lnTo>
                <a:lnTo>
                  <a:pt x="52264" y="118643"/>
                </a:lnTo>
                <a:lnTo>
                  <a:pt x="47116" y="107061"/>
                </a:lnTo>
                <a:lnTo>
                  <a:pt x="58674" y="101853"/>
                </a:lnTo>
                <a:lnTo>
                  <a:pt x="90060" y="101853"/>
                </a:lnTo>
                <a:lnTo>
                  <a:pt x="116077" y="90297"/>
                </a:lnTo>
                <a:lnTo>
                  <a:pt x="6476" y="0"/>
                </a:lnTo>
                <a:close/>
              </a:path>
              <a:path w="317500" h="688339">
                <a:moveTo>
                  <a:pt x="58674" y="101853"/>
                </a:moveTo>
                <a:lnTo>
                  <a:pt x="47116" y="107061"/>
                </a:lnTo>
                <a:lnTo>
                  <a:pt x="52264" y="118643"/>
                </a:lnTo>
                <a:lnTo>
                  <a:pt x="63849" y="113496"/>
                </a:lnTo>
                <a:lnTo>
                  <a:pt x="58674" y="101853"/>
                </a:lnTo>
                <a:close/>
              </a:path>
              <a:path w="317500" h="688339">
                <a:moveTo>
                  <a:pt x="90060" y="101853"/>
                </a:moveTo>
                <a:lnTo>
                  <a:pt x="58674" y="101853"/>
                </a:lnTo>
                <a:lnTo>
                  <a:pt x="63849" y="113496"/>
                </a:lnTo>
                <a:lnTo>
                  <a:pt x="90060" y="101853"/>
                </a:lnTo>
                <a:close/>
              </a:path>
            </a:pathLst>
          </a:custGeom>
          <a:solidFill>
            <a:srgbClr val="000000"/>
          </a:solidFill>
        </p:spPr>
        <p:txBody>
          <a:bodyPr wrap="square" lIns="0" tIns="0" rIns="0" bIns="0" rtlCol="0"/>
          <a:lstStyle/>
          <a:p>
            <a:endParaRPr/>
          </a:p>
        </p:txBody>
      </p:sp>
      <p:sp>
        <p:nvSpPr>
          <p:cNvPr id="22" name="object 22"/>
          <p:cNvSpPr txBox="1"/>
          <p:nvPr/>
        </p:nvSpPr>
        <p:spPr>
          <a:xfrm>
            <a:off x="2514600" y="4991100"/>
            <a:ext cx="1143000" cy="609600"/>
          </a:xfrm>
          <a:prstGeom prst="rect">
            <a:avLst/>
          </a:prstGeom>
          <a:ln w="12700">
            <a:solidFill>
              <a:srgbClr val="000000"/>
            </a:solidFill>
          </a:ln>
        </p:spPr>
        <p:txBody>
          <a:bodyPr vert="horz" wrap="square" lIns="0" tIns="3175" rIns="0" bIns="0" rtlCol="0">
            <a:spAutoFit/>
          </a:bodyPr>
          <a:lstStyle/>
          <a:p>
            <a:pPr>
              <a:lnSpc>
                <a:spcPct val="100000"/>
              </a:lnSpc>
              <a:spcBef>
                <a:spcPts val="25"/>
              </a:spcBef>
            </a:pPr>
            <a:endParaRPr sz="1300">
              <a:latin typeface="Times New Roman"/>
              <a:cs typeface="Times New Roman"/>
            </a:endParaRPr>
          </a:p>
          <a:p>
            <a:pPr marL="92075">
              <a:lnSpc>
                <a:spcPct val="100000"/>
              </a:lnSpc>
            </a:pPr>
            <a:r>
              <a:rPr sz="1400" spc="-55" dirty="0">
                <a:latin typeface="Times New Roman"/>
                <a:cs typeface="Times New Roman"/>
              </a:rPr>
              <a:t>PEGAWAI</a:t>
            </a:r>
            <a:endParaRPr sz="1400">
              <a:latin typeface="Times New Roman"/>
              <a:cs typeface="Times New Roman"/>
            </a:endParaRPr>
          </a:p>
        </p:txBody>
      </p:sp>
      <p:sp>
        <p:nvSpPr>
          <p:cNvPr id="23" name="object 23"/>
          <p:cNvSpPr txBox="1"/>
          <p:nvPr/>
        </p:nvSpPr>
        <p:spPr>
          <a:xfrm>
            <a:off x="5578475" y="4991100"/>
            <a:ext cx="1143000" cy="609600"/>
          </a:xfrm>
          <a:prstGeom prst="rect">
            <a:avLst/>
          </a:prstGeom>
          <a:ln w="12700">
            <a:solidFill>
              <a:srgbClr val="000000"/>
            </a:solidFill>
          </a:ln>
        </p:spPr>
        <p:txBody>
          <a:bodyPr vert="horz" wrap="square" lIns="0" tIns="0" rIns="0" bIns="0" rtlCol="0">
            <a:spAutoFit/>
          </a:bodyPr>
          <a:lstStyle/>
          <a:p>
            <a:pPr>
              <a:lnSpc>
                <a:spcPct val="100000"/>
              </a:lnSpc>
            </a:pPr>
            <a:endParaRPr sz="1400">
              <a:latin typeface="Times New Roman"/>
              <a:cs typeface="Times New Roman"/>
            </a:endParaRPr>
          </a:p>
          <a:p>
            <a:pPr marL="258445">
              <a:lnSpc>
                <a:spcPct val="100000"/>
              </a:lnSpc>
            </a:pPr>
            <a:r>
              <a:rPr sz="1400" spc="-20" dirty="0">
                <a:latin typeface="Times New Roman"/>
                <a:cs typeface="Times New Roman"/>
              </a:rPr>
              <a:t>ABSEN</a:t>
            </a:r>
            <a:endParaRPr sz="1400">
              <a:latin typeface="Times New Roman"/>
              <a:cs typeface="Times New Roman"/>
            </a:endParaRPr>
          </a:p>
        </p:txBody>
      </p:sp>
      <p:sp>
        <p:nvSpPr>
          <p:cNvPr id="24" name="object 24"/>
          <p:cNvSpPr txBox="1"/>
          <p:nvPr/>
        </p:nvSpPr>
        <p:spPr>
          <a:xfrm>
            <a:off x="4393438" y="5185028"/>
            <a:ext cx="240029"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IS</a:t>
            </a:r>
            <a:r>
              <a:rPr sz="1400" spc="-5" dirty="0">
                <a:latin typeface="Times New Roman"/>
                <a:cs typeface="Times New Roman"/>
              </a:rPr>
              <a:t>I</a:t>
            </a:r>
            <a:endParaRPr sz="1400">
              <a:latin typeface="Times New Roman"/>
              <a:cs typeface="Times New Roman"/>
            </a:endParaRPr>
          </a:p>
        </p:txBody>
      </p:sp>
      <p:grpSp>
        <p:nvGrpSpPr>
          <p:cNvPr id="25" name="object 25"/>
          <p:cNvGrpSpPr/>
          <p:nvPr/>
        </p:nvGrpSpPr>
        <p:grpSpPr>
          <a:xfrm>
            <a:off x="3657600" y="4984750"/>
            <a:ext cx="1905000" cy="622300"/>
            <a:chOff x="3657600" y="4984750"/>
            <a:chExt cx="1905000" cy="622300"/>
          </a:xfrm>
        </p:grpSpPr>
        <p:sp>
          <p:nvSpPr>
            <p:cNvPr id="26" name="object 26"/>
            <p:cNvSpPr/>
            <p:nvPr/>
          </p:nvSpPr>
          <p:spPr>
            <a:xfrm>
              <a:off x="4038600" y="4991100"/>
              <a:ext cx="1066800" cy="609600"/>
            </a:xfrm>
            <a:custGeom>
              <a:avLst/>
              <a:gdLst/>
              <a:ahLst/>
              <a:cxnLst/>
              <a:rect l="l" t="t" r="r" b="b"/>
              <a:pathLst>
                <a:path w="1066800" h="609600">
                  <a:moveTo>
                    <a:pt x="0" y="304800"/>
                  </a:moveTo>
                  <a:lnTo>
                    <a:pt x="533400" y="0"/>
                  </a:lnTo>
                  <a:lnTo>
                    <a:pt x="1066800" y="304800"/>
                  </a:lnTo>
                  <a:lnTo>
                    <a:pt x="533400" y="609600"/>
                  </a:lnTo>
                  <a:lnTo>
                    <a:pt x="0" y="304800"/>
                  </a:lnTo>
                  <a:close/>
                </a:path>
              </a:pathLst>
            </a:custGeom>
            <a:ln w="12700">
              <a:solidFill>
                <a:srgbClr val="000000"/>
              </a:solidFill>
            </a:ln>
          </p:spPr>
          <p:txBody>
            <a:bodyPr wrap="square" lIns="0" tIns="0" rIns="0" bIns="0" rtlCol="0"/>
            <a:lstStyle/>
            <a:p>
              <a:endParaRPr/>
            </a:p>
          </p:txBody>
        </p:sp>
        <p:sp>
          <p:nvSpPr>
            <p:cNvPr id="27" name="object 27"/>
            <p:cNvSpPr/>
            <p:nvPr/>
          </p:nvSpPr>
          <p:spPr>
            <a:xfrm>
              <a:off x="3657600" y="5295900"/>
              <a:ext cx="1905000" cy="0"/>
            </a:xfrm>
            <a:custGeom>
              <a:avLst/>
              <a:gdLst/>
              <a:ahLst/>
              <a:cxnLst/>
              <a:rect l="l" t="t" r="r" b="b"/>
              <a:pathLst>
                <a:path w="1905000">
                  <a:moveTo>
                    <a:pt x="1447800" y="0"/>
                  </a:moveTo>
                  <a:lnTo>
                    <a:pt x="1905000" y="0"/>
                  </a:lnTo>
                </a:path>
                <a:path w="1905000">
                  <a:moveTo>
                    <a:pt x="381000" y="0"/>
                  </a:moveTo>
                  <a:lnTo>
                    <a:pt x="0" y="0"/>
                  </a:lnTo>
                </a:path>
              </a:pathLst>
            </a:custGeom>
            <a:ln w="12700">
              <a:solidFill>
                <a:srgbClr val="000000"/>
              </a:solidFill>
            </a:ln>
          </p:spPr>
          <p:txBody>
            <a:bodyPr wrap="square" lIns="0" tIns="0" rIns="0" bIns="0" rtlCol="0"/>
            <a:lstStyle/>
            <a:p>
              <a:endParaRPr/>
            </a:p>
          </p:txBody>
        </p:sp>
      </p:grpSp>
      <p:sp>
        <p:nvSpPr>
          <p:cNvPr id="28" name="object 28"/>
          <p:cNvSpPr txBox="1"/>
          <p:nvPr/>
        </p:nvSpPr>
        <p:spPr>
          <a:xfrm>
            <a:off x="3721989" y="5032628"/>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29" name="object 29"/>
          <p:cNvSpPr txBox="1"/>
          <p:nvPr/>
        </p:nvSpPr>
        <p:spPr>
          <a:xfrm>
            <a:off x="5399023" y="5032628"/>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30" name="object 30"/>
          <p:cNvSpPr txBox="1"/>
          <p:nvPr/>
        </p:nvSpPr>
        <p:spPr>
          <a:xfrm>
            <a:off x="2668904" y="5707481"/>
            <a:ext cx="752475" cy="664845"/>
          </a:xfrm>
          <a:prstGeom prst="rect">
            <a:avLst/>
          </a:prstGeom>
        </p:spPr>
        <p:txBody>
          <a:bodyPr vert="horz" wrap="square" lIns="0" tIns="11430" rIns="0" bIns="0" rtlCol="0">
            <a:spAutoFit/>
          </a:bodyPr>
          <a:lstStyle/>
          <a:p>
            <a:pPr marL="12700" marR="5080">
              <a:lnSpc>
                <a:spcPct val="100000"/>
              </a:lnSpc>
              <a:spcBef>
                <a:spcPts val="90"/>
              </a:spcBef>
            </a:pPr>
            <a:r>
              <a:rPr sz="1400" u="sng" spc="-10" dirty="0">
                <a:uFill>
                  <a:solidFill>
                    <a:srgbClr val="000000"/>
                  </a:solidFill>
                </a:uFill>
                <a:latin typeface="Times New Roman"/>
                <a:cs typeface="Times New Roman"/>
              </a:rPr>
              <a:t>NO-PEG </a:t>
            </a:r>
            <a:r>
              <a:rPr sz="1400" spc="-5" dirty="0">
                <a:latin typeface="Times New Roman"/>
                <a:cs typeface="Times New Roman"/>
              </a:rPr>
              <a:t> </a:t>
            </a:r>
            <a:r>
              <a:rPr sz="1400" spc="-15" dirty="0">
                <a:latin typeface="Times New Roman"/>
                <a:cs typeface="Times New Roman"/>
              </a:rPr>
              <a:t>NAMA </a:t>
            </a:r>
            <a:r>
              <a:rPr sz="1400" spc="-10" dirty="0">
                <a:latin typeface="Times New Roman"/>
                <a:cs typeface="Times New Roman"/>
              </a:rPr>
              <a:t> </a:t>
            </a:r>
            <a:r>
              <a:rPr sz="1400" spc="-35" dirty="0">
                <a:latin typeface="Times New Roman"/>
                <a:cs typeface="Times New Roman"/>
              </a:rPr>
              <a:t>A</a:t>
            </a:r>
            <a:r>
              <a:rPr sz="1400" spc="-40" dirty="0">
                <a:latin typeface="Times New Roman"/>
                <a:cs typeface="Times New Roman"/>
              </a:rPr>
              <a:t>L</a:t>
            </a:r>
            <a:r>
              <a:rPr sz="1400" spc="-35" dirty="0">
                <a:latin typeface="Times New Roman"/>
                <a:cs typeface="Times New Roman"/>
              </a:rPr>
              <a:t>A</a:t>
            </a:r>
            <a:r>
              <a:rPr sz="1400" spc="-5" dirty="0">
                <a:latin typeface="Times New Roman"/>
                <a:cs typeface="Times New Roman"/>
              </a:rPr>
              <a:t>M</a:t>
            </a:r>
            <a:r>
              <a:rPr sz="1400" spc="-180" dirty="0">
                <a:latin typeface="Times New Roman"/>
                <a:cs typeface="Times New Roman"/>
              </a:rPr>
              <a:t>A</a:t>
            </a:r>
            <a:r>
              <a:rPr sz="1400" spc="-5" dirty="0">
                <a:latin typeface="Times New Roman"/>
                <a:cs typeface="Times New Roman"/>
              </a:rPr>
              <a:t>T</a:t>
            </a:r>
            <a:endParaRPr sz="1400">
              <a:latin typeface="Times New Roman"/>
              <a:cs typeface="Times New Roman"/>
            </a:endParaRPr>
          </a:p>
        </p:txBody>
      </p:sp>
      <p:sp>
        <p:nvSpPr>
          <p:cNvPr id="31" name="object 31"/>
          <p:cNvSpPr txBox="1"/>
          <p:nvPr/>
        </p:nvSpPr>
        <p:spPr>
          <a:xfrm>
            <a:off x="5641975" y="5707481"/>
            <a:ext cx="1146810" cy="664845"/>
          </a:xfrm>
          <a:prstGeom prst="rect">
            <a:avLst/>
          </a:prstGeom>
        </p:spPr>
        <p:txBody>
          <a:bodyPr vert="horz" wrap="square" lIns="0" tIns="11430" rIns="0" bIns="0" rtlCol="0">
            <a:spAutoFit/>
          </a:bodyPr>
          <a:lstStyle/>
          <a:p>
            <a:pPr marL="12700" marR="5080">
              <a:lnSpc>
                <a:spcPct val="100000"/>
              </a:lnSpc>
              <a:spcBef>
                <a:spcPts val="90"/>
              </a:spcBef>
            </a:pPr>
            <a:r>
              <a:rPr sz="1400" spc="-35" dirty="0">
                <a:latin typeface="Times New Roman"/>
                <a:cs typeface="Times New Roman"/>
              </a:rPr>
              <a:t>TANGGAL </a:t>
            </a:r>
            <a:r>
              <a:rPr sz="1400" spc="-30" dirty="0">
                <a:latin typeface="Times New Roman"/>
                <a:cs typeface="Times New Roman"/>
              </a:rPr>
              <a:t> </a:t>
            </a:r>
            <a:r>
              <a:rPr sz="1400" spc="-15" dirty="0">
                <a:latin typeface="Times New Roman"/>
                <a:cs typeface="Times New Roman"/>
              </a:rPr>
              <a:t>JAM-MASUK </a:t>
            </a:r>
            <a:r>
              <a:rPr sz="1400" spc="-10" dirty="0">
                <a:latin typeface="Times New Roman"/>
                <a:cs typeface="Times New Roman"/>
              </a:rPr>
              <a:t> </a:t>
            </a:r>
            <a:r>
              <a:rPr sz="1400" dirty="0">
                <a:latin typeface="Times New Roman"/>
                <a:cs typeface="Times New Roman"/>
              </a:rPr>
              <a:t>J</a:t>
            </a:r>
            <a:r>
              <a:rPr sz="1400" spc="-35" dirty="0">
                <a:latin typeface="Times New Roman"/>
                <a:cs typeface="Times New Roman"/>
              </a:rPr>
              <a:t>A</a:t>
            </a:r>
            <a:r>
              <a:rPr sz="1400" dirty="0">
                <a:latin typeface="Times New Roman"/>
                <a:cs typeface="Times New Roman"/>
              </a:rPr>
              <a:t>M</a:t>
            </a:r>
            <a:r>
              <a:rPr sz="1400" spc="-15" dirty="0">
                <a:latin typeface="Times New Roman"/>
                <a:cs typeface="Times New Roman"/>
              </a:rPr>
              <a:t>-P</a:t>
            </a:r>
            <a:r>
              <a:rPr sz="1400" spc="-10" dirty="0">
                <a:latin typeface="Times New Roman"/>
                <a:cs typeface="Times New Roman"/>
              </a:rPr>
              <a:t>U</a:t>
            </a:r>
            <a:r>
              <a:rPr sz="1400" spc="-40" dirty="0">
                <a:latin typeface="Times New Roman"/>
                <a:cs typeface="Times New Roman"/>
              </a:rPr>
              <a:t>L</a:t>
            </a:r>
            <a:r>
              <a:rPr sz="1400" spc="-35" dirty="0">
                <a:latin typeface="Times New Roman"/>
                <a:cs typeface="Times New Roman"/>
              </a:rPr>
              <a:t>A</a:t>
            </a:r>
            <a:r>
              <a:rPr sz="1400" spc="-10" dirty="0">
                <a:latin typeface="Times New Roman"/>
                <a:cs typeface="Times New Roman"/>
              </a:rPr>
              <a:t>NG</a:t>
            </a:r>
            <a:endParaRPr sz="1400">
              <a:latin typeface="Times New Roman"/>
              <a:cs typeface="Times New Roman"/>
            </a:endParaRPr>
          </a:p>
        </p:txBody>
      </p:sp>
      <p:sp>
        <p:nvSpPr>
          <p:cNvPr id="32" name="object 32"/>
          <p:cNvSpPr txBox="1"/>
          <p:nvPr/>
        </p:nvSpPr>
        <p:spPr>
          <a:xfrm>
            <a:off x="4269740" y="5707481"/>
            <a:ext cx="671195" cy="238125"/>
          </a:xfrm>
          <a:prstGeom prst="rect">
            <a:avLst/>
          </a:prstGeom>
        </p:spPr>
        <p:txBody>
          <a:bodyPr vert="horz" wrap="square" lIns="0" tIns="11430" rIns="0" bIns="0" rtlCol="0">
            <a:spAutoFit/>
          </a:bodyPr>
          <a:lstStyle/>
          <a:p>
            <a:pPr marL="12700">
              <a:lnSpc>
                <a:spcPct val="100000"/>
              </a:lnSpc>
              <a:spcBef>
                <a:spcPts val="90"/>
              </a:spcBef>
            </a:pPr>
            <a:r>
              <a:rPr sz="1400" u="sng" spc="-15" dirty="0">
                <a:uFill>
                  <a:solidFill>
                    <a:srgbClr val="000000"/>
                  </a:solidFill>
                </a:uFill>
                <a:latin typeface="Times New Roman"/>
                <a:cs typeface="Times New Roman"/>
              </a:rPr>
              <a:t>NO-PEG</a:t>
            </a:r>
            <a:endParaRPr sz="1400">
              <a:latin typeface="Times New Roman"/>
              <a:cs typeface="Times New Roman"/>
            </a:endParaRPr>
          </a:p>
        </p:txBody>
      </p:sp>
      <p:sp>
        <p:nvSpPr>
          <p:cNvPr id="33" name="object 33"/>
          <p:cNvSpPr txBox="1"/>
          <p:nvPr/>
        </p:nvSpPr>
        <p:spPr>
          <a:xfrm>
            <a:off x="5867400" y="4000500"/>
            <a:ext cx="2011680" cy="339725"/>
          </a:xfrm>
          <a:prstGeom prst="rect">
            <a:avLst/>
          </a:prstGeom>
          <a:ln w="19050">
            <a:solidFill>
              <a:srgbClr val="000000"/>
            </a:solidFill>
          </a:ln>
        </p:spPr>
        <p:txBody>
          <a:bodyPr vert="horz" wrap="square" lIns="0" tIns="52705" rIns="0" bIns="0" rtlCol="0">
            <a:spAutoFit/>
          </a:bodyPr>
          <a:lstStyle/>
          <a:p>
            <a:pPr marL="93345">
              <a:lnSpc>
                <a:spcPct val="100000"/>
              </a:lnSpc>
              <a:spcBef>
                <a:spcPts val="415"/>
              </a:spcBef>
            </a:pPr>
            <a:r>
              <a:rPr sz="1500" spc="-155" dirty="0">
                <a:latin typeface="Arial MT"/>
                <a:cs typeface="Arial MT"/>
              </a:rPr>
              <a:t>T</a:t>
            </a:r>
            <a:r>
              <a:rPr sz="1500" spc="-85" dirty="0">
                <a:latin typeface="Arial MT"/>
                <a:cs typeface="Arial MT"/>
              </a:rPr>
              <a:t>I</a:t>
            </a:r>
            <a:r>
              <a:rPr sz="1500" spc="-200" dirty="0">
                <a:latin typeface="Arial MT"/>
                <a:cs typeface="Arial MT"/>
              </a:rPr>
              <a:t>D</a:t>
            </a:r>
            <a:r>
              <a:rPr sz="1500" spc="-190" dirty="0">
                <a:latin typeface="Arial MT"/>
                <a:cs typeface="Arial MT"/>
              </a:rPr>
              <a:t>A</a:t>
            </a:r>
            <a:r>
              <a:rPr sz="1500" spc="-175" dirty="0">
                <a:latin typeface="Arial MT"/>
                <a:cs typeface="Arial MT"/>
              </a:rPr>
              <a:t>K</a:t>
            </a:r>
            <a:r>
              <a:rPr sz="1500" spc="-120" dirty="0">
                <a:latin typeface="Arial MT"/>
                <a:cs typeface="Arial MT"/>
              </a:rPr>
              <a:t> </a:t>
            </a:r>
            <a:r>
              <a:rPr sz="1500" spc="-225" dirty="0">
                <a:latin typeface="Arial MT"/>
                <a:cs typeface="Arial MT"/>
              </a:rPr>
              <a:t>M</a:t>
            </a:r>
            <a:r>
              <a:rPr sz="1500" spc="-195" dirty="0">
                <a:latin typeface="Arial MT"/>
                <a:cs typeface="Arial MT"/>
              </a:rPr>
              <a:t>E</a:t>
            </a:r>
            <a:r>
              <a:rPr sz="1500" spc="-225" dirty="0">
                <a:latin typeface="Arial MT"/>
                <a:cs typeface="Arial MT"/>
              </a:rPr>
              <a:t>M</a:t>
            </a:r>
            <a:r>
              <a:rPr sz="1500" spc="-195" dirty="0">
                <a:latin typeface="Arial MT"/>
                <a:cs typeface="Arial MT"/>
              </a:rPr>
              <a:t>P</a:t>
            </a:r>
            <a:r>
              <a:rPr sz="1500" spc="-200" dirty="0">
                <a:latin typeface="Arial MT"/>
                <a:cs typeface="Arial MT"/>
              </a:rPr>
              <a:t>UN</a:t>
            </a:r>
            <a:r>
              <a:rPr sz="1500" spc="-285" dirty="0">
                <a:latin typeface="Arial MT"/>
                <a:cs typeface="Arial MT"/>
              </a:rPr>
              <a:t>Y</a:t>
            </a:r>
            <a:r>
              <a:rPr sz="1500" spc="-190" dirty="0">
                <a:latin typeface="Arial MT"/>
                <a:cs typeface="Arial MT"/>
              </a:rPr>
              <a:t>A</a:t>
            </a:r>
            <a:r>
              <a:rPr sz="1500" spc="-75" dirty="0">
                <a:latin typeface="Arial MT"/>
                <a:cs typeface="Arial MT"/>
              </a:rPr>
              <a:t>I</a:t>
            </a:r>
            <a:r>
              <a:rPr sz="1500" spc="-70" dirty="0">
                <a:latin typeface="Arial MT"/>
                <a:cs typeface="Arial MT"/>
              </a:rPr>
              <a:t> </a:t>
            </a:r>
            <a:r>
              <a:rPr sz="1500" spc="-190" dirty="0">
                <a:latin typeface="Arial MT"/>
                <a:cs typeface="Arial MT"/>
              </a:rPr>
              <a:t>KE</a:t>
            </a:r>
            <a:r>
              <a:rPr sz="1500" spc="-175" dirty="0">
                <a:latin typeface="Arial MT"/>
                <a:cs typeface="Arial MT"/>
              </a:rPr>
              <a:t>Y</a:t>
            </a:r>
            <a:endParaRPr sz="1500">
              <a:latin typeface="Arial MT"/>
              <a:cs typeface="Arial MT"/>
            </a:endParaRPr>
          </a:p>
        </p:txBody>
      </p:sp>
      <p:sp>
        <p:nvSpPr>
          <p:cNvPr id="34" name="object 34"/>
          <p:cNvSpPr/>
          <p:nvPr/>
        </p:nvSpPr>
        <p:spPr>
          <a:xfrm>
            <a:off x="6693027" y="3422650"/>
            <a:ext cx="187325" cy="570230"/>
          </a:xfrm>
          <a:custGeom>
            <a:avLst/>
            <a:gdLst/>
            <a:ahLst/>
            <a:cxnLst/>
            <a:rect l="l" t="t" r="r" b="b"/>
            <a:pathLst>
              <a:path w="187325" h="570229">
                <a:moveTo>
                  <a:pt x="48132" y="73660"/>
                </a:moveTo>
                <a:lnTo>
                  <a:pt x="43365" y="80137"/>
                </a:lnTo>
                <a:lnTo>
                  <a:pt x="174751" y="569976"/>
                </a:lnTo>
                <a:lnTo>
                  <a:pt x="186944" y="566674"/>
                </a:lnTo>
                <a:lnTo>
                  <a:pt x="55680" y="76951"/>
                </a:lnTo>
                <a:lnTo>
                  <a:pt x="48132" y="73660"/>
                </a:lnTo>
                <a:close/>
              </a:path>
              <a:path w="187325" h="570229">
                <a:moveTo>
                  <a:pt x="28448" y="0"/>
                </a:moveTo>
                <a:lnTo>
                  <a:pt x="0" y="139064"/>
                </a:lnTo>
                <a:lnTo>
                  <a:pt x="43365" y="80137"/>
                </a:lnTo>
                <a:lnTo>
                  <a:pt x="42037" y="75184"/>
                </a:lnTo>
                <a:lnTo>
                  <a:pt x="54355" y="72009"/>
                </a:lnTo>
                <a:lnTo>
                  <a:pt x="92360" y="72009"/>
                </a:lnTo>
                <a:lnTo>
                  <a:pt x="28448" y="0"/>
                </a:lnTo>
                <a:close/>
              </a:path>
              <a:path w="187325" h="570229">
                <a:moveTo>
                  <a:pt x="92360" y="72009"/>
                </a:moveTo>
                <a:lnTo>
                  <a:pt x="54355" y="72009"/>
                </a:lnTo>
                <a:lnTo>
                  <a:pt x="55680" y="76951"/>
                </a:lnTo>
                <a:lnTo>
                  <a:pt x="122681" y="106172"/>
                </a:lnTo>
                <a:lnTo>
                  <a:pt x="92360" y="72009"/>
                </a:lnTo>
                <a:close/>
              </a:path>
              <a:path w="187325" h="570229">
                <a:moveTo>
                  <a:pt x="54355" y="72009"/>
                </a:moveTo>
                <a:lnTo>
                  <a:pt x="42037" y="75184"/>
                </a:lnTo>
                <a:lnTo>
                  <a:pt x="43365" y="80137"/>
                </a:lnTo>
                <a:lnTo>
                  <a:pt x="48132" y="73660"/>
                </a:lnTo>
                <a:lnTo>
                  <a:pt x="54798" y="73660"/>
                </a:lnTo>
                <a:lnTo>
                  <a:pt x="54355" y="72009"/>
                </a:lnTo>
                <a:close/>
              </a:path>
              <a:path w="187325" h="570229">
                <a:moveTo>
                  <a:pt x="54798" y="73660"/>
                </a:moveTo>
                <a:lnTo>
                  <a:pt x="48132" y="73660"/>
                </a:lnTo>
                <a:lnTo>
                  <a:pt x="55680" y="76951"/>
                </a:lnTo>
                <a:lnTo>
                  <a:pt x="54798" y="73660"/>
                </a:lnTo>
                <a:close/>
              </a:path>
            </a:pathLst>
          </a:custGeom>
          <a:solidFill>
            <a:srgbClr val="000000"/>
          </a:solid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457200"/>
            <a:ext cx="3759200" cy="457200"/>
          </a:xfrm>
          <a:prstGeom prst="rect">
            <a:avLst/>
          </a:prstGeom>
        </p:spPr>
      </p:pic>
      <p:sp>
        <p:nvSpPr>
          <p:cNvPr id="3" name="object 3"/>
          <p:cNvSpPr txBox="1"/>
          <p:nvPr/>
        </p:nvSpPr>
        <p:spPr>
          <a:xfrm>
            <a:off x="1201318" y="523443"/>
            <a:ext cx="2830830" cy="238125"/>
          </a:xfrm>
          <a:prstGeom prst="rect">
            <a:avLst/>
          </a:prstGeom>
        </p:spPr>
        <p:txBody>
          <a:bodyPr vert="horz" wrap="square" lIns="0" tIns="12065" rIns="0" bIns="0" rtlCol="0">
            <a:spAutoFit/>
          </a:bodyPr>
          <a:lstStyle/>
          <a:p>
            <a:pPr marL="12700">
              <a:lnSpc>
                <a:spcPct val="100000"/>
              </a:lnSpc>
              <a:spcBef>
                <a:spcPts val="95"/>
              </a:spcBef>
            </a:pPr>
            <a:r>
              <a:rPr sz="1400" spc="-30" dirty="0">
                <a:latin typeface="Times New Roman"/>
                <a:cs typeface="Times New Roman"/>
              </a:rPr>
              <a:t>ENTITY-RELATIONSHIP</a:t>
            </a:r>
            <a:r>
              <a:rPr sz="1400" spc="25"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grpSp>
        <p:nvGrpSpPr>
          <p:cNvPr id="4" name="object 4"/>
          <p:cNvGrpSpPr/>
          <p:nvPr/>
        </p:nvGrpSpPr>
        <p:grpSpPr>
          <a:xfrm>
            <a:off x="4098925" y="2106676"/>
            <a:ext cx="1463675" cy="561975"/>
            <a:chOff x="4098925" y="2106676"/>
            <a:chExt cx="1463675" cy="561975"/>
          </a:xfrm>
        </p:grpSpPr>
        <p:sp>
          <p:nvSpPr>
            <p:cNvPr id="5" name="object 5"/>
            <p:cNvSpPr/>
            <p:nvPr/>
          </p:nvSpPr>
          <p:spPr>
            <a:xfrm>
              <a:off x="4373625" y="2113026"/>
              <a:ext cx="914400" cy="549275"/>
            </a:xfrm>
            <a:custGeom>
              <a:avLst/>
              <a:gdLst/>
              <a:ahLst/>
              <a:cxnLst/>
              <a:rect l="l" t="t" r="r" b="b"/>
              <a:pathLst>
                <a:path w="914400" h="549275">
                  <a:moveTo>
                    <a:pt x="0" y="274954"/>
                  </a:moveTo>
                  <a:lnTo>
                    <a:pt x="457581" y="0"/>
                  </a:lnTo>
                </a:path>
                <a:path w="914400" h="549275">
                  <a:moveTo>
                    <a:pt x="456946" y="0"/>
                  </a:moveTo>
                  <a:lnTo>
                    <a:pt x="914400" y="274954"/>
                  </a:lnTo>
                </a:path>
                <a:path w="914400" h="549275">
                  <a:moveTo>
                    <a:pt x="0" y="274193"/>
                  </a:moveTo>
                  <a:lnTo>
                    <a:pt x="457581" y="549275"/>
                  </a:lnTo>
                </a:path>
                <a:path w="914400" h="549275">
                  <a:moveTo>
                    <a:pt x="456691" y="549275"/>
                  </a:moveTo>
                  <a:lnTo>
                    <a:pt x="914400" y="274193"/>
                  </a:lnTo>
                </a:path>
              </a:pathLst>
            </a:custGeom>
            <a:ln w="12700">
              <a:solidFill>
                <a:srgbClr val="000000"/>
              </a:solidFill>
            </a:ln>
          </p:spPr>
          <p:txBody>
            <a:bodyPr wrap="square" lIns="0" tIns="0" rIns="0" bIns="0" rtlCol="0"/>
            <a:lstStyle/>
            <a:p>
              <a:endParaRPr/>
            </a:p>
          </p:txBody>
        </p:sp>
        <p:sp>
          <p:nvSpPr>
            <p:cNvPr id="6" name="object 6"/>
            <p:cNvSpPr/>
            <p:nvPr/>
          </p:nvSpPr>
          <p:spPr>
            <a:xfrm>
              <a:off x="4098925" y="2387600"/>
              <a:ext cx="1463675" cy="0"/>
            </a:xfrm>
            <a:custGeom>
              <a:avLst/>
              <a:gdLst/>
              <a:ahLst/>
              <a:cxnLst/>
              <a:rect l="l" t="t" r="r" b="b"/>
              <a:pathLst>
                <a:path w="1463675">
                  <a:moveTo>
                    <a:pt x="274700" y="0"/>
                  </a:moveTo>
                  <a:lnTo>
                    <a:pt x="0" y="0"/>
                  </a:lnTo>
                </a:path>
                <a:path w="1463675">
                  <a:moveTo>
                    <a:pt x="1189101" y="0"/>
                  </a:moveTo>
                  <a:lnTo>
                    <a:pt x="1463675" y="0"/>
                  </a:lnTo>
                </a:path>
              </a:pathLst>
            </a:custGeom>
            <a:ln w="12700">
              <a:solidFill>
                <a:srgbClr val="000000"/>
              </a:solidFill>
            </a:ln>
          </p:spPr>
          <p:txBody>
            <a:bodyPr wrap="square" lIns="0" tIns="0" rIns="0" bIns="0" rtlCol="0"/>
            <a:lstStyle/>
            <a:p>
              <a:endParaRPr/>
            </a:p>
          </p:txBody>
        </p:sp>
      </p:grpSp>
      <p:sp>
        <p:nvSpPr>
          <p:cNvPr id="7" name="object 7"/>
          <p:cNvSpPr txBox="1"/>
          <p:nvPr/>
        </p:nvSpPr>
        <p:spPr>
          <a:xfrm>
            <a:off x="3184525" y="2113026"/>
            <a:ext cx="914400" cy="457200"/>
          </a:xfrm>
          <a:prstGeom prst="rect">
            <a:avLst/>
          </a:prstGeom>
          <a:ln w="12700">
            <a:solidFill>
              <a:srgbClr val="000000"/>
            </a:solidFill>
          </a:ln>
        </p:spPr>
        <p:txBody>
          <a:bodyPr vert="horz" wrap="square" lIns="0" tIns="1270" rIns="0" bIns="0" rtlCol="0">
            <a:spAutoFit/>
          </a:bodyPr>
          <a:lstStyle/>
          <a:p>
            <a:pPr>
              <a:lnSpc>
                <a:spcPct val="100000"/>
              </a:lnSpc>
              <a:spcBef>
                <a:spcPts val="10"/>
              </a:spcBef>
            </a:pPr>
            <a:endParaRPr sz="1300">
              <a:latin typeface="Times New Roman"/>
              <a:cs typeface="Times New Roman"/>
            </a:endParaRPr>
          </a:p>
          <a:p>
            <a:pPr marL="105410">
              <a:lnSpc>
                <a:spcPct val="100000"/>
              </a:lnSpc>
            </a:pPr>
            <a:r>
              <a:rPr sz="1000" spc="-5" dirty="0">
                <a:latin typeface="Times New Roman"/>
                <a:cs typeface="Times New Roman"/>
              </a:rPr>
              <a:t>PEGAWAI</a:t>
            </a:r>
            <a:endParaRPr sz="1000">
              <a:latin typeface="Times New Roman"/>
              <a:cs typeface="Times New Roman"/>
            </a:endParaRPr>
          </a:p>
        </p:txBody>
      </p:sp>
      <p:sp>
        <p:nvSpPr>
          <p:cNvPr id="8" name="object 8"/>
          <p:cNvSpPr txBox="1"/>
          <p:nvPr/>
        </p:nvSpPr>
        <p:spPr>
          <a:xfrm>
            <a:off x="4649851" y="2290394"/>
            <a:ext cx="419734"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K</a:t>
            </a:r>
            <a:r>
              <a:rPr sz="1000" spc="10" dirty="0">
                <a:latin typeface="Times New Roman"/>
                <a:cs typeface="Times New Roman"/>
              </a:rPr>
              <a:t>E</a:t>
            </a:r>
            <a:r>
              <a:rPr sz="1000" spc="-25" dirty="0">
                <a:latin typeface="Times New Roman"/>
                <a:cs typeface="Times New Roman"/>
              </a:rPr>
              <a:t>R</a:t>
            </a:r>
            <a:r>
              <a:rPr sz="1000" spc="-10" dirty="0">
                <a:latin typeface="Times New Roman"/>
                <a:cs typeface="Times New Roman"/>
              </a:rPr>
              <a:t>J</a:t>
            </a:r>
            <a:r>
              <a:rPr sz="1000" spc="5" dirty="0">
                <a:latin typeface="Times New Roman"/>
                <a:cs typeface="Times New Roman"/>
              </a:rPr>
              <a:t>A</a:t>
            </a:r>
            <a:endParaRPr sz="1000">
              <a:latin typeface="Times New Roman"/>
              <a:cs typeface="Times New Roman"/>
            </a:endParaRPr>
          </a:p>
        </p:txBody>
      </p:sp>
      <p:sp>
        <p:nvSpPr>
          <p:cNvPr id="9" name="object 9"/>
          <p:cNvSpPr txBox="1"/>
          <p:nvPr/>
        </p:nvSpPr>
        <p:spPr>
          <a:xfrm>
            <a:off x="5562600" y="2113026"/>
            <a:ext cx="914400" cy="457200"/>
          </a:xfrm>
          <a:prstGeom prst="rect">
            <a:avLst/>
          </a:prstGeom>
          <a:ln w="12700">
            <a:solidFill>
              <a:srgbClr val="000000"/>
            </a:solidFill>
          </a:ln>
        </p:spPr>
        <p:txBody>
          <a:bodyPr vert="horz" wrap="square" lIns="0" tIns="1270" rIns="0" bIns="0" rtlCol="0">
            <a:spAutoFit/>
          </a:bodyPr>
          <a:lstStyle/>
          <a:p>
            <a:pPr>
              <a:lnSpc>
                <a:spcPct val="100000"/>
              </a:lnSpc>
              <a:spcBef>
                <a:spcPts val="10"/>
              </a:spcBef>
            </a:pPr>
            <a:endParaRPr sz="1300">
              <a:latin typeface="Times New Roman"/>
              <a:cs typeface="Times New Roman"/>
            </a:endParaRPr>
          </a:p>
          <a:p>
            <a:pPr marL="196850">
              <a:lnSpc>
                <a:spcPct val="100000"/>
              </a:lnSpc>
            </a:pPr>
            <a:r>
              <a:rPr sz="1000" spc="-5" dirty="0">
                <a:latin typeface="Times New Roman"/>
                <a:cs typeface="Times New Roman"/>
              </a:rPr>
              <a:t>PROYEK</a:t>
            </a:r>
            <a:endParaRPr sz="1000">
              <a:latin typeface="Times New Roman"/>
              <a:cs typeface="Times New Roman"/>
            </a:endParaRPr>
          </a:p>
        </p:txBody>
      </p:sp>
      <p:sp>
        <p:nvSpPr>
          <p:cNvPr id="10" name="object 10"/>
          <p:cNvSpPr txBox="1"/>
          <p:nvPr/>
        </p:nvSpPr>
        <p:spPr>
          <a:xfrm>
            <a:off x="3682110" y="2849118"/>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sp>
        <p:nvSpPr>
          <p:cNvPr id="11" name="object 11"/>
          <p:cNvSpPr txBox="1"/>
          <p:nvPr/>
        </p:nvSpPr>
        <p:spPr>
          <a:xfrm>
            <a:off x="3709542" y="4800980"/>
            <a:ext cx="89535" cy="179070"/>
          </a:xfrm>
          <a:prstGeom prst="rect">
            <a:avLst/>
          </a:prstGeom>
        </p:spPr>
        <p:txBody>
          <a:bodyPr vert="horz" wrap="square" lIns="0" tIns="13335" rIns="0" bIns="0" rtlCol="0">
            <a:spAutoFit/>
          </a:bodyPr>
          <a:lstStyle/>
          <a:p>
            <a:pPr marL="12700">
              <a:lnSpc>
                <a:spcPct val="100000"/>
              </a:lnSpc>
              <a:spcBef>
                <a:spcPts val="105"/>
              </a:spcBef>
            </a:pPr>
            <a:r>
              <a:rPr sz="1000" dirty="0">
                <a:latin typeface="Times New Roman"/>
                <a:cs typeface="Times New Roman"/>
              </a:rPr>
              <a:t>1</a:t>
            </a:r>
            <a:endParaRPr sz="1000">
              <a:latin typeface="Times New Roman"/>
              <a:cs typeface="Times New Roman"/>
            </a:endParaRPr>
          </a:p>
        </p:txBody>
      </p:sp>
      <p:sp>
        <p:nvSpPr>
          <p:cNvPr id="12" name="object 12"/>
          <p:cNvSpPr txBox="1"/>
          <p:nvPr/>
        </p:nvSpPr>
        <p:spPr>
          <a:xfrm>
            <a:off x="3214751" y="4978463"/>
            <a:ext cx="914400" cy="459105"/>
          </a:xfrm>
          <a:prstGeom prst="rect">
            <a:avLst/>
          </a:prstGeom>
          <a:ln w="12700">
            <a:solidFill>
              <a:srgbClr val="000000"/>
            </a:solidFill>
          </a:ln>
        </p:spPr>
        <p:txBody>
          <a:bodyPr vert="horz" wrap="square" lIns="0" tIns="2540" rIns="0" bIns="0" rtlCol="0">
            <a:spAutoFit/>
          </a:bodyPr>
          <a:lstStyle/>
          <a:p>
            <a:pPr>
              <a:lnSpc>
                <a:spcPct val="100000"/>
              </a:lnSpc>
              <a:spcBef>
                <a:spcPts val="20"/>
              </a:spcBef>
            </a:pPr>
            <a:endParaRPr sz="1300">
              <a:latin typeface="Times New Roman"/>
              <a:cs typeface="Times New Roman"/>
            </a:endParaRPr>
          </a:p>
          <a:p>
            <a:pPr marL="195580">
              <a:lnSpc>
                <a:spcPct val="100000"/>
              </a:lnSpc>
            </a:pPr>
            <a:r>
              <a:rPr sz="1000" spc="-5" dirty="0">
                <a:latin typeface="Times New Roman"/>
                <a:cs typeface="Times New Roman"/>
              </a:rPr>
              <a:t>BAGIAN</a:t>
            </a:r>
            <a:endParaRPr sz="1000">
              <a:latin typeface="Times New Roman"/>
              <a:cs typeface="Times New Roman"/>
            </a:endParaRPr>
          </a:p>
        </p:txBody>
      </p:sp>
      <p:sp>
        <p:nvSpPr>
          <p:cNvPr id="13" name="object 13"/>
          <p:cNvSpPr txBox="1"/>
          <p:nvPr/>
        </p:nvSpPr>
        <p:spPr>
          <a:xfrm>
            <a:off x="3490721" y="3696080"/>
            <a:ext cx="45974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t>
            </a:r>
            <a:r>
              <a:rPr sz="1000" spc="-30" dirty="0">
                <a:latin typeface="Times New Roman"/>
                <a:cs typeface="Times New Roman"/>
              </a:rPr>
              <a:t>U</a:t>
            </a:r>
            <a:r>
              <a:rPr sz="1000" spc="-5" dirty="0">
                <a:latin typeface="Times New Roman"/>
                <a:cs typeface="Times New Roman"/>
              </a:rPr>
              <a:t>NY</a:t>
            </a:r>
            <a:r>
              <a:rPr sz="1000" spc="5" dirty="0">
                <a:latin typeface="Times New Roman"/>
                <a:cs typeface="Times New Roman"/>
              </a:rPr>
              <a:t>A</a:t>
            </a:r>
            <a:endParaRPr sz="1000">
              <a:latin typeface="Times New Roman"/>
              <a:cs typeface="Times New Roman"/>
            </a:endParaRPr>
          </a:p>
        </p:txBody>
      </p:sp>
      <p:sp>
        <p:nvSpPr>
          <p:cNvPr id="14" name="object 14"/>
          <p:cNvSpPr/>
          <p:nvPr/>
        </p:nvSpPr>
        <p:spPr>
          <a:xfrm>
            <a:off x="3214751" y="2600325"/>
            <a:ext cx="914400" cy="2378075"/>
          </a:xfrm>
          <a:custGeom>
            <a:avLst/>
            <a:gdLst/>
            <a:ahLst/>
            <a:cxnLst/>
            <a:rect l="l" t="t" r="r" b="b"/>
            <a:pathLst>
              <a:path w="914400" h="2378075">
                <a:moveTo>
                  <a:pt x="457200" y="916051"/>
                </a:moveTo>
                <a:lnTo>
                  <a:pt x="457200" y="0"/>
                </a:lnTo>
              </a:path>
              <a:path w="914400" h="2378075">
                <a:moveTo>
                  <a:pt x="0" y="1194054"/>
                </a:moveTo>
                <a:lnTo>
                  <a:pt x="457453" y="919226"/>
                </a:lnTo>
              </a:path>
              <a:path w="914400" h="2378075">
                <a:moveTo>
                  <a:pt x="456819" y="919226"/>
                </a:moveTo>
                <a:lnTo>
                  <a:pt x="914400" y="1194054"/>
                </a:lnTo>
              </a:path>
              <a:path w="914400" h="2378075">
                <a:moveTo>
                  <a:pt x="457200" y="2378075"/>
                </a:moveTo>
                <a:lnTo>
                  <a:pt x="457200" y="1468374"/>
                </a:lnTo>
              </a:path>
              <a:path w="914400" h="2378075">
                <a:moveTo>
                  <a:pt x="0" y="1193545"/>
                </a:moveTo>
                <a:lnTo>
                  <a:pt x="457453" y="1468374"/>
                </a:lnTo>
              </a:path>
              <a:path w="914400" h="2378075">
                <a:moveTo>
                  <a:pt x="456819" y="1468374"/>
                </a:moveTo>
                <a:lnTo>
                  <a:pt x="914400" y="1193545"/>
                </a:lnTo>
              </a:path>
            </a:pathLst>
          </a:custGeom>
          <a:ln w="12700">
            <a:solidFill>
              <a:srgbClr val="000000"/>
            </a:solidFill>
          </a:ln>
        </p:spPr>
        <p:txBody>
          <a:bodyPr wrap="square" lIns="0" tIns="0" rIns="0" bIns="0" rtlCol="0"/>
          <a:lstStyle/>
          <a:p>
            <a:endParaRPr/>
          </a:p>
        </p:txBody>
      </p:sp>
      <p:sp>
        <p:nvSpPr>
          <p:cNvPr id="15" name="object 15"/>
          <p:cNvSpPr txBox="1"/>
          <p:nvPr/>
        </p:nvSpPr>
        <p:spPr>
          <a:xfrm>
            <a:off x="6134227" y="4805553"/>
            <a:ext cx="11811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N</a:t>
            </a:r>
            <a:endParaRPr sz="1000">
              <a:latin typeface="Times New Roman"/>
              <a:cs typeface="Times New Roman"/>
            </a:endParaRPr>
          </a:p>
        </p:txBody>
      </p:sp>
      <p:sp>
        <p:nvSpPr>
          <p:cNvPr id="16" name="object 16"/>
          <p:cNvSpPr txBox="1"/>
          <p:nvPr/>
        </p:nvSpPr>
        <p:spPr>
          <a:xfrm>
            <a:off x="6059551" y="2849118"/>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sp>
        <p:nvSpPr>
          <p:cNvPr id="17" name="object 17"/>
          <p:cNvSpPr txBox="1"/>
          <p:nvPr/>
        </p:nvSpPr>
        <p:spPr>
          <a:xfrm>
            <a:off x="5562600" y="4953000"/>
            <a:ext cx="916305" cy="457200"/>
          </a:xfrm>
          <a:prstGeom prst="rect">
            <a:avLst/>
          </a:prstGeom>
          <a:ln w="12700">
            <a:solidFill>
              <a:srgbClr val="000000"/>
            </a:solidFill>
          </a:ln>
        </p:spPr>
        <p:txBody>
          <a:bodyPr vert="horz" wrap="square" lIns="0" tIns="2540" rIns="0" bIns="0" rtlCol="0">
            <a:spAutoFit/>
          </a:bodyPr>
          <a:lstStyle/>
          <a:p>
            <a:pPr>
              <a:lnSpc>
                <a:spcPct val="100000"/>
              </a:lnSpc>
              <a:spcBef>
                <a:spcPts val="20"/>
              </a:spcBef>
            </a:pPr>
            <a:endParaRPr sz="1300">
              <a:latin typeface="Times New Roman"/>
              <a:cs typeface="Times New Roman"/>
            </a:endParaRPr>
          </a:p>
          <a:p>
            <a:pPr marL="196850">
              <a:lnSpc>
                <a:spcPct val="100000"/>
              </a:lnSpc>
            </a:pPr>
            <a:r>
              <a:rPr sz="1000" spc="-10" dirty="0">
                <a:latin typeface="Times New Roman"/>
                <a:cs typeface="Times New Roman"/>
              </a:rPr>
              <a:t>BARANG</a:t>
            </a:r>
            <a:endParaRPr sz="1000">
              <a:latin typeface="Times New Roman"/>
              <a:cs typeface="Times New Roman"/>
            </a:endParaRPr>
          </a:p>
        </p:txBody>
      </p:sp>
      <p:sp>
        <p:nvSpPr>
          <p:cNvPr id="18" name="object 18"/>
          <p:cNvSpPr/>
          <p:nvPr/>
        </p:nvSpPr>
        <p:spPr>
          <a:xfrm>
            <a:off x="5562600" y="3505200"/>
            <a:ext cx="916305" cy="549275"/>
          </a:xfrm>
          <a:custGeom>
            <a:avLst/>
            <a:gdLst/>
            <a:ahLst/>
            <a:cxnLst/>
            <a:rect l="l" t="t" r="r" b="b"/>
            <a:pathLst>
              <a:path w="916304" h="549275">
                <a:moveTo>
                  <a:pt x="0" y="274955"/>
                </a:moveTo>
                <a:lnTo>
                  <a:pt x="458342" y="0"/>
                </a:lnTo>
              </a:path>
              <a:path w="916304" h="549275">
                <a:moveTo>
                  <a:pt x="457708" y="0"/>
                </a:moveTo>
                <a:lnTo>
                  <a:pt x="916051" y="274955"/>
                </a:lnTo>
              </a:path>
              <a:path w="916304" h="549275">
                <a:moveTo>
                  <a:pt x="0" y="274319"/>
                </a:moveTo>
                <a:lnTo>
                  <a:pt x="458342" y="549275"/>
                </a:lnTo>
              </a:path>
              <a:path w="916304" h="549275">
                <a:moveTo>
                  <a:pt x="457708" y="549275"/>
                </a:moveTo>
                <a:lnTo>
                  <a:pt x="916051" y="274319"/>
                </a:lnTo>
              </a:path>
            </a:pathLst>
          </a:custGeom>
          <a:ln w="12700">
            <a:solidFill>
              <a:srgbClr val="000000"/>
            </a:solidFill>
          </a:ln>
        </p:spPr>
        <p:txBody>
          <a:bodyPr wrap="square" lIns="0" tIns="0" rIns="0" bIns="0" rtlCol="0"/>
          <a:lstStyle/>
          <a:p>
            <a:endParaRPr/>
          </a:p>
        </p:txBody>
      </p:sp>
      <p:sp>
        <p:nvSpPr>
          <p:cNvPr id="19" name="object 19"/>
          <p:cNvSpPr txBox="1"/>
          <p:nvPr/>
        </p:nvSpPr>
        <p:spPr>
          <a:xfrm>
            <a:off x="5839205" y="3683254"/>
            <a:ext cx="41148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PAKAI</a:t>
            </a:r>
            <a:endParaRPr sz="1000">
              <a:latin typeface="Times New Roman"/>
              <a:cs typeface="Times New Roman"/>
            </a:endParaRPr>
          </a:p>
        </p:txBody>
      </p:sp>
      <p:sp>
        <p:nvSpPr>
          <p:cNvPr id="20" name="object 20"/>
          <p:cNvSpPr/>
          <p:nvPr/>
        </p:nvSpPr>
        <p:spPr>
          <a:xfrm>
            <a:off x="6048375" y="2601976"/>
            <a:ext cx="0" cy="914400"/>
          </a:xfrm>
          <a:custGeom>
            <a:avLst/>
            <a:gdLst/>
            <a:ahLst/>
            <a:cxnLst/>
            <a:rect l="l" t="t" r="r" b="b"/>
            <a:pathLst>
              <a:path h="914400">
                <a:moveTo>
                  <a:pt x="0" y="914400"/>
                </a:moveTo>
                <a:lnTo>
                  <a:pt x="0" y="0"/>
                </a:lnTo>
              </a:path>
            </a:pathLst>
          </a:custGeom>
          <a:ln w="12700">
            <a:solidFill>
              <a:srgbClr val="000000"/>
            </a:solidFill>
          </a:ln>
        </p:spPr>
        <p:txBody>
          <a:bodyPr wrap="square" lIns="0" tIns="0" rIns="0" bIns="0" rtlCol="0"/>
          <a:lstStyle/>
          <a:p>
            <a:endParaRPr/>
          </a:p>
        </p:txBody>
      </p:sp>
      <p:sp>
        <p:nvSpPr>
          <p:cNvPr id="21" name="object 21"/>
          <p:cNvSpPr/>
          <p:nvPr/>
        </p:nvSpPr>
        <p:spPr>
          <a:xfrm>
            <a:off x="6019800" y="4114800"/>
            <a:ext cx="0" cy="838200"/>
          </a:xfrm>
          <a:custGeom>
            <a:avLst/>
            <a:gdLst/>
            <a:ahLst/>
            <a:cxnLst/>
            <a:rect l="l" t="t" r="r" b="b"/>
            <a:pathLst>
              <a:path h="838200">
                <a:moveTo>
                  <a:pt x="0" y="838200"/>
                </a:moveTo>
                <a:lnTo>
                  <a:pt x="0" y="0"/>
                </a:lnTo>
              </a:path>
            </a:pathLst>
          </a:custGeom>
          <a:ln w="12700">
            <a:solidFill>
              <a:srgbClr val="000000"/>
            </a:solidFill>
          </a:ln>
        </p:spPr>
        <p:txBody>
          <a:bodyPr wrap="square" lIns="0" tIns="0" rIns="0" bIns="0" rtlCol="0"/>
          <a:lstStyle/>
          <a:p>
            <a:endParaRPr/>
          </a:p>
        </p:txBody>
      </p:sp>
      <p:sp>
        <p:nvSpPr>
          <p:cNvPr id="22" name="object 22"/>
          <p:cNvSpPr txBox="1"/>
          <p:nvPr/>
        </p:nvSpPr>
        <p:spPr>
          <a:xfrm>
            <a:off x="5372227" y="2137410"/>
            <a:ext cx="89535" cy="179070"/>
          </a:xfrm>
          <a:prstGeom prst="rect">
            <a:avLst/>
          </a:prstGeom>
        </p:spPr>
        <p:txBody>
          <a:bodyPr vert="horz" wrap="square" lIns="0" tIns="13335" rIns="0" bIns="0" rtlCol="0">
            <a:spAutoFit/>
          </a:bodyPr>
          <a:lstStyle/>
          <a:p>
            <a:pPr marL="12700">
              <a:lnSpc>
                <a:spcPct val="100000"/>
              </a:lnSpc>
              <a:spcBef>
                <a:spcPts val="105"/>
              </a:spcBef>
            </a:pPr>
            <a:r>
              <a:rPr sz="1000" dirty="0">
                <a:latin typeface="Times New Roman"/>
                <a:cs typeface="Times New Roman"/>
              </a:rPr>
              <a:t>1</a:t>
            </a:r>
            <a:endParaRPr sz="1000">
              <a:latin typeface="Times New Roman"/>
              <a:cs typeface="Times New Roman"/>
            </a:endParaRPr>
          </a:p>
        </p:txBody>
      </p:sp>
      <p:sp>
        <p:nvSpPr>
          <p:cNvPr id="23" name="object 23"/>
          <p:cNvSpPr txBox="1"/>
          <p:nvPr/>
        </p:nvSpPr>
        <p:spPr>
          <a:xfrm>
            <a:off x="4139565" y="2361437"/>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sp>
        <p:nvSpPr>
          <p:cNvPr id="24" name="object 24"/>
          <p:cNvSpPr txBox="1"/>
          <p:nvPr/>
        </p:nvSpPr>
        <p:spPr>
          <a:xfrm>
            <a:off x="2364104" y="2010283"/>
            <a:ext cx="586740" cy="574040"/>
          </a:xfrm>
          <a:prstGeom prst="rect">
            <a:avLst/>
          </a:prstGeom>
        </p:spPr>
        <p:txBody>
          <a:bodyPr vert="horz" wrap="square" lIns="0" tIns="12700" rIns="0" bIns="0" rtlCol="0">
            <a:spAutoFit/>
          </a:bodyPr>
          <a:lstStyle/>
          <a:p>
            <a:pPr marL="12700" marR="5080">
              <a:lnSpc>
                <a:spcPct val="100000"/>
              </a:lnSpc>
              <a:spcBef>
                <a:spcPts val="100"/>
              </a:spcBef>
            </a:pPr>
            <a:r>
              <a:rPr sz="1200" u="sng" spc="-10" dirty="0">
                <a:uFill>
                  <a:solidFill>
                    <a:srgbClr val="000000"/>
                  </a:solidFill>
                </a:uFill>
                <a:latin typeface="Times New Roman"/>
                <a:cs typeface="Times New Roman"/>
              </a:rPr>
              <a:t>NO</a:t>
            </a:r>
            <a:r>
              <a:rPr sz="1200" u="sng" spc="5" dirty="0">
                <a:uFill>
                  <a:solidFill>
                    <a:srgbClr val="000000"/>
                  </a:solidFill>
                </a:uFill>
                <a:latin typeface="Times New Roman"/>
                <a:cs typeface="Times New Roman"/>
              </a:rPr>
              <a:t>-</a:t>
            </a:r>
            <a:r>
              <a:rPr sz="1200" u="sng" spc="-5" dirty="0">
                <a:uFill>
                  <a:solidFill>
                    <a:srgbClr val="000000"/>
                  </a:solidFill>
                </a:uFill>
                <a:latin typeface="Times New Roman"/>
                <a:cs typeface="Times New Roman"/>
              </a:rPr>
              <a:t>P</a:t>
            </a:r>
            <a:r>
              <a:rPr sz="1200" u="sng" spc="5" dirty="0">
                <a:uFill>
                  <a:solidFill>
                    <a:srgbClr val="000000"/>
                  </a:solidFill>
                </a:uFill>
                <a:latin typeface="Times New Roman"/>
                <a:cs typeface="Times New Roman"/>
              </a:rPr>
              <a:t>E</a:t>
            </a:r>
            <a:r>
              <a:rPr sz="1200" u="sng" spc="-5" dirty="0">
                <a:uFill>
                  <a:solidFill>
                    <a:srgbClr val="000000"/>
                  </a:solidFill>
                </a:uFill>
                <a:latin typeface="Times New Roman"/>
                <a:cs typeface="Times New Roman"/>
              </a:rPr>
              <a:t>G </a:t>
            </a:r>
            <a:r>
              <a:rPr sz="1200" spc="-5" dirty="0">
                <a:latin typeface="Times New Roman"/>
                <a:cs typeface="Times New Roman"/>
              </a:rPr>
              <a:t> </a:t>
            </a:r>
            <a:r>
              <a:rPr sz="1200" spc="-15" dirty="0">
                <a:latin typeface="Times New Roman"/>
                <a:cs typeface="Times New Roman"/>
              </a:rPr>
              <a:t>NAMA </a:t>
            </a:r>
            <a:r>
              <a:rPr sz="1200" spc="-10" dirty="0">
                <a:latin typeface="Times New Roman"/>
                <a:cs typeface="Times New Roman"/>
              </a:rPr>
              <a:t> GAPOK</a:t>
            </a:r>
            <a:endParaRPr sz="1200">
              <a:latin typeface="Times New Roman"/>
              <a:cs typeface="Times New Roman"/>
            </a:endParaRPr>
          </a:p>
        </p:txBody>
      </p:sp>
      <p:sp>
        <p:nvSpPr>
          <p:cNvPr id="25" name="object 25"/>
          <p:cNvSpPr txBox="1"/>
          <p:nvPr/>
        </p:nvSpPr>
        <p:spPr>
          <a:xfrm>
            <a:off x="2364104" y="2558872"/>
            <a:ext cx="986155" cy="391795"/>
          </a:xfrm>
          <a:prstGeom prst="rect">
            <a:avLst/>
          </a:prstGeom>
        </p:spPr>
        <p:txBody>
          <a:bodyPr vert="horz" wrap="square" lIns="0" tIns="12700" rIns="0" bIns="0" rtlCol="0">
            <a:spAutoFit/>
          </a:bodyPr>
          <a:lstStyle/>
          <a:p>
            <a:pPr marL="12700">
              <a:lnSpc>
                <a:spcPct val="100000"/>
              </a:lnSpc>
              <a:spcBef>
                <a:spcPts val="100"/>
              </a:spcBef>
            </a:pPr>
            <a:r>
              <a:rPr sz="1200" spc="-15" dirty="0">
                <a:latin typeface="Times New Roman"/>
                <a:cs typeface="Times New Roman"/>
              </a:rPr>
              <a:t>LAMA-KERJA</a:t>
            </a:r>
            <a:endParaRPr sz="1200">
              <a:latin typeface="Times New Roman"/>
              <a:cs typeface="Times New Roman"/>
            </a:endParaRPr>
          </a:p>
          <a:p>
            <a:pPr marL="12700">
              <a:lnSpc>
                <a:spcPct val="100000"/>
              </a:lnSpc>
            </a:pPr>
            <a:r>
              <a:rPr sz="1200" spc="-55" dirty="0">
                <a:latin typeface="Times New Roman"/>
                <a:cs typeface="Times New Roman"/>
              </a:rPr>
              <a:t>JABATAN</a:t>
            </a:r>
            <a:endParaRPr sz="1200">
              <a:latin typeface="Times New Roman"/>
              <a:cs typeface="Times New Roman"/>
            </a:endParaRPr>
          </a:p>
        </p:txBody>
      </p:sp>
      <p:sp>
        <p:nvSpPr>
          <p:cNvPr id="26" name="object 26"/>
          <p:cNvSpPr txBox="1"/>
          <p:nvPr/>
        </p:nvSpPr>
        <p:spPr>
          <a:xfrm>
            <a:off x="6647180" y="1857578"/>
            <a:ext cx="940435" cy="574675"/>
          </a:xfrm>
          <a:prstGeom prst="rect">
            <a:avLst/>
          </a:prstGeom>
        </p:spPr>
        <p:txBody>
          <a:bodyPr vert="horz" wrap="square" lIns="0" tIns="12700" rIns="0" bIns="0" rtlCol="0">
            <a:spAutoFit/>
          </a:bodyPr>
          <a:lstStyle/>
          <a:p>
            <a:pPr marL="12700" marR="5080">
              <a:lnSpc>
                <a:spcPct val="100000"/>
              </a:lnSpc>
              <a:spcBef>
                <a:spcPts val="100"/>
              </a:spcBef>
            </a:pPr>
            <a:r>
              <a:rPr sz="1200" u="sng" spc="-5" dirty="0">
                <a:uFill>
                  <a:solidFill>
                    <a:srgbClr val="000000"/>
                  </a:solidFill>
                </a:uFill>
                <a:latin typeface="Times New Roman"/>
                <a:cs typeface="Times New Roman"/>
              </a:rPr>
              <a:t>NO-PROY </a:t>
            </a:r>
            <a:r>
              <a:rPr sz="1200" dirty="0">
                <a:latin typeface="Times New Roman"/>
                <a:cs typeface="Times New Roman"/>
              </a:rPr>
              <a:t> </a:t>
            </a:r>
            <a:r>
              <a:rPr sz="1200" spc="-5" dirty="0">
                <a:latin typeface="Times New Roman"/>
                <a:cs typeface="Times New Roman"/>
              </a:rPr>
              <a:t>N</a:t>
            </a:r>
            <a:r>
              <a:rPr sz="1200" spc="-35" dirty="0">
                <a:latin typeface="Times New Roman"/>
                <a:cs typeface="Times New Roman"/>
              </a:rPr>
              <a:t>A</a:t>
            </a:r>
            <a:r>
              <a:rPr sz="1200" spc="-20" dirty="0">
                <a:latin typeface="Times New Roman"/>
                <a:cs typeface="Times New Roman"/>
              </a:rPr>
              <a:t>M</a:t>
            </a:r>
            <a:r>
              <a:rPr sz="1200" spc="-35" dirty="0">
                <a:latin typeface="Times New Roman"/>
                <a:cs typeface="Times New Roman"/>
              </a:rPr>
              <a:t>A</a:t>
            </a:r>
            <a:r>
              <a:rPr sz="1200" spc="5" dirty="0">
                <a:latin typeface="Times New Roman"/>
                <a:cs typeface="Times New Roman"/>
              </a:rPr>
              <a:t>-</a:t>
            </a:r>
            <a:r>
              <a:rPr sz="1200" spc="-5" dirty="0">
                <a:latin typeface="Times New Roman"/>
                <a:cs typeface="Times New Roman"/>
              </a:rPr>
              <a:t>P</a:t>
            </a:r>
            <a:r>
              <a:rPr sz="1200" spc="-10" dirty="0">
                <a:latin typeface="Times New Roman"/>
                <a:cs typeface="Times New Roman"/>
              </a:rPr>
              <a:t>R</a:t>
            </a:r>
            <a:r>
              <a:rPr sz="1200" spc="-5" dirty="0">
                <a:latin typeface="Times New Roman"/>
                <a:cs typeface="Times New Roman"/>
              </a:rPr>
              <a:t>OY  </a:t>
            </a:r>
            <a:r>
              <a:rPr sz="1200" spc="-65" dirty="0">
                <a:latin typeface="Times New Roman"/>
                <a:cs typeface="Times New Roman"/>
              </a:rPr>
              <a:t>BIAYA</a:t>
            </a:r>
            <a:endParaRPr sz="1200">
              <a:latin typeface="Times New Roman"/>
              <a:cs typeface="Times New Roman"/>
            </a:endParaRPr>
          </a:p>
        </p:txBody>
      </p:sp>
      <p:sp>
        <p:nvSpPr>
          <p:cNvPr id="27" name="object 27"/>
          <p:cNvSpPr txBox="1"/>
          <p:nvPr/>
        </p:nvSpPr>
        <p:spPr>
          <a:xfrm>
            <a:off x="6647180" y="3458717"/>
            <a:ext cx="702945" cy="574675"/>
          </a:xfrm>
          <a:prstGeom prst="rect">
            <a:avLst/>
          </a:prstGeom>
        </p:spPr>
        <p:txBody>
          <a:bodyPr vert="horz" wrap="square" lIns="0" tIns="12700" rIns="0" bIns="0" rtlCol="0">
            <a:spAutoFit/>
          </a:bodyPr>
          <a:lstStyle/>
          <a:p>
            <a:pPr marL="12700" marR="5080">
              <a:lnSpc>
                <a:spcPct val="100000"/>
              </a:lnSpc>
              <a:spcBef>
                <a:spcPts val="100"/>
              </a:spcBef>
            </a:pPr>
            <a:r>
              <a:rPr sz="1200" u="sng" spc="-10" dirty="0">
                <a:uFill>
                  <a:solidFill>
                    <a:srgbClr val="000000"/>
                  </a:solidFill>
                </a:uFill>
                <a:latin typeface="Times New Roman"/>
                <a:cs typeface="Times New Roman"/>
              </a:rPr>
              <a:t>NO</a:t>
            </a:r>
            <a:r>
              <a:rPr sz="1200" u="sng" spc="5" dirty="0">
                <a:uFill>
                  <a:solidFill>
                    <a:srgbClr val="000000"/>
                  </a:solidFill>
                </a:uFill>
                <a:latin typeface="Times New Roman"/>
                <a:cs typeface="Times New Roman"/>
              </a:rPr>
              <a:t>-</a:t>
            </a:r>
            <a:r>
              <a:rPr sz="1200" u="sng" spc="-5" dirty="0">
                <a:uFill>
                  <a:solidFill>
                    <a:srgbClr val="000000"/>
                  </a:solidFill>
                </a:uFill>
                <a:latin typeface="Times New Roman"/>
                <a:cs typeface="Times New Roman"/>
              </a:rPr>
              <a:t>P</a:t>
            </a:r>
            <a:r>
              <a:rPr sz="1200" u="sng" spc="-10" dirty="0">
                <a:uFill>
                  <a:solidFill>
                    <a:srgbClr val="000000"/>
                  </a:solidFill>
                </a:uFill>
                <a:latin typeface="Times New Roman"/>
                <a:cs typeface="Times New Roman"/>
              </a:rPr>
              <a:t>R</a:t>
            </a:r>
            <a:r>
              <a:rPr sz="1200" u="sng" spc="-5" dirty="0">
                <a:uFill>
                  <a:solidFill>
                    <a:srgbClr val="000000"/>
                  </a:solidFill>
                </a:uFill>
                <a:latin typeface="Times New Roman"/>
                <a:cs typeface="Times New Roman"/>
              </a:rPr>
              <a:t>OY </a:t>
            </a:r>
            <a:r>
              <a:rPr sz="1200" spc="-5" dirty="0">
                <a:latin typeface="Times New Roman"/>
                <a:cs typeface="Times New Roman"/>
              </a:rPr>
              <a:t> </a:t>
            </a:r>
            <a:r>
              <a:rPr sz="1200" u="sng" spc="-15" dirty="0">
                <a:uFill>
                  <a:solidFill>
                    <a:srgbClr val="000000"/>
                  </a:solidFill>
                </a:uFill>
                <a:latin typeface="Times New Roman"/>
                <a:cs typeface="Times New Roman"/>
              </a:rPr>
              <a:t>KD-BAR </a:t>
            </a:r>
            <a:r>
              <a:rPr sz="1200" spc="-10" dirty="0">
                <a:latin typeface="Times New Roman"/>
                <a:cs typeface="Times New Roman"/>
              </a:rPr>
              <a:t> </a:t>
            </a:r>
            <a:r>
              <a:rPr sz="1200" spc="-15" dirty="0">
                <a:latin typeface="Times New Roman"/>
                <a:cs typeface="Times New Roman"/>
              </a:rPr>
              <a:t>JUMLAH</a:t>
            </a:r>
            <a:endParaRPr sz="1200">
              <a:latin typeface="Times New Roman"/>
              <a:cs typeface="Times New Roman"/>
            </a:endParaRPr>
          </a:p>
        </p:txBody>
      </p:sp>
      <p:sp>
        <p:nvSpPr>
          <p:cNvPr id="28" name="object 28"/>
          <p:cNvSpPr txBox="1"/>
          <p:nvPr/>
        </p:nvSpPr>
        <p:spPr>
          <a:xfrm>
            <a:off x="6647180" y="4830826"/>
            <a:ext cx="920115" cy="574675"/>
          </a:xfrm>
          <a:prstGeom prst="rect">
            <a:avLst/>
          </a:prstGeom>
        </p:spPr>
        <p:txBody>
          <a:bodyPr vert="horz" wrap="square" lIns="0" tIns="12700" rIns="0" bIns="0" rtlCol="0">
            <a:spAutoFit/>
          </a:bodyPr>
          <a:lstStyle/>
          <a:p>
            <a:pPr marL="12700" marR="5080">
              <a:lnSpc>
                <a:spcPct val="100000"/>
              </a:lnSpc>
              <a:spcBef>
                <a:spcPts val="100"/>
              </a:spcBef>
            </a:pPr>
            <a:r>
              <a:rPr sz="1200" u="sng" spc="-15" dirty="0">
                <a:uFill>
                  <a:solidFill>
                    <a:srgbClr val="000000"/>
                  </a:solidFill>
                </a:uFill>
                <a:latin typeface="Times New Roman"/>
                <a:cs typeface="Times New Roman"/>
              </a:rPr>
              <a:t>KD-BAR </a:t>
            </a:r>
            <a:r>
              <a:rPr sz="1200" spc="-10" dirty="0">
                <a:latin typeface="Times New Roman"/>
                <a:cs typeface="Times New Roman"/>
              </a:rPr>
              <a:t> </a:t>
            </a:r>
            <a:r>
              <a:rPr sz="1200" spc="-5" dirty="0">
                <a:latin typeface="Times New Roman"/>
                <a:cs typeface="Times New Roman"/>
              </a:rPr>
              <a:t>H</a:t>
            </a:r>
            <a:r>
              <a:rPr sz="1200" spc="-35" dirty="0">
                <a:latin typeface="Times New Roman"/>
                <a:cs typeface="Times New Roman"/>
              </a:rPr>
              <a:t>A</a:t>
            </a:r>
            <a:r>
              <a:rPr sz="1200" spc="-10" dirty="0">
                <a:latin typeface="Times New Roman"/>
                <a:cs typeface="Times New Roman"/>
              </a:rPr>
              <a:t>R</a:t>
            </a:r>
            <a:r>
              <a:rPr sz="1200" spc="-5" dirty="0">
                <a:latin typeface="Times New Roman"/>
                <a:cs typeface="Times New Roman"/>
              </a:rPr>
              <a:t>G</a:t>
            </a:r>
            <a:r>
              <a:rPr sz="1200" spc="-35" dirty="0">
                <a:latin typeface="Times New Roman"/>
                <a:cs typeface="Times New Roman"/>
              </a:rPr>
              <a:t>A</a:t>
            </a:r>
            <a:r>
              <a:rPr sz="1200" spc="5" dirty="0">
                <a:latin typeface="Times New Roman"/>
                <a:cs typeface="Times New Roman"/>
              </a:rPr>
              <a:t>-</a:t>
            </a:r>
            <a:r>
              <a:rPr sz="1200" spc="-10" dirty="0">
                <a:latin typeface="Times New Roman"/>
                <a:cs typeface="Times New Roman"/>
              </a:rPr>
              <a:t>B</a:t>
            </a:r>
            <a:r>
              <a:rPr sz="1200" spc="-35" dirty="0">
                <a:latin typeface="Times New Roman"/>
                <a:cs typeface="Times New Roman"/>
              </a:rPr>
              <a:t>A</a:t>
            </a:r>
            <a:r>
              <a:rPr sz="1200" dirty="0">
                <a:latin typeface="Times New Roman"/>
                <a:cs typeface="Times New Roman"/>
              </a:rPr>
              <a:t>R  </a:t>
            </a:r>
            <a:r>
              <a:rPr sz="1200" spc="-15" dirty="0">
                <a:latin typeface="Times New Roman"/>
                <a:cs typeface="Times New Roman"/>
              </a:rPr>
              <a:t>NAMA-BAR</a:t>
            </a:r>
            <a:endParaRPr sz="1200">
              <a:latin typeface="Times New Roman"/>
              <a:cs typeface="Times New Roman"/>
            </a:endParaRPr>
          </a:p>
        </p:txBody>
      </p:sp>
      <p:sp>
        <p:nvSpPr>
          <p:cNvPr id="29" name="object 29"/>
          <p:cNvSpPr txBox="1"/>
          <p:nvPr/>
        </p:nvSpPr>
        <p:spPr>
          <a:xfrm>
            <a:off x="2287904" y="4940249"/>
            <a:ext cx="852169" cy="391795"/>
          </a:xfrm>
          <a:prstGeom prst="rect">
            <a:avLst/>
          </a:prstGeom>
        </p:spPr>
        <p:txBody>
          <a:bodyPr vert="horz" wrap="square" lIns="0" tIns="12700" rIns="0" bIns="0" rtlCol="0">
            <a:spAutoFit/>
          </a:bodyPr>
          <a:lstStyle/>
          <a:p>
            <a:pPr marL="12700">
              <a:lnSpc>
                <a:spcPct val="100000"/>
              </a:lnSpc>
              <a:spcBef>
                <a:spcPts val="100"/>
              </a:spcBef>
            </a:pPr>
            <a:r>
              <a:rPr sz="1200" u="sng" spc="-15" dirty="0">
                <a:uFill>
                  <a:solidFill>
                    <a:srgbClr val="000000"/>
                  </a:solidFill>
                </a:uFill>
                <a:latin typeface="Times New Roman"/>
                <a:cs typeface="Times New Roman"/>
              </a:rPr>
              <a:t>KD-BAG</a:t>
            </a:r>
            <a:endParaRPr sz="1200">
              <a:latin typeface="Times New Roman"/>
              <a:cs typeface="Times New Roman"/>
            </a:endParaRPr>
          </a:p>
          <a:p>
            <a:pPr marL="12700">
              <a:lnSpc>
                <a:spcPct val="100000"/>
              </a:lnSpc>
            </a:pPr>
            <a:r>
              <a:rPr sz="1200" spc="-5" dirty="0">
                <a:latin typeface="Times New Roman"/>
                <a:cs typeface="Times New Roman"/>
              </a:rPr>
              <a:t>N</a:t>
            </a:r>
            <a:r>
              <a:rPr sz="1200" spc="-35" dirty="0">
                <a:latin typeface="Times New Roman"/>
                <a:cs typeface="Times New Roman"/>
              </a:rPr>
              <a:t>A</a:t>
            </a:r>
            <a:r>
              <a:rPr sz="1200" spc="-20" dirty="0">
                <a:latin typeface="Times New Roman"/>
                <a:cs typeface="Times New Roman"/>
              </a:rPr>
              <a:t>M</a:t>
            </a:r>
            <a:r>
              <a:rPr sz="1200" spc="-35" dirty="0">
                <a:latin typeface="Times New Roman"/>
                <a:cs typeface="Times New Roman"/>
              </a:rPr>
              <a:t>A</a:t>
            </a:r>
            <a:r>
              <a:rPr sz="1200" spc="5" dirty="0">
                <a:latin typeface="Times New Roman"/>
                <a:cs typeface="Times New Roman"/>
              </a:rPr>
              <a:t>-</a:t>
            </a:r>
            <a:r>
              <a:rPr sz="1200" spc="-10" dirty="0">
                <a:latin typeface="Times New Roman"/>
                <a:cs typeface="Times New Roman"/>
              </a:rPr>
              <a:t>B</a:t>
            </a:r>
            <a:r>
              <a:rPr sz="1200" spc="-35" dirty="0">
                <a:latin typeface="Times New Roman"/>
                <a:cs typeface="Times New Roman"/>
              </a:rPr>
              <a:t>A</a:t>
            </a:r>
            <a:r>
              <a:rPr sz="1200" spc="-5" dirty="0">
                <a:latin typeface="Times New Roman"/>
                <a:cs typeface="Times New Roman"/>
              </a:rPr>
              <a:t>G</a:t>
            </a:r>
            <a:endParaRPr sz="1200">
              <a:latin typeface="Times New Roman"/>
              <a:cs typeface="Times New Roman"/>
            </a:endParaRPr>
          </a:p>
        </p:txBody>
      </p:sp>
      <p:sp>
        <p:nvSpPr>
          <p:cNvPr id="30" name="object 30"/>
          <p:cNvSpPr txBox="1"/>
          <p:nvPr/>
        </p:nvSpPr>
        <p:spPr>
          <a:xfrm>
            <a:off x="2211704" y="3611117"/>
            <a:ext cx="611505" cy="391795"/>
          </a:xfrm>
          <a:prstGeom prst="rect">
            <a:avLst/>
          </a:prstGeom>
        </p:spPr>
        <p:txBody>
          <a:bodyPr vert="horz" wrap="square" lIns="0" tIns="12700" rIns="0" bIns="0" rtlCol="0">
            <a:spAutoFit/>
          </a:bodyPr>
          <a:lstStyle/>
          <a:p>
            <a:pPr marL="12700">
              <a:lnSpc>
                <a:spcPct val="100000"/>
              </a:lnSpc>
              <a:spcBef>
                <a:spcPts val="100"/>
              </a:spcBef>
            </a:pPr>
            <a:r>
              <a:rPr sz="1200" u="sng" spc="-5" dirty="0">
                <a:uFill>
                  <a:solidFill>
                    <a:srgbClr val="000000"/>
                  </a:solidFill>
                </a:uFill>
                <a:latin typeface="Times New Roman"/>
                <a:cs typeface="Times New Roman"/>
              </a:rPr>
              <a:t>NO-PEG</a:t>
            </a:r>
            <a:endParaRPr sz="1200">
              <a:latin typeface="Times New Roman"/>
              <a:cs typeface="Times New Roman"/>
            </a:endParaRPr>
          </a:p>
          <a:p>
            <a:pPr marL="12700">
              <a:lnSpc>
                <a:spcPct val="100000"/>
              </a:lnSpc>
            </a:pPr>
            <a:r>
              <a:rPr sz="1200" u="sng" spc="-15" dirty="0">
                <a:uFill>
                  <a:solidFill>
                    <a:srgbClr val="000000"/>
                  </a:solidFill>
                </a:uFill>
                <a:latin typeface="Times New Roman"/>
                <a:cs typeface="Times New Roman"/>
              </a:rPr>
              <a:t>KD-BAG</a:t>
            </a:r>
            <a:endParaRPr sz="1200">
              <a:latin typeface="Times New Roman"/>
              <a:cs typeface="Times New Roman"/>
            </a:endParaRPr>
          </a:p>
        </p:txBody>
      </p:sp>
      <p:sp>
        <p:nvSpPr>
          <p:cNvPr id="31" name="object 31"/>
          <p:cNvSpPr txBox="1"/>
          <p:nvPr/>
        </p:nvSpPr>
        <p:spPr>
          <a:xfrm>
            <a:off x="4498340" y="1552702"/>
            <a:ext cx="702945" cy="391160"/>
          </a:xfrm>
          <a:prstGeom prst="rect">
            <a:avLst/>
          </a:prstGeom>
        </p:spPr>
        <p:txBody>
          <a:bodyPr vert="horz" wrap="square" lIns="0" tIns="12700" rIns="0" bIns="0" rtlCol="0">
            <a:spAutoFit/>
          </a:bodyPr>
          <a:lstStyle/>
          <a:p>
            <a:pPr marL="12700" marR="5080">
              <a:lnSpc>
                <a:spcPct val="100000"/>
              </a:lnSpc>
              <a:spcBef>
                <a:spcPts val="100"/>
              </a:spcBef>
            </a:pPr>
            <a:r>
              <a:rPr sz="1200" u="sng" spc="-5" dirty="0">
                <a:uFill>
                  <a:solidFill>
                    <a:srgbClr val="000000"/>
                  </a:solidFill>
                </a:uFill>
                <a:latin typeface="Times New Roman"/>
                <a:cs typeface="Times New Roman"/>
              </a:rPr>
              <a:t>NO-PEG </a:t>
            </a:r>
            <a:r>
              <a:rPr sz="1200" dirty="0">
                <a:latin typeface="Times New Roman"/>
                <a:cs typeface="Times New Roman"/>
              </a:rPr>
              <a:t> </a:t>
            </a:r>
            <a:r>
              <a:rPr sz="1200" u="sng" spc="-10" dirty="0">
                <a:uFill>
                  <a:solidFill>
                    <a:srgbClr val="000000"/>
                  </a:solidFill>
                </a:uFill>
                <a:latin typeface="Times New Roman"/>
                <a:cs typeface="Times New Roman"/>
              </a:rPr>
              <a:t>NO</a:t>
            </a:r>
            <a:r>
              <a:rPr sz="1200" u="sng" spc="5" dirty="0">
                <a:uFill>
                  <a:solidFill>
                    <a:srgbClr val="000000"/>
                  </a:solidFill>
                </a:uFill>
                <a:latin typeface="Times New Roman"/>
                <a:cs typeface="Times New Roman"/>
              </a:rPr>
              <a:t>-</a:t>
            </a:r>
            <a:r>
              <a:rPr sz="1200" u="sng" spc="-5" dirty="0">
                <a:uFill>
                  <a:solidFill>
                    <a:srgbClr val="000000"/>
                  </a:solidFill>
                </a:uFill>
                <a:latin typeface="Times New Roman"/>
                <a:cs typeface="Times New Roman"/>
              </a:rPr>
              <a:t>P</a:t>
            </a:r>
            <a:r>
              <a:rPr sz="1200" u="sng" spc="-10" dirty="0">
                <a:uFill>
                  <a:solidFill>
                    <a:srgbClr val="000000"/>
                  </a:solidFill>
                </a:uFill>
                <a:latin typeface="Times New Roman"/>
                <a:cs typeface="Times New Roman"/>
              </a:rPr>
              <a:t>R</a:t>
            </a:r>
            <a:r>
              <a:rPr sz="1200" u="sng" spc="-5" dirty="0">
                <a:uFill>
                  <a:solidFill>
                    <a:srgbClr val="000000"/>
                  </a:solidFill>
                </a:uFill>
                <a:latin typeface="Times New Roman"/>
                <a:cs typeface="Times New Roman"/>
              </a:rPr>
              <a:t>OY</a:t>
            </a:r>
            <a:endParaRPr sz="120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ject 8"/>
          <p:cNvPicPr/>
          <p:nvPr/>
        </p:nvPicPr>
        <p:blipFill>
          <a:blip r:embed="rId3" cstate="print"/>
          <a:stretch>
            <a:fillRect/>
          </a:stretch>
        </p:blipFill>
        <p:spPr>
          <a:xfrm>
            <a:off x="877824" y="1252727"/>
            <a:ext cx="8119872" cy="2011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0520" y="4268470"/>
            <a:ext cx="6581775" cy="1433195"/>
          </a:xfrm>
          <a:prstGeom prst="rect">
            <a:avLst/>
          </a:prstGeom>
        </p:spPr>
        <p:txBody>
          <a:bodyPr vert="horz" wrap="square" lIns="0" tIns="40640" rIns="0" bIns="0" rtlCol="0">
            <a:spAutoFit/>
          </a:bodyPr>
          <a:lstStyle/>
          <a:p>
            <a:pPr marL="231775" marR="5080" indent="-219710">
              <a:lnSpc>
                <a:spcPct val="91800"/>
              </a:lnSpc>
              <a:spcBef>
                <a:spcPts val="320"/>
              </a:spcBef>
            </a:pPr>
            <a:r>
              <a:rPr sz="2150" spc="-15" dirty="0">
                <a:latin typeface="Wingdings"/>
                <a:cs typeface="Wingdings"/>
              </a:rPr>
              <a:t></a:t>
            </a:r>
            <a:r>
              <a:rPr sz="1400" spc="-15" dirty="0">
                <a:latin typeface="Times New Roman"/>
                <a:cs typeface="Times New Roman"/>
              </a:rPr>
              <a:t>SEBUAH </a:t>
            </a:r>
            <a:r>
              <a:rPr sz="1400" spc="-30" dirty="0">
                <a:latin typeface="Times New Roman"/>
                <a:cs typeface="Times New Roman"/>
              </a:rPr>
              <a:t>RELATIONSHIP</a:t>
            </a:r>
            <a:r>
              <a:rPr sz="1400" spc="-25" dirty="0">
                <a:latin typeface="Times New Roman"/>
                <a:cs typeface="Times New Roman"/>
              </a:rPr>
              <a:t> </a:t>
            </a:r>
            <a:r>
              <a:rPr sz="1400" i="1" u="sng" spc="-10" dirty="0">
                <a:uFill>
                  <a:solidFill>
                    <a:srgbClr val="000000"/>
                  </a:solidFill>
                </a:uFill>
                <a:latin typeface="Times New Roman"/>
                <a:cs typeface="Times New Roman"/>
              </a:rPr>
              <a:t>KADANG </a:t>
            </a:r>
            <a:r>
              <a:rPr sz="1400" i="1" u="sng" spc="-15" dirty="0">
                <a:uFill>
                  <a:solidFill>
                    <a:srgbClr val="000000"/>
                  </a:solidFill>
                </a:uFill>
                <a:latin typeface="Times New Roman"/>
                <a:cs typeface="Times New Roman"/>
              </a:rPr>
              <a:t>DISATUKAN</a:t>
            </a:r>
            <a:r>
              <a:rPr sz="1400" i="1" spc="-15" dirty="0">
                <a:latin typeface="Times New Roman"/>
                <a:cs typeface="Times New Roman"/>
              </a:rPr>
              <a:t> </a:t>
            </a:r>
            <a:r>
              <a:rPr sz="1400" spc="-20" dirty="0">
                <a:latin typeface="Times New Roman"/>
                <a:cs typeface="Times New Roman"/>
              </a:rPr>
              <a:t>DALAM</a:t>
            </a:r>
            <a:r>
              <a:rPr sz="1400" spc="-15" dirty="0">
                <a:latin typeface="Times New Roman"/>
                <a:cs typeface="Times New Roman"/>
              </a:rPr>
              <a:t> </a:t>
            </a:r>
            <a:r>
              <a:rPr sz="1400" spc="-20" dirty="0">
                <a:latin typeface="Times New Roman"/>
                <a:cs typeface="Times New Roman"/>
              </a:rPr>
              <a:t>SEBUAH</a:t>
            </a:r>
            <a:r>
              <a:rPr sz="1400" spc="-15" dirty="0">
                <a:latin typeface="Times New Roman"/>
                <a:cs typeface="Times New Roman"/>
              </a:rPr>
              <a:t> </a:t>
            </a:r>
            <a:r>
              <a:rPr sz="1400" spc="-40" dirty="0">
                <a:latin typeface="Times New Roman"/>
                <a:cs typeface="Times New Roman"/>
              </a:rPr>
              <a:t>KOTAK </a:t>
            </a:r>
            <a:r>
              <a:rPr sz="1400" spc="-35" dirty="0">
                <a:latin typeface="Times New Roman"/>
                <a:cs typeface="Times New Roman"/>
              </a:rPr>
              <a:t> </a:t>
            </a:r>
            <a:r>
              <a:rPr sz="1400" spc="-15" dirty="0">
                <a:latin typeface="Times New Roman"/>
                <a:cs typeface="Times New Roman"/>
              </a:rPr>
              <a:t>BERSAMA</a:t>
            </a:r>
            <a:r>
              <a:rPr sz="1400" spc="10" dirty="0">
                <a:latin typeface="Times New Roman"/>
                <a:cs typeface="Times New Roman"/>
              </a:rPr>
              <a:t> </a:t>
            </a:r>
            <a:r>
              <a:rPr sz="1400" spc="-40" dirty="0">
                <a:latin typeface="Times New Roman"/>
                <a:cs typeface="Times New Roman"/>
              </a:rPr>
              <a:t>ENTITY,</a:t>
            </a:r>
            <a:r>
              <a:rPr sz="1400" spc="60" dirty="0">
                <a:latin typeface="Times New Roman"/>
                <a:cs typeface="Times New Roman"/>
              </a:rPr>
              <a:t> </a:t>
            </a:r>
            <a:r>
              <a:rPr sz="1400" i="1" u="sng" spc="-10" dirty="0">
                <a:uFill>
                  <a:solidFill>
                    <a:srgbClr val="000000"/>
                  </a:solidFill>
                </a:uFill>
                <a:latin typeface="Times New Roman"/>
                <a:cs typeface="Times New Roman"/>
              </a:rPr>
              <a:t>KADANG</a:t>
            </a:r>
            <a:r>
              <a:rPr sz="1400" i="1" u="sng" spc="35" dirty="0">
                <a:uFill>
                  <a:solidFill>
                    <a:srgbClr val="000000"/>
                  </a:solidFill>
                </a:uFill>
                <a:latin typeface="Times New Roman"/>
                <a:cs typeface="Times New Roman"/>
              </a:rPr>
              <a:t> </a:t>
            </a:r>
            <a:r>
              <a:rPr sz="1400" i="1" u="sng" spc="-15" dirty="0">
                <a:uFill>
                  <a:solidFill>
                    <a:srgbClr val="000000"/>
                  </a:solidFill>
                </a:uFill>
                <a:latin typeface="Times New Roman"/>
                <a:cs typeface="Times New Roman"/>
              </a:rPr>
              <a:t>DIPISAH</a:t>
            </a:r>
            <a:r>
              <a:rPr sz="1400" i="1" spc="100" dirty="0">
                <a:latin typeface="Times New Roman"/>
                <a:cs typeface="Times New Roman"/>
              </a:rPr>
              <a:t> </a:t>
            </a:r>
            <a:r>
              <a:rPr sz="1400" spc="-10" dirty="0">
                <a:latin typeface="Times New Roman"/>
                <a:cs typeface="Times New Roman"/>
              </a:rPr>
              <a:t>MENJADI</a:t>
            </a:r>
            <a:r>
              <a:rPr sz="1400" spc="25" dirty="0">
                <a:latin typeface="Times New Roman"/>
                <a:cs typeface="Times New Roman"/>
              </a:rPr>
              <a:t> </a:t>
            </a:r>
            <a:r>
              <a:rPr sz="1400" spc="-15" dirty="0">
                <a:latin typeface="Times New Roman"/>
                <a:cs typeface="Times New Roman"/>
              </a:rPr>
              <a:t>SEBUAH</a:t>
            </a:r>
            <a:r>
              <a:rPr sz="1400" spc="60" dirty="0">
                <a:latin typeface="Times New Roman"/>
                <a:cs typeface="Times New Roman"/>
              </a:rPr>
              <a:t> </a:t>
            </a:r>
            <a:r>
              <a:rPr sz="1400" spc="-40" dirty="0">
                <a:latin typeface="Times New Roman"/>
                <a:cs typeface="Times New Roman"/>
              </a:rPr>
              <a:t>KOTAK</a:t>
            </a:r>
            <a:r>
              <a:rPr sz="1400" spc="35" dirty="0">
                <a:latin typeface="Times New Roman"/>
                <a:cs typeface="Times New Roman"/>
              </a:rPr>
              <a:t> </a:t>
            </a:r>
            <a:r>
              <a:rPr sz="1400" spc="-15" dirty="0">
                <a:latin typeface="Times New Roman"/>
                <a:cs typeface="Times New Roman"/>
              </a:rPr>
              <a:t>TERSENDIRI</a:t>
            </a:r>
            <a:endParaRPr sz="1400">
              <a:latin typeface="Times New Roman"/>
              <a:cs typeface="Times New Roman"/>
            </a:endParaRPr>
          </a:p>
          <a:p>
            <a:pPr>
              <a:lnSpc>
                <a:spcPct val="100000"/>
              </a:lnSpc>
              <a:spcBef>
                <a:spcPts val="25"/>
              </a:spcBef>
            </a:pPr>
            <a:endParaRPr sz="1650">
              <a:latin typeface="Times New Roman"/>
              <a:cs typeface="Times New Roman"/>
            </a:endParaRPr>
          </a:p>
          <a:p>
            <a:pPr marL="118745" indent="-106680">
              <a:lnSpc>
                <a:spcPct val="100000"/>
              </a:lnSpc>
              <a:buSzPct val="78571"/>
              <a:buFont typeface="Wingdings"/>
              <a:buChar char=""/>
              <a:tabLst>
                <a:tab pos="119380" algn="l"/>
              </a:tabLst>
            </a:pPr>
            <a:r>
              <a:rPr sz="1400" b="1" spc="-15" dirty="0">
                <a:latin typeface="Times New Roman"/>
                <a:cs typeface="Times New Roman"/>
              </a:rPr>
              <a:t>PERHATIKAN</a:t>
            </a:r>
            <a:r>
              <a:rPr sz="1400" b="1" spc="-25" dirty="0">
                <a:latin typeface="Times New Roman"/>
                <a:cs typeface="Times New Roman"/>
              </a:rPr>
              <a:t> </a:t>
            </a:r>
            <a:r>
              <a:rPr sz="1400" b="1" spc="-5" dirty="0">
                <a:latin typeface="Times New Roman"/>
                <a:cs typeface="Times New Roman"/>
              </a:rPr>
              <a:t>!</a:t>
            </a:r>
            <a:endParaRPr sz="1400">
              <a:latin typeface="Times New Roman"/>
              <a:cs typeface="Times New Roman"/>
            </a:endParaRPr>
          </a:p>
          <a:p>
            <a:pPr>
              <a:lnSpc>
                <a:spcPct val="100000"/>
              </a:lnSpc>
              <a:spcBef>
                <a:spcPts val="15"/>
              </a:spcBef>
              <a:buFont typeface="Wingdings"/>
              <a:buChar char=""/>
            </a:pPr>
            <a:endParaRPr sz="1450">
              <a:latin typeface="Times New Roman"/>
              <a:cs typeface="Times New Roman"/>
            </a:endParaRPr>
          </a:p>
          <a:p>
            <a:pPr marL="576580" lvl="1" indent="-107314">
              <a:lnSpc>
                <a:spcPct val="100000"/>
              </a:lnSpc>
              <a:buSzPct val="78571"/>
              <a:buFont typeface="Wingdings"/>
              <a:buChar char=""/>
              <a:tabLst>
                <a:tab pos="577215" algn="l"/>
              </a:tabLst>
            </a:pPr>
            <a:r>
              <a:rPr sz="1400" spc="-15" dirty="0">
                <a:latin typeface="Times New Roman"/>
                <a:cs typeface="Times New Roman"/>
              </a:rPr>
              <a:t>CARDINALITY</a:t>
            </a:r>
            <a:r>
              <a:rPr sz="1400" spc="20" dirty="0">
                <a:latin typeface="Times New Roman"/>
                <a:cs typeface="Times New Roman"/>
              </a:rPr>
              <a:t> </a:t>
            </a:r>
            <a:r>
              <a:rPr sz="1400" spc="-35" dirty="0">
                <a:latin typeface="Times New Roman"/>
                <a:cs typeface="Times New Roman"/>
              </a:rPr>
              <a:t>(TINGKAT</a:t>
            </a:r>
            <a:r>
              <a:rPr sz="1400" spc="60" dirty="0">
                <a:latin typeface="Times New Roman"/>
                <a:cs typeface="Times New Roman"/>
              </a:rPr>
              <a:t> </a:t>
            </a:r>
            <a:r>
              <a:rPr sz="1400" spc="-15" dirty="0">
                <a:latin typeface="Times New Roman"/>
                <a:cs typeface="Times New Roman"/>
              </a:rPr>
              <a:t>HUBUNGAN)</a:t>
            </a:r>
            <a:endParaRPr sz="1400">
              <a:latin typeface="Times New Roman"/>
              <a:cs typeface="Times New Roman"/>
            </a:endParaRPr>
          </a:p>
        </p:txBody>
      </p:sp>
      <p:sp>
        <p:nvSpPr>
          <p:cNvPr id="3" name="object 3"/>
          <p:cNvSpPr txBox="1"/>
          <p:nvPr/>
        </p:nvSpPr>
        <p:spPr>
          <a:xfrm>
            <a:off x="2592704" y="5677306"/>
            <a:ext cx="574040" cy="664845"/>
          </a:xfrm>
          <a:prstGeom prst="rect">
            <a:avLst/>
          </a:prstGeom>
        </p:spPr>
        <p:txBody>
          <a:bodyPr vert="horz" wrap="square" lIns="0" tIns="11430" rIns="0" bIns="0" rtlCol="0">
            <a:spAutoFit/>
          </a:bodyPr>
          <a:lstStyle/>
          <a:p>
            <a:pPr marL="119380" indent="-106680">
              <a:lnSpc>
                <a:spcPct val="100000"/>
              </a:lnSpc>
              <a:spcBef>
                <a:spcPts val="90"/>
              </a:spcBef>
              <a:buSzPct val="78571"/>
              <a:buFont typeface="Wingdings"/>
              <a:buChar char=""/>
              <a:tabLst>
                <a:tab pos="119380" algn="l"/>
              </a:tabLst>
            </a:pPr>
            <a:r>
              <a:rPr sz="1400" b="1" spc="-5" dirty="0">
                <a:latin typeface="Times New Roman"/>
                <a:cs typeface="Times New Roman"/>
              </a:rPr>
              <a:t>1</a:t>
            </a:r>
            <a:r>
              <a:rPr sz="1400" b="1" spc="-45" dirty="0">
                <a:latin typeface="Times New Roman"/>
                <a:cs typeface="Times New Roman"/>
              </a:rPr>
              <a:t> </a:t>
            </a:r>
            <a:r>
              <a:rPr sz="1400" b="1" spc="-5" dirty="0">
                <a:latin typeface="Times New Roman"/>
                <a:cs typeface="Times New Roman"/>
              </a:rPr>
              <a:t>:</a:t>
            </a:r>
            <a:r>
              <a:rPr sz="1400" b="1" spc="-30" dirty="0">
                <a:latin typeface="Times New Roman"/>
                <a:cs typeface="Times New Roman"/>
              </a:rPr>
              <a:t> </a:t>
            </a:r>
            <a:r>
              <a:rPr sz="1400" b="1" spc="-5" dirty="0">
                <a:latin typeface="Times New Roman"/>
                <a:cs typeface="Times New Roman"/>
              </a:rPr>
              <a:t>1</a:t>
            </a:r>
            <a:endParaRPr sz="1400">
              <a:latin typeface="Times New Roman"/>
              <a:cs typeface="Times New Roman"/>
            </a:endParaRPr>
          </a:p>
          <a:p>
            <a:pPr marL="119380" indent="-106680">
              <a:lnSpc>
                <a:spcPct val="100000"/>
              </a:lnSpc>
              <a:buSzPct val="78571"/>
              <a:buFont typeface="Wingdings"/>
              <a:buChar char=""/>
              <a:tabLst>
                <a:tab pos="119380" algn="l"/>
              </a:tabLst>
            </a:pPr>
            <a:r>
              <a:rPr sz="1400" b="1" spc="-5" dirty="0">
                <a:latin typeface="Times New Roman"/>
                <a:cs typeface="Times New Roman"/>
              </a:rPr>
              <a:t>1</a:t>
            </a:r>
            <a:r>
              <a:rPr sz="1400" b="1" spc="-45" dirty="0">
                <a:latin typeface="Times New Roman"/>
                <a:cs typeface="Times New Roman"/>
              </a:rPr>
              <a:t> </a:t>
            </a:r>
            <a:r>
              <a:rPr sz="1400" b="1" spc="-5" dirty="0">
                <a:latin typeface="Times New Roman"/>
                <a:cs typeface="Times New Roman"/>
              </a:rPr>
              <a:t>:</a:t>
            </a:r>
            <a:r>
              <a:rPr sz="1400" b="1" spc="-30" dirty="0">
                <a:latin typeface="Times New Roman"/>
                <a:cs typeface="Times New Roman"/>
              </a:rPr>
              <a:t> </a:t>
            </a:r>
            <a:r>
              <a:rPr sz="1400" b="1" spc="-10" dirty="0">
                <a:latin typeface="Times New Roman"/>
                <a:cs typeface="Times New Roman"/>
              </a:rPr>
              <a:t>M</a:t>
            </a:r>
            <a:endParaRPr sz="1400">
              <a:latin typeface="Times New Roman"/>
              <a:cs typeface="Times New Roman"/>
            </a:endParaRPr>
          </a:p>
          <a:p>
            <a:pPr marL="165100" indent="-152400">
              <a:lnSpc>
                <a:spcPct val="100000"/>
              </a:lnSpc>
              <a:spcBef>
                <a:spcPts val="5"/>
              </a:spcBef>
              <a:buSzPct val="78571"/>
              <a:buFont typeface="Wingdings"/>
              <a:buChar char=""/>
              <a:tabLst>
                <a:tab pos="165100" algn="l"/>
              </a:tabLst>
            </a:pPr>
            <a:r>
              <a:rPr sz="1400" b="1" spc="-10" dirty="0">
                <a:latin typeface="Times New Roman"/>
                <a:cs typeface="Times New Roman"/>
              </a:rPr>
              <a:t>M</a:t>
            </a:r>
            <a:r>
              <a:rPr sz="1400" b="1" spc="-15" dirty="0">
                <a:latin typeface="Times New Roman"/>
                <a:cs typeface="Times New Roman"/>
              </a:rPr>
              <a:t> :</a:t>
            </a:r>
            <a:r>
              <a:rPr sz="1400" b="1" spc="-5" dirty="0">
                <a:latin typeface="Times New Roman"/>
                <a:cs typeface="Times New Roman"/>
              </a:rPr>
              <a:t>N</a:t>
            </a:r>
            <a:endParaRPr sz="1400">
              <a:latin typeface="Times New Roman"/>
              <a:cs typeface="Times New Roman"/>
            </a:endParaRPr>
          </a:p>
        </p:txBody>
      </p:sp>
      <p:sp>
        <p:nvSpPr>
          <p:cNvPr id="4" name="object 4"/>
          <p:cNvSpPr txBox="1"/>
          <p:nvPr/>
        </p:nvSpPr>
        <p:spPr>
          <a:xfrm>
            <a:off x="3507485" y="5677306"/>
            <a:ext cx="1433830" cy="664845"/>
          </a:xfrm>
          <a:prstGeom prst="rect">
            <a:avLst/>
          </a:prstGeom>
        </p:spPr>
        <p:txBody>
          <a:bodyPr vert="horz" wrap="square" lIns="0" tIns="11430" rIns="0" bIns="0" rtlCol="0">
            <a:spAutoFit/>
          </a:bodyPr>
          <a:lstStyle/>
          <a:p>
            <a:pPr marL="12700" marR="5080">
              <a:lnSpc>
                <a:spcPct val="100000"/>
              </a:lnSpc>
              <a:spcBef>
                <a:spcPts val="90"/>
              </a:spcBef>
            </a:pPr>
            <a:r>
              <a:rPr sz="1400" spc="-15" dirty="0">
                <a:latin typeface="Times New Roman"/>
                <a:cs typeface="Times New Roman"/>
              </a:rPr>
              <a:t>ONE-TO-ONE </a:t>
            </a:r>
            <a:r>
              <a:rPr sz="1400" spc="-10" dirty="0">
                <a:latin typeface="Times New Roman"/>
                <a:cs typeface="Times New Roman"/>
              </a:rPr>
              <a:t> </a:t>
            </a:r>
            <a:r>
              <a:rPr sz="1400" spc="-15" dirty="0">
                <a:latin typeface="Times New Roman"/>
                <a:cs typeface="Times New Roman"/>
              </a:rPr>
              <a:t>ONE-TO-MANY </a:t>
            </a:r>
            <a:r>
              <a:rPr sz="1400" spc="-10" dirty="0">
                <a:latin typeface="Times New Roman"/>
                <a:cs typeface="Times New Roman"/>
              </a:rPr>
              <a:t> </a:t>
            </a:r>
            <a:r>
              <a:rPr sz="1400" spc="-5" dirty="0">
                <a:latin typeface="Times New Roman"/>
                <a:cs typeface="Times New Roman"/>
              </a:rPr>
              <a:t>M</a:t>
            </a:r>
            <a:r>
              <a:rPr sz="1400" spc="-30" dirty="0">
                <a:latin typeface="Times New Roman"/>
                <a:cs typeface="Times New Roman"/>
              </a:rPr>
              <a:t>A</a:t>
            </a:r>
            <a:r>
              <a:rPr sz="1400" spc="-5" dirty="0">
                <a:latin typeface="Times New Roman"/>
                <a:cs typeface="Times New Roman"/>
              </a:rPr>
              <a:t>N</a:t>
            </a:r>
            <a:r>
              <a:rPr sz="1400" spc="-150" dirty="0">
                <a:latin typeface="Times New Roman"/>
                <a:cs typeface="Times New Roman"/>
              </a:rPr>
              <a:t>Y</a:t>
            </a:r>
            <a:r>
              <a:rPr sz="1400" spc="-15" dirty="0">
                <a:latin typeface="Times New Roman"/>
                <a:cs typeface="Times New Roman"/>
              </a:rPr>
              <a:t>-</a:t>
            </a:r>
            <a:r>
              <a:rPr sz="1400" spc="-45" dirty="0">
                <a:latin typeface="Times New Roman"/>
                <a:cs typeface="Times New Roman"/>
              </a:rPr>
              <a:t>T</a:t>
            </a:r>
            <a:r>
              <a:rPr sz="1400" spc="-5" dirty="0">
                <a:latin typeface="Times New Roman"/>
                <a:cs typeface="Times New Roman"/>
              </a:rPr>
              <a:t>O</a:t>
            </a:r>
            <a:r>
              <a:rPr sz="1400" spc="-15" dirty="0">
                <a:latin typeface="Times New Roman"/>
                <a:cs typeface="Times New Roman"/>
              </a:rPr>
              <a:t>-</a:t>
            </a:r>
            <a:r>
              <a:rPr sz="1400" spc="-5" dirty="0">
                <a:latin typeface="Times New Roman"/>
                <a:cs typeface="Times New Roman"/>
              </a:rPr>
              <a:t>M</a:t>
            </a:r>
            <a:r>
              <a:rPr sz="1400" spc="-30" dirty="0">
                <a:latin typeface="Times New Roman"/>
                <a:cs typeface="Times New Roman"/>
              </a:rPr>
              <a:t>A</a:t>
            </a:r>
            <a:r>
              <a:rPr sz="1400" spc="-5" dirty="0">
                <a:latin typeface="Times New Roman"/>
                <a:cs typeface="Times New Roman"/>
              </a:rPr>
              <a:t>NY</a:t>
            </a:r>
            <a:endParaRPr sz="1400">
              <a:latin typeface="Times New Roman"/>
              <a:cs typeface="Times New Roman"/>
            </a:endParaRPr>
          </a:p>
        </p:txBody>
      </p:sp>
      <p:sp>
        <p:nvSpPr>
          <p:cNvPr id="5" name="object 5"/>
          <p:cNvSpPr txBox="1"/>
          <p:nvPr/>
        </p:nvSpPr>
        <p:spPr>
          <a:xfrm>
            <a:off x="1678051" y="6317691"/>
            <a:ext cx="4090035" cy="238125"/>
          </a:xfrm>
          <a:prstGeom prst="rect">
            <a:avLst/>
          </a:prstGeom>
        </p:spPr>
        <p:txBody>
          <a:bodyPr vert="horz" wrap="square" lIns="0" tIns="11430" rIns="0" bIns="0" rtlCol="0">
            <a:spAutoFit/>
          </a:bodyPr>
          <a:lstStyle/>
          <a:p>
            <a:pPr marL="119380" indent="-106680">
              <a:lnSpc>
                <a:spcPct val="100000"/>
              </a:lnSpc>
              <a:spcBef>
                <a:spcPts val="90"/>
              </a:spcBef>
              <a:buSzPct val="78571"/>
              <a:buFont typeface="Wingdings"/>
              <a:buChar char=""/>
              <a:tabLst>
                <a:tab pos="119380" algn="l"/>
              </a:tabLst>
            </a:pPr>
            <a:r>
              <a:rPr sz="1400" spc="-15" dirty="0">
                <a:latin typeface="Times New Roman"/>
                <a:cs typeface="Times New Roman"/>
              </a:rPr>
              <a:t>S</a:t>
            </a:r>
            <a:r>
              <a:rPr sz="1400" spc="-35" dirty="0">
                <a:latin typeface="Times New Roman"/>
                <a:cs typeface="Times New Roman"/>
              </a:rPr>
              <a:t>A</a:t>
            </a:r>
            <a:r>
              <a:rPr sz="1400" spc="-10" dirty="0">
                <a:latin typeface="Times New Roman"/>
                <a:cs typeface="Times New Roman"/>
              </a:rPr>
              <a:t>NG</a:t>
            </a:r>
            <a:r>
              <a:rPr sz="1400" spc="-180" dirty="0">
                <a:latin typeface="Times New Roman"/>
                <a:cs typeface="Times New Roman"/>
              </a:rPr>
              <a:t>A</a:t>
            </a:r>
            <a:r>
              <a:rPr sz="1400" spc="-5" dirty="0">
                <a:latin typeface="Times New Roman"/>
                <a:cs typeface="Times New Roman"/>
              </a:rPr>
              <a:t>T</a:t>
            </a:r>
            <a:r>
              <a:rPr sz="1400" spc="20" dirty="0">
                <a:latin typeface="Times New Roman"/>
                <a:cs typeface="Times New Roman"/>
              </a:rPr>
              <a:t> </a:t>
            </a:r>
            <a:r>
              <a:rPr sz="1400" spc="-30" dirty="0">
                <a:latin typeface="Times New Roman"/>
                <a:cs typeface="Times New Roman"/>
              </a:rPr>
              <a:t>B</a:t>
            </a:r>
            <a:r>
              <a:rPr sz="1400" spc="-20" dirty="0">
                <a:latin typeface="Times New Roman"/>
                <a:cs typeface="Times New Roman"/>
              </a:rPr>
              <a:t>E</a:t>
            </a:r>
            <a:r>
              <a:rPr sz="1400" spc="-5" dirty="0">
                <a:latin typeface="Times New Roman"/>
                <a:cs typeface="Times New Roman"/>
              </a:rPr>
              <a:t>R</a:t>
            </a:r>
            <a:r>
              <a:rPr sz="1400" spc="-15" dirty="0">
                <a:latin typeface="Times New Roman"/>
                <a:cs typeface="Times New Roman"/>
              </a:rPr>
              <a:t>P</a:t>
            </a:r>
            <a:r>
              <a:rPr sz="1400" spc="-20" dirty="0">
                <a:latin typeface="Times New Roman"/>
                <a:cs typeface="Times New Roman"/>
              </a:rPr>
              <a:t>E</a:t>
            </a:r>
            <a:r>
              <a:rPr sz="1400" spc="-10" dirty="0">
                <a:latin typeface="Times New Roman"/>
                <a:cs typeface="Times New Roman"/>
              </a:rPr>
              <a:t>NG</a:t>
            </a:r>
            <a:r>
              <a:rPr sz="1400" spc="-35" dirty="0">
                <a:latin typeface="Times New Roman"/>
                <a:cs typeface="Times New Roman"/>
              </a:rPr>
              <a:t>A</a:t>
            </a:r>
            <a:r>
              <a:rPr sz="1400" spc="-5" dirty="0">
                <a:latin typeface="Times New Roman"/>
                <a:cs typeface="Times New Roman"/>
              </a:rPr>
              <a:t>R</a:t>
            </a:r>
            <a:r>
              <a:rPr sz="1400" spc="15" dirty="0">
                <a:latin typeface="Times New Roman"/>
                <a:cs typeface="Times New Roman"/>
              </a:rPr>
              <a:t>U</a:t>
            </a:r>
            <a:r>
              <a:rPr sz="1400" spc="-10" dirty="0">
                <a:latin typeface="Times New Roman"/>
                <a:cs typeface="Times New Roman"/>
              </a:rPr>
              <a:t>H</a:t>
            </a:r>
            <a:r>
              <a:rPr sz="1400" spc="80" dirty="0">
                <a:latin typeface="Times New Roman"/>
                <a:cs typeface="Times New Roman"/>
              </a:rPr>
              <a:t> </a:t>
            </a:r>
            <a:r>
              <a:rPr sz="1400" spc="-135" dirty="0">
                <a:latin typeface="Times New Roman"/>
                <a:cs typeface="Times New Roman"/>
              </a:rPr>
              <a:t>P</a:t>
            </a:r>
            <a:r>
              <a:rPr sz="1400" spc="-35" dirty="0">
                <a:latin typeface="Times New Roman"/>
                <a:cs typeface="Times New Roman"/>
              </a:rPr>
              <a:t>A</a:t>
            </a:r>
            <a:r>
              <a:rPr sz="1400" spc="-10" dirty="0">
                <a:latin typeface="Times New Roman"/>
                <a:cs typeface="Times New Roman"/>
              </a:rPr>
              <a:t>DA</a:t>
            </a:r>
            <a:r>
              <a:rPr sz="1400" spc="-60" dirty="0">
                <a:latin typeface="Times New Roman"/>
                <a:cs typeface="Times New Roman"/>
              </a:rPr>
              <a:t> </a:t>
            </a:r>
            <a:r>
              <a:rPr sz="1400" spc="-20" dirty="0">
                <a:latin typeface="Times New Roman"/>
                <a:cs typeface="Times New Roman"/>
              </a:rPr>
              <a:t>T</a:t>
            </a:r>
            <a:r>
              <a:rPr sz="1400" spc="-5" dirty="0">
                <a:latin typeface="Times New Roman"/>
                <a:cs typeface="Times New Roman"/>
              </a:rPr>
              <a:t>R</a:t>
            </a:r>
            <a:r>
              <a:rPr sz="1400" spc="-35" dirty="0">
                <a:latin typeface="Times New Roman"/>
                <a:cs typeface="Times New Roman"/>
              </a:rPr>
              <a:t>A</a:t>
            </a:r>
            <a:r>
              <a:rPr sz="1400" spc="-10" dirty="0">
                <a:latin typeface="Times New Roman"/>
                <a:cs typeface="Times New Roman"/>
              </a:rPr>
              <a:t>NS</a:t>
            </a:r>
            <a:r>
              <a:rPr sz="1400" spc="-40" dirty="0">
                <a:latin typeface="Times New Roman"/>
                <a:cs typeface="Times New Roman"/>
              </a:rPr>
              <a:t>F</a:t>
            </a:r>
            <a:r>
              <a:rPr sz="1400" spc="-10" dirty="0">
                <a:latin typeface="Times New Roman"/>
                <a:cs typeface="Times New Roman"/>
              </a:rPr>
              <a:t>O</a:t>
            </a:r>
            <a:r>
              <a:rPr sz="1400" spc="-5" dirty="0">
                <a:latin typeface="Times New Roman"/>
                <a:cs typeface="Times New Roman"/>
              </a:rPr>
              <a:t>R</a:t>
            </a:r>
            <a:r>
              <a:rPr sz="1400" spc="20" dirty="0">
                <a:latin typeface="Times New Roman"/>
                <a:cs typeface="Times New Roman"/>
              </a:rPr>
              <a:t>M</a:t>
            </a:r>
            <a:r>
              <a:rPr sz="1400" spc="-35" dirty="0">
                <a:latin typeface="Times New Roman"/>
                <a:cs typeface="Times New Roman"/>
              </a:rPr>
              <a:t>A</a:t>
            </a:r>
            <a:r>
              <a:rPr sz="1400" spc="-15" dirty="0">
                <a:latin typeface="Times New Roman"/>
                <a:cs typeface="Times New Roman"/>
              </a:rPr>
              <a:t>S</a:t>
            </a:r>
            <a:r>
              <a:rPr sz="1400" spc="-5" dirty="0">
                <a:latin typeface="Times New Roman"/>
                <a:cs typeface="Times New Roman"/>
              </a:rPr>
              <a:t>I</a:t>
            </a:r>
            <a:endParaRPr sz="1400">
              <a:latin typeface="Times New Roman"/>
              <a:cs typeface="Times New Roman"/>
            </a:endParaRPr>
          </a:p>
        </p:txBody>
      </p:sp>
      <p:sp>
        <p:nvSpPr>
          <p:cNvPr id="6" name="object 6"/>
          <p:cNvSpPr txBox="1"/>
          <p:nvPr/>
        </p:nvSpPr>
        <p:spPr>
          <a:xfrm>
            <a:off x="1500250" y="3194050"/>
            <a:ext cx="1143000" cy="609600"/>
          </a:xfrm>
          <a:prstGeom prst="rect">
            <a:avLst/>
          </a:prstGeom>
          <a:ln w="12700">
            <a:solidFill>
              <a:srgbClr val="000000"/>
            </a:solidFill>
          </a:ln>
        </p:spPr>
        <p:txBody>
          <a:bodyPr vert="horz" wrap="square" lIns="0" tIns="3175" rIns="0" bIns="0" rtlCol="0">
            <a:spAutoFit/>
          </a:bodyPr>
          <a:lstStyle/>
          <a:p>
            <a:pPr>
              <a:lnSpc>
                <a:spcPct val="100000"/>
              </a:lnSpc>
              <a:spcBef>
                <a:spcPts val="25"/>
              </a:spcBef>
            </a:pPr>
            <a:endParaRPr sz="1300">
              <a:latin typeface="Times New Roman"/>
              <a:cs typeface="Times New Roman"/>
            </a:endParaRPr>
          </a:p>
          <a:p>
            <a:pPr marL="244475">
              <a:lnSpc>
                <a:spcPct val="100000"/>
              </a:lnSpc>
              <a:spcBef>
                <a:spcPts val="5"/>
              </a:spcBef>
            </a:pPr>
            <a:r>
              <a:rPr sz="1200" spc="-50" dirty="0">
                <a:latin typeface="Times New Roman"/>
                <a:cs typeface="Times New Roman"/>
              </a:rPr>
              <a:t>PEGAWAI</a:t>
            </a:r>
            <a:endParaRPr sz="1200">
              <a:latin typeface="Times New Roman"/>
              <a:cs typeface="Times New Roman"/>
            </a:endParaRPr>
          </a:p>
        </p:txBody>
      </p:sp>
      <p:sp>
        <p:nvSpPr>
          <p:cNvPr id="7" name="object 7"/>
          <p:cNvSpPr txBox="1"/>
          <p:nvPr/>
        </p:nvSpPr>
        <p:spPr>
          <a:xfrm>
            <a:off x="763320" y="1313433"/>
            <a:ext cx="7118350" cy="1390015"/>
          </a:xfrm>
          <a:prstGeom prst="rect">
            <a:avLst/>
          </a:prstGeom>
        </p:spPr>
        <p:txBody>
          <a:bodyPr vert="horz" wrap="square" lIns="0" tIns="13335" rIns="0" bIns="0" rtlCol="0">
            <a:spAutoFit/>
          </a:bodyPr>
          <a:lstStyle/>
          <a:p>
            <a:pPr marL="12700">
              <a:lnSpc>
                <a:spcPct val="100000"/>
              </a:lnSpc>
              <a:spcBef>
                <a:spcPts val="105"/>
              </a:spcBef>
            </a:pPr>
            <a:r>
              <a:rPr sz="1600" b="1" dirty="0">
                <a:latin typeface="Times New Roman"/>
                <a:cs typeface="Times New Roman"/>
              </a:rPr>
              <a:t>PEDOMAN</a:t>
            </a:r>
            <a:endParaRPr sz="1600">
              <a:latin typeface="Times New Roman"/>
              <a:cs typeface="Times New Roman"/>
            </a:endParaRPr>
          </a:p>
          <a:p>
            <a:pPr>
              <a:lnSpc>
                <a:spcPct val="100000"/>
              </a:lnSpc>
              <a:spcBef>
                <a:spcPts val="35"/>
              </a:spcBef>
            </a:pPr>
            <a:endParaRPr sz="1650">
              <a:latin typeface="Times New Roman"/>
              <a:cs typeface="Times New Roman"/>
            </a:endParaRPr>
          </a:p>
          <a:p>
            <a:pPr marL="469900">
              <a:lnSpc>
                <a:spcPct val="100000"/>
              </a:lnSpc>
            </a:pPr>
            <a:r>
              <a:rPr sz="1400" spc="-20" dirty="0">
                <a:latin typeface="Times New Roman"/>
                <a:cs typeface="Times New Roman"/>
              </a:rPr>
              <a:t>SETIAP</a:t>
            </a:r>
            <a:r>
              <a:rPr sz="1400" spc="-25" dirty="0">
                <a:latin typeface="Times New Roman"/>
                <a:cs typeface="Times New Roman"/>
              </a:rPr>
              <a:t> </a:t>
            </a:r>
            <a:r>
              <a:rPr sz="1400" spc="-15" dirty="0">
                <a:latin typeface="Times New Roman"/>
                <a:cs typeface="Times New Roman"/>
              </a:rPr>
              <a:t>ENTITY</a:t>
            </a:r>
            <a:r>
              <a:rPr sz="1400" spc="-80" dirty="0">
                <a:latin typeface="Times New Roman"/>
                <a:cs typeface="Times New Roman"/>
              </a:rPr>
              <a:t> </a:t>
            </a:r>
            <a:r>
              <a:rPr sz="1400" spc="-25" dirty="0">
                <a:latin typeface="Times New Roman"/>
                <a:cs typeface="Times New Roman"/>
              </a:rPr>
              <a:t>AKAN</a:t>
            </a:r>
            <a:r>
              <a:rPr sz="1400" spc="110" dirty="0">
                <a:latin typeface="Times New Roman"/>
                <a:cs typeface="Times New Roman"/>
              </a:rPr>
              <a:t> </a:t>
            </a:r>
            <a:r>
              <a:rPr sz="1400" spc="-15" dirty="0">
                <a:latin typeface="Times New Roman"/>
                <a:cs typeface="Times New Roman"/>
              </a:rPr>
              <a:t>DIUBAH</a:t>
            </a:r>
            <a:r>
              <a:rPr sz="1400" spc="55" dirty="0">
                <a:latin typeface="Times New Roman"/>
                <a:cs typeface="Times New Roman"/>
              </a:rPr>
              <a:t> </a:t>
            </a:r>
            <a:r>
              <a:rPr sz="1400" spc="-15" dirty="0">
                <a:latin typeface="Times New Roman"/>
                <a:cs typeface="Times New Roman"/>
              </a:rPr>
              <a:t>KEBENTUK</a:t>
            </a:r>
            <a:r>
              <a:rPr sz="1400" spc="85" dirty="0">
                <a:latin typeface="Times New Roman"/>
                <a:cs typeface="Times New Roman"/>
              </a:rPr>
              <a:t> </a:t>
            </a:r>
            <a:r>
              <a:rPr sz="1400" spc="-20" dirty="0">
                <a:latin typeface="Times New Roman"/>
                <a:cs typeface="Times New Roman"/>
              </a:rPr>
              <a:t>SEBUAH</a:t>
            </a:r>
            <a:r>
              <a:rPr sz="1400" spc="85" dirty="0">
                <a:latin typeface="Times New Roman"/>
                <a:cs typeface="Times New Roman"/>
              </a:rPr>
              <a:t> </a:t>
            </a:r>
            <a:r>
              <a:rPr sz="1400" spc="-45" dirty="0">
                <a:latin typeface="Times New Roman"/>
                <a:cs typeface="Times New Roman"/>
              </a:rPr>
              <a:t>KOTAK</a:t>
            </a:r>
            <a:r>
              <a:rPr sz="1400" spc="85" dirty="0">
                <a:latin typeface="Times New Roman"/>
                <a:cs typeface="Times New Roman"/>
              </a:rPr>
              <a:t> </a:t>
            </a:r>
            <a:r>
              <a:rPr sz="1400" spc="-15" dirty="0">
                <a:latin typeface="Times New Roman"/>
                <a:cs typeface="Times New Roman"/>
              </a:rPr>
              <a:t>DENGAN</a:t>
            </a:r>
            <a:r>
              <a:rPr sz="1400" spc="60" dirty="0">
                <a:latin typeface="Times New Roman"/>
                <a:cs typeface="Times New Roman"/>
              </a:rPr>
              <a:t> </a:t>
            </a:r>
            <a:r>
              <a:rPr sz="1400" spc="-15" dirty="0">
                <a:latin typeface="Times New Roman"/>
                <a:cs typeface="Times New Roman"/>
              </a:rPr>
              <a:t>NAMA</a:t>
            </a:r>
            <a:endParaRPr sz="1400">
              <a:latin typeface="Times New Roman"/>
              <a:cs typeface="Times New Roman"/>
            </a:endParaRPr>
          </a:p>
          <a:p>
            <a:pPr marL="688975">
              <a:lnSpc>
                <a:spcPct val="100000"/>
              </a:lnSpc>
            </a:pPr>
            <a:r>
              <a:rPr sz="1400" spc="-15" dirty="0">
                <a:latin typeface="Times New Roman"/>
                <a:cs typeface="Times New Roman"/>
              </a:rPr>
              <a:t>ENTITY</a:t>
            </a:r>
            <a:r>
              <a:rPr sz="1400" spc="-20" dirty="0">
                <a:latin typeface="Times New Roman"/>
                <a:cs typeface="Times New Roman"/>
              </a:rPr>
              <a:t> </a:t>
            </a:r>
            <a:r>
              <a:rPr sz="1400" spc="-15" dirty="0">
                <a:latin typeface="Times New Roman"/>
                <a:cs typeface="Times New Roman"/>
              </a:rPr>
              <a:t>BERADA</a:t>
            </a:r>
            <a:r>
              <a:rPr sz="1400" spc="10" dirty="0">
                <a:latin typeface="Times New Roman"/>
                <a:cs typeface="Times New Roman"/>
              </a:rPr>
              <a:t> </a:t>
            </a:r>
            <a:r>
              <a:rPr sz="1400" spc="-20" dirty="0">
                <a:latin typeface="Times New Roman"/>
                <a:cs typeface="Times New Roman"/>
              </a:rPr>
              <a:t>DILUAR</a:t>
            </a:r>
            <a:r>
              <a:rPr sz="1400" spc="90" dirty="0">
                <a:latin typeface="Times New Roman"/>
                <a:cs typeface="Times New Roman"/>
              </a:rPr>
              <a:t> </a:t>
            </a:r>
            <a:r>
              <a:rPr sz="1400" spc="-45" dirty="0">
                <a:latin typeface="Times New Roman"/>
                <a:cs typeface="Times New Roman"/>
              </a:rPr>
              <a:t>KOTAK</a:t>
            </a:r>
            <a:r>
              <a:rPr sz="1400" spc="80" dirty="0">
                <a:latin typeface="Times New Roman"/>
                <a:cs typeface="Times New Roman"/>
              </a:rPr>
              <a:t> </a:t>
            </a:r>
            <a:r>
              <a:rPr sz="1400" spc="-15" dirty="0">
                <a:latin typeface="Times New Roman"/>
                <a:cs typeface="Times New Roman"/>
              </a:rPr>
              <a:t>DAN</a:t>
            </a:r>
            <a:r>
              <a:rPr sz="1400" spc="-35" dirty="0">
                <a:latin typeface="Times New Roman"/>
                <a:cs typeface="Times New Roman"/>
              </a:rPr>
              <a:t> ATTIBUTE</a:t>
            </a:r>
            <a:r>
              <a:rPr sz="1400" spc="65" dirty="0">
                <a:latin typeface="Times New Roman"/>
                <a:cs typeface="Times New Roman"/>
              </a:rPr>
              <a:t> </a:t>
            </a:r>
            <a:r>
              <a:rPr sz="1400" spc="-15" dirty="0">
                <a:latin typeface="Times New Roman"/>
                <a:cs typeface="Times New Roman"/>
              </a:rPr>
              <a:t>BERADA</a:t>
            </a:r>
            <a:r>
              <a:rPr sz="1400" spc="10" dirty="0">
                <a:latin typeface="Times New Roman"/>
                <a:cs typeface="Times New Roman"/>
              </a:rPr>
              <a:t> </a:t>
            </a:r>
            <a:r>
              <a:rPr sz="1400" spc="-5" dirty="0">
                <a:latin typeface="Times New Roman"/>
                <a:cs typeface="Times New Roman"/>
              </a:rPr>
              <a:t>DI</a:t>
            </a:r>
            <a:r>
              <a:rPr sz="1400" spc="5" dirty="0">
                <a:latin typeface="Times New Roman"/>
                <a:cs typeface="Times New Roman"/>
              </a:rPr>
              <a:t> </a:t>
            </a:r>
            <a:r>
              <a:rPr sz="1400" spc="-25" dirty="0">
                <a:latin typeface="Times New Roman"/>
                <a:cs typeface="Times New Roman"/>
              </a:rPr>
              <a:t>DALAM</a:t>
            </a:r>
            <a:r>
              <a:rPr sz="1400" spc="85" dirty="0">
                <a:latin typeface="Times New Roman"/>
                <a:cs typeface="Times New Roman"/>
              </a:rPr>
              <a:t> </a:t>
            </a:r>
            <a:r>
              <a:rPr sz="1400" spc="-40" dirty="0">
                <a:latin typeface="Times New Roman"/>
                <a:cs typeface="Times New Roman"/>
              </a:rPr>
              <a:t>KOTAK</a:t>
            </a:r>
            <a:endParaRPr sz="1400">
              <a:latin typeface="Times New Roman"/>
              <a:cs typeface="Times New Roman"/>
            </a:endParaRPr>
          </a:p>
          <a:p>
            <a:pPr>
              <a:lnSpc>
                <a:spcPct val="100000"/>
              </a:lnSpc>
              <a:spcBef>
                <a:spcPts val="15"/>
              </a:spcBef>
            </a:pPr>
            <a:endParaRPr sz="1800">
              <a:latin typeface="Times New Roman"/>
              <a:cs typeface="Times New Roman"/>
            </a:endParaRPr>
          </a:p>
          <a:p>
            <a:pPr marL="2286000">
              <a:lnSpc>
                <a:spcPct val="100000"/>
              </a:lnSpc>
            </a:pPr>
            <a:r>
              <a:rPr sz="1200" spc="-45" dirty="0">
                <a:latin typeface="Times New Roman"/>
                <a:cs typeface="Times New Roman"/>
              </a:rPr>
              <a:t>ALAMAT</a:t>
            </a:r>
            <a:endParaRPr sz="1200">
              <a:latin typeface="Times New Roman"/>
              <a:cs typeface="Times New Roman"/>
            </a:endParaRPr>
          </a:p>
        </p:txBody>
      </p:sp>
      <p:sp>
        <p:nvSpPr>
          <p:cNvPr id="8" name="object 8"/>
          <p:cNvSpPr/>
          <p:nvPr/>
        </p:nvSpPr>
        <p:spPr>
          <a:xfrm>
            <a:off x="2673350" y="2432050"/>
            <a:ext cx="1447800" cy="304800"/>
          </a:xfrm>
          <a:custGeom>
            <a:avLst/>
            <a:gdLst/>
            <a:ahLst/>
            <a:cxnLst/>
            <a:rect l="l" t="t" r="r" b="b"/>
            <a:pathLst>
              <a:path w="1447800" h="304800">
                <a:moveTo>
                  <a:pt x="1447800" y="152400"/>
                </a:moveTo>
                <a:lnTo>
                  <a:pt x="1415254" y="107068"/>
                </a:lnTo>
                <a:lnTo>
                  <a:pt x="1360428" y="79742"/>
                </a:lnTo>
                <a:lnTo>
                  <a:pt x="1324168" y="67177"/>
                </a:lnTo>
                <a:lnTo>
                  <a:pt x="1282495" y="55445"/>
                </a:lnTo>
                <a:lnTo>
                  <a:pt x="1235773" y="44624"/>
                </a:lnTo>
                <a:lnTo>
                  <a:pt x="1184366" y="34790"/>
                </a:lnTo>
                <a:lnTo>
                  <a:pt x="1128638" y="26018"/>
                </a:lnTo>
                <a:lnTo>
                  <a:pt x="1068952" y="18387"/>
                </a:lnTo>
                <a:lnTo>
                  <a:pt x="1005673" y="11971"/>
                </a:lnTo>
                <a:lnTo>
                  <a:pt x="939164" y="6848"/>
                </a:lnTo>
                <a:lnTo>
                  <a:pt x="869790" y="3094"/>
                </a:lnTo>
                <a:lnTo>
                  <a:pt x="797914" y="786"/>
                </a:lnTo>
                <a:lnTo>
                  <a:pt x="723900" y="0"/>
                </a:lnTo>
                <a:lnTo>
                  <a:pt x="649885" y="786"/>
                </a:lnTo>
                <a:lnTo>
                  <a:pt x="578009" y="3094"/>
                </a:lnTo>
                <a:lnTo>
                  <a:pt x="508635" y="6848"/>
                </a:lnTo>
                <a:lnTo>
                  <a:pt x="442126" y="11971"/>
                </a:lnTo>
                <a:lnTo>
                  <a:pt x="378847" y="18387"/>
                </a:lnTo>
                <a:lnTo>
                  <a:pt x="319161" y="26018"/>
                </a:lnTo>
                <a:lnTo>
                  <a:pt x="263433" y="34790"/>
                </a:lnTo>
                <a:lnTo>
                  <a:pt x="212026" y="44624"/>
                </a:lnTo>
                <a:lnTo>
                  <a:pt x="165304" y="55445"/>
                </a:lnTo>
                <a:lnTo>
                  <a:pt x="123631" y="67177"/>
                </a:lnTo>
                <a:lnTo>
                  <a:pt x="87371" y="79742"/>
                </a:lnTo>
                <a:lnTo>
                  <a:pt x="32545" y="107068"/>
                </a:lnTo>
                <a:lnTo>
                  <a:pt x="3737" y="136812"/>
                </a:lnTo>
                <a:lnTo>
                  <a:pt x="0" y="152400"/>
                </a:lnTo>
                <a:lnTo>
                  <a:pt x="3737" y="167987"/>
                </a:lnTo>
                <a:lnTo>
                  <a:pt x="14707" y="183123"/>
                </a:lnTo>
                <a:lnTo>
                  <a:pt x="56888" y="211734"/>
                </a:lnTo>
                <a:lnTo>
                  <a:pt x="123631" y="237622"/>
                </a:lnTo>
                <a:lnTo>
                  <a:pt x="165304" y="249354"/>
                </a:lnTo>
                <a:lnTo>
                  <a:pt x="212026" y="260175"/>
                </a:lnTo>
                <a:lnTo>
                  <a:pt x="263433" y="270009"/>
                </a:lnTo>
                <a:lnTo>
                  <a:pt x="319161" y="278781"/>
                </a:lnTo>
                <a:lnTo>
                  <a:pt x="378847" y="286412"/>
                </a:lnTo>
                <a:lnTo>
                  <a:pt x="442126" y="292828"/>
                </a:lnTo>
                <a:lnTo>
                  <a:pt x="508635" y="297951"/>
                </a:lnTo>
                <a:lnTo>
                  <a:pt x="578009" y="301705"/>
                </a:lnTo>
                <a:lnTo>
                  <a:pt x="649885" y="304013"/>
                </a:lnTo>
                <a:lnTo>
                  <a:pt x="723900" y="304800"/>
                </a:lnTo>
                <a:lnTo>
                  <a:pt x="797914" y="304013"/>
                </a:lnTo>
                <a:lnTo>
                  <a:pt x="869790" y="301705"/>
                </a:lnTo>
                <a:lnTo>
                  <a:pt x="939164" y="297951"/>
                </a:lnTo>
                <a:lnTo>
                  <a:pt x="1005673" y="292828"/>
                </a:lnTo>
                <a:lnTo>
                  <a:pt x="1068952" y="286412"/>
                </a:lnTo>
                <a:lnTo>
                  <a:pt x="1128638" y="278781"/>
                </a:lnTo>
                <a:lnTo>
                  <a:pt x="1184366" y="270009"/>
                </a:lnTo>
                <a:lnTo>
                  <a:pt x="1235773" y="260175"/>
                </a:lnTo>
                <a:lnTo>
                  <a:pt x="1282495" y="249354"/>
                </a:lnTo>
                <a:lnTo>
                  <a:pt x="1324168" y="237622"/>
                </a:lnTo>
                <a:lnTo>
                  <a:pt x="1360428" y="225057"/>
                </a:lnTo>
                <a:lnTo>
                  <a:pt x="1415254" y="197731"/>
                </a:lnTo>
                <a:lnTo>
                  <a:pt x="1444062" y="167987"/>
                </a:lnTo>
                <a:lnTo>
                  <a:pt x="1447800" y="152400"/>
                </a:lnTo>
                <a:close/>
              </a:path>
            </a:pathLst>
          </a:custGeom>
          <a:ln w="12700">
            <a:solidFill>
              <a:srgbClr val="000000"/>
            </a:solidFill>
          </a:ln>
        </p:spPr>
        <p:txBody>
          <a:bodyPr wrap="square" lIns="0" tIns="0" rIns="0" bIns="0" rtlCol="0"/>
          <a:lstStyle/>
          <a:p>
            <a:endParaRPr/>
          </a:p>
        </p:txBody>
      </p:sp>
      <p:sp>
        <p:nvSpPr>
          <p:cNvPr id="9" name="object 9"/>
          <p:cNvSpPr txBox="1"/>
          <p:nvPr/>
        </p:nvSpPr>
        <p:spPr>
          <a:xfrm>
            <a:off x="3445890" y="2952369"/>
            <a:ext cx="74295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T</a:t>
            </a:r>
            <a:r>
              <a:rPr sz="1200" spc="-10" dirty="0">
                <a:latin typeface="Times New Roman"/>
                <a:cs typeface="Times New Roman"/>
              </a:rPr>
              <a:t>G</a:t>
            </a:r>
            <a:r>
              <a:rPr sz="1200" spc="5" dirty="0">
                <a:latin typeface="Times New Roman"/>
                <a:cs typeface="Times New Roman"/>
              </a:rPr>
              <a:t>-</a:t>
            </a:r>
            <a:r>
              <a:rPr sz="1200" spc="-15" dirty="0">
                <a:latin typeface="Times New Roman"/>
                <a:cs typeface="Times New Roman"/>
              </a:rPr>
              <a:t>L</a:t>
            </a:r>
            <a:r>
              <a:rPr sz="1200" spc="-35" dirty="0">
                <a:latin typeface="Times New Roman"/>
                <a:cs typeface="Times New Roman"/>
              </a:rPr>
              <a:t>A</a:t>
            </a:r>
            <a:r>
              <a:rPr sz="1200" spc="-5" dirty="0">
                <a:latin typeface="Times New Roman"/>
                <a:cs typeface="Times New Roman"/>
              </a:rPr>
              <a:t>HI</a:t>
            </a:r>
            <a:r>
              <a:rPr sz="1200" dirty="0">
                <a:latin typeface="Times New Roman"/>
                <a:cs typeface="Times New Roman"/>
              </a:rPr>
              <a:t>R</a:t>
            </a:r>
            <a:endParaRPr sz="1200">
              <a:latin typeface="Times New Roman"/>
              <a:cs typeface="Times New Roman"/>
            </a:endParaRPr>
          </a:p>
        </p:txBody>
      </p:sp>
      <p:sp>
        <p:nvSpPr>
          <p:cNvPr id="10" name="object 10"/>
          <p:cNvSpPr/>
          <p:nvPr/>
        </p:nvSpPr>
        <p:spPr>
          <a:xfrm>
            <a:off x="2444750" y="2736850"/>
            <a:ext cx="2057400" cy="457200"/>
          </a:xfrm>
          <a:custGeom>
            <a:avLst/>
            <a:gdLst/>
            <a:ahLst/>
            <a:cxnLst/>
            <a:rect l="l" t="t" r="r" b="b"/>
            <a:pathLst>
              <a:path w="2057400" h="457200">
                <a:moveTo>
                  <a:pt x="2057400" y="304800"/>
                </a:moveTo>
                <a:lnTo>
                  <a:pt x="2024854" y="259468"/>
                </a:lnTo>
                <a:lnTo>
                  <a:pt x="1970028" y="232142"/>
                </a:lnTo>
                <a:lnTo>
                  <a:pt x="1933768" y="219577"/>
                </a:lnTo>
                <a:lnTo>
                  <a:pt x="1892095" y="207845"/>
                </a:lnTo>
                <a:lnTo>
                  <a:pt x="1845373" y="197024"/>
                </a:lnTo>
                <a:lnTo>
                  <a:pt x="1793966" y="187190"/>
                </a:lnTo>
                <a:lnTo>
                  <a:pt x="1738238" y="178418"/>
                </a:lnTo>
                <a:lnTo>
                  <a:pt x="1678552" y="170787"/>
                </a:lnTo>
                <a:lnTo>
                  <a:pt x="1615273" y="164371"/>
                </a:lnTo>
                <a:lnTo>
                  <a:pt x="1548764" y="159248"/>
                </a:lnTo>
                <a:lnTo>
                  <a:pt x="1479390" y="155494"/>
                </a:lnTo>
                <a:lnTo>
                  <a:pt x="1407514" y="153186"/>
                </a:lnTo>
                <a:lnTo>
                  <a:pt x="1333500" y="152400"/>
                </a:lnTo>
                <a:lnTo>
                  <a:pt x="1259485" y="153186"/>
                </a:lnTo>
                <a:lnTo>
                  <a:pt x="1187609" y="155494"/>
                </a:lnTo>
                <a:lnTo>
                  <a:pt x="1118235" y="159248"/>
                </a:lnTo>
                <a:lnTo>
                  <a:pt x="1051726" y="164371"/>
                </a:lnTo>
                <a:lnTo>
                  <a:pt x="988447" y="170787"/>
                </a:lnTo>
                <a:lnTo>
                  <a:pt x="928761" y="178418"/>
                </a:lnTo>
                <a:lnTo>
                  <a:pt x="873033" y="187190"/>
                </a:lnTo>
                <a:lnTo>
                  <a:pt x="821626" y="197024"/>
                </a:lnTo>
                <a:lnTo>
                  <a:pt x="774904" y="207845"/>
                </a:lnTo>
                <a:lnTo>
                  <a:pt x="733231" y="219577"/>
                </a:lnTo>
                <a:lnTo>
                  <a:pt x="696971" y="232142"/>
                </a:lnTo>
                <a:lnTo>
                  <a:pt x="642145" y="259468"/>
                </a:lnTo>
                <a:lnTo>
                  <a:pt x="613337" y="289212"/>
                </a:lnTo>
                <a:lnTo>
                  <a:pt x="609600" y="304800"/>
                </a:lnTo>
                <a:lnTo>
                  <a:pt x="613337" y="320387"/>
                </a:lnTo>
                <a:lnTo>
                  <a:pt x="624307" y="335523"/>
                </a:lnTo>
                <a:lnTo>
                  <a:pt x="666488" y="364134"/>
                </a:lnTo>
                <a:lnTo>
                  <a:pt x="733231" y="390022"/>
                </a:lnTo>
                <a:lnTo>
                  <a:pt x="774904" y="401754"/>
                </a:lnTo>
                <a:lnTo>
                  <a:pt x="821626" y="412575"/>
                </a:lnTo>
                <a:lnTo>
                  <a:pt x="873033" y="422409"/>
                </a:lnTo>
                <a:lnTo>
                  <a:pt x="928761" y="431181"/>
                </a:lnTo>
                <a:lnTo>
                  <a:pt x="988447" y="438812"/>
                </a:lnTo>
                <a:lnTo>
                  <a:pt x="1051726" y="445228"/>
                </a:lnTo>
                <a:lnTo>
                  <a:pt x="1118235" y="450351"/>
                </a:lnTo>
                <a:lnTo>
                  <a:pt x="1187609" y="454105"/>
                </a:lnTo>
                <a:lnTo>
                  <a:pt x="1259485" y="456413"/>
                </a:lnTo>
                <a:lnTo>
                  <a:pt x="1333500" y="457200"/>
                </a:lnTo>
                <a:lnTo>
                  <a:pt x="1407514" y="456413"/>
                </a:lnTo>
                <a:lnTo>
                  <a:pt x="1479390" y="454105"/>
                </a:lnTo>
                <a:lnTo>
                  <a:pt x="1548764" y="450351"/>
                </a:lnTo>
                <a:lnTo>
                  <a:pt x="1615273" y="445228"/>
                </a:lnTo>
                <a:lnTo>
                  <a:pt x="1678552" y="438812"/>
                </a:lnTo>
                <a:lnTo>
                  <a:pt x="1738238" y="431181"/>
                </a:lnTo>
                <a:lnTo>
                  <a:pt x="1793966" y="422409"/>
                </a:lnTo>
                <a:lnTo>
                  <a:pt x="1845373" y="412575"/>
                </a:lnTo>
                <a:lnTo>
                  <a:pt x="1892095" y="401754"/>
                </a:lnTo>
                <a:lnTo>
                  <a:pt x="1933768" y="390022"/>
                </a:lnTo>
                <a:lnTo>
                  <a:pt x="1970028" y="377457"/>
                </a:lnTo>
                <a:lnTo>
                  <a:pt x="2024854" y="350131"/>
                </a:lnTo>
                <a:lnTo>
                  <a:pt x="2053662" y="320387"/>
                </a:lnTo>
                <a:lnTo>
                  <a:pt x="2057400" y="304800"/>
                </a:lnTo>
                <a:close/>
              </a:path>
              <a:path w="2057400" h="457200">
                <a:moveTo>
                  <a:pt x="609600" y="304800"/>
                </a:moveTo>
                <a:lnTo>
                  <a:pt x="228600" y="457200"/>
                </a:lnTo>
              </a:path>
              <a:path w="2057400" h="457200">
                <a:moveTo>
                  <a:pt x="0" y="457200"/>
                </a:moveTo>
                <a:lnTo>
                  <a:pt x="685800" y="0"/>
                </a:lnTo>
              </a:path>
            </a:pathLst>
          </a:custGeom>
          <a:ln w="12700">
            <a:solidFill>
              <a:srgbClr val="000000"/>
            </a:solidFill>
          </a:ln>
        </p:spPr>
        <p:txBody>
          <a:bodyPr wrap="square" lIns="0" tIns="0" rIns="0" bIns="0" rtlCol="0"/>
          <a:lstStyle/>
          <a:p>
            <a:endParaRPr/>
          </a:p>
        </p:txBody>
      </p:sp>
      <p:sp>
        <p:nvSpPr>
          <p:cNvPr id="11" name="object 11"/>
          <p:cNvSpPr txBox="1"/>
          <p:nvPr/>
        </p:nvSpPr>
        <p:spPr>
          <a:xfrm>
            <a:off x="3837559" y="3484626"/>
            <a:ext cx="57086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S</a:t>
            </a:r>
            <a:r>
              <a:rPr sz="1200" spc="-90" dirty="0">
                <a:latin typeface="Times New Roman"/>
                <a:cs typeface="Times New Roman"/>
              </a:rPr>
              <a:t>T</a:t>
            </a:r>
            <a:r>
              <a:rPr sz="1200" spc="-180" dirty="0">
                <a:latin typeface="Times New Roman"/>
                <a:cs typeface="Times New Roman"/>
              </a:rPr>
              <a:t>A</a:t>
            </a:r>
            <a:r>
              <a:rPr sz="1200" spc="5" dirty="0">
                <a:latin typeface="Times New Roman"/>
                <a:cs typeface="Times New Roman"/>
              </a:rPr>
              <a:t>T</a:t>
            </a:r>
            <a:r>
              <a:rPr sz="1200" spc="-5" dirty="0">
                <a:latin typeface="Times New Roman"/>
                <a:cs typeface="Times New Roman"/>
              </a:rPr>
              <a:t>US</a:t>
            </a:r>
            <a:endParaRPr sz="1200">
              <a:latin typeface="Times New Roman"/>
              <a:cs typeface="Times New Roman"/>
            </a:endParaRPr>
          </a:p>
        </p:txBody>
      </p:sp>
      <p:sp>
        <p:nvSpPr>
          <p:cNvPr id="12" name="object 12"/>
          <p:cNvSpPr/>
          <p:nvPr/>
        </p:nvSpPr>
        <p:spPr>
          <a:xfrm>
            <a:off x="2719451" y="3422650"/>
            <a:ext cx="2133600" cy="304800"/>
          </a:xfrm>
          <a:custGeom>
            <a:avLst/>
            <a:gdLst/>
            <a:ahLst/>
            <a:cxnLst/>
            <a:rect l="l" t="t" r="r" b="b"/>
            <a:pathLst>
              <a:path w="2133600" h="304800">
                <a:moveTo>
                  <a:pt x="2133600" y="152400"/>
                </a:moveTo>
                <a:lnTo>
                  <a:pt x="2101007" y="107068"/>
                </a:lnTo>
                <a:lnTo>
                  <a:pt x="2046172" y="79742"/>
                </a:lnTo>
                <a:lnTo>
                  <a:pt x="2009912" y="67177"/>
                </a:lnTo>
                <a:lnTo>
                  <a:pt x="1968242" y="55445"/>
                </a:lnTo>
                <a:lnTo>
                  <a:pt x="1921525" y="44624"/>
                </a:lnTo>
                <a:lnTo>
                  <a:pt x="1870125" y="34790"/>
                </a:lnTo>
                <a:lnTo>
                  <a:pt x="1814404" y="26018"/>
                </a:lnTo>
                <a:lnTo>
                  <a:pt x="1754726" y="18387"/>
                </a:lnTo>
                <a:lnTo>
                  <a:pt x="1691455" y="11971"/>
                </a:lnTo>
                <a:lnTo>
                  <a:pt x="1624953" y="6848"/>
                </a:lnTo>
                <a:lnTo>
                  <a:pt x="1555585" y="3094"/>
                </a:lnTo>
                <a:lnTo>
                  <a:pt x="1483712" y="786"/>
                </a:lnTo>
                <a:lnTo>
                  <a:pt x="1409700" y="0"/>
                </a:lnTo>
                <a:lnTo>
                  <a:pt x="1335664" y="786"/>
                </a:lnTo>
                <a:lnTo>
                  <a:pt x="1263773" y="3094"/>
                </a:lnTo>
                <a:lnTo>
                  <a:pt x="1194388" y="6848"/>
                </a:lnTo>
                <a:lnTo>
                  <a:pt x="1127873" y="11971"/>
                </a:lnTo>
                <a:lnTo>
                  <a:pt x="1064591" y="18387"/>
                </a:lnTo>
                <a:lnTo>
                  <a:pt x="1004906" y="26018"/>
                </a:lnTo>
                <a:lnTo>
                  <a:pt x="949180" y="34790"/>
                </a:lnTo>
                <a:lnTo>
                  <a:pt x="897778" y="44624"/>
                </a:lnTo>
                <a:lnTo>
                  <a:pt x="851063" y="55445"/>
                </a:lnTo>
                <a:lnTo>
                  <a:pt x="809398" y="67177"/>
                </a:lnTo>
                <a:lnTo>
                  <a:pt x="773145" y="79742"/>
                </a:lnTo>
                <a:lnTo>
                  <a:pt x="718334" y="107068"/>
                </a:lnTo>
                <a:lnTo>
                  <a:pt x="689536" y="136812"/>
                </a:lnTo>
                <a:lnTo>
                  <a:pt x="685800" y="152400"/>
                </a:lnTo>
                <a:lnTo>
                  <a:pt x="689536" y="167987"/>
                </a:lnTo>
                <a:lnTo>
                  <a:pt x="700501" y="183123"/>
                </a:lnTo>
                <a:lnTo>
                  <a:pt x="742670" y="211734"/>
                </a:lnTo>
                <a:lnTo>
                  <a:pt x="809398" y="237622"/>
                </a:lnTo>
                <a:lnTo>
                  <a:pt x="851063" y="249354"/>
                </a:lnTo>
                <a:lnTo>
                  <a:pt x="897778" y="260175"/>
                </a:lnTo>
                <a:lnTo>
                  <a:pt x="949180" y="270009"/>
                </a:lnTo>
                <a:lnTo>
                  <a:pt x="1004906" y="278781"/>
                </a:lnTo>
                <a:lnTo>
                  <a:pt x="1064591" y="286412"/>
                </a:lnTo>
                <a:lnTo>
                  <a:pt x="1127873" y="292828"/>
                </a:lnTo>
                <a:lnTo>
                  <a:pt x="1194388" y="297951"/>
                </a:lnTo>
                <a:lnTo>
                  <a:pt x="1263773" y="301705"/>
                </a:lnTo>
                <a:lnTo>
                  <a:pt x="1335664" y="304013"/>
                </a:lnTo>
                <a:lnTo>
                  <a:pt x="1409700" y="304800"/>
                </a:lnTo>
                <a:lnTo>
                  <a:pt x="1483714" y="304013"/>
                </a:lnTo>
                <a:lnTo>
                  <a:pt x="1555590" y="301705"/>
                </a:lnTo>
                <a:lnTo>
                  <a:pt x="1624964" y="297951"/>
                </a:lnTo>
                <a:lnTo>
                  <a:pt x="1691473" y="292828"/>
                </a:lnTo>
                <a:lnTo>
                  <a:pt x="1754752" y="286412"/>
                </a:lnTo>
                <a:lnTo>
                  <a:pt x="1814438" y="278781"/>
                </a:lnTo>
                <a:lnTo>
                  <a:pt x="1870166" y="270009"/>
                </a:lnTo>
                <a:lnTo>
                  <a:pt x="1921573" y="260175"/>
                </a:lnTo>
                <a:lnTo>
                  <a:pt x="1968295" y="249354"/>
                </a:lnTo>
                <a:lnTo>
                  <a:pt x="2009968" y="237622"/>
                </a:lnTo>
                <a:lnTo>
                  <a:pt x="2046228" y="225057"/>
                </a:lnTo>
                <a:lnTo>
                  <a:pt x="2101054" y="197731"/>
                </a:lnTo>
                <a:lnTo>
                  <a:pt x="2129862" y="167987"/>
                </a:lnTo>
                <a:lnTo>
                  <a:pt x="2133600" y="152400"/>
                </a:lnTo>
                <a:close/>
              </a:path>
              <a:path w="2133600" h="304800">
                <a:moveTo>
                  <a:pt x="685800" y="152400"/>
                </a:moveTo>
                <a:lnTo>
                  <a:pt x="0" y="0"/>
                </a:lnTo>
              </a:path>
            </a:pathLst>
          </a:custGeom>
          <a:ln w="12700">
            <a:solidFill>
              <a:srgbClr val="000000"/>
            </a:solidFill>
          </a:ln>
        </p:spPr>
        <p:txBody>
          <a:bodyPr wrap="square" lIns="0" tIns="0" rIns="0" bIns="0" rtlCol="0"/>
          <a:lstStyle/>
          <a:p>
            <a:endParaRPr/>
          </a:p>
        </p:txBody>
      </p:sp>
      <p:sp>
        <p:nvSpPr>
          <p:cNvPr id="13" name="object 13"/>
          <p:cNvSpPr/>
          <p:nvPr/>
        </p:nvSpPr>
        <p:spPr>
          <a:xfrm>
            <a:off x="5615051" y="2965450"/>
            <a:ext cx="609600" cy="838200"/>
          </a:xfrm>
          <a:custGeom>
            <a:avLst/>
            <a:gdLst/>
            <a:ahLst/>
            <a:cxnLst/>
            <a:rect l="l" t="t" r="r" b="b"/>
            <a:pathLst>
              <a:path w="609600" h="838200">
                <a:moveTo>
                  <a:pt x="0" y="209550"/>
                </a:moveTo>
                <a:lnTo>
                  <a:pt x="457200" y="209550"/>
                </a:lnTo>
                <a:lnTo>
                  <a:pt x="457200" y="0"/>
                </a:lnTo>
                <a:lnTo>
                  <a:pt x="609600" y="419100"/>
                </a:lnTo>
                <a:lnTo>
                  <a:pt x="457200" y="838200"/>
                </a:lnTo>
                <a:lnTo>
                  <a:pt x="457200" y="628650"/>
                </a:lnTo>
                <a:lnTo>
                  <a:pt x="0" y="628650"/>
                </a:lnTo>
                <a:lnTo>
                  <a:pt x="0" y="209550"/>
                </a:lnTo>
                <a:close/>
              </a:path>
            </a:pathLst>
          </a:custGeom>
          <a:ln w="12700">
            <a:solidFill>
              <a:srgbClr val="000000"/>
            </a:solidFill>
          </a:ln>
        </p:spPr>
        <p:txBody>
          <a:bodyPr wrap="square" lIns="0" tIns="0" rIns="0" bIns="0" rtlCol="0"/>
          <a:lstStyle/>
          <a:p>
            <a:endParaRPr/>
          </a:p>
        </p:txBody>
      </p:sp>
      <p:sp>
        <p:nvSpPr>
          <p:cNvPr id="14" name="object 14"/>
          <p:cNvSpPr txBox="1"/>
          <p:nvPr/>
        </p:nvSpPr>
        <p:spPr>
          <a:xfrm>
            <a:off x="6910451" y="3117850"/>
            <a:ext cx="1022350" cy="739775"/>
          </a:xfrm>
          <a:prstGeom prst="rect">
            <a:avLst/>
          </a:prstGeom>
          <a:ln w="12700">
            <a:solidFill>
              <a:srgbClr val="000000"/>
            </a:solidFill>
          </a:ln>
        </p:spPr>
        <p:txBody>
          <a:bodyPr vert="horz" wrap="square" lIns="0" tIns="40005" rIns="0" bIns="0" rtlCol="0">
            <a:spAutoFit/>
          </a:bodyPr>
          <a:lstStyle/>
          <a:p>
            <a:pPr marL="93345" marR="98425">
              <a:lnSpc>
                <a:spcPct val="100000"/>
              </a:lnSpc>
              <a:spcBef>
                <a:spcPts val="315"/>
              </a:spcBef>
            </a:pPr>
            <a:r>
              <a:rPr sz="1400" spc="-50" dirty="0">
                <a:latin typeface="Times New Roman"/>
                <a:cs typeface="Times New Roman"/>
              </a:rPr>
              <a:t>ALAMAT </a:t>
            </a:r>
            <a:r>
              <a:rPr sz="1400" spc="-45" dirty="0">
                <a:latin typeface="Times New Roman"/>
                <a:cs typeface="Times New Roman"/>
              </a:rPr>
              <a:t> </a:t>
            </a:r>
            <a:r>
              <a:rPr sz="1400" spc="-20" dirty="0">
                <a:latin typeface="Times New Roman"/>
                <a:cs typeface="Times New Roman"/>
              </a:rPr>
              <a:t>T</a:t>
            </a:r>
            <a:r>
              <a:rPr sz="1400" spc="-5" dirty="0">
                <a:latin typeface="Times New Roman"/>
                <a:cs typeface="Times New Roman"/>
              </a:rPr>
              <a:t>G</a:t>
            </a:r>
            <a:r>
              <a:rPr sz="1400" spc="-15" dirty="0">
                <a:latin typeface="Times New Roman"/>
                <a:cs typeface="Times New Roman"/>
              </a:rPr>
              <a:t>-</a:t>
            </a:r>
            <a:r>
              <a:rPr sz="1400" spc="-45" dirty="0">
                <a:latin typeface="Times New Roman"/>
                <a:cs typeface="Times New Roman"/>
              </a:rPr>
              <a:t>L</a:t>
            </a:r>
            <a:r>
              <a:rPr sz="1400" spc="-30" dirty="0">
                <a:latin typeface="Times New Roman"/>
                <a:cs typeface="Times New Roman"/>
              </a:rPr>
              <a:t>AH</a:t>
            </a:r>
            <a:r>
              <a:rPr sz="1400" spc="-15" dirty="0">
                <a:latin typeface="Times New Roman"/>
                <a:cs typeface="Times New Roman"/>
              </a:rPr>
              <a:t>I</a:t>
            </a:r>
            <a:r>
              <a:rPr sz="1400" spc="-5" dirty="0">
                <a:latin typeface="Times New Roman"/>
                <a:cs typeface="Times New Roman"/>
              </a:rPr>
              <a:t>R  </a:t>
            </a:r>
            <a:r>
              <a:rPr sz="1400" spc="-65" dirty="0">
                <a:latin typeface="Times New Roman"/>
                <a:cs typeface="Times New Roman"/>
              </a:rPr>
              <a:t>STATUS</a:t>
            </a:r>
            <a:endParaRPr sz="1400">
              <a:latin typeface="Times New Roman"/>
              <a:cs typeface="Times New Roman"/>
            </a:endParaRPr>
          </a:p>
        </p:txBody>
      </p:sp>
      <p:sp>
        <p:nvSpPr>
          <p:cNvPr id="15" name="object 15"/>
          <p:cNvSpPr txBox="1"/>
          <p:nvPr/>
        </p:nvSpPr>
        <p:spPr>
          <a:xfrm>
            <a:off x="6991604" y="2841498"/>
            <a:ext cx="80073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20" dirty="0">
                <a:latin typeface="Times New Roman"/>
                <a:cs typeface="Times New Roman"/>
              </a:rPr>
              <a:t>E</a:t>
            </a:r>
            <a:r>
              <a:rPr sz="1400" spc="-10" dirty="0">
                <a:latin typeface="Times New Roman"/>
                <a:cs typeface="Times New Roman"/>
              </a:rPr>
              <a:t>G</a:t>
            </a:r>
            <a:r>
              <a:rPr sz="1400" spc="-150" dirty="0">
                <a:latin typeface="Times New Roman"/>
                <a:cs typeface="Times New Roman"/>
              </a:rPr>
              <a:t>AW</a:t>
            </a:r>
            <a:r>
              <a:rPr sz="1400" spc="-35"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pic>
        <p:nvPicPr>
          <p:cNvPr id="16" name="object 16"/>
          <p:cNvPicPr/>
          <p:nvPr/>
        </p:nvPicPr>
        <p:blipFill>
          <a:blip r:embed="rId2" cstate="print"/>
          <a:stretch>
            <a:fillRect/>
          </a:stretch>
        </p:blipFill>
        <p:spPr>
          <a:xfrm>
            <a:off x="5180076" y="520700"/>
            <a:ext cx="3759200" cy="457200"/>
          </a:xfrm>
          <a:prstGeom prst="rect">
            <a:avLst/>
          </a:prstGeom>
        </p:spPr>
      </p:pic>
      <p:sp>
        <p:nvSpPr>
          <p:cNvPr id="17" name="object 17"/>
          <p:cNvSpPr txBox="1">
            <a:spLocks noGrp="1"/>
          </p:cNvSpPr>
          <p:nvPr>
            <p:ph type="title"/>
          </p:nvPr>
        </p:nvSpPr>
        <p:spPr>
          <a:prstGeom prst="rect">
            <a:avLst/>
          </a:prstGeom>
        </p:spPr>
        <p:txBody>
          <a:bodyPr vert="horz" wrap="square" lIns="0" tIns="13335" rIns="0" bIns="0" rtlCol="0">
            <a:spAutoFit/>
          </a:bodyPr>
          <a:lstStyle/>
          <a:p>
            <a:pPr marL="4840605">
              <a:lnSpc>
                <a:spcPct val="100000"/>
              </a:lnSpc>
              <a:spcBef>
                <a:spcPts val="105"/>
              </a:spcBef>
            </a:pPr>
            <a:r>
              <a:rPr spc="-170" dirty="0"/>
              <a:t>T</a:t>
            </a:r>
            <a:r>
              <a:rPr spc="-200" dirty="0"/>
              <a:t>R</a:t>
            </a:r>
            <a:r>
              <a:rPr spc="-185" dirty="0"/>
              <a:t>A</a:t>
            </a:r>
            <a:r>
              <a:rPr spc="-200" dirty="0"/>
              <a:t>N</a:t>
            </a:r>
            <a:r>
              <a:rPr spc="-185" dirty="0"/>
              <a:t>S</a:t>
            </a:r>
            <a:r>
              <a:rPr spc="-170" dirty="0"/>
              <a:t>F</a:t>
            </a:r>
            <a:r>
              <a:rPr spc="-220" dirty="0"/>
              <a:t>O</a:t>
            </a:r>
            <a:r>
              <a:rPr spc="-200" dirty="0"/>
              <a:t>R</a:t>
            </a:r>
            <a:r>
              <a:rPr spc="-254" dirty="0"/>
              <a:t>M</a:t>
            </a:r>
            <a:r>
              <a:rPr spc="-185" dirty="0"/>
              <a:t>A</a:t>
            </a:r>
            <a:r>
              <a:rPr spc="-210" dirty="0"/>
              <a:t>S</a:t>
            </a:r>
            <a:r>
              <a:rPr spc="-80" dirty="0"/>
              <a:t>I</a:t>
            </a:r>
            <a:r>
              <a:rPr spc="-190" dirty="0"/>
              <a:t> </a:t>
            </a:r>
            <a:r>
              <a:rPr spc="-175" dirty="0"/>
              <a:t>D</a:t>
            </a:r>
            <a:r>
              <a:rPr spc="-105" dirty="0"/>
              <a:t>-</a:t>
            </a:r>
            <a:r>
              <a:rPr spc="-185" dirty="0"/>
              <a:t>E</a:t>
            </a:r>
            <a:r>
              <a:rPr spc="-204" dirty="0"/>
              <a:t>R</a:t>
            </a:r>
            <a:r>
              <a:rPr spc="-105" dirty="0"/>
              <a:t> </a:t>
            </a:r>
            <a:r>
              <a:rPr spc="-185" dirty="0"/>
              <a:t>K</a:t>
            </a:r>
            <a:r>
              <a:rPr spc="-190" dirty="0"/>
              <a:t>E</a:t>
            </a:r>
            <a:r>
              <a:rPr spc="-105" dirty="0"/>
              <a:t> </a:t>
            </a:r>
            <a:r>
              <a:rPr spc="-155" dirty="0"/>
              <a:t>L</a:t>
            </a:r>
            <a:r>
              <a:rPr spc="-200" dirty="0"/>
              <a:t>R</a:t>
            </a:r>
            <a:r>
              <a:rPr spc="-190" dirty="0"/>
              <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 name="Picture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p:nvPr/>
        </p:nvSpPr>
        <p:spPr>
          <a:xfrm>
            <a:off x="650544" y="1442669"/>
            <a:ext cx="1989455" cy="271145"/>
          </a:xfrm>
          <a:prstGeom prst="rect">
            <a:avLst/>
          </a:prstGeom>
        </p:spPr>
        <p:txBody>
          <a:bodyPr vert="horz" wrap="square" lIns="0" tIns="13970" rIns="0" bIns="0" rtlCol="0">
            <a:spAutoFit/>
          </a:bodyPr>
          <a:lstStyle/>
          <a:p>
            <a:pPr marL="12700">
              <a:lnSpc>
                <a:spcPct val="100000"/>
              </a:lnSpc>
              <a:spcBef>
                <a:spcPts val="110"/>
              </a:spcBef>
            </a:pPr>
            <a:r>
              <a:rPr sz="1600" b="1" spc="5" dirty="0">
                <a:latin typeface="Times New Roman"/>
                <a:cs typeface="Times New Roman"/>
              </a:rPr>
              <a:t>T</a:t>
            </a:r>
            <a:r>
              <a:rPr sz="1600" b="1" spc="-10" dirty="0">
                <a:latin typeface="Times New Roman"/>
                <a:cs typeface="Times New Roman"/>
              </a:rPr>
              <a:t>RAN</a:t>
            </a:r>
            <a:r>
              <a:rPr sz="1600" b="1" spc="-5" dirty="0">
                <a:latin typeface="Times New Roman"/>
                <a:cs typeface="Times New Roman"/>
              </a:rPr>
              <a:t>S</a:t>
            </a:r>
            <a:r>
              <a:rPr sz="1600" b="1" spc="5" dirty="0">
                <a:latin typeface="Times New Roman"/>
                <a:cs typeface="Times New Roman"/>
              </a:rPr>
              <a:t>F</a:t>
            </a:r>
            <a:r>
              <a:rPr sz="1600" b="1" dirty="0">
                <a:latin typeface="Times New Roman"/>
                <a:cs typeface="Times New Roman"/>
              </a:rPr>
              <a:t>O</a:t>
            </a:r>
            <a:r>
              <a:rPr sz="1600" b="1" spc="-10" dirty="0">
                <a:latin typeface="Times New Roman"/>
                <a:cs typeface="Times New Roman"/>
              </a:rPr>
              <a:t>R</a:t>
            </a:r>
            <a:r>
              <a:rPr sz="1600" b="1" spc="-5" dirty="0">
                <a:latin typeface="Times New Roman"/>
                <a:cs typeface="Times New Roman"/>
              </a:rPr>
              <a:t>M</a:t>
            </a:r>
            <a:r>
              <a:rPr sz="1600" b="1" spc="-10" dirty="0">
                <a:latin typeface="Times New Roman"/>
                <a:cs typeface="Times New Roman"/>
              </a:rPr>
              <a:t>A</a:t>
            </a:r>
            <a:r>
              <a:rPr sz="1600" b="1" spc="-5" dirty="0">
                <a:latin typeface="Times New Roman"/>
                <a:cs typeface="Times New Roman"/>
              </a:rPr>
              <a:t>S</a:t>
            </a:r>
            <a:r>
              <a:rPr sz="1600" b="1" dirty="0">
                <a:latin typeface="Times New Roman"/>
                <a:cs typeface="Times New Roman"/>
              </a:rPr>
              <a:t>I</a:t>
            </a:r>
            <a:r>
              <a:rPr sz="1600" b="1" spc="-70" dirty="0">
                <a:latin typeface="Times New Roman"/>
                <a:cs typeface="Times New Roman"/>
              </a:rPr>
              <a:t> </a:t>
            </a:r>
            <a:r>
              <a:rPr sz="1600" b="1" spc="10" dirty="0">
                <a:latin typeface="Times New Roman"/>
                <a:cs typeface="Times New Roman"/>
              </a:rPr>
              <a:t>1</a:t>
            </a:r>
            <a:r>
              <a:rPr sz="1600" b="1" spc="-10" dirty="0">
                <a:latin typeface="Times New Roman"/>
                <a:cs typeface="Times New Roman"/>
              </a:rPr>
              <a:t>:</a:t>
            </a:r>
            <a:r>
              <a:rPr sz="1600" b="1" spc="5" dirty="0">
                <a:latin typeface="Times New Roman"/>
                <a:cs typeface="Times New Roman"/>
              </a:rPr>
              <a:t>1</a:t>
            </a:r>
            <a:endParaRPr sz="1600">
              <a:latin typeface="Times New Roman"/>
              <a:cs typeface="Times New Roman"/>
            </a:endParaRPr>
          </a:p>
        </p:txBody>
      </p:sp>
      <p:sp>
        <p:nvSpPr>
          <p:cNvPr id="9" name="object 9"/>
          <p:cNvSpPr txBox="1"/>
          <p:nvPr/>
        </p:nvSpPr>
        <p:spPr>
          <a:xfrm>
            <a:off x="3394709" y="1442669"/>
            <a:ext cx="1259205" cy="271145"/>
          </a:xfrm>
          <a:prstGeom prst="rect">
            <a:avLst/>
          </a:prstGeom>
        </p:spPr>
        <p:txBody>
          <a:bodyPr vert="horz" wrap="square" lIns="0" tIns="13970" rIns="0" bIns="0" rtlCol="0">
            <a:spAutoFit/>
          </a:bodyPr>
          <a:lstStyle/>
          <a:p>
            <a:pPr marL="12700">
              <a:lnSpc>
                <a:spcPct val="100000"/>
              </a:lnSpc>
              <a:spcBef>
                <a:spcPts val="110"/>
              </a:spcBef>
            </a:pPr>
            <a:r>
              <a:rPr sz="1600" spc="-10" dirty="0">
                <a:latin typeface="Times New Roman"/>
                <a:cs typeface="Times New Roman"/>
              </a:rPr>
              <a:t>ON</a:t>
            </a:r>
            <a:r>
              <a:rPr sz="1600" spc="5" dirty="0">
                <a:latin typeface="Times New Roman"/>
                <a:cs typeface="Times New Roman"/>
              </a:rPr>
              <a:t>E</a:t>
            </a:r>
            <a:r>
              <a:rPr sz="1600" spc="-10" dirty="0">
                <a:latin typeface="Times New Roman"/>
                <a:cs typeface="Times New Roman"/>
              </a:rPr>
              <a:t>-</a:t>
            </a:r>
            <a:r>
              <a:rPr sz="1600" spc="-45" dirty="0">
                <a:latin typeface="Times New Roman"/>
                <a:cs typeface="Times New Roman"/>
              </a:rPr>
              <a:t>T</a:t>
            </a:r>
            <a:r>
              <a:rPr sz="1600" spc="-5" dirty="0">
                <a:latin typeface="Times New Roman"/>
                <a:cs typeface="Times New Roman"/>
              </a:rPr>
              <a:t>O</a:t>
            </a:r>
            <a:r>
              <a:rPr sz="1600" spc="-10" dirty="0">
                <a:latin typeface="Times New Roman"/>
                <a:cs typeface="Times New Roman"/>
              </a:rPr>
              <a:t>-ONE</a:t>
            </a:r>
            <a:endParaRPr sz="1600">
              <a:latin typeface="Times New Roman"/>
              <a:cs typeface="Times New Roman"/>
            </a:endParaRPr>
          </a:p>
        </p:txBody>
      </p:sp>
      <p:sp>
        <p:nvSpPr>
          <p:cNvPr id="10" name="object 10"/>
          <p:cNvSpPr txBox="1"/>
          <p:nvPr/>
        </p:nvSpPr>
        <p:spPr>
          <a:xfrm>
            <a:off x="650544" y="3150488"/>
            <a:ext cx="1873250" cy="270510"/>
          </a:xfrm>
          <a:prstGeom prst="rect">
            <a:avLst/>
          </a:prstGeom>
        </p:spPr>
        <p:txBody>
          <a:bodyPr vert="horz" wrap="square" lIns="0" tIns="13335" rIns="0" bIns="0" rtlCol="0">
            <a:spAutoFit/>
          </a:bodyPr>
          <a:lstStyle/>
          <a:p>
            <a:pPr marL="12700">
              <a:lnSpc>
                <a:spcPct val="100000"/>
              </a:lnSpc>
              <a:spcBef>
                <a:spcPts val="105"/>
              </a:spcBef>
            </a:pPr>
            <a:r>
              <a:rPr sz="1600" spc="-25" dirty="0">
                <a:latin typeface="Times New Roman"/>
                <a:cs typeface="Times New Roman"/>
              </a:rPr>
              <a:t>PILIH</a:t>
            </a:r>
            <a:r>
              <a:rPr sz="1600" spc="445" dirty="0">
                <a:latin typeface="Times New Roman"/>
                <a:cs typeface="Times New Roman"/>
              </a:rPr>
              <a:t> </a:t>
            </a:r>
            <a:r>
              <a:rPr sz="1600" spc="-25" dirty="0">
                <a:latin typeface="Times New Roman"/>
                <a:cs typeface="Times New Roman"/>
              </a:rPr>
              <a:t>SALAH</a:t>
            </a:r>
            <a:r>
              <a:rPr sz="1600" spc="40" dirty="0">
                <a:latin typeface="Times New Roman"/>
                <a:cs typeface="Times New Roman"/>
              </a:rPr>
              <a:t> </a:t>
            </a:r>
            <a:r>
              <a:rPr sz="1600" spc="-55" dirty="0">
                <a:latin typeface="Times New Roman"/>
                <a:cs typeface="Times New Roman"/>
              </a:rPr>
              <a:t>SATU</a:t>
            </a:r>
            <a:endParaRPr sz="1600">
              <a:latin typeface="Times New Roman"/>
              <a:cs typeface="Times New Roman"/>
            </a:endParaRPr>
          </a:p>
        </p:txBody>
      </p:sp>
      <p:sp>
        <p:nvSpPr>
          <p:cNvPr id="11" name="object 11"/>
          <p:cNvSpPr txBox="1"/>
          <p:nvPr/>
        </p:nvSpPr>
        <p:spPr>
          <a:xfrm>
            <a:off x="650544" y="4614164"/>
            <a:ext cx="6393180" cy="1978660"/>
          </a:xfrm>
          <a:prstGeom prst="rect">
            <a:avLst/>
          </a:prstGeom>
        </p:spPr>
        <p:txBody>
          <a:bodyPr vert="horz" wrap="square" lIns="0" tIns="13335" rIns="0" bIns="0" rtlCol="0">
            <a:spAutoFit/>
          </a:bodyPr>
          <a:lstStyle/>
          <a:p>
            <a:pPr marL="12700">
              <a:lnSpc>
                <a:spcPct val="100000"/>
              </a:lnSpc>
              <a:spcBef>
                <a:spcPts val="105"/>
              </a:spcBef>
            </a:pPr>
            <a:r>
              <a:rPr sz="1600" spc="-5" dirty="0">
                <a:latin typeface="Times New Roman"/>
                <a:cs typeface="Times New Roman"/>
              </a:rPr>
              <a:t>PEDOMAN</a:t>
            </a:r>
            <a:r>
              <a:rPr sz="1600" spc="-75" dirty="0">
                <a:latin typeface="Times New Roman"/>
                <a:cs typeface="Times New Roman"/>
              </a:rPr>
              <a:t> </a:t>
            </a:r>
            <a:r>
              <a:rPr sz="1600" spc="-15" dirty="0">
                <a:latin typeface="Times New Roman"/>
                <a:cs typeface="Times New Roman"/>
              </a:rPr>
              <a:t>PENGGABUNGAN</a:t>
            </a:r>
            <a:endParaRPr sz="1600">
              <a:latin typeface="Times New Roman"/>
              <a:cs typeface="Times New Roman"/>
            </a:endParaRPr>
          </a:p>
          <a:p>
            <a:pPr>
              <a:lnSpc>
                <a:spcPct val="100000"/>
              </a:lnSpc>
              <a:spcBef>
                <a:spcPts val="25"/>
              </a:spcBef>
            </a:pPr>
            <a:endParaRPr sz="1650">
              <a:latin typeface="Times New Roman"/>
              <a:cs typeface="Times New Roman"/>
            </a:endParaRPr>
          </a:p>
          <a:p>
            <a:pPr marL="588645" indent="-384810">
              <a:lnSpc>
                <a:spcPct val="100000"/>
              </a:lnSpc>
              <a:buFont typeface="Wingdings"/>
              <a:buChar char=""/>
              <a:tabLst>
                <a:tab pos="588645" algn="l"/>
                <a:tab pos="589280" algn="l"/>
              </a:tabLst>
            </a:pPr>
            <a:r>
              <a:rPr sz="1600" spc="-15" dirty="0">
                <a:latin typeface="Times New Roman"/>
                <a:cs typeface="Times New Roman"/>
              </a:rPr>
              <a:t>KEARAH</a:t>
            </a:r>
            <a:r>
              <a:rPr sz="1600" spc="-50" dirty="0">
                <a:latin typeface="Times New Roman"/>
                <a:cs typeface="Times New Roman"/>
              </a:rPr>
              <a:t> </a:t>
            </a:r>
            <a:r>
              <a:rPr sz="1600" spc="-15" dirty="0">
                <a:latin typeface="Times New Roman"/>
                <a:cs typeface="Times New Roman"/>
              </a:rPr>
              <a:t>WEAK</a:t>
            </a:r>
            <a:r>
              <a:rPr sz="1600" spc="25" dirty="0">
                <a:latin typeface="Times New Roman"/>
                <a:cs typeface="Times New Roman"/>
              </a:rPr>
              <a:t> </a:t>
            </a:r>
            <a:r>
              <a:rPr sz="1600" spc="-15" dirty="0">
                <a:latin typeface="Times New Roman"/>
                <a:cs typeface="Times New Roman"/>
              </a:rPr>
              <a:t>ENTITY</a:t>
            </a:r>
            <a:endParaRPr sz="1600">
              <a:latin typeface="Times New Roman"/>
              <a:cs typeface="Times New Roman"/>
            </a:endParaRPr>
          </a:p>
          <a:p>
            <a:pPr marL="588645" indent="-384810">
              <a:lnSpc>
                <a:spcPct val="100000"/>
              </a:lnSpc>
              <a:buFont typeface="Wingdings"/>
              <a:buChar char=""/>
              <a:tabLst>
                <a:tab pos="588645" algn="l"/>
                <a:tab pos="589280" algn="l"/>
              </a:tabLst>
            </a:pPr>
            <a:r>
              <a:rPr sz="1600" spc="-30" dirty="0">
                <a:latin typeface="Times New Roman"/>
                <a:cs typeface="Times New Roman"/>
              </a:rPr>
              <a:t>K</a:t>
            </a:r>
            <a:r>
              <a:rPr sz="1600" dirty="0">
                <a:latin typeface="Times New Roman"/>
                <a:cs typeface="Times New Roman"/>
              </a:rPr>
              <a:t>E</a:t>
            </a:r>
            <a:r>
              <a:rPr sz="1600" spc="5" dirty="0">
                <a:latin typeface="Times New Roman"/>
                <a:cs typeface="Times New Roman"/>
              </a:rPr>
              <a:t> </a:t>
            </a:r>
            <a:r>
              <a:rPr sz="1600" dirty="0">
                <a:latin typeface="Times New Roman"/>
                <a:cs typeface="Times New Roman"/>
              </a:rPr>
              <a:t>E</a:t>
            </a:r>
            <a:r>
              <a:rPr sz="1600" spc="-5" dirty="0">
                <a:latin typeface="Times New Roman"/>
                <a:cs typeface="Times New Roman"/>
              </a:rPr>
              <a:t>N</a:t>
            </a:r>
            <a:r>
              <a:rPr sz="1600" spc="-25" dirty="0">
                <a:latin typeface="Times New Roman"/>
                <a:cs typeface="Times New Roman"/>
              </a:rPr>
              <a:t>T</a:t>
            </a:r>
            <a:r>
              <a:rPr sz="1600" spc="-55" dirty="0">
                <a:latin typeface="Times New Roman"/>
                <a:cs typeface="Times New Roman"/>
              </a:rPr>
              <a:t>I</a:t>
            </a:r>
            <a:r>
              <a:rPr sz="1600" spc="-25" dirty="0">
                <a:latin typeface="Times New Roman"/>
                <a:cs typeface="Times New Roman"/>
              </a:rPr>
              <a:t>T</a:t>
            </a:r>
            <a:r>
              <a:rPr sz="1600" spc="5" dirty="0">
                <a:latin typeface="Times New Roman"/>
                <a:cs typeface="Times New Roman"/>
              </a:rPr>
              <a:t>Y</a:t>
            </a:r>
            <a:r>
              <a:rPr sz="1600" spc="-75" dirty="0">
                <a:latin typeface="Times New Roman"/>
                <a:cs typeface="Times New Roman"/>
              </a:rPr>
              <a:t> </a:t>
            </a:r>
            <a:r>
              <a:rPr sz="1600" spc="-175" dirty="0">
                <a:latin typeface="Times New Roman"/>
                <a:cs typeface="Times New Roman"/>
              </a:rPr>
              <a:t>Y</a:t>
            </a:r>
            <a:r>
              <a:rPr sz="1600" spc="-30" dirty="0">
                <a:latin typeface="Times New Roman"/>
                <a:cs typeface="Times New Roman"/>
              </a:rPr>
              <a:t>A</a:t>
            </a:r>
            <a:r>
              <a:rPr sz="1600" spc="-5" dirty="0">
                <a:latin typeface="Times New Roman"/>
                <a:cs typeface="Times New Roman"/>
              </a:rPr>
              <a:t>N</a:t>
            </a:r>
            <a:r>
              <a:rPr sz="1600" spc="5" dirty="0">
                <a:latin typeface="Times New Roman"/>
                <a:cs typeface="Times New Roman"/>
              </a:rPr>
              <a:t>G</a:t>
            </a:r>
            <a:r>
              <a:rPr sz="1600" spc="-5" dirty="0">
                <a:latin typeface="Times New Roman"/>
                <a:cs typeface="Times New Roman"/>
              </a:rPr>
              <a:t> </a:t>
            </a:r>
            <a:r>
              <a:rPr sz="1600" spc="10" dirty="0">
                <a:latin typeface="Times New Roman"/>
                <a:cs typeface="Times New Roman"/>
              </a:rPr>
              <a:t>M</a:t>
            </a:r>
            <a:r>
              <a:rPr sz="1600" dirty="0">
                <a:latin typeface="Times New Roman"/>
                <a:cs typeface="Times New Roman"/>
              </a:rPr>
              <a:t>E</a:t>
            </a:r>
            <a:r>
              <a:rPr sz="1600" spc="10" dirty="0">
                <a:latin typeface="Times New Roman"/>
                <a:cs typeface="Times New Roman"/>
              </a:rPr>
              <a:t>MB</a:t>
            </a:r>
            <a:r>
              <a:rPr sz="1600" spc="-5" dirty="0">
                <a:latin typeface="Times New Roman"/>
                <a:cs typeface="Times New Roman"/>
              </a:rPr>
              <a:t>U</a:t>
            </a:r>
            <a:r>
              <a:rPr sz="1600" spc="-25" dirty="0">
                <a:latin typeface="Times New Roman"/>
                <a:cs typeface="Times New Roman"/>
              </a:rPr>
              <a:t>T</a:t>
            </a:r>
            <a:r>
              <a:rPr sz="1600" spc="-5" dirty="0">
                <a:latin typeface="Times New Roman"/>
                <a:cs typeface="Times New Roman"/>
              </a:rPr>
              <a:t>UH</a:t>
            </a:r>
            <a:r>
              <a:rPr sz="1600" spc="-30" dirty="0">
                <a:latin typeface="Times New Roman"/>
                <a:cs typeface="Times New Roman"/>
              </a:rPr>
              <a:t>KA</a:t>
            </a:r>
            <a:r>
              <a:rPr sz="1600" spc="5" dirty="0">
                <a:latin typeface="Times New Roman"/>
                <a:cs typeface="Times New Roman"/>
              </a:rPr>
              <a:t>N</a:t>
            </a:r>
            <a:r>
              <a:rPr sz="1600" spc="-5" dirty="0">
                <a:latin typeface="Times New Roman"/>
                <a:cs typeface="Times New Roman"/>
              </a:rPr>
              <a:t> </a:t>
            </a:r>
            <a:r>
              <a:rPr sz="1600" spc="10" dirty="0">
                <a:latin typeface="Times New Roman"/>
                <a:cs typeface="Times New Roman"/>
              </a:rPr>
              <a:t>R</a:t>
            </a:r>
            <a:r>
              <a:rPr sz="1600" dirty="0">
                <a:latin typeface="Times New Roman"/>
                <a:cs typeface="Times New Roman"/>
              </a:rPr>
              <a:t>E</a:t>
            </a:r>
            <a:r>
              <a:rPr sz="1600" spc="-30" dirty="0">
                <a:latin typeface="Times New Roman"/>
                <a:cs typeface="Times New Roman"/>
              </a:rPr>
              <a:t>F</a:t>
            </a:r>
            <a:r>
              <a:rPr sz="1600" dirty="0">
                <a:latin typeface="Times New Roman"/>
                <a:cs typeface="Times New Roman"/>
              </a:rPr>
              <a:t>E</a:t>
            </a:r>
            <a:r>
              <a:rPr sz="1600" spc="10" dirty="0">
                <a:latin typeface="Times New Roman"/>
                <a:cs typeface="Times New Roman"/>
              </a:rPr>
              <a:t>R</a:t>
            </a:r>
            <a:r>
              <a:rPr sz="1600" dirty="0">
                <a:latin typeface="Times New Roman"/>
                <a:cs typeface="Times New Roman"/>
              </a:rPr>
              <a:t>E</a:t>
            </a:r>
            <a:r>
              <a:rPr sz="1600" spc="-5" dirty="0">
                <a:latin typeface="Times New Roman"/>
                <a:cs typeface="Times New Roman"/>
              </a:rPr>
              <a:t>N</a:t>
            </a:r>
            <a:r>
              <a:rPr sz="1600" spc="-10" dirty="0">
                <a:latin typeface="Times New Roman"/>
                <a:cs typeface="Times New Roman"/>
              </a:rPr>
              <a:t>S</a:t>
            </a:r>
            <a:r>
              <a:rPr sz="1600" dirty="0">
                <a:latin typeface="Times New Roman"/>
                <a:cs typeface="Times New Roman"/>
              </a:rPr>
              <a:t>I</a:t>
            </a:r>
            <a:endParaRPr sz="1600">
              <a:latin typeface="Times New Roman"/>
              <a:cs typeface="Times New Roman"/>
            </a:endParaRPr>
          </a:p>
          <a:p>
            <a:pPr>
              <a:lnSpc>
                <a:spcPct val="100000"/>
              </a:lnSpc>
              <a:spcBef>
                <a:spcPts val="25"/>
              </a:spcBef>
              <a:buFont typeface="Wingdings"/>
              <a:buChar char=""/>
            </a:pPr>
            <a:endParaRPr sz="1650">
              <a:latin typeface="Times New Roman"/>
              <a:cs typeface="Times New Roman"/>
            </a:endParaRPr>
          </a:p>
          <a:p>
            <a:pPr marL="1841500">
              <a:lnSpc>
                <a:spcPct val="100000"/>
              </a:lnSpc>
            </a:pPr>
            <a:r>
              <a:rPr sz="1600" spc="-95" dirty="0">
                <a:latin typeface="Times New Roman"/>
                <a:cs typeface="Times New Roman"/>
              </a:rPr>
              <a:t>ATAU</a:t>
            </a:r>
            <a:endParaRPr sz="1600">
              <a:latin typeface="Times New Roman"/>
              <a:cs typeface="Times New Roman"/>
            </a:endParaRPr>
          </a:p>
          <a:p>
            <a:pPr>
              <a:lnSpc>
                <a:spcPct val="100000"/>
              </a:lnSpc>
              <a:spcBef>
                <a:spcPts val="25"/>
              </a:spcBef>
            </a:pPr>
            <a:endParaRPr sz="1650">
              <a:latin typeface="Times New Roman"/>
              <a:cs typeface="Times New Roman"/>
            </a:endParaRPr>
          </a:p>
          <a:p>
            <a:pPr marL="588645" indent="-384810">
              <a:lnSpc>
                <a:spcPct val="100000"/>
              </a:lnSpc>
              <a:buFont typeface="Wingdings"/>
              <a:buChar char=""/>
              <a:tabLst>
                <a:tab pos="588645" algn="l"/>
                <a:tab pos="589280" algn="l"/>
              </a:tabLst>
            </a:pPr>
            <a:r>
              <a:rPr sz="1600" spc="-15" dirty="0">
                <a:latin typeface="Times New Roman"/>
                <a:cs typeface="Times New Roman"/>
              </a:rPr>
              <a:t>KE</a:t>
            </a:r>
            <a:r>
              <a:rPr sz="1600" spc="10" dirty="0">
                <a:latin typeface="Times New Roman"/>
                <a:cs typeface="Times New Roman"/>
              </a:rPr>
              <a:t> </a:t>
            </a:r>
            <a:r>
              <a:rPr sz="1600" spc="-15" dirty="0">
                <a:latin typeface="Times New Roman"/>
                <a:cs typeface="Times New Roman"/>
              </a:rPr>
              <a:t>ENTITY</a:t>
            </a:r>
            <a:r>
              <a:rPr sz="1600" dirty="0">
                <a:latin typeface="Times New Roman"/>
                <a:cs typeface="Times New Roman"/>
              </a:rPr>
              <a:t> </a:t>
            </a:r>
            <a:r>
              <a:rPr sz="1600" spc="-10" dirty="0">
                <a:latin typeface="Times New Roman"/>
                <a:cs typeface="Times New Roman"/>
              </a:rPr>
              <a:t>DENGAN</a:t>
            </a:r>
            <a:r>
              <a:rPr sz="1600" spc="25" dirty="0">
                <a:latin typeface="Times New Roman"/>
                <a:cs typeface="Times New Roman"/>
              </a:rPr>
              <a:t> </a:t>
            </a:r>
            <a:r>
              <a:rPr sz="1600" spc="-15" dirty="0">
                <a:latin typeface="Times New Roman"/>
                <a:cs typeface="Times New Roman"/>
              </a:rPr>
              <a:t>JUMLAH</a:t>
            </a:r>
            <a:r>
              <a:rPr sz="1600" spc="-75" dirty="0">
                <a:latin typeface="Times New Roman"/>
                <a:cs typeface="Times New Roman"/>
              </a:rPr>
              <a:t> </a:t>
            </a:r>
            <a:r>
              <a:rPr sz="1600" spc="-40" dirty="0">
                <a:latin typeface="Times New Roman"/>
                <a:cs typeface="Times New Roman"/>
              </a:rPr>
              <a:t>ATRIBUT</a:t>
            </a:r>
            <a:r>
              <a:rPr sz="1600" spc="-35" dirty="0">
                <a:latin typeface="Times New Roman"/>
                <a:cs typeface="Times New Roman"/>
              </a:rPr>
              <a:t> </a:t>
            </a:r>
            <a:r>
              <a:rPr sz="1600" spc="-55" dirty="0">
                <a:latin typeface="Times New Roman"/>
                <a:cs typeface="Times New Roman"/>
              </a:rPr>
              <a:t>YANG</a:t>
            </a:r>
            <a:r>
              <a:rPr sz="1600" dirty="0">
                <a:latin typeface="Times New Roman"/>
                <a:cs typeface="Times New Roman"/>
              </a:rPr>
              <a:t> </a:t>
            </a:r>
            <a:r>
              <a:rPr sz="1600" spc="-20" dirty="0">
                <a:latin typeface="Times New Roman"/>
                <a:cs typeface="Times New Roman"/>
              </a:rPr>
              <a:t>LEBIH</a:t>
            </a:r>
            <a:r>
              <a:rPr sz="1600" spc="70" dirty="0">
                <a:latin typeface="Times New Roman"/>
                <a:cs typeface="Times New Roman"/>
              </a:rPr>
              <a:t> </a:t>
            </a:r>
            <a:r>
              <a:rPr sz="1600" spc="-20" dirty="0">
                <a:latin typeface="Times New Roman"/>
                <a:cs typeface="Times New Roman"/>
              </a:rPr>
              <a:t>SEDIKIT</a:t>
            </a:r>
            <a:endParaRPr sz="1600">
              <a:latin typeface="Times New Roman"/>
              <a:cs typeface="Times New Roman"/>
            </a:endParaRPr>
          </a:p>
        </p:txBody>
      </p:sp>
      <p:grpSp>
        <p:nvGrpSpPr>
          <p:cNvPr id="12" name="object 12"/>
          <p:cNvGrpSpPr/>
          <p:nvPr/>
        </p:nvGrpSpPr>
        <p:grpSpPr>
          <a:xfrm>
            <a:off x="4413250" y="2181225"/>
            <a:ext cx="2573655" cy="1111250"/>
            <a:chOff x="4413250" y="2181225"/>
            <a:chExt cx="2573655" cy="1111250"/>
          </a:xfrm>
        </p:grpSpPr>
        <p:sp>
          <p:nvSpPr>
            <p:cNvPr id="13" name="object 13"/>
            <p:cNvSpPr/>
            <p:nvPr/>
          </p:nvSpPr>
          <p:spPr>
            <a:xfrm>
              <a:off x="4419600" y="2187575"/>
              <a:ext cx="2560955" cy="1098550"/>
            </a:xfrm>
            <a:custGeom>
              <a:avLst/>
              <a:gdLst/>
              <a:ahLst/>
              <a:cxnLst/>
              <a:rect l="l" t="t" r="r" b="b"/>
              <a:pathLst>
                <a:path w="2560954" h="1098550">
                  <a:moveTo>
                    <a:pt x="0" y="549275"/>
                  </a:moveTo>
                  <a:lnTo>
                    <a:pt x="6610" y="493107"/>
                  </a:lnTo>
                  <a:lnTo>
                    <a:pt x="26013" y="438563"/>
                  </a:lnTo>
                  <a:lnTo>
                    <a:pt x="57565" y="385920"/>
                  </a:lnTo>
                  <a:lnTo>
                    <a:pt x="100621" y="335452"/>
                  </a:lnTo>
                  <a:lnTo>
                    <a:pt x="154538" y="287437"/>
                  </a:lnTo>
                  <a:lnTo>
                    <a:pt x="185368" y="264435"/>
                  </a:lnTo>
                  <a:lnTo>
                    <a:pt x="218672" y="242149"/>
                  </a:lnTo>
                  <a:lnTo>
                    <a:pt x="254369" y="220614"/>
                  </a:lnTo>
                  <a:lnTo>
                    <a:pt x="292379" y="199865"/>
                  </a:lnTo>
                  <a:lnTo>
                    <a:pt x="332621" y="179936"/>
                  </a:lnTo>
                  <a:lnTo>
                    <a:pt x="375015" y="160861"/>
                  </a:lnTo>
                  <a:lnTo>
                    <a:pt x="419480" y="142675"/>
                  </a:lnTo>
                  <a:lnTo>
                    <a:pt x="465936" y="125412"/>
                  </a:lnTo>
                  <a:lnTo>
                    <a:pt x="514302" y="109107"/>
                  </a:lnTo>
                  <a:lnTo>
                    <a:pt x="564498" y="93795"/>
                  </a:lnTo>
                  <a:lnTo>
                    <a:pt x="616444" y="79509"/>
                  </a:lnTo>
                  <a:lnTo>
                    <a:pt x="670058" y="66285"/>
                  </a:lnTo>
                  <a:lnTo>
                    <a:pt x="725261" y="54156"/>
                  </a:lnTo>
                  <a:lnTo>
                    <a:pt x="781972" y="43158"/>
                  </a:lnTo>
                  <a:lnTo>
                    <a:pt x="840111" y="33324"/>
                  </a:lnTo>
                  <a:lnTo>
                    <a:pt x="899596" y="24690"/>
                  </a:lnTo>
                  <a:lnTo>
                    <a:pt x="960348" y="17289"/>
                  </a:lnTo>
                  <a:lnTo>
                    <a:pt x="1022285" y="11157"/>
                  </a:lnTo>
                  <a:lnTo>
                    <a:pt x="1085329" y="6327"/>
                  </a:lnTo>
                  <a:lnTo>
                    <a:pt x="1149397" y="2835"/>
                  </a:lnTo>
                  <a:lnTo>
                    <a:pt x="1214410" y="714"/>
                  </a:lnTo>
                  <a:lnTo>
                    <a:pt x="1280287" y="0"/>
                  </a:lnTo>
                  <a:lnTo>
                    <a:pt x="1346175" y="714"/>
                  </a:lnTo>
                  <a:lnTo>
                    <a:pt x="1411199" y="2835"/>
                  </a:lnTo>
                  <a:lnTo>
                    <a:pt x="1475277" y="6327"/>
                  </a:lnTo>
                  <a:lnTo>
                    <a:pt x="1538330" y="11157"/>
                  </a:lnTo>
                  <a:lnTo>
                    <a:pt x="1600276" y="17289"/>
                  </a:lnTo>
                  <a:lnTo>
                    <a:pt x="1661036" y="24690"/>
                  </a:lnTo>
                  <a:lnTo>
                    <a:pt x="1720529" y="33324"/>
                  </a:lnTo>
                  <a:lnTo>
                    <a:pt x="1778674" y="43158"/>
                  </a:lnTo>
                  <a:lnTo>
                    <a:pt x="1835391" y="54156"/>
                  </a:lnTo>
                  <a:lnTo>
                    <a:pt x="1890600" y="66285"/>
                  </a:lnTo>
                  <a:lnTo>
                    <a:pt x="1944220" y="79509"/>
                  </a:lnTo>
                  <a:lnTo>
                    <a:pt x="1996171" y="93795"/>
                  </a:lnTo>
                  <a:lnTo>
                    <a:pt x="2046371" y="109107"/>
                  </a:lnTo>
                  <a:lnTo>
                    <a:pt x="2094742" y="125412"/>
                  </a:lnTo>
                  <a:lnTo>
                    <a:pt x="2141201" y="142675"/>
                  </a:lnTo>
                  <a:lnTo>
                    <a:pt x="2185670" y="160861"/>
                  </a:lnTo>
                  <a:lnTo>
                    <a:pt x="2228066" y="179936"/>
                  </a:lnTo>
                  <a:lnTo>
                    <a:pt x="2268311" y="199865"/>
                  </a:lnTo>
                  <a:lnTo>
                    <a:pt x="2306323" y="220614"/>
                  </a:lnTo>
                  <a:lnTo>
                    <a:pt x="2342021" y="242149"/>
                  </a:lnTo>
                  <a:lnTo>
                    <a:pt x="2375327" y="264435"/>
                  </a:lnTo>
                  <a:lnTo>
                    <a:pt x="2406158" y="287437"/>
                  </a:lnTo>
                  <a:lnTo>
                    <a:pt x="2460077" y="335452"/>
                  </a:lnTo>
                  <a:lnTo>
                    <a:pt x="2503134" y="385920"/>
                  </a:lnTo>
                  <a:lnTo>
                    <a:pt x="2534686" y="438563"/>
                  </a:lnTo>
                  <a:lnTo>
                    <a:pt x="2554090" y="493107"/>
                  </a:lnTo>
                  <a:lnTo>
                    <a:pt x="2560701" y="549275"/>
                  </a:lnTo>
                  <a:lnTo>
                    <a:pt x="2559034" y="577544"/>
                  </a:lnTo>
                  <a:lnTo>
                    <a:pt x="2554090" y="605442"/>
                  </a:lnTo>
                  <a:lnTo>
                    <a:pt x="2534686" y="659986"/>
                  </a:lnTo>
                  <a:lnTo>
                    <a:pt x="2503134" y="712629"/>
                  </a:lnTo>
                  <a:lnTo>
                    <a:pt x="2460077" y="763097"/>
                  </a:lnTo>
                  <a:lnTo>
                    <a:pt x="2406158" y="811112"/>
                  </a:lnTo>
                  <a:lnTo>
                    <a:pt x="2375327" y="834114"/>
                  </a:lnTo>
                  <a:lnTo>
                    <a:pt x="2342021" y="856400"/>
                  </a:lnTo>
                  <a:lnTo>
                    <a:pt x="2306323" y="877935"/>
                  </a:lnTo>
                  <a:lnTo>
                    <a:pt x="2268311" y="898684"/>
                  </a:lnTo>
                  <a:lnTo>
                    <a:pt x="2228066" y="918613"/>
                  </a:lnTo>
                  <a:lnTo>
                    <a:pt x="2185669" y="937688"/>
                  </a:lnTo>
                  <a:lnTo>
                    <a:pt x="2141201" y="955874"/>
                  </a:lnTo>
                  <a:lnTo>
                    <a:pt x="2094742" y="973137"/>
                  </a:lnTo>
                  <a:lnTo>
                    <a:pt x="2046371" y="989442"/>
                  </a:lnTo>
                  <a:lnTo>
                    <a:pt x="1996171" y="1004754"/>
                  </a:lnTo>
                  <a:lnTo>
                    <a:pt x="1944220" y="1019040"/>
                  </a:lnTo>
                  <a:lnTo>
                    <a:pt x="1890600" y="1032264"/>
                  </a:lnTo>
                  <a:lnTo>
                    <a:pt x="1835391" y="1044393"/>
                  </a:lnTo>
                  <a:lnTo>
                    <a:pt x="1778674" y="1055391"/>
                  </a:lnTo>
                  <a:lnTo>
                    <a:pt x="1720529" y="1065225"/>
                  </a:lnTo>
                  <a:lnTo>
                    <a:pt x="1661036" y="1073859"/>
                  </a:lnTo>
                  <a:lnTo>
                    <a:pt x="1600276" y="1081260"/>
                  </a:lnTo>
                  <a:lnTo>
                    <a:pt x="1538330" y="1087392"/>
                  </a:lnTo>
                  <a:lnTo>
                    <a:pt x="1475277" y="1092222"/>
                  </a:lnTo>
                  <a:lnTo>
                    <a:pt x="1411199" y="1095714"/>
                  </a:lnTo>
                  <a:lnTo>
                    <a:pt x="1346175" y="1097835"/>
                  </a:lnTo>
                  <a:lnTo>
                    <a:pt x="1280287" y="1098550"/>
                  </a:lnTo>
                  <a:lnTo>
                    <a:pt x="1214410" y="1097835"/>
                  </a:lnTo>
                  <a:lnTo>
                    <a:pt x="1149397" y="1095714"/>
                  </a:lnTo>
                  <a:lnTo>
                    <a:pt x="1085329" y="1092222"/>
                  </a:lnTo>
                  <a:lnTo>
                    <a:pt x="1022285" y="1087392"/>
                  </a:lnTo>
                  <a:lnTo>
                    <a:pt x="960348" y="1081260"/>
                  </a:lnTo>
                  <a:lnTo>
                    <a:pt x="899596" y="1073859"/>
                  </a:lnTo>
                  <a:lnTo>
                    <a:pt x="840111" y="1065225"/>
                  </a:lnTo>
                  <a:lnTo>
                    <a:pt x="781972" y="1055391"/>
                  </a:lnTo>
                  <a:lnTo>
                    <a:pt x="725261" y="1044393"/>
                  </a:lnTo>
                  <a:lnTo>
                    <a:pt x="670058" y="1032264"/>
                  </a:lnTo>
                  <a:lnTo>
                    <a:pt x="616444" y="1019040"/>
                  </a:lnTo>
                  <a:lnTo>
                    <a:pt x="564498" y="1004754"/>
                  </a:lnTo>
                  <a:lnTo>
                    <a:pt x="514302" y="989442"/>
                  </a:lnTo>
                  <a:lnTo>
                    <a:pt x="465936" y="973137"/>
                  </a:lnTo>
                  <a:lnTo>
                    <a:pt x="419480" y="955874"/>
                  </a:lnTo>
                  <a:lnTo>
                    <a:pt x="375015" y="937688"/>
                  </a:lnTo>
                  <a:lnTo>
                    <a:pt x="332621" y="918613"/>
                  </a:lnTo>
                  <a:lnTo>
                    <a:pt x="292379" y="898684"/>
                  </a:lnTo>
                  <a:lnTo>
                    <a:pt x="254369" y="877935"/>
                  </a:lnTo>
                  <a:lnTo>
                    <a:pt x="218672" y="856400"/>
                  </a:lnTo>
                  <a:lnTo>
                    <a:pt x="185368" y="834114"/>
                  </a:lnTo>
                  <a:lnTo>
                    <a:pt x="154538" y="811112"/>
                  </a:lnTo>
                  <a:lnTo>
                    <a:pt x="100621" y="763097"/>
                  </a:lnTo>
                  <a:lnTo>
                    <a:pt x="57565" y="712629"/>
                  </a:lnTo>
                  <a:lnTo>
                    <a:pt x="26013" y="659986"/>
                  </a:lnTo>
                  <a:lnTo>
                    <a:pt x="6610" y="605442"/>
                  </a:lnTo>
                  <a:lnTo>
                    <a:pt x="0" y="549275"/>
                  </a:lnTo>
                  <a:close/>
                </a:path>
              </a:pathLst>
            </a:custGeom>
            <a:ln w="12700">
              <a:solidFill>
                <a:srgbClr val="000000"/>
              </a:solidFill>
            </a:ln>
          </p:spPr>
          <p:txBody>
            <a:bodyPr wrap="square" lIns="0" tIns="0" rIns="0" bIns="0" rtlCol="0"/>
            <a:lstStyle/>
            <a:p>
              <a:endParaRPr/>
            </a:p>
          </p:txBody>
        </p:sp>
        <p:sp>
          <p:nvSpPr>
            <p:cNvPr id="14" name="object 14"/>
            <p:cNvSpPr/>
            <p:nvPr/>
          </p:nvSpPr>
          <p:spPr>
            <a:xfrm>
              <a:off x="4784725" y="2462161"/>
              <a:ext cx="915035" cy="457834"/>
            </a:xfrm>
            <a:custGeom>
              <a:avLst/>
              <a:gdLst/>
              <a:ahLst/>
              <a:cxnLst/>
              <a:rect l="l" t="t" r="r" b="b"/>
              <a:pathLst>
                <a:path w="915035" h="457835">
                  <a:moveTo>
                    <a:pt x="0" y="457822"/>
                  </a:moveTo>
                  <a:lnTo>
                    <a:pt x="915022" y="457822"/>
                  </a:lnTo>
                  <a:lnTo>
                    <a:pt x="915022" y="0"/>
                  </a:lnTo>
                  <a:lnTo>
                    <a:pt x="0" y="0"/>
                  </a:lnTo>
                  <a:lnTo>
                    <a:pt x="0" y="457822"/>
                  </a:lnTo>
                  <a:close/>
                </a:path>
              </a:pathLst>
            </a:custGeom>
            <a:ln w="12700">
              <a:solidFill>
                <a:srgbClr val="000000"/>
              </a:solidFill>
            </a:ln>
          </p:spPr>
          <p:txBody>
            <a:bodyPr wrap="square" lIns="0" tIns="0" rIns="0" bIns="0" rtlCol="0"/>
            <a:lstStyle/>
            <a:p>
              <a:endParaRPr/>
            </a:p>
          </p:txBody>
        </p:sp>
        <p:sp>
          <p:nvSpPr>
            <p:cNvPr id="15" name="object 15"/>
            <p:cNvSpPr/>
            <p:nvPr/>
          </p:nvSpPr>
          <p:spPr>
            <a:xfrm>
              <a:off x="5973317" y="2462275"/>
              <a:ext cx="915035" cy="549275"/>
            </a:xfrm>
            <a:custGeom>
              <a:avLst/>
              <a:gdLst/>
              <a:ahLst/>
              <a:cxnLst/>
              <a:rect l="l" t="t" r="r" b="b"/>
              <a:pathLst>
                <a:path w="915034" h="549275">
                  <a:moveTo>
                    <a:pt x="0" y="274954"/>
                  </a:moveTo>
                  <a:lnTo>
                    <a:pt x="458089" y="0"/>
                  </a:lnTo>
                </a:path>
                <a:path w="915034" h="549275">
                  <a:moveTo>
                    <a:pt x="457454" y="0"/>
                  </a:moveTo>
                  <a:lnTo>
                    <a:pt x="915035" y="274954"/>
                  </a:lnTo>
                </a:path>
                <a:path w="915034" h="549275">
                  <a:moveTo>
                    <a:pt x="0" y="274193"/>
                  </a:moveTo>
                  <a:lnTo>
                    <a:pt x="458089" y="549148"/>
                  </a:lnTo>
                </a:path>
                <a:path w="915034" h="549275">
                  <a:moveTo>
                    <a:pt x="457327" y="549148"/>
                  </a:moveTo>
                  <a:lnTo>
                    <a:pt x="915035" y="274193"/>
                  </a:lnTo>
                </a:path>
              </a:pathLst>
            </a:custGeom>
            <a:ln w="12700">
              <a:solidFill>
                <a:srgbClr val="000000"/>
              </a:solidFill>
            </a:ln>
          </p:spPr>
          <p:txBody>
            <a:bodyPr wrap="square" lIns="0" tIns="0" rIns="0" bIns="0" rtlCol="0"/>
            <a:lstStyle/>
            <a:p>
              <a:endParaRPr/>
            </a:p>
          </p:txBody>
        </p:sp>
      </p:grpSp>
      <p:sp>
        <p:nvSpPr>
          <p:cNvPr id="16" name="object 16"/>
          <p:cNvSpPr/>
          <p:nvPr/>
        </p:nvSpPr>
        <p:spPr>
          <a:xfrm>
            <a:off x="7162038" y="2462161"/>
            <a:ext cx="915669" cy="457834"/>
          </a:xfrm>
          <a:custGeom>
            <a:avLst/>
            <a:gdLst/>
            <a:ahLst/>
            <a:cxnLst/>
            <a:rect l="l" t="t" r="r" b="b"/>
            <a:pathLst>
              <a:path w="915670" h="457835">
                <a:moveTo>
                  <a:pt x="0" y="457822"/>
                </a:moveTo>
                <a:lnTo>
                  <a:pt x="915187" y="457822"/>
                </a:lnTo>
                <a:lnTo>
                  <a:pt x="915187" y="0"/>
                </a:lnTo>
                <a:lnTo>
                  <a:pt x="0" y="0"/>
                </a:lnTo>
                <a:lnTo>
                  <a:pt x="0" y="457822"/>
                </a:lnTo>
                <a:close/>
              </a:path>
            </a:pathLst>
          </a:custGeom>
          <a:ln w="12700">
            <a:solidFill>
              <a:srgbClr val="000000"/>
            </a:solidFill>
          </a:ln>
        </p:spPr>
        <p:txBody>
          <a:bodyPr wrap="square" lIns="0" tIns="0" rIns="0" bIns="0" rtlCol="0"/>
          <a:lstStyle/>
          <a:p>
            <a:endParaRPr/>
          </a:p>
        </p:txBody>
      </p:sp>
      <p:sp>
        <p:nvSpPr>
          <p:cNvPr id="17" name="object 17"/>
          <p:cNvSpPr txBox="1"/>
          <p:nvPr/>
        </p:nvSpPr>
        <p:spPr>
          <a:xfrm>
            <a:off x="5680075" y="2531440"/>
            <a:ext cx="313055" cy="238125"/>
          </a:xfrm>
          <a:prstGeom prst="rect">
            <a:avLst/>
          </a:prstGeom>
        </p:spPr>
        <p:txBody>
          <a:bodyPr vert="horz" wrap="square" lIns="0" tIns="12065" rIns="0" bIns="0" rtlCol="0">
            <a:spAutoFit/>
          </a:bodyPr>
          <a:lstStyle/>
          <a:p>
            <a:pPr marL="12700">
              <a:lnSpc>
                <a:spcPct val="100000"/>
              </a:lnSpc>
              <a:spcBef>
                <a:spcPts val="95"/>
              </a:spcBef>
              <a:tabLst>
                <a:tab pos="299720" algn="l"/>
              </a:tabLst>
            </a:pPr>
            <a:r>
              <a:rPr sz="1400" u="heavy" spc="-5" dirty="0">
                <a:uFill>
                  <a:solidFill>
                    <a:srgbClr val="000000"/>
                  </a:solidFill>
                </a:uFill>
                <a:latin typeface="Times New Roman"/>
                <a:cs typeface="Times New Roman"/>
              </a:rPr>
              <a:t> </a:t>
            </a:r>
            <a:r>
              <a:rPr sz="1400" u="heavy" spc="-180" dirty="0">
                <a:uFill>
                  <a:solidFill>
                    <a:srgbClr val="000000"/>
                  </a:solidFill>
                </a:uFill>
                <a:latin typeface="Times New Roman"/>
                <a:cs typeface="Times New Roman"/>
              </a:rPr>
              <a:t> </a:t>
            </a:r>
            <a:r>
              <a:rPr sz="1400" u="heavy" spc="-5" dirty="0">
                <a:uFill>
                  <a:solidFill>
                    <a:srgbClr val="000000"/>
                  </a:solidFill>
                </a:uFill>
                <a:latin typeface="Times New Roman"/>
                <a:cs typeface="Times New Roman"/>
              </a:rPr>
              <a:t>1	</a:t>
            </a:r>
            <a:endParaRPr sz="1400">
              <a:latin typeface="Times New Roman"/>
              <a:cs typeface="Times New Roman"/>
            </a:endParaRPr>
          </a:p>
        </p:txBody>
      </p:sp>
      <p:sp>
        <p:nvSpPr>
          <p:cNvPr id="18" name="object 18"/>
          <p:cNvSpPr txBox="1"/>
          <p:nvPr/>
        </p:nvSpPr>
        <p:spPr>
          <a:xfrm>
            <a:off x="6868794" y="2520442"/>
            <a:ext cx="313055" cy="238125"/>
          </a:xfrm>
          <a:prstGeom prst="rect">
            <a:avLst/>
          </a:prstGeom>
        </p:spPr>
        <p:txBody>
          <a:bodyPr vert="horz" wrap="square" lIns="0" tIns="11430" rIns="0" bIns="0" rtlCol="0">
            <a:spAutoFit/>
          </a:bodyPr>
          <a:lstStyle/>
          <a:p>
            <a:pPr marL="12700">
              <a:lnSpc>
                <a:spcPct val="100000"/>
              </a:lnSpc>
              <a:spcBef>
                <a:spcPts val="90"/>
              </a:spcBef>
            </a:pPr>
            <a:r>
              <a:rPr sz="1400" u="heavy" spc="-5" dirty="0">
                <a:uFill>
                  <a:solidFill>
                    <a:srgbClr val="000000"/>
                  </a:solidFill>
                </a:uFill>
                <a:latin typeface="Times New Roman"/>
                <a:cs typeface="Times New Roman"/>
              </a:rPr>
              <a:t>  </a:t>
            </a:r>
            <a:r>
              <a:rPr sz="1400" u="heavy" spc="114" dirty="0">
                <a:uFill>
                  <a:solidFill>
                    <a:srgbClr val="000000"/>
                  </a:solidFill>
                </a:uFill>
                <a:latin typeface="Times New Roman"/>
                <a:cs typeface="Times New Roman"/>
              </a:rPr>
              <a:t> </a:t>
            </a:r>
            <a:r>
              <a:rPr sz="1400" u="heavy" spc="-5" dirty="0">
                <a:uFill>
                  <a:solidFill>
                    <a:srgbClr val="000000"/>
                  </a:solidFill>
                </a:uFill>
                <a:latin typeface="Times New Roman"/>
                <a:cs typeface="Times New Roman"/>
              </a:rPr>
              <a:t>1</a:t>
            </a:r>
            <a:r>
              <a:rPr sz="1400" u="heavy" spc="50" dirty="0">
                <a:uFill>
                  <a:solidFill>
                    <a:srgbClr val="000000"/>
                  </a:solidFill>
                </a:uFill>
                <a:latin typeface="Times New Roman"/>
                <a:cs typeface="Times New Roman"/>
              </a:rPr>
              <a:t> </a:t>
            </a:r>
            <a:endParaRPr sz="1400">
              <a:latin typeface="Times New Roman"/>
              <a:cs typeface="Times New Roman"/>
            </a:endParaRPr>
          </a:p>
        </p:txBody>
      </p:sp>
      <p:grpSp>
        <p:nvGrpSpPr>
          <p:cNvPr id="19" name="object 19"/>
          <p:cNvGrpSpPr/>
          <p:nvPr/>
        </p:nvGrpSpPr>
        <p:grpSpPr>
          <a:xfrm>
            <a:off x="4489450" y="3324225"/>
            <a:ext cx="3854450" cy="1111250"/>
            <a:chOff x="4489450" y="3324225"/>
            <a:chExt cx="3854450" cy="1111250"/>
          </a:xfrm>
        </p:grpSpPr>
        <p:sp>
          <p:nvSpPr>
            <p:cNvPr id="20" name="object 20"/>
            <p:cNvSpPr/>
            <p:nvPr/>
          </p:nvSpPr>
          <p:spPr>
            <a:xfrm>
              <a:off x="4495800" y="3605161"/>
              <a:ext cx="915035" cy="457834"/>
            </a:xfrm>
            <a:custGeom>
              <a:avLst/>
              <a:gdLst/>
              <a:ahLst/>
              <a:cxnLst/>
              <a:rect l="l" t="t" r="r" b="b"/>
              <a:pathLst>
                <a:path w="915035" h="457835">
                  <a:moveTo>
                    <a:pt x="0" y="457822"/>
                  </a:moveTo>
                  <a:lnTo>
                    <a:pt x="915022" y="457822"/>
                  </a:lnTo>
                  <a:lnTo>
                    <a:pt x="915022" y="0"/>
                  </a:lnTo>
                  <a:lnTo>
                    <a:pt x="0" y="0"/>
                  </a:lnTo>
                  <a:lnTo>
                    <a:pt x="0" y="457822"/>
                  </a:lnTo>
                  <a:close/>
                </a:path>
              </a:pathLst>
            </a:custGeom>
            <a:ln w="12700">
              <a:solidFill>
                <a:srgbClr val="000000"/>
              </a:solidFill>
            </a:ln>
          </p:spPr>
          <p:txBody>
            <a:bodyPr wrap="square" lIns="0" tIns="0" rIns="0" bIns="0" rtlCol="0"/>
            <a:lstStyle/>
            <a:p>
              <a:endParaRPr/>
            </a:p>
          </p:txBody>
        </p:sp>
        <p:sp>
          <p:nvSpPr>
            <p:cNvPr id="21" name="object 21"/>
            <p:cNvSpPr/>
            <p:nvPr/>
          </p:nvSpPr>
          <p:spPr>
            <a:xfrm>
              <a:off x="5410200" y="3605275"/>
              <a:ext cx="1189355" cy="549275"/>
            </a:xfrm>
            <a:custGeom>
              <a:avLst/>
              <a:gdLst/>
              <a:ahLst/>
              <a:cxnLst/>
              <a:rect l="l" t="t" r="r" b="b"/>
              <a:pathLst>
                <a:path w="1189354" h="549275">
                  <a:moveTo>
                    <a:pt x="274192" y="274955"/>
                  </a:moveTo>
                  <a:lnTo>
                    <a:pt x="732282" y="0"/>
                  </a:lnTo>
                </a:path>
                <a:path w="1189354" h="549275">
                  <a:moveTo>
                    <a:pt x="731647" y="0"/>
                  </a:moveTo>
                  <a:lnTo>
                    <a:pt x="1189227" y="274955"/>
                  </a:lnTo>
                </a:path>
                <a:path w="1189354" h="549275">
                  <a:moveTo>
                    <a:pt x="274192" y="274193"/>
                  </a:moveTo>
                  <a:lnTo>
                    <a:pt x="732282" y="549148"/>
                  </a:lnTo>
                </a:path>
                <a:path w="1189354" h="549275">
                  <a:moveTo>
                    <a:pt x="731520" y="549148"/>
                  </a:moveTo>
                  <a:lnTo>
                    <a:pt x="1189227" y="274193"/>
                  </a:lnTo>
                </a:path>
                <a:path w="1189354" h="549275">
                  <a:moveTo>
                    <a:pt x="274954" y="274193"/>
                  </a:moveTo>
                  <a:lnTo>
                    <a:pt x="0" y="274955"/>
                  </a:lnTo>
                </a:path>
              </a:pathLst>
            </a:custGeom>
            <a:ln w="12700">
              <a:solidFill>
                <a:srgbClr val="000000"/>
              </a:solidFill>
            </a:ln>
          </p:spPr>
          <p:txBody>
            <a:bodyPr wrap="square" lIns="0" tIns="0" rIns="0" bIns="0" rtlCol="0"/>
            <a:lstStyle/>
            <a:p>
              <a:endParaRPr/>
            </a:p>
          </p:txBody>
        </p:sp>
        <p:sp>
          <p:nvSpPr>
            <p:cNvPr id="22" name="object 22"/>
            <p:cNvSpPr/>
            <p:nvPr/>
          </p:nvSpPr>
          <p:spPr>
            <a:xfrm>
              <a:off x="6873113" y="3605161"/>
              <a:ext cx="915669" cy="457834"/>
            </a:xfrm>
            <a:custGeom>
              <a:avLst/>
              <a:gdLst/>
              <a:ahLst/>
              <a:cxnLst/>
              <a:rect l="l" t="t" r="r" b="b"/>
              <a:pathLst>
                <a:path w="915670" h="457835">
                  <a:moveTo>
                    <a:pt x="0" y="457822"/>
                  </a:moveTo>
                  <a:lnTo>
                    <a:pt x="915187" y="457822"/>
                  </a:lnTo>
                  <a:lnTo>
                    <a:pt x="915187" y="0"/>
                  </a:lnTo>
                  <a:lnTo>
                    <a:pt x="0" y="0"/>
                  </a:lnTo>
                  <a:lnTo>
                    <a:pt x="0" y="457822"/>
                  </a:lnTo>
                  <a:close/>
                </a:path>
              </a:pathLst>
            </a:custGeom>
            <a:ln w="12700">
              <a:solidFill>
                <a:srgbClr val="000000"/>
              </a:solidFill>
            </a:ln>
          </p:spPr>
          <p:txBody>
            <a:bodyPr wrap="square" lIns="0" tIns="0" rIns="0" bIns="0" rtlCol="0"/>
            <a:lstStyle/>
            <a:p>
              <a:endParaRPr/>
            </a:p>
          </p:txBody>
        </p:sp>
        <p:sp>
          <p:nvSpPr>
            <p:cNvPr id="23" name="object 23"/>
            <p:cNvSpPr/>
            <p:nvPr/>
          </p:nvSpPr>
          <p:spPr>
            <a:xfrm>
              <a:off x="5594350" y="3330575"/>
              <a:ext cx="2743200" cy="1098550"/>
            </a:xfrm>
            <a:custGeom>
              <a:avLst/>
              <a:gdLst/>
              <a:ahLst/>
              <a:cxnLst/>
              <a:rect l="l" t="t" r="r" b="b"/>
              <a:pathLst>
                <a:path w="2743200" h="1098550">
                  <a:moveTo>
                    <a:pt x="1004570" y="548894"/>
                  </a:moveTo>
                  <a:lnTo>
                    <a:pt x="1279525" y="549656"/>
                  </a:lnTo>
                </a:path>
                <a:path w="2743200" h="1098550">
                  <a:moveTo>
                    <a:pt x="0" y="549275"/>
                  </a:moveTo>
                  <a:lnTo>
                    <a:pt x="6278" y="496368"/>
                  </a:lnTo>
                  <a:lnTo>
                    <a:pt x="24730" y="444887"/>
                  </a:lnTo>
                  <a:lnTo>
                    <a:pt x="54781" y="395059"/>
                  </a:lnTo>
                  <a:lnTo>
                    <a:pt x="95857" y="347116"/>
                  </a:lnTo>
                  <a:lnTo>
                    <a:pt x="147382" y="301288"/>
                  </a:lnTo>
                  <a:lnTo>
                    <a:pt x="208783" y="257804"/>
                  </a:lnTo>
                  <a:lnTo>
                    <a:pt x="243006" y="237013"/>
                  </a:lnTo>
                  <a:lnTo>
                    <a:pt x="279484" y="216895"/>
                  </a:lnTo>
                  <a:lnTo>
                    <a:pt x="318142" y="197477"/>
                  </a:lnTo>
                  <a:lnTo>
                    <a:pt x="358910" y="178790"/>
                  </a:lnTo>
                  <a:lnTo>
                    <a:pt x="401716" y="160861"/>
                  </a:lnTo>
                  <a:lnTo>
                    <a:pt x="446488" y="143719"/>
                  </a:lnTo>
                  <a:lnTo>
                    <a:pt x="493155" y="127394"/>
                  </a:lnTo>
                  <a:lnTo>
                    <a:pt x="541643" y="111913"/>
                  </a:lnTo>
                  <a:lnTo>
                    <a:pt x="591882" y="97307"/>
                  </a:lnTo>
                  <a:lnTo>
                    <a:pt x="643800" y="83602"/>
                  </a:lnTo>
                  <a:lnTo>
                    <a:pt x="697324" y="70829"/>
                  </a:lnTo>
                  <a:lnTo>
                    <a:pt x="752383" y="59015"/>
                  </a:lnTo>
                  <a:lnTo>
                    <a:pt x="808906" y="48190"/>
                  </a:lnTo>
                  <a:lnTo>
                    <a:pt x="866820" y="38383"/>
                  </a:lnTo>
                  <a:lnTo>
                    <a:pt x="926053" y="29622"/>
                  </a:lnTo>
                  <a:lnTo>
                    <a:pt x="986534" y="21935"/>
                  </a:lnTo>
                  <a:lnTo>
                    <a:pt x="1048191" y="15352"/>
                  </a:lnTo>
                  <a:lnTo>
                    <a:pt x="1110952" y="9902"/>
                  </a:lnTo>
                  <a:lnTo>
                    <a:pt x="1174745" y="5613"/>
                  </a:lnTo>
                  <a:lnTo>
                    <a:pt x="1239499" y="2513"/>
                  </a:lnTo>
                  <a:lnTo>
                    <a:pt x="1305141" y="633"/>
                  </a:lnTo>
                  <a:lnTo>
                    <a:pt x="1371600" y="0"/>
                  </a:lnTo>
                  <a:lnTo>
                    <a:pt x="1438058" y="633"/>
                  </a:lnTo>
                  <a:lnTo>
                    <a:pt x="1503700" y="2513"/>
                  </a:lnTo>
                  <a:lnTo>
                    <a:pt x="1568454" y="5613"/>
                  </a:lnTo>
                  <a:lnTo>
                    <a:pt x="1632247" y="9902"/>
                  </a:lnTo>
                  <a:lnTo>
                    <a:pt x="1695008" y="15352"/>
                  </a:lnTo>
                  <a:lnTo>
                    <a:pt x="1756665" y="21935"/>
                  </a:lnTo>
                  <a:lnTo>
                    <a:pt x="1817146" y="29622"/>
                  </a:lnTo>
                  <a:lnTo>
                    <a:pt x="1876379" y="38383"/>
                  </a:lnTo>
                  <a:lnTo>
                    <a:pt x="1934293" y="48190"/>
                  </a:lnTo>
                  <a:lnTo>
                    <a:pt x="1990816" y="59015"/>
                  </a:lnTo>
                  <a:lnTo>
                    <a:pt x="2045875" y="70829"/>
                  </a:lnTo>
                  <a:lnTo>
                    <a:pt x="2099399" y="83602"/>
                  </a:lnTo>
                  <a:lnTo>
                    <a:pt x="2151317" y="97307"/>
                  </a:lnTo>
                  <a:lnTo>
                    <a:pt x="2201556" y="111913"/>
                  </a:lnTo>
                  <a:lnTo>
                    <a:pt x="2250044" y="127394"/>
                  </a:lnTo>
                  <a:lnTo>
                    <a:pt x="2296711" y="143719"/>
                  </a:lnTo>
                  <a:lnTo>
                    <a:pt x="2341483" y="160861"/>
                  </a:lnTo>
                  <a:lnTo>
                    <a:pt x="2384289" y="178790"/>
                  </a:lnTo>
                  <a:lnTo>
                    <a:pt x="2425057" y="197477"/>
                  </a:lnTo>
                  <a:lnTo>
                    <a:pt x="2463715" y="216895"/>
                  </a:lnTo>
                  <a:lnTo>
                    <a:pt x="2500193" y="237013"/>
                  </a:lnTo>
                  <a:lnTo>
                    <a:pt x="2534416" y="257804"/>
                  </a:lnTo>
                  <a:lnTo>
                    <a:pt x="2566315" y="279239"/>
                  </a:lnTo>
                  <a:lnTo>
                    <a:pt x="2622850" y="323924"/>
                  </a:lnTo>
                  <a:lnTo>
                    <a:pt x="2669222" y="370838"/>
                  </a:lnTo>
                  <a:lnTo>
                    <a:pt x="2704857" y="419752"/>
                  </a:lnTo>
                  <a:lnTo>
                    <a:pt x="2729181" y="470435"/>
                  </a:lnTo>
                  <a:lnTo>
                    <a:pt x="2741618" y="522658"/>
                  </a:lnTo>
                  <a:lnTo>
                    <a:pt x="2743200" y="549275"/>
                  </a:lnTo>
                  <a:lnTo>
                    <a:pt x="2741618" y="575891"/>
                  </a:lnTo>
                  <a:lnTo>
                    <a:pt x="2736921" y="602181"/>
                  </a:lnTo>
                  <a:lnTo>
                    <a:pt x="2718469" y="653662"/>
                  </a:lnTo>
                  <a:lnTo>
                    <a:pt x="2688418" y="703490"/>
                  </a:lnTo>
                  <a:lnTo>
                    <a:pt x="2647342" y="751433"/>
                  </a:lnTo>
                  <a:lnTo>
                    <a:pt x="2595817" y="797261"/>
                  </a:lnTo>
                  <a:lnTo>
                    <a:pt x="2534416" y="840745"/>
                  </a:lnTo>
                  <a:lnTo>
                    <a:pt x="2500193" y="861536"/>
                  </a:lnTo>
                  <a:lnTo>
                    <a:pt x="2463715" y="881654"/>
                  </a:lnTo>
                  <a:lnTo>
                    <a:pt x="2425057" y="901072"/>
                  </a:lnTo>
                  <a:lnTo>
                    <a:pt x="2384289" y="919759"/>
                  </a:lnTo>
                  <a:lnTo>
                    <a:pt x="2341483" y="937688"/>
                  </a:lnTo>
                  <a:lnTo>
                    <a:pt x="2296711" y="954830"/>
                  </a:lnTo>
                  <a:lnTo>
                    <a:pt x="2250044" y="971155"/>
                  </a:lnTo>
                  <a:lnTo>
                    <a:pt x="2201556" y="986636"/>
                  </a:lnTo>
                  <a:lnTo>
                    <a:pt x="2151317" y="1001242"/>
                  </a:lnTo>
                  <a:lnTo>
                    <a:pt x="2099399" y="1014947"/>
                  </a:lnTo>
                  <a:lnTo>
                    <a:pt x="2045875" y="1027720"/>
                  </a:lnTo>
                  <a:lnTo>
                    <a:pt x="1990816" y="1039534"/>
                  </a:lnTo>
                  <a:lnTo>
                    <a:pt x="1934293" y="1050359"/>
                  </a:lnTo>
                  <a:lnTo>
                    <a:pt x="1876379" y="1060166"/>
                  </a:lnTo>
                  <a:lnTo>
                    <a:pt x="1817146" y="1068927"/>
                  </a:lnTo>
                  <a:lnTo>
                    <a:pt x="1756665" y="1076614"/>
                  </a:lnTo>
                  <a:lnTo>
                    <a:pt x="1695008" y="1083197"/>
                  </a:lnTo>
                  <a:lnTo>
                    <a:pt x="1632247" y="1088647"/>
                  </a:lnTo>
                  <a:lnTo>
                    <a:pt x="1568454" y="1092936"/>
                  </a:lnTo>
                  <a:lnTo>
                    <a:pt x="1503700" y="1096036"/>
                  </a:lnTo>
                  <a:lnTo>
                    <a:pt x="1438058" y="1097916"/>
                  </a:lnTo>
                  <a:lnTo>
                    <a:pt x="1371600" y="1098550"/>
                  </a:lnTo>
                  <a:lnTo>
                    <a:pt x="1305141" y="1097916"/>
                  </a:lnTo>
                  <a:lnTo>
                    <a:pt x="1239499" y="1096036"/>
                  </a:lnTo>
                  <a:lnTo>
                    <a:pt x="1174745" y="1092936"/>
                  </a:lnTo>
                  <a:lnTo>
                    <a:pt x="1110952" y="1088647"/>
                  </a:lnTo>
                  <a:lnTo>
                    <a:pt x="1048191" y="1083197"/>
                  </a:lnTo>
                  <a:lnTo>
                    <a:pt x="986534" y="1076614"/>
                  </a:lnTo>
                  <a:lnTo>
                    <a:pt x="926053" y="1068927"/>
                  </a:lnTo>
                  <a:lnTo>
                    <a:pt x="866820" y="1060166"/>
                  </a:lnTo>
                  <a:lnTo>
                    <a:pt x="808906" y="1050359"/>
                  </a:lnTo>
                  <a:lnTo>
                    <a:pt x="752383" y="1039534"/>
                  </a:lnTo>
                  <a:lnTo>
                    <a:pt x="697324" y="1027720"/>
                  </a:lnTo>
                  <a:lnTo>
                    <a:pt x="643800" y="1014947"/>
                  </a:lnTo>
                  <a:lnTo>
                    <a:pt x="591882" y="1001242"/>
                  </a:lnTo>
                  <a:lnTo>
                    <a:pt x="541643" y="986636"/>
                  </a:lnTo>
                  <a:lnTo>
                    <a:pt x="493155" y="971155"/>
                  </a:lnTo>
                  <a:lnTo>
                    <a:pt x="446488" y="954830"/>
                  </a:lnTo>
                  <a:lnTo>
                    <a:pt x="401716" y="937688"/>
                  </a:lnTo>
                  <a:lnTo>
                    <a:pt x="358910" y="919759"/>
                  </a:lnTo>
                  <a:lnTo>
                    <a:pt x="318142" y="901072"/>
                  </a:lnTo>
                  <a:lnTo>
                    <a:pt x="279484" y="881654"/>
                  </a:lnTo>
                  <a:lnTo>
                    <a:pt x="243006" y="861536"/>
                  </a:lnTo>
                  <a:lnTo>
                    <a:pt x="208783" y="840745"/>
                  </a:lnTo>
                  <a:lnTo>
                    <a:pt x="176884" y="819310"/>
                  </a:lnTo>
                  <a:lnTo>
                    <a:pt x="120349" y="774625"/>
                  </a:lnTo>
                  <a:lnTo>
                    <a:pt x="73977" y="727711"/>
                  </a:lnTo>
                  <a:lnTo>
                    <a:pt x="38342" y="678797"/>
                  </a:lnTo>
                  <a:lnTo>
                    <a:pt x="14018" y="628114"/>
                  </a:lnTo>
                  <a:lnTo>
                    <a:pt x="1581" y="575891"/>
                  </a:lnTo>
                  <a:lnTo>
                    <a:pt x="0" y="549275"/>
                  </a:lnTo>
                  <a:close/>
                </a:path>
              </a:pathLst>
            </a:custGeom>
            <a:ln w="12700">
              <a:solidFill>
                <a:srgbClr val="000000"/>
              </a:solidFill>
            </a:ln>
          </p:spPr>
          <p:txBody>
            <a:bodyPr wrap="square" lIns="0" tIns="0" rIns="0" bIns="0" rtlCol="0"/>
            <a:lstStyle/>
            <a:p>
              <a:endParaRPr/>
            </a:p>
          </p:txBody>
        </p:sp>
      </p:grpSp>
      <p:sp>
        <p:nvSpPr>
          <p:cNvPr id="24" name="object 24"/>
          <p:cNvSpPr txBox="1"/>
          <p:nvPr/>
        </p:nvSpPr>
        <p:spPr>
          <a:xfrm>
            <a:off x="5473065" y="3668725"/>
            <a:ext cx="114300"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Times New Roman"/>
                <a:cs typeface="Times New Roman"/>
              </a:rPr>
              <a:t>1</a:t>
            </a:r>
            <a:endParaRPr sz="1400">
              <a:latin typeface="Times New Roman"/>
              <a:cs typeface="Times New Roman"/>
            </a:endParaRPr>
          </a:p>
        </p:txBody>
      </p:sp>
      <p:sp>
        <p:nvSpPr>
          <p:cNvPr id="25" name="object 25"/>
          <p:cNvSpPr txBox="1"/>
          <p:nvPr/>
        </p:nvSpPr>
        <p:spPr>
          <a:xfrm>
            <a:off x="6688328" y="3668725"/>
            <a:ext cx="114300"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Times New Roman"/>
                <a:cs typeface="Times New Roman"/>
              </a:rPr>
              <a:t>1</a:t>
            </a:r>
            <a:endParaRPr sz="1400">
              <a:latin typeface="Times New Roman"/>
              <a:cs typeface="Times New Roman"/>
            </a:endParaRPr>
          </a:p>
        </p:txBody>
      </p:sp>
      <p:sp>
        <p:nvSpPr>
          <p:cNvPr id="26" name="object 26"/>
          <p:cNvSpPr/>
          <p:nvPr/>
        </p:nvSpPr>
        <p:spPr>
          <a:xfrm>
            <a:off x="3193160" y="2832861"/>
            <a:ext cx="758825" cy="356870"/>
          </a:xfrm>
          <a:custGeom>
            <a:avLst/>
            <a:gdLst/>
            <a:ahLst/>
            <a:cxnLst/>
            <a:rect l="l" t="t" r="r" b="b"/>
            <a:pathLst>
              <a:path w="758825" h="356869">
                <a:moveTo>
                  <a:pt x="0" y="208534"/>
                </a:moveTo>
                <a:lnTo>
                  <a:pt x="555498" y="74040"/>
                </a:lnTo>
                <a:lnTo>
                  <a:pt x="537590" y="0"/>
                </a:lnTo>
                <a:lnTo>
                  <a:pt x="758571" y="103250"/>
                </a:lnTo>
                <a:lnTo>
                  <a:pt x="609218" y="296163"/>
                </a:lnTo>
                <a:lnTo>
                  <a:pt x="591312" y="222123"/>
                </a:lnTo>
                <a:lnTo>
                  <a:pt x="35813" y="356615"/>
                </a:lnTo>
                <a:lnTo>
                  <a:pt x="0" y="208534"/>
                </a:lnTo>
                <a:close/>
              </a:path>
            </a:pathLst>
          </a:custGeom>
          <a:ln w="12700">
            <a:solidFill>
              <a:srgbClr val="000000"/>
            </a:solidFill>
          </a:ln>
        </p:spPr>
        <p:txBody>
          <a:bodyPr wrap="square" lIns="0" tIns="0" rIns="0" bIns="0" rtlCol="0"/>
          <a:lstStyle/>
          <a:p>
            <a:endParaRPr/>
          </a:p>
        </p:txBody>
      </p:sp>
      <p:sp>
        <p:nvSpPr>
          <p:cNvPr id="27" name="object 27"/>
          <p:cNvSpPr/>
          <p:nvPr/>
        </p:nvSpPr>
        <p:spPr>
          <a:xfrm>
            <a:off x="3193160" y="3395471"/>
            <a:ext cx="758825" cy="356870"/>
          </a:xfrm>
          <a:custGeom>
            <a:avLst/>
            <a:gdLst/>
            <a:ahLst/>
            <a:cxnLst/>
            <a:rect l="l" t="t" r="r" b="b"/>
            <a:pathLst>
              <a:path w="758825" h="356870">
                <a:moveTo>
                  <a:pt x="0" y="148081"/>
                </a:moveTo>
                <a:lnTo>
                  <a:pt x="555498" y="282575"/>
                </a:lnTo>
                <a:lnTo>
                  <a:pt x="537590" y="356615"/>
                </a:lnTo>
                <a:lnTo>
                  <a:pt x="758571" y="253364"/>
                </a:lnTo>
                <a:lnTo>
                  <a:pt x="609218" y="60451"/>
                </a:lnTo>
                <a:lnTo>
                  <a:pt x="591312" y="134492"/>
                </a:lnTo>
                <a:lnTo>
                  <a:pt x="35813" y="0"/>
                </a:lnTo>
                <a:lnTo>
                  <a:pt x="0" y="148081"/>
                </a:lnTo>
                <a:close/>
              </a:path>
            </a:pathLst>
          </a:custGeom>
          <a:ln w="12700">
            <a:solidFill>
              <a:srgbClr val="000000"/>
            </a:solidFill>
          </a:ln>
        </p:spPr>
        <p:txBody>
          <a:bodyPr wrap="square" lIns="0" tIns="0" rIns="0" bIns="0" rtlCol="0"/>
          <a:lstStyle/>
          <a:p>
            <a:endParaRPr/>
          </a:p>
        </p:txBody>
      </p:sp>
      <p:pic>
        <p:nvPicPr>
          <p:cNvPr id="28" name="object 28"/>
          <p:cNvPicPr/>
          <p:nvPr/>
        </p:nvPicPr>
        <p:blipFill>
          <a:blip r:embed="rId3" cstate="print"/>
          <a:stretch>
            <a:fillRect/>
          </a:stretch>
        </p:blipFill>
        <p:spPr>
          <a:xfrm>
            <a:off x="5181600" y="304800"/>
            <a:ext cx="3759200" cy="457200"/>
          </a:xfrm>
          <a:prstGeom prst="rect">
            <a:avLst/>
          </a:prstGeom>
        </p:spPr>
      </p:pic>
      <p:sp>
        <p:nvSpPr>
          <p:cNvPr id="29" name="object 29"/>
          <p:cNvSpPr txBox="1"/>
          <p:nvPr/>
        </p:nvSpPr>
        <p:spPr>
          <a:xfrm>
            <a:off x="5765672" y="371093"/>
            <a:ext cx="2444115" cy="270510"/>
          </a:xfrm>
          <a:prstGeom prst="rect">
            <a:avLst/>
          </a:prstGeom>
        </p:spPr>
        <p:txBody>
          <a:bodyPr vert="horz" wrap="square" lIns="0" tIns="13335" rIns="0" bIns="0" rtlCol="0">
            <a:spAutoFit/>
          </a:bodyPr>
          <a:lstStyle/>
          <a:p>
            <a:pPr marL="12700">
              <a:lnSpc>
                <a:spcPct val="100000"/>
              </a:lnSpc>
              <a:spcBef>
                <a:spcPts val="105"/>
              </a:spcBef>
            </a:pPr>
            <a:r>
              <a:rPr sz="1600" spc="-170" dirty="0">
                <a:latin typeface="Arial MT"/>
                <a:cs typeface="Arial MT"/>
              </a:rPr>
              <a:t>T</a:t>
            </a:r>
            <a:r>
              <a:rPr sz="1600" spc="-200" dirty="0">
                <a:latin typeface="Arial MT"/>
                <a:cs typeface="Arial MT"/>
              </a:rPr>
              <a:t>R</a:t>
            </a:r>
            <a:r>
              <a:rPr sz="1600" spc="-185" dirty="0">
                <a:latin typeface="Arial MT"/>
                <a:cs typeface="Arial MT"/>
              </a:rPr>
              <a:t>A</a:t>
            </a:r>
            <a:r>
              <a:rPr sz="1600" spc="-200" dirty="0">
                <a:latin typeface="Arial MT"/>
                <a:cs typeface="Arial MT"/>
              </a:rPr>
              <a:t>N</a:t>
            </a:r>
            <a:r>
              <a:rPr sz="1600" spc="-185" dirty="0">
                <a:latin typeface="Arial MT"/>
                <a:cs typeface="Arial MT"/>
              </a:rPr>
              <a:t>S</a:t>
            </a:r>
            <a:r>
              <a:rPr sz="1600" spc="-170" dirty="0">
                <a:latin typeface="Arial MT"/>
                <a:cs typeface="Arial MT"/>
              </a:rPr>
              <a:t>F</a:t>
            </a:r>
            <a:r>
              <a:rPr sz="1600" spc="-220" dirty="0">
                <a:latin typeface="Arial MT"/>
                <a:cs typeface="Arial MT"/>
              </a:rPr>
              <a:t>O</a:t>
            </a:r>
            <a:r>
              <a:rPr sz="1600" spc="-200" dirty="0">
                <a:latin typeface="Arial MT"/>
                <a:cs typeface="Arial MT"/>
              </a:rPr>
              <a:t>R</a:t>
            </a:r>
            <a:r>
              <a:rPr sz="1600" spc="-254" dirty="0">
                <a:latin typeface="Arial MT"/>
                <a:cs typeface="Arial MT"/>
              </a:rPr>
              <a:t>M</a:t>
            </a:r>
            <a:r>
              <a:rPr sz="1600" spc="-185" dirty="0">
                <a:latin typeface="Arial MT"/>
                <a:cs typeface="Arial MT"/>
              </a:rPr>
              <a:t>A</a:t>
            </a:r>
            <a:r>
              <a:rPr sz="1600" spc="-210" dirty="0">
                <a:latin typeface="Arial MT"/>
                <a:cs typeface="Arial MT"/>
              </a:rPr>
              <a:t>S</a:t>
            </a:r>
            <a:r>
              <a:rPr sz="1600" spc="-80" dirty="0">
                <a:latin typeface="Arial MT"/>
                <a:cs typeface="Arial MT"/>
              </a:rPr>
              <a:t>I</a:t>
            </a:r>
            <a:r>
              <a:rPr sz="1600" spc="-190" dirty="0">
                <a:latin typeface="Arial MT"/>
                <a:cs typeface="Arial MT"/>
              </a:rPr>
              <a:t> </a:t>
            </a:r>
            <a:r>
              <a:rPr sz="1600" spc="-175" dirty="0">
                <a:latin typeface="Arial MT"/>
                <a:cs typeface="Arial MT"/>
              </a:rPr>
              <a:t>D</a:t>
            </a:r>
            <a:r>
              <a:rPr sz="1600" spc="-105" dirty="0">
                <a:latin typeface="Arial MT"/>
                <a:cs typeface="Arial MT"/>
              </a:rPr>
              <a:t>-</a:t>
            </a:r>
            <a:r>
              <a:rPr sz="1600" spc="-185" dirty="0">
                <a:latin typeface="Arial MT"/>
                <a:cs typeface="Arial MT"/>
              </a:rPr>
              <a:t>E</a:t>
            </a:r>
            <a:r>
              <a:rPr sz="1600" spc="-204" dirty="0">
                <a:latin typeface="Arial MT"/>
                <a:cs typeface="Arial MT"/>
              </a:rPr>
              <a:t>R</a:t>
            </a:r>
            <a:r>
              <a:rPr sz="1600" spc="-105" dirty="0">
                <a:latin typeface="Arial MT"/>
                <a:cs typeface="Arial MT"/>
              </a:rPr>
              <a:t> </a:t>
            </a:r>
            <a:r>
              <a:rPr sz="1600" spc="-185" dirty="0">
                <a:latin typeface="Arial MT"/>
                <a:cs typeface="Arial MT"/>
              </a:rPr>
              <a:t>K</a:t>
            </a:r>
            <a:r>
              <a:rPr sz="1600" spc="-190" dirty="0">
                <a:latin typeface="Arial MT"/>
                <a:cs typeface="Arial MT"/>
              </a:rPr>
              <a:t>E</a:t>
            </a:r>
            <a:r>
              <a:rPr sz="1600" spc="-105" dirty="0">
                <a:latin typeface="Arial MT"/>
                <a:cs typeface="Arial MT"/>
              </a:rPr>
              <a:t> </a:t>
            </a:r>
            <a:r>
              <a:rPr sz="1600" spc="-155" dirty="0">
                <a:latin typeface="Arial MT"/>
                <a:cs typeface="Arial MT"/>
              </a:rPr>
              <a:t>L</a:t>
            </a:r>
            <a:r>
              <a:rPr sz="1600" spc="-200" dirty="0">
                <a:latin typeface="Arial MT"/>
                <a:cs typeface="Arial MT"/>
              </a:rPr>
              <a:t>R</a:t>
            </a:r>
            <a:r>
              <a:rPr sz="1600" spc="-190" dirty="0">
                <a:latin typeface="Arial MT"/>
                <a:cs typeface="Arial MT"/>
              </a:rPr>
              <a:t>S</a:t>
            </a:r>
            <a:endParaRPr sz="160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2444" y="640206"/>
            <a:ext cx="1988820" cy="270510"/>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Times New Roman"/>
                <a:cs typeface="Times New Roman"/>
              </a:rPr>
              <a:t>T</a:t>
            </a:r>
            <a:r>
              <a:rPr sz="1600" b="1" spc="-5" dirty="0">
                <a:latin typeface="Times New Roman"/>
                <a:cs typeface="Times New Roman"/>
              </a:rPr>
              <a:t>RANS</a:t>
            </a:r>
            <a:r>
              <a:rPr sz="1600" b="1" spc="5" dirty="0">
                <a:latin typeface="Times New Roman"/>
                <a:cs typeface="Times New Roman"/>
              </a:rPr>
              <a:t>FO</a:t>
            </a:r>
            <a:r>
              <a:rPr sz="1600" b="1" spc="-10" dirty="0">
                <a:latin typeface="Times New Roman"/>
                <a:cs typeface="Times New Roman"/>
              </a:rPr>
              <a:t>R</a:t>
            </a:r>
            <a:r>
              <a:rPr sz="1600" b="1" spc="-5" dirty="0">
                <a:latin typeface="Times New Roman"/>
                <a:cs typeface="Times New Roman"/>
              </a:rPr>
              <a:t>M</a:t>
            </a:r>
            <a:r>
              <a:rPr sz="1600" b="1" spc="-10" dirty="0">
                <a:latin typeface="Times New Roman"/>
                <a:cs typeface="Times New Roman"/>
              </a:rPr>
              <a:t>AS</a:t>
            </a:r>
            <a:r>
              <a:rPr sz="1600" b="1" dirty="0">
                <a:latin typeface="Times New Roman"/>
                <a:cs typeface="Times New Roman"/>
              </a:rPr>
              <a:t>I</a:t>
            </a:r>
            <a:r>
              <a:rPr sz="1600" b="1" spc="-70" dirty="0">
                <a:latin typeface="Times New Roman"/>
                <a:cs typeface="Times New Roman"/>
              </a:rPr>
              <a:t> </a:t>
            </a:r>
            <a:r>
              <a:rPr sz="1600" b="1" spc="5" dirty="0">
                <a:latin typeface="Times New Roman"/>
                <a:cs typeface="Times New Roman"/>
              </a:rPr>
              <a:t>1</a:t>
            </a:r>
            <a:r>
              <a:rPr sz="1600" b="1" spc="-10" dirty="0">
                <a:latin typeface="Times New Roman"/>
                <a:cs typeface="Times New Roman"/>
              </a:rPr>
              <a:t>:</a:t>
            </a:r>
            <a:r>
              <a:rPr sz="1600" b="1" dirty="0">
                <a:latin typeface="Times New Roman"/>
                <a:cs typeface="Times New Roman"/>
              </a:rPr>
              <a:t>1</a:t>
            </a:r>
            <a:endParaRPr sz="1600">
              <a:latin typeface="Times New Roman"/>
              <a:cs typeface="Times New Roman"/>
            </a:endParaRPr>
          </a:p>
        </p:txBody>
      </p:sp>
      <p:sp>
        <p:nvSpPr>
          <p:cNvPr id="3" name="object 3"/>
          <p:cNvSpPr txBox="1"/>
          <p:nvPr/>
        </p:nvSpPr>
        <p:spPr>
          <a:xfrm>
            <a:off x="3356609" y="640206"/>
            <a:ext cx="1259205" cy="270510"/>
          </a:xfrm>
          <a:prstGeom prst="rect">
            <a:avLst/>
          </a:prstGeom>
        </p:spPr>
        <p:txBody>
          <a:bodyPr vert="horz" wrap="square" lIns="0" tIns="13335" rIns="0" bIns="0" rtlCol="0">
            <a:spAutoFit/>
          </a:bodyPr>
          <a:lstStyle/>
          <a:p>
            <a:pPr marL="12700">
              <a:lnSpc>
                <a:spcPct val="100000"/>
              </a:lnSpc>
              <a:spcBef>
                <a:spcPts val="105"/>
              </a:spcBef>
            </a:pPr>
            <a:r>
              <a:rPr sz="1600" spc="-5" dirty="0">
                <a:latin typeface="Times New Roman"/>
                <a:cs typeface="Times New Roman"/>
              </a:rPr>
              <a:t>ON</a:t>
            </a:r>
            <a:r>
              <a:rPr sz="1600" dirty="0">
                <a:latin typeface="Times New Roman"/>
                <a:cs typeface="Times New Roman"/>
              </a:rPr>
              <a:t>E</a:t>
            </a:r>
            <a:r>
              <a:rPr sz="1600" spc="-10" dirty="0">
                <a:latin typeface="Times New Roman"/>
                <a:cs typeface="Times New Roman"/>
              </a:rPr>
              <a:t>-</a:t>
            </a:r>
            <a:r>
              <a:rPr sz="1600" spc="-50" dirty="0">
                <a:latin typeface="Times New Roman"/>
                <a:cs typeface="Times New Roman"/>
              </a:rPr>
              <a:t>T</a:t>
            </a:r>
            <a:r>
              <a:rPr sz="1600" spc="-5" dirty="0">
                <a:latin typeface="Times New Roman"/>
                <a:cs typeface="Times New Roman"/>
              </a:rPr>
              <a:t>O</a:t>
            </a:r>
            <a:r>
              <a:rPr sz="1600" spc="-10" dirty="0">
                <a:latin typeface="Times New Roman"/>
                <a:cs typeface="Times New Roman"/>
              </a:rPr>
              <a:t>-</a:t>
            </a:r>
            <a:r>
              <a:rPr sz="1600" spc="-5" dirty="0">
                <a:latin typeface="Times New Roman"/>
                <a:cs typeface="Times New Roman"/>
              </a:rPr>
              <a:t>ONE</a:t>
            </a:r>
            <a:endParaRPr sz="1600">
              <a:latin typeface="Times New Roman"/>
              <a:cs typeface="Times New Roman"/>
            </a:endParaRPr>
          </a:p>
        </p:txBody>
      </p:sp>
      <p:sp>
        <p:nvSpPr>
          <p:cNvPr id="4" name="object 4"/>
          <p:cNvSpPr txBox="1"/>
          <p:nvPr/>
        </p:nvSpPr>
        <p:spPr>
          <a:xfrm>
            <a:off x="5932423" y="1181557"/>
            <a:ext cx="1091565" cy="664845"/>
          </a:xfrm>
          <a:prstGeom prst="rect">
            <a:avLst/>
          </a:prstGeom>
        </p:spPr>
        <p:txBody>
          <a:bodyPr vert="horz" wrap="square" lIns="0" tIns="12065" rIns="0" bIns="0" rtlCol="0">
            <a:spAutoFit/>
          </a:bodyPr>
          <a:lstStyle/>
          <a:p>
            <a:pPr marL="12700" marR="5080">
              <a:lnSpc>
                <a:spcPct val="100000"/>
              </a:lnSpc>
              <a:spcBef>
                <a:spcPts val="95"/>
              </a:spcBef>
            </a:pPr>
            <a:r>
              <a:rPr sz="1400" u="sng" spc="-15" dirty="0">
                <a:uFill>
                  <a:solidFill>
                    <a:srgbClr val="000000"/>
                  </a:solidFill>
                </a:uFill>
                <a:latin typeface="Times New Roman"/>
                <a:cs typeface="Times New Roman"/>
              </a:rPr>
              <a:t>KD-JAB </a:t>
            </a:r>
            <a:r>
              <a:rPr sz="1400" spc="-10"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T</a:t>
            </a:r>
            <a:r>
              <a:rPr sz="1400" spc="-10" dirty="0">
                <a:latin typeface="Times New Roman"/>
                <a:cs typeface="Times New Roman"/>
              </a:rPr>
              <a:t>UN</a:t>
            </a:r>
            <a:r>
              <a:rPr sz="1400" dirty="0">
                <a:latin typeface="Times New Roman"/>
                <a:cs typeface="Times New Roman"/>
              </a:rPr>
              <a:t>J</a:t>
            </a:r>
            <a:r>
              <a:rPr sz="1400" spc="-35" dirty="0">
                <a:latin typeface="Times New Roman"/>
                <a:cs typeface="Times New Roman"/>
              </a:rPr>
              <a:t>A</a:t>
            </a:r>
            <a:r>
              <a:rPr sz="1400" spc="-10" dirty="0">
                <a:latin typeface="Times New Roman"/>
                <a:cs typeface="Times New Roman"/>
              </a:rPr>
              <a:t>NG</a:t>
            </a:r>
            <a:r>
              <a:rPr sz="1400" spc="-35" dirty="0">
                <a:latin typeface="Times New Roman"/>
                <a:cs typeface="Times New Roman"/>
              </a:rPr>
              <a:t>A</a:t>
            </a:r>
            <a:r>
              <a:rPr sz="1400" spc="-10" dirty="0">
                <a:latin typeface="Times New Roman"/>
                <a:cs typeface="Times New Roman"/>
              </a:rPr>
              <a:t>N</a:t>
            </a:r>
            <a:endParaRPr sz="1400">
              <a:latin typeface="Times New Roman"/>
              <a:cs typeface="Times New Roman"/>
            </a:endParaRPr>
          </a:p>
        </p:txBody>
      </p:sp>
      <p:sp>
        <p:nvSpPr>
          <p:cNvPr id="5" name="object 5"/>
          <p:cNvSpPr txBox="1"/>
          <p:nvPr/>
        </p:nvSpPr>
        <p:spPr>
          <a:xfrm>
            <a:off x="1298575" y="1246758"/>
            <a:ext cx="954405" cy="1305560"/>
          </a:xfrm>
          <a:prstGeom prst="rect">
            <a:avLst/>
          </a:prstGeom>
        </p:spPr>
        <p:txBody>
          <a:bodyPr vert="horz" wrap="square" lIns="0" tIns="11430" rIns="0" bIns="0" rtlCol="0">
            <a:spAutoFit/>
          </a:bodyPr>
          <a:lstStyle/>
          <a:p>
            <a:pPr marL="12700" marR="5080">
              <a:lnSpc>
                <a:spcPct val="100000"/>
              </a:lnSpc>
              <a:spcBef>
                <a:spcPts val="90"/>
              </a:spcBef>
            </a:pPr>
            <a:r>
              <a:rPr sz="1400" u="sng" spc="-15" dirty="0">
                <a:uFill>
                  <a:solidFill>
                    <a:srgbClr val="000000"/>
                  </a:solidFill>
                </a:uFill>
                <a:latin typeface="Times New Roman"/>
                <a:cs typeface="Times New Roman"/>
              </a:rPr>
              <a:t>NO-PEG </a:t>
            </a:r>
            <a:r>
              <a:rPr sz="1400" spc="-10" dirty="0">
                <a:latin typeface="Times New Roman"/>
                <a:cs typeface="Times New Roman"/>
              </a:rPr>
              <a:t> </a:t>
            </a:r>
            <a:r>
              <a:rPr sz="1400" spc="-20" dirty="0">
                <a:latin typeface="Times New Roman"/>
                <a:cs typeface="Times New Roman"/>
              </a:rPr>
              <a:t>T</a:t>
            </a:r>
            <a:r>
              <a:rPr sz="1400" spc="-5"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5" dirty="0">
                <a:latin typeface="Times New Roman"/>
                <a:cs typeface="Times New Roman"/>
              </a:rPr>
              <a:t>L</a:t>
            </a:r>
            <a:r>
              <a:rPr sz="1400" spc="-5"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5" dirty="0">
                <a:latin typeface="Times New Roman"/>
                <a:cs typeface="Times New Roman"/>
              </a:rPr>
              <a:t>NAMA </a:t>
            </a:r>
            <a:r>
              <a:rPr sz="1400" spc="-10" dirty="0">
                <a:latin typeface="Times New Roman"/>
                <a:cs typeface="Times New Roman"/>
              </a:rPr>
              <a:t> </a:t>
            </a:r>
            <a:r>
              <a:rPr sz="1400" spc="-50" dirty="0">
                <a:latin typeface="Times New Roman"/>
                <a:cs typeface="Times New Roman"/>
              </a:rPr>
              <a:t>ALAMAT </a:t>
            </a:r>
            <a:r>
              <a:rPr sz="1400" spc="-45" dirty="0">
                <a:latin typeface="Times New Roman"/>
                <a:cs typeface="Times New Roman"/>
              </a:rPr>
              <a:t> </a:t>
            </a:r>
            <a:r>
              <a:rPr sz="1400" spc="-65" dirty="0">
                <a:latin typeface="Times New Roman"/>
                <a:cs typeface="Times New Roman"/>
              </a:rPr>
              <a:t>STATUS</a:t>
            </a:r>
            <a:endParaRPr sz="1400">
              <a:latin typeface="Times New Roman"/>
              <a:cs typeface="Times New Roman"/>
            </a:endParaRPr>
          </a:p>
          <a:p>
            <a:pPr marL="12700">
              <a:lnSpc>
                <a:spcPct val="100000"/>
              </a:lnSpc>
              <a:spcBef>
                <a:spcPts val="5"/>
              </a:spcBef>
            </a:pPr>
            <a:r>
              <a:rPr sz="1400" spc="-15" dirty="0">
                <a:latin typeface="Times New Roman"/>
                <a:cs typeface="Times New Roman"/>
              </a:rPr>
              <a:t>GA-POK</a:t>
            </a:r>
            <a:endParaRPr sz="1400">
              <a:latin typeface="Times New Roman"/>
              <a:cs typeface="Times New Roman"/>
            </a:endParaRPr>
          </a:p>
        </p:txBody>
      </p:sp>
      <p:grpSp>
        <p:nvGrpSpPr>
          <p:cNvPr id="6" name="object 6"/>
          <p:cNvGrpSpPr/>
          <p:nvPr/>
        </p:nvGrpSpPr>
        <p:grpSpPr>
          <a:xfrm>
            <a:off x="3330575" y="1411350"/>
            <a:ext cx="1476375" cy="561975"/>
            <a:chOff x="3330575" y="1411350"/>
            <a:chExt cx="1476375" cy="561975"/>
          </a:xfrm>
        </p:grpSpPr>
        <p:sp>
          <p:nvSpPr>
            <p:cNvPr id="7" name="object 7"/>
            <p:cNvSpPr/>
            <p:nvPr/>
          </p:nvSpPr>
          <p:spPr>
            <a:xfrm>
              <a:off x="3611118" y="1417700"/>
              <a:ext cx="915035" cy="549275"/>
            </a:xfrm>
            <a:custGeom>
              <a:avLst/>
              <a:gdLst/>
              <a:ahLst/>
              <a:cxnLst/>
              <a:rect l="l" t="t" r="r" b="b"/>
              <a:pathLst>
                <a:path w="915035" h="549275">
                  <a:moveTo>
                    <a:pt x="0" y="274954"/>
                  </a:moveTo>
                  <a:lnTo>
                    <a:pt x="458089" y="0"/>
                  </a:lnTo>
                </a:path>
                <a:path w="915035" h="549275">
                  <a:moveTo>
                    <a:pt x="457454" y="0"/>
                  </a:moveTo>
                  <a:lnTo>
                    <a:pt x="915035" y="274954"/>
                  </a:lnTo>
                </a:path>
                <a:path w="915035" h="549275">
                  <a:moveTo>
                    <a:pt x="0" y="274193"/>
                  </a:moveTo>
                  <a:lnTo>
                    <a:pt x="458089" y="549275"/>
                  </a:lnTo>
                </a:path>
                <a:path w="915035" h="549275">
                  <a:moveTo>
                    <a:pt x="457327" y="549275"/>
                  </a:moveTo>
                  <a:lnTo>
                    <a:pt x="915035" y="274193"/>
                  </a:lnTo>
                </a:path>
              </a:pathLst>
            </a:custGeom>
            <a:ln w="12700">
              <a:solidFill>
                <a:srgbClr val="000000"/>
              </a:solidFill>
            </a:ln>
          </p:spPr>
          <p:txBody>
            <a:bodyPr wrap="square" lIns="0" tIns="0" rIns="0" bIns="0" rtlCol="0"/>
            <a:lstStyle/>
            <a:p>
              <a:endParaRPr/>
            </a:p>
          </p:txBody>
        </p:sp>
        <p:sp>
          <p:nvSpPr>
            <p:cNvPr id="8" name="object 8"/>
            <p:cNvSpPr/>
            <p:nvPr/>
          </p:nvSpPr>
          <p:spPr>
            <a:xfrm>
              <a:off x="3336925" y="1691893"/>
              <a:ext cx="1463675" cy="1270"/>
            </a:xfrm>
            <a:custGeom>
              <a:avLst/>
              <a:gdLst/>
              <a:ahLst/>
              <a:cxnLst/>
              <a:rect l="l" t="t" r="r" b="b"/>
              <a:pathLst>
                <a:path w="1463675" h="1269">
                  <a:moveTo>
                    <a:pt x="274954" y="0"/>
                  </a:moveTo>
                  <a:lnTo>
                    <a:pt x="0" y="761"/>
                  </a:lnTo>
                </a:path>
                <a:path w="1463675" h="1269">
                  <a:moveTo>
                    <a:pt x="1188720" y="0"/>
                  </a:moveTo>
                  <a:lnTo>
                    <a:pt x="1463675" y="761"/>
                  </a:lnTo>
                </a:path>
              </a:pathLst>
            </a:custGeom>
            <a:ln w="12700">
              <a:solidFill>
                <a:srgbClr val="000000"/>
              </a:solidFill>
            </a:ln>
          </p:spPr>
          <p:txBody>
            <a:bodyPr wrap="square" lIns="0" tIns="0" rIns="0" bIns="0" rtlCol="0"/>
            <a:lstStyle/>
            <a:p>
              <a:endParaRPr/>
            </a:p>
          </p:txBody>
        </p:sp>
      </p:grpSp>
      <p:sp>
        <p:nvSpPr>
          <p:cNvPr id="9" name="object 9"/>
          <p:cNvSpPr txBox="1"/>
          <p:nvPr/>
        </p:nvSpPr>
        <p:spPr>
          <a:xfrm>
            <a:off x="3383407" y="1486662"/>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10" name="object 10"/>
          <p:cNvSpPr txBox="1"/>
          <p:nvPr/>
        </p:nvSpPr>
        <p:spPr>
          <a:xfrm>
            <a:off x="4654041" y="1475308"/>
            <a:ext cx="114300"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Times New Roman"/>
                <a:cs typeface="Times New Roman"/>
              </a:rPr>
              <a:t>1</a:t>
            </a:r>
            <a:endParaRPr sz="1400">
              <a:latin typeface="Times New Roman"/>
              <a:cs typeface="Times New Roman"/>
            </a:endParaRPr>
          </a:p>
        </p:txBody>
      </p:sp>
      <p:sp>
        <p:nvSpPr>
          <p:cNvPr id="11" name="object 11"/>
          <p:cNvSpPr txBox="1"/>
          <p:nvPr/>
        </p:nvSpPr>
        <p:spPr>
          <a:xfrm>
            <a:off x="2422525" y="1417586"/>
            <a:ext cx="915035" cy="457834"/>
          </a:xfrm>
          <a:prstGeom prst="rect">
            <a:avLst/>
          </a:prstGeom>
          <a:ln w="12700">
            <a:solidFill>
              <a:srgbClr val="000000"/>
            </a:solidFill>
          </a:ln>
        </p:spPr>
        <p:txBody>
          <a:bodyPr vert="horz" wrap="square" lIns="0" tIns="104139" rIns="0" bIns="0" rtlCol="0">
            <a:spAutoFit/>
          </a:bodyPr>
          <a:lstStyle/>
          <a:p>
            <a:pPr marL="31750">
              <a:lnSpc>
                <a:spcPct val="100000"/>
              </a:lnSpc>
              <a:spcBef>
                <a:spcPts val="819"/>
              </a:spcBef>
            </a:pPr>
            <a:r>
              <a:rPr sz="1400" spc="-55" dirty="0">
                <a:latin typeface="Times New Roman"/>
                <a:cs typeface="Times New Roman"/>
              </a:rPr>
              <a:t>PEGAWAI</a:t>
            </a:r>
            <a:endParaRPr sz="1400">
              <a:latin typeface="Times New Roman"/>
              <a:cs typeface="Times New Roman"/>
            </a:endParaRPr>
          </a:p>
        </p:txBody>
      </p:sp>
      <p:sp>
        <p:nvSpPr>
          <p:cNvPr id="12" name="object 12"/>
          <p:cNvSpPr txBox="1"/>
          <p:nvPr/>
        </p:nvSpPr>
        <p:spPr>
          <a:xfrm>
            <a:off x="4799838" y="1417586"/>
            <a:ext cx="915669" cy="457834"/>
          </a:xfrm>
          <a:prstGeom prst="rect">
            <a:avLst/>
          </a:prstGeom>
          <a:ln w="12700">
            <a:solidFill>
              <a:srgbClr val="000000"/>
            </a:solidFill>
          </a:ln>
        </p:spPr>
        <p:txBody>
          <a:bodyPr vert="horz" wrap="square" lIns="0" tIns="69215" rIns="0" bIns="0" rtlCol="0">
            <a:spAutoFit/>
          </a:bodyPr>
          <a:lstStyle/>
          <a:p>
            <a:pPr marL="58419">
              <a:lnSpc>
                <a:spcPct val="100000"/>
              </a:lnSpc>
              <a:spcBef>
                <a:spcPts val="545"/>
              </a:spcBef>
            </a:pPr>
            <a:r>
              <a:rPr sz="1400" spc="-60" dirty="0">
                <a:latin typeface="Times New Roman"/>
                <a:cs typeface="Times New Roman"/>
              </a:rPr>
              <a:t>JABATAN</a:t>
            </a:r>
            <a:endParaRPr sz="1400">
              <a:latin typeface="Times New Roman"/>
              <a:cs typeface="Times New Roman"/>
            </a:endParaRPr>
          </a:p>
        </p:txBody>
      </p:sp>
      <p:sp>
        <p:nvSpPr>
          <p:cNvPr id="13" name="object 13"/>
          <p:cNvSpPr txBox="1"/>
          <p:nvPr/>
        </p:nvSpPr>
        <p:spPr>
          <a:xfrm>
            <a:off x="3801236" y="1596085"/>
            <a:ext cx="61658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5" dirty="0">
                <a:latin typeface="Times New Roman"/>
                <a:cs typeface="Times New Roman"/>
              </a:rPr>
              <a:t>UN</a:t>
            </a:r>
            <a:r>
              <a:rPr sz="1400" spc="-150" dirty="0">
                <a:latin typeface="Times New Roman"/>
                <a:cs typeface="Times New Roman"/>
              </a:rPr>
              <a:t>Y</a:t>
            </a:r>
            <a:r>
              <a:rPr sz="1400" spc="-5" dirty="0">
                <a:latin typeface="Times New Roman"/>
                <a:cs typeface="Times New Roman"/>
              </a:rPr>
              <a:t>A</a:t>
            </a:r>
            <a:endParaRPr sz="1400">
              <a:latin typeface="Times New Roman"/>
              <a:cs typeface="Times New Roman"/>
            </a:endParaRPr>
          </a:p>
        </p:txBody>
      </p:sp>
      <p:grpSp>
        <p:nvGrpSpPr>
          <p:cNvPr id="14" name="object 14"/>
          <p:cNvGrpSpPr/>
          <p:nvPr/>
        </p:nvGrpSpPr>
        <p:grpSpPr>
          <a:xfrm>
            <a:off x="2279650" y="984250"/>
            <a:ext cx="3594100" cy="1263650"/>
            <a:chOff x="2279650" y="984250"/>
            <a:chExt cx="3594100" cy="1263650"/>
          </a:xfrm>
        </p:grpSpPr>
        <p:sp>
          <p:nvSpPr>
            <p:cNvPr id="15" name="object 15"/>
            <p:cNvSpPr/>
            <p:nvPr/>
          </p:nvSpPr>
          <p:spPr>
            <a:xfrm>
              <a:off x="2286000" y="1066800"/>
              <a:ext cx="2256155" cy="1174750"/>
            </a:xfrm>
            <a:custGeom>
              <a:avLst/>
              <a:gdLst/>
              <a:ahLst/>
              <a:cxnLst/>
              <a:rect l="l" t="t" r="r" b="b"/>
              <a:pathLst>
                <a:path w="2256154" h="1174750">
                  <a:moveTo>
                    <a:pt x="0" y="587375"/>
                  </a:moveTo>
                  <a:lnTo>
                    <a:pt x="6618" y="523381"/>
                  </a:lnTo>
                  <a:lnTo>
                    <a:pt x="26013" y="461381"/>
                  </a:lnTo>
                  <a:lnTo>
                    <a:pt x="57498" y="401734"/>
                  </a:lnTo>
                  <a:lnTo>
                    <a:pt x="100385" y="344799"/>
                  </a:lnTo>
                  <a:lnTo>
                    <a:pt x="153985" y="290933"/>
                  </a:lnTo>
                  <a:lnTo>
                    <a:pt x="184587" y="265263"/>
                  </a:lnTo>
                  <a:lnTo>
                    <a:pt x="217610" y="240496"/>
                  </a:lnTo>
                  <a:lnTo>
                    <a:pt x="252968" y="216675"/>
                  </a:lnTo>
                  <a:lnTo>
                    <a:pt x="290574" y="193846"/>
                  </a:lnTo>
                  <a:lnTo>
                    <a:pt x="330342" y="172053"/>
                  </a:lnTo>
                  <a:lnTo>
                    <a:pt x="372187" y="151341"/>
                  </a:lnTo>
                  <a:lnTo>
                    <a:pt x="416023" y="131755"/>
                  </a:lnTo>
                  <a:lnTo>
                    <a:pt x="461762" y="113340"/>
                  </a:lnTo>
                  <a:lnTo>
                    <a:pt x="509321" y="96141"/>
                  </a:lnTo>
                  <a:lnTo>
                    <a:pt x="558611" y="80202"/>
                  </a:lnTo>
                  <a:lnTo>
                    <a:pt x="609549" y="65569"/>
                  </a:lnTo>
                  <a:lnTo>
                    <a:pt x="662046" y="52285"/>
                  </a:lnTo>
                  <a:lnTo>
                    <a:pt x="716018" y="40397"/>
                  </a:lnTo>
                  <a:lnTo>
                    <a:pt x="771379" y="29948"/>
                  </a:lnTo>
                  <a:lnTo>
                    <a:pt x="828042" y="20984"/>
                  </a:lnTo>
                  <a:lnTo>
                    <a:pt x="885922" y="13549"/>
                  </a:lnTo>
                  <a:lnTo>
                    <a:pt x="944932" y="7688"/>
                  </a:lnTo>
                  <a:lnTo>
                    <a:pt x="1004987" y="3447"/>
                  </a:lnTo>
                  <a:lnTo>
                    <a:pt x="1066001" y="869"/>
                  </a:lnTo>
                  <a:lnTo>
                    <a:pt x="1127887" y="0"/>
                  </a:lnTo>
                  <a:lnTo>
                    <a:pt x="1189773" y="869"/>
                  </a:lnTo>
                  <a:lnTo>
                    <a:pt x="1250787" y="3447"/>
                  </a:lnTo>
                  <a:lnTo>
                    <a:pt x="1310844" y="7688"/>
                  </a:lnTo>
                  <a:lnTo>
                    <a:pt x="1369857" y="13549"/>
                  </a:lnTo>
                  <a:lnTo>
                    <a:pt x="1427740" y="20984"/>
                  </a:lnTo>
                  <a:lnTo>
                    <a:pt x="1484407" y="29948"/>
                  </a:lnTo>
                  <a:lnTo>
                    <a:pt x="1539772" y="40397"/>
                  </a:lnTo>
                  <a:lnTo>
                    <a:pt x="1593749" y="52285"/>
                  </a:lnTo>
                  <a:lnTo>
                    <a:pt x="1646252" y="65569"/>
                  </a:lnTo>
                  <a:lnTo>
                    <a:pt x="1697195" y="80202"/>
                  </a:lnTo>
                  <a:lnTo>
                    <a:pt x="1746491" y="96141"/>
                  </a:lnTo>
                  <a:lnTo>
                    <a:pt x="1794055" y="113340"/>
                  </a:lnTo>
                  <a:lnTo>
                    <a:pt x="1839801" y="131755"/>
                  </a:lnTo>
                  <a:lnTo>
                    <a:pt x="1883643" y="151341"/>
                  </a:lnTo>
                  <a:lnTo>
                    <a:pt x="1925494" y="172053"/>
                  </a:lnTo>
                  <a:lnTo>
                    <a:pt x="1965269" y="193846"/>
                  </a:lnTo>
                  <a:lnTo>
                    <a:pt x="2002881" y="216675"/>
                  </a:lnTo>
                  <a:lnTo>
                    <a:pt x="2038245" y="240496"/>
                  </a:lnTo>
                  <a:lnTo>
                    <a:pt x="2071274" y="265263"/>
                  </a:lnTo>
                  <a:lnTo>
                    <a:pt x="2101882" y="290933"/>
                  </a:lnTo>
                  <a:lnTo>
                    <a:pt x="2129984" y="317460"/>
                  </a:lnTo>
                  <a:lnTo>
                    <a:pt x="2178323" y="372905"/>
                  </a:lnTo>
                  <a:lnTo>
                    <a:pt x="2215603" y="431241"/>
                  </a:lnTo>
                  <a:lnTo>
                    <a:pt x="2241135" y="492109"/>
                  </a:lnTo>
                  <a:lnTo>
                    <a:pt x="2254231" y="555151"/>
                  </a:lnTo>
                  <a:lnTo>
                    <a:pt x="2255901" y="587375"/>
                  </a:lnTo>
                  <a:lnTo>
                    <a:pt x="2254231" y="619598"/>
                  </a:lnTo>
                  <a:lnTo>
                    <a:pt x="2249281" y="651368"/>
                  </a:lnTo>
                  <a:lnTo>
                    <a:pt x="2229881" y="713368"/>
                  </a:lnTo>
                  <a:lnTo>
                    <a:pt x="2198389" y="773015"/>
                  </a:lnTo>
                  <a:lnTo>
                    <a:pt x="2155493" y="829950"/>
                  </a:lnTo>
                  <a:lnTo>
                    <a:pt x="2101882" y="883816"/>
                  </a:lnTo>
                  <a:lnTo>
                    <a:pt x="2071274" y="909486"/>
                  </a:lnTo>
                  <a:lnTo>
                    <a:pt x="2038245" y="934253"/>
                  </a:lnTo>
                  <a:lnTo>
                    <a:pt x="2002881" y="958074"/>
                  </a:lnTo>
                  <a:lnTo>
                    <a:pt x="1965269" y="980903"/>
                  </a:lnTo>
                  <a:lnTo>
                    <a:pt x="1925494" y="1002696"/>
                  </a:lnTo>
                  <a:lnTo>
                    <a:pt x="1883643" y="1023408"/>
                  </a:lnTo>
                  <a:lnTo>
                    <a:pt x="1839801" y="1042994"/>
                  </a:lnTo>
                  <a:lnTo>
                    <a:pt x="1794055" y="1061409"/>
                  </a:lnTo>
                  <a:lnTo>
                    <a:pt x="1746491" y="1078608"/>
                  </a:lnTo>
                  <a:lnTo>
                    <a:pt x="1697195" y="1094547"/>
                  </a:lnTo>
                  <a:lnTo>
                    <a:pt x="1646252" y="1109180"/>
                  </a:lnTo>
                  <a:lnTo>
                    <a:pt x="1593749" y="1122464"/>
                  </a:lnTo>
                  <a:lnTo>
                    <a:pt x="1539772" y="1134352"/>
                  </a:lnTo>
                  <a:lnTo>
                    <a:pt x="1484407" y="1144801"/>
                  </a:lnTo>
                  <a:lnTo>
                    <a:pt x="1427740" y="1153765"/>
                  </a:lnTo>
                  <a:lnTo>
                    <a:pt x="1369857" y="1161200"/>
                  </a:lnTo>
                  <a:lnTo>
                    <a:pt x="1310844" y="1167061"/>
                  </a:lnTo>
                  <a:lnTo>
                    <a:pt x="1250787" y="1171302"/>
                  </a:lnTo>
                  <a:lnTo>
                    <a:pt x="1189773" y="1173880"/>
                  </a:lnTo>
                  <a:lnTo>
                    <a:pt x="1127887" y="1174750"/>
                  </a:lnTo>
                  <a:lnTo>
                    <a:pt x="1066001" y="1173880"/>
                  </a:lnTo>
                  <a:lnTo>
                    <a:pt x="1004987" y="1171302"/>
                  </a:lnTo>
                  <a:lnTo>
                    <a:pt x="944932" y="1167061"/>
                  </a:lnTo>
                  <a:lnTo>
                    <a:pt x="885922" y="1161200"/>
                  </a:lnTo>
                  <a:lnTo>
                    <a:pt x="828042" y="1153765"/>
                  </a:lnTo>
                  <a:lnTo>
                    <a:pt x="771379" y="1144801"/>
                  </a:lnTo>
                  <a:lnTo>
                    <a:pt x="716018" y="1134352"/>
                  </a:lnTo>
                  <a:lnTo>
                    <a:pt x="662046" y="1122464"/>
                  </a:lnTo>
                  <a:lnTo>
                    <a:pt x="609549" y="1109180"/>
                  </a:lnTo>
                  <a:lnTo>
                    <a:pt x="558611" y="1094547"/>
                  </a:lnTo>
                  <a:lnTo>
                    <a:pt x="509321" y="1078608"/>
                  </a:lnTo>
                  <a:lnTo>
                    <a:pt x="461762" y="1061409"/>
                  </a:lnTo>
                  <a:lnTo>
                    <a:pt x="416023" y="1042994"/>
                  </a:lnTo>
                  <a:lnTo>
                    <a:pt x="372187" y="1023408"/>
                  </a:lnTo>
                  <a:lnTo>
                    <a:pt x="330342" y="1002696"/>
                  </a:lnTo>
                  <a:lnTo>
                    <a:pt x="290574" y="980903"/>
                  </a:lnTo>
                  <a:lnTo>
                    <a:pt x="252968" y="958074"/>
                  </a:lnTo>
                  <a:lnTo>
                    <a:pt x="217610" y="934253"/>
                  </a:lnTo>
                  <a:lnTo>
                    <a:pt x="184587" y="909486"/>
                  </a:lnTo>
                  <a:lnTo>
                    <a:pt x="153985" y="883816"/>
                  </a:lnTo>
                  <a:lnTo>
                    <a:pt x="125888" y="857289"/>
                  </a:lnTo>
                  <a:lnTo>
                    <a:pt x="77559" y="801844"/>
                  </a:lnTo>
                  <a:lnTo>
                    <a:pt x="40287" y="743508"/>
                  </a:lnTo>
                  <a:lnTo>
                    <a:pt x="14761" y="682640"/>
                  </a:lnTo>
                  <a:lnTo>
                    <a:pt x="1668" y="619598"/>
                  </a:lnTo>
                  <a:lnTo>
                    <a:pt x="0" y="587375"/>
                  </a:lnTo>
                  <a:close/>
                </a:path>
              </a:pathLst>
            </a:custGeom>
            <a:ln w="12700">
              <a:solidFill>
                <a:srgbClr val="000000"/>
              </a:solidFill>
            </a:ln>
          </p:spPr>
          <p:txBody>
            <a:bodyPr wrap="square" lIns="0" tIns="0" rIns="0" bIns="0" rtlCol="0"/>
            <a:lstStyle/>
            <a:p>
              <a:endParaRPr/>
            </a:p>
          </p:txBody>
        </p:sp>
        <p:sp>
          <p:nvSpPr>
            <p:cNvPr id="16" name="object 16"/>
            <p:cNvSpPr/>
            <p:nvPr/>
          </p:nvSpPr>
          <p:spPr>
            <a:xfrm>
              <a:off x="3581400" y="990600"/>
              <a:ext cx="2286000" cy="1250950"/>
            </a:xfrm>
            <a:custGeom>
              <a:avLst/>
              <a:gdLst/>
              <a:ahLst/>
              <a:cxnLst/>
              <a:rect l="l" t="t" r="r" b="b"/>
              <a:pathLst>
                <a:path w="2286000" h="1250950">
                  <a:moveTo>
                    <a:pt x="0" y="625475"/>
                  </a:moveTo>
                  <a:lnTo>
                    <a:pt x="6284" y="559489"/>
                  </a:lnTo>
                  <a:lnTo>
                    <a:pt x="24715" y="495484"/>
                  </a:lnTo>
                  <a:lnTo>
                    <a:pt x="54661" y="433803"/>
                  </a:lnTo>
                  <a:lnTo>
                    <a:pt x="95492" y="374793"/>
                  </a:lnTo>
                  <a:lnTo>
                    <a:pt x="146574" y="318800"/>
                  </a:lnTo>
                  <a:lnTo>
                    <a:pt x="175762" y="292043"/>
                  </a:lnTo>
                  <a:lnTo>
                    <a:pt x="207277" y="266169"/>
                  </a:lnTo>
                  <a:lnTo>
                    <a:pt x="241038" y="241223"/>
                  </a:lnTo>
                  <a:lnTo>
                    <a:pt x="276968" y="217247"/>
                  </a:lnTo>
                  <a:lnTo>
                    <a:pt x="314987" y="194285"/>
                  </a:lnTo>
                  <a:lnTo>
                    <a:pt x="355017" y="172379"/>
                  </a:lnTo>
                  <a:lnTo>
                    <a:pt x="396977" y="151573"/>
                  </a:lnTo>
                  <a:lnTo>
                    <a:pt x="440790" y="131911"/>
                  </a:lnTo>
                  <a:lnTo>
                    <a:pt x="486377" y="113435"/>
                  </a:lnTo>
                  <a:lnTo>
                    <a:pt x="533658" y="96188"/>
                  </a:lnTo>
                  <a:lnTo>
                    <a:pt x="582554" y="80215"/>
                  </a:lnTo>
                  <a:lnTo>
                    <a:pt x="632987" y="65558"/>
                  </a:lnTo>
                  <a:lnTo>
                    <a:pt x="684878" y="52260"/>
                  </a:lnTo>
                  <a:lnTo>
                    <a:pt x="738147" y="40364"/>
                  </a:lnTo>
                  <a:lnTo>
                    <a:pt x="792716" y="29914"/>
                  </a:lnTo>
                  <a:lnTo>
                    <a:pt x="848505" y="20954"/>
                  </a:lnTo>
                  <a:lnTo>
                    <a:pt x="905436" y="13526"/>
                  </a:lnTo>
                  <a:lnTo>
                    <a:pt x="963430" y="7673"/>
                  </a:lnTo>
                  <a:lnTo>
                    <a:pt x="1022408" y="3439"/>
                  </a:lnTo>
                  <a:lnTo>
                    <a:pt x="1082291" y="866"/>
                  </a:lnTo>
                  <a:lnTo>
                    <a:pt x="1143000" y="0"/>
                  </a:lnTo>
                  <a:lnTo>
                    <a:pt x="1203708" y="866"/>
                  </a:lnTo>
                  <a:lnTo>
                    <a:pt x="1263591" y="3439"/>
                  </a:lnTo>
                  <a:lnTo>
                    <a:pt x="1322569" y="7673"/>
                  </a:lnTo>
                  <a:lnTo>
                    <a:pt x="1380563" y="13526"/>
                  </a:lnTo>
                  <a:lnTo>
                    <a:pt x="1437494" y="20954"/>
                  </a:lnTo>
                  <a:lnTo>
                    <a:pt x="1493283" y="29914"/>
                  </a:lnTo>
                  <a:lnTo>
                    <a:pt x="1547852" y="40364"/>
                  </a:lnTo>
                  <a:lnTo>
                    <a:pt x="1601121" y="52260"/>
                  </a:lnTo>
                  <a:lnTo>
                    <a:pt x="1653012" y="65558"/>
                  </a:lnTo>
                  <a:lnTo>
                    <a:pt x="1703445" y="80215"/>
                  </a:lnTo>
                  <a:lnTo>
                    <a:pt x="1752341" y="96188"/>
                  </a:lnTo>
                  <a:lnTo>
                    <a:pt x="1799622" y="113435"/>
                  </a:lnTo>
                  <a:lnTo>
                    <a:pt x="1845209" y="131911"/>
                  </a:lnTo>
                  <a:lnTo>
                    <a:pt x="1889022" y="151573"/>
                  </a:lnTo>
                  <a:lnTo>
                    <a:pt x="1930982" y="172379"/>
                  </a:lnTo>
                  <a:lnTo>
                    <a:pt x="1971012" y="194285"/>
                  </a:lnTo>
                  <a:lnTo>
                    <a:pt x="2009031" y="217247"/>
                  </a:lnTo>
                  <a:lnTo>
                    <a:pt x="2044961" y="241223"/>
                  </a:lnTo>
                  <a:lnTo>
                    <a:pt x="2078722" y="266169"/>
                  </a:lnTo>
                  <a:lnTo>
                    <a:pt x="2110237" y="292043"/>
                  </a:lnTo>
                  <a:lnTo>
                    <a:pt x="2139425" y="318800"/>
                  </a:lnTo>
                  <a:lnTo>
                    <a:pt x="2166208" y="346398"/>
                  </a:lnTo>
                  <a:lnTo>
                    <a:pt x="2212243" y="403943"/>
                  </a:lnTo>
                  <a:lnTo>
                    <a:pt x="2247711" y="464331"/>
                  </a:lnTo>
                  <a:lnTo>
                    <a:pt x="2271979" y="527218"/>
                  </a:lnTo>
                  <a:lnTo>
                    <a:pt x="2284415" y="592256"/>
                  </a:lnTo>
                  <a:lnTo>
                    <a:pt x="2286000" y="625475"/>
                  </a:lnTo>
                  <a:lnTo>
                    <a:pt x="2284415" y="658693"/>
                  </a:lnTo>
                  <a:lnTo>
                    <a:pt x="2279715" y="691460"/>
                  </a:lnTo>
                  <a:lnTo>
                    <a:pt x="2261284" y="755465"/>
                  </a:lnTo>
                  <a:lnTo>
                    <a:pt x="2231338" y="817146"/>
                  </a:lnTo>
                  <a:lnTo>
                    <a:pt x="2190507" y="876156"/>
                  </a:lnTo>
                  <a:lnTo>
                    <a:pt x="2139425" y="932149"/>
                  </a:lnTo>
                  <a:lnTo>
                    <a:pt x="2110237" y="958906"/>
                  </a:lnTo>
                  <a:lnTo>
                    <a:pt x="2078722" y="984780"/>
                  </a:lnTo>
                  <a:lnTo>
                    <a:pt x="2044961" y="1009726"/>
                  </a:lnTo>
                  <a:lnTo>
                    <a:pt x="2009031" y="1033702"/>
                  </a:lnTo>
                  <a:lnTo>
                    <a:pt x="1971012" y="1056664"/>
                  </a:lnTo>
                  <a:lnTo>
                    <a:pt x="1930982" y="1078570"/>
                  </a:lnTo>
                  <a:lnTo>
                    <a:pt x="1889022" y="1099376"/>
                  </a:lnTo>
                  <a:lnTo>
                    <a:pt x="1845209" y="1119038"/>
                  </a:lnTo>
                  <a:lnTo>
                    <a:pt x="1799622" y="1137514"/>
                  </a:lnTo>
                  <a:lnTo>
                    <a:pt x="1752341" y="1154761"/>
                  </a:lnTo>
                  <a:lnTo>
                    <a:pt x="1703445" y="1170734"/>
                  </a:lnTo>
                  <a:lnTo>
                    <a:pt x="1653012" y="1185391"/>
                  </a:lnTo>
                  <a:lnTo>
                    <a:pt x="1601121" y="1198689"/>
                  </a:lnTo>
                  <a:lnTo>
                    <a:pt x="1547852" y="1210585"/>
                  </a:lnTo>
                  <a:lnTo>
                    <a:pt x="1493283" y="1221035"/>
                  </a:lnTo>
                  <a:lnTo>
                    <a:pt x="1437494" y="1229995"/>
                  </a:lnTo>
                  <a:lnTo>
                    <a:pt x="1380563" y="1237423"/>
                  </a:lnTo>
                  <a:lnTo>
                    <a:pt x="1322569" y="1243276"/>
                  </a:lnTo>
                  <a:lnTo>
                    <a:pt x="1263591" y="1247510"/>
                  </a:lnTo>
                  <a:lnTo>
                    <a:pt x="1203708" y="1250083"/>
                  </a:lnTo>
                  <a:lnTo>
                    <a:pt x="1143000" y="1250950"/>
                  </a:lnTo>
                  <a:lnTo>
                    <a:pt x="1082291" y="1250083"/>
                  </a:lnTo>
                  <a:lnTo>
                    <a:pt x="1022408" y="1247510"/>
                  </a:lnTo>
                  <a:lnTo>
                    <a:pt x="963430" y="1243276"/>
                  </a:lnTo>
                  <a:lnTo>
                    <a:pt x="905436" y="1237423"/>
                  </a:lnTo>
                  <a:lnTo>
                    <a:pt x="848505" y="1229995"/>
                  </a:lnTo>
                  <a:lnTo>
                    <a:pt x="792716" y="1221035"/>
                  </a:lnTo>
                  <a:lnTo>
                    <a:pt x="738147" y="1210585"/>
                  </a:lnTo>
                  <a:lnTo>
                    <a:pt x="684878" y="1198689"/>
                  </a:lnTo>
                  <a:lnTo>
                    <a:pt x="632987" y="1185391"/>
                  </a:lnTo>
                  <a:lnTo>
                    <a:pt x="582554" y="1170734"/>
                  </a:lnTo>
                  <a:lnTo>
                    <a:pt x="533658" y="1154761"/>
                  </a:lnTo>
                  <a:lnTo>
                    <a:pt x="486377" y="1137514"/>
                  </a:lnTo>
                  <a:lnTo>
                    <a:pt x="440790" y="1119038"/>
                  </a:lnTo>
                  <a:lnTo>
                    <a:pt x="396977" y="1099376"/>
                  </a:lnTo>
                  <a:lnTo>
                    <a:pt x="355017" y="1078570"/>
                  </a:lnTo>
                  <a:lnTo>
                    <a:pt x="314987" y="1056664"/>
                  </a:lnTo>
                  <a:lnTo>
                    <a:pt x="276968" y="1033702"/>
                  </a:lnTo>
                  <a:lnTo>
                    <a:pt x="241038" y="1009726"/>
                  </a:lnTo>
                  <a:lnTo>
                    <a:pt x="207277" y="984780"/>
                  </a:lnTo>
                  <a:lnTo>
                    <a:pt x="175762" y="958906"/>
                  </a:lnTo>
                  <a:lnTo>
                    <a:pt x="146574" y="932149"/>
                  </a:lnTo>
                  <a:lnTo>
                    <a:pt x="119791" y="904551"/>
                  </a:lnTo>
                  <a:lnTo>
                    <a:pt x="73756" y="847006"/>
                  </a:lnTo>
                  <a:lnTo>
                    <a:pt x="38288" y="786618"/>
                  </a:lnTo>
                  <a:lnTo>
                    <a:pt x="14020" y="723731"/>
                  </a:lnTo>
                  <a:lnTo>
                    <a:pt x="1584" y="658693"/>
                  </a:lnTo>
                  <a:lnTo>
                    <a:pt x="0" y="625475"/>
                  </a:lnTo>
                  <a:close/>
                </a:path>
              </a:pathLst>
            </a:custGeom>
            <a:ln w="12700">
              <a:solidFill>
                <a:srgbClr val="FFFF00"/>
              </a:solidFill>
              <a:prstDash val="sysDot"/>
            </a:ln>
          </p:spPr>
          <p:txBody>
            <a:bodyPr wrap="square" lIns="0" tIns="0" rIns="0" bIns="0" rtlCol="0"/>
            <a:lstStyle/>
            <a:p>
              <a:endParaRPr/>
            </a:p>
          </p:txBody>
        </p:sp>
      </p:grpSp>
      <p:sp>
        <p:nvSpPr>
          <p:cNvPr id="17" name="object 17"/>
          <p:cNvSpPr txBox="1"/>
          <p:nvPr/>
        </p:nvSpPr>
        <p:spPr>
          <a:xfrm>
            <a:off x="457200" y="4705350"/>
            <a:ext cx="1120775" cy="1590675"/>
          </a:xfrm>
          <a:prstGeom prst="rect">
            <a:avLst/>
          </a:prstGeom>
          <a:ln w="12700">
            <a:solidFill>
              <a:srgbClr val="000000"/>
            </a:solidFill>
          </a:ln>
        </p:spPr>
        <p:txBody>
          <a:bodyPr vert="horz" wrap="square" lIns="0" tIns="40640" rIns="0" bIns="0" rtlCol="0">
            <a:spAutoFit/>
          </a:bodyPr>
          <a:lstStyle/>
          <a:p>
            <a:pPr marL="91440" marR="92710">
              <a:lnSpc>
                <a:spcPct val="100000"/>
              </a:lnSpc>
              <a:spcBef>
                <a:spcPts val="320"/>
              </a:spcBef>
            </a:pPr>
            <a:r>
              <a:rPr sz="1400" u="sng" spc="-15" dirty="0">
                <a:uFill>
                  <a:solidFill>
                    <a:srgbClr val="000000"/>
                  </a:solidFill>
                </a:uFill>
                <a:latin typeface="Times New Roman"/>
                <a:cs typeface="Times New Roman"/>
              </a:rPr>
              <a:t>NO-PEG </a:t>
            </a:r>
            <a:r>
              <a:rPr sz="1400" spc="-10" dirty="0">
                <a:latin typeface="Times New Roman"/>
                <a:cs typeface="Times New Roman"/>
              </a:rPr>
              <a:t> </a:t>
            </a:r>
            <a:r>
              <a:rPr sz="1400" spc="-20"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0" dirty="0">
                <a:latin typeface="Times New Roman"/>
                <a:cs typeface="Times New Roman"/>
              </a:rPr>
              <a:t>L</a:t>
            </a:r>
            <a:r>
              <a:rPr sz="1400" spc="-10"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0" dirty="0">
                <a:latin typeface="Times New Roman"/>
                <a:cs typeface="Times New Roman"/>
              </a:rPr>
              <a:t>NAMA </a:t>
            </a:r>
            <a:r>
              <a:rPr sz="1400" spc="-5" dirty="0">
                <a:latin typeface="Times New Roman"/>
                <a:cs typeface="Times New Roman"/>
              </a:rPr>
              <a:t> </a:t>
            </a:r>
            <a:r>
              <a:rPr sz="1400" spc="-50" dirty="0">
                <a:latin typeface="Times New Roman"/>
                <a:cs typeface="Times New Roman"/>
              </a:rPr>
              <a:t>ALAMAT </a:t>
            </a:r>
            <a:r>
              <a:rPr sz="1400" spc="-45" dirty="0">
                <a:latin typeface="Times New Roman"/>
                <a:cs typeface="Times New Roman"/>
              </a:rPr>
              <a:t> </a:t>
            </a:r>
            <a:r>
              <a:rPr sz="1400" spc="-65" dirty="0">
                <a:latin typeface="Times New Roman"/>
                <a:cs typeface="Times New Roman"/>
              </a:rPr>
              <a:t>STATUS</a:t>
            </a:r>
            <a:endParaRPr sz="1400">
              <a:latin typeface="Times New Roman"/>
              <a:cs typeface="Times New Roman"/>
            </a:endParaRPr>
          </a:p>
          <a:p>
            <a:pPr marL="91440">
              <a:lnSpc>
                <a:spcPct val="100000"/>
              </a:lnSpc>
              <a:spcBef>
                <a:spcPts val="5"/>
              </a:spcBef>
            </a:pPr>
            <a:r>
              <a:rPr sz="1400" spc="-15" dirty="0">
                <a:latin typeface="Times New Roman"/>
                <a:cs typeface="Times New Roman"/>
              </a:rPr>
              <a:t>GA-POK</a:t>
            </a:r>
            <a:endParaRPr sz="1400">
              <a:latin typeface="Times New Roman"/>
              <a:cs typeface="Times New Roman"/>
            </a:endParaRPr>
          </a:p>
          <a:p>
            <a:pPr marL="91440">
              <a:lnSpc>
                <a:spcPct val="100000"/>
              </a:lnSpc>
            </a:pPr>
            <a:r>
              <a:rPr sz="1400" spc="-15" dirty="0">
                <a:latin typeface="Times New Roman"/>
                <a:cs typeface="Times New Roman"/>
              </a:rPr>
              <a:t>KD-JAB</a:t>
            </a:r>
            <a:endParaRPr sz="1400">
              <a:latin typeface="Times New Roman"/>
              <a:cs typeface="Times New Roman"/>
            </a:endParaRPr>
          </a:p>
        </p:txBody>
      </p:sp>
      <p:sp>
        <p:nvSpPr>
          <p:cNvPr id="18" name="object 18"/>
          <p:cNvSpPr txBox="1"/>
          <p:nvPr/>
        </p:nvSpPr>
        <p:spPr>
          <a:xfrm>
            <a:off x="2719451" y="5132387"/>
            <a:ext cx="1202055" cy="739775"/>
          </a:xfrm>
          <a:prstGeom prst="rect">
            <a:avLst/>
          </a:prstGeom>
          <a:ln w="12700">
            <a:solidFill>
              <a:srgbClr val="000000"/>
            </a:solidFill>
          </a:ln>
        </p:spPr>
        <p:txBody>
          <a:bodyPr vert="horz" wrap="square" lIns="0" tIns="41275" rIns="0" bIns="0" rtlCol="0">
            <a:spAutoFit/>
          </a:bodyPr>
          <a:lstStyle/>
          <a:p>
            <a:pPr marL="92075" marR="105410">
              <a:lnSpc>
                <a:spcPct val="100000"/>
              </a:lnSpc>
              <a:spcBef>
                <a:spcPts val="325"/>
              </a:spcBef>
            </a:pPr>
            <a:r>
              <a:rPr sz="1400" u="sng" spc="-15" dirty="0">
                <a:uFill>
                  <a:solidFill>
                    <a:srgbClr val="000000"/>
                  </a:solidFill>
                </a:uFill>
                <a:latin typeface="Times New Roman"/>
                <a:cs typeface="Times New Roman"/>
              </a:rPr>
              <a:t>KD-JAB </a:t>
            </a:r>
            <a:r>
              <a:rPr sz="1400" spc="-10"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T</a:t>
            </a:r>
            <a:r>
              <a:rPr sz="1400" spc="-15" dirty="0">
                <a:latin typeface="Times New Roman"/>
                <a:cs typeface="Times New Roman"/>
              </a:rPr>
              <a:t>I</a:t>
            </a:r>
            <a:r>
              <a:rPr sz="1400" spc="-10" dirty="0">
                <a:latin typeface="Times New Roman"/>
                <a:cs typeface="Times New Roman"/>
              </a:rPr>
              <a:t>N</a:t>
            </a:r>
            <a:r>
              <a:rPr sz="1400" spc="5" dirty="0">
                <a:latin typeface="Times New Roman"/>
                <a:cs typeface="Times New Roman"/>
              </a:rPr>
              <a:t>J</a:t>
            </a:r>
            <a:r>
              <a:rPr sz="1400" spc="-35" dirty="0">
                <a:latin typeface="Times New Roman"/>
                <a:cs typeface="Times New Roman"/>
              </a:rPr>
              <a:t>A</a:t>
            </a:r>
            <a:r>
              <a:rPr sz="1400" spc="-10" dirty="0">
                <a:latin typeface="Times New Roman"/>
                <a:cs typeface="Times New Roman"/>
              </a:rPr>
              <a:t>NG</a:t>
            </a:r>
            <a:r>
              <a:rPr sz="1400" spc="-35" dirty="0">
                <a:latin typeface="Times New Roman"/>
                <a:cs typeface="Times New Roman"/>
              </a:rPr>
              <a:t>A</a:t>
            </a:r>
            <a:r>
              <a:rPr sz="1400" spc="-10" dirty="0">
                <a:latin typeface="Times New Roman"/>
                <a:cs typeface="Times New Roman"/>
              </a:rPr>
              <a:t>N</a:t>
            </a:r>
            <a:endParaRPr sz="1400">
              <a:latin typeface="Times New Roman"/>
              <a:cs typeface="Times New Roman"/>
            </a:endParaRPr>
          </a:p>
        </p:txBody>
      </p:sp>
      <p:sp>
        <p:nvSpPr>
          <p:cNvPr id="19" name="object 19"/>
          <p:cNvSpPr txBox="1"/>
          <p:nvPr/>
        </p:nvSpPr>
        <p:spPr>
          <a:xfrm>
            <a:off x="536244" y="4372483"/>
            <a:ext cx="80073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20" dirty="0">
                <a:latin typeface="Times New Roman"/>
                <a:cs typeface="Times New Roman"/>
              </a:rPr>
              <a:t>E</a:t>
            </a:r>
            <a:r>
              <a:rPr sz="1400" spc="-10" dirty="0">
                <a:latin typeface="Times New Roman"/>
                <a:cs typeface="Times New Roman"/>
              </a:rPr>
              <a:t>G</a:t>
            </a:r>
            <a:r>
              <a:rPr sz="1400" spc="-150" dirty="0">
                <a:latin typeface="Times New Roman"/>
                <a:cs typeface="Times New Roman"/>
              </a:rPr>
              <a:t>AW</a:t>
            </a:r>
            <a:r>
              <a:rPr sz="1400" spc="-35"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20" name="object 20"/>
          <p:cNvSpPr txBox="1"/>
          <p:nvPr/>
        </p:nvSpPr>
        <p:spPr>
          <a:xfrm>
            <a:off x="2822829" y="4829632"/>
            <a:ext cx="787400" cy="238125"/>
          </a:xfrm>
          <a:prstGeom prst="rect">
            <a:avLst/>
          </a:prstGeom>
        </p:spPr>
        <p:txBody>
          <a:bodyPr vert="horz" wrap="square" lIns="0" tIns="12065" rIns="0" bIns="0" rtlCol="0">
            <a:spAutoFit/>
          </a:bodyPr>
          <a:lstStyle/>
          <a:p>
            <a:pPr marL="12700">
              <a:lnSpc>
                <a:spcPct val="100000"/>
              </a:lnSpc>
              <a:spcBef>
                <a:spcPts val="95"/>
              </a:spcBef>
            </a:pPr>
            <a:r>
              <a:rPr sz="1400" spc="-60" dirty="0">
                <a:latin typeface="Times New Roman"/>
                <a:cs typeface="Times New Roman"/>
              </a:rPr>
              <a:t>JABATAN</a:t>
            </a:r>
            <a:endParaRPr sz="1400">
              <a:latin typeface="Times New Roman"/>
              <a:cs typeface="Times New Roman"/>
            </a:endParaRPr>
          </a:p>
        </p:txBody>
      </p:sp>
      <p:sp>
        <p:nvSpPr>
          <p:cNvPr id="21" name="object 21"/>
          <p:cNvSpPr txBox="1"/>
          <p:nvPr/>
        </p:nvSpPr>
        <p:spPr>
          <a:xfrm>
            <a:off x="1831975" y="5210936"/>
            <a:ext cx="649605" cy="238125"/>
          </a:xfrm>
          <a:prstGeom prst="rect">
            <a:avLst/>
          </a:prstGeom>
        </p:spPr>
        <p:txBody>
          <a:bodyPr vert="horz" wrap="square" lIns="0" tIns="11430" rIns="0" bIns="0" rtlCol="0">
            <a:spAutoFit/>
          </a:bodyPr>
          <a:lstStyle/>
          <a:p>
            <a:pPr marL="12700">
              <a:lnSpc>
                <a:spcPct val="100000"/>
              </a:lnSpc>
              <a:spcBef>
                <a:spcPts val="90"/>
              </a:spcBef>
            </a:pPr>
            <a:r>
              <a:rPr sz="1400" spc="-35" dirty="0">
                <a:latin typeface="Times New Roman"/>
                <a:cs typeface="Times New Roman"/>
              </a:rPr>
              <a:t>K</a:t>
            </a:r>
            <a:r>
              <a:rPr sz="1400" spc="-10" dirty="0">
                <a:latin typeface="Times New Roman"/>
                <a:cs typeface="Times New Roman"/>
              </a:rPr>
              <a:t>D</a:t>
            </a:r>
            <a:r>
              <a:rPr sz="1400" spc="-15" dirty="0">
                <a:latin typeface="Times New Roman"/>
                <a:cs typeface="Times New Roman"/>
              </a:rPr>
              <a:t>-</a:t>
            </a:r>
            <a:r>
              <a:rPr sz="1400" dirty="0">
                <a:latin typeface="Times New Roman"/>
                <a:cs typeface="Times New Roman"/>
              </a:rPr>
              <a:t>J</a:t>
            </a:r>
            <a:r>
              <a:rPr sz="1400" spc="-35" dirty="0">
                <a:latin typeface="Times New Roman"/>
                <a:cs typeface="Times New Roman"/>
              </a:rPr>
              <a:t>A</a:t>
            </a:r>
            <a:r>
              <a:rPr sz="1400" spc="-10" dirty="0">
                <a:latin typeface="Times New Roman"/>
                <a:cs typeface="Times New Roman"/>
              </a:rPr>
              <a:t>B</a:t>
            </a:r>
            <a:endParaRPr sz="1400">
              <a:latin typeface="Times New Roman"/>
              <a:cs typeface="Times New Roman"/>
            </a:endParaRPr>
          </a:p>
        </p:txBody>
      </p:sp>
      <p:sp>
        <p:nvSpPr>
          <p:cNvPr id="22" name="object 22"/>
          <p:cNvSpPr/>
          <p:nvPr/>
        </p:nvSpPr>
        <p:spPr>
          <a:xfrm>
            <a:off x="1577975" y="5437378"/>
            <a:ext cx="1141730" cy="127000"/>
          </a:xfrm>
          <a:custGeom>
            <a:avLst/>
            <a:gdLst/>
            <a:ahLst/>
            <a:cxnLst/>
            <a:rect l="l" t="t" r="r" b="b"/>
            <a:pathLst>
              <a:path w="1141730" h="127000">
                <a:moveTo>
                  <a:pt x="127126" y="0"/>
                </a:moveTo>
                <a:lnTo>
                  <a:pt x="0" y="63246"/>
                </a:lnTo>
                <a:lnTo>
                  <a:pt x="126873" y="127000"/>
                </a:lnTo>
                <a:lnTo>
                  <a:pt x="81262" y="69730"/>
                </a:lnTo>
                <a:lnTo>
                  <a:pt x="76200" y="69723"/>
                </a:lnTo>
                <a:lnTo>
                  <a:pt x="76200" y="57023"/>
                </a:lnTo>
                <a:lnTo>
                  <a:pt x="81302" y="57023"/>
                </a:lnTo>
                <a:lnTo>
                  <a:pt x="127126" y="0"/>
                </a:lnTo>
                <a:close/>
              </a:path>
              <a:path w="1141730" h="127000">
                <a:moveTo>
                  <a:pt x="81297" y="57030"/>
                </a:moveTo>
                <a:lnTo>
                  <a:pt x="76200" y="63373"/>
                </a:lnTo>
                <a:lnTo>
                  <a:pt x="81262" y="69730"/>
                </a:lnTo>
                <a:lnTo>
                  <a:pt x="1141349" y="71247"/>
                </a:lnTo>
                <a:lnTo>
                  <a:pt x="1141476" y="58547"/>
                </a:lnTo>
                <a:lnTo>
                  <a:pt x="81297" y="57030"/>
                </a:lnTo>
                <a:close/>
              </a:path>
              <a:path w="1141730" h="127000">
                <a:moveTo>
                  <a:pt x="76200" y="63373"/>
                </a:moveTo>
                <a:lnTo>
                  <a:pt x="76200" y="69723"/>
                </a:lnTo>
                <a:lnTo>
                  <a:pt x="81262" y="69730"/>
                </a:lnTo>
                <a:lnTo>
                  <a:pt x="76200" y="63373"/>
                </a:lnTo>
                <a:close/>
              </a:path>
              <a:path w="1141730" h="127000">
                <a:moveTo>
                  <a:pt x="76200" y="57023"/>
                </a:moveTo>
                <a:lnTo>
                  <a:pt x="76200" y="63373"/>
                </a:lnTo>
                <a:lnTo>
                  <a:pt x="81297" y="57030"/>
                </a:lnTo>
                <a:lnTo>
                  <a:pt x="76200" y="57023"/>
                </a:lnTo>
                <a:close/>
              </a:path>
            </a:pathLst>
          </a:custGeom>
          <a:solidFill>
            <a:srgbClr val="000000"/>
          </a:solidFill>
        </p:spPr>
        <p:txBody>
          <a:bodyPr wrap="square" lIns="0" tIns="0" rIns="0" bIns="0" rtlCol="0"/>
          <a:lstStyle/>
          <a:p>
            <a:endParaRPr/>
          </a:p>
        </p:txBody>
      </p:sp>
      <p:sp>
        <p:nvSpPr>
          <p:cNvPr id="23" name="object 23"/>
          <p:cNvSpPr txBox="1"/>
          <p:nvPr/>
        </p:nvSpPr>
        <p:spPr>
          <a:xfrm>
            <a:off x="5181600" y="4938712"/>
            <a:ext cx="1120775" cy="1377950"/>
          </a:xfrm>
          <a:prstGeom prst="rect">
            <a:avLst/>
          </a:prstGeom>
          <a:ln w="12700">
            <a:solidFill>
              <a:srgbClr val="000000"/>
            </a:solidFill>
          </a:ln>
        </p:spPr>
        <p:txBody>
          <a:bodyPr vert="horz" wrap="square" lIns="0" tIns="40640" rIns="0" bIns="0" rtlCol="0">
            <a:spAutoFit/>
          </a:bodyPr>
          <a:lstStyle/>
          <a:p>
            <a:pPr marL="92710" marR="90805">
              <a:lnSpc>
                <a:spcPct val="100000"/>
              </a:lnSpc>
              <a:spcBef>
                <a:spcPts val="320"/>
              </a:spcBef>
            </a:pPr>
            <a:r>
              <a:rPr sz="1400" u="sng" spc="-15" dirty="0">
                <a:uFill>
                  <a:solidFill>
                    <a:srgbClr val="000000"/>
                  </a:solidFill>
                </a:uFill>
                <a:latin typeface="Times New Roman"/>
                <a:cs typeface="Times New Roman"/>
              </a:rPr>
              <a:t>NO-PEG </a:t>
            </a:r>
            <a:r>
              <a:rPr sz="1400" spc="-10" dirty="0">
                <a:latin typeface="Times New Roman"/>
                <a:cs typeface="Times New Roman"/>
              </a:rPr>
              <a:t> </a:t>
            </a:r>
            <a:r>
              <a:rPr sz="1400" spc="-20"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0" dirty="0">
                <a:latin typeface="Times New Roman"/>
                <a:cs typeface="Times New Roman"/>
              </a:rPr>
              <a:t>L</a:t>
            </a:r>
            <a:r>
              <a:rPr sz="1400" spc="-10"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0" dirty="0">
                <a:latin typeface="Times New Roman"/>
                <a:cs typeface="Times New Roman"/>
              </a:rPr>
              <a:t>NAMA </a:t>
            </a:r>
            <a:r>
              <a:rPr sz="1400" spc="-5" dirty="0">
                <a:latin typeface="Times New Roman"/>
                <a:cs typeface="Times New Roman"/>
              </a:rPr>
              <a:t> </a:t>
            </a:r>
            <a:r>
              <a:rPr sz="1400" spc="-50" dirty="0">
                <a:latin typeface="Times New Roman"/>
                <a:cs typeface="Times New Roman"/>
              </a:rPr>
              <a:t>ALAMAT </a:t>
            </a:r>
            <a:r>
              <a:rPr sz="1400" spc="-45" dirty="0">
                <a:latin typeface="Times New Roman"/>
                <a:cs typeface="Times New Roman"/>
              </a:rPr>
              <a:t> </a:t>
            </a:r>
            <a:r>
              <a:rPr sz="1400" spc="-65" dirty="0">
                <a:latin typeface="Times New Roman"/>
                <a:cs typeface="Times New Roman"/>
              </a:rPr>
              <a:t>STATUS</a:t>
            </a:r>
            <a:endParaRPr sz="1400">
              <a:latin typeface="Times New Roman"/>
              <a:cs typeface="Times New Roman"/>
            </a:endParaRPr>
          </a:p>
          <a:p>
            <a:pPr marL="92710">
              <a:lnSpc>
                <a:spcPct val="100000"/>
              </a:lnSpc>
              <a:spcBef>
                <a:spcPts val="5"/>
              </a:spcBef>
            </a:pPr>
            <a:r>
              <a:rPr sz="1400" spc="-15" dirty="0">
                <a:latin typeface="Times New Roman"/>
                <a:cs typeface="Times New Roman"/>
              </a:rPr>
              <a:t>GA-POK</a:t>
            </a:r>
            <a:endParaRPr sz="1400">
              <a:latin typeface="Times New Roman"/>
              <a:cs typeface="Times New Roman"/>
            </a:endParaRPr>
          </a:p>
        </p:txBody>
      </p:sp>
      <p:sp>
        <p:nvSpPr>
          <p:cNvPr id="24" name="object 24"/>
          <p:cNvSpPr txBox="1"/>
          <p:nvPr/>
        </p:nvSpPr>
        <p:spPr>
          <a:xfrm>
            <a:off x="7467600" y="5140325"/>
            <a:ext cx="1202055" cy="952500"/>
          </a:xfrm>
          <a:prstGeom prst="rect">
            <a:avLst/>
          </a:prstGeom>
          <a:ln w="12700">
            <a:solidFill>
              <a:srgbClr val="000000"/>
            </a:solidFill>
          </a:ln>
        </p:spPr>
        <p:txBody>
          <a:bodyPr vert="horz" wrap="square" lIns="0" tIns="40640" rIns="0" bIns="0" rtlCol="0">
            <a:spAutoFit/>
          </a:bodyPr>
          <a:lstStyle/>
          <a:p>
            <a:pPr marL="93980" marR="103505">
              <a:lnSpc>
                <a:spcPct val="100000"/>
              </a:lnSpc>
              <a:spcBef>
                <a:spcPts val="320"/>
              </a:spcBef>
            </a:pPr>
            <a:r>
              <a:rPr sz="1400" u="sng" spc="-15" dirty="0">
                <a:uFill>
                  <a:solidFill>
                    <a:srgbClr val="000000"/>
                  </a:solidFill>
                </a:uFill>
                <a:latin typeface="Times New Roman"/>
                <a:cs typeface="Times New Roman"/>
              </a:rPr>
              <a:t>KD-JAB </a:t>
            </a:r>
            <a:r>
              <a:rPr sz="1400" spc="-10"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T</a:t>
            </a:r>
            <a:r>
              <a:rPr sz="1400" spc="-15" dirty="0">
                <a:latin typeface="Times New Roman"/>
                <a:cs typeface="Times New Roman"/>
              </a:rPr>
              <a:t>I</a:t>
            </a:r>
            <a:r>
              <a:rPr sz="1400" spc="-10" dirty="0">
                <a:latin typeface="Times New Roman"/>
                <a:cs typeface="Times New Roman"/>
              </a:rPr>
              <a:t>N</a:t>
            </a:r>
            <a:r>
              <a:rPr sz="1400" spc="5" dirty="0">
                <a:latin typeface="Times New Roman"/>
                <a:cs typeface="Times New Roman"/>
              </a:rPr>
              <a:t>J</a:t>
            </a:r>
            <a:r>
              <a:rPr sz="1400" spc="-35" dirty="0">
                <a:latin typeface="Times New Roman"/>
                <a:cs typeface="Times New Roman"/>
              </a:rPr>
              <a:t>A</a:t>
            </a:r>
            <a:r>
              <a:rPr sz="1400" spc="-10" dirty="0">
                <a:latin typeface="Times New Roman"/>
                <a:cs typeface="Times New Roman"/>
              </a:rPr>
              <a:t>NG</a:t>
            </a:r>
            <a:r>
              <a:rPr sz="1400" spc="-35" dirty="0">
                <a:latin typeface="Times New Roman"/>
                <a:cs typeface="Times New Roman"/>
              </a:rPr>
              <a:t>A</a:t>
            </a:r>
            <a:r>
              <a:rPr sz="1400" spc="-5" dirty="0">
                <a:latin typeface="Times New Roman"/>
                <a:cs typeface="Times New Roman"/>
              </a:rPr>
              <a:t>N  </a:t>
            </a:r>
            <a:r>
              <a:rPr sz="1400" spc="-10" dirty="0">
                <a:latin typeface="Times New Roman"/>
                <a:cs typeface="Times New Roman"/>
              </a:rPr>
              <a:t>NO-PEG</a:t>
            </a:r>
            <a:endParaRPr sz="1400">
              <a:latin typeface="Times New Roman"/>
              <a:cs typeface="Times New Roman"/>
            </a:endParaRPr>
          </a:p>
        </p:txBody>
      </p:sp>
      <p:sp>
        <p:nvSpPr>
          <p:cNvPr id="25" name="object 25"/>
          <p:cNvSpPr txBox="1"/>
          <p:nvPr/>
        </p:nvSpPr>
        <p:spPr>
          <a:xfrm>
            <a:off x="5262117" y="4677283"/>
            <a:ext cx="80073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20" dirty="0">
                <a:latin typeface="Times New Roman"/>
                <a:cs typeface="Times New Roman"/>
              </a:rPr>
              <a:t>E</a:t>
            </a:r>
            <a:r>
              <a:rPr sz="1400" spc="-10" dirty="0">
                <a:latin typeface="Times New Roman"/>
                <a:cs typeface="Times New Roman"/>
              </a:rPr>
              <a:t>G</a:t>
            </a:r>
            <a:r>
              <a:rPr sz="1400" spc="-150" dirty="0">
                <a:latin typeface="Times New Roman"/>
                <a:cs typeface="Times New Roman"/>
              </a:rPr>
              <a:t>AW</a:t>
            </a:r>
            <a:r>
              <a:rPr sz="1400" spc="-35"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26" name="object 26"/>
          <p:cNvSpPr txBox="1"/>
          <p:nvPr/>
        </p:nvSpPr>
        <p:spPr>
          <a:xfrm>
            <a:off x="7625333" y="4829632"/>
            <a:ext cx="787400" cy="238125"/>
          </a:xfrm>
          <a:prstGeom prst="rect">
            <a:avLst/>
          </a:prstGeom>
        </p:spPr>
        <p:txBody>
          <a:bodyPr vert="horz" wrap="square" lIns="0" tIns="12065" rIns="0" bIns="0" rtlCol="0">
            <a:spAutoFit/>
          </a:bodyPr>
          <a:lstStyle/>
          <a:p>
            <a:pPr marL="12700">
              <a:lnSpc>
                <a:spcPct val="100000"/>
              </a:lnSpc>
              <a:spcBef>
                <a:spcPts val="95"/>
              </a:spcBef>
            </a:pPr>
            <a:r>
              <a:rPr sz="1400" spc="-60" dirty="0">
                <a:latin typeface="Times New Roman"/>
                <a:cs typeface="Times New Roman"/>
              </a:rPr>
              <a:t>JABATAN</a:t>
            </a:r>
            <a:endParaRPr sz="1400">
              <a:latin typeface="Times New Roman"/>
              <a:cs typeface="Times New Roman"/>
            </a:endParaRPr>
          </a:p>
        </p:txBody>
      </p:sp>
      <p:sp>
        <p:nvSpPr>
          <p:cNvPr id="27" name="object 27"/>
          <p:cNvSpPr txBox="1"/>
          <p:nvPr/>
        </p:nvSpPr>
        <p:spPr>
          <a:xfrm>
            <a:off x="6329298" y="5368290"/>
            <a:ext cx="671830"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NO-PEG</a:t>
            </a:r>
            <a:endParaRPr sz="1400">
              <a:latin typeface="Times New Roman"/>
              <a:cs typeface="Times New Roman"/>
            </a:endParaRPr>
          </a:p>
        </p:txBody>
      </p:sp>
      <p:sp>
        <p:nvSpPr>
          <p:cNvPr id="28" name="object 28"/>
          <p:cNvSpPr/>
          <p:nvPr/>
        </p:nvSpPr>
        <p:spPr>
          <a:xfrm>
            <a:off x="6302375" y="5554345"/>
            <a:ext cx="1165225" cy="127000"/>
          </a:xfrm>
          <a:custGeom>
            <a:avLst/>
            <a:gdLst/>
            <a:ahLst/>
            <a:cxnLst/>
            <a:rect l="l" t="t" r="r" b="b"/>
            <a:pathLst>
              <a:path w="1165225" h="127000">
                <a:moveTo>
                  <a:pt x="1153685" y="56603"/>
                </a:moveTo>
                <a:lnTo>
                  <a:pt x="1089025" y="56603"/>
                </a:lnTo>
                <a:lnTo>
                  <a:pt x="1089025" y="69303"/>
                </a:lnTo>
                <a:lnTo>
                  <a:pt x="1084008" y="69351"/>
                </a:lnTo>
                <a:lnTo>
                  <a:pt x="1038859" y="126936"/>
                </a:lnTo>
                <a:lnTo>
                  <a:pt x="1165225" y="62229"/>
                </a:lnTo>
                <a:lnTo>
                  <a:pt x="1153685" y="56603"/>
                </a:lnTo>
                <a:close/>
              </a:path>
              <a:path w="1165225" h="127000">
                <a:moveTo>
                  <a:pt x="1083877" y="56653"/>
                </a:moveTo>
                <a:lnTo>
                  <a:pt x="0" y="66992"/>
                </a:lnTo>
                <a:lnTo>
                  <a:pt x="0" y="79692"/>
                </a:lnTo>
                <a:lnTo>
                  <a:pt x="1084008" y="69351"/>
                </a:lnTo>
                <a:lnTo>
                  <a:pt x="1089025" y="62953"/>
                </a:lnTo>
                <a:lnTo>
                  <a:pt x="1083877" y="56653"/>
                </a:lnTo>
                <a:close/>
              </a:path>
              <a:path w="1165225" h="127000">
                <a:moveTo>
                  <a:pt x="1089025" y="62953"/>
                </a:moveTo>
                <a:lnTo>
                  <a:pt x="1084008" y="69351"/>
                </a:lnTo>
                <a:lnTo>
                  <a:pt x="1089025" y="69303"/>
                </a:lnTo>
                <a:lnTo>
                  <a:pt x="1089025" y="62953"/>
                </a:lnTo>
                <a:close/>
              </a:path>
              <a:path w="1165225" h="127000">
                <a:moveTo>
                  <a:pt x="1089025" y="56603"/>
                </a:moveTo>
                <a:lnTo>
                  <a:pt x="1083877" y="56653"/>
                </a:lnTo>
                <a:lnTo>
                  <a:pt x="1089025" y="62953"/>
                </a:lnTo>
                <a:lnTo>
                  <a:pt x="1089025" y="56603"/>
                </a:lnTo>
                <a:close/>
              </a:path>
              <a:path w="1165225" h="127000">
                <a:moveTo>
                  <a:pt x="1037590" y="0"/>
                </a:moveTo>
                <a:lnTo>
                  <a:pt x="1083877" y="56653"/>
                </a:lnTo>
                <a:lnTo>
                  <a:pt x="1153685" y="56603"/>
                </a:lnTo>
                <a:lnTo>
                  <a:pt x="1037590" y="0"/>
                </a:lnTo>
                <a:close/>
              </a:path>
            </a:pathLst>
          </a:custGeom>
          <a:solidFill>
            <a:srgbClr val="000000"/>
          </a:solidFill>
        </p:spPr>
        <p:txBody>
          <a:bodyPr wrap="square" lIns="0" tIns="0" rIns="0" bIns="0" rtlCol="0"/>
          <a:lstStyle/>
          <a:p>
            <a:endParaRPr/>
          </a:p>
        </p:txBody>
      </p:sp>
      <p:grpSp>
        <p:nvGrpSpPr>
          <p:cNvPr id="29" name="object 29"/>
          <p:cNvGrpSpPr/>
          <p:nvPr/>
        </p:nvGrpSpPr>
        <p:grpSpPr>
          <a:xfrm>
            <a:off x="3352800" y="2696591"/>
            <a:ext cx="1752600" cy="1799589"/>
            <a:chOff x="3352800" y="2696591"/>
            <a:chExt cx="1752600" cy="1799589"/>
          </a:xfrm>
        </p:grpSpPr>
        <p:sp>
          <p:nvSpPr>
            <p:cNvPr id="30" name="object 30"/>
            <p:cNvSpPr/>
            <p:nvPr/>
          </p:nvSpPr>
          <p:spPr>
            <a:xfrm>
              <a:off x="3510280" y="2696590"/>
              <a:ext cx="817880" cy="1799589"/>
            </a:xfrm>
            <a:custGeom>
              <a:avLst/>
              <a:gdLst/>
              <a:ahLst/>
              <a:cxnLst/>
              <a:rect l="l" t="t" r="r" b="b"/>
              <a:pathLst>
                <a:path w="817879" h="1799589">
                  <a:moveTo>
                    <a:pt x="817499" y="0"/>
                  </a:moveTo>
                  <a:lnTo>
                    <a:pt x="612140" y="0"/>
                  </a:lnTo>
                  <a:lnTo>
                    <a:pt x="593598" y="282575"/>
                  </a:lnTo>
                  <a:lnTo>
                    <a:pt x="512445" y="778129"/>
                  </a:lnTo>
                  <a:lnTo>
                    <a:pt x="357632" y="1257681"/>
                  </a:lnTo>
                  <a:lnTo>
                    <a:pt x="171513" y="1467459"/>
                  </a:lnTo>
                  <a:lnTo>
                    <a:pt x="171513" y="1236256"/>
                  </a:lnTo>
                  <a:lnTo>
                    <a:pt x="2032" y="1236256"/>
                  </a:lnTo>
                  <a:lnTo>
                    <a:pt x="2032" y="1655914"/>
                  </a:lnTo>
                  <a:lnTo>
                    <a:pt x="0" y="1658112"/>
                  </a:lnTo>
                  <a:lnTo>
                    <a:pt x="2032" y="1658112"/>
                  </a:lnTo>
                  <a:lnTo>
                    <a:pt x="2032" y="1799209"/>
                  </a:lnTo>
                  <a:lnTo>
                    <a:pt x="171513" y="1799209"/>
                  </a:lnTo>
                  <a:lnTo>
                    <a:pt x="171513" y="1656981"/>
                  </a:lnTo>
                  <a:lnTo>
                    <a:pt x="229362" y="1642872"/>
                  </a:lnTo>
                  <a:lnTo>
                    <a:pt x="278511" y="1621282"/>
                  </a:lnTo>
                  <a:lnTo>
                    <a:pt x="335661" y="1586103"/>
                  </a:lnTo>
                  <a:lnTo>
                    <a:pt x="366268" y="1561211"/>
                  </a:lnTo>
                  <a:lnTo>
                    <a:pt x="427355" y="1497330"/>
                  </a:lnTo>
                  <a:lnTo>
                    <a:pt x="451358" y="1467612"/>
                  </a:lnTo>
                  <a:lnTo>
                    <a:pt x="478536" y="1432941"/>
                  </a:lnTo>
                  <a:lnTo>
                    <a:pt x="506476" y="1388618"/>
                  </a:lnTo>
                  <a:lnTo>
                    <a:pt x="536321" y="1344168"/>
                  </a:lnTo>
                  <a:lnTo>
                    <a:pt x="563626" y="1289558"/>
                  </a:lnTo>
                  <a:lnTo>
                    <a:pt x="593598" y="1228471"/>
                  </a:lnTo>
                  <a:lnTo>
                    <a:pt x="648081" y="1094740"/>
                  </a:lnTo>
                  <a:lnTo>
                    <a:pt x="672592" y="1020572"/>
                  </a:lnTo>
                  <a:lnTo>
                    <a:pt x="696595" y="941070"/>
                  </a:lnTo>
                  <a:lnTo>
                    <a:pt x="717169" y="864755"/>
                  </a:lnTo>
                  <a:lnTo>
                    <a:pt x="733171" y="795528"/>
                  </a:lnTo>
                  <a:lnTo>
                    <a:pt x="751078" y="715899"/>
                  </a:lnTo>
                  <a:lnTo>
                    <a:pt x="763016" y="649986"/>
                  </a:lnTo>
                  <a:lnTo>
                    <a:pt x="772287" y="592582"/>
                  </a:lnTo>
                  <a:lnTo>
                    <a:pt x="781685" y="530860"/>
                  </a:lnTo>
                  <a:lnTo>
                    <a:pt x="790321" y="462153"/>
                  </a:lnTo>
                  <a:lnTo>
                    <a:pt x="796290" y="400431"/>
                  </a:lnTo>
                  <a:lnTo>
                    <a:pt x="803529" y="331216"/>
                  </a:lnTo>
                  <a:lnTo>
                    <a:pt x="809498" y="259207"/>
                  </a:lnTo>
                  <a:lnTo>
                    <a:pt x="812165" y="193167"/>
                  </a:lnTo>
                  <a:lnTo>
                    <a:pt x="815467" y="128270"/>
                  </a:lnTo>
                  <a:lnTo>
                    <a:pt x="817499" y="69342"/>
                  </a:lnTo>
                  <a:lnTo>
                    <a:pt x="817499" y="0"/>
                  </a:lnTo>
                  <a:close/>
                </a:path>
              </a:pathLst>
            </a:custGeom>
            <a:solidFill>
              <a:srgbClr val="800000"/>
            </a:solidFill>
          </p:spPr>
          <p:txBody>
            <a:bodyPr wrap="square" lIns="0" tIns="0" rIns="0" bIns="0" rtlCol="0"/>
            <a:lstStyle/>
            <a:p>
              <a:endParaRPr/>
            </a:p>
          </p:txBody>
        </p:sp>
        <p:sp>
          <p:nvSpPr>
            <p:cNvPr id="31" name="object 31"/>
            <p:cNvSpPr/>
            <p:nvPr/>
          </p:nvSpPr>
          <p:spPr>
            <a:xfrm>
              <a:off x="3352800" y="2696590"/>
              <a:ext cx="789940" cy="1797685"/>
            </a:xfrm>
            <a:custGeom>
              <a:avLst/>
              <a:gdLst/>
              <a:ahLst/>
              <a:cxnLst/>
              <a:rect l="l" t="t" r="r" b="b"/>
              <a:pathLst>
                <a:path w="789939" h="1797685">
                  <a:moveTo>
                    <a:pt x="789559" y="0"/>
                  </a:moveTo>
                  <a:lnTo>
                    <a:pt x="689737" y="0"/>
                  </a:lnTo>
                  <a:lnTo>
                    <a:pt x="689737" y="43307"/>
                  </a:lnTo>
                  <a:lnTo>
                    <a:pt x="689102" y="98044"/>
                  </a:lnTo>
                  <a:lnTo>
                    <a:pt x="687832" y="142367"/>
                  </a:lnTo>
                  <a:lnTo>
                    <a:pt x="685800" y="186690"/>
                  </a:lnTo>
                  <a:lnTo>
                    <a:pt x="683133" y="235966"/>
                  </a:lnTo>
                  <a:lnTo>
                    <a:pt x="679831" y="280924"/>
                  </a:lnTo>
                  <a:lnTo>
                    <a:pt x="675767" y="332359"/>
                  </a:lnTo>
                  <a:lnTo>
                    <a:pt x="671830" y="373380"/>
                  </a:lnTo>
                  <a:lnTo>
                    <a:pt x="665861" y="425323"/>
                  </a:lnTo>
                  <a:lnTo>
                    <a:pt x="658495" y="475742"/>
                  </a:lnTo>
                  <a:lnTo>
                    <a:pt x="651129" y="529844"/>
                  </a:lnTo>
                  <a:lnTo>
                    <a:pt x="643255" y="575310"/>
                  </a:lnTo>
                  <a:lnTo>
                    <a:pt x="636524" y="617474"/>
                  </a:lnTo>
                  <a:lnTo>
                    <a:pt x="627888" y="665099"/>
                  </a:lnTo>
                  <a:lnTo>
                    <a:pt x="613283" y="734949"/>
                  </a:lnTo>
                  <a:lnTo>
                    <a:pt x="596646" y="797687"/>
                  </a:lnTo>
                  <a:lnTo>
                    <a:pt x="575310" y="874014"/>
                  </a:lnTo>
                  <a:lnTo>
                    <a:pt x="559308" y="923163"/>
                  </a:lnTo>
                  <a:lnTo>
                    <a:pt x="524764" y="1017397"/>
                  </a:lnTo>
                  <a:lnTo>
                    <a:pt x="498856" y="1075309"/>
                  </a:lnTo>
                  <a:lnTo>
                    <a:pt x="478917" y="1118616"/>
                  </a:lnTo>
                  <a:lnTo>
                    <a:pt x="440309" y="1187831"/>
                  </a:lnTo>
                  <a:lnTo>
                    <a:pt x="402336" y="1244092"/>
                  </a:lnTo>
                  <a:lnTo>
                    <a:pt x="356489" y="1298194"/>
                  </a:lnTo>
                  <a:lnTo>
                    <a:pt x="313817" y="1338834"/>
                  </a:lnTo>
                  <a:lnTo>
                    <a:pt x="275336" y="1365377"/>
                  </a:lnTo>
                  <a:lnTo>
                    <a:pt x="236728" y="1383157"/>
                  </a:lnTo>
                  <a:lnTo>
                    <a:pt x="199390" y="1394587"/>
                  </a:lnTo>
                  <a:lnTo>
                    <a:pt x="159512" y="1397762"/>
                  </a:lnTo>
                  <a:lnTo>
                    <a:pt x="159512" y="1234694"/>
                  </a:lnTo>
                  <a:lnTo>
                    <a:pt x="0" y="1515872"/>
                  </a:lnTo>
                  <a:lnTo>
                    <a:pt x="159512" y="1797558"/>
                  </a:lnTo>
                  <a:lnTo>
                    <a:pt x="159512" y="1656461"/>
                  </a:lnTo>
                  <a:lnTo>
                    <a:pt x="192151" y="1654302"/>
                  </a:lnTo>
                  <a:lnTo>
                    <a:pt x="243332" y="1642364"/>
                  </a:lnTo>
                  <a:lnTo>
                    <a:pt x="281940" y="1625092"/>
                  </a:lnTo>
                  <a:lnTo>
                    <a:pt x="321818" y="1600200"/>
                  </a:lnTo>
                  <a:lnTo>
                    <a:pt x="367792" y="1562227"/>
                  </a:lnTo>
                  <a:lnTo>
                    <a:pt x="410337" y="1519047"/>
                  </a:lnTo>
                  <a:lnTo>
                    <a:pt x="452882" y="1464945"/>
                  </a:lnTo>
                  <a:lnTo>
                    <a:pt x="476250" y="1432433"/>
                  </a:lnTo>
                  <a:lnTo>
                    <a:pt x="505460" y="1382649"/>
                  </a:lnTo>
                  <a:lnTo>
                    <a:pt x="531368" y="1333881"/>
                  </a:lnTo>
                  <a:lnTo>
                    <a:pt x="555371" y="1284732"/>
                  </a:lnTo>
                  <a:lnTo>
                    <a:pt x="575945" y="1240282"/>
                  </a:lnTo>
                  <a:lnTo>
                    <a:pt x="601345" y="1178052"/>
                  </a:lnTo>
                  <a:lnTo>
                    <a:pt x="627888" y="1106170"/>
                  </a:lnTo>
                  <a:lnTo>
                    <a:pt x="649224" y="1034669"/>
                  </a:lnTo>
                  <a:lnTo>
                    <a:pt x="667766" y="969264"/>
                  </a:lnTo>
                  <a:lnTo>
                    <a:pt x="679831" y="924814"/>
                  </a:lnTo>
                  <a:lnTo>
                    <a:pt x="693801" y="869696"/>
                  </a:lnTo>
                  <a:lnTo>
                    <a:pt x="703072" y="829564"/>
                  </a:lnTo>
                  <a:lnTo>
                    <a:pt x="711708" y="784098"/>
                  </a:lnTo>
                  <a:lnTo>
                    <a:pt x="721741" y="738124"/>
                  </a:lnTo>
                  <a:lnTo>
                    <a:pt x="729742" y="693293"/>
                  </a:lnTo>
                  <a:lnTo>
                    <a:pt x="739648" y="633730"/>
                  </a:lnTo>
                  <a:lnTo>
                    <a:pt x="746379" y="581787"/>
                  </a:lnTo>
                  <a:lnTo>
                    <a:pt x="754253" y="526034"/>
                  </a:lnTo>
                  <a:lnTo>
                    <a:pt x="770255" y="392303"/>
                  </a:lnTo>
                  <a:lnTo>
                    <a:pt x="774319" y="338836"/>
                  </a:lnTo>
                  <a:lnTo>
                    <a:pt x="779526" y="276606"/>
                  </a:lnTo>
                  <a:lnTo>
                    <a:pt x="782193" y="211582"/>
                  </a:lnTo>
                  <a:lnTo>
                    <a:pt x="786257" y="123444"/>
                  </a:lnTo>
                  <a:lnTo>
                    <a:pt x="787527" y="43307"/>
                  </a:lnTo>
                  <a:lnTo>
                    <a:pt x="789559" y="0"/>
                  </a:lnTo>
                  <a:close/>
                </a:path>
              </a:pathLst>
            </a:custGeom>
            <a:solidFill>
              <a:srgbClr val="FF0000"/>
            </a:solidFill>
          </p:spPr>
          <p:txBody>
            <a:bodyPr wrap="square" lIns="0" tIns="0" rIns="0" bIns="0" rtlCol="0"/>
            <a:lstStyle/>
            <a:p>
              <a:endParaRPr/>
            </a:p>
          </p:txBody>
        </p:sp>
        <p:sp>
          <p:nvSpPr>
            <p:cNvPr id="32" name="object 32"/>
            <p:cNvSpPr/>
            <p:nvPr/>
          </p:nvSpPr>
          <p:spPr>
            <a:xfrm>
              <a:off x="4130421" y="2696590"/>
              <a:ext cx="817880" cy="1797685"/>
            </a:xfrm>
            <a:custGeom>
              <a:avLst/>
              <a:gdLst/>
              <a:ahLst/>
              <a:cxnLst/>
              <a:rect l="l" t="t" r="r" b="b"/>
              <a:pathLst>
                <a:path w="817879" h="1797685">
                  <a:moveTo>
                    <a:pt x="817499" y="1656461"/>
                  </a:moveTo>
                  <a:lnTo>
                    <a:pt x="815530" y="1654314"/>
                  </a:lnTo>
                  <a:lnTo>
                    <a:pt x="815530" y="1234605"/>
                  </a:lnTo>
                  <a:lnTo>
                    <a:pt x="646049" y="1234605"/>
                  </a:lnTo>
                  <a:lnTo>
                    <a:pt x="646049" y="1465834"/>
                  </a:lnTo>
                  <a:lnTo>
                    <a:pt x="459867" y="1256538"/>
                  </a:lnTo>
                  <a:lnTo>
                    <a:pt x="305054" y="777748"/>
                  </a:lnTo>
                  <a:lnTo>
                    <a:pt x="223901" y="282194"/>
                  </a:lnTo>
                  <a:lnTo>
                    <a:pt x="205994" y="0"/>
                  </a:lnTo>
                  <a:lnTo>
                    <a:pt x="0" y="0"/>
                  </a:lnTo>
                  <a:lnTo>
                    <a:pt x="0" y="69215"/>
                  </a:lnTo>
                  <a:lnTo>
                    <a:pt x="2032" y="128651"/>
                  </a:lnTo>
                  <a:lnTo>
                    <a:pt x="5334" y="193548"/>
                  </a:lnTo>
                  <a:lnTo>
                    <a:pt x="8001" y="259461"/>
                  </a:lnTo>
                  <a:lnTo>
                    <a:pt x="13970" y="331343"/>
                  </a:lnTo>
                  <a:lnTo>
                    <a:pt x="21209" y="399923"/>
                  </a:lnTo>
                  <a:lnTo>
                    <a:pt x="27178" y="461010"/>
                  </a:lnTo>
                  <a:lnTo>
                    <a:pt x="35814" y="530225"/>
                  </a:lnTo>
                  <a:lnTo>
                    <a:pt x="45847" y="591820"/>
                  </a:lnTo>
                  <a:lnTo>
                    <a:pt x="54483" y="649097"/>
                  </a:lnTo>
                  <a:lnTo>
                    <a:pt x="66421" y="715518"/>
                  </a:lnTo>
                  <a:lnTo>
                    <a:pt x="100330" y="864235"/>
                  </a:lnTo>
                  <a:lnTo>
                    <a:pt x="120904" y="940435"/>
                  </a:lnTo>
                  <a:lnTo>
                    <a:pt x="144907" y="1019302"/>
                  </a:lnTo>
                  <a:lnTo>
                    <a:pt x="169418" y="1093851"/>
                  </a:lnTo>
                  <a:lnTo>
                    <a:pt x="193421" y="1152779"/>
                  </a:lnTo>
                  <a:lnTo>
                    <a:pt x="223901" y="1226820"/>
                  </a:lnTo>
                  <a:lnTo>
                    <a:pt x="253873" y="1287907"/>
                  </a:lnTo>
                  <a:lnTo>
                    <a:pt x="281178" y="1341882"/>
                  </a:lnTo>
                  <a:lnTo>
                    <a:pt x="311658" y="1387348"/>
                  </a:lnTo>
                  <a:lnTo>
                    <a:pt x="338963" y="1431671"/>
                  </a:lnTo>
                  <a:lnTo>
                    <a:pt x="390144" y="1495425"/>
                  </a:lnTo>
                  <a:lnTo>
                    <a:pt x="421386" y="1527810"/>
                  </a:lnTo>
                  <a:lnTo>
                    <a:pt x="451231" y="1559687"/>
                  </a:lnTo>
                  <a:lnTo>
                    <a:pt x="481838" y="1584579"/>
                  </a:lnTo>
                  <a:lnTo>
                    <a:pt x="538988" y="1619123"/>
                  </a:lnTo>
                  <a:lnTo>
                    <a:pt x="588137" y="1641348"/>
                  </a:lnTo>
                  <a:lnTo>
                    <a:pt x="608711" y="1646174"/>
                  </a:lnTo>
                  <a:lnTo>
                    <a:pt x="646049" y="1655343"/>
                  </a:lnTo>
                  <a:lnTo>
                    <a:pt x="646049" y="1797558"/>
                  </a:lnTo>
                  <a:lnTo>
                    <a:pt x="815530" y="1797558"/>
                  </a:lnTo>
                  <a:lnTo>
                    <a:pt x="815530" y="1656461"/>
                  </a:lnTo>
                  <a:lnTo>
                    <a:pt x="817499" y="1656461"/>
                  </a:lnTo>
                  <a:close/>
                </a:path>
              </a:pathLst>
            </a:custGeom>
            <a:solidFill>
              <a:srgbClr val="800000"/>
            </a:solidFill>
          </p:spPr>
          <p:txBody>
            <a:bodyPr wrap="square" lIns="0" tIns="0" rIns="0" bIns="0" rtlCol="0"/>
            <a:lstStyle/>
            <a:p>
              <a:endParaRPr/>
            </a:p>
          </p:txBody>
        </p:sp>
        <p:sp>
          <p:nvSpPr>
            <p:cNvPr id="33" name="object 33"/>
            <p:cNvSpPr/>
            <p:nvPr/>
          </p:nvSpPr>
          <p:spPr>
            <a:xfrm>
              <a:off x="4315841" y="2696590"/>
              <a:ext cx="789940" cy="1796414"/>
            </a:xfrm>
            <a:custGeom>
              <a:avLst/>
              <a:gdLst/>
              <a:ahLst/>
              <a:cxnLst/>
              <a:rect l="l" t="t" r="r" b="b"/>
              <a:pathLst>
                <a:path w="789939" h="1796414">
                  <a:moveTo>
                    <a:pt x="789559" y="1513967"/>
                  </a:moveTo>
                  <a:lnTo>
                    <a:pt x="630047" y="1233043"/>
                  </a:lnTo>
                  <a:lnTo>
                    <a:pt x="630047" y="1395984"/>
                  </a:lnTo>
                  <a:lnTo>
                    <a:pt x="610108" y="1395476"/>
                  </a:lnTo>
                  <a:lnTo>
                    <a:pt x="568833" y="1387348"/>
                  </a:lnTo>
                  <a:lnTo>
                    <a:pt x="514223" y="1364107"/>
                  </a:lnTo>
                  <a:lnTo>
                    <a:pt x="475742" y="1337056"/>
                  </a:lnTo>
                  <a:lnTo>
                    <a:pt x="433070" y="1297051"/>
                  </a:lnTo>
                  <a:lnTo>
                    <a:pt x="387223" y="1242441"/>
                  </a:lnTo>
                  <a:lnTo>
                    <a:pt x="349250" y="1186815"/>
                  </a:lnTo>
                  <a:lnTo>
                    <a:pt x="327279" y="1150112"/>
                  </a:lnTo>
                  <a:lnTo>
                    <a:pt x="290703" y="1074420"/>
                  </a:lnTo>
                  <a:lnTo>
                    <a:pt x="264795" y="1016000"/>
                  </a:lnTo>
                  <a:lnTo>
                    <a:pt x="242189" y="954405"/>
                  </a:lnTo>
                  <a:lnTo>
                    <a:pt x="230251" y="922528"/>
                  </a:lnTo>
                  <a:lnTo>
                    <a:pt x="214249" y="872871"/>
                  </a:lnTo>
                  <a:lnTo>
                    <a:pt x="192913" y="797179"/>
                  </a:lnTo>
                  <a:lnTo>
                    <a:pt x="176276" y="733933"/>
                  </a:lnTo>
                  <a:lnTo>
                    <a:pt x="161671" y="664718"/>
                  </a:lnTo>
                  <a:lnTo>
                    <a:pt x="153035" y="616712"/>
                  </a:lnTo>
                  <a:lnTo>
                    <a:pt x="146304" y="575056"/>
                  </a:lnTo>
                  <a:lnTo>
                    <a:pt x="138430" y="529717"/>
                  </a:lnTo>
                  <a:lnTo>
                    <a:pt x="131064" y="475615"/>
                  </a:lnTo>
                  <a:lnTo>
                    <a:pt x="123698" y="425323"/>
                  </a:lnTo>
                  <a:lnTo>
                    <a:pt x="117729" y="372999"/>
                  </a:lnTo>
                  <a:lnTo>
                    <a:pt x="113792" y="331851"/>
                  </a:lnTo>
                  <a:lnTo>
                    <a:pt x="106426" y="236220"/>
                  </a:lnTo>
                  <a:lnTo>
                    <a:pt x="103759" y="187071"/>
                  </a:lnTo>
                  <a:lnTo>
                    <a:pt x="101727" y="142113"/>
                  </a:lnTo>
                  <a:lnTo>
                    <a:pt x="100457" y="97917"/>
                  </a:lnTo>
                  <a:lnTo>
                    <a:pt x="99822" y="43815"/>
                  </a:lnTo>
                  <a:lnTo>
                    <a:pt x="98425" y="1143"/>
                  </a:lnTo>
                  <a:lnTo>
                    <a:pt x="0" y="0"/>
                  </a:lnTo>
                  <a:lnTo>
                    <a:pt x="2032" y="43815"/>
                  </a:lnTo>
                  <a:lnTo>
                    <a:pt x="3302" y="123825"/>
                  </a:lnTo>
                  <a:lnTo>
                    <a:pt x="7366" y="211836"/>
                  </a:lnTo>
                  <a:lnTo>
                    <a:pt x="10033" y="276733"/>
                  </a:lnTo>
                  <a:lnTo>
                    <a:pt x="19939" y="391795"/>
                  </a:lnTo>
                  <a:lnTo>
                    <a:pt x="27305" y="458851"/>
                  </a:lnTo>
                  <a:lnTo>
                    <a:pt x="35306" y="525272"/>
                  </a:lnTo>
                  <a:lnTo>
                    <a:pt x="43180" y="581533"/>
                  </a:lnTo>
                  <a:lnTo>
                    <a:pt x="49911" y="633476"/>
                  </a:lnTo>
                  <a:lnTo>
                    <a:pt x="59817" y="692912"/>
                  </a:lnTo>
                  <a:lnTo>
                    <a:pt x="67818" y="737235"/>
                  </a:lnTo>
                  <a:lnTo>
                    <a:pt x="77851" y="783082"/>
                  </a:lnTo>
                  <a:lnTo>
                    <a:pt x="86487" y="828548"/>
                  </a:lnTo>
                  <a:lnTo>
                    <a:pt x="95758" y="869061"/>
                  </a:lnTo>
                  <a:lnTo>
                    <a:pt x="109728" y="924179"/>
                  </a:lnTo>
                  <a:lnTo>
                    <a:pt x="121793" y="968502"/>
                  </a:lnTo>
                  <a:lnTo>
                    <a:pt x="140335" y="1033272"/>
                  </a:lnTo>
                  <a:lnTo>
                    <a:pt x="161671" y="1105154"/>
                  </a:lnTo>
                  <a:lnTo>
                    <a:pt x="188341" y="1177036"/>
                  </a:lnTo>
                  <a:lnTo>
                    <a:pt x="213614" y="1239266"/>
                  </a:lnTo>
                  <a:lnTo>
                    <a:pt x="234188" y="1282954"/>
                  </a:lnTo>
                  <a:lnTo>
                    <a:pt x="258191" y="1332230"/>
                  </a:lnTo>
                  <a:lnTo>
                    <a:pt x="284734" y="1380871"/>
                  </a:lnTo>
                  <a:lnTo>
                    <a:pt x="313309" y="1430020"/>
                  </a:lnTo>
                  <a:lnTo>
                    <a:pt x="336677" y="1463548"/>
                  </a:lnTo>
                  <a:lnTo>
                    <a:pt x="361950" y="1497076"/>
                  </a:lnTo>
                  <a:lnTo>
                    <a:pt x="401193" y="1540764"/>
                  </a:lnTo>
                  <a:lnTo>
                    <a:pt x="443738" y="1579753"/>
                  </a:lnTo>
                  <a:lnTo>
                    <a:pt x="485013" y="1609979"/>
                  </a:lnTo>
                  <a:lnTo>
                    <a:pt x="546227" y="1640205"/>
                  </a:lnTo>
                  <a:lnTo>
                    <a:pt x="597408" y="1652143"/>
                  </a:lnTo>
                  <a:lnTo>
                    <a:pt x="630047" y="1654810"/>
                  </a:lnTo>
                  <a:lnTo>
                    <a:pt x="630047" y="1795907"/>
                  </a:lnTo>
                  <a:lnTo>
                    <a:pt x="789559" y="1513967"/>
                  </a:lnTo>
                  <a:close/>
                </a:path>
              </a:pathLst>
            </a:custGeom>
            <a:solidFill>
              <a:srgbClr val="FF0000"/>
            </a:solidFill>
          </p:spPr>
          <p:txBody>
            <a:bodyPr wrap="square" lIns="0" tIns="0" rIns="0" bIns="0" rtlCol="0"/>
            <a:lstStyle/>
            <a:p>
              <a:endParaRPr/>
            </a:p>
          </p:txBody>
        </p:sp>
      </p:grpSp>
      <p:sp>
        <p:nvSpPr>
          <p:cNvPr id="34" name="object 34"/>
          <p:cNvSpPr txBox="1"/>
          <p:nvPr/>
        </p:nvSpPr>
        <p:spPr>
          <a:xfrm>
            <a:off x="4042664" y="2606750"/>
            <a:ext cx="280670" cy="636905"/>
          </a:xfrm>
          <a:prstGeom prst="rect">
            <a:avLst/>
          </a:prstGeom>
        </p:spPr>
        <p:txBody>
          <a:bodyPr vert="horz" wrap="square" lIns="0" tIns="13970" rIns="0" bIns="0" rtlCol="0">
            <a:spAutoFit/>
          </a:bodyPr>
          <a:lstStyle/>
          <a:p>
            <a:pPr marL="12700">
              <a:lnSpc>
                <a:spcPct val="100000"/>
              </a:lnSpc>
              <a:spcBef>
                <a:spcPts val="110"/>
              </a:spcBef>
            </a:pPr>
            <a:r>
              <a:rPr sz="4000" b="1" spc="5" dirty="0">
                <a:latin typeface="Times New Roman"/>
                <a:cs typeface="Times New Roman"/>
              </a:rPr>
              <a:t>?</a:t>
            </a:r>
            <a:endParaRPr sz="4000">
              <a:latin typeface="Times New Roman"/>
              <a:cs typeface="Times New Roman"/>
            </a:endParaRPr>
          </a:p>
        </p:txBody>
      </p:sp>
      <p:pic>
        <p:nvPicPr>
          <p:cNvPr id="35" name="object 35"/>
          <p:cNvPicPr/>
          <p:nvPr/>
        </p:nvPicPr>
        <p:blipFill>
          <a:blip r:embed="rId2" cstate="print"/>
          <a:stretch>
            <a:fillRect/>
          </a:stretch>
        </p:blipFill>
        <p:spPr>
          <a:xfrm>
            <a:off x="5181600" y="152400"/>
            <a:ext cx="3759200" cy="457200"/>
          </a:xfrm>
          <a:prstGeom prst="rect">
            <a:avLst/>
          </a:prstGeom>
        </p:spPr>
      </p:pic>
      <p:sp>
        <p:nvSpPr>
          <p:cNvPr id="36" name="object 36"/>
          <p:cNvSpPr txBox="1">
            <a:spLocks noGrp="1"/>
          </p:cNvSpPr>
          <p:nvPr>
            <p:ph type="title"/>
          </p:nvPr>
        </p:nvSpPr>
        <p:spPr>
          <a:xfrm>
            <a:off x="5765672" y="218693"/>
            <a:ext cx="2444115" cy="270510"/>
          </a:xfrm>
          <a:prstGeom prst="rect">
            <a:avLst/>
          </a:prstGeom>
        </p:spPr>
        <p:txBody>
          <a:bodyPr vert="horz" wrap="square" lIns="0" tIns="13335" rIns="0" bIns="0" rtlCol="0">
            <a:spAutoFit/>
          </a:bodyPr>
          <a:lstStyle/>
          <a:p>
            <a:pPr marL="12700">
              <a:lnSpc>
                <a:spcPct val="100000"/>
              </a:lnSpc>
              <a:spcBef>
                <a:spcPts val="105"/>
              </a:spcBef>
            </a:pPr>
            <a:r>
              <a:rPr spc="-170" dirty="0"/>
              <a:t>T</a:t>
            </a:r>
            <a:r>
              <a:rPr spc="-200" dirty="0"/>
              <a:t>R</a:t>
            </a:r>
            <a:r>
              <a:rPr spc="-185" dirty="0"/>
              <a:t>A</a:t>
            </a:r>
            <a:r>
              <a:rPr spc="-200" dirty="0"/>
              <a:t>N</a:t>
            </a:r>
            <a:r>
              <a:rPr spc="-185" dirty="0"/>
              <a:t>S</a:t>
            </a:r>
            <a:r>
              <a:rPr spc="-170" dirty="0"/>
              <a:t>F</a:t>
            </a:r>
            <a:r>
              <a:rPr spc="-220" dirty="0"/>
              <a:t>O</a:t>
            </a:r>
            <a:r>
              <a:rPr spc="-200" dirty="0"/>
              <a:t>R</a:t>
            </a:r>
            <a:r>
              <a:rPr spc="-254" dirty="0"/>
              <a:t>M</a:t>
            </a:r>
            <a:r>
              <a:rPr spc="-185" dirty="0"/>
              <a:t>A</a:t>
            </a:r>
            <a:r>
              <a:rPr spc="-210" dirty="0"/>
              <a:t>S</a:t>
            </a:r>
            <a:r>
              <a:rPr spc="-80" dirty="0"/>
              <a:t>I</a:t>
            </a:r>
            <a:r>
              <a:rPr spc="-190" dirty="0"/>
              <a:t> </a:t>
            </a:r>
            <a:r>
              <a:rPr spc="-175" dirty="0"/>
              <a:t>D</a:t>
            </a:r>
            <a:r>
              <a:rPr spc="-105" dirty="0"/>
              <a:t>-</a:t>
            </a:r>
            <a:r>
              <a:rPr spc="-185" dirty="0"/>
              <a:t>E</a:t>
            </a:r>
            <a:r>
              <a:rPr spc="-204" dirty="0"/>
              <a:t>R</a:t>
            </a:r>
            <a:r>
              <a:rPr spc="-105" dirty="0"/>
              <a:t> </a:t>
            </a:r>
            <a:r>
              <a:rPr spc="-185" dirty="0"/>
              <a:t>K</a:t>
            </a:r>
            <a:r>
              <a:rPr spc="-190" dirty="0"/>
              <a:t>E</a:t>
            </a:r>
            <a:r>
              <a:rPr spc="-105" dirty="0"/>
              <a:t> </a:t>
            </a:r>
            <a:r>
              <a:rPr spc="-155" dirty="0"/>
              <a:t>L</a:t>
            </a:r>
            <a:r>
              <a:rPr spc="-200" dirty="0"/>
              <a:t>R</a:t>
            </a:r>
            <a:r>
              <a:rPr spc="-190" dirty="0"/>
              <a: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3320" y="1223010"/>
            <a:ext cx="2079625" cy="270510"/>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Times New Roman"/>
                <a:cs typeface="Times New Roman"/>
              </a:rPr>
              <a:t>T</a:t>
            </a:r>
            <a:r>
              <a:rPr sz="1600" b="1" spc="-5" dirty="0">
                <a:latin typeface="Times New Roman"/>
                <a:cs typeface="Times New Roman"/>
              </a:rPr>
              <a:t>RANS</a:t>
            </a:r>
            <a:r>
              <a:rPr sz="1600" b="1" spc="5" dirty="0">
                <a:latin typeface="Times New Roman"/>
                <a:cs typeface="Times New Roman"/>
              </a:rPr>
              <a:t>FO</a:t>
            </a:r>
            <a:r>
              <a:rPr sz="1600" b="1" spc="-10" dirty="0">
                <a:latin typeface="Times New Roman"/>
                <a:cs typeface="Times New Roman"/>
              </a:rPr>
              <a:t>R</a:t>
            </a:r>
            <a:r>
              <a:rPr sz="1600" b="1" spc="-5" dirty="0">
                <a:latin typeface="Times New Roman"/>
                <a:cs typeface="Times New Roman"/>
              </a:rPr>
              <a:t>M</a:t>
            </a:r>
            <a:r>
              <a:rPr sz="1600" b="1" spc="-10" dirty="0">
                <a:latin typeface="Times New Roman"/>
                <a:cs typeface="Times New Roman"/>
              </a:rPr>
              <a:t>AS</a:t>
            </a:r>
            <a:r>
              <a:rPr sz="1600" b="1" dirty="0">
                <a:latin typeface="Times New Roman"/>
                <a:cs typeface="Times New Roman"/>
              </a:rPr>
              <a:t>I</a:t>
            </a:r>
            <a:r>
              <a:rPr sz="1600" b="1" spc="-70" dirty="0">
                <a:latin typeface="Times New Roman"/>
                <a:cs typeface="Times New Roman"/>
              </a:rPr>
              <a:t> </a:t>
            </a:r>
            <a:r>
              <a:rPr sz="1600" b="1" spc="5" dirty="0">
                <a:latin typeface="Times New Roman"/>
                <a:cs typeface="Times New Roman"/>
              </a:rPr>
              <a:t>1</a:t>
            </a:r>
            <a:r>
              <a:rPr sz="1600" b="1" spc="-10" dirty="0">
                <a:latin typeface="Times New Roman"/>
                <a:cs typeface="Times New Roman"/>
              </a:rPr>
              <a:t>:</a:t>
            </a:r>
            <a:r>
              <a:rPr sz="1600" b="1" spc="5" dirty="0">
                <a:latin typeface="Times New Roman"/>
                <a:cs typeface="Times New Roman"/>
              </a:rPr>
              <a:t>M</a:t>
            </a:r>
            <a:endParaRPr sz="1600">
              <a:latin typeface="Times New Roman"/>
              <a:cs typeface="Times New Roman"/>
            </a:endParaRPr>
          </a:p>
        </p:txBody>
      </p:sp>
      <p:sp>
        <p:nvSpPr>
          <p:cNvPr id="3" name="object 3"/>
          <p:cNvSpPr txBox="1"/>
          <p:nvPr/>
        </p:nvSpPr>
        <p:spPr>
          <a:xfrm>
            <a:off x="3507485" y="1223010"/>
            <a:ext cx="1462405" cy="270510"/>
          </a:xfrm>
          <a:prstGeom prst="rect">
            <a:avLst/>
          </a:prstGeom>
        </p:spPr>
        <p:txBody>
          <a:bodyPr vert="horz" wrap="square" lIns="0" tIns="13335" rIns="0" bIns="0" rtlCol="0">
            <a:spAutoFit/>
          </a:bodyPr>
          <a:lstStyle/>
          <a:p>
            <a:pPr marL="12700">
              <a:lnSpc>
                <a:spcPct val="100000"/>
              </a:lnSpc>
              <a:spcBef>
                <a:spcPts val="105"/>
              </a:spcBef>
            </a:pPr>
            <a:r>
              <a:rPr sz="1600" spc="-10" dirty="0">
                <a:latin typeface="Times New Roman"/>
                <a:cs typeface="Times New Roman"/>
              </a:rPr>
              <a:t>ONE-TO-MANY</a:t>
            </a:r>
            <a:endParaRPr sz="1600">
              <a:latin typeface="Times New Roman"/>
              <a:cs typeface="Times New Roman"/>
            </a:endParaRPr>
          </a:p>
        </p:txBody>
      </p:sp>
      <p:sp>
        <p:nvSpPr>
          <p:cNvPr id="4" name="object 4"/>
          <p:cNvSpPr txBox="1"/>
          <p:nvPr/>
        </p:nvSpPr>
        <p:spPr>
          <a:xfrm>
            <a:off x="763320" y="2442718"/>
            <a:ext cx="2402840" cy="270510"/>
          </a:xfrm>
          <a:prstGeom prst="rect">
            <a:avLst/>
          </a:prstGeom>
        </p:spPr>
        <p:txBody>
          <a:bodyPr vert="horz" wrap="square" lIns="0" tIns="13335" rIns="0" bIns="0" rtlCol="0">
            <a:spAutoFit/>
          </a:bodyPr>
          <a:lstStyle/>
          <a:p>
            <a:pPr marL="12700">
              <a:lnSpc>
                <a:spcPct val="100000"/>
              </a:lnSpc>
              <a:spcBef>
                <a:spcPts val="105"/>
              </a:spcBef>
            </a:pPr>
            <a:r>
              <a:rPr sz="1600" spc="-20" dirty="0">
                <a:latin typeface="Times New Roman"/>
                <a:cs typeface="Times New Roman"/>
              </a:rPr>
              <a:t>SELALU</a:t>
            </a:r>
            <a:r>
              <a:rPr sz="1600" spc="20" dirty="0">
                <a:latin typeface="Times New Roman"/>
                <a:cs typeface="Times New Roman"/>
              </a:rPr>
              <a:t> </a:t>
            </a:r>
            <a:r>
              <a:rPr sz="1600" spc="-15" dirty="0">
                <a:latin typeface="Times New Roman"/>
                <a:cs typeface="Times New Roman"/>
              </a:rPr>
              <a:t>KE</a:t>
            </a:r>
            <a:r>
              <a:rPr sz="1600" spc="-80" dirty="0">
                <a:latin typeface="Times New Roman"/>
                <a:cs typeface="Times New Roman"/>
              </a:rPr>
              <a:t> </a:t>
            </a:r>
            <a:r>
              <a:rPr sz="1600" spc="-15" dirty="0">
                <a:latin typeface="Times New Roman"/>
                <a:cs typeface="Times New Roman"/>
              </a:rPr>
              <a:t>ARAH</a:t>
            </a:r>
            <a:r>
              <a:rPr sz="1600" dirty="0">
                <a:latin typeface="Times New Roman"/>
                <a:cs typeface="Times New Roman"/>
              </a:rPr>
              <a:t> </a:t>
            </a:r>
            <a:r>
              <a:rPr sz="1600" spc="-5" dirty="0">
                <a:latin typeface="Times New Roman"/>
                <a:cs typeface="Times New Roman"/>
              </a:rPr>
              <a:t>MANY</a:t>
            </a:r>
            <a:endParaRPr sz="1600">
              <a:latin typeface="Times New Roman"/>
              <a:cs typeface="Times New Roman"/>
            </a:endParaRPr>
          </a:p>
        </p:txBody>
      </p:sp>
      <p:sp>
        <p:nvSpPr>
          <p:cNvPr id="5" name="object 5"/>
          <p:cNvSpPr txBox="1"/>
          <p:nvPr/>
        </p:nvSpPr>
        <p:spPr>
          <a:xfrm>
            <a:off x="763320" y="4150309"/>
            <a:ext cx="6700520" cy="1002665"/>
          </a:xfrm>
          <a:prstGeom prst="rect">
            <a:avLst/>
          </a:prstGeom>
        </p:spPr>
        <p:txBody>
          <a:bodyPr vert="horz" wrap="square" lIns="0" tIns="13970" rIns="0" bIns="0" rtlCol="0">
            <a:spAutoFit/>
          </a:bodyPr>
          <a:lstStyle/>
          <a:p>
            <a:pPr marL="12700">
              <a:lnSpc>
                <a:spcPct val="100000"/>
              </a:lnSpc>
              <a:spcBef>
                <a:spcPts val="110"/>
              </a:spcBef>
            </a:pPr>
            <a:r>
              <a:rPr sz="1600" spc="-5" dirty="0">
                <a:latin typeface="Times New Roman"/>
                <a:cs typeface="Times New Roman"/>
              </a:rPr>
              <a:t>PEDOMAN</a:t>
            </a:r>
            <a:r>
              <a:rPr sz="1600" spc="-90" dirty="0">
                <a:latin typeface="Times New Roman"/>
                <a:cs typeface="Times New Roman"/>
              </a:rPr>
              <a:t> </a:t>
            </a:r>
            <a:r>
              <a:rPr sz="1600" spc="-15" dirty="0">
                <a:latin typeface="Times New Roman"/>
                <a:cs typeface="Times New Roman"/>
              </a:rPr>
              <a:t>PENGGABUNGAN</a:t>
            </a:r>
            <a:endParaRPr sz="1600">
              <a:latin typeface="Times New Roman"/>
              <a:cs typeface="Times New Roman"/>
            </a:endParaRPr>
          </a:p>
          <a:p>
            <a:pPr>
              <a:lnSpc>
                <a:spcPct val="100000"/>
              </a:lnSpc>
              <a:spcBef>
                <a:spcPts val="20"/>
              </a:spcBef>
            </a:pPr>
            <a:endParaRPr sz="1650">
              <a:latin typeface="Times New Roman"/>
              <a:cs typeface="Times New Roman"/>
            </a:endParaRPr>
          </a:p>
          <a:p>
            <a:pPr marL="585470" indent="-381635">
              <a:lnSpc>
                <a:spcPct val="100000"/>
              </a:lnSpc>
              <a:buFont typeface="Wingdings"/>
              <a:buChar char=""/>
              <a:tabLst>
                <a:tab pos="585470" algn="l"/>
                <a:tab pos="586105" algn="l"/>
              </a:tabLst>
            </a:pPr>
            <a:r>
              <a:rPr sz="1600" spc="-25" dirty="0">
                <a:latin typeface="Times New Roman"/>
                <a:cs typeface="Times New Roman"/>
              </a:rPr>
              <a:t>TIDAK</a:t>
            </a:r>
            <a:r>
              <a:rPr sz="1600" spc="70" dirty="0">
                <a:latin typeface="Times New Roman"/>
                <a:cs typeface="Times New Roman"/>
              </a:rPr>
              <a:t> </a:t>
            </a:r>
            <a:r>
              <a:rPr sz="1600" spc="-10" dirty="0">
                <a:latin typeface="Times New Roman"/>
                <a:cs typeface="Times New Roman"/>
              </a:rPr>
              <a:t>PERLU</a:t>
            </a:r>
            <a:r>
              <a:rPr sz="1600" spc="5" dirty="0">
                <a:latin typeface="Times New Roman"/>
                <a:cs typeface="Times New Roman"/>
              </a:rPr>
              <a:t> </a:t>
            </a:r>
            <a:r>
              <a:rPr sz="1600" spc="-40" dirty="0">
                <a:latin typeface="Times New Roman"/>
                <a:cs typeface="Times New Roman"/>
              </a:rPr>
              <a:t>MELIHAT</a:t>
            </a:r>
            <a:r>
              <a:rPr sz="1600" spc="40" dirty="0">
                <a:latin typeface="Times New Roman"/>
                <a:cs typeface="Times New Roman"/>
              </a:rPr>
              <a:t> </a:t>
            </a:r>
            <a:r>
              <a:rPr sz="1600" spc="-15" dirty="0">
                <a:latin typeface="Times New Roman"/>
                <a:cs typeface="Times New Roman"/>
              </a:rPr>
              <a:t>JUMLAH</a:t>
            </a:r>
            <a:r>
              <a:rPr sz="1600" spc="-45" dirty="0">
                <a:latin typeface="Times New Roman"/>
                <a:cs typeface="Times New Roman"/>
              </a:rPr>
              <a:t> </a:t>
            </a:r>
            <a:r>
              <a:rPr sz="1600" spc="-40" dirty="0">
                <a:latin typeface="Times New Roman"/>
                <a:cs typeface="Times New Roman"/>
              </a:rPr>
              <a:t>ATRIBUT</a:t>
            </a:r>
            <a:r>
              <a:rPr sz="1600" spc="-35" dirty="0">
                <a:latin typeface="Times New Roman"/>
                <a:cs typeface="Times New Roman"/>
              </a:rPr>
              <a:t> </a:t>
            </a:r>
            <a:r>
              <a:rPr sz="1600" spc="-55" dirty="0">
                <a:latin typeface="Times New Roman"/>
                <a:cs typeface="Times New Roman"/>
              </a:rPr>
              <a:t>YANG</a:t>
            </a:r>
            <a:r>
              <a:rPr sz="1600" spc="5" dirty="0">
                <a:latin typeface="Times New Roman"/>
                <a:cs typeface="Times New Roman"/>
              </a:rPr>
              <a:t> </a:t>
            </a:r>
            <a:r>
              <a:rPr sz="1600" spc="-20" dirty="0">
                <a:latin typeface="Times New Roman"/>
                <a:cs typeface="Times New Roman"/>
              </a:rPr>
              <a:t>LEBIH</a:t>
            </a:r>
            <a:r>
              <a:rPr sz="1600" spc="55" dirty="0">
                <a:latin typeface="Times New Roman"/>
                <a:cs typeface="Times New Roman"/>
              </a:rPr>
              <a:t> </a:t>
            </a:r>
            <a:r>
              <a:rPr sz="1600" spc="-15" dirty="0">
                <a:latin typeface="Times New Roman"/>
                <a:cs typeface="Times New Roman"/>
              </a:rPr>
              <a:t>SEDIKIT</a:t>
            </a:r>
            <a:endParaRPr sz="1600">
              <a:latin typeface="Times New Roman"/>
              <a:cs typeface="Times New Roman"/>
            </a:endParaRPr>
          </a:p>
          <a:p>
            <a:pPr marL="588645" indent="-384810">
              <a:lnSpc>
                <a:spcPct val="100000"/>
              </a:lnSpc>
              <a:spcBef>
                <a:spcPts val="5"/>
              </a:spcBef>
              <a:buFont typeface="Wingdings"/>
              <a:buChar char=""/>
              <a:tabLst>
                <a:tab pos="588645" algn="l"/>
                <a:tab pos="589280" algn="l"/>
              </a:tabLst>
            </a:pPr>
            <a:r>
              <a:rPr sz="1600" spc="-5" dirty="0">
                <a:latin typeface="Times New Roman"/>
                <a:cs typeface="Times New Roman"/>
              </a:rPr>
              <a:t>S</a:t>
            </a:r>
            <a:r>
              <a:rPr sz="1600" spc="5" dirty="0">
                <a:latin typeface="Times New Roman"/>
                <a:cs typeface="Times New Roman"/>
              </a:rPr>
              <a:t>E</a:t>
            </a:r>
            <a:r>
              <a:rPr sz="1600" spc="-45" dirty="0">
                <a:latin typeface="Times New Roman"/>
                <a:cs typeface="Times New Roman"/>
              </a:rPr>
              <a:t>L</a:t>
            </a:r>
            <a:r>
              <a:rPr sz="1600" spc="-35" dirty="0">
                <a:latin typeface="Times New Roman"/>
                <a:cs typeface="Times New Roman"/>
              </a:rPr>
              <a:t>A</a:t>
            </a:r>
            <a:r>
              <a:rPr sz="1600" spc="-45" dirty="0">
                <a:latin typeface="Times New Roman"/>
                <a:cs typeface="Times New Roman"/>
              </a:rPr>
              <a:t>L</a:t>
            </a:r>
            <a:r>
              <a:rPr sz="1600" spc="5" dirty="0">
                <a:latin typeface="Times New Roman"/>
                <a:cs typeface="Times New Roman"/>
              </a:rPr>
              <a:t>U</a:t>
            </a:r>
            <a:r>
              <a:rPr sz="1600" spc="65" dirty="0">
                <a:latin typeface="Times New Roman"/>
                <a:cs typeface="Times New Roman"/>
              </a:rPr>
              <a:t> </a:t>
            </a:r>
            <a:r>
              <a:rPr sz="1600" spc="-10" dirty="0">
                <a:latin typeface="Times New Roman"/>
                <a:cs typeface="Times New Roman"/>
              </a:rPr>
              <a:t>D</a:t>
            </a:r>
            <a:r>
              <a:rPr sz="1600" spc="-60" dirty="0">
                <a:latin typeface="Times New Roman"/>
                <a:cs typeface="Times New Roman"/>
              </a:rPr>
              <a:t>I</a:t>
            </a:r>
            <a:r>
              <a:rPr sz="1600" spc="-35" dirty="0">
                <a:latin typeface="Times New Roman"/>
                <a:cs typeface="Times New Roman"/>
              </a:rPr>
              <a:t>GA</a:t>
            </a:r>
            <a:r>
              <a:rPr sz="1600" spc="5" dirty="0">
                <a:latin typeface="Times New Roman"/>
                <a:cs typeface="Times New Roman"/>
              </a:rPr>
              <a:t>B</a:t>
            </a:r>
            <a:r>
              <a:rPr sz="1600" spc="-10" dirty="0">
                <a:latin typeface="Times New Roman"/>
                <a:cs typeface="Times New Roman"/>
              </a:rPr>
              <a:t>UN</a:t>
            </a:r>
            <a:r>
              <a:rPr sz="1600" spc="5" dirty="0">
                <a:latin typeface="Times New Roman"/>
                <a:cs typeface="Times New Roman"/>
              </a:rPr>
              <a:t>G</a:t>
            </a:r>
            <a:r>
              <a:rPr sz="1600" spc="65" dirty="0">
                <a:latin typeface="Times New Roman"/>
                <a:cs typeface="Times New Roman"/>
              </a:rPr>
              <a:t> </a:t>
            </a:r>
            <a:r>
              <a:rPr sz="1600" spc="-35" dirty="0">
                <a:latin typeface="Times New Roman"/>
                <a:cs typeface="Times New Roman"/>
              </a:rPr>
              <a:t>K</a:t>
            </a:r>
            <a:r>
              <a:rPr sz="1600" spc="5" dirty="0">
                <a:latin typeface="Times New Roman"/>
                <a:cs typeface="Times New Roman"/>
              </a:rPr>
              <a:t>E</a:t>
            </a:r>
            <a:r>
              <a:rPr sz="1600" spc="-90" dirty="0">
                <a:latin typeface="Times New Roman"/>
                <a:cs typeface="Times New Roman"/>
              </a:rPr>
              <a:t> </a:t>
            </a:r>
            <a:r>
              <a:rPr sz="1600" spc="-35" dirty="0">
                <a:latin typeface="Times New Roman"/>
                <a:cs typeface="Times New Roman"/>
              </a:rPr>
              <a:t>A</a:t>
            </a:r>
            <a:r>
              <a:rPr sz="1600" spc="5" dirty="0">
                <a:latin typeface="Times New Roman"/>
                <a:cs typeface="Times New Roman"/>
              </a:rPr>
              <a:t>R</a:t>
            </a:r>
            <a:r>
              <a:rPr sz="1600" spc="-35" dirty="0">
                <a:latin typeface="Times New Roman"/>
                <a:cs typeface="Times New Roman"/>
              </a:rPr>
              <a:t>A</a:t>
            </a:r>
            <a:r>
              <a:rPr sz="1600" spc="5" dirty="0">
                <a:latin typeface="Times New Roman"/>
                <a:cs typeface="Times New Roman"/>
              </a:rPr>
              <a:t>H</a:t>
            </a:r>
            <a:r>
              <a:rPr sz="1600" spc="15" dirty="0">
                <a:latin typeface="Times New Roman"/>
                <a:cs typeface="Times New Roman"/>
              </a:rPr>
              <a:t> </a:t>
            </a:r>
            <a:r>
              <a:rPr sz="1600" spc="10" dirty="0">
                <a:latin typeface="Times New Roman"/>
                <a:cs typeface="Times New Roman"/>
              </a:rPr>
              <a:t>M</a:t>
            </a:r>
            <a:r>
              <a:rPr sz="1600" spc="-35" dirty="0">
                <a:latin typeface="Times New Roman"/>
                <a:cs typeface="Times New Roman"/>
              </a:rPr>
              <a:t>A</a:t>
            </a:r>
            <a:r>
              <a:rPr sz="1600" spc="-10" dirty="0">
                <a:latin typeface="Times New Roman"/>
                <a:cs typeface="Times New Roman"/>
              </a:rPr>
              <a:t>N</a:t>
            </a:r>
            <a:r>
              <a:rPr sz="1600" spc="5" dirty="0">
                <a:latin typeface="Times New Roman"/>
                <a:cs typeface="Times New Roman"/>
              </a:rPr>
              <a:t>Y</a:t>
            </a:r>
            <a:endParaRPr sz="1600">
              <a:latin typeface="Times New Roman"/>
              <a:cs typeface="Times New Roman"/>
            </a:endParaRPr>
          </a:p>
        </p:txBody>
      </p:sp>
      <p:grpSp>
        <p:nvGrpSpPr>
          <p:cNvPr id="6" name="object 6"/>
          <p:cNvGrpSpPr/>
          <p:nvPr/>
        </p:nvGrpSpPr>
        <p:grpSpPr>
          <a:xfrm>
            <a:off x="4716526" y="1562861"/>
            <a:ext cx="2573655" cy="1099820"/>
            <a:chOff x="4716526" y="1562861"/>
            <a:chExt cx="2573655" cy="1099820"/>
          </a:xfrm>
        </p:grpSpPr>
        <p:sp>
          <p:nvSpPr>
            <p:cNvPr id="7" name="object 7"/>
            <p:cNvSpPr/>
            <p:nvPr/>
          </p:nvSpPr>
          <p:spPr>
            <a:xfrm>
              <a:off x="4722876" y="1569211"/>
              <a:ext cx="2560955" cy="1087120"/>
            </a:xfrm>
            <a:custGeom>
              <a:avLst/>
              <a:gdLst/>
              <a:ahLst/>
              <a:cxnLst/>
              <a:rect l="l" t="t" r="r" b="b"/>
              <a:pathLst>
                <a:path w="2560954" h="1087120">
                  <a:moveTo>
                    <a:pt x="0" y="543433"/>
                  </a:moveTo>
                  <a:lnTo>
                    <a:pt x="6609" y="487853"/>
                  </a:lnTo>
                  <a:lnTo>
                    <a:pt x="26008" y="433884"/>
                  </a:lnTo>
                  <a:lnTo>
                    <a:pt x="57554" y="381796"/>
                  </a:lnTo>
                  <a:lnTo>
                    <a:pt x="100603" y="331862"/>
                  </a:lnTo>
                  <a:lnTo>
                    <a:pt x="154513" y="284357"/>
                  </a:lnTo>
                  <a:lnTo>
                    <a:pt x="185339" y="261599"/>
                  </a:lnTo>
                  <a:lnTo>
                    <a:pt x="218638" y="239551"/>
                  </a:lnTo>
                  <a:lnTo>
                    <a:pt x="254332" y="218246"/>
                  </a:lnTo>
                  <a:lnTo>
                    <a:pt x="292338" y="197718"/>
                  </a:lnTo>
                  <a:lnTo>
                    <a:pt x="332576" y="178001"/>
                  </a:lnTo>
                  <a:lnTo>
                    <a:pt x="374967" y="159130"/>
                  </a:lnTo>
                  <a:lnTo>
                    <a:pt x="419429" y="141139"/>
                  </a:lnTo>
                  <a:lnTo>
                    <a:pt x="465883" y="124061"/>
                  </a:lnTo>
                  <a:lnTo>
                    <a:pt x="514248" y="107932"/>
                  </a:lnTo>
                  <a:lnTo>
                    <a:pt x="564443" y="92783"/>
                  </a:lnTo>
                  <a:lnTo>
                    <a:pt x="616388" y="78651"/>
                  </a:lnTo>
                  <a:lnTo>
                    <a:pt x="670002" y="65569"/>
                  </a:lnTo>
                  <a:lnTo>
                    <a:pt x="725206" y="53571"/>
                  </a:lnTo>
                  <a:lnTo>
                    <a:pt x="781919" y="42691"/>
                  </a:lnTo>
                  <a:lnTo>
                    <a:pt x="840060" y="32964"/>
                  </a:lnTo>
                  <a:lnTo>
                    <a:pt x="899549" y="24423"/>
                  </a:lnTo>
                  <a:lnTo>
                    <a:pt x="960305" y="17102"/>
                  </a:lnTo>
                  <a:lnTo>
                    <a:pt x="1022249" y="11036"/>
                  </a:lnTo>
                  <a:lnTo>
                    <a:pt x="1085299" y="6259"/>
                  </a:lnTo>
                  <a:lnTo>
                    <a:pt x="1149376" y="2804"/>
                  </a:lnTo>
                  <a:lnTo>
                    <a:pt x="1214398" y="706"/>
                  </a:lnTo>
                  <a:lnTo>
                    <a:pt x="1280287" y="0"/>
                  </a:lnTo>
                  <a:lnTo>
                    <a:pt x="1346163" y="706"/>
                  </a:lnTo>
                  <a:lnTo>
                    <a:pt x="1411176" y="2804"/>
                  </a:lnTo>
                  <a:lnTo>
                    <a:pt x="1475244" y="6259"/>
                  </a:lnTo>
                  <a:lnTo>
                    <a:pt x="1538288" y="11036"/>
                  </a:lnTo>
                  <a:lnTo>
                    <a:pt x="1600225" y="17102"/>
                  </a:lnTo>
                  <a:lnTo>
                    <a:pt x="1660977" y="24423"/>
                  </a:lnTo>
                  <a:lnTo>
                    <a:pt x="1720462" y="32964"/>
                  </a:lnTo>
                  <a:lnTo>
                    <a:pt x="1778601" y="42691"/>
                  </a:lnTo>
                  <a:lnTo>
                    <a:pt x="1835312" y="53571"/>
                  </a:lnTo>
                  <a:lnTo>
                    <a:pt x="1890515" y="65569"/>
                  </a:lnTo>
                  <a:lnTo>
                    <a:pt x="1944129" y="78651"/>
                  </a:lnTo>
                  <a:lnTo>
                    <a:pt x="1996075" y="92783"/>
                  </a:lnTo>
                  <a:lnTo>
                    <a:pt x="2046271" y="107932"/>
                  </a:lnTo>
                  <a:lnTo>
                    <a:pt x="2094637" y="124061"/>
                  </a:lnTo>
                  <a:lnTo>
                    <a:pt x="2141093" y="141139"/>
                  </a:lnTo>
                  <a:lnTo>
                    <a:pt x="2185558" y="159131"/>
                  </a:lnTo>
                  <a:lnTo>
                    <a:pt x="2227952" y="178001"/>
                  </a:lnTo>
                  <a:lnTo>
                    <a:pt x="2268194" y="197718"/>
                  </a:lnTo>
                  <a:lnTo>
                    <a:pt x="2306204" y="218246"/>
                  </a:lnTo>
                  <a:lnTo>
                    <a:pt x="2341901" y="239551"/>
                  </a:lnTo>
                  <a:lnTo>
                    <a:pt x="2375205" y="261599"/>
                  </a:lnTo>
                  <a:lnTo>
                    <a:pt x="2406035" y="284357"/>
                  </a:lnTo>
                  <a:lnTo>
                    <a:pt x="2459952" y="331862"/>
                  </a:lnTo>
                  <a:lnTo>
                    <a:pt x="2503008" y="381796"/>
                  </a:lnTo>
                  <a:lnTo>
                    <a:pt x="2534560" y="433884"/>
                  </a:lnTo>
                  <a:lnTo>
                    <a:pt x="2553963" y="487853"/>
                  </a:lnTo>
                  <a:lnTo>
                    <a:pt x="2560574" y="543433"/>
                  </a:lnTo>
                  <a:lnTo>
                    <a:pt x="2558907" y="571395"/>
                  </a:lnTo>
                  <a:lnTo>
                    <a:pt x="2553963" y="598991"/>
                  </a:lnTo>
                  <a:lnTo>
                    <a:pt x="2534560" y="652945"/>
                  </a:lnTo>
                  <a:lnTo>
                    <a:pt x="2503008" y="705022"/>
                  </a:lnTo>
                  <a:lnTo>
                    <a:pt x="2459952" y="754949"/>
                  </a:lnTo>
                  <a:lnTo>
                    <a:pt x="2406035" y="802452"/>
                  </a:lnTo>
                  <a:lnTo>
                    <a:pt x="2375205" y="825210"/>
                  </a:lnTo>
                  <a:lnTo>
                    <a:pt x="2341901" y="847258"/>
                  </a:lnTo>
                  <a:lnTo>
                    <a:pt x="2306204" y="868565"/>
                  </a:lnTo>
                  <a:lnTo>
                    <a:pt x="2268194" y="889094"/>
                  </a:lnTo>
                  <a:lnTo>
                    <a:pt x="2227952" y="908813"/>
                  </a:lnTo>
                  <a:lnTo>
                    <a:pt x="2185558" y="927687"/>
                  </a:lnTo>
                  <a:lnTo>
                    <a:pt x="2141093" y="945681"/>
                  </a:lnTo>
                  <a:lnTo>
                    <a:pt x="2094637" y="962763"/>
                  </a:lnTo>
                  <a:lnTo>
                    <a:pt x="2046271" y="978896"/>
                  </a:lnTo>
                  <a:lnTo>
                    <a:pt x="1996075" y="994048"/>
                  </a:lnTo>
                  <a:lnTo>
                    <a:pt x="1944129" y="1008184"/>
                  </a:lnTo>
                  <a:lnTo>
                    <a:pt x="1890515" y="1021270"/>
                  </a:lnTo>
                  <a:lnTo>
                    <a:pt x="1835312" y="1033272"/>
                  </a:lnTo>
                  <a:lnTo>
                    <a:pt x="1778601" y="1044156"/>
                  </a:lnTo>
                  <a:lnTo>
                    <a:pt x="1720462" y="1053887"/>
                  </a:lnTo>
                  <a:lnTo>
                    <a:pt x="1660977" y="1062431"/>
                  </a:lnTo>
                  <a:lnTo>
                    <a:pt x="1600225" y="1069755"/>
                  </a:lnTo>
                  <a:lnTo>
                    <a:pt x="1538288" y="1075824"/>
                  </a:lnTo>
                  <a:lnTo>
                    <a:pt x="1475244" y="1080603"/>
                  </a:lnTo>
                  <a:lnTo>
                    <a:pt x="1411176" y="1084060"/>
                  </a:lnTo>
                  <a:lnTo>
                    <a:pt x="1346163" y="1086158"/>
                  </a:lnTo>
                  <a:lnTo>
                    <a:pt x="1280287" y="1086865"/>
                  </a:lnTo>
                  <a:lnTo>
                    <a:pt x="1214398" y="1086158"/>
                  </a:lnTo>
                  <a:lnTo>
                    <a:pt x="1149376" y="1084060"/>
                  </a:lnTo>
                  <a:lnTo>
                    <a:pt x="1085299" y="1080603"/>
                  </a:lnTo>
                  <a:lnTo>
                    <a:pt x="1022249" y="1075824"/>
                  </a:lnTo>
                  <a:lnTo>
                    <a:pt x="960305" y="1069755"/>
                  </a:lnTo>
                  <a:lnTo>
                    <a:pt x="899549" y="1062431"/>
                  </a:lnTo>
                  <a:lnTo>
                    <a:pt x="840060" y="1053887"/>
                  </a:lnTo>
                  <a:lnTo>
                    <a:pt x="781919" y="1044156"/>
                  </a:lnTo>
                  <a:lnTo>
                    <a:pt x="725206" y="1033272"/>
                  </a:lnTo>
                  <a:lnTo>
                    <a:pt x="670002" y="1021270"/>
                  </a:lnTo>
                  <a:lnTo>
                    <a:pt x="616388" y="1008184"/>
                  </a:lnTo>
                  <a:lnTo>
                    <a:pt x="564443" y="994048"/>
                  </a:lnTo>
                  <a:lnTo>
                    <a:pt x="514248" y="978896"/>
                  </a:lnTo>
                  <a:lnTo>
                    <a:pt x="465883" y="962763"/>
                  </a:lnTo>
                  <a:lnTo>
                    <a:pt x="419429" y="945681"/>
                  </a:lnTo>
                  <a:lnTo>
                    <a:pt x="374967" y="927687"/>
                  </a:lnTo>
                  <a:lnTo>
                    <a:pt x="332576" y="908813"/>
                  </a:lnTo>
                  <a:lnTo>
                    <a:pt x="292338" y="889094"/>
                  </a:lnTo>
                  <a:lnTo>
                    <a:pt x="254332" y="868565"/>
                  </a:lnTo>
                  <a:lnTo>
                    <a:pt x="218638" y="847258"/>
                  </a:lnTo>
                  <a:lnTo>
                    <a:pt x="185339" y="825210"/>
                  </a:lnTo>
                  <a:lnTo>
                    <a:pt x="154513" y="802452"/>
                  </a:lnTo>
                  <a:lnTo>
                    <a:pt x="100603" y="754949"/>
                  </a:lnTo>
                  <a:lnTo>
                    <a:pt x="57554" y="705022"/>
                  </a:lnTo>
                  <a:lnTo>
                    <a:pt x="26008" y="652945"/>
                  </a:lnTo>
                  <a:lnTo>
                    <a:pt x="6609" y="598991"/>
                  </a:lnTo>
                  <a:lnTo>
                    <a:pt x="0" y="543433"/>
                  </a:lnTo>
                  <a:close/>
                </a:path>
              </a:pathLst>
            </a:custGeom>
            <a:ln w="12700">
              <a:solidFill>
                <a:srgbClr val="000000"/>
              </a:solidFill>
            </a:ln>
          </p:spPr>
          <p:txBody>
            <a:bodyPr wrap="square" lIns="0" tIns="0" rIns="0" bIns="0" rtlCol="0"/>
            <a:lstStyle/>
            <a:p>
              <a:endParaRPr/>
            </a:p>
          </p:txBody>
        </p:sp>
        <p:sp>
          <p:nvSpPr>
            <p:cNvPr id="8" name="object 8"/>
            <p:cNvSpPr/>
            <p:nvPr/>
          </p:nvSpPr>
          <p:spPr>
            <a:xfrm>
              <a:off x="5088001" y="1840928"/>
              <a:ext cx="915035" cy="453390"/>
            </a:xfrm>
            <a:custGeom>
              <a:avLst/>
              <a:gdLst/>
              <a:ahLst/>
              <a:cxnLst/>
              <a:rect l="l" t="t" r="r" b="b"/>
              <a:pathLst>
                <a:path w="915035" h="453389">
                  <a:moveTo>
                    <a:pt x="0" y="452945"/>
                  </a:moveTo>
                  <a:lnTo>
                    <a:pt x="915022" y="452945"/>
                  </a:lnTo>
                  <a:lnTo>
                    <a:pt x="915022" y="0"/>
                  </a:lnTo>
                  <a:lnTo>
                    <a:pt x="0" y="0"/>
                  </a:lnTo>
                  <a:lnTo>
                    <a:pt x="0" y="452945"/>
                  </a:lnTo>
                  <a:close/>
                </a:path>
              </a:pathLst>
            </a:custGeom>
            <a:ln w="12700">
              <a:solidFill>
                <a:srgbClr val="000000"/>
              </a:solidFill>
            </a:ln>
          </p:spPr>
          <p:txBody>
            <a:bodyPr wrap="square" lIns="0" tIns="0" rIns="0" bIns="0" rtlCol="0"/>
            <a:lstStyle/>
            <a:p>
              <a:endParaRPr/>
            </a:p>
          </p:txBody>
        </p:sp>
        <p:sp>
          <p:nvSpPr>
            <p:cNvPr id="9" name="object 9"/>
            <p:cNvSpPr/>
            <p:nvPr/>
          </p:nvSpPr>
          <p:spPr>
            <a:xfrm>
              <a:off x="6276594" y="1840864"/>
              <a:ext cx="915035" cy="543560"/>
            </a:xfrm>
            <a:custGeom>
              <a:avLst/>
              <a:gdLst/>
              <a:ahLst/>
              <a:cxnLst/>
              <a:rect l="l" t="t" r="r" b="b"/>
              <a:pathLst>
                <a:path w="915034" h="543560">
                  <a:moveTo>
                    <a:pt x="0" y="272034"/>
                  </a:moveTo>
                  <a:lnTo>
                    <a:pt x="457961" y="0"/>
                  </a:lnTo>
                </a:path>
                <a:path w="915034" h="543560">
                  <a:moveTo>
                    <a:pt x="457326" y="0"/>
                  </a:moveTo>
                  <a:lnTo>
                    <a:pt x="915034" y="272034"/>
                  </a:lnTo>
                </a:path>
                <a:path w="915034" h="543560">
                  <a:moveTo>
                    <a:pt x="0" y="271399"/>
                  </a:moveTo>
                  <a:lnTo>
                    <a:pt x="457961" y="543433"/>
                  </a:lnTo>
                </a:path>
                <a:path w="915034" h="543560">
                  <a:moveTo>
                    <a:pt x="457326" y="543433"/>
                  </a:moveTo>
                  <a:lnTo>
                    <a:pt x="915034" y="271399"/>
                  </a:lnTo>
                </a:path>
              </a:pathLst>
            </a:custGeom>
            <a:ln w="12700">
              <a:solidFill>
                <a:srgbClr val="000000"/>
              </a:solidFill>
            </a:ln>
          </p:spPr>
          <p:txBody>
            <a:bodyPr wrap="square" lIns="0" tIns="0" rIns="0" bIns="0" rtlCol="0"/>
            <a:lstStyle/>
            <a:p>
              <a:endParaRPr/>
            </a:p>
          </p:txBody>
        </p:sp>
      </p:grpSp>
      <p:sp>
        <p:nvSpPr>
          <p:cNvPr id="10" name="object 10"/>
          <p:cNvSpPr/>
          <p:nvPr/>
        </p:nvSpPr>
        <p:spPr>
          <a:xfrm>
            <a:off x="7465186" y="1840928"/>
            <a:ext cx="915669" cy="453390"/>
          </a:xfrm>
          <a:custGeom>
            <a:avLst/>
            <a:gdLst/>
            <a:ahLst/>
            <a:cxnLst/>
            <a:rect l="l" t="t" r="r" b="b"/>
            <a:pathLst>
              <a:path w="915670" h="453389">
                <a:moveTo>
                  <a:pt x="0" y="452945"/>
                </a:moveTo>
                <a:lnTo>
                  <a:pt x="915187" y="452945"/>
                </a:lnTo>
                <a:lnTo>
                  <a:pt x="915187" y="0"/>
                </a:lnTo>
                <a:lnTo>
                  <a:pt x="0" y="0"/>
                </a:lnTo>
                <a:lnTo>
                  <a:pt x="0" y="452945"/>
                </a:lnTo>
                <a:close/>
              </a:path>
            </a:pathLst>
          </a:custGeom>
          <a:ln w="12700">
            <a:solidFill>
              <a:srgbClr val="000000"/>
            </a:solidFill>
          </a:ln>
        </p:spPr>
        <p:txBody>
          <a:bodyPr wrap="square" lIns="0" tIns="0" rIns="0" bIns="0" rtlCol="0"/>
          <a:lstStyle/>
          <a:p>
            <a:endParaRPr/>
          </a:p>
        </p:txBody>
      </p:sp>
      <p:sp>
        <p:nvSpPr>
          <p:cNvPr id="11" name="object 11"/>
          <p:cNvSpPr txBox="1"/>
          <p:nvPr/>
        </p:nvSpPr>
        <p:spPr>
          <a:xfrm>
            <a:off x="5983223" y="1909699"/>
            <a:ext cx="313055" cy="238125"/>
          </a:xfrm>
          <a:prstGeom prst="rect">
            <a:avLst/>
          </a:prstGeom>
        </p:spPr>
        <p:txBody>
          <a:bodyPr vert="horz" wrap="square" lIns="0" tIns="11430" rIns="0" bIns="0" rtlCol="0">
            <a:spAutoFit/>
          </a:bodyPr>
          <a:lstStyle/>
          <a:p>
            <a:pPr marL="12700">
              <a:lnSpc>
                <a:spcPct val="100000"/>
              </a:lnSpc>
              <a:spcBef>
                <a:spcPts val="90"/>
              </a:spcBef>
            </a:pPr>
            <a:r>
              <a:rPr sz="1400" u="heavy" spc="-5" dirty="0">
                <a:uFill>
                  <a:solidFill>
                    <a:srgbClr val="000000"/>
                  </a:solidFill>
                </a:uFill>
                <a:latin typeface="Times New Roman"/>
                <a:cs typeface="Times New Roman"/>
              </a:rPr>
              <a:t> </a:t>
            </a:r>
            <a:r>
              <a:rPr sz="1400" u="heavy" spc="-175" dirty="0">
                <a:uFill>
                  <a:solidFill>
                    <a:srgbClr val="000000"/>
                  </a:solidFill>
                </a:uFill>
                <a:latin typeface="Times New Roman"/>
                <a:cs typeface="Times New Roman"/>
              </a:rPr>
              <a:t> </a:t>
            </a:r>
            <a:r>
              <a:rPr sz="1400" u="heavy" spc="-10" dirty="0">
                <a:uFill>
                  <a:solidFill>
                    <a:srgbClr val="000000"/>
                  </a:solidFill>
                </a:uFill>
                <a:latin typeface="Times New Roman"/>
                <a:cs typeface="Times New Roman"/>
              </a:rPr>
              <a:t>M</a:t>
            </a:r>
            <a:r>
              <a:rPr sz="1400" u="heavy" spc="150" dirty="0">
                <a:uFill>
                  <a:solidFill>
                    <a:srgbClr val="000000"/>
                  </a:solidFill>
                </a:uFill>
                <a:latin typeface="Times New Roman"/>
                <a:cs typeface="Times New Roman"/>
              </a:rPr>
              <a:t> </a:t>
            </a:r>
            <a:endParaRPr sz="1400">
              <a:latin typeface="Times New Roman"/>
              <a:cs typeface="Times New Roman"/>
            </a:endParaRPr>
          </a:p>
        </p:txBody>
      </p:sp>
      <p:sp>
        <p:nvSpPr>
          <p:cNvPr id="12" name="object 12"/>
          <p:cNvSpPr txBox="1"/>
          <p:nvPr/>
        </p:nvSpPr>
        <p:spPr>
          <a:xfrm>
            <a:off x="7172070" y="1898345"/>
            <a:ext cx="313055" cy="238125"/>
          </a:xfrm>
          <a:prstGeom prst="rect">
            <a:avLst/>
          </a:prstGeom>
        </p:spPr>
        <p:txBody>
          <a:bodyPr vert="horz" wrap="square" lIns="0" tIns="12065" rIns="0" bIns="0" rtlCol="0">
            <a:spAutoFit/>
          </a:bodyPr>
          <a:lstStyle/>
          <a:p>
            <a:pPr marL="12700">
              <a:lnSpc>
                <a:spcPct val="100000"/>
              </a:lnSpc>
              <a:spcBef>
                <a:spcPts val="95"/>
              </a:spcBef>
            </a:pPr>
            <a:r>
              <a:rPr sz="1400" u="heavy" spc="-5" dirty="0">
                <a:uFill>
                  <a:solidFill>
                    <a:srgbClr val="000000"/>
                  </a:solidFill>
                </a:uFill>
                <a:latin typeface="Times New Roman"/>
                <a:cs typeface="Times New Roman"/>
              </a:rPr>
              <a:t>  </a:t>
            </a:r>
            <a:r>
              <a:rPr sz="1400" u="heavy" spc="114" dirty="0">
                <a:uFill>
                  <a:solidFill>
                    <a:srgbClr val="000000"/>
                  </a:solidFill>
                </a:uFill>
                <a:latin typeface="Times New Roman"/>
                <a:cs typeface="Times New Roman"/>
              </a:rPr>
              <a:t> </a:t>
            </a:r>
            <a:r>
              <a:rPr sz="1400" u="heavy" spc="-5" dirty="0">
                <a:uFill>
                  <a:solidFill>
                    <a:srgbClr val="000000"/>
                  </a:solidFill>
                </a:uFill>
                <a:latin typeface="Times New Roman"/>
                <a:cs typeface="Times New Roman"/>
              </a:rPr>
              <a:t>1</a:t>
            </a:r>
            <a:r>
              <a:rPr sz="1400" u="heavy" spc="50" dirty="0">
                <a:uFill>
                  <a:solidFill>
                    <a:srgbClr val="000000"/>
                  </a:solidFill>
                </a:uFill>
                <a:latin typeface="Times New Roman"/>
                <a:cs typeface="Times New Roman"/>
              </a:rPr>
              <a:t> </a:t>
            </a:r>
            <a:endParaRPr sz="1400">
              <a:latin typeface="Times New Roman"/>
              <a:cs typeface="Times New Roman"/>
            </a:endParaRPr>
          </a:p>
        </p:txBody>
      </p:sp>
      <p:grpSp>
        <p:nvGrpSpPr>
          <p:cNvPr id="13" name="object 13"/>
          <p:cNvGrpSpPr/>
          <p:nvPr/>
        </p:nvGrpSpPr>
        <p:grpSpPr>
          <a:xfrm>
            <a:off x="4792726" y="2693670"/>
            <a:ext cx="3854450" cy="1099820"/>
            <a:chOff x="4792726" y="2693670"/>
            <a:chExt cx="3854450" cy="1099820"/>
          </a:xfrm>
        </p:grpSpPr>
        <p:sp>
          <p:nvSpPr>
            <p:cNvPr id="14" name="object 14"/>
            <p:cNvSpPr/>
            <p:nvPr/>
          </p:nvSpPr>
          <p:spPr>
            <a:xfrm>
              <a:off x="4799076" y="2971736"/>
              <a:ext cx="915035" cy="453390"/>
            </a:xfrm>
            <a:custGeom>
              <a:avLst/>
              <a:gdLst/>
              <a:ahLst/>
              <a:cxnLst/>
              <a:rect l="l" t="t" r="r" b="b"/>
              <a:pathLst>
                <a:path w="915035" h="453389">
                  <a:moveTo>
                    <a:pt x="0" y="452945"/>
                  </a:moveTo>
                  <a:lnTo>
                    <a:pt x="915022" y="452945"/>
                  </a:lnTo>
                  <a:lnTo>
                    <a:pt x="915022" y="0"/>
                  </a:lnTo>
                  <a:lnTo>
                    <a:pt x="0" y="0"/>
                  </a:lnTo>
                  <a:lnTo>
                    <a:pt x="0" y="452945"/>
                  </a:lnTo>
                  <a:close/>
                </a:path>
              </a:pathLst>
            </a:custGeom>
            <a:ln w="12700">
              <a:solidFill>
                <a:srgbClr val="000000"/>
              </a:solidFill>
            </a:ln>
          </p:spPr>
          <p:txBody>
            <a:bodyPr wrap="square" lIns="0" tIns="0" rIns="0" bIns="0" rtlCol="0"/>
            <a:lstStyle/>
            <a:p>
              <a:endParaRPr/>
            </a:p>
          </p:txBody>
        </p:sp>
        <p:sp>
          <p:nvSpPr>
            <p:cNvPr id="15" name="object 15"/>
            <p:cNvSpPr/>
            <p:nvPr/>
          </p:nvSpPr>
          <p:spPr>
            <a:xfrm>
              <a:off x="5713349" y="2971673"/>
              <a:ext cx="1189355" cy="543560"/>
            </a:xfrm>
            <a:custGeom>
              <a:avLst/>
              <a:gdLst/>
              <a:ahLst/>
              <a:cxnLst/>
              <a:rect l="l" t="t" r="r" b="b"/>
              <a:pathLst>
                <a:path w="1189354" h="543560">
                  <a:moveTo>
                    <a:pt x="274320" y="272034"/>
                  </a:moveTo>
                  <a:lnTo>
                    <a:pt x="732281" y="0"/>
                  </a:lnTo>
                </a:path>
                <a:path w="1189354" h="543560">
                  <a:moveTo>
                    <a:pt x="731647" y="0"/>
                  </a:moveTo>
                  <a:lnTo>
                    <a:pt x="1189354" y="272034"/>
                  </a:lnTo>
                </a:path>
                <a:path w="1189354" h="543560">
                  <a:moveTo>
                    <a:pt x="274320" y="271399"/>
                  </a:moveTo>
                  <a:lnTo>
                    <a:pt x="732281" y="543432"/>
                  </a:lnTo>
                </a:path>
                <a:path w="1189354" h="543560">
                  <a:moveTo>
                    <a:pt x="731647" y="543432"/>
                  </a:moveTo>
                  <a:lnTo>
                    <a:pt x="1189354" y="271399"/>
                  </a:lnTo>
                </a:path>
                <a:path w="1189354" h="543560">
                  <a:moveTo>
                    <a:pt x="274954" y="271399"/>
                  </a:moveTo>
                  <a:lnTo>
                    <a:pt x="0" y="272034"/>
                  </a:lnTo>
                </a:path>
              </a:pathLst>
            </a:custGeom>
            <a:ln w="12700">
              <a:solidFill>
                <a:srgbClr val="000000"/>
              </a:solidFill>
            </a:ln>
          </p:spPr>
          <p:txBody>
            <a:bodyPr wrap="square" lIns="0" tIns="0" rIns="0" bIns="0" rtlCol="0"/>
            <a:lstStyle/>
            <a:p>
              <a:endParaRPr/>
            </a:p>
          </p:txBody>
        </p:sp>
        <p:sp>
          <p:nvSpPr>
            <p:cNvPr id="16" name="object 16"/>
            <p:cNvSpPr/>
            <p:nvPr/>
          </p:nvSpPr>
          <p:spPr>
            <a:xfrm>
              <a:off x="7176261" y="2971736"/>
              <a:ext cx="915669" cy="453390"/>
            </a:xfrm>
            <a:custGeom>
              <a:avLst/>
              <a:gdLst/>
              <a:ahLst/>
              <a:cxnLst/>
              <a:rect l="l" t="t" r="r" b="b"/>
              <a:pathLst>
                <a:path w="915670" h="453389">
                  <a:moveTo>
                    <a:pt x="0" y="452945"/>
                  </a:moveTo>
                  <a:lnTo>
                    <a:pt x="915187" y="452945"/>
                  </a:lnTo>
                  <a:lnTo>
                    <a:pt x="915187" y="0"/>
                  </a:lnTo>
                  <a:lnTo>
                    <a:pt x="0" y="0"/>
                  </a:lnTo>
                  <a:lnTo>
                    <a:pt x="0" y="452945"/>
                  </a:lnTo>
                  <a:close/>
                </a:path>
              </a:pathLst>
            </a:custGeom>
            <a:ln w="12700">
              <a:solidFill>
                <a:srgbClr val="000000"/>
              </a:solidFill>
            </a:ln>
          </p:spPr>
          <p:txBody>
            <a:bodyPr wrap="square" lIns="0" tIns="0" rIns="0" bIns="0" rtlCol="0"/>
            <a:lstStyle/>
            <a:p>
              <a:endParaRPr/>
            </a:p>
          </p:txBody>
        </p:sp>
        <p:sp>
          <p:nvSpPr>
            <p:cNvPr id="17" name="object 17"/>
            <p:cNvSpPr/>
            <p:nvPr/>
          </p:nvSpPr>
          <p:spPr>
            <a:xfrm>
              <a:off x="6902196" y="3243072"/>
              <a:ext cx="274955" cy="635"/>
            </a:xfrm>
            <a:custGeom>
              <a:avLst/>
              <a:gdLst/>
              <a:ahLst/>
              <a:cxnLst/>
              <a:rect l="l" t="t" r="r" b="b"/>
              <a:pathLst>
                <a:path w="274954" h="635">
                  <a:moveTo>
                    <a:pt x="0" y="0"/>
                  </a:moveTo>
                  <a:lnTo>
                    <a:pt x="274954" y="635"/>
                  </a:lnTo>
                </a:path>
              </a:pathLst>
            </a:custGeom>
            <a:ln w="12700">
              <a:solidFill>
                <a:srgbClr val="000000"/>
              </a:solidFill>
            </a:ln>
          </p:spPr>
          <p:txBody>
            <a:bodyPr wrap="square" lIns="0" tIns="0" rIns="0" bIns="0" rtlCol="0"/>
            <a:lstStyle/>
            <a:p>
              <a:endParaRPr/>
            </a:p>
          </p:txBody>
        </p:sp>
        <p:sp>
          <p:nvSpPr>
            <p:cNvPr id="18" name="object 18"/>
            <p:cNvSpPr/>
            <p:nvPr/>
          </p:nvSpPr>
          <p:spPr>
            <a:xfrm>
              <a:off x="5897626" y="2700020"/>
              <a:ext cx="2743200" cy="1087120"/>
            </a:xfrm>
            <a:custGeom>
              <a:avLst/>
              <a:gdLst/>
              <a:ahLst/>
              <a:cxnLst/>
              <a:rect l="l" t="t" r="r" b="b"/>
              <a:pathLst>
                <a:path w="2743200" h="1087120">
                  <a:moveTo>
                    <a:pt x="0" y="543432"/>
                  </a:moveTo>
                  <a:lnTo>
                    <a:pt x="6278" y="491101"/>
                  </a:lnTo>
                  <a:lnTo>
                    <a:pt x="24730" y="440175"/>
                  </a:lnTo>
                  <a:lnTo>
                    <a:pt x="54781" y="390884"/>
                  </a:lnTo>
                  <a:lnTo>
                    <a:pt x="95857" y="343456"/>
                  </a:lnTo>
                  <a:lnTo>
                    <a:pt x="147382" y="298117"/>
                  </a:lnTo>
                  <a:lnTo>
                    <a:pt x="208783" y="255095"/>
                  </a:lnTo>
                  <a:lnTo>
                    <a:pt x="243006" y="234525"/>
                  </a:lnTo>
                  <a:lnTo>
                    <a:pt x="279484" y="214620"/>
                  </a:lnTo>
                  <a:lnTo>
                    <a:pt x="318142" y="195408"/>
                  </a:lnTo>
                  <a:lnTo>
                    <a:pt x="358910" y="176918"/>
                  </a:lnTo>
                  <a:lnTo>
                    <a:pt x="401716" y="159178"/>
                  </a:lnTo>
                  <a:lnTo>
                    <a:pt x="446488" y="142217"/>
                  </a:lnTo>
                  <a:lnTo>
                    <a:pt x="493155" y="126063"/>
                  </a:lnTo>
                  <a:lnTo>
                    <a:pt x="541643" y="110746"/>
                  </a:lnTo>
                  <a:lnTo>
                    <a:pt x="591882" y="96292"/>
                  </a:lnTo>
                  <a:lnTo>
                    <a:pt x="643800" y="82731"/>
                  </a:lnTo>
                  <a:lnTo>
                    <a:pt x="697324" y="70091"/>
                  </a:lnTo>
                  <a:lnTo>
                    <a:pt x="752383" y="58401"/>
                  </a:lnTo>
                  <a:lnTo>
                    <a:pt x="808906" y="47689"/>
                  </a:lnTo>
                  <a:lnTo>
                    <a:pt x="866820" y="37984"/>
                  </a:lnTo>
                  <a:lnTo>
                    <a:pt x="926053" y="29314"/>
                  </a:lnTo>
                  <a:lnTo>
                    <a:pt x="986534" y="21708"/>
                  </a:lnTo>
                  <a:lnTo>
                    <a:pt x="1048191" y="15193"/>
                  </a:lnTo>
                  <a:lnTo>
                    <a:pt x="1110952" y="9799"/>
                  </a:lnTo>
                  <a:lnTo>
                    <a:pt x="1174745" y="5555"/>
                  </a:lnTo>
                  <a:lnTo>
                    <a:pt x="1239499" y="2487"/>
                  </a:lnTo>
                  <a:lnTo>
                    <a:pt x="1305141" y="626"/>
                  </a:lnTo>
                  <a:lnTo>
                    <a:pt x="1371600" y="0"/>
                  </a:lnTo>
                  <a:lnTo>
                    <a:pt x="1438048" y="626"/>
                  </a:lnTo>
                  <a:lnTo>
                    <a:pt x="1503680" y="2487"/>
                  </a:lnTo>
                  <a:lnTo>
                    <a:pt x="1568426" y="5555"/>
                  </a:lnTo>
                  <a:lnTo>
                    <a:pt x="1632212" y="9799"/>
                  </a:lnTo>
                  <a:lnTo>
                    <a:pt x="1694967" y="15193"/>
                  </a:lnTo>
                  <a:lnTo>
                    <a:pt x="1756619" y="21708"/>
                  </a:lnTo>
                  <a:lnTo>
                    <a:pt x="1817096" y="29314"/>
                  </a:lnTo>
                  <a:lnTo>
                    <a:pt x="1876327" y="37984"/>
                  </a:lnTo>
                  <a:lnTo>
                    <a:pt x="1934239" y="47689"/>
                  </a:lnTo>
                  <a:lnTo>
                    <a:pt x="1990760" y="58401"/>
                  </a:lnTo>
                  <a:lnTo>
                    <a:pt x="2045819" y="70091"/>
                  </a:lnTo>
                  <a:lnTo>
                    <a:pt x="2099343" y="82731"/>
                  </a:lnTo>
                  <a:lnTo>
                    <a:pt x="2151261" y="96292"/>
                  </a:lnTo>
                  <a:lnTo>
                    <a:pt x="2201502" y="110746"/>
                  </a:lnTo>
                  <a:lnTo>
                    <a:pt x="2249992" y="126063"/>
                  </a:lnTo>
                  <a:lnTo>
                    <a:pt x="2296660" y="142217"/>
                  </a:lnTo>
                  <a:lnTo>
                    <a:pt x="2341435" y="159178"/>
                  </a:lnTo>
                  <a:lnTo>
                    <a:pt x="2384244" y="176918"/>
                  </a:lnTo>
                  <a:lnTo>
                    <a:pt x="2425015" y="195408"/>
                  </a:lnTo>
                  <a:lnTo>
                    <a:pt x="2463677" y="214620"/>
                  </a:lnTo>
                  <a:lnTo>
                    <a:pt x="2500158" y="234525"/>
                  </a:lnTo>
                  <a:lnTo>
                    <a:pt x="2534386" y="255095"/>
                  </a:lnTo>
                  <a:lnTo>
                    <a:pt x="2566288" y="276302"/>
                  </a:lnTo>
                  <a:lnTo>
                    <a:pt x="2622830" y="320511"/>
                  </a:lnTo>
                  <a:lnTo>
                    <a:pt x="2669209" y="366923"/>
                  </a:lnTo>
                  <a:lnTo>
                    <a:pt x="2704850" y="415311"/>
                  </a:lnTo>
                  <a:lnTo>
                    <a:pt x="2729178" y="465448"/>
                  </a:lnTo>
                  <a:lnTo>
                    <a:pt x="2741618" y="517105"/>
                  </a:lnTo>
                  <a:lnTo>
                    <a:pt x="2743200" y="543432"/>
                  </a:lnTo>
                  <a:lnTo>
                    <a:pt x="2741618" y="569760"/>
                  </a:lnTo>
                  <a:lnTo>
                    <a:pt x="2736920" y="595764"/>
                  </a:lnTo>
                  <a:lnTo>
                    <a:pt x="2718464" y="646690"/>
                  </a:lnTo>
                  <a:lnTo>
                    <a:pt x="2688408" y="695981"/>
                  </a:lnTo>
                  <a:lnTo>
                    <a:pt x="2647326" y="743409"/>
                  </a:lnTo>
                  <a:lnTo>
                    <a:pt x="2595794" y="788748"/>
                  </a:lnTo>
                  <a:lnTo>
                    <a:pt x="2534386" y="831770"/>
                  </a:lnTo>
                  <a:lnTo>
                    <a:pt x="2500158" y="852340"/>
                  </a:lnTo>
                  <a:lnTo>
                    <a:pt x="2463677" y="872245"/>
                  </a:lnTo>
                  <a:lnTo>
                    <a:pt x="2425015" y="891457"/>
                  </a:lnTo>
                  <a:lnTo>
                    <a:pt x="2384244" y="909947"/>
                  </a:lnTo>
                  <a:lnTo>
                    <a:pt x="2341435" y="927687"/>
                  </a:lnTo>
                  <a:lnTo>
                    <a:pt x="2296660" y="944648"/>
                  </a:lnTo>
                  <a:lnTo>
                    <a:pt x="2249992" y="960802"/>
                  </a:lnTo>
                  <a:lnTo>
                    <a:pt x="2201502" y="976119"/>
                  </a:lnTo>
                  <a:lnTo>
                    <a:pt x="2151261" y="990573"/>
                  </a:lnTo>
                  <a:lnTo>
                    <a:pt x="2099343" y="1004134"/>
                  </a:lnTo>
                  <a:lnTo>
                    <a:pt x="2045819" y="1016774"/>
                  </a:lnTo>
                  <a:lnTo>
                    <a:pt x="1990760" y="1028464"/>
                  </a:lnTo>
                  <a:lnTo>
                    <a:pt x="1934239" y="1039176"/>
                  </a:lnTo>
                  <a:lnTo>
                    <a:pt x="1876327" y="1048881"/>
                  </a:lnTo>
                  <a:lnTo>
                    <a:pt x="1817096" y="1057551"/>
                  </a:lnTo>
                  <a:lnTo>
                    <a:pt x="1756619" y="1065157"/>
                  </a:lnTo>
                  <a:lnTo>
                    <a:pt x="1694967" y="1071672"/>
                  </a:lnTo>
                  <a:lnTo>
                    <a:pt x="1632212" y="1077066"/>
                  </a:lnTo>
                  <a:lnTo>
                    <a:pt x="1568426" y="1081310"/>
                  </a:lnTo>
                  <a:lnTo>
                    <a:pt x="1503680" y="1084378"/>
                  </a:lnTo>
                  <a:lnTo>
                    <a:pt x="1438048" y="1086239"/>
                  </a:lnTo>
                  <a:lnTo>
                    <a:pt x="1371600" y="1086865"/>
                  </a:lnTo>
                  <a:lnTo>
                    <a:pt x="1305141" y="1086239"/>
                  </a:lnTo>
                  <a:lnTo>
                    <a:pt x="1239499" y="1084378"/>
                  </a:lnTo>
                  <a:lnTo>
                    <a:pt x="1174745" y="1081310"/>
                  </a:lnTo>
                  <a:lnTo>
                    <a:pt x="1110952" y="1077066"/>
                  </a:lnTo>
                  <a:lnTo>
                    <a:pt x="1048191" y="1071672"/>
                  </a:lnTo>
                  <a:lnTo>
                    <a:pt x="986534" y="1065157"/>
                  </a:lnTo>
                  <a:lnTo>
                    <a:pt x="926053" y="1057551"/>
                  </a:lnTo>
                  <a:lnTo>
                    <a:pt x="866820" y="1048881"/>
                  </a:lnTo>
                  <a:lnTo>
                    <a:pt x="808906" y="1039176"/>
                  </a:lnTo>
                  <a:lnTo>
                    <a:pt x="752383" y="1028464"/>
                  </a:lnTo>
                  <a:lnTo>
                    <a:pt x="697324" y="1016774"/>
                  </a:lnTo>
                  <a:lnTo>
                    <a:pt x="643800" y="1004134"/>
                  </a:lnTo>
                  <a:lnTo>
                    <a:pt x="591882" y="990573"/>
                  </a:lnTo>
                  <a:lnTo>
                    <a:pt x="541643" y="976119"/>
                  </a:lnTo>
                  <a:lnTo>
                    <a:pt x="493155" y="960802"/>
                  </a:lnTo>
                  <a:lnTo>
                    <a:pt x="446488" y="944648"/>
                  </a:lnTo>
                  <a:lnTo>
                    <a:pt x="401716" y="927687"/>
                  </a:lnTo>
                  <a:lnTo>
                    <a:pt x="358910" y="909947"/>
                  </a:lnTo>
                  <a:lnTo>
                    <a:pt x="318142" y="891457"/>
                  </a:lnTo>
                  <a:lnTo>
                    <a:pt x="279484" y="872245"/>
                  </a:lnTo>
                  <a:lnTo>
                    <a:pt x="243006" y="852340"/>
                  </a:lnTo>
                  <a:lnTo>
                    <a:pt x="208783" y="831770"/>
                  </a:lnTo>
                  <a:lnTo>
                    <a:pt x="176884" y="810563"/>
                  </a:lnTo>
                  <a:lnTo>
                    <a:pt x="120349" y="766354"/>
                  </a:lnTo>
                  <a:lnTo>
                    <a:pt x="73977" y="719942"/>
                  </a:lnTo>
                  <a:lnTo>
                    <a:pt x="38342" y="671554"/>
                  </a:lnTo>
                  <a:lnTo>
                    <a:pt x="14018" y="621417"/>
                  </a:lnTo>
                  <a:lnTo>
                    <a:pt x="1581" y="569760"/>
                  </a:lnTo>
                  <a:lnTo>
                    <a:pt x="0" y="543432"/>
                  </a:lnTo>
                  <a:close/>
                </a:path>
              </a:pathLst>
            </a:custGeom>
            <a:ln w="12700">
              <a:solidFill>
                <a:srgbClr val="000000"/>
              </a:solidFill>
              <a:prstDash val="sysDot"/>
            </a:ln>
          </p:spPr>
          <p:txBody>
            <a:bodyPr wrap="square" lIns="0" tIns="0" rIns="0" bIns="0" rtlCol="0"/>
            <a:lstStyle/>
            <a:p>
              <a:endParaRPr/>
            </a:p>
          </p:txBody>
        </p:sp>
      </p:grpSp>
      <p:sp>
        <p:nvSpPr>
          <p:cNvPr id="19" name="object 19"/>
          <p:cNvSpPr txBox="1"/>
          <p:nvPr/>
        </p:nvSpPr>
        <p:spPr>
          <a:xfrm>
            <a:off x="5776340" y="3034664"/>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20" name="object 20"/>
          <p:cNvSpPr txBox="1"/>
          <p:nvPr/>
        </p:nvSpPr>
        <p:spPr>
          <a:xfrm>
            <a:off x="6991604" y="3034664"/>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21" name="object 21"/>
          <p:cNvSpPr/>
          <p:nvPr/>
        </p:nvSpPr>
        <p:spPr>
          <a:xfrm>
            <a:off x="3496564" y="2206625"/>
            <a:ext cx="758825" cy="354965"/>
          </a:xfrm>
          <a:custGeom>
            <a:avLst/>
            <a:gdLst/>
            <a:ahLst/>
            <a:cxnLst/>
            <a:rect l="l" t="t" r="r" b="b"/>
            <a:pathLst>
              <a:path w="758825" h="354964">
                <a:moveTo>
                  <a:pt x="0" y="208152"/>
                </a:moveTo>
                <a:lnTo>
                  <a:pt x="557402" y="73278"/>
                </a:lnTo>
                <a:lnTo>
                  <a:pt x="539750" y="0"/>
                </a:lnTo>
                <a:lnTo>
                  <a:pt x="758316" y="102235"/>
                </a:lnTo>
                <a:lnTo>
                  <a:pt x="610615" y="293115"/>
                </a:lnTo>
                <a:lnTo>
                  <a:pt x="592963" y="219837"/>
                </a:lnTo>
                <a:lnTo>
                  <a:pt x="35433" y="354711"/>
                </a:lnTo>
                <a:lnTo>
                  <a:pt x="0" y="208152"/>
                </a:lnTo>
                <a:close/>
              </a:path>
            </a:pathLst>
          </a:custGeom>
          <a:ln w="12700">
            <a:solidFill>
              <a:srgbClr val="000000"/>
            </a:solidFill>
          </a:ln>
        </p:spPr>
        <p:txBody>
          <a:bodyPr wrap="square" lIns="0" tIns="0" rIns="0" bIns="0" rtlCol="0"/>
          <a:lstStyle/>
          <a:p>
            <a:endParaRPr/>
          </a:p>
        </p:txBody>
      </p:sp>
      <p:sp>
        <p:nvSpPr>
          <p:cNvPr id="22" name="object 22"/>
          <p:cNvSpPr/>
          <p:nvPr/>
        </p:nvSpPr>
        <p:spPr>
          <a:xfrm>
            <a:off x="3496564" y="2763266"/>
            <a:ext cx="758825" cy="354965"/>
          </a:xfrm>
          <a:custGeom>
            <a:avLst/>
            <a:gdLst/>
            <a:ahLst/>
            <a:cxnLst/>
            <a:rect l="l" t="t" r="r" b="b"/>
            <a:pathLst>
              <a:path w="758825" h="354964">
                <a:moveTo>
                  <a:pt x="0" y="146558"/>
                </a:moveTo>
                <a:lnTo>
                  <a:pt x="557402" y="281432"/>
                </a:lnTo>
                <a:lnTo>
                  <a:pt x="539750" y="354711"/>
                </a:lnTo>
                <a:lnTo>
                  <a:pt x="758316" y="252603"/>
                </a:lnTo>
                <a:lnTo>
                  <a:pt x="610615" y="61595"/>
                </a:lnTo>
                <a:lnTo>
                  <a:pt x="592963" y="134874"/>
                </a:lnTo>
                <a:lnTo>
                  <a:pt x="35433" y="0"/>
                </a:lnTo>
                <a:lnTo>
                  <a:pt x="0" y="146558"/>
                </a:lnTo>
                <a:close/>
              </a:path>
            </a:pathLst>
          </a:custGeom>
          <a:ln w="12700">
            <a:solidFill>
              <a:srgbClr val="000000"/>
            </a:solidFill>
          </a:ln>
        </p:spPr>
        <p:txBody>
          <a:bodyPr wrap="square" lIns="0" tIns="0" rIns="0" bIns="0" rtlCol="0"/>
          <a:lstStyle/>
          <a:p>
            <a:endParaRPr/>
          </a:p>
        </p:txBody>
      </p:sp>
      <p:grpSp>
        <p:nvGrpSpPr>
          <p:cNvPr id="23" name="object 23"/>
          <p:cNvGrpSpPr/>
          <p:nvPr/>
        </p:nvGrpSpPr>
        <p:grpSpPr>
          <a:xfrm>
            <a:off x="2354326" y="5709221"/>
            <a:ext cx="2573655" cy="1099820"/>
            <a:chOff x="2354326" y="5709221"/>
            <a:chExt cx="2573655" cy="1099820"/>
          </a:xfrm>
        </p:grpSpPr>
        <p:sp>
          <p:nvSpPr>
            <p:cNvPr id="24" name="object 24"/>
            <p:cNvSpPr/>
            <p:nvPr/>
          </p:nvSpPr>
          <p:spPr>
            <a:xfrm>
              <a:off x="2360676" y="5715571"/>
              <a:ext cx="2560955" cy="1087120"/>
            </a:xfrm>
            <a:custGeom>
              <a:avLst/>
              <a:gdLst/>
              <a:ahLst/>
              <a:cxnLst/>
              <a:rect l="l" t="t" r="r" b="b"/>
              <a:pathLst>
                <a:path w="2560954" h="1087120">
                  <a:moveTo>
                    <a:pt x="0" y="543432"/>
                  </a:moveTo>
                  <a:lnTo>
                    <a:pt x="6609" y="487870"/>
                  </a:lnTo>
                  <a:lnTo>
                    <a:pt x="26008" y="433913"/>
                  </a:lnTo>
                  <a:lnTo>
                    <a:pt x="57554" y="381833"/>
                  </a:lnTo>
                  <a:lnTo>
                    <a:pt x="100603" y="331905"/>
                  </a:lnTo>
                  <a:lnTo>
                    <a:pt x="154513" y="284402"/>
                  </a:lnTo>
                  <a:lnTo>
                    <a:pt x="185339" y="261644"/>
                  </a:lnTo>
                  <a:lnTo>
                    <a:pt x="218638" y="239595"/>
                  </a:lnTo>
                  <a:lnTo>
                    <a:pt x="254332" y="218289"/>
                  </a:lnTo>
                  <a:lnTo>
                    <a:pt x="292338" y="197760"/>
                  </a:lnTo>
                  <a:lnTo>
                    <a:pt x="332576" y="178042"/>
                  </a:lnTo>
                  <a:lnTo>
                    <a:pt x="374967" y="159169"/>
                  </a:lnTo>
                  <a:lnTo>
                    <a:pt x="419429" y="141175"/>
                  </a:lnTo>
                  <a:lnTo>
                    <a:pt x="465883" y="124094"/>
                  </a:lnTo>
                  <a:lnTo>
                    <a:pt x="514248" y="107961"/>
                  </a:lnTo>
                  <a:lnTo>
                    <a:pt x="564443" y="92810"/>
                  </a:lnTo>
                  <a:lnTo>
                    <a:pt x="616388" y="78675"/>
                  </a:lnTo>
                  <a:lnTo>
                    <a:pt x="670002" y="65590"/>
                  </a:lnTo>
                  <a:lnTo>
                    <a:pt x="725206" y="53588"/>
                  </a:lnTo>
                  <a:lnTo>
                    <a:pt x="781919" y="42706"/>
                  </a:lnTo>
                  <a:lnTo>
                    <a:pt x="840060" y="32975"/>
                  </a:lnTo>
                  <a:lnTo>
                    <a:pt x="899549" y="24431"/>
                  </a:lnTo>
                  <a:lnTo>
                    <a:pt x="960305" y="17108"/>
                  </a:lnTo>
                  <a:lnTo>
                    <a:pt x="1022249" y="11040"/>
                  </a:lnTo>
                  <a:lnTo>
                    <a:pt x="1085299" y="6261"/>
                  </a:lnTo>
                  <a:lnTo>
                    <a:pt x="1149376" y="2805"/>
                  </a:lnTo>
                  <a:lnTo>
                    <a:pt x="1214398" y="707"/>
                  </a:lnTo>
                  <a:lnTo>
                    <a:pt x="1280287" y="0"/>
                  </a:lnTo>
                  <a:lnTo>
                    <a:pt x="1346163" y="707"/>
                  </a:lnTo>
                  <a:lnTo>
                    <a:pt x="1411176" y="2805"/>
                  </a:lnTo>
                  <a:lnTo>
                    <a:pt x="1475244" y="6261"/>
                  </a:lnTo>
                  <a:lnTo>
                    <a:pt x="1538288" y="11040"/>
                  </a:lnTo>
                  <a:lnTo>
                    <a:pt x="1600225" y="17108"/>
                  </a:lnTo>
                  <a:lnTo>
                    <a:pt x="1660977" y="24431"/>
                  </a:lnTo>
                  <a:lnTo>
                    <a:pt x="1720462" y="32975"/>
                  </a:lnTo>
                  <a:lnTo>
                    <a:pt x="1778601" y="42706"/>
                  </a:lnTo>
                  <a:lnTo>
                    <a:pt x="1835312" y="53588"/>
                  </a:lnTo>
                  <a:lnTo>
                    <a:pt x="1890515" y="65590"/>
                  </a:lnTo>
                  <a:lnTo>
                    <a:pt x="1944129" y="78675"/>
                  </a:lnTo>
                  <a:lnTo>
                    <a:pt x="1996075" y="92810"/>
                  </a:lnTo>
                  <a:lnTo>
                    <a:pt x="2046271" y="107961"/>
                  </a:lnTo>
                  <a:lnTo>
                    <a:pt x="2094637" y="124094"/>
                  </a:lnTo>
                  <a:lnTo>
                    <a:pt x="2141093" y="141175"/>
                  </a:lnTo>
                  <a:lnTo>
                    <a:pt x="2185558" y="159169"/>
                  </a:lnTo>
                  <a:lnTo>
                    <a:pt x="2227952" y="178042"/>
                  </a:lnTo>
                  <a:lnTo>
                    <a:pt x="2268194" y="197760"/>
                  </a:lnTo>
                  <a:lnTo>
                    <a:pt x="2306204" y="218289"/>
                  </a:lnTo>
                  <a:lnTo>
                    <a:pt x="2341901" y="239595"/>
                  </a:lnTo>
                  <a:lnTo>
                    <a:pt x="2375205" y="261644"/>
                  </a:lnTo>
                  <a:lnTo>
                    <a:pt x="2406035" y="284402"/>
                  </a:lnTo>
                  <a:lnTo>
                    <a:pt x="2459952" y="331905"/>
                  </a:lnTo>
                  <a:lnTo>
                    <a:pt x="2503008" y="381833"/>
                  </a:lnTo>
                  <a:lnTo>
                    <a:pt x="2534560" y="433913"/>
                  </a:lnTo>
                  <a:lnTo>
                    <a:pt x="2553963" y="487870"/>
                  </a:lnTo>
                  <a:lnTo>
                    <a:pt x="2560574" y="543432"/>
                  </a:lnTo>
                  <a:lnTo>
                    <a:pt x="2558907" y="571398"/>
                  </a:lnTo>
                  <a:lnTo>
                    <a:pt x="2553963" y="598997"/>
                  </a:lnTo>
                  <a:lnTo>
                    <a:pt x="2534560" y="652956"/>
                  </a:lnTo>
                  <a:lnTo>
                    <a:pt x="2503008" y="705037"/>
                  </a:lnTo>
                  <a:lnTo>
                    <a:pt x="2459952" y="754966"/>
                  </a:lnTo>
                  <a:lnTo>
                    <a:pt x="2406035" y="802470"/>
                  </a:lnTo>
                  <a:lnTo>
                    <a:pt x="2375205" y="825228"/>
                  </a:lnTo>
                  <a:lnTo>
                    <a:pt x="2341901" y="847277"/>
                  </a:lnTo>
                  <a:lnTo>
                    <a:pt x="2306204" y="868583"/>
                  </a:lnTo>
                  <a:lnTo>
                    <a:pt x="2268194" y="889112"/>
                  </a:lnTo>
                  <a:lnTo>
                    <a:pt x="2227952" y="908831"/>
                  </a:lnTo>
                  <a:lnTo>
                    <a:pt x="2185558" y="927704"/>
                  </a:lnTo>
                  <a:lnTo>
                    <a:pt x="2141093" y="945698"/>
                  </a:lnTo>
                  <a:lnTo>
                    <a:pt x="2094637" y="962778"/>
                  </a:lnTo>
                  <a:lnTo>
                    <a:pt x="2046271" y="978911"/>
                  </a:lnTo>
                  <a:lnTo>
                    <a:pt x="1996075" y="994062"/>
                  </a:lnTo>
                  <a:lnTo>
                    <a:pt x="1944129" y="1008197"/>
                  </a:lnTo>
                  <a:lnTo>
                    <a:pt x="1890515" y="1021282"/>
                  </a:lnTo>
                  <a:lnTo>
                    <a:pt x="1835312" y="1033283"/>
                  </a:lnTo>
                  <a:lnTo>
                    <a:pt x="1778601" y="1044165"/>
                  </a:lnTo>
                  <a:lnTo>
                    <a:pt x="1720462" y="1053896"/>
                  </a:lnTo>
                  <a:lnTo>
                    <a:pt x="1660977" y="1062439"/>
                  </a:lnTo>
                  <a:lnTo>
                    <a:pt x="1600225" y="1069762"/>
                  </a:lnTo>
                  <a:lnTo>
                    <a:pt x="1538288" y="1075830"/>
                  </a:lnTo>
                  <a:lnTo>
                    <a:pt x="1475244" y="1080609"/>
                  </a:lnTo>
                  <a:lnTo>
                    <a:pt x="1411176" y="1084065"/>
                  </a:lnTo>
                  <a:lnTo>
                    <a:pt x="1346163" y="1086163"/>
                  </a:lnTo>
                  <a:lnTo>
                    <a:pt x="1280287" y="1086871"/>
                  </a:lnTo>
                  <a:lnTo>
                    <a:pt x="1214398" y="1086163"/>
                  </a:lnTo>
                  <a:lnTo>
                    <a:pt x="1149376" y="1084065"/>
                  </a:lnTo>
                  <a:lnTo>
                    <a:pt x="1085299" y="1080609"/>
                  </a:lnTo>
                  <a:lnTo>
                    <a:pt x="1022249" y="1075830"/>
                  </a:lnTo>
                  <a:lnTo>
                    <a:pt x="960305" y="1069762"/>
                  </a:lnTo>
                  <a:lnTo>
                    <a:pt x="899549" y="1062439"/>
                  </a:lnTo>
                  <a:lnTo>
                    <a:pt x="840060" y="1053896"/>
                  </a:lnTo>
                  <a:lnTo>
                    <a:pt x="781919" y="1044165"/>
                  </a:lnTo>
                  <a:lnTo>
                    <a:pt x="725206" y="1033283"/>
                  </a:lnTo>
                  <a:lnTo>
                    <a:pt x="670002" y="1021282"/>
                  </a:lnTo>
                  <a:lnTo>
                    <a:pt x="616388" y="1008197"/>
                  </a:lnTo>
                  <a:lnTo>
                    <a:pt x="564443" y="994062"/>
                  </a:lnTo>
                  <a:lnTo>
                    <a:pt x="514248" y="978911"/>
                  </a:lnTo>
                  <a:lnTo>
                    <a:pt x="465883" y="962778"/>
                  </a:lnTo>
                  <a:lnTo>
                    <a:pt x="419429" y="945698"/>
                  </a:lnTo>
                  <a:lnTo>
                    <a:pt x="374967" y="927704"/>
                  </a:lnTo>
                  <a:lnTo>
                    <a:pt x="332576" y="908831"/>
                  </a:lnTo>
                  <a:lnTo>
                    <a:pt x="292338" y="889112"/>
                  </a:lnTo>
                  <a:lnTo>
                    <a:pt x="254332" y="868583"/>
                  </a:lnTo>
                  <a:lnTo>
                    <a:pt x="218638" y="847277"/>
                  </a:lnTo>
                  <a:lnTo>
                    <a:pt x="185339" y="825228"/>
                  </a:lnTo>
                  <a:lnTo>
                    <a:pt x="154513" y="802470"/>
                  </a:lnTo>
                  <a:lnTo>
                    <a:pt x="100603" y="754966"/>
                  </a:lnTo>
                  <a:lnTo>
                    <a:pt x="57554" y="705037"/>
                  </a:lnTo>
                  <a:lnTo>
                    <a:pt x="26008" y="652956"/>
                  </a:lnTo>
                  <a:lnTo>
                    <a:pt x="6609" y="598997"/>
                  </a:lnTo>
                  <a:lnTo>
                    <a:pt x="0" y="543432"/>
                  </a:lnTo>
                  <a:close/>
                </a:path>
              </a:pathLst>
            </a:custGeom>
            <a:ln w="12700">
              <a:solidFill>
                <a:srgbClr val="000000"/>
              </a:solidFill>
            </a:ln>
          </p:spPr>
          <p:txBody>
            <a:bodyPr wrap="square" lIns="0" tIns="0" rIns="0" bIns="0" rtlCol="0"/>
            <a:lstStyle/>
            <a:p>
              <a:endParaRPr/>
            </a:p>
          </p:txBody>
        </p:sp>
        <p:sp>
          <p:nvSpPr>
            <p:cNvPr id="25" name="object 25"/>
            <p:cNvSpPr/>
            <p:nvPr/>
          </p:nvSpPr>
          <p:spPr>
            <a:xfrm>
              <a:off x="2725801" y="5987300"/>
              <a:ext cx="915035" cy="453390"/>
            </a:xfrm>
            <a:custGeom>
              <a:avLst/>
              <a:gdLst/>
              <a:ahLst/>
              <a:cxnLst/>
              <a:rect l="l" t="t" r="r" b="b"/>
              <a:pathLst>
                <a:path w="915035" h="453389">
                  <a:moveTo>
                    <a:pt x="0" y="452945"/>
                  </a:moveTo>
                  <a:lnTo>
                    <a:pt x="915022" y="452945"/>
                  </a:lnTo>
                  <a:lnTo>
                    <a:pt x="915022" y="0"/>
                  </a:lnTo>
                  <a:lnTo>
                    <a:pt x="0" y="0"/>
                  </a:lnTo>
                  <a:lnTo>
                    <a:pt x="0" y="452945"/>
                  </a:lnTo>
                  <a:close/>
                </a:path>
              </a:pathLst>
            </a:custGeom>
            <a:ln w="12700">
              <a:solidFill>
                <a:srgbClr val="000000"/>
              </a:solidFill>
            </a:ln>
          </p:spPr>
          <p:txBody>
            <a:bodyPr wrap="square" lIns="0" tIns="0" rIns="0" bIns="0" rtlCol="0"/>
            <a:lstStyle/>
            <a:p>
              <a:endParaRPr/>
            </a:p>
          </p:txBody>
        </p:sp>
        <p:sp>
          <p:nvSpPr>
            <p:cNvPr id="26" name="object 26"/>
            <p:cNvSpPr/>
            <p:nvPr/>
          </p:nvSpPr>
          <p:spPr>
            <a:xfrm>
              <a:off x="3914394" y="5987288"/>
              <a:ext cx="915035" cy="543560"/>
            </a:xfrm>
            <a:custGeom>
              <a:avLst/>
              <a:gdLst/>
              <a:ahLst/>
              <a:cxnLst/>
              <a:rect l="l" t="t" r="r" b="b"/>
              <a:pathLst>
                <a:path w="915035" h="543559">
                  <a:moveTo>
                    <a:pt x="0" y="272046"/>
                  </a:moveTo>
                  <a:lnTo>
                    <a:pt x="457961" y="0"/>
                  </a:lnTo>
                </a:path>
                <a:path w="915035" h="543559">
                  <a:moveTo>
                    <a:pt x="457326" y="0"/>
                  </a:moveTo>
                  <a:lnTo>
                    <a:pt x="915034" y="272046"/>
                  </a:lnTo>
                </a:path>
                <a:path w="915035" h="543559">
                  <a:moveTo>
                    <a:pt x="0" y="271386"/>
                  </a:moveTo>
                  <a:lnTo>
                    <a:pt x="457961" y="543433"/>
                  </a:lnTo>
                </a:path>
                <a:path w="915035" h="543559">
                  <a:moveTo>
                    <a:pt x="457326" y="543433"/>
                  </a:moveTo>
                  <a:lnTo>
                    <a:pt x="915034" y="271386"/>
                  </a:lnTo>
                </a:path>
              </a:pathLst>
            </a:custGeom>
            <a:ln w="12700">
              <a:solidFill>
                <a:srgbClr val="000000"/>
              </a:solidFill>
            </a:ln>
          </p:spPr>
          <p:txBody>
            <a:bodyPr wrap="square" lIns="0" tIns="0" rIns="0" bIns="0" rtlCol="0"/>
            <a:lstStyle/>
            <a:p>
              <a:endParaRPr/>
            </a:p>
          </p:txBody>
        </p:sp>
      </p:grpSp>
      <p:sp>
        <p:nvSpPr>
          <p:cNvPr id="27" name="object 27"/>
          <p:cNvSpPr/>
          <p:nvPr/>
        </p:nvSpPr>
        <p:spPr>
          <a:xfrm>
            <a:off x="5102986" y="5987300"/>
            <a:ext cx="915669" cy="453390"/>
          </a:xfrm>
          <a:custGeom>
            <a:avLst/>
            <a:gdLst/>
            <a:ahLst/>
            <a:cxnLst/>
            <a:rect l="l" t="t" r="r" b="b"/>
            <a:pathLst>
              <a:path w="915670" h="453389">
                <a:moveTo>
                  <a:pt x="0" y="452945"/>
                </a:moveTo>
                <a:lnTo>
                  <a:pt x="915187" y="452945"/>
                </a:lnTo>
                <a:lnTo>
                  <a:pt x="915187" y="0"/>
                </a:lnTo>
                <a:lnTo>
                  <a:pt x="0" y="0"/>
                </a:lnTo>
                <a:lnTo>
                  <a:pt x="0" y="452945"/>
                </a:lnTo>
                <a:close/>
              </a:path>
            </a:pathLst>
          </a:custGeom>
          <a:ln w="12700">
            <a:solidFill>
              <a:srgbClr val="000000"/>
            </a:solidFill>
          </a:ln>
        </p:spPr>
        <p:txBody>
          <a:bodyPr wrap="square" lIns="0" tIns="0" rIns="0" bIns="0" rtlCol="0"/>
          <a:lstStyle/>
          <a:p>
            <a:endParaRPr/>
          </a:p>
        </p:txBody>
      </p:sp>
      <p:sp>
        <p:nvSpPr>
          <p:cNvPr id="28" name="object 28"/>
          <p:cNvSpPr txBox="1"/>
          <p:nvPr/>
        </p:nvSpPr>
        <p:spPr>
          <a:xfrm>
            <a:off x="3621023" y="6057696"/>
            <a:ext cx="313055" cy="238125"/>
          </a:xfrm>
          <a:prstGeom prst="rect">
            <a:avLst/>
          </a:prstGeom>
        </p:spPr>
        <p:txBody>
          <a:bodyPr vert="horz" wrap="square" lIns="0" tIns="12065" rIns="0" bIns="0" rtlCol="0">
            <a:spAutoFit/>
          </a:bodyPr>
          <a:lstStyle/>
          <a:p>
            <a:pPr marL="12700">
              <a:lnSpc>
                <a:spcPct val="100000"/>
              </a:lnSpc>
              <a:spcBef>
                <a:spcPts val="95"/>
              </a:spcBef>
            </a:pPr>
            <a:r>
              <a:rPr sz="1400" u="heavy" spc="-5" dirty="0">
                <a:uFill>
                  <a:solidFill>
                    <a:srgbClr val="000000"/>
                  </a:solidFill>
                </a:uFill>
                <a:latin typeface="Times New Roman"/>
                <a:cs typeface="Times New Roman"/>
              </a:rPr>
              <a:t> </a:t>
            </a:r>
            <a:r>
              <a:rPr sz="1400" u="heavy" spc="-185" dirty="0">
                <a:uFill>
                  <a:solidFill>
                    <a:srgbClr val="000000"/>
                  </a:solidFill>
                </a:uFill>
                <a:latin typeface="Times New Roman"/>
                <a:cs typeface="Times New Roman"/>
              </a:rPr>
              <a:t> </a:t>
            </a:r>
            <a:r>
              <a:rPr sz="1400" u="heavy" spc="-10" dirty="0">
                <a:uFill>
                  <a:solidFill>
                    <a:srgbClr val="000000"/>
                  </a:solidFill>
                </a:uFill>
                <a:latin typeface="Times New Roman"/>
                <a:cs typeface="Times New Roman"/>
              </a:rPr>
              <a:t>M</a:t>
            </a:r>
            <a:r>
              <a:rPr sz="1400" u="heavy" spc="155" dirty="0">
                <a:uFill>
                  <a:solidFill>
                    <a:srgbClr val="000000"/>
                  </a:solidFill>
                </a:uFill>
                <a:latin typeface="Times New Roman"/>
                <a:cs typeface="Times New Roman"/>
              </a:rPr>
              <a:t> </a:t>
            </a:r>
            <a:endParaRPr sz="1400">
              <a:latin typeface="Times New Roman"/>
              <a:cs typeface="Times New Roman"/>
            </a:endParaRPr>
          </a:p>
        </p:txBody>
      </p:sp>
      <p:sp>
        <p:nvSpPr>
          <p:cNvPr id="29" name="object 29"/>
          <p:cNvSpPr txBox="1"/>
          <p:nvPr/>
        </p:nvSpPr>
        <p:spPr>
          <a:xfrm>
            <a:off x="4809871" y="6046723"/>
            <a:ext cx="313055" cy="238125"/>
          </a:xfrm>
          <a:prstGeom prst="rect">
            <a:avLst/>
          </a:prstGeom>
        </p:spPr>
        <p:txBody>
          <a:bodyPr vert="horz" wrap="square" lIns="0" tIns="12065" rIns="0" bIns="0" rtlCol="0">
            <a:spAutoFit/>
          </a:bodyPr>
          <a:lstStyle/>
          <a:p>
            <a:pPr marL="12700">
              <a:lnSpc>
                <a:spcPct val="100000"/>
              </a:lnSpc>
              <a:spcBef>
                <a:spcPts val="95"/>
              </a:spcBef>
            </a:pPr>
            <a:r>
              <a:rPr sz="1400" u="heavy" spc="-5" dirty="0">
                <a:uFill>
                  <a:solidFill>
                    <a:srgbClr val="000000"/>
                  </a:solidFill>
                </a:uFill>
                <a:latin typeface="Times New Roman"/>
                <a:cs typeface="Times New Roman"/>
              </a:rPr>
              <a:t>  </a:t>
            </a:r>
            <a:r>
              <a:rPr sz="1400" u="heavy" spc="110" dirty="0">
                <a:uFill>
                  <a:solidFill>
                    <a:srgbClr val="000000"/>
                  </a:solidFill>
                </a:uFill>
                <a:latin typeface="Times New Roman"/>
                <a:cs typeface="Times New Roman"/>
              </a:rPr>
              <a:t> </a:t>
            </a:r>
            <a:r>
              <a:rPr sz="1400" u="heavy" spc="-5" dirty="0">
                <a:uFill>
                  <a:solidFill>
                    <a:srgbClr val="000000"/>
                  </a:solidFill>
                </a:uFill>
                <a:latin typeface="Times New Roman"/>
                <a:cs typeface="Times New Roman"/>
              </a:rPr>
              <a:t>1</a:t>
            </a:r>
            <a:r>
              <a:rPr sz="1400" u="heavy" spc="55" dirty="0">
                <a:uFill>
                  <a:solidFill>
                    <a:srgbClr val="000000"/>
                  </a:solidFill>
                </a:uFill>
                <a:latin typeface="Times New Roman"/>
                <a:cs typeface="Times New Roman"/>
              </a:rPr>
              <a:t> </a:t>
            </a:r>
            <a:endParaRPr sz="1400">
              <a:latin typeface="Times New Roman"/>
              <a:cs typeface="Times New Roman"/>
            </a:endParaRPr>
          </a:p>
        </p:txBody>
      </p:sp>
      <p:pic>
        <p:nvPicPr>
          <p:cNvPr id="30" name="object 30"/>
          <p:cNvPicPr/>
          <p:nvPr/>
        </p:nvPicPr>
        <p:blipFill>
          <a:blip r:embed="rId2" cstate="print"/>
          <a:stretch>
            <a:fillRect/>
          </a:stretch>
        </p:blipFill>
        <p:spPr>
          <a:xfrm>
            <a:off x="4786248" y="158813"/>
            <a:ext cx="3759200" cy="452437"/>
          </a:xfrm>
          <a:prstGeom prst="rect">
            <a:avLst/>
          </a:prstGeom>
        </p:spPr>
      </p:pic>
      <p:sp>
        <p:nvSpPr>
          <p:cNvPr id="31" name="object 31"/>
          <p:cNvSpPr txBox="1"/>
          <p:nvPr/>
        </p:nvSpPr>
        <p:spPr>
          <a:xfrm>
            <a:off x="5372861" y="186943"/>
            <a:ext cx="2444115" cy="270510"/>
          </a:xfrm>
          <a:prstGeom prst="rect">
            <a:avLst/>
          </a:prstGeom>
        </p:spPr>
        <p:txBody>
          <a:bodyPr vert="horz" wrap="square" lIns="0" tIns="13335" rIns="0" bIns="0" rtlCol="0">
            <a:spAutoFit/>
          </a:bodyPr>
          <a:lstStyle/>
          <a:p>
            <a:pPr marL="12700">
              <a:lnSpc>
                <a:spcPct val="100000"/>
              </a:lnSpc>
              <a:spcBef>
                <a:spcPts val="105"/>
              </a:spcBef>
            </a:pPr>
            <a:r>
              <a:rPr sz="1600" spc="-170" dirty="0">
                <a:latin typeface="Arial MT"/>
                <a:cs typeface="Arial MT"/>
              </a:rPr>
              <a:t>T</a:t>
            </a:r>
            <a:r>
              <a:rPr sz="1600" spc="-200" dirty="0">
                <a:latin typeface="Arial MT"/>
                <a:cs typeface="Arial MT"/>
              </a:rPr>
              <a:t>R</a:t>
            </a:r>
            <a:r>
              <a:rPr sz="1600" spc="-185" dirty="0">
                <a:latin typeface="Arial MT"/>
                <a:cs typeface="Arial MT"/>
              </a:rPr>
              <a:t>A</a:t>
            </a:r>
            <a:r>
              <a:rPr sz="1600" spc="-200" dirty="0">
                <a:latin typeface="Arial MT"/>
                <a:cs typeface="Arial MT"/>
              </a:rPr>
              <a:t>N</a:t>
            </a:r>
            <a:r>
              <a:rPr sz="1600" spc="-185" dirty="0">
                <a:latin typeface="Arial MT"/>
                <a:cs typeface="Arial MT"/>
              </a:rPr>
              <a:t>S</a:t>
            </a:r>
            <a:r>
              <a:rPr sz="1600" spc="-170" dirty="0">
                <a:latin typeface="Arial MT"/>
                <a:cs typeface="Arial MT"/>
              </a:rPr>
              <a:t>F</a:t>
            </a:r>
            <a:r>
              <a:rPr sz="1600" spc="-220" dirty="0">
                <a:latin typeface="Arial MT"/>
                <a:cs typeface="Arial MT"/>
              </a:rPr>
              <a:t>O</a:t>
            </a:r>
            <a:r>
              <a:rPr sz="1600" spc="-200" dirty="0">
                <a:latin typeface="Arial MT"/>
                <a:cs typeface="Arial MT"/>
              </a:rPr>
              <a:t>R</a:t>
            </a:r>
            <a:r>
              <a:rPr sz="1600" spc="-254" dirty="0">
                <a:latin typeface="Arial MT"/>
                <a:cs typeface="Arial MT"/>
              </a:rPr>
              <a:t>M</a:t>
            </a:r>
            <a:r>
              <a:rPr sz="1600" spc="-185" dirty="0">
                <a:latin typeface="Arial MT"/>
                <a:cs typeface="Arial MT"/>
              </a:rPr>
              <a:t>A</a:t>
            </a:r>
            <a:r>
              <a:rPr sz="1600" spc="-210" dirty="0">
                <a:latin typeface="Arial MT"/>
                <a:cs typeface="Arial MT"/>
              </a:rPr>
              <a:t>S</a:t>
            </a:r>
            <a:r>
              <a:rPr sz="1600" spc="-80" dirty="0">
                <a:latin typeface="Arial MT"/>
                <a:cs typeface="Arial MT"/>
              </a:rPr>
              <a:t>I</a:t>
            </a:r>
            <a:r>
              <a:rPr sz="1600" spc="-190" dirty="0">
                <a:latin typeface="Arial MT"/>
                <a:cs typeface="Arial MT"/>
              </a:rPr>
              <a:t> </a:t>
            </a:r>
            <a:r>
              <a:rPr sz="1600" spc="-180" dirty="0">
                <a:latin typeface="Arial MT"/>
                <a:cs typeface="Arial MT"/>
              </a:rPr>
              <a:t>D</a:t>
            </a:r>
            <a:r>
              <a:rPr sz="1600" spc="-105" dirty="0">
                <a:latin typeface="Arial MT"/>
                <a:cs typeface="Arial MT"/>
              </a:rPr>
              <a:t>-</a:t>
            </a:r>
            <a:r>
              <a:rPr sz="1600" spc="-185" dirty="0">
                <a:latin typeface="Arial MT"/>
                <a:cs typeface="Arial MT"/>
              </a:rPr>
              <a:t>E</a:t>
            </a:r>
            <a:r>
              <a:rPr sz="1600" spc="-204" dirty="0">
                <a:latin typeface="Arial MT"/>
                <a:cs typeface="Arial MT"/>
              </a:rPr>
              <a:t>R</a:t>
            </a:r>
            <a:r>
              <a:rPr sz="1600" spc="-105" dirty="0">
                <a:latin typeface="Arial MT"/>
                <a:cs typeface="Arial MT"/>
              </a:rPr>
              <a:t> </a:t>
            </a:r>
            <a:r>
              <a:rPr sz="1600" spc="-185" dirty="0">
                <a:latin typeface="Arial MT"/>
                <a:cs typeface="Arial MT"/>
              </a:rPr>
              <a:t>K</a:t>
            </a:r>
            <a:r>
              <a:rPr sz="1600" spc="-190" dirty="0">
                <a:latin typeface="Arial MT"/>
                <a:cs typeface="Arial MT"/>
              </a:rPr>
              <a:t>E</a:t>
            </a:r>
            <a:r>
              <a:rPr sz="1600" spc="-105" dirty="0">
                <a:latin typeface="Arial MT"/>
                <a:cs typeface="Arial MT"/>
              </a:rPr>
              <a:t> </a:t>
            </a:r>
            <a:r>
              <a:rPr sz="1600" spc="-155" dirty="0">
                <a:latin typeface="Arial MT"/>
                <a:cs typeface="Arial MT"/>
              </a:rPr>
              <a:t>L</a:t>
            </a:r>
            <a:r>
              <a:rPr sz="1600" spc="-200" dirty="0">
                <a:latin typeface="Arial MT"/>
                <a:cs typeface="Arial MT"/>
              </a:rPr>
              <a:t>R</a:t>
            </a:r>
            <a:r>
              <a:rPr sz="1600" spc="-190" dirty="0">
                <a:latin typeface="Arial MT"/>
                <a:cs typeface="Arial MT"/>
              </a:rPr>
              <a:t>S</a:t>
            </a:r>
            <a:endParaRPr sz="160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3320" y="1329385"/>
            <a:ext cx="2080260" cy="271145"/>
          </a:xfrm>
          <a:prstGeom prst="rect">
            <a:avLst/>
          </a:prstGeom>
        </p:spPr>
        <p:txBody>
          <a:bodyPr vert="horz" wrap="square" lIns="0" tIns="13970" rIns="0" bIns="0" rtlCol="0">
            <a:spAutoFit/>
          </a:bodyPr>
          <a:lstStyle/>
          <a:p>
            <a:pPr marL="12700">
              <a:lnSpc>
                <a:spcPct val="100000"/>
              </a:lnSpc>
              <a:spcBef>
                <a:spcPts val="110"/>
              </a:spcBef>
            </a:pPr>
            <a:r>
              <a:rPr sz="1600" b="1" spc="5" dirty="0">
                <a:latin typeface="Times New Roman"/>
                <a:cs typeface="Times New Roman"/>
              </a:rPr>
              <a:t>T</a:t>
            </a:r>
            <a:r>
              <a:rPr sz="1600" b="1" spc="-10" dirty="0">
                <a:latin typeface="Times New Roman"/>
                <a:cs typeface="Times New Roman"/>
              </a:rPr>
              <a:t>RAN</a:t>
            </a:r>
            <a:r>
              <a:rPr sz="1600" b="1" spc="-5" dirty="0">
                <a:latin typeface="Times New Roman"/>
                <a:cs typeface="Times New Roman"/>
              </a:rPr>
              <a:t>S</a:t>
            </a:r>
            <a:r>
              <a:rPr sz="1600" b="1" spc="5" dirty="0">
                <a:latin typeface="Times New Roman"/>
                <a:cs typeface="Times New Roman"/>
              </a:rPr>
              <a:t>F</a:t>
            </a:r>
            <a:r>
              <a:rPr sz="1600" b="1" dirty="0">
                <a:latin typeface="Times New Roman"/>
                <a:cs typeface="Times New Roman"/>
              </a:rPr>
              <a:t>O</a:t>
            </a:r>
            <a:r>
              <a:rPr sz="1600" b="1" spc="-10" dirty="0">
                <a:latin typeface="Times New Roman"/>
                <a:cs typeface="Times New Roman"/>
              </a:rPr>
              <a:t>R</a:t>
            </a:r>
            <a:r>
              <a:rPr sz="1600" b="1" spc="-5" dirty="0">
                <a:latin typeface="Times New Roman"/>
                <a:cs typeface="Times New Roman"/>
              </a:rPr>
              <a:t>M</a:t>
            </a:r>
            <a:r>
              <a:rPr sz="1600" b="1" spc="-10" dirty="0">
                <a:latin typeface="Times New Roman"/>
                <a:cs typeface="Times New Roman"/>
              </a:rPr>
              <a:t>A</a:t>
            </a:r>
            <a:r>
              <a:rPr sz="1600" b="1" spc="-5" dirty="0">
                <a:latin typeface="Times New Roman"/>
                <a:cs typeface="Times New Roman"/>
              </a:rPr>
              <a:t>S</a:t>
            </a:r>
            <a:r>
              <a:rPr sz="1600" b="1" dirty="0">
                <a:latin typeface="Times New Roman"/>
                <a:cs typeface="Times New Roman"/>
              </a:rPr>
              <a:t>I</a:t>
            </a:r>
            <a:r>
              <a:rPr sz="1600" b="1" spc="-70" dirty="0">
                <a:latin typeface="Times New Roman"/>
                <a:cs typeface="Times New Roman"/>
              </a:rPr>
              <a:t> </a:t>
            </a:r>
            <a:r>
              <a:rPr sz="1600" b="1" spc="10" dirty="0">
                <a:latin typeface="Times New Roman"/>
                <a:cs typeface="Times New Roman"/>
              </a:rPr>
              <a:t>1</a:t>
            </a:r>
            <a:r>
              <a:rPr sz="1600" b="1" spc="-10" dirty="0">
                <a:latin typeface="Times New Roman"/>
                <a:cs typeface="Times New Roman"/>
              </a:rPr>
              <a:t>:</a:t>
            </a:r>
            <a:r>
              <a:rPr sz="1600" b="1" spc="5" dirty="0">
                <a:latin typeface="Times New Roman"/>
                <a:cs typeface="Times New Roman"/>
              </a:rPr>
              <a:t>M</a:t>
            </a:r>
            <a:endParaRPr sz="1600">
              <a:latin typeface="Times New Roman"/>
              <a:cs typeface="Times New Roman"/>
            </a:endParaRPr>
          </a:p>
        </p:txBody>
      </p:sp>
      <p:sp>
        <p:nvSpPr>
          <p:cNvPr id="3" name="object 3"/>
          <p:cNvSpPr txBox="1"/>
          <p:nvPr/>
        </p:nvSpPr>
        <p:spPr>
          <a:xfrm>
            <a:off x="3507485" y="1329385"/>
            <a:ext cx="1462405" cy="271145"/>
          </a:xfrm>
          <a:prstGeom prst="rect">
            <a:avLst/>
          </a:prstGeom>
        </p:spPr>
        <p:txBody>
          <a:bodyPr vert="horz" wrap="square" lIns="0" tIns="13970" rIns="0" bIns="0" rtlCol="0">
            <a:spAutoFit/>
          </a:bodyPr>
          <a:lstStyle/>
          <a:p>
            <a:pPr marL="12700">
              <a:lnSpc>
                <a:spcPct val="100000"/>
              </a:lnSpc>
              <a:spcBef>
                <a:spcPts val="110"/>
              </a:spcBef>
            </a:pPr>
            <a:r>
              <a:rPr sz="1600" spc="-10" dirty="0">
                <a:latin typeface="Times New Roman"/>
                <a:cs typeface="Times New Roman"/>
              </a:rPr>
              <a:t>ONE-TO-MANY</a:t>
            </a:r>
            <a:endParaRPr sz="1600">
              <a:latin typeface="Times New Roman"/>
              <a:cs typeface="Times New Roman"/>
            </a:endParaRPr>
          </a:p>
        </p:txBody>
      </p:sp>
      <p:sp>
        <p:nvSpPr>
          <p:cNvPr id="4" name="object 4"/>
          <p:cNvSpPr txBox="1"/>
          <p:nvPr/>
        </p:nvSpPr>
        <p:spPr>
          <a:xfrm>
            <a:off x="6083300" y="1870963"/>
            <a:ext cx="995680" cy="664845"/>
          </a:xfrm>
          <a:prstGeom prst="rect">
            <a:avLst/>
          </a:prstGeom>
        </p:spPr>
        <p:txBody>
          <a:bodyPr vert="horz" wrap="square" lIns="0" tIns="11430" rIns="0" bIns="0" rtlCol="0">
            <a:spAutoFit/>
          </a:bodyPr>
          <a:lstStyle/>
          <a:p>
            <a:pPr marL="12700" marR="5080">
              <a:lnSpc>
                <a:spcPct val="100000"/>
              </a:lnSpc>
              <a:spcBef>
                <a:spcPts val="90"/>
              </a:spcBef>
            </a:pPr>
            <a:r>
              <a:rPr sz="1400" u="sng" spc="-15" dirty="0">
                <a:uFill>
                  <a:solidFill>
                    <a:srgbClr val="000000"/>
                  </a:solidFill>
                </a:uFill>
                <a:latin typeface="Times New Roman"/>
                <a:cs typeface="Times New Roman"/>
              </a:rPr>
              <a:t>KD-PROY </a:t>
            </a:r>
            <a:r>
              <a:rPr sz="1400" spc="-10"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T</a:t>
            </a:r>
            <a:r>
              <a:rPr sz="1400" spc="-5"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5" dirty="0">
                <a:latin typeface="Times New Roman"/>
                <a:cs typeface="Times New Roman"/>
              </a:rPr>
              <a:t>MU</a:t>
            </a:r>
            <a:r>
              <a:rPr sz="1400" spc="-40" dirty="0">
                <a:latin typeface="Times New Roman"/>
                <a:cs typeface="Times New Roman"/>
              </a:rPr>
              <a:t>L</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5" name="object 5"/>
          <p:cNvSpPr txBox="1"/>
          <p:nvPr/>
        </p:nvSpPr>
        <p:spPr>
          <a:xfrm>
            <a:off x="1449069" y="1935937"/>
            <a:ext cx="955675" cy="1304925"/>
          </a:xfrm>
          <a:prstGeom prst="rect">
            <a:avLst/>
          </a:prstGeom>
        </p:spPr>
        <p:txBody>
          <a:bodyPr vert="horz" wrap="square" lIns="0" tIns="12065" rIns="0" bIns="0" rtlCol="0">
            <a:spAutoFit/>
          </a:bodyPr>
          <a:lstStyle/>
          <a:p>
            <a:pPr marL="12700" marR="5080">
              <a:lnSpc>
                <a:spcPct val="100000"/>
              </a:lnSpc>
              <a:spcBef>
                <a:spcPts val="95"/>
              </a:spcBef>
            </a:pPr>
            <a:r>
              <a:rPr sz="1400" u="sng" spc="-10" dirty="0">
                <a:uFill>
                  <a:solidFill>
                    <a:srgbClr val="000000"/>
                  </a:solidFill>
                </a:uFill>
                <a:latin typeface="Times New Roman"/>
                <a:cs typeface="Times New Roman"/>
              </a:rPr>
              <a:t>NO-PEG </a:t>
            </a:r>
            <a:r>
              <a:rPr sz="1400" spc="-5" dirty="0">
                <a:latin typeface="Times New Roman"/>
                <a:cs typeface="Times New Roman"/>
              </a:rPr>
              <a:t> </a:t>
            </a:r>
            <a:r>
              <a:rPr sz="1400" spc="-15"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0" dirty="0">
                <a:latin typeface="Times New Roman"/>
                <a:cs typeface="Times New Roman"/>
              </a:rPr>
              <a:t>L</a:t>
            </a:r>
            <a:r>
              <a:rPr sz="1400" spc="-10"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0" dirty="0">
                <a:latin typeface="Times New Roman"/>
                <a:cs typeface="Times New Roman"/>
              </a:rPr>
              <a:t>NAMA </a:t>
            </a:r>
            <a:r>
              <a:rPr sz="1400" spc="-5" dirty="0">
                <a:latin typeface="Times New Roman"/>
                <a:cs typeface="Times New Roman"/>
              </a:rPr>
              <a:t> </a:t>
            </a:r>
            <a:r>
              <a:rPr sz="1400" spc="-45" dirty="0">
                <a:latin typeface="Times New Roman"/>
                <a:cs typeface="Times New Roman"/>
              </a:rPr>
              <a:t>ALAMAT </a:t>
            </a:r>
            <a:r>
              <a:rPr sz="1400" spc="-40" dirty="0">
                <a:latin typeface="Times New Roman"/>
                <a:cs typeface="Times New Roman"/>
              </a:rPr>
              <a:t> </a:t>
            </a:r>
            <a:r>
              <a:rPr sz="1400" spc="-60" dirty="0">
                <a:latin typeface="Times New Roman"/>
                <a:cs typeface="Times New Roman"/>
              </a:rPr>
              <a:t>STATUS</a:t>
            </a:r>
            <a:endParaRPr sz="1400">
              <a:latin typeface="Times New Roman"/>
              <a:cs typeface="Times New Roman"/>
            </a:endParaRPr>
          </a:p>
          <a:p>
            <a:pPr marL="12700">
              <a:lnSpc>
                <a:spcPct val="100000"/>
              </a:lnSpc>
            </a:pPr>
            <a:r>
              <a:rPr sz="1400" spc="-15" dirty="0">
                <a:latin typeface="Times New Roman"/>
                <a:cs typeface="Times New Roman"/>
              </a:rPr>
              <a:t>GA-POK</a:t>
            </a:r>
            <a:endParaRPr sz="1400">
              <a:latin typeface="Times New Roman"/>
              <a:cs typeface="Times New Roman"/>
            </a:endParaRPr>
          </a:p>
        </p:txBody>
      </p:sp>
      <p:grpSp>
        <p:nvGrpSpPr>
          <p:cNvPr id="6" name="object 6"/>
          <p:cNvGrpSpPr/>
          <p:nvPr/>
        </p:nvGrpSpPr>
        <p:grpSpPr>
          <a:xfrm>
            <a:off x="3481323" y="2100326"/>
            <a:ext cx="1477010" cy="561975"/>
            <a:chOff x="3481323" y="2100326"/>
            <a:chExt cx="1477010" cy="561975"/>
          </a:xfrm>
        </p:grpSpPr>
        <p:sp>
          <p:nvSpPr>
            <p:cNvPr id="7" name="object 7"/>
            <p:cNvSpPr/>
            <p:nvPr/>
          </p:nvSpPr>
          <p:spPr>
            <a:xfrm>
              <a:off x="3761993" y="2106676"/>
              <a:ext cx="915035" cy="549275"/>
            </a:xfrm>
            <a:custGeom>
              <a:avLst/>
              <a:gdLst/>
              <a:ahLst/>
              <a:cxnLst/>
              <a:rect l="l" t="t" r="r" b="b"/>
              <a:pathLst>
                <a:path w="915035" h="549275">
                  <a:moveTo>
                    <a:pt x="0" y="274954"/>
                  </a:moveTo>
                  <a:lnTo>
                    <a:pt x="457961" y="0"/>
                  </a:lnTo>
                </a:path>
                <a:path w="915035" h="549275">
                  <a:moveTo>
                    <a:pt x="457326" y="0"/>
                  </a:moveTo>
                  <a:lnTo>
                    <a:pt x="915034" y="274954"/>
                  </a:lnTo>
                </a:path>
                <a:path w="915035" h="549275">
                  <a:moveTo>
                    <a:pt x="0" y="274193"/>
                  </a:moveTo>
                  <a:lnTo>
                    <a:pt x="457961" y="549275"/>
                  </a:lnTo>
                </a:path>
                <a:path w="915035" h="549275">
                  <a:moveTo>
                    <a:pt x="457326" y="549275"/>
                  </a:moveTo>
                  <a:lnTo>
                    <a:pt x="915034" y="274193"/>
                  </a:lnTo>
                </a:path>
              </a:pathLst>
            </a:custGeom>
            <a:ln w="12700">
              <a:solidFill>
                <a:srgbClr val="000000"/>
              </a:solidFill>
            </a:ln>
          </p:spPr>
          <p:txBody>
            <a:bodyPr wrap="square" lIns="0" tIns="0" rIns="0" bIns="0" rtlCol="0"/>
            <a:lstStyle/>
            <a:p>
              <a:endParaRPr/>
            </a:p>
          </p:txBody>
        </p:sp>
        <p:sp>
          <p:nvSpPr>
            <p:cNvPr id="8" name="object 8"/>
            <p:cNvSpPr/>
            <p:nvPr/>
          </p:nvSpPr>
          <p:spPr>
            <a:xfrm>
              <a:off x="3487673" y="2380869"/>
              <a:ext cx="1464310" cy="1270"/>
            </a:xfrm>
            <a:custGeom>
              <a:avLst/>
              <a:gdLst/>
              <a:ahLst/>
              <a:cxnLst/>
              <a:rect l="l" t="t" r="r" b="b"/>
              <a:pathLst>
                <a:path w="1464310" h="1269">
                  <a:moveTo>
                    <a:pt x="274954" y="0"/>
                  </a:moveTo>
                  <a:lnTo>
                    <a:pt x="0" y="761"/>
                  </a:lnTo>
                </a:path>
                <a:path w="1464310" h="1269">
                  <a:moveTo>
                    <a:pt x="1188847" y="0"/>
                  </a:moveTo>
                  <a:lnTo>
                    <a:pt x="1463802" y="761"/>
                  </a:lnTo>
                </a:path>
              </a:pathLst>
            </a:custGeom>
            <a:ln w="12700">
              <a:solidFill>
                <a:srgbClr val="000000"/>
              </a:solidFill>
            </a:ln>
          </p:spPr>
          <p:txBody>
            <a:bodyPr wrap="square" lIns="0" tIns="0" rIns="0" bIns="0" rtlCol="0"/>
            <a:lstStyle/>
            <a:p>
              <a:endParaRPr/>
            </a:p>
          </p:txBody>
        </p:sp>
      </p:grpSp>
      <p:sp>
        <p:nvSpPr>
          <p:cNvPr id="9" name="object 9"/>
          <p:cNvSpPr txBox="1"/>
          <p:nvPr/>
        </p:nvSpPr>
        <p:spPr>
          <a:xfrm>
            <a:off x="3534283" y="2175763"/>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10" name="object 10"/>
          <p:cNvSpPr txBox="1"/>
          <p:nvPr/>
        </p:nvSpPr>
        <p:spPr>
          <a:xfrm>
            <a:off x="4804664" y="2164842"/>
            <a:ext cx="11430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1</a:t>
            </a:r>
            <a:endParaRPr sz="1400">
              <a:latin typeface="Times New Roman"/>
              <a:cs typeface="Times New Roman"/>
            </a:endParaRPr>
          </a:p>
        </p:txBody>
      </p:sp>
      <p:sp>
        <p:nvSpPr>
          <p:cNvPr id="11" name="object 11"/>
          <p:cNvSpPr txBox="1"/>
          <p:nvPr/>
        </p:nvSpPr>
        <p:spPr>
          <a:xfrm>
            <a:off x="2573401" y="2106561"/>
            <a:ext cx="915035" cy="457834"/>
          </a:xfrm>
          <a:prstGeom prst="rect">
            <a:avLst/>
          </a:prstGeom>
          <a:ln w="12700">
            <a:solidFill>
              <a:srgbClr val="000000"/>
            </a:solidFill>
          </a:ln>
        </p:spPr>
        <p:txBody>
          <a:bodyPr vert="horz" wrap="square" lIns="0" tIns="104775" rIns="0" bIns="0" rtlCol="0">
            <a:spAutoFit/>
          </a:bodyPr>
          <a:lstStyle/>
          <a:p>
            <a:pPr marL="31750">
              <a:lnSpc>
                <a:spcPct val="100000"/>
              </a:lnSpc>
              <a:spcBef>
                <a:spcPts val="825"/>
              </a:spcBef>
            </a:pPr>
            <a:r>
              <a:rPr sz="1400" spc="-55" dirty="0">
                <a:latin typeface="Times New Roman"/>
                <a:cs typeface="Times New Roman"/>
              </a:rPr>
              <a:t>PEGAWAI</a:t>
            </a:r>
            <a:endParaRPr sz="1400">
              <a:latin typeface="Times New Roman"/>
              <a:cs typeface="Times New Roman"/>
            </a:endParaRPr>
          </a:p>
        </p:txBody>
      </p:sp>
      <p:sp>
        <p:nvSpPr>
          <p:cNvPr id="12" name="object 12"/>
          <p:cNvSpPr txBox="1"/>
          <p:nvPr/>
        </p:nvSpPr>
        <p:spPr>
          <a:xfrm>
            <a:off x="4950586" y="2106561"/>
            <a:ext cx="915669" cy="457834"/>
          </a:xfrm>
          <a:prstGeom prst="rect">
            <a:avLst/>
          </a:prstGeom>
          <a:ln w="12700">
            <a:solidFill>
              <a:srgbClr val="000000"/>
            </a:solidFill>
          </a:ln>
        </p:spPr>
        <p:txBody>
          <a:bodyPr vert="horz" wrap="square" lIns="0" tIns="69850" rIns="0" bIns="0" rtlCol="0">
            <a:spAutoFit/>
          </a:bodyPr>
          <a:lstStyle/>
          <a:p>
            <a:pPr marL="58419">
              <a:lnSpc>
                <a:spcPct val="100000"/>
              </a:lnSpc>
              <a:spcBef>
                <a:spcPts val="550"/>
              </a:spcBef>
            </a:pPr>
            <a:r>
              <a:rPr sz="1400" spc="-10" dirty="0">
                <a:latin typeface="Times New Roman"/>
                <a:cs typeface="Times New Roman"/>
              </a:rPr>
              <a:t>PROYEK</a:t>
            </a:r>
            <a:endParaRPr sz="1400">
              <a:latin typeface="Times New Roman"/>
              <a:cs typeface="Times New Roman"/>
            </a:endParaRPr>
          </a:p>
        </p:txBody>
      </p:sp>
      <p:sp>
        <p:nvSpPr>
          <p:cNvPr id="13" name="object 13"/>
          <p:cNvSpPr txBox="1"/>
          <p:nvPr/>
        </p:nvSpPr>
        <p:spPr>
          <a:xfrm>
            <a:off x="3952113" y="2285492"/>
            <a:ext cx="573405" cy="238125"/>
          </a:xfrm>
          <a:prstGeom prst="rect">
            <a:avLst/>
          </a:prstGeom>
        </p:spPr>
        <p:txBody>
          <a:bodyPr vert="horz" wrap="square" lIns="0" tIns="11430" rIns="0" bIns="0" rtlCol="0">
            <a:spAutoFit/>
          </a:bodyPr>
          <a:lstStyle/>
          <a:p>
            <a:pPr marL="12700">
              <a:lnSpc>
                <a:spcPct val="100000"/>
              </a:lnSpc>
              <a:spcBef>
                <a:spcPts val="90"/>
              </a:spcBef>
            </a:pPr>
            <a:r>
              <a:rPr sz="1400" spc="-35" dirty="0">
                <a:latin typeface="Times New Roman"/>
                <a:cs typeface="Times New Roman"/>
              </a:rPr>
              <a:t>K</a:t>
            </a:r>
            <a:r>
              <a:rPr sz="1400" spc="-20" dirty="0">
                <a:latin typeface="Times New Roman"/>
                <a:cs typeface="Times New Roman"/>
              </a:rPr>
              <a:t>E</a:t>
            </a:r>
            <a:r>
              <a:rPr sz="1400" spc="-5" dirty="0">
                <a:latin typeface="Times New Roman"/>
                <a:cs typeface="Times New Roman"/>
              </a:rPr>
              <a:t>R</a:t>
            </a:r>
            <a:r>
              <a:rPr sz="1400" dirty="0">
                <a:latin typeface="Times New Roman"/>
                <a:cs typeface="Times New Roman"/>
              </a:rPr>
              <a:t>J</a:t>
            </a:r>
            <a:r>
              <a:rPr sz="1400" spc="-10" dirty="0">
                <a:latin typeface="Times New Roman"/>
                <a:cs typeface="Times New Roman"/>
              </a:rPr>
              <a:t>A</a:t>
            </a:r>
            <a:endParaRPr sz="1400">
              <a:latin typeface="Times New Roman"/>
              <a:cs typeface="Times New Roman"/>
            </a:endParaRPr>
          </a:p>
        </p:txBody>
      </p:sp>
      <p:sp>
        <p:nvSpPr>
          <p:cNvPr id="14" name="object 14"/>
          <p:cNvSpPr txBox="1"/>
          <p:nvPr/>
        </p:nvSpPr>
        <p:spPr>
          <a:xfrm>
            <a:off x="2802001" y="5195887"/>
            <a:ext cx="1120775" cy="1590675"/>
          </a:xfrm>
          <a:prstGeom prst="rect">
            <a:avLst/>
          </a:prstGeom>
          <a:ln w="12700">
            <a:solidFill>
              <a:srgbClr val="000000"/>
            </a:solidFill>
          </a:ln>
        </p:spPr>
        <p:txBody>
          <a:bodyPr vert="horz" wrap="square" lIns="0" tIns="40640" rIns="0" bIns="0" rtlCol="0">
            <a:spAutoFit/>
          </a:bodyPr>
          <a:lstStyle/>
          <a:p>
            <a:pPr marL="92075" marR="92075">
              <a:lnSpc>
                <a:spcPct val="100000"/>
              </a:lnSpc>
              <a:spcBef>
                <a:spcPts val="320"/>
              </a:spcBef>
            </a:pPr>
            <a:r>
              <a:rPr sz="1400" u="sng" spc="-15" dirty="0">
                <a:uFill>
                  <a:solidFill>
                    <a:srgbClr val="000000"/>
                  </a:solidFill>
                </a:uFill>
                <a:latin typeface="Times New Roman"/>
                <a:cs typeface="Times New Roman"/>
              </a:rPr>
              <a:t>NO-PEG </a:t>
            </a:r>
            <a:r>
              <a:rPr sz="1400" spc="-10" dirty="0">
                <a:latin typeface="Times New Roman"/>
                <a:cs typeface="Times New Roman"/>
              </a:rPr>
              <a:t> </a:t>
            </a:r>
            <a:r>
              <a:rPr sz="1400" spc="-20"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0" dirty="0">
                <a:latin typeface="Times New Roman"/>
                <a:cs typeface="Times New Roman"/>
              </a:rPr>
              <a:t>L</a:t>
            </a:r>
            <a:r>
              <a:rPr sz="1400" spc="-10"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0" dirty="0">
                <a:latin typeface="Times New Roman"/>
                <a:cs typeface="Times New Roman"/>
              </a:rPr>
              <a:t>NAMA </a:t>
            </a:r>
            <a:r>
              <a:rPr sz="1400" spc="-5" dirty="0">
                <a:latin typeface="Times New Roman"/>
                <a:cs typeface="Times New Roman"/>
              </a:rPr>
              <a:t> </a:t>
            </a:r>
            <a:r>
              <a:rPr sz="1400" spc="-50" dirty="0">
                <a:latin typeface="Times New Roman"/>
                <a:cs typeface="Times New Roman"/>
              </a:rPr>
              <a:t>ALAMAT </a:t>
            </a:r>
            <a:r>
              <a:rPr sz="1400" spc="-45" dirty="0">
                <a:latin typeface="Times New Roman"/>
                <a:cs typeface="Times New Roman"/>
              </a:rPr>
              <a:t> </a:t>
            </a:r>
            <a:r>
              <a:rPr sz="1400" spc="-65" dirty="0">
                <a:latin typeface="Times New Roman"/>
                <a:cs typeface="Times New Roman"/>
              </a:rPr>
              <a:t>STATUS</a:t>
            </a:r>
            <a:endParaRPr sz="1400">
              <a:latin typeface="Times New Roman"/>
              <a:cs typeface="Times New Roman"/>
            </a:endParaRPr>
          </a:p>
          <a:p>
            <a:pPr marL="92075">
              <a:lnSpc>
                <a:spcPct val="100000"/>
              </a:lnSpc>
              <a:spcBef>
                <a:spcPts val="5"/>
              </a:spcBef>
            </a:pPr>
            <a:r>
              <a:rPr sz="1400" spc="-15" dirty="0">
                <a:latin typeface="Times New Roman"/>
                <a:cs typeface="Times New Roman"/>
              </a:rPr>
              <a:t>GA-POK</a:t>
            </a:r>
            <a:endParaRPr sz="1400">
              <a:latin typeface="Times New Roman"/>
              <a:cs typeface="Times New Roman"/>
            </a:endParaRPr>
          </a:p>
          <a:p>
            <a:pPr marL="92075">
              <a:lnSpc>
                <a:spcPct val="100000"/>
              </a:lnSpc>
            </a:pPr>
            <a:r>
              <a:rPr sz="1400" spc="-15" dirty="0">
                <a:latin typeface="Times New Roman"/>
                <a:cs typeface="Times New Roman"/>
              </a:rPr>
              <a:t>KD-PROY</a:t>
            </a:r>
            <a:endParaRPr sz="1400">
              <a:latin typeface="Times New Roman"/>
              <a:cs typeface="Times New Roman"/>
            </a:endParaRPr>
          </a:p>
        </p:txBody>
      </p:sp>
      <p:sp>
        <p:nvSpPr>
          <p:cNvPr id="15" name="object 15"/>
          <p:cNvSpPr txBox="1"/>
          <p:nvPr/>
        </p:nvSpPr>
        <p:spPr>
          <a:xfrm>
            <a:off x="5332476" y="5260975"/>
            <a:ext cx="1144905" cy="739775"/>
          </a:xfrm>
          <a:prstGeom prst="rect">
            <a:avLst/>
          </a:prstGeom>
          <a:ln w="12700">
            <a:solidFill>
              <a:srgbClr val="000000"/>
            </a:solidFill>
          </a:ln>
        </p:spPr>
        <p:txBody>
          <a:bodyPr vert="horz" wrap="square" lIns="0" tIns="41275" rIns="0" bIns="0" rtlCol="0">
            <a:spAutoFit/>
          </a:bodyPr>
          <a:lstStyle/>
          <a:p>
            <a:pPr marL="92710" marR="73660">
              <a:lnSpc>
                <a:spcPct val="100000"/>
              </a:lnSpc>
              <a:spcBef>
                <a:spcPts val="325"/>
              </a:spcBef>
            </a:pPr>
            <a:r>
              <a:rPr sz="1400" u="sng" spc="-15" dirty="0">
                <a:uFill>
                  <a:solidFill>
                    <a:srgbClr val="000000"/>
                  </a:solidFill>
                </a:uFill>
                <a:latin typeface="Times New Roman"/>
                <a:cs typeface="Times New Roman"/>
              </a:rPr>
              <a:t>KD-PROY </a:t>
            </a:r>
            <a:r>
              <a:rPr sz="1400" spc="-10"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5" dirty="0">
                <a:latin typeface="Times New Roman"/>
                <a:cs typeface="Times New Roman"/>
              </a:rPr>
              <a:t>M</a:t>
            </a:r>
            <a:r>
              <a:rPr sz="1400" spc="-10" dirty="0">
                <a:latin typeface="Times New Roman"/>
                <a:cs typeface="Times New Roman"/>
              </a:rPr>
              <a:t>U</a:t>
            </a:r>
            <a:r>
              <a:rPr sz="1400" spc="-40" dirty="0">
                <a:latin typeface="Times New Roman"/>
                <a:cs typeface="Times New Roman"/>
              </a:rPr>
              <a:t>L</a:t>
            </a:r>
            <a:r>
              <a:rPr sz="1400" spc="-35"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16" name="object 16"/>
          <p:cNvSpPr/>
          <p:nvPr/>
        </p:nvSpPr>
        <p:spPr>
          <a:xfrm>
            <a:off x="3960748" y="5578475"/>
            <a:ext cx="1376680" cy="127000"/>
          </a:xfrm>
          <a:custGeom>
            <a:avLst/>
            <a:gdLst/>
            <a:ahLst/>
            <a:cxnLst/>
            <a:rect l="l" t="t" r="r" b="b"/>
            <a:pathLst>
              <a:path w="1376679" h="127000">
                <a:moveTo>
                  <a:pt x="127000" y="0"/>
                </a:moveTo>
                <a:lnTo>
                  <a:pt x="0" y="63500"/>
                </a:lnTo>
                <a:lnTo>
                  <a:pt x="127000" y="127000"/>
                </a:lnTo>
                <a:lnTo>
                  <a:pt x="81279" y="69850"/>
                </a:lnTo>
                <a:lnTo>
                  <a:pt x="76200" y="69850"/>
                </a:lnTo>
                <a:lnTo>
                  <a:pt x="76200" y="57150"/>
                </a:lnTo>
                <a:lnTo>
                  <a:pt x="81279" y="57150"/>
                </a:lnTo>
                <a:lnTo>
                  <a:pt x="127000" y="0"/>
                </a:lnTo>
                <a:close/>
              </a:path>
              <a:path w="1376679" h="127000">
                <a:moveTo>
                  <a:pt x="76200" y="63500"/>
                </a:moveTo>
                <a:lnTo>
                  <a:pt x="76200" y="69850"/>
                </a:lnTo>
                <a:lnTo>
                  <a:pt x="81279" y="69850"/>
                </a:lnTo>
                <a:lnTo>
                  <a:pt x="76200" y="63500"/>
                </a:lnTo>
                <a:close/>
              </a:path>
              <a:path w="1376679" h="127000">
                <a:moveTo>
                  <a:pt x="1376426" y="57150"/>
                </a:moveTo>
                <a:lnTo>
                  <a:pt x="81279" y="57150"/>
                </a:lnTo>
                <a:lnTo>
                  <a:pt x="76200" y="63500"/>
                </a:lnTo>
                <a:lnTo>
                  <a:pt x="81279" y="69850"/>
                </a:lnTo>
                <a:lnTo>
                  <a:pt x="1376426" y="69850"/>
                </a:lnTo>
                <a:lnTo>
                  <a:pt x="1376426" y="57150"/>
                </a:lnTo>
                <a:close/>
              </a:path>
              <a:path w="1376679" h="127000">
                <a:moveTo>
                  <a:pt x="81279" y="57150"/>
                </a:moveTo>
                <a:lnTo>
                  <a:pt x="76200" y="57150"/>
                </a:lnTo>
                <a:lnTo>
                  <a:pt x="76200" y="63500"/>
                </a:lnTo>
                <a:lnTo>
                  <a:pt x="81279" y="57150"/>
                </a:lnTo>
                <a:close/>
              </a:path>
            </a:pathLst>
          </a:custGeom>
          <a:solidFill>
            <a:srgbClr val="000000"/>
          </a:solidFill>
        </p:spPr>
        <p:txBody>
          <a:bodyPr wrap="square" lIns="0" tIns="0" rIns="0" bIns="0" rtlCol="0"/>
          <a:lstStyle/>
          <a:p>
            <a:endParaRPr/>
          </a:p>
        </p:txBody>
      </p:sp>
      <p:sp>
        <p:nvSpPr>
          <p:cNvPr id="17" name="object 17"/>
          <p:cNvSpPr txBox="1"/>
          <p:nvPr/>
        </p:nvSpPr>
        <p:spPr>
          <a:xfrm>
            <a:off x="2821304" y="4909184"/>
            <a:ext cx="80073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20" dirty="0">
                <a:latin typeface="Times New Roman"/>
                <a:cs typeface="Times New Roman"/>
              </a:rPr>
              <a:t>E</a:t>
            </a:r>
            <a:r>
              <a:rPr sz="1400" spc="-10" dirty="0">
                <a:latin typeface="Times New Roman"/>
                <a:cs typeface="Times New Roman"/>
              </a:rPr>
              <a:t>G</a:t>
            </a:r>
            <a:r>
              <a:rPr sz="1400" spc="-150" dirty="0">
                <a:latin typeface="Times New Roman"/>
                <a:cs typeface="Times New Roman"/>
              </a:rPr>
              <a:t>AW</a:t>
            </a:r>
            <a:r>
              <a:rPr sz="1400" spc="-35"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18" name="object 18"/>
          <p:cNvSpPr txBox="1"/>
          <p:nvPr/>
        </p:nvSpPr>
        <p:spPr>
          <a:xfrm>
            <a:off x="5397246" y="4920183"/>
            <a:ext cx="73215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5" dirty="0">
                <a:latin typeface="Times New Roman"/>
                <a:cs typeface="Times New Roman"/>
              </a:rPr>
              <a:t>ROY</a:t>
            </a:r>
            <a:r>
              <a:rPr sz="1400" spc="-15" dirty="0">
                <a:latin typeface="Times New Roman"/>
                <a:cs typeface="Times New Roman"/>
              </a:rPr>
              <a:t>E</a:t>
            </a:r>
            <a:r>
              <a:rPr sz="1400" spc="-5" dirty="0">
                <a:latin typeface="Times New Roman"/>
                <a:cs typeface="Times New Roman"/>
              </a:rPr>
              <a:t>K</a:t>
            </a:r>
            <a:endParaRPr sz="1400">
              <a:latin typeface="Times New Roman"/>
              <a:cs typeface="Times New Roman"/>
            </a:endParaRPr>
          </a:p>
        </p:txBody>
      </p:sp>
      <p:sp>
        <p:nvSpPr>
          <p:cNvPr id="19" name="object 19"/>
          <p:cNvSpPr txBox="1"/>
          <p:nvPr/>
        </p:nvSpPr>
        <p:spPr>
          <a:xfrm>
            <a:off x="4177410" y="5377688"/>
            <a:ext cx="809625" cy="238125"/>
          </a:xfrm>
          <a:prstGeom prst="rect">
            <a:avLst/>
          </a:prstGeom>
        </p:spPr>
        <p:txBody>
          <a:bodyPr vert="horz" wrap="square" lIns="0" tIns="11430" rIns="0" bIns="0" rtlCol="0">
            <a:spAutoFit/>
          </a:bodyPr>
          <a:lstStyle/>
          <a:p>
            <a:pPr marL="12700">
              <a:lnSpc>
                <a:spcPct val="100000"/>
              </a:lnSpc>
              <a:spcBef>
                <a:spcPts val="90"/>
              </a:spcBef>
            </a:pPr>
            <a:r>
              <a:rPr sz="1400" spc="-30" dirty="0">
                <a:latin typeface="Times New Roman"/>
                <a:cs typeface="Times New Roman"/>
              </a:rPr>
              <a:t>K</a:t>
            </a:r>
            <a:r>
              <a:rPr sz="1400" spc="-10" dirty="0">
                <a:latin typeface="Times New Roman"/>
                <a:cs typeface="Times New Roman"/>
              </a:rPr>
              <a:t>D</a:t>
            </a:r>
            <a:r>
              <a:rPr sz="1400" spc="-15" dirty="0">
                <a:latin typeface="Times New Roman"/>
                <a:cs typeface="Times New Roman"/>
              </a:rPr>
              <a:t>-</a:t>
            </a:r>
            <a:r>
              <a:rPr sz="1400" spc="-5" dirty="0">
                <a:latin typeface="Times New Roman"/>
                <a:cs typeface="Times New Roman"/>
              </a:rPr>
              <a:t>PR</a:t>
            </a:r>
            <a:r>
              <a:rPr sz="1400" spc="-10" dirty="0">
                <a:latin typeface="Times New Roman"/>
                <a:cs typeface="Times New Roman"/>
              </a:rPr>
              <a:t>OY</a:t>
            </a:r>
            <a:endParaRPr sz="1400">
              <a:latin typeface="Times New Roman"/>
              <a:cs typeface="Times New Roman"/>
            </a:endParaRPr>
          </a:p>
        </p:txBody>
      </p:sp>
      <p:grpSp>
        <p:nvGrpSpPr>
          <p:cNvPr id="20" name="object 20"/>
          <p:cNvGrpSpPr/>
          <p:nvPr/>
        </p:nvGrpSpPr>
        <p:grpSpPr>
          <a:xfrm>
            <a:off x="3725926" y="3349625"/>
            <a:ext cx="1536700" cy="1003300"/>
            <a:chOff x="3725926" y="3349625"/>
            <a:chExt cx="1536700" cy="1003300"/>
          </a:xfrm>
        </p:grpSpPr>
        <p:sp>
          <p:nvSpPr>
            <p:cNvPr id="21" name="object 21"/>
            <p:cNvSpPr/>
            <p:nvPr/>
          </p:nvSpPr>
          <p:spPr>
            <a:xfrm>
              <a:off x="3732276" y="3355975"/>
              <a:ext cx="1524000" cy="990600"/>
            </a:xfrm>
            <a:custGeom>
              <a:avLst/>
              <a:gdLst/>
              <a:ahLst/>
              <a:cxnLst/>
              <a:rect l="l" t="t" r="r" b="b"/>
              <a:pathLst>
                <a:path w="1524000" h="990600">
                  <a:moveTo>
                    <a:pt x="1143000" y="0"/>
                  </a:moveTo>
                  <a:lnTo>
                    <a:pt x="381000" y="0"/>
                  </a:lnTo>
                  <a:lnTo>
                    <a:pt x="381000" y="742950"/>
                  </a:lnTo>
                  <a:lnTo>
                    <a:pt x="0" y="742950"/>
                  </a:lnTo>
                  <a:lnTo>
                    <a:pt x="762000" y="990600"/>
                  </a:lnTo>
                  <a:lnTo>
                    <a:pt x="1524000" y="742950"/>
                  </a:lnTo>
                  <a:lnTo>
                    <a:pt x="1143000" y="742950"/>
                  </a:lnTo>
                  <a:lnTo>
                    <a:pt x="1143000" y="0"/>
                  </a:lnTo>
                  <a:close/>
                </a:path>
              </a:pathLst>
            </a:custGeom>
            <a:solidFill>
              <a:srgbClr val="F8F8F8"/>
            </a:solidFill>
          </p:spPr>
          <p:txBody>
            <a:bodyPr wrap="square" lIns="0" tIns="0" rIns="0" bIns="0" rtlCol="0"/>
            <a:lstStyle/>
            <a:p>
              <a:endParaRPr/>
            </a:p>
          </p:txBody>
        </p:sp>
        <p:sp>
          <p:nvSpPr>
            <p:cNvPr id="22" name="object 22"/>
            <p:cNvSpPr/>
            <p:nvPr/>
          </p:nvSpPr>
          <p:spPr>
            <a:xfrm>
              <a:off x="3732276" y="3355975"/>
              <a:ext cx="1524000" cy="990600"/>
            </a:xfrm>
            <a:custGeom>
              <a:avLst/>
              <a:gdLst/>
              <a:ahLst/>
              <a:cxnLst/>
              <a:rect l="l" t="t" r="r" b="b"/>
              <a:pathLst>
                <a:path w="1524000" h="990600">
                  <a:moveTo>
                    <a:pt x="0" y="742950"/>
                  </a:moveTo>
                  <a:lnTo>
                    <a:pt x="381000" y="742950"/>
                  </a:lnTo>
                  <a:lnTo>
                    <a:pt x="381000" y="0"/>
                  </a:lnTo>
                  <a:lnTo>
                    <a:pt x="1143000" y="0"/>
                  </a:lnTo>
                  <a:lnTo>
                    <a:pt x="1143000" y="742950"/>
                  </a:lnTo>
                  <a:lnTo>
                    <a:pt x="1524000" y="742950"/>
                  </a:lnTo>
                  <a:lnTo>
                    <a:pt x="762000" y="990600"/>
                  </a:lnTo>
                  <a:lnTo>
                    <a:pt x="0" y="742950"/>
                  </a:lnTo>
                  <a:close/>
                </a:path>
              </a:pathLst>
            </a:custGeom>
            <a:ln w="12700">
              <a:solidFill>
                <a:srgbClr val="000000"/>
              </a:solidFill>
            </a:ln>
          </p:spPr>
          <p:txBody>
            <a:bodyPr wrap="square" lIns="0" tIns="0" rIns="0" bIns="0" rtlCol="0"/>
            <a:lstStyle/>
            <a:p>
              <a:endParaRPr/>
            </a:p>
          </p:txBody>
        </p:sp>
      </p:grpSp>
      <p:sp>
        <p:nvSpPr>
          <p:cNvPr id="23" name="object 23"/>
          <p:cNvSpPr/>
          <p:nvPr/>
        </p:nvSpPr>
        <p:spPr>
          <a:xfrm>
            <a:off x="2436876" y="1755775"/>
            <a:ext cx="2256155" cy="1174750"/>
          </a:xfrm>
          <a:custGeom>
            <a:avLst/>
            <a:gdLst/>
            <a:ahLst/>
            <a:cxnLst/>
            <a:rect l="l" t="t" r="r" b="b"/>
            <a:pathLst>
              <a:path w="2256154" h="1174750">
                <a:moveTo>
                  <a:pt x="0" y="587375"/>
                </a:moveTo>
                <a:lnTo>
                  <a:pt x="6618" y="523381"/>
                </a:lnTo>
                <a:lnTo>
                  <a:pt x="26013" y="461381"/>
                </a:lnTo>
                <a:lnTo>
                  <a:pt x="57498" y="401734"/>
                </a:lnTo>
                <a:lnTo>
                  <a:pt x="100385" y="344799"/>
                </a:lnTo>
                <a:lnTo>
                  <a:pt x="153985" y="290933"/>
                </a:lnTo>
                <a:lnTo>
                  <a:pt x="184587" y="265263"/>
                </a:lnTo>
                <a:lnTo>
                  <a:pt x="217610" y="240496"/>
                </a:lnTo>
                <a:lnTo>
                  <a:pt x="252968" y="216675"/>
                </a:lnTo>
                <a:lnTo>
                  <a:pt x="290574" y="193846"/>
                </a:lnTo>
                <a:lnTo>
                  <a:pt x="330342" y="172053"/>
                </a:lnTo>
                <a:lnTo>
                  <a:pt x="372187" y="151341"/>
                </a:lnTo>
                <a:lnTo>
                  <a:pt x="416023" y="131755"/>
                </a:lnTo>
                <a:lnTo>
                  <a:pt x="461762" y="113340"/>
                </a:lnTo>
                <a:lnTo>
                  <a:pt x="509321" y="96141"/>
                </a:lnTo>
                <a:lnTo>
                  <a:pt x="558611" y="80202"/>
                </a:lnTo>
                <a:lnTo>
                  <a:pt x="609549" y="65569"/>
                </a:lnTo>
                <a:lnTo>
                  <a:pt x="662046" y="52285"/>
                </a:lnTo>
                <a:lnTo>
                  <a:pt x="716018" y="40397"/>
                </a:lnTo>
                <a:lnTo>
                  <a:pt x="771379" y="29948"/>
                </a:lnTo>
                <a:lnTo>
                  <a:pt x="828042" y="20984"/>
                </a:lnTo>
                <a:lnTo>
                  <a:pt x="885922" y="13549"/>
                </a:lnTo>
                <a:lnTo>
                  <a:pt x="944932" y="7688"/>
                </a:lnTo>
                <a:lnTo>
                  <a:pt x="1004987" y="3447"/>
                </a:lnTo>
                <a:lnTo>
                  <a:pt x="1066001" y="869"/>
                </a:lnTo>
                <a:lnTo>
                  <a:pt x="1127887" y="0"/>
                </a:lnTo>
                <a:lnTo>
                  <a:pt x="1189772" y="869"/>
                </a:lnTo>
                <a:lnTo>
                  <a:pt x="1250786" y="3447"/>
                </a:lnTo>
                <a:lnTo>
                  <a:pt x="1310841" y="7688"/>
                </a:lnTo>
                <a:lnTo>
                  <a:pt x="1369851" y="13549"/>
                </a:lnTo>
                <a:lnTo>
                  <a:pt x="1427731" y="20984"/>
                </a:lnTo>
                <a:lnTo>
                  <a:pt x="1484394" y="29948"/>
                </a:lnTo>
                <a:lnTo>
                  <a:pt x="1539755" y="40397"/>
                </a:lnTo>
                <a:lnTo>
                  <a:pt x="1593727" y="52285"/>
                </a:lnTo>
                <a:lnTo>
                  <a:pt x="1646224" y="65569"/>
                </a:lnTo>
                <a:lnTo>
                  <a:pt x="1697162" y="80202"/>
                </a:lnTo>
                <a:lnTo>
                  <a:pt x="1746452" y="96141"/>
                </a:lnTo>
                <a:lnTo>
                  <a:pt x="1794011" y="113340"/>
                </a:lnTo>
                <a:lnTo>
                  <a:pt x="1839750" y="131755"/>
                </a:lnTo>
                <a:lnTo>
                  <a:pt x="1883586" y="151341"/>
                </a:lnTo>
                <a:lnTo>
                  <a:pt x="1925431" y="172053"/>
                </a:lnTo>
                <a:lnTo>
                  <a:pt x="1965199" y="193846"/>
                </a:lnTo>
                <a:lnTo>
                  <a:pt x="2002805" y="216675"/>
                </a:lnTo>
                <a:lnTo>
                  <a:pt x="2038163" y="240496"/>
                </a:lnTo>
                <a:lnTo>
                  <a:pt x="2071186" y="265263"/>
                </a:lnTo>
                <a:lnTo>
                  <a:pt x="2101788" y="290933"/>
                </a:lnTo>
                <a:lnTo>
                  <a:pt x="2129885" y="317460"/>
                </a:lnTo>
                <a:lnTo>
                  <a:pt x="2178214" y="372905"/>
                </a:lnTo>
                <a:lnTo>
                  <a:pt x="2215486" y="431241"/>
                </a:lnTo>
                <a:lnTo>
                  <a:pt x="2241012" y="492109"/>
                </a:lnTo>
                <a:lnTo>
                  <a:pt x="2254105" y="555151"/>
                </a:lnTo>
                <a:lnTo>
                  <a:pt x="2255774" y="587375"/>
                </a:lnTo>
                <a:lnTo>
                  <a:pt x="2254105" y="619598"/>
                </a:lnTo>
                <a:lnTo>
                  <a:pt x="2249155" y="651368"/>
                </a:lnTo>
                <a:lnTo>
                  <a:pt x="2229760" y="713368"/>
                </a:lnTo>
                <a:lnTo>
                  <a:pt x="2198275" y="773015"/>
                </a:lnTo>
                <a:lnTo>
                  <a:pt x="2155388" y="829950"/>
                </a:lnTo>
                <a:lnTo>
                  <a:pt x="2101788" y="883816"/>
                </a:lnTo>
                <a:lnTo>
                  <a:pt x="2071186" y="909486"/>
                </a:lnTo>
                <a:lnTo>
                  <a:pt x="2038163" y="934253"/>
                </a:lnTo>
                <a:lnTo>
                  <a:pt x="2002805" y="958074"/>
                </a:lnTo>
                <a:lnTo>
                  <a:pt x="1965199" y="980903"/>
                </a:lnTo>
                <a:lnTo>
                  <a:pt x="1925431" y="1002696"/>
                </a:lnTo>
                <a:lnTo>
                  <a:pt x="1883586" y="1023408"/>
                </a:lnTo>
                <a:lnTo>
                  <a:pt x="1839750" y="1042994"/>
                </a:lnTo>
                <a:lnTo>
                  <a:pt x="1794011" y="1061409"/>
                </a:lnTo>
                <a:lnTo>
                  <a:pt x="1746452" y="1078608"/>
                </a:lnTo>
                <a:lnTo>
                  <a:pt x="1697162" y="1094547"/>
                </a:lnTo>
                <a:lnTo>
                  <a:pt x="1646224" y="1109180"/>
                </a:lnTo>
                <a:lnTo>
                  <a:pt x="1593727" y="1122464"/>
                </a:lnTo>
                <a:lnTo>
                  <a:pt x="1539755" y="1134352"/>
                </a:lnTo>
                <a:lnTo>
                  <a:pt x="1484394" y="1144801"/>
                </a:lnTo>
                <a:lnTo>
                  <a:pt x="1427731" y="1153765"/>
                </a:lnTo>
                <a:lnTo>
                  <a:pt x="1369851" y="1161200"/>
                </a:lnTo>
                <a:lnTo>
                  <a:pt x="1310841" y="1167061"/>
                </a:lnTo>
                <a:lnTo>
                  <a:pt x="1250786" y="1171302"/>
                </a:lnTo>
                <a:lnTo>
                  <a:pt x="1189772" y="1173880"/>
                </a:lnTo>
                <a:lnTo>
                  <a:pt x="1127887" y="1174750"/>
                </a:lnTo>
                <a:lnTo>
                  <a:pt x="1066001" y="1173880"/>
                </a:lnTo>
                <a:lnTo>
                  <a:pt x="1004987" y="1171302"/>
                </a:lnTo>
                <a:lnTo>
                  <a:pt x="944932" y="1167061"/>
                </a:lnTo>
                <a:lnTo>
                  <a:pt x="885922" y="1161200"/>
                </a:lnTo>
                <a:lnTo>
                  <a:pt x="828042" y="1153765"/>
                </a:lnTo>
                <a:lnTo>
                  <a:pt x="771379" y="1144801"/>
                </a:lnTo>
                <a:lnTo>
                  <a:pt x="716018" y="1134352"/>
                </a:lnTo>
                <a:lnTo>
                  <a:pt x="662046" y="1122464"/>
                </a:lnTo>
                <a:lnTo>
                  <a:pt x="609549" y="1109180"/>
                </a:lnTo>
                <a:lnTo>
                  <a:pt x="558611" y="1094547"/>
                </a:lnTo>
                <a:lnTo>
                  <a:pt x="509321" y="1078608"/>
                </a:lnTo>
                <a:lnTo>
                  <a:pt x="461762" y="1061409"/>
                </a:lnTo>
                <a:lnTo>
                  <a:pt x="416023" y="1042994"/>
                </a:lnTo>
                <a:lnTo>
                  <a:pt x="372187" y="1023408"/>
                </a:lnTo>
                <a:lnTo>
                  <a:pt x="330342" y="1002696"/>
                </a:lnTo>
                <a:lnTo>
                  <a:pt x="290574" y="980903"/>
                </a:lnTo>
                <a:lnTo>
                  <a:pt x="252968" y="958074"/>
                </a:lnTo>
                <a:lnTo>
                  <a:pt x="217610" y="934253"/>
                </a:lnTo>
                <a:lnTo>
                  <a:pt x="184587" y="909486"/>
                </a:lnTo>
                <a:lnTo>
                  <a:pt x="153985" y="883816"/>
                </a:lnTo>
                <a:lnTo>
                  <a:pt x="125888" y="857289"/>
                </a:lnTo>
                <a:lnTo>
                  <a:pt x="77559" y="801844"/>
                </a:lnTo>
                <a:lnTo>
                  <a:pt x="40287" y="743508"/>
                </a:lnTo>
                <a:lnTo>
                  <a:pt x="14761" y="682640"/>
                </a:lnTo>
                <a:lnTo>
                  <a:pt x="1668" y="619598"/>
                </a:lnTo>
                <a:lnTo>
                  <a:pt x="0" y="587375"/>
                </a:lnTo>
                <a:close/>
              </a:path>
            </a:pathLst>
          </a:custGeom>
          <a:ln w="12700">
            <a:solidFill>
              <a:srgbClr val="000000"/>
            </a:solidFill>
          </a:ln>
        </p:spPr>
        <p:txBody>
          <a:bodyPr wrap="square" lIns="0" tIns="0" rIns="0" bIns="0" rtlCol="0"/>
          <a:lstStyle/>
          <a:p>
            <a:endParaRPr/>
          </a:p>
        </p:txBody>
      </p:sp>
      <p:pic>
        <p:nvPicPr>
          <p:cNvPr id="24" name="object 24"/>
          <p:cNvPicPr/>
          <p:nvPr/>
        </p:nvPicPr>
        <p:blipFill>
          <a:blip r:embed="rId2" cstate="print"/>
          <a:stretch>
            <a:fillRect/>
          </a:stretch>
        </p:blipFill>
        <p:spPr>
          <a:xfrm>
            <a:off x="5180076" y="357250"/>
            <a:ext cx="3759200" cy="457200"/>
          </a:xfrm>
          <a:prstGeom prst="rect">
            <a:avLst/>
          </a:prstGeom>
        </p:spPr>
      </p:pic>
      <p:sp>
        <p:nvSpPr>
          <p:cNvPr id="25" name="object 25"/>
          <p:cNvSpPr txBox="1"/>
          <p:nvPr/>
        </p:nvSpPr>
        <p:spPr>
          <a:xfrm>
            <a:off x="5764148" y="423418"/>
            <a:ext cx="2444115" cy="270510"/>
          </a:xfrm>
          <a:prstGeom prst="rect">
            <a:avLst/>
          </a:prstGeom>
        </p:spPr>
        <p:txBody>
          <a:bodyPr vert="horz" wrap="square" lIns="0" tIns="13335" rIns="0" bIns="0" rtlCol="0">
            <a:spAutoFit/>
          </a:bodyPr>
          <a:lstStyle/>
          <a:p>
            <a:pPr marL="12700">
              <a:lnSpc>
                <a:spcPct val="100000"/>
              </a:lnSpc>
              <a:spcBef>
                <a:spcPts val="105"/>
              </a:spcBef>
            </a:pPr>
            <a:r>
              <a:rPr sz="1600" spc="-170" dirty="0">
                <a:latin typeface="Arial MT"/>
                <a:cs typeface="Arial MT"/>
              </a:rPr>
              <a:t>T</a:t>
            </a:r>
            <a:r>
              <a:rPr sz="1600" spc="-200" dirty="0">
                <a:latin typeface="Arial MT"/>
                <a:cs typeface="Arial MT"/>
              </a:rPr>
              <a:t>R</a:t>
            </a:r>
            <a:r>
              <a:rPr sz="1600" spc="-185" dirty="0">
                <a:latin typeface="Arial MT"/>
                <a:cs typeface="Arial MT"/>
              </a:rPr>
              <a:t>A</a:t>
            </a:r>
            <a:r>
              <a:rPr sz="1600" spc="-200" dirty="0">
                <a:latin typeface="Arial MT"/>
                <a:cs typeface="Arial MT"/>
              </a:rPr>
              <a:t>N</a:t>
            </a:r>
            <a:r>
              <a:rPr sz="1600" spc="-185" dirty="0">
                <a:latin typeface="Arial MT"/>
                <a:cs typeface="Arial MT"/>
              </a:rPr>
              <a:t>S</a:t>
            </a:r>
            <a:r>
              <a:rPr sz="1600" spc="-170" dirty="0">
                <a:latin typeface="Arial MT"/>
                <a:cs typeface="Arial MT"/>
              </a:rPr>
              <a:t>F</a:t>
            </a:r>
            <a:r>
              <a:rPr sz="1600" spc="-220" dirty="0">
                <a:latin typeface="Arial MT"/>
                <a:cs typeface="Arial MT"/>
              </a:rPr>
              <a:t>O</a:t>
            </a:r>
            <a:r>
              <a:rPr sz="1600" spc="-200" dirty="0">
                <a:latin typeface="Arial MT"/>
                <a:cs typeface="Arial MT"/>
              </a:rPr>
              <a:t>R</a:t>
            </a:r>
            <a:r>
              <a:rPr sz="1600" spc="-254" dirty="0">
                <a:latin typeface="Arial MT"/>
                <a:cs typeface="Arial MT"/>
              </a:rPr>
              <a:t>M</a:t>
            </a:r>
            <a:r>
              <a:rPr sz="1600" spc="-185" dirty="0">
                <a:latin typeface="Arial MT"/>
                <a:cs typeface="Arial MT"/>
              </a:rPr>
              <a:t>A</a:t>
            </a:r>
            <a:r>
              <a:rPr sz="1600" spc="-210" dirty="0">
                <a:latin typeface="Arial MT"/>
                <a:cs typeface="Arial MT"/>
              </a:rPr>
              <a:t>S</a:t>
            </a:r>
            <a:r>
              <a:rPr sz="1600" spc="-80" dirty="0">
                <a:latin typeface="Arial MT"/>
                <a:cs typeface="Arial MT"/>
              </a:rPr>
              <a:t>I</a:t>
            </a:r>
            <a:r>
              <a:rPr sz="1600" spc="-190" dirty="0">
                <a:latin typeface="Arial MT"/>
                <a:cs typeface="Arial MT"/>
              </a:rPr>
              <a:t> </a:t>
            </a:r>
            <a:r>
              <a:rPr sz="1600" spc="-175" dirty="0">
                <a:latin typeface="Arial MT"/>
                <a:cs typeface="Arial MT"/>
              </a:rPr>
              <a:t>D</a:t>
            </a:r>
            <a:r>
              <a:rPr sz="1600" spc="-105" dirty="0">
                <a:latin typeface="Arial MT"/>
                <a:cs typeface="Arial MT"/>
              </a:rPr>
              <a:t>-</a:t>
            </a:r>
            <a:r>
              <a:rPr sz="1600" spc="-185" dirty="0">
                <a:latin typeface="Arial MT"/>
                <a:cs typeface="Arial MT"/>
              </a:rPr>
              <a:t>E</a:t>
            </a:r>
            <a:r>
              <a:rPr sz="1600" spc="-204" dirty="0">
                <a:latin typeface="Arial MT"/>
                <a:cs typeface="Arial MT"/>
              </a:rPr>
              <a:t>R</a:t>
            </a:r>
            <a:r>
              <a:rPr sz="1600" spc="-105" dirty="0">
                <a:latin typeface="Arial MT"/>
                <a:cs typeface="Arial MT"/>
              </a:rPr>
              <a:t> </a:t>
            </a:r>
            <a:r>
              <a:rPr sz="1600" spc="-185" dirty="0">
                <a:latin typeface="Arial MT"/>
                <a:cs typeface="Arial MT"/>
              </a:rPr>
              <a:t>K</a:t>
            </a:r>
            <a:r>
              <a:rPr sz="1600" spc="-190" dirty="0">
                <a:latin typeface="Arial MT"/>
                <a:cs typeface="Arial MT"/>
              </a:rPr>
              <a:t>E</a:t>
            </a:r>
            <a:r>
              <a:rPr sz="1600" spc="-105" dirty="0">
                <a:latin typeface="Arial MT"/>
                <a:cs typeface="Arial MT"/>
              </a:rPr>
              <a:t> </a:t>
            </a:r>
            <a:r>
              <a:rPr sz="1600" spc="-155" dirty="0">
                <a:latin typeface="Arial MT"/>
                <a:cs typeface="Arial MT"/>
              </a:rPr>
              <a:t>L</a:t>
            </a:r>
            <a:r>
              <a:rPr sz="1600" spc="-200" dirty="0">
                <a:latin typeface="Arial MT"/>
                <a:cs typeface="Arial MT"/>
              </a:rPr>
              <a:t>R</a:t>
            </a:r>
            <a:r>
              <a:rPr sz="1600" spc="-190" dirty="0">
                <a:latin typeface="Arial MT"/>
                <a:cs typeface="Arial MT"/>
              </a:rPr>
              <a:t>S</a:t>
            </a:r>
            <a:endParaRPr sz="160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 name="Picture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p:nvPr/>
        </p:nvSpPr>
        <p:spPr>
          <a:xfrm>
            <a:off x="764844" y="1178509"/>
            <a:ext cx="4386580" cy="758825"/>
          </a:xfrm>
          <a:prstGeom prst="rect">
            <a:avLst/>
          </a:prstGeom>
        </p:spPr>
        <p:txBody>
          <a:bodyPr vert="horz" wrap="square" lIns="0" tIns="13970" rIns="0" bIns="0" rtlCol="0">
            <a:spAutoFit/>
          </a:bodyPr>
          <a:lstStyle/>
          <a:p>
            <a:pPr marL="12700">
              <a:lnSpc>
                <a:spcPct val="100000"/>
              </a:lnSpc>
              <a:spcBef>
                <a:spcPts val="110"/>
              </a:spcBef>
              <a:tabLst>
                <a:tab pos="2756535" algn="l"/>
              </a:tabLst>
            </a:pPr>
            <a:r>
              <a:rPr sz="1600" b="1" spc="-5" dirty="0">
                <a:latin typeface="Times New Roman"/>
                <a:cs typeface="Times New Roman"/>
              </a:rPr>
              <a:t>TRANSFORMASI</a:t>
            </a:r>
            <a:r>
              <a:rPr sz="1600" b="1" spc="-65" dirty="0">
                <a:latin typeface="Times New Roman"/>
                <a:cs typeface="Times New Roman"/>
              </a:rPr>
              <a:t> </a:t>
            </a:r>
            <a:r>
              <a:rPr sz="1600" b="1" spc="5" dirty="0">
                <a:latin typeface="Times New Roman"/>
                <a:cs typeface="Times New Roman"/>
              </a:rPr>
              <a:t>M </a:t>
            </a:r>
            <a:r>
              <a:rPr sz="1600" b="1" dirty="0">
                <a:latin typeface="Times New Roman"/>
                <a:cs typeface="Times New Roman"/>
              </a:rPr>
              <a:t>:N	</a:t>
            </a:r>
            <a:r>
              <a:rPr sz="1600" spc="-25" dirty="0">
                <a:latin typeface="Times New Roman"/>
                <a:cs typeface="Times New Roman"/>
              </a:rPr>
              <a:t>MANY-TO-MANY</a:t>
            </a:r>
            <a:endParaRPr sz="1600">
              <a:latin typeface="Times New Roman"/>
              <a:cs typeface="Times New Roman"/>
            </a:endParaRPr>
          </a:p>
          <a:p>
            <a:pPr>
              <a:lnSpc>
                <a:spcPct val="100000"/>
              </a:lnSpc>
              <a:spcBef>
                <a:spcPts val="20"/>
              </a:spcBef>
            </a:pPr>
            <a:endParaRPr sz="1650">
              <a:latin typeface="Times New Roman"/>
              <a:cs typeface="Times New Roman"/>
            </a:endParaRPr>
          </a:p>
          <a:p>
            <a:pPr marL="12700">
              <a:lnSpc>
                <a:spcPct val="100000"/>
              </a:lnSpc>
            </a:pPr>
            <a:r>
              <a:rPr sz="1600" spc="-30" dirty="0">
                <a:latin typeface="Times New Roman"/>
                <a:cs typeface="Times New Roman"/>
              </a:rPr>
              <a:t>RELATIONSHIP</a:t>
            </a:r>
            <a:r>
              <a:rPr sz="1600" spc="5" dirty="0">
                <a:latin typeface="Times New Roman"/>
                <a:cs typeface="Times New Roman"/>
              </a:rPr>
              <a:t> </a:t>
            </a:r>
            <a:r>
              <a:rPr sz="1600" spc="-5" dirty="0">
                <a:latin typeface="Times New Roman"/>
                <a:cs typeface="Times New Roman"/>
              </a:rPr>
              <a:t>BERDIRI</a:t>
            </a:r>
            <a:r>
              <a:rPr sz="1600" spc="-15" dirty="0">
                <a:latin typeface="Times New Roman"/>
                <a:cs typeface="Times New Roman"/>
              </a:rPr>
              <a:t> </a:t>
            </a:r>
            <a:r>
              <a:rPr sz="1600" spc="-10" dirty="0">
                <a:latin typeface="Times New Roman"/>
                <a:cs typeface="Times New Roman"/>
              </a:rPr>
              <a:t>SENDIRI</a:t>
            </a:r>
            <a:endParaRPr sz="1600">
              <a:latin typeface="Times New Roman"/>
              <a:cs typeface="Times New Roman"/>
            </a:endParaRPr>
          </a:p>
        </p:txBody>
      </p:sp>
      <p:sp>
        <p:nvSpPr>
          <p:cNvPr id="9" name="object 9"/>
          <p:cNvSpPr txBox="1"/>
          <p:nvPr/>
        </p:nvSpPr>
        <p:spPr>
          <a:xfrm>
            <a:off x="764844" y="4106036"/>
            <a:ext cx="7416800" cy="1002665"/>
          </a:xfrm>
          <a:prstGeom prst="rect">
            <a:avLst/>
          </a:prstGeom>
        </p:spPr>
        <p:txBody>
          <a:bodyPr vert="horz" wrap="square" lIns="0" tIns="13335" rIns="0" bIns="0" rtlCol="0">
            <a:spAutoFit/>
          </a:bodyPr>
          <a:lstStyle/>
          <a:p>
            <a:pPr marL="12700">
              <a:lnSpc>
                <a:spcPct val="100000"/>
              </a:lnSpc>
              <a:spcBef>
                <a:spcPts val="105"/>
              </a:spcBef>
            </a:pPr>
            <a:r>
              <a:rPr sz="1600" spc="-10" dirty="0">
                <a:latin typeface="Times New Roman"/>
                <a:cs typeface="Times New Roman"/>
              </a:rPr>
              <a:t>P</a:t>
            </a:r>
            <a:r>
              <a:rPr sz="1600" dirty="0">
                <a:latin typeface="Times New Roman"/>
                <a:cs typeface="Times New Roman"/>
              </a:rPr>
              <a:t>E</a:t>
            </a:r>
            <a:r>
              <a:rPr sz="1600" spc="-5" dirty="0">
                <a:latin typeface="Times New Roman"/>
                <a:cs typeface="Times New Roman"/>
              </a:rPr>
              <a:t>DO</a:t>
            </a:r>
            <a:r>
              <a:rPr sz="1600" spc="10" dirty="0">
                <a:latin typeface="Times New Roman"/>
                <a:cs typeface="Times New Roman"/>
              </a:rPr>
              <a:t>M</a:t>
            </a:r>
            <a:r>
              <a:rPr sz="1600" spc="-30" dirty="0">
                <a:latin typeface="Times New Roman"/>
                <a:cs typeface="Times New Roman"/>
              </a:rPr>
              <a:t>A</a:t>
            </a:r>
            <a:r>
              <a:rPr sz="1600" spc="5" dirty="0">
                <a:latin typeface="Times New Roman"/>
                <a:cs typeface="Times New Roman"/>
              </a:rPr>
              <a:t>N</a:t>
            </a:r>
            <a:r>
              <a:rPr sz="1600" spc="-75" dirty="0">
                <a:latin typeface="Times New Roman"/>
                <a:cs typeface="Times New Roman"/>
              </a:rPr>
              <a:t> </a:t>
            </a:r>
            <a:r>
              <a:rPr sz="1600" spc="-25" dirty="0">
                <a:latin typeface="Times New Roman"/>
                <a:cs typeface="Times New Roman"/>
              </a:rPr>
              <a:t>T</a:t>
            </a:r>
            <a:r>
              <a:rPr sz="1600" spc="10" dirty="0">
                <a:latin typeface="Times New Roman"/>
                <a:cs typeface="Times New Roman"/>
              </a:rPr>
              <a:t>R</a:t>
            </a:r>
            <a:r>
              <a:rPr sz="1600" spc="-30" dirty="0">
                <a:latin typeface="Times New Roman"/>
                <a:cs typeface="Times New Roman"/>
              </a:rPr>
              <a:t>A</a:t>
            </a:r>
            <a:r>
              <a:rPr sz="1600" spc="-10" dirty="0">
                <a:latin typeface="Times New Roman"/>
                <a:cs typeface="Times New Roman"/>
              </a:rPr>
              <a:t>NS</a:t>
            </a:r>
            <a:r>
              <a:rPr sz="1600" spc="-35" dirty="0">
                <a:latin typeface="Times New Roman"/>
                <a:cs typeface="Times New Roman"/>
              </a:rPr>
              <a:t>F</a:t>
            </a:r>
            <a:r>
              <a:rPr sz="1600" spc="-5" dirty="0">
                <a:latin typeface="Times New Roman"/>
                <a:cs typeface="Times New Roman"/>
              </a:rPr>
              <a:t>O</a:t>
            </a:r>
            <a:r>
              <a:rPr sz="1600" spc="10" dirty="0">
                <a:latin typeface="Times New Roman"/>
                <a:cs typeface="Times New Roman"/>
              </a:rPr>
              <a:t>RM</a:t>
            </a:r>
            <a:r>
              <a:rPr sz="1600" spc="-30" dirty="0">
                <a:latin typeface="Times New Roman"/>
                <a:cs typeface="Times New Roman"/>
              </a:rPr>
              <a:t>A</a:t>
            </a:r>
            <a:r>
              <a:rPr sz="1600" spc="-10" dirty="0">
                <a:latin typeface="Times New Roman"/>
                <a:cs typeface="Times New Roman"/>
              </a:rPr>
              <a:t>S</a:t>
            </a:r>
            <a:r>
              <a:rPr sz="1600" dirty="0">
                <a:latin typeface="Times New Roman"/>
                <a:cs typeface="Times New Roman"/>
              </a:rPr>
              <a:t>I</a:t>
            </a:r>
            <a:endParaRPr sz="1600">
              <a:latin typeface="Times New Roman"/>
              <a:cs typeface="Times New Roman"/>
            </a:endParaRPr>
          </a:p>
          <a:p>
            <a:pPr>
              <a:lnSpc>
                <a:spcPct val="100000"/>
              </a:lnSpc>
              <a:spcBef>
                <a:spcPts val="25"/>
              </a:spcBef>
            </a:pPr>
            <a:endParaRPr sz="1650">
              <a:latin typeface="Times New Roman"/>
              <a:cs typeface="Times New Roman"/>
            </a:endParaRPr>
          </a:p>
          <a:p>
            <a:pPr marL="585470" indent="-381635">
              <a:lnSpc>
                <a:spcPct val="100000"/>
              </a:lnSpc>
              <a:buFont typeface="Wingdings"/>
              <a:buChar char=""/>
              <a:tabLst>
                <a:tab pos="585470" algn="l"/>
                <a:tab pos="586105" algn="l"/>
              </a:tabLst>
            </a:pPr>
            <a:r>
              <a:rPr sz="1600" spc="-20" dirty="0">
                <a:latin typeface="Times New Roman"/>
                <a:cs typeface="Times New Roman"/>
              </a:rPr>
              <a:t>T</a:t>
            </a:r>
            <a:r>
              <a:rPr sz="1600" spc="-60" dirty="0">
                <a:latin typeface="Times New Roman"/>
                <a:cs typeface="Times New Roman"/>
              </a:rPr>
              <a:t>I</a:t>
            </a:r>
            <a:r>
              <a:rPr sz="1600" spc="-35" dirty="0">
                <a:latin typeface="Times New Roman"/>
                <a:cs typeface="Times New Roman"/>
              </a:rPr>
              <a:t>A</a:t>
            </a:r>
            <a:r>
              <a:rPr sz="1600" spc="5" dirty="0">
                <a:latin typeface="Times New Roman"/>
                <a:cs typeface="Times New Roman"/>
              </a:rPr>
              <a:t>P</a:t>
            </a:r>
            <a:r>
              <a:rPr sz="1600" spc="-5" dirty="0">
                <a:latin typeface="Times New Roman"/>
                <a:cs typeface="Times New Roman"/>
              </a:rPr>
              <a:t> </a:t>
            </a:r>
            <a:r>
              <a:rPr sz="1600" spc="5" dirty="0">
                <a:latin typeface="Times New Roman"/>
                <a:cs typeface="Times New Roman"/>
              </a:rPr>
              <a:t>E</a:t>
            </a:r>
            <a:r>
              <a:rPr sz="1600" spc="-10" dirty="0">
                <a:latin typeface="Times New Roman"/>
                <a:cs typeface="Times New Roman"/>
              </a:rPr>
              <a:t>N</a:t>
            </a:r>
            <a:r>
              <a:rPr sz="1600" spc="-20" dirty="0">
                <a:latin typeface="Times New Roman"/>
                <a:cs typeface="Times New Roman"/>
              </a:rPr>
              <a:t>T</a:t>
            </a:r>
            <a:r>
              <a:rPr sz="1600" spc="-60" dirty="0">
                <a:latin typeface="Times New Roman"/>
                <a:cs typeface="Times New Roman"/>
              </a:rPr>
              <a:t>I</a:t>
            </a:r>
            <a:r>
              <a:rPr sz="1600" spc="-20" dirty="0">
                <a:latin typeface="Times New Roman"/>
                <a:cs typeface="Times New Roman"/>
              </a:rPr>
              <a:t>T</a:t>
            </a:r>
            <a:r>
              <a:rPr sz="1600" spc="5" dirty="0">
                <a:latin typeface="Times New Roman"/>
                <a:cs typeface="Times New Roman"/>
              </a:rPr>
              <a:t>Y</a:t>
            </a:r>
            <a:r>
              <a:rPr sz="1600" spc="20" dirty="0">
                <a:latin typeface="Times New Roman"/>
                <a:cs typeface="Times New Roman"/>
              </a:rPr>
              <a:t> </a:t>
            </a:r>
            <a:r>
              <a:rPr sz="1600" spc="10" dirty="0">
                <a:latin typeface="Times New Roman"/>
                <a:cs typeface="Times New Roman"/>
              </a:rPr>
              <a:t>M</a:t>
            </a:r>
            <a:r>
              <a:rPr sz="1600" spc="5" dirty="0">
                <a:latin typeface="Times New Roman"/>
                <a:cs typeface="Times New Roman"/>
              </a:rPr>
              <a:t>E</a:t>
            </a:r>
            <a:r>
              <a:rPr sz="1600" spc="-10" dirty="0">
                <a:latin typeface="Times New Roman"/>
                <a:cs typeface="Times New Roman"/>
              </a:rPr>
              <a:t>N</a:t>
            </a:r>
            <a:r>
              <a:rPr sz="1600" dirty="0">
                <a:latin typeface="Times New Roman"/>
                <a:cs typeface="Times New Roman"/>
              </a:rPr>
              <a:t>J</a:t>
            </a:r>
            <a:r>
              <a:rPr sz="1600" spc="-35" dirty="0">
                <a:latin typeface="Times New Roman"/>
                <a:cs typeface="Times New Roman"/>
              </a:rPr>
              <a:t>A</a:t>
            </a:r>
            <a:r>
              <a:rPr sz="1600" spc="-10" dirty="0">
                <a:latin typeface="Times New Roman"/>
                <a:cs typeface="Times New Roman"/>
              </a:rPr>
              <a:t>D</a:t>
            </a:r>
            <a:r>
              <a:rPr sz="1600" dirty="0">
                <a:latin typeface="Times New Roman"/>
                <a:cs typeface="Times New Roman"/>
              </a:rPr>
              <a:t>I</a:t>
            </a:r>
            <a:r>
              <a:rPr sz="1600" spc="-30" dirty="0">
                <a:latin typeface="Times New Roman"/>
                <a:cs typeface="Times New Roman"/>
              </a:rPr>
              <a:t> </a:t>
            </a:r>
            <a:r>
              <a:rPr sz="1600" spc="-5" dirty="0">
                <a:latin typeface="Times New Roman"/>
                <a:cs typeface="Times New Roman"/>
              </a:rPr>
              <a:t>S</a:t>
            </a:r>
            <a:r>
              <a:rPr sz="1600" spc="5" dirty="0">
                <a:latin typeface="Times New Roman"/>
                <a:cs typeface="Times New Roman"/>
              </a:rPr>
              <a:t>E</a:t>
            </a:r>
            <a:r>
              <a:rPr sz="1600" spc="10" dirty="0">
                <a:latin typeface="Times New Roman"/>
                <a:cs typeface="Times New Roman"/>
              </a:rPr>
              <a:t>B</a:t>
            </a:r>
            <a:r>
              <a:rPr sz="1600" spc="-10" dirty="0">
                <a:latin typeface="Times New Roman"/>
                <a:cs typeface="Times New Roman"/>
              </a:rPr>
              <a:t>U</a:t>
            </a:r>
            <a:r>
              <a:rPr sz="1600" spc="-35" dirty="0">
                <a:latin typeface="Times New Roman"/>
                <a:cs typeface="Times New Roman"/>
              </a:rPr>
              <a:t>A</a:t>
            </a:r>
            <a:r>
              <a:rPr sz="1600" spc="5" dirty="0">
                <a:latin typeface="Times New Roman"/>
                <a:cs typeface="Times New Roman"/>
              </a:rPr>
              <a:t>H</a:t>
            </a:r>
            <a:r>
              <a:rPr sz="1600" spc="-10" dirty="0">
                <a:latin typeface="Times New Roman"/>
                <a:cs typeface="Times New Roman"/>
              </a:rPr>
              <a:t> </a:t>
            </a:r>
            <a:r>
              <a:rPr sz="1600" spc="-45" dirty="0">
                <a:latin typeface="Times New Roman"/>
                <a:cs typeface="Times New Roman"/>
              </a:rPr>
              <a:t>L</a:t>
            </a:r>
            <a:r>
              <a:rPr sz="1600" spc="-10" dirty="0">
                <a:latin typeface="Times New Roman"/>
                <a:cs typeface="Times New Roman"/>
              </a:rPr>
              <a:t>OG</a:t>
            </a:r>
            <a:r>
              <a:rPr sz="1600" spc="-60" dirty="0">
                <a:latin typeface="Times New Roman"/>
                <a:cs typeface="Times New Roman"/>
              </a:rPr>
              <a:t>I</a:t>
            </a:r>
            <a:r>
              <a:rPr sz="1600" spc="5" dirty="0">
                <a:latin typeface="Times New Roman"/>
                <a:cs typeface="Times New Roman"/>
              </a:rPr>
              <a:t>C</a:t>
            </a:r>
            <a:r>
              <a:rPr sz="1600" spc="-10" dirty="0">
                <a:latin typeface="Times New Roman"/>
                <a:cs typeface="Times New Roman"/>
              </a:rPr>
              <a:t>A</a:t>
            </a:r>
            <a:r>
              <a:rPr sz="1600" spc="5" dirty="0">
                <a:latin typeface="Times New Roman"/>
                <a:cs typeface="Times New Roman"/>
              </a:rPr>
              <a:t>L RE</a:t>
            </a:r>
            <a:r>
              <a:rPr sz="1600" spc="10" dirty="0">
                <a:latin typeface="Times New Roman"/>
                <a:cs typeface="Times New Roman"/>
              </a:rPr>
              <a:t>C</a:t>
            </a:r>
            <a:r>
              <a:rPr sz="1600" spc="-10" dirty="0">
                <a:latin typeface="Times New Roman"/>
                <a:cs typeface="Times New Roman"/>
              </a:rPr>
              <a:t>O</a:t>
            </a:r>
            <a:r>
              <a:rPr sz="1600" spc="5" dirty="0">
                <a:latin typeface="Times New Roman"/>
                <a:cs typeface="Times New Roman"/>
              </a:rPr>
              <a:t>RD</a:t>
            </a:r>
            <a:r>
              <a:rPr sz="1600" spc="-100" dirty="0">
                <a:latin typeface="Times New Roman"/>
                <a:cs typeface="Times New Roman"/>
              </a:rPr>
              <a:t> </a:t>
            </a:r>
            <a:r>
              <a:rPr sz="1600" spc="-5" dirty="0">
                <a:latin typeface="Times New Roman"/>
                <a:cs typeface="Times New Roman"/>
              </a:rPr>
              <a:t>S</a:t>
            </a:r>
            <a:r>
              <a:rPr sz="1600" spc="-20" dirty="0">
                <a:latin typeface="Times New Roman"/>
                <a:cs typeface="Times New Roman"/>
              </a:rPr>
              <a:t>T</a:t>
            </a:r>
            <a:r>
              <a:rPr sz="1600" spc="5" dirty="0">
                <a:latin typeface="Times New Roman"/>
                <a:cs typeface="Times New Roman"/>
              </a:rPr>
              <a:t>R</a:t>
            </a:r>
            <a:r>
              <a:rPr sz="1600" spc="-10" dirty="0">
                <a:latin typeface="Times New Roman"/>
                <a:cs typeface="Times New Roman"/>
              </a:rPr>
              <a:t>U</a:t>
            </a:r>
            <a:r>
              <a:rPr sz="1600" spc="5" dirty="0">
                <a:latin typeface="Times New Roman"/>
                <a:cs typeface="Times New Roman"/>
              </a:rPr>
              <a:t>C</a:t>
            </a:r>
            <a:r>
              <a:rPr sz="1600" spc="-20" dirty="0">
                <a:latin typeface="Times New Roman"/>
                <a:cs typeface="Times New Roman"/>
              </a:rPr>
              <a:t>T</a:t>
            </a:r>
            <a:r>
              <a:rPr sz="1600" spc="-10" dirty="0">
                <a:latin typeface="Times New Roman"/>
                <a:cs typeface="Times New Roman"/>
              </a:rPr>
              <a:t>U</a:t>
            </a:r>
            <a:r>
              <a:rPr sz="1600" spc="5" dirty="0">
                <a:latin typeface="Times New Roman"/>
                <a:cs typeface="Times New Roman"/>
              </a:rPr>
              <a:t>RE</a:t>
            </a:r>
            <a:endParaRPr sz="1600">
              <a:latin typeface="Times New Roman"/>
              <a:cs typeface="Times New Roman"/>
            </a:endParaRPr>
          </a:p>
          <a:p>
            <a:pPr marL="588645" indent="-384810">
              <a:lnSpc>
                <a:spcPct val="100000"/>
              </a:lnSpc>
              <a:buFont typeface="Wingdings"/>
              <a:buChar char=""/>
              <a:tabLst>
                <a:tab pos="588645" algn="l"/>
                <a:tab pos="589280" algn="l"/>
              </a:tabLst>
            </a:pPr>
            <a:r>
              <a:rPr sz="1600" spc="-30" dirty="0">
                <a:latin typeface="Times New Roman"/>
                <a:cs typeface="Times New Roman"/>
              </a:rPr>
              <a:t>RELATIONSHIP</a:t>
            </a:r>
            <a:r>
              <a:rPr sz="1600" spc="20" dirty="0">
                <a:latin typeface="Times New Roman"/>
                <a:cs typeface="Times New Roman"/>
              </a:rPr>
              <a:t> </a:t>
            </a:r>
            <a:r>
              <a:rPr sz="1600" spc="-10" dirty="0">
                <a:latin typeface="Times New Roman"/>
                <a:cs typeface="Times New Roman"/>
              </a:rPr>
              <a:t>JUGA</a:t>
            </a:r>
            <a:r>
              <a:rPr sz="1600" spc="-95" dirty="0">
                <a:latin typeface="Times New Roman"/>
                <a:cs typeface="Times New Roman"/>
              </a:rPr>
              <a:t> </a:t>
            </a:r>
            <a:r>
              <a:rPr sz="1600" spc="-5" dirty="0">
                <a:latin typeface="Times New Roman"/>
                <a:cs typeface="Times New Roman"/>
              </a:rPr>
              <a:t>MENJADI</a:t>
            </a:r>
            <a:r>
              <a:rPr sz="1600" dirty="0">
                <a:latin typeface="Times New Roman"/>
                <a:cs typeface="Times New Roman"/>
              </a:rPr>
              <a:t> </a:t>
            </a:r>
            <a:r>
              <a:rPr sz="1600" spc="-5" dirty="0">
                <a:latin typeface="Times New Roman"/>
                <a:cs typeface="Times New Roman"/>
              </a:rPr>
              <a:t>SEBUAH</a:t>
            </a:r>
            <a:r>
              <a:rPr sz="1600" dirty="0">
                <a:latin typeface="Times New Roman"/>
                <a:cs typeface="Times New Roman"/>
              </a:rPr>
              <a:t> </a:t>
            </a:r>
            <a:r>
              <a:rPr sz="1600" spc="-15" dirty="0">
                <a:latin typeface="Times New Roman"/>
                <a:cs typeface="Times New Roman"/>
              </a:rPr>
              <a:t>LOGICAL</a:t>
            </a:r>
            <a:r>
              <a:rPr sz="1600" spc="-20" dirty="0">
                <a:latin typeface="Times New Roman"/>
                <a:cs typeface="Times New Roman"/>
              </a:rPr>
              <a:t> </a:t>
            </a:r>
            <a:r>
              <a:rPr sz="1600" spc="5" dirty="0">
                <a:latin typeface="Times New Roman"/>
                <a:cs typeface="Times New Roman"/>
              </a:rPr>
              <a:t>RECORD</a:t>
            </a:r>
            <a:r>
              <a:rPr sz="1600" spc="-70" dirty="0">
                <a:latin typeface="Times New Roman"/>
                <a:cs typeface="Times New Roman"/>
              </a:rPr>
              <a:t> </a:t>
            </a:r>
            <a:r>
              <a:rPr sz="1600" spc="-5" dirty="0">
                <a:latin typeface="Times New Roman"/>
                <a:cs typeface="Times New Roman"/>
              </a:rPr>
              <a:t>STRUCTURE</a:t>
            </a:r>
            <a:endParaRPr sz="1600">
              <a:latin typeface="Times New Roman"/>
              <a:cs typeface="Times New Roman"/>
            </a:endParaRPr>
          </a:p>
        </p:txBody>
      </p:sp>
      <p:grpSp>
        <p:nvGrpSpPr>
          <p:cNvPr id="10" name="object 10"/>
          <p:cNvGrpSpPr/>
          <p:nvPr/>
        </p:nvGrpSpPr>
        <p:grpSpPr>
          <a:xfrm>
            <a:off x="2432050" y="2284476"/>
            <a:ext cx="3305810" cy="1414780"/>
            <a:chOff x="2432050" y="2284476"/>
            <a:chExt cx="3305810" cy="1414780"/>
          </a:xfrm>
        </p:grpSpPr>
        <p:sp>
          <p:nvSpPr>
            <p:cNvPr id="11" name="object 11"/>
            <p:cNvSpPr/>
            <p:nvPr/>
          </p:nvSpPr>
          <p:spPr>
            <a:xfrm>
              <a:off x="3633850" y="2290826"/>
              <a:ext cx="990600" cy="1402080"/>
            </a:xfrm>
            <a:custGeom>
              <a:avLst/>
              <a:gdLst/>
              <a:ahLst/>
              <a:cxnLst/>
              <a:rect l="l" t="t" r="r" b="b"/>
              <a:pathLst>
                <a:path w="990600" h="1402079">
                  <a:moveTo>
                    <a:pt x="0" y="700786"/>
                  </a:moveTo>
                  <a:lnTo>
                    <a:pt x="1490" y="646011"/>
                  </a:lnTo>
                  <a:lnTo>
                    <a:pt x="5887" y="592392"/>
                  </a:lnTo>
                  <a:lnTo>
                    <a:pt x="13080" y="540082"/>
                  </a:lnTo>
                  <a:lnTo>
                    <a:pt x="22960" y="489238"/>
                  </a:lnTo>
                  <a:lnTo>
                    <a:pt x="35417" y="440016"/>
                  </a:lnTo>
                  <a:lnTo>
                    <a:pt x="50340" y="392570"/>
                  </a:lnTo>
                  <a:lnTo>
                    <a:pt x="67620" y="347058"/>
                  </a:lnTo>
                  <a:lnTo>
                    <a:pt x="87146" y="303633"/>
                  </a:lnTo>
                  <a:lnTo>
                    <a:pt x="108808" y="262453"/>
                  </a:lnTo>
                  <a:lnTo>
                    <a:pt x="132496" y="223673"/>
                  </a:lnTo>
                  <a:lnTo>
                    <a:pt x="158100" y="187448"/>
                  </a:lnTo>
                  <a:lnTo>
                    <a:pt x="185510" y="153935"/>
                  </a:lnTo>
                  <a:lnTo>
                    <a:pt x="214616" y="123288"/>
                  </a:lnTo>
                  <a:lnTo>
                    <a:pt x="245307" y="95663"/>
                  </a:lnTo>
                  <a:lnTo>
                    <a:pt x="277474" y="71217"/>
                  </a:lnTo>
                  <a:lnTo>
                    <a:pt x="311007" y="50105"/>
                  </a:lnTo>
                  <a:lnTo>
                    <a:pt x="345795" y="32482"/>
                  </a:lnTo>
                  <a:lnTo>
                    <a:pt x="381728" y="18504"/>
                  </a:lnTo>
                  <a:lnTo>
                    <a:pt x="418697" y="8328"/>
                  </a:lnTo>
                  <a:lnTo>
                    <a:pt x="456591" y="2107"/>
                  </a:lnTo>
                  <a:lnTo>
                    <a:pt x="495300" y="0"/>
                  </a:lnTo>
                  <a:lnTo>
                    <a:pt x="533992" y="2107"/>
                  </a:lnTo>
                  <a:lnTo>
                    <a:pt x="571872" y="8328"/>
                  </a:lnTo>
                  <a:lnTo>
                    <a:pt x="608831" y="18504"/>
                  </a:lnTo>
                  <a:lnTo>
                    <a:pt x="644757" y="32482"/>
                  </a:lnTo>
                  <a:lnTo>
                    <a:pt x="679540" y="50105"/>
                  </a:lnTo>
                  <a:lnTo>
                    <a:pt x="713069" y="71217"/>
                  </a:lnTo>
                  <a:lnTo>
                    <a:pt x="745236" y="95663"/>
                  </a:lnTo>
                  <a:lnTo>
                    <a:pt x="775928" y="123288"/>
                  </a:lnTo>
                  <a:lnTo>
                    <a:pt x="805036" y="153935"/>
                  </a:lnTo>
                  <a:lnTo>
                    <a:pt x="832449" y="187448"/>
                  </a:lnTo>
                  <a:lnTo>
                    <a:pt x="858058" y="223673"/>
                  </a:lnTo>
                  <a:lnTo>
                    <a:pt x="881751" y="262453"/>
                  </a:lnTo>
                  <a:lnTo>
                    <a:pt x="903419" y="303633"/>
                  </a:lnTo>
                  <a:lnTo>
                    <a:pt x="922951" y="347058"/>
                  </a:lnTo>
                  <a:lnTo>
                    <a:pt x="940236" y="392570"/>
                  </a:lnTo>
                  <a:lnTo>
                    <a:pt x="955165" y="440016"/>
                  </a:lnTo>
                  <a:lnTo>
                    <a:pt x="967627" y="489238"/>
                  </a:lnTo>
                  <a:lnTo>
                    <a:pt x="977512" y="540082"/>
                  </a:lnTo>
                  <a:lnTo>
                    <a:pt x="984709" y="592392"/>
                  </a:lnTo>
                  <a:lnTo>
                    <a:pt x="989109" y="646011"/>
                  </a:lnTo>
                  <a:lnTo>
                    <a:pt x="990600" y="700786"/>
                  </a:lnTo>
                  <a:lnTo>
                    <a:pt x="989109" y="755560"/>
                  </a:lnTo>
                  <a:lnTo>
                    <a:pt x="984709" y="809183"/>
                  </a:lnTo>
                  <a:lnTo>
                    <a:pt x="977512" y="861496"/>
                  </a:lnTo>
                  <a:lnTo>
                    <a:pt x="967627" y="912345"/>
                  </a:lnTo>
                  <a:lnTo>
                    <a:pt x="955165" y="961574"/>
                  </a:lnTo>
                  <a:lnTo>
                    <a:pt x="940236" y="1009026"/>
                  </a:lnTo>
                  <a:lnTo>
                    <a:pt x="922951" y="1054546"/>
                  </a:lnTo>
                  <a:lnTo>
                    <a:pt x="903419" y="1097979"/>
                  </a:lnTo>
                  <a:lnTo>
                    <a:pt x="881751" y="1139168"/>
                  </a:lnTo>
                  <a:lnTo>
                    <a:pt x="858058" y="1177957"/>
                  </a:lnTo>
                  <a:lnTo>
                    <a:pt x="832449" y="1214191"/>
                  </a:lnTo>
                  <a:lnTo>
                    <a:pt x="805036" y="1247713"/>
                  </a:lnTo>
                  <a:lnTo>
                    <a:pt x="775928" y="1278369"/>
                  </a:lnTo>
                  <a:lnTo>
                    <a:pt x="745236" y="1306002"/>
                  </a:lnTo>
                  <a:lnTo>
                    <a:pt x="713069" y="1330456"/>
                  </a:lnTo>
                  <a:lnTo>
                    <a:pt x="679540" y="1351575"/>
                  </a:lnTo>
                  <a:lnTo>
                    <a:pt x="644757" y="1369204"/>
                  </a:lnTo>
                  <a:lnTo>
                    <a:pt x="608831" y="1383186"/>
                  </a:lnTo>
                  <a:lnTo>
                    <a:pt x="571872" y="1393367"/>
                  </a:lnTo>
                  <a:lnTo>
                    <a:pt x="533992" y="1399590"/>
                  </a:lnTo>
                  <a:lnTo>
                    <a:pt x="495300" y="1401699"/>
                  </a:lnTo>
                  <a:lnTo>
                    <a:pt x="456591" y="1399590"/>
                  </a:lnTo>
                  <a:lnTo>
                    <a:pt x="418697" y="1393367"/>
                  </a:lnTo>
                  <a:lnTo>
                    <a:pt x="381728" y="1383186"/>
                  </a:lnTo>
                  <a:lnTo>
                    <a:pt x="345795" y="1369204"/>
                  </a:lnTo>
                  <a:lnTo>
                    <a:pt x="311007" y="1351575"/>
                  </a:lnTo>
                  <a:lnTo>
                    <a:pt x="277474" y="1330456"/>
                  </a:lnTo>
                  <a:lnTo>
                    <a:pt x="245307" y="1306002"/>
                  </a:lnTo>
                  <a:lnTo>
                    <a:pt x="214616" y="1278369"/>
                  </a:lnTo>
                  <a:lnTo>
                    <a:pt x="185510" y="1247713"/>
                  </a:lnTo>
                  <a:lnTo>
                    <a:pt x="158100" y="1214191"/>
                  </a:lnTo>
                  <a:lnTo>
                    <a:pt x="132496" y="1177957"/>
                  </a:lnTo>
                  <a:lnTo>
                    <a:pt x="108808" y="1139168"/>
                  </a:lnTo>
                  <a:lnTo>
                    <a:pt x="87146" y="1097979"/>
                  </a:lnTo>
                  <a:lnTo>
                    <a:pt x="67620" y="1054546"/>
                  </a:lnTo>
                  <a:lnTo>
                    <a:pt x="50340" y="1009026"/>
                  </a:lnTo>
                  <a:lnTo>
                    <a:pt x="35417" y="961574"/>
                  </a:lnTo>
                  <a:lnTo>
                    <a:pt x="22960" y="912345"/>
                  </a:lnTo>
                  <a:lnTo>
                    <a:pt x="13080" y="861496"/>
                  </a:lnTo>
                  <a:lnTo>
                    <a:pt x="5887" y="809183"/>
                  </a:lnTo>
                  <a:lnTo>
                    <a:pt x="1490" y="755560"/>
                  </a:lnTo>
                  <a:lnTo>
                    <a:pt x="0" y="700786"/>
                  </a:lnTo>
                  <a:close/>
                </a:path>
              </a:pathLst>
            </a:custGeom>
            <a:ln w="12700">
              <a:solidFill>
                <a:srgbClr val="000000"/>
              </a:solidFill>
            </a:ln>
          </p:spPr>
          <p:txBody>
            <a:bodyPr wrap="square" lIns="0" tIns="0" rIns="0" bIns="0" rtlCol="0"/>
            <a:lstStyle/>
            <a:p>
              <a:endParaRPr/>
            </a:p>
          </p:txBody>
        </p:sp>
        <p:sp>
          <p:nvSpPr>
            <p:cNvPr id="12" name="object 12"/>
            <p:cNvSpPr/>
            <p:nvPr/>
          </p:nvSpPr>
          <p:spPr>
            <a:xfrm>
              <a:off x="3626992" y="2671826"/>
              <a:ext cx="915035" cy="549275"/>
            </a:xfrm>
            <a:custGeom>
              <a:avLst/>
              <a:gdLst/>
              <a:ahLst/>
              <a:cxnLst/>
              <a:rect l="l" t="t" r="r" b="b"/>
              <a:pathLst>
                <a:path w="915035" h="549275">
                  <a:moveTo>
                    <a:pt x="0" y="274954"/>
                  </a:moveTo>
                  <a:lnTo>
                    <a:pt x="458089" y="0"/>
                  </a:lnTo>
                </a:path>
                <a:path w="915035" h="549275">
                  <a:moveTo>
                    <a:pt x="457454" y="0"/>
                  </a:moveTo>
                  <a:lnTo>
                    <a:pt x="915035" y="274954"/>
                  </a:lnTo>
                </a:path>
                <a:path w="915035" h="549275">
                  <a:moveTo>
                    <a:pt x="0" y="274193"/>
                  </a:moveTo>
                  <a:lnTo>
                    <a:pt x="458089" y="549148"/>
                  </a:lnTo>
                </a:path>
                <a:path w="915035" h="549275">
                  <a:moveTo>
                    <a:pt x="457327" y="549148"/>
                  </a:moveTo>
                  <a:lnTo>
                    <a:pt x="915035" y="274193"/>
                  </a:lnTo>
                </a:path>
              </a:pathLst>
            </a:custGeom>
            <a:ln w="12700">
              <a:solidFill>
                <a:srgbClr val="000000"/>
              </a:solidFill>
            </a:ln>
          </p:spPr>
          <p:txBody>
            <a:bodyPr wrap="square" lIns="0" tIns="0" rIns="0" bIns="0" rtlCol="0"/>
            <a:lstStyle/>
            <a:p>
              <a:endParaRPr/>
            </a:p>
          </p:txBody>
        </p:sp>
        <p:sp>
          <p:nvSpPr>
            <p:cNvPr id="13" name="object 13"/>
            <p:cNvSpPr/>
            <p:nvPr/>
          </p:nvSpPr>
          <p:spPr>
            <a:xfrm>
              <a:off x="2438400" y="2671711"/>
              <a:ext cx="915035" cy="457834"/>
            </a:xfrm>
            <a:custGeom>
              <a:avLst/>
              <a:gdLst/>
              <a:ahLst/>
              <a:cxnLst/>
              <a:rect l="l" t="t" r="r" b="b"/>
              <a:pathLst>
                <a:path w="915035" h="457835">
                  <a:moveTo>
                    <a:pt x="0" y="457822"/>
                  </a:moveTo>
                  <a:lnTo>
                    <a:pt x="915022" y="457822"/>
                  </a:lnTo>
                  <a:lnTo>
                    <a:pt x="915022" y="0"/>
                  </a:lnTo>
                  <a:lnTo>
                    <a:pt x="0" y="0"/>
                  </a:lnTo>
                  <a:lnTo>
                    <a:pt x="0" y="457822"/>
                  </a:lnTo>
                  <a:close/>
                </a:path>
              </a:pathLst>
            </a:custGeom>
            <a:ln w="12700">
              <a:solidFill>
                <a:srgbClr val="000000"/>
              </a:solidFill>
            </a:ln>
          </p:spPr>
          <p:txBody>
            <a:bodyPr wrap="square" lIns="0" tIns="0" rIns="0" bIns="0" rtlCol="0"/>
            <a:lstStyle/>
            <a:p>
              <a:endParaRPr/>
            </a:p>
          </p:txBody>
        </p:sp>
        <p:sp>
          <p:nvSpPr>
            <p:cNvPr id="14" name="object 14"/>
            <p:cNvSpPr/>
            <p:nvPr/>
          </p:nvSpPr>
          <p:spPr>
            <a:xfrm>
              <a:off x="3352800" y="2946019"/>
              <a:ext cx="274955" cy="1270"/>
            </a:xfrm>
            <a:custGeom>
              <a:avLst/>
              <a:gdLst/>
              <a:ahLst/>
              <a:cxnLst/>
              <a:rect l="l" t="t" r="r" b="b"/>
              <a:pathLst>
                <a:path w="274954" h="1269">
                  <a:moveTo>
                    <a:pt x="274954" y="0"/>
                  </a:moveTo>
                  <a:lnTo>
                    <a:pt x="0" y="761"/>
                  </a:lnTo>
                </a:path>
              </a:pathLst>
            </a:custGeom>
            <a:ln w="12700">
              <a:solidFill>
                <a:srgbClr val="000000"/>
              </a:solidFill>
            </a:ln>
          </p:spPr>
          <p:txBody>
            <a:bodyPr wrap="square" lIns="0" tIns="0" rIns="0" bIns="0" rtlCol="0"/>
            <a:lstStyle/>
            <a:p>
              <a:endParaRPr/>
            </a:p>
          </p:txBody>
        </p:sp>
        <p:sp>
          <p:nvSpPr>
            <p:cNvPr id="15" name="object 15"/>
            <p:cNvSpPr/>
            <p:nvPr/>
          </p:nvSpPr>
          <p:spPr>
            <a:xfrm>
              <a:off x="4815713" y="2671711"/>
              <a:ext cx="915669" cy="457834"/>
            </a:xfrm>
            <a:custGeom>
              <a:avLst/>
              <a:gdLst/>
              <a:ahLst/>
              <a:cxnLst/>
              <a:rect l="l" t="t" r="r" b="b"/>
              <a:pathLst>
                <a:path w="915670" h="457835">
                  <a:moveTo>
                    <a:pt x="0" y="457822"/>
                  </a:moveTo>
                  <a:lnTo>
                    <a:pt x="915187" y="457822"/>
                  </a:lnTo>
                  <a:lnTo>
                    <a:pt x="915187" y="0"/>
                  </a:lnTo>
                  <a:lnTo>
                    <a:pt x="0" y="0"/>
                  </a:lnTo>
                  <a:lnTo>
                    <a:pt x="0" y="457822"/>
                  </a:lnTo>
                  <a:close/>
                </a:path>
              </a:pathLst>
            </a:custGeom>
            <a:ln w="12700">
              <a:solidFill>
                <a:srgbClr val="000000"/>
              </a:solidFill>
            </a:ln>
          </p:spPr>
          <p:txBody>
            <a:bodyPr wrap="square" lIns="0" tIns="0" rIns="0" bIns="0" rtlCol="0"/>
            <a:lstStyle/>
            <a:p>
              <a:endParaRPr/>
            </a:p>
          </p:txBody>
        </p:sp>
        <p:sp>
          <p:nvSpPr>
            <p:cNvPr id="16" name="object 16"/>
            <p:cNvSpPr/>
            <p:nvPr/>
          </p:nvSpPr>
          <p:spPr>
            <a:xfrm>
              <a:off x="4541520" y="2946019"/>
              <a:ext cx="274955" cy="1270"/>
            </a:xfrm>
            <a:custGeom>
              <a:avLst/>
              <a:gdLst/>
              <a:ahLst/>
              <a:cxnLst/>
              <a:rect l="l" t="t" r="r" b="b"/>
              <a:pathLst>
                <a:path w="274954" h="1269">
                  <a:moveTo>
                    <a:pt x="0" y="0"/>
                  </a:moveTo>
                  <a:lnTo>
                    <a:pt x="274954" y="761"/>
                  </a:lnTo>
                </a:path>
              </a:pathLst>
            </a:custGeom>
            <a:ln w="12700">
              <a:solidFill>
                <a:srgbClr val="000000"/>
              </a:solidFill>
            </a:ln>
          </p:spPr>
          <p:txBody>
            <a:bodyPr wrap="square" lIns="0" tIns="0" rIns="0" bIns="0" rtlCol="0"/>
            <a:lstStyle/>
            <a:p>
              <a:endParaRPr/>
            </a:p>
          </p:txBody>
        </p:sp>
      </p:grpSp>
      <p:sp>
        <p:nvSpPr>
          <p:cNvPr id="17" name="object 17"/>
          <p:cNvSpPr txBox="1"/>
          <p:nvPr/>
        </p:nvSpPr>
        <p:spPr>
          <a:xfrm>
            <a:off x="3399282" y="2741168"/>
            <a:ext cx="182880"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M</a:t>
            </a:r>
            <a:endParaRPr sz="1400">
              <a:latin typeface="Times New Roman"/>
              <a:cs typeface="Times New Roman"/>
            </a:endParaRPr>
          </a:p>
        </p:txBody>
      </p:sp>
      <p:sp>
        <p:nvSpPr>
          <p:cNvPr id="18" name="object 18"/>
          <p:cNvSpPr txBox="1"/>
          <p:nvPr/>
        </p:nvSpPr>
        <p:spPr>
          <a:xfrm>
            <a:off x="4669916" y="2730245"/>
            <a:ext cx="153035"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N</a:t>
            </a:r>
            <a:endParaRPr sz="1400">
              <a:latin typeface="Times New Roman"/>
              <a:cs typeface="Times New Roman"/>
            </a:endParaRPr>
          </a:p>
        </p:txBody>
      </p:sp>
      <p:sp>
        <p:nvSpPr>
          <p:cNvPr id="19" name="object 19"/>
          <p:cNvSpPr/>
          <p:nvPr/>
        </p:nvSpPr>
        <p:spPr>
          <a:xfrm>
            <a:off x="2362200" y="2214626"/>
            <a:ext cx="3498850" cy="1402080"/>
          </a:xfrm>
          <a:custGeom>
            <a:avLst/>
            <a:gdLst/>
            <a:ahLst/>
            <a:cxnLst/>
            <a:rect l="l" t="t" r="r" b="b"/>
            <a:pathLst>
              <a:path w="3498850" h="1402079">
                <a:moveTo>
                  <a:pt x="2279650" y="700786"/>
                </a:moveTo>
                <a:lnTo>
                  <a:pt x="2281322" y="648477"/>
                </a:lnTo>
                <a:lnTo>
                  <a:pt x="2286259" y="597214"/>
                </a:lnTo>
                <a:lnTo>
                  <a:pt x="2294344" y="547132"/>
                </a:lnTo>
                <a:lnTo>
                  <a:pt x="2305459" y="498366"/>
                </a:lnTo>
                <a:lnTo>
                  <a:pt x="2319486" y="451052"/>
                </a:lnTo>
                <a:lnTo>
                  <a:pt x="2336307" y="405325"/>
                </a:lnTo>
                <a:lnTo>
                  <a:pt x="2355804" y="361320"/>
                </a:lnTo>
                <a:lnTo>
                  <a:pt x="2377859" y="319173"/>
                </a:lnTo>
                <a:lnTo>
                  <a:pt x="2402354" y="279018"/>
                </a:lnTo>
                <a:lnTo>
                  <a:pt x="2429173" y="240993"/>
                </a:lnTo>
                <a:lnTo>
                  <a:pt x="2458196" y="205231"/>
                </a:lnTo>
                <a:lnTo>
                  <a:pt x="2489305" y="171869"/>
                </a:lnTo>
                <a:lnTo>
                  <a:pt x="2522384" y="141042"/>
                </a:lnTo>
                <a:lnTo>
                  <a:pt x="2557314" y="112885"/>
                </a:lnTo>
                <a:lnTo>
                  <a:pt x="2593977" y="87533"/>
                </a:lnTo>
                <a:lnTo>
                  <a:pt x="2632256" y="65122"/>
                </a:lnTo>
                <a:lnTo>
                  <a:pt x="2672032" y="45788"/>
                </a:lnTo>
                <a:lnTo>
                  <a:pt x="2713187" y="29665"/>
                </a:lnTo>
                <a:lnTo>
                  <a:pt x="2755605" y="16889"/>
                </a:lnTo>
                <a:lnTo>
                  <a:pt x="2799166" y="7596"/>
                </a:lnTo>
                <a:lnTo>
                  <a:pt x="2843754" y="1921"/>
                </a:lnTo>
                <a:lnTo>
                  <a:pt x="2889250" y="0"/>
                </a:lnTo>
                <a:lnTo>
                  <a:pt x="2934745" y="1921"/>
                </a:lnTo>
                <a:lnTo>
                  <a:pt x="2979333" y="7596"/>
                </a:lnTo>
                <a:lnTo>
                  <a:pt x="3022894" y="16889"/>
                </a:lnTo>
                <a:lnTo>
                  <a:pt x="3065312" y="29665"/>
                </a:lnTo>
                <a:lnTo>
                  <a:pt x="3106467" y="45788"/>
                </a:lnTo>
                <a:lnTo>
                  <a:pt x="3146243" y="65122"/>
                </a:lnTo>
                <a:lnTo>
                  <a:pt x="3184522" y="87533"/>
                </a:lnTo>
                <a:lnTo>
                  <a:pt x="3221185" y="112885"/>
                </a:lnTo>
                <a:lnTo>
                  <a:pt x="3256115" y="141042"/>
                </a:lnTo>
                <a:lnTo>
                  <a:pt x="3289194" y="171869"/>
                </a:lnTo>
                <a:lnTo>
                  <a:pt x="3320303" y="205232"/>
                </a:lnTo>
                <a:lnTo>
                  <a:pt x="3349326" y="240993"/>
                </a:lnTo>
                <a:lnTo>
                  <a:pt x="3376145" y="279019"/>
                </a:lnTo>
                <a:lnTo>
                  <a:pt x="3400640" y="319173"/>
                </a:lnTo>
                <a:lnTo>
                  <a:pt x="3422695" y="361320"/>
                </a:lnTo>
                <a:lnTo>
                  <a:pt x="3442192" y="405325"/>
                </a:lnTo>
                <a:lnTo>
                  <a:pt x="3459013" y="451052"/>
                </a:lnTo>
                <a:lnTo>
                  <a:pt x="3473040" y="498366"/>
                </a:lnTo>
                <a:lnTo>
                  <a:pt x="3484155" y="547132"/>
                </a:lnTo>
                <a:lnTo>
                  <a:pt x="3492240" y="597214"/>
                </a:lnTo>
                <a:lnTo>
                  <a:pt x="3497177" y="648477"/>
                </a:lnTo>
                <a:lnTo>
                  <a:pt x="3498850" y="700786"/>
                </a:lnTo>
                <a:lnTo>
                  <a:pt x="3497177" y="753095"/>
                </a:lnTo>
                <a:lnTo>
                  <a:pt x="3492240" y="804360"/>
                </a:lnTo>
                <a:lnTo>
                  <a:pt x="3484155" y="854445"/>
                </a:lnTo>
                <a:lnTo>
                  <a:pt x="3473040" y="903216"/>
                </a:lnTo>
                <a:lnTo>
                  <a:pt x="3459013" y="950536"/>
                </a:lnTo>
                <a:lnTo>
                  <a:pt x="3442192" y="996269"/>
                </a:lnTo>
                <a:lnTo>
                  <a:pt x="3422695" y="1040282"/>
                </a:lnTo>
                <a:lnTo>
                  <a:pt x="3400640" y="1082437"/>
                </a:lnTo>
                <a:lnTo>
                  <a:pt x="3376145" y="1122599"/>
                </a:lnTo>
                <a:lnTo>
                  <a:pt x="3349326" y="1160633"/>
                </a:lnTo>
                <a:lnTo>
                  <a:pt x="3320303" y="1196403"/>
                </a:lnTo>
                <a:lnTo>
                  <a:pt x="3289194" y="1229774"/>
                </a:lnTo>
                <a:lnTo>
                  <a:pt x="3256115" y="1260610"/>
                </a:lnTo>
                <a:lnTo>
                  <a:pt x="3221185" y="1288775"/>
                </a:lnTo>
                <a:lnTo>
                  <a:pt x="3184522" y="1314135"/>
                </a:lnTo>
                <a:lnTo>
                  <a:pt x="3146243" y="1336553"/>
                </a:lnTo>
                <a:lnTo>
                  <a:pt x="3106467" y="1355894"/>
                </a:lnTo>
                <a:lnTo>
                  <a:pt x="3065312" y="1372022"/>
                </a:lnTo>
                <a:lnTo>
                  <a:pt x="3022894" y="1384802"/>
                </a:lnTo>
                <a:lnTo>
                  <a:pt x="2979333" y="1394099"/>
                </a:lnTo>
                <a:lnTo>
                  <a:pt x="2934745" y="1399776"/>
                </a:lnTo>
                <a:lnTo>
                  <a:pt x="2889250" y="1401699"/>
                </a:lnTo>
                <a:lnTo>
                  <a:pt x="2843754" y="1399776"/>
                </a:lnTo>
                <a:lnTo>
                  <a:pt x="2799166" y="1394099"/>
                </a:lnTo>
                <a:lnTo>
                  <a:pt x="2755605" y="1384802"/>
                </a:lnTo>
                <a:lnTo>
                  <a:pt x="2713187" y="1372022"/>
                </a:lnTo>
                <a:lnTo>
                  <a:pt x="2672032" y="1355894"/>
                </a:lnTo>
                <a:lnTo>
                  <a:pt x="2632256" y="1336553"/>
                </a:lnTo>
                <a:lnTo>
                  <a:pt x="2593977" y="1314135"/>
                </a:lnTo>
                <a:lnTo>
                  <a:pt x="2557314" y="1288775"/>
                </a:lnTo>
                <a:lnTo>
                  <a:pt x="2522384" y="1260610"/>
                </a:lnTo>
                <a:lnTo>
                  <a:pt x="2489305" y="1229774"/>
                </a:lnTo>
                <a:lnTo>
                  <a:pt x="2458196" y="1196403"/>
                </a:lnTo>
                <a:lnTo>
                  <a:pt x="2429173" y="1160633"/>
                </a:lnTo>
                <a:lnTo>
                  <a:pt x="2402354" y="1122599"/>
                </a:lnTo>
                <a:lnTo>
                  <a:pt x="2377859" y="1082437"/>
                </a:lnTo>
                <a:lnTo>
                  <a:pt x="2355804" y="1040282"/>
                </a:lnTo>
                <a:lnTo>
                  <a:pt x="2336307" y="996269"/>
                </a:lnTo>
                <a:lnTo>
                  <a:pt x="2319486" y="950536"/>
                </a:lnTo>
                <a:lnTo>
                  <a:pt x="2305459" y="903216"/>
                </a:lnTo>
                <a:lnTo>
                  <a:pt x="2294344" y="854445"/>
                </a:lnTo>
                <a:lnTo>
                  <a:pt x="2286259" y="804360"/>
                </a:lnTo>
                <a:lnTo>
                  <a:pt x="2281322" y="753095"/>
                </a:lnTo>
                <a:lnTo>
                  <a:pt x="2279650" y="700786"/>
                </a:lnTo>
                <a:close/>
              </a:path>
              <a:path w="3498850" h="1402079">
                <a:moveTo>
                  <a:pt x="0" y="700786"/>
                </a:moveTo>
                <a:lnTo>
                  <a:pt x="1672" y="648477"/>
                </a:lnTo>
                <a:lnTo>
                  <a:pt x="6609" y="597214"/>
                </a:lnTo>
                <a:lnTo>
                  <a:pt x="14694" y="547132"/>
                </a:lnTo>
                <a:lnTo>
                  <a:pt x="25809" y="498366"/>
                </a:lnTo>
                <a:lnTo>
                  <a:pt x="39836" y="451052"/>
                </a:lnTo>
                <a:lnTo>
                  <a:pt x="56657" y="405325"/>
                </a:lnTo>
                <a:lnTo>
                  <a:pt x="76154" y="361320"/>
                </a:lnTo>
                <a:lnTo>
                  <a:pt x="98209" y="319173"/>
                </a:lnTo>
                <a:lnTo>
                  <a:pt x="122704" y="279018"/>
                </a:lnTo>
                <a:lnTo>
                  <a:pt x="149523" y="240993"/>
                </a:lnTo>
                <a:lnTo>
                  <a:pt x="178546" y="205231"/>
                </a:lnTo>
                <a:lnTo>
                  <a:pt x="209655" y="171869"/>
                </a:lnTo>
                <a:lnTo>
                  <a:pt x="242734" y="141042"/>
                </a:lnTo>
                <a:lnTo>
                  <a:pt x="277664" y="112885"/>
                </a:lnTo>
                <a:lnTo>
                  <a:pt x="314327" y="87533"/>
                </a:lnTo>
                <a:lnTo>
                  <a:pt x="352606" y="65122"/>
                </a:lnTo>
                <a:lnTo>
                  <a:pt x="392382" y="45788"/>
                </a:lnTo>
                <a:lnTo>
                  <a:pt x="433537" y="29665"/>
                </a:lnTo>
                <a:lnTo>
                  <a:pt x="475955" y="16889"/>
                </a:lnTo>
                <a:lnTo>
                  <a:pt x="519516" y="7596"/>
                </a:lnTo>
                <a:lnTo>
                  <a:pt x="564104" y="1921"/>
                </a:lnTo>
                <a:lnTo>
                  <a:pt x="609600" y="0"/>
                </a:lnTo>
                <a:lnTo>
                  <a:pt x="655095" y="1921"/>
                </a:lnTo>
                <a:lnTo>
                  <a:pt x="699683" y="7596"/>
                </a:lnTo>
                <a:lnTo>
                  <a:pt x="743244" y="16889"/>
                </a:lnTo>
                <a:lnTo>
                  <a:pt x="785662" y="29665"/>
                </a:lnTo>
                <a:lnTo>
                  <a:pt x="826817" y="45788"/>
                </a:lnTo>
                <a:lnTo>
                  <a:pt x="866593" y="65122"/>
                </a:lnTo>
                <a:lnTo>
                  <a:pt x="904872" y="87533"/>
                </a:lnTo>
                <a:lnTo>
                  <a:pt x="941535" y="112885"/>
                </a:lnTo>
                <a:lnTo>
                  <a:pt x="976465" y="141042"/>
                </a:lnTo>
                <a:lnTo>
                  <a:pt x="1009544" y="171869"/>
                </a:lnTo>
                <a:lnTo>
                  <a:pt x="1040653" y="205232"/>
                </a:lnTo>
                <a:lnTo>
                  <a:pt x="1069676" y="240993"/>
                </a:lnTo>
                <a:lnTo>
                  <a:pt x="1096495" y="279019"/>
                </a:lnTo>
                <a:lnTo>
                  <a:pt x="1120990" y="319173"/>
                </a:lnTo>
                <a:lnTo>
                  <a:pt x="1143045" y="361320"/>
                </a:lnTo>
                <a:lnTo>
                  <a:pt x="1162542" y="405325"/>
                </a:lnTo>
                <a:lnTo>
                  <a:pt x="1179363" y="451052"/>
                </a:lnTo>
                <a:lnTo>
                  <a:pt x="1193390" y="498366"/>
                </a:lnTo>
                <a:lnTo>
                  <a:pt x="1204505" y="547132"/>
                </a:lnTo>
                <a:lnTo>
                  <a:pt x="1212590" y="597214"/>
                </a:lnTo>
                <a:lnTo>
                  <a:pt x="1217527" y="648477"/>
                </a:lnTo>
                <a:lnTo>
                  <a:pt x="1219200" y="700786"/>
                </a:lnTo>
                <a:lnTo>
                  <a:pt x="1217527" y="753095"/>
                </a:lnTo>
                <a:lnTo>
                  <a:pt x="1212590" y="804360"/>
                </a:lnTo>
                <a:lnTo>
                  <a:pt x="1204505" y="854445"/>
                </a:lnTo>
                <a:lnTo>
                  <a:pt x="1193390" y="903216"/>
                </a:lnTo>
                <a:lnTo>
                  <a:pt x="1179363" y="950536"/>
                </a:lnTo>
                <a:lnTo>
                  <a:pt x="1162542" y="996269"/>
                </a:lnTo>
                <a:lnTo>
                  <a:pt x="1143045" y="1040282"/>
                </a:lnTo>
                <a:lnTo>
                  <a:pt x="1120990" y="1082437"/>
                </a:lnTo>
                <a:lnTo>
                  <a:pt x="1096495" y="1122599"/>
                </a:lnTo>
                <a:lnTo>
                  <a:pt x="1069676" y="1160633"/>
                </a:lnTo>
                <a:lnTo>
                  <a:pt x="1040653" y="1196403"/>
                </a:lnTo>
                <a:lnTo>
                  <a:pt x="1009544" y="1229774"/>
                </a:lnTo>
                <a:lnTo>
                  <a:pt x="976465" y="1260610"/>
                </a:lnTo>
                <a:lnTo>
                  <a:pt x="941535" y="1288775"/>
                </a:lnTo>
                <a:lnTo>
                  <a:pt x="904872" y="1314135"/>
                </a:lnTo>
                <a:lnTo>
                  <a:pt x="866593" y="1336553"/>
                </a:lnTo>
                <a:lnTo>
                  <a:pt x="826817" y="1355894"/>
                </a:lnTo>
                <a:lnTo>
                  <a:pt x="785662" y="1372022"/>
                </a:lnTo>
                <a:lnTo>
                  <a:pt x="743244" y="1384802"/>
                </a:lnTo>
                <a:lnTo>
                  <a:pt x="699683" y="1394099"/>
                </a:lnTo>
                <a:lnTo>
                  <a:pt x="655095" y="1399776"/>
                </a:lnTo>
                <a:lnTo>
                  <a:pt x="609600" y="1401699"/>
                </a:lnTo>
                <a:lnTo>
                  <a:pt x="564104" y="1399776"/>
                </a:lnTo>
                <a:lnTo>
                  <a:pt x="519516" y="1394099"/>
                </a:lnTo>
                <a:lnTo>
                  <a:pt x="475955" y="1384802"/>
                </a:lnTo>
                <a:lnTo>
                  <a:pt x="433537" y="1372022"/>
                </a:lnTo>
                <a:lnTo>
                  <a:pt x="392382" y="1355894"/>
                </a:lnTo>
                <a:lnTo>
                  <a:pt x="352606" y="1336553"/>
                </a:lnTo>
                <a:lnTo>
                  <a:pt x="314327" y="1314135"/>
                </a:lnTo>
                <a:lnTo>
                  <a:pt x="277664" y="1288775"/>
                </a:lnTo>
                <a:lnTo>
                  <a:pt x="242734" y="1260610"/>
                </a:lnTo>
                <a:lnTo>
                  <a:pt x="209655" y="1229774"/>
                </a:lnTo>
                <a:lnTo>
                  <a:pt x="178546" y="1196403"/>
                </a:lnTo>
                <a:lnTo>
                  <a:pt x="149523" y="1160633"/>
                </a:lnTo>
                <a:lnTo>
                  <a:pt x="122704" y="1122599"/>
                </a:lnTo>
                <a:lnTo>
                  <a:pt x="98209" y="1082437"/>
                </a:lnTo>
                <a:lnTo>
                  <a:pt x="76154" y="1040282"/>
                </a:lnTo>
                <a:lnTo>
                  <a:pt x="56657" y="996269"/>
                </a:lnTo>
                <a:lnTo>
                  <a:pt x="39836" y="950536"/>
                </a:lnTo>
                <a:lnTo>
                  <a:pt x="25809" y="903216"/>
                </a:lnTo>
                <a:lnTo>
                  <a:pt x="14694" y="854445"/>
                </a:lnTo>
                <a:lnTo>
                  <a:pt x="6609" y="804360"/>
                </a:lnTo>
                <a:lnTo>
                  <a:pt x="1672" y="753095"/>
                </a:lnTo>
                <a:lnTo>
                  <a:pt x="0" y="700786"/>
                </a:lnTo>
                <a:close/>
              </a:path>
            </a:pathLst>
          </a:custGeom>
          <a:ln w="12700">
            <a:solidFill>
              <a:srgbClr val="000000"/>
            </a:solidFill>
          </a:ln>
        </p:spPr>
        <p:txBody>
          <a:bodyPr wrap="square" lIns="0" tIns="0" rIns="0" bIns="0" rtlCol="0"/>
          <a:lstStyle/>
          <a:p>
            <a:endParaRPr/>
          </a:p>
        </p:txBody>
      </p:sp>
      <p:grpSp>
        <p:nvGrpSpPr>
          <p:cNvPr id="20" name="object 20"/>
          <p:cNvGrpSpPr/>
          <p:nvPr/>
        </p:nvGrpSpPr>
        <p:grpSpPr>
          <a:xfrm>
            <a:off x="1898650" y="5637212"/>
            <a:ext cx="5041900" cy="1155700"/>
            <a:chOff x="1898650" y="5637212"/>
            <a:chExt cx="5041900" cy="1155700"/>
          </a:xfrm>
        </p:grpSpPr>
        <p:sp>
          <p:nvSpPr>
            <p:cNvPr id="21" name="object 21"/>
            <p:cNvSpPr/>
            <p:nvPr/>
          </p:nvSpPr>
          <p:spPr>
            <a:xfrm>
              <a:off x="1905000" y="5643562"/>
              <a:ext cx="3124200" cy="1143000"/>
            </a:xfrm>
            <a:custGeom>
              <a:avLst/>
              <a:gdLst/>
              <a:ahLst/>
              <a:cxnLst/>
              <a:rect l="l" t="t" r="r" b="b"/>
              <a:pathLst>
                <a:path w="3124200" h="1143000">
                  <a:moveTo>
                    <a:pt x="0" y="1143000"/>
                  </a:moveTo>
                  <a:lnTo>
                    <a:pt x="1066800" y="1143000"/>
                  </a:lnTo>
                  <a:lnTo>
                    <a:pt x="1066800" y="0"/>
                  </a:lnTo>
                  <a:lnTo>
                    <a:pt x="0" y="0"/>
                  </a:lnTo>
                  <a:lnTo>
                    <a:pt x="0" y="1143000"/>
                  </a:lnTo>
                  <a:close/>
                </a:path>
                <a:path w="3124200" h="1143000">
                  <a:moveTo>
                    <a:pt x="2057400" y="1143000"/>
                  </a:moveTo>
                  <a:lnTo>
                    <a:pt x="3124200" y="1143000"/>
                  </a:lnTo>
                  <a:lnTo>
                    <a:pt x="3124200" y="0"/>
                  </a:lnTo>
                  <a:lnTo>
                    <a:pt x="2057400" y="0"/>
                  </a:lnTo>
                  <a:lnTo>
                    <a:pt x="2057400" y="1143000"/>
                  </a:lnTo>
                  <a:close/>
                </a:path>
              </a:pathLst>
            </a:custGeom>
            <a:ln w="12700">
              <a:solidFill>
                <a:srgbClr val="000000"/>
              </a:solidFill>
            </a:ln>
          </p:spPr>
          <p:txBody>
            <a:bodyPr wrap="square" lIns="0" tIns="0" rIns="0" bIns="0" rtlCol="0"/>
            <a:lstStyle/>
            <a:p>
              <a:endParaRPr/>
            </a:p>
          </p:txBody>
        </p:sp>
        <p:sp>
          <p:nvSpPr>
            <p:cNvPr id="22" name="object 22"/>
            <p:cNvSpPr/>
            <p:nvPr/>
          </p:nvSpPr>
          <p:spPr>
            <a:xfrm>
              <a:off x="2971800" y="6151562"/>
              <a:ext cx="990600" cy="127000"/>
            </a:xfrm>
            <a:custGeom>
              <a:avLst/>
              <a:gdLst/>
              <a:ahLst/>
              <a:cxnLst/>
              <a:rect l="l" t="t" r="r" b="b"/>
              <a:pathLst>
                <a:path w="990600" h="127000">
                  <a:moveTo>
                    <a:pt x="914400" y="63500"/>
                  </a:moveTo>
                  <a:lnTo>
                    <a:pt x="863600" y="127000"/>
                  </a:lnTo>
                  <a:lnTo>
                    <a:pt x="977900" y="69850"/>
                  </a:lnTo>
                  <a:lnTo>
                    <a:pt x="914400" y="69850"/>
                  </a:lnTo>
                  <a:lnTo>
                    <a:pt x="914400" y="63500"/>
                  </a:lnTo>
                  <a:close/>
                </a:path>
                <a:path w="990600" h="127000">
                  <a:moveTo>
                    <a:pt x="909320" y="57150"/>
                  </a:moveTo>
                  <a:lnTo>
                    <a:pt x="0" y="57150"/>
                  </a:lnTo>
                  <a:lnTo>
                    <a:pt x="0" y="69850"/>
                  </a:lnTo>
                  <a:lnTo>
                    <a:pt x="909320" y="69850"/>
                  </a:lnTo>
                  <a:lnTo>
                    <a:pt x="914400" y="63500"/>
                  </a:lnTo>
                  <a:lnTo>
                    <a:pt x="909320" y="57150"/>
                  </a:lnTo>
                  <a:close/>
                </a:path>
                <a:path w="990600" h="127000">
                  <a:moveTo>
                    <a:pt x="977900" y="57150"/>
                  </a:moveTo>
                  <a:lnTo>
                    <a:pt x="914400" y="57150"/>
                  </a:lnTo>
                  <a:lnTo>
                    <a:pt x="914400" y="69850"/>
                  </a:lnTo>
                  <a:lnTo>
                    <a:pt x="977900" y="69850"/>
                  </a:lnTo>
                  <a:lnTo>
                    <a:pt x="990600" y="63500"/>
                  </a:lnTo>
                  <a:lnTo>
                    <a:pt x="977900" y="57150"/>
                  </a:lnTo>
                  <a:close/>
                </a:path>
                <a:path w="990600" h="127000">
                  <a:moveTo>
                    <a:pt x="863600" y="0"/>
                  </a:moveTo>
                  <a:lnTo>
                    <a:pt x="914400" y="63500"/>
                  </a:lnTo>
                  <a:lnTo>
                    <a:pt x="914400" y="57150"/>
                  </a:lnTo>
                  <a:lnTo>
                    <a:pt x="977900" y="57150"/>
                  </a:lnTo>
                  <a:lnTo>
                    <a:pt x="863600" y="0"/>
                  </a:lnTo>
                  <a:close/>
                </a:path>
              </a:pathLst>
            </a:custGeom>
            <a:solidFill>
              <a:srgbClr val="000000"/>
            </a:solidFill>
          </p:spPr>
          <p:txBody>
            <a:bodyPr wrap="square" lIns="0" tIns="0" rIns="0" bIns="0" rtlCol="0"/>
            <a:lstStyle/>
            <a:p>
              <a:endParaRPr/>
            </a:p>
          </p:txBody>
        </p:sp>
        <p:sp>
          <p:nvSpPr>
            <p:cNvPr id="23" name="object 23"/>
            <p:cNvSpPr/>
            <p:nvPr/>
          </p:nvSpPr>
          <p:spPr>
            <a:xfrm>
              <a:off x="5867400" y="5643562"/>
              <a:ext cx="1066800" cy="1143000"/>
            </a:xfrm>
            <a:custGeom>
              <a:avLst/>
              <a:gdLst/>
              <a:ahLst/>
              <a:cxnLst/>
              <a:rect l="l" t="t" r="r" b="b"/>
              <a:pathLst>
                <a:path w="1066800" h="1143000">
                  <a:moveTo>
                    <a:pt x="0" y="1143000"/>
                  </a:moveTo>
                  <a:lnTo>
                    <a:pt x="1066800" y="1143000"/>
                  </a:lnTo>
                  <a:lnTo>
                    <a:pt x="1066800" y="0"/>
                  </a:lnTo>
                  <a:lnTo>
                    <a:pt x="0" y="0"/>
                  </a:lnTo>
                  <a:lnTo>
                    <a:pt x="0" y="1143000"/>
                  </a:lnTo>
                  <a:close/>
                </a:path>
              </a:pathLst>
            </a:custGeom>
            <a:ln w="12700">
              <a:solidFill>
                <a:srgbClr val="000000"/>
              </a:solidFill>
            </a:ln>
          </p:spPr>
          <p:txBody>
            <a:bodyPr wrap="square" lIns="0" tIns="0" rIns="0" bIns="0" rtlCol="0"/>
            <a:lstStyle/>
            <a:p>
              <a:endParaRPr/>
            </a:p>
          </p:txBody>
        </p:sp>
        <p:sp>
          <p:nvSpPr>
            <p:cNvPr id="24" name="object 24"/>
            <p:cNvSpPr/>
            <p:nvPr/>
          </p:nvSpPr>
          <p:spPr>
            <a:xfrm>
              <a:off x="5029200" y="6151562"/>
              <a:ext cx="838200" cy="127000"/>
            </a:xfrm>
            <a:custGeom>
              <a:avLst/>
              <a:gdLst/>
              <a:ahLst/>
              <a:cxnLst/>
              <a:rect l="l" t="t" r="r" b="b"/>
              <a:pathLst>
                <a:path w="838200" h="127000">
                  <a:moveTo>
                    <a:pt x="127000" y="0"/>
                  </a:moveTo>
                  <a:lnTo>
                    <a:pt x="0" y="63500"/>
                  </a:lnTo>
                  <a:lnTo>
                    <a:pt x="127000" y="127000"/>
                  </a:lnTo>
                  <a:lnTo>
                    <a:pt x="81279" y="69850"/>
                  </a:lnTo>
                  <a:lnTo>
                    <a:pt x="76200" y="69850"/>
                  </a:lnTo>
                  <a:lnTo>
                    <a:pt x="76200" y="57150"/>
                  </a:lnTo>
                  <a:lnTo>
                    <a:pt x="81279" y="57150"/>
                  </a:lnTo>
                  <a:lnTo>
                    <a:pt x="127000" y="0"/>
                  </a:lnTo>
                  <a:close/>
                </a:path>
                <a:path w="838200" h="127000">
                  <a:moveTo>
                    <a:pt x="76200" y="63500"/>
                  </a:moveTo>
                  <a:lnTo>
                    <a:pt x="76200" y="69850"/>
                  </a:lnTo>
                  <a:lnTo>
                    <a:pt x="81279" y="69850"/>
                  </a:lnTo>
                  <a:lnTo>
                    <a:pt x="76200" y="63500"/>
                  </a:lnTo>
                  <a:close/>
                </a:path>
                <a:path w="838200" h="127000">
                  <a:moveTo>
                    <a:pt x="838200" y="57150"/>
                  </a:moveTo>
                  <a:lnTo>
                    <a:pt x="81279" y="57150"/>
                  </a:lnTo>
                  <a:lnTo>
                    <a:pt x="76200" y="63500"/>
                  </a:lnTo>
                  <a:lnTo>
                    <a:pt x="81279" y="69850"/>
                  </a:lnTo>
                  <a:lnTo>
                    <a:pt x="838200" y="69850"/>
                  </a:lnTo>
                  <a:lnTo>
                    <a:pt x="838200" y="57150"/>
                  </a:lnTo>
                  <a:close/>
                </a:path>
                <a:path w="838200" h="127000">
                  <a:moveTo>
                    <a:pt x="81279" y="57150"/>
                  </a:moveTo>
                  <a:lnTo>
                    <a:pt x="76200" y="57150"/>
                  </a:lnTo>
                  <a:lnTo>
                    <a:pt x="76200" y="63500"/>
                  </a:lnTo>
                  <a:lnTo>
                    <a:pt x="81279" y="5715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4" name="Picture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p:nvPr/>
        </p:nvSpPr>
        <p:spPr>
          <a:xfrm>
            <a:off x="763320" y="1238834"/>
            <a:ext cx="2174875" cy="271145"/>
          </a:xfrm>
          <a:prstGeom prst="rect">
            <a:avLst/>
          </a:prstGeom>
        </p:spPr>
        <p:txBody>
          <a:bodyPr vert="horz" wrap="square" lIns="0" tIns="13970" rIns="0" bIns="0" rtlCol="0">
            <a:spAutoFit/>
          </a:bodyPr>
          <a:lstStyle/>
          <a:p>
            <a:pPr marL="12700">
              <a:lnSpc>
                <a:spcPct val="100000"/>
              </a:lnSpc>
              <a:spcBef>
                <a:spcPts val="110"/>
              </a:spcBef>
            </a:pPr>
            <a:r>
              <a:rPr sz="1600" b="1" spc="-5" dirty="0">
                <a:latin typeface="Times New Roman"/>
                <a:cs typeface="Times New Roman"/>
              </a:rPr>
              <a:t>TRANSFORMASI</a:t>
            </a:r>
            <a:r>
              <a:rPr sz="1600" b="1" spc="-95" dirty="0">
                <a:latin typeface="Times New Roman"/>
                <a:cs typeface="Times New Roman"/>
              </a:rPr>
              <a:t> </a:t>
            </a:r>
            <a:r>
              <a:rPr sz="1600" b="1" spc="5" dirty="0">
                <a:latin typeface="Times New Roman"/>
                <a:cs typeface="Times New Roman"/>
              </a:rPr>
              <a:t>M</a:t>
            </a:r>
            <a:r>
              <a:rPr sz="1600" b="1" spc="-35" dirty="0">
                <a:latin typeface="Times New Roman"/>
                <a:cs typeface="Times New Roman"/>
              </a:rPr>
              <a:t> </a:t>
            </a:r>
            <a:r>
              <a:rPr sz="1600" b="1" dirty="0">
                <a:latin typeface="Times New Roman"/>
                <a:cs typeface="Times New Roman"/>
              </a:rPr>
              <a:t>:N</a:t>
            </a:r>
            <a:endParaRPr sz="1600">
              <a:latin typeface="Times New Roman"/>
              <a:cs typeface="Times New Roman"/>
            </a:endParaRPr>
          </a:p>
        </p:txBody>
      </p:sp>
      <p:sp>
        <p:nvSpPr>
          <p:cNvPr id="9" name="object 9"/>
          <p:cNvSpPr txBox="1"/>
          <p:nvPr/>
        </p:nvSpPr>
        <p:spPr>
          <a:xfrm>
            <a:off x="3507485" y="1238834"/>
            <a:ext cx="1642110" cy="271145"/>
          </a:xfrm>
          <a:prstGeom prst="rect">
            <a:avLst/>
          </a:prstGeom>
        </p:spPr>
        <p:txBody>
          <a:bodyPr vert="horz" wrap="square" lIns="0" tIns="13970" rIns="0" bIns="0" rtlCol="0">
            <a:spAutoFit/>
          </a:bodyPr>
          <a:lstStyle/>
          <a:p>
            <a:pPr marL="12700">
              <a:lnSpc>
                <a:spcPct val="100000"/>
              </a:lnSpc>
              <a:spcBef>
                <a:spcPts val="110"/>
              </a:spcBef>
            </a:pPr>
            <a:r>
              <a:rPr sz="1600" spc="-25" dirty="0">
                <a:latin typeface="Times New Roman"/>
                <a:cs typeface="Times New Roman"/>
              </a:rPr>
              <a:t>MANY-TO-MANY</a:t>
            </a:r>
            <a:endParaRPr sz="1600">
              <a:latin typeface="Times New Roman"/>
              <a:cs typeface="Times New Roman"/>
            </a:endParaRPr>
          </a:p>
        </p:txBody>
      </p:sp>
      <p:sp>
        <p:nvSpPr>
          <p:cNvPr id="10" name="object 10"/>
          <p:cNvSpPr txBox="1"/>
          <p:nvPr/>
        </p:nvSpPr>
        <p:spPr>
          <a:xfrm>
            <a:off x="6235700" y="2164842"/>
            <a:ext cx="1071880" cy="664845"/>
          </a:xfrm>
          <a:prstGeom prst="rect">
            <a:avLst/>
          </a:prstGeom>
        </p:spPr>
        <p:txBody>
          <a:bodyPr vert="horz" wrap="square" lIns="0" tIns="11430" rIns="0" bIns="0" rtlCol="0">
            <a:spAutoFit/>
          </a:bodyPr>
          <a:lstStyle/>
          <a:p>
            <a:pPr marL="12700" marR="5080">
              <a:lnSpc>
                <a:spcPct val="100000"/>
              </a:lnSpc>
              <a:spcBef>
                <a:spcPts val="90"/>
              </a:spcBef>
            </a:pPr>
            <a:r>
              <a:rPr sz="1400" u="sng" spc="-35" dirty="0">
                <a:uFill>
                  <a:solidFill>
                    <a:srgbClr val="000000"/>
                  </a:solidFill>
                </a:uFill>
                <a:latin typeface="Times New Roman"/>
                <a:cs typeface="Times New Roman"/>
              </a:rPr>
              <a:t>K</a:t>
            </a:r>
            <a:r>
              <a:rPr sz="1400" u="sng" spc="-10" dirty="0">
                <a:uFill>
                  <a:solidFill>
                    <a:srgbClr val="000000"/>
                  </a:solidFill>
                </a:uFill>
                <a:latin typeface="Times New Roman"/>
                <a:cs typeface="Times New Roman"/>
              </a:rPr>
              <a:t>D</a:t>
            </a:r>
            <a:r>
              <a:rPr sz="1400" u="sng" spc="-15" dirty="0">
                <a:uFill>
                  <a:solidFill>
                    <a:srgbClr val="000000"/>
                  </a:solidFill>
                </a:uFill>
                <a:latin typeface="Times New Roman"/>
                <a:cs typeface="Times New Roman"/>
              </a:rPr>
              <a:t>-</a:t>
            </a:r>
            <a:r>
              <a:rPr sz="1400" u="sng" spc="-5" dirty="0">
                <a:uFill>
                  <a:solidFill>
                    <a:srgbClr val="000000"/>
                  </a:solidFill>
                </a:uFill>
                <a:latin typeface="Times New Roman"/>
                <a:cs typeface="Times New Roman"/>
              </a:rPr>
              <a:t>M</a:t>
            </a:r>
            <a:r>
              <a:rPr sz="1400" u="sng" spc="-180" dirty="0">
                <a:uFill>
                  <a:solidFill>
                    <a:srgbClr val="000000"/>
                  </a:solidFill>
                </a:uFill>
                <a:latin typeface="Times New Roman"/>
                <a:cs typeface="Times New Roman"/>
              </a:rPr>
              <a:t>A</a:t>
            </a:r>
            <a:r>
              <a:rPr sz="1400" u="sng" spc="-20" dirty="0">
                <a:uFill>
                  <a:solidFill>
                    <a:srgbClr val="000000"/>
                  </a:solidFill>
                </a:uFill>
                <a:latin typeface="Times New Roman"/>
                <a:cs typeface="Times New Roman"/>
              </a:rPr>
              <a:t>T</a:t>
            </a:r>
            <a:r>
              <a:rPr sz="1400" u="sng" spc="-35" dirty="0">
                <a:uFill>
                  <a:solidFill>
                    <a:srgbClr val="000000"/>
                  </a:solidFill>
                </a:uFill>
                <a:latin typeface="Times New Roman"/>
                <a:cs typeface="Times New Roman"/>
              </a:rPr>
              <a:t>K</a:t>
            </a:r>
            <a:r>
              <a:rPr sz="1400" u="sng" spc="15" dirty="0">
                <a:uFill>
                  <a:solidFill>
                    <a:srgbClr val="000000"/>
                  </a:solidFill>
                </a:uFill>
                <a:latin typeface="Times New Roman"/>
                <a:cs typeface="Times New Roman"/>
              </a:rPr>
              <a:t>U</a:t>
            </a:r>
            <a:r>
              <a:rPr sz="1400" u="sng" spc="-5" dirty="0">
                <a:uFill>
                  <a:solidFill>
                    <a:srgbClr val="000000"/>
                  </a:solidFill>
                </a:uFill>
                <a:latin typeface="Times New Roman"/>
                <a:cs typeface="Times New Roman"/>
              </a:rPr>
              <a:t>L </a:t>
            </a:r>
            <a:r>
              <a:rPr sz="1400" spc="-5"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SKS</a:t>
            </a:r>
            <a:endParaRPr sz="1400">
              <a:latin typeface="Times New Roman"/>
              <a:cs typeface="Times New Roman"/>
            </a:endParaRPr>
          </a:p>
        </p:txBody>
      </p:sp>
      <p:sp>
        <p:nvSpPr>
          <p:cNvPr id="11" name="object 11"/>
          <p:cNvSpPr txBox="1"/>
          <p:nvPr/>
        </p:nvSpPr>
        <p:spPr>
          <a:xfrm>
            <a:off x="1601850" y="2229688"/>
            <a:ext cx="954405" cy="1092200"/>
          </a:xfrm>
          <a:prstGeom prst="rect">
            <a:avLst/>
          </a:prstGeom>
        </p:spPr>
        <p:txBody>
          <a:bodyPr vert="horz" wrap="square" lIns="0" tIns="12065" rIns="0" bIns="0" rtlCol="0">
            <a:spAutoFit/>
          </a:bodyPr>
          <a:lstStyle/>
          <a:p>
            <a:pPr marL="12700">
              <a:lnSpc>
                <a:spcPct val="100000"/>
              </a:lnSpc>
              <a:spcBef>
                <a:spcPts val="95"/>
              </a:spcBef>
            </a:pPr>
            <a:r>
              <a:rPr sz="1400" u="sng" spc="-10" dirty="0">
                <a:uFill>
                  <a:solidFill>
                    <a:srgbClr val="000000"/>
                  </a:solidFill>
                </a:uFill>
                <a:latin typeface="Times New Roman"/>
                <a:cs typeface="Times New Roman"/>
              </a:rPr>
              <a:t>NIM</a:t>
            </a:r>
            <a:endParaRPr sz="1400">
              <a:latin typeface="Times New Roman"/>
              <a:cs typeface="Times New Roman"/>
            </a:endParaRPr>
          </a:p>
          <a:p>
            <a:pPr marL="12700" marR="5080">
              <a:lnSpc>
                <a:spcPct val="100000"/>
              </a:lnSpc>
            </a:pPr>
            <a:r>
              <a:rPr sz="1400" spc="-20"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0" dirty="0">
                <a:latin typeface="Times New Roman"/>
                <a:cs typeface="Times New Roman"/>
              </a:rPr>
              <a:t>L</a:t>
            </a:r>
            <a:r>
              <a:rPr sz="1400" spc="-10"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5" dirty="0">
                <a:latin typeface="Times New Roman"/>
                <a:cs typeface="Times New Roman"/>
              </a:rPr>
              <a:t>NAMA </a:t>
            </a:r>
            <a:r>
              <a:rPr sz="1400" spc="-10" dirty="0">
                <a:latin typeface="Times New Roman"/>
                <a:cs typeface="Times New Roman"/>
              </a:rPr>
              <a:t> </a:t>
            </a:r>
            <a:r>
              <a:rPr sz="1400" spc="-50" dirty="0">
                <a:latin typeface="Times New Roman"/>
                <a:cs typeface="Times New Roman"/>
              </a:rPr>
              <a:t>ALAMAT </a:t>
            </a:r>
            <a:r>
              <a:rPr sz="1400" spc="-45" dirty="0">
                <a:latin typeface="Times New Roman"/>
                <a:cs typeface="Times New Roman"/>
              </a:rPr>
              <a:t> </a:t>
            </a:r>
            <a:r>
              <a:rPr sz="1400" spc="-15" dirty="0">
                <a:latin typeface="Times New Roman"/>
                <a:cs typeface="Times New Roman"/>
              </a:rPr>
              <a:t>JEN-KEL</a:t>
            </a:r>
            <a:endParaRPr sz="1400">
              <a:latin typeface="Times New Roman"/>
              <a:cs typeface="Times New Roman"/>
            </a:endParaRPr>
          </a:p>
        </p:txBody>
      </p:sp>
      <p:sp>
        <p:nvSpPr>
          <p:cNvPr id="12" name="object 12"/>
          <p:cNvSpPr/>
          <p:nvPr/>
        </p:nvSpPr>
        <p:spPr>
          <a:xfrm>
            <a:off x="3914394" y="2400300"/>
            <a:ext cx="915035" cy="549275"/>
          </a:xfrm>
          <a:custGeom>
            <a:avLst/>
            <a:gdLst/>
            <a:ahLst/>
            <a:cxnLst/>
            <a:rect l="l" t="t" r="r" b="b"/>
            <a:pathLst>
              <a:path w="915035" h="549275">
                <a:moveTo>
                  <a:pt x="0" y="274954"/>
                </a:moveTo>
                <a:lnTo>
                  <a:pt x="457961" y="0"/>
                </a:lnTo>
              </a:path>
              <a:path w="915035" h="549275">
                <a:moveTo>
                  <a:pt x="457326" y="0"/>
                </a:moveTo>
                <a:lnTo>
                  <a:pt x="915034" y="274954"/>
                </a:lnTo>
              </a:path>
              <a:path w="915035" h="549275">
                <a:moveTo>
                  <a:pt x="0" y="274320"/>
                </a:moveTo>
                <a:lnTo>
                  <a:pt x="457961" y="549275"/>
                </a:lnTo>
              </a:path>
              <a:path w="915035" h="549275">
                <a:moveTo>
                  <a:pt x="457326" y="549275"/>
                </a:moveTo>
                <a:lnTo>
                  <a:pt x="915034" y="274320"/>
                </a:lnTo>
              </a:path>
            </a:pathLst>
          </a:custGeom>
          <a:ln w="12700">
            <a:solidFill>
              <a:srgbClr val="000000"/>
            </a:solidFill>
          </a:ln>
        </p:spPr>
        <p:txBody>
          <a:bodyPr wrap="square" lIns="0" tIns="0" rIns="0" bIns="0" rtlCol="0"/>
          <a:lstStyle/>
          <a:p>
            <a:endParaRPr/>
          </a:p>
        </p:txBody>
      </p:sp>
      <p:sp>
        <p:nvSpPr>
          <p:cNvPr id="13" name="object 13"/>
          <p:cNvSpPr txBox="1"/>
          <p:nvPr/>
        </p:nvSpPr>
        <p:spPr>
          <a:xfrm>
            <a:off x="3621023" y="2469642"/>
            <a:ext cx="313055" cy="238125"/>
          </a:xfrm>
          <a:prstGeom prst="rect">
            <a:avLst/>
          </a:prstGeom>
        </p:spPr>
        <p:txBody>
          <a:bodyPr vert="horz" wrap="square" lIns="0" tIns="11430" rIns="0" bIns="0" rtlCol="0">
            <a:spAutoFit/>
          </a:bodyPr>
          <a:lstStyle/>
          <a:p>
            <a:pPr marL="12700">
              <a:lnSpc>
                <a:spcPct val="100000"/>
              </a:lnSpc>
              <a:spcBef>
                <a:spcPts val="90"/>
              </a:spcBef>
            </a:pPr>
            <a:r>
              <a:rPr sz="1400" u="heavy" spc="-5" dirty="0">
                <a:uFill>
                  <a:solidFill>
                    <a:srgbClr val="000000"/>
                  </a:solidFill>
                </a:uFill>
                <a:latin typeface="Times New Roman"/>
                <a:cs typeface="Times New Roman"/>
              </a:rPr>
              <a:t> </a:t>
            </a:r>
            <a:r>
              <a:rPr sz="1400" u="heavy" spc="-185" dirty="0">
                <a:uFill>
                  <a:solidFill>
                    <a:srgbClr val="000000"/>
                  </a:solidFill>
                </a:uFill>
                <a:latin typeface="Times New Roman"/>
                <a:cs typeface="Times New Roman"/>
              </a:rPr>
              <a:t> </a:t>
            </a:r>
            <a:r>
              <a:rPr sz="1400" u="heavy" spc="-10" dirty="0">
                <a:uFill>
                  <a:solidFill>
                    <a:srgbClr val="000000"/>
                  </a:solidFill>
                </a:uFill>
                <a:latin typeface="Times New Roman"/>
                <a:cs typeface="Times New Roman"/>
              </a:rPr>
              <a:t>M</a:t>
            </a:r>
            <a:r>
              <a:rPr sz="1400" u="heavy" spc="160" dirty="0">
                <a:uFill>
                  <a:solidFill>
                    <a:srgbClr val="000000"/>
                  </a:solidFill>
                </a:uFill>
                <a:latin typeface="Times New Roman"/>
                <a:cs typeface="Times New Roman"/>
              </a:rPr>
              <a:t> </a:t>
            </a:r>
            <a:endParaRPr sz="1400">
              <a:latin typeface="Times New Roman"/>
              <a:cs typeface="Times New Roman"/>
            </a:endParaRPr>
          </a:p>
        </p:txBody>
      </p:sp>
      <p:sp>
        <p:nvSpPr>
          <p:cNvPr id="14" name="object 14"/>
          <p:cNvSpPr txBox="1"/>
          <p:nvPr/>
        </p:nvSpPr>
        <p:spPr>
          <a:xfrm>
            <a:off x="4809871" y="2458593"/>
            <a:ext cx="300990" cy="238125"/>
          </a:xfrm>
          <a:prstGeom prst="rect">
            <a:avLst/>
          </a:prstGeom>
        </p:spPr>
        <p:txBody>
          <a:bodyPr vert="horz" wrap="square" lIns="0" tIns="11430" rIns="0" bIns="0" rtlCol="0">
            <a:spAutoFit/>
          </a:bodyPr>
          <a:lstStyle/>
          <a:p>
            <a:pPr marL="12700">
              <a:lnSpc>
                <a:spcPct val="100000"/>
              </a:lnSpc>
              <a:spcBef>
                <a:spcPts val="90"/>
              </a:spcBef>
            </a:pPr>
            <a:r>
              <a:rPr sz="1400" u="heavy" spc="-5" dirty="0">
                <a:uFill>
                  <a:solidFill>
                    <a:srgbClr val="000000"/>
                  </a:solidFill>
                </a:uFill>
                <a:latin typeface="Times New Roman"/>
                <a:cs typeface="Times New Roman"/>
              </a:rPr>
              <a:t>  </a:t>
            </a:r>
            <a:r>
              <a:rPr sz="1400" u="heavy" spc="110" dirty="0">
                <a:uFill>
                  <a:solidFill>
                    <a:srgbClr val="000000"/>
                  </a:solidFill>
                </a:uFill>
                <a:latin typeface="Times New Roman"/>
                <a:cs typeface="Times New Roman"/>
              </a:rPr>
              <a:t> </a:t>
            </a:r>
            <a:r>
              <a:rPr sz="1400" u="heavy" spc="-10" dirty="0">
                <a:uFill>
                  <a:solidFill>
                    <a:srgbClr val="000000"/>
                  </a:solidFill>
                </a:uFill>
                <a:latin typeface="Times New Roman"/>
                <a:cs typeface="Times New Roman"/>
              </a:rPr>
              <a:t>N</a:t>
            </a:r>
            <a:endParaRPr sz="1400">
              <a:latin typeface="Times New Roman"/>
              <a:cs typeface="Times New Roman"/>
            </a:endParaRPr>
          </a:p>
        </p:txBody>
      </p:sp>
      <p:sp>
        <p:nvSpPr>
          <p:cNvPr id="15" name="object 15"/>
          <p:cNvSpPr txBox="1"/>
          <p:nvPr/>
        </p:nvSpPr>
        <p:spPr>
          <a:xfrm>
            <a:off x="2725801" y="2400312"/>
            <a:ext cx="915035" cy="457834"/>
          </a:xfrm>
          <a:prstGeom prst="rect">
            <a:avLst/>
          </a:prstGeom>
          <a:ln w="12700">
            <a:solidFill>
              <a:srgbClr val="000000"/>
            </a:solidFill>
          </a:ln>
        </p:spPr>
        <p:txBody>
          <a:bodyPr vert="horz" wrap="square" lIns="0" tIns="104775" rIns="0" bIns="0" rtlCol="0">
            <a:spAutoFit/>
          </a:bodyPr>
          <a:lstStyle/>
          <a:p>
            <a:pPr marL="31750">
              <a:lnSpc>
                <a:spcPct val="100000"/>
              </a:lnSpc>
              <a:spcBef>
                <a:spcPts val="825"/>
              </a:spcBef>
            </a:pPr>
            <a:r>
              <a:rPr sz="1400" spc="-35" dirty="0">
                <a:latin typeface="Times New Roman"/>
                <a:cs typeface="Times New Roman"/>
              </a:rPr>
              <a:t>MHSISWA</a:t>
            </a:r>
            <a:endParaRPr sz="1400">
              <a:latin typeface="Times New Roman"/>
              <a:cs typeface="Times New Roman"/>
            </a:endParaRPr>
          </a:p>
        </p:txBody>
      </p:sp>
      <p:sp>
        <p:nvSpPr>
          <p:cNvPr id="16" name="object 16"/>
          <p:cNvSpPr txBox="1"/>
          <p:nvPr/>
        </p:nvSpPr>
        <p:spPr>
          <a:xfrm>
            <a:off x="5102986" y="2400312"/>
            <a:ext cx="915669" cy="457834"/>
          </a:xfrm>
          <a:prstGeom prst="rect">
            <a:avLst/>
          </a:prstGeom>
          <a:ln w="12700">
            <a:solidFill>
              <a:srgbClr val="000000"/>
            </a:solidFill>
          </a:ln>
        </p:spPr>
        <p:txBody>
          <a:bodyPr vert="horz" wrap="square" lIns="0" tIns="69850" rIns="0" bIns="0" rtlCol="0">
            <a:spAutoFit/>
          </a:bodyPr>
          <a:lstStyle/>
          <a:p>
            <a:pPr marL="58419">
              <a:lnSpc>
                <a:spcPct val="100000"/>
              </a:lnSpc>
              <a:spcBef>
                <a:spcPts val="550"/>
              </a:spcBef>
            </a:pPr>
            <a:r>
              <a:rPr sz="1400" spc="-55" dirty="0">
                <a:latin typeface="Times New Roman"/>
                <a:cs typeface="Times New Roman"/>
              </a:rPr>
              <a:t>MAT-KUL</a:t>
            </a:r>
            <a:endParaRPr sz="1400">
              <a:latin typeface="Times New Roman"/>
              <a:cs typeface="Times New Roman"/>
            </a:endParaRPr>
          </a:p>
        </p:txBody>
      </p:sp>
      <p:sp>
        <p:nvSpPr>
          <p:cNvPr id="17" name="object 17"/>
          <p:cNvSpPr txBox="1"/>
          <p:nvPr/>
        </p:nvSpPr>
        <p:spPr>
          <a:xfrm>
            <a:off x="4137786" y="2541269"/>
            <a:ext cx="444500"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I</a:t>
            </a:r>
            <a:r>
              <a:rPr sz="1400" spc="-35" dirty="0">
                <a:latin typeface="Times New Roman"/>
                <a:cs typeface="Times New Roman"/>
              </a:rPr>
              <a:t>K</a:t>
            </a:r>
            <a:r>
              <a:rPr sz="1400" spc="-10" dirty="0">
                <a:latin typeface="Times New Roman"/>
                <a:cs typeface="Times New Roman"/>
              </a:rPr>
              <a:t>UT</a:t>
            </a:r>
            <a:endParaRPr sz="1400">
              <a:latin typeface="Times New Roman"/>
              <a:cs typeface="Times New Roman"/>
            </a:endParaRPr>
          </a:p>
        </p:txBody>
      </p:sp>
      <p:grpSp>
        <p:nvGrpSpPr>
          <p:cNvPr id="18" name="object 18"/>
          <p:cNvGrpSpPr/>
          <p:nvPr/>
        </p:nvGrpSpPr>
        <p:grpSpPr>
          <a:xfrm>
            <a:off x="3649726" y="3279775"/>
            <a:ext cx="1536700" cy="1003300"/>
            <a:chOff x="3649726" y="3279775"/>
            <a:chExt cx="1536700" cy="1003300"/>
          </a:xfrm>
        </p:grpSpPr>
        <p:sp>
          <p:nvSpPr>
            <p:cNvPr id="19" name="object 19"/>
            <p:cNvSpPr/>
            <p:nvPr/>
          </p:nvSpPr>
          <p:spPr>
            <a:xfrm>
              <a:off x="3656076" y="3286125"/>
              <a:ext cx="1524000" cy="990600"/>
            </a:xfrm>
            <a:custGeom>
              <a:avLst/>
              <a:gdLst/>
              <a:ahLst/>
              <a:cxnLst/>
              <a:rect l="l" t="t" r="r" b="b"/>
              <a:pathLst>
                <a:path w="1524000" h="990600">
                  <a:moveTo>
                    <a:pt x="1143000" y="0"/>
                  </a:moveTo>
                  <a:lnTo>
                    <a:pt x="381000" y="0"/>
                  </a:lnTo>
                  <a:lnTo>
                    <a:pt x="381000" y="742950"/>
                  </a:lnTo>
                  <a:lnTo>
                    <a:pt x="0" y="742950"/>
                  </a:lnTo>
                  <a:lnTo>
                    <a:pt x="762000" y="990600"/>
                  </a:lnTo>
                  <a:lnTo>
                    <a:pt x="1524000" y="742950"/>
                  </a:lnTo>
                  <a:lnTo>
                    <a:pt x="1143000" y="742950"/>
                  </a:lnTo>
                  <a:lnTo>
                    <a:pt x="1143000" y="0"/>
                  </a:lnTo>
                  <a:close/>
                </a:path>
              </a:pathLst>
            </a:custGeom>
            <a:solidFill>
              <a:srgbClr val="F8F8F8"/>
            </a:solidFill>
          </p:spPr>
          <p:txBody>
            <a:bodyPr wrap="square" lIns="0" tIns="0" rIns="0" bIns="0" rtlCol="0"/>
            <a:lstStyle/>
            <a:p>
              <a:endParaRPr/>
            </a:p>
          </p:txBody>
        </p:sp>
        <p:sp>
          <p:nvSpPr>
            <p:cNvPr id="20" name="object 20"/>
            <p:cNvSpPr/>
            <p:nvPr/>
          </p:nvSpPr>
          <p:spPr>
            <a:xfrm>
              <a:off x="3656076" y="3286125"/>
              <a:ext cx="1524000" cy="990600"/>
            </a:xfrm>
            <a:custGeom>
              <a:avLst/>
              <a:gdLst/>
              <a:ahLst/>
              <a:cxnLst/>
              <a:rect l="l" t="t" r="r" b="b"/>
              <a:pathLst>
                <a:path w="1524000" h="990600">
                  <a:moveTo>
                    <a:pt x="0" y="742950"/>
                  </a:moveTo>
                  <a:lnTo>
                    <a:pt x="381000" y="742950"/>
                  </a:lnTo>
                  <a:lnTo>
                    <a:pt x="381000" y="0"/>
                  </a:lnTo>
                  <a:lnTo>
                    <a:pt x="1143000" y="0"/>
                  </a:lnTo>
                  <a:lnTo>
                    <a:pt x="1143000" y="742950"/>
                  </a:lnTo>
                  <a:lnTo>
                    <a:pt x="1524000" y="742950"/>
                  </a:lnTo>
                  <a:lnTo>
                    <a:pt x="762000" y="990600"/>
                  </a:lnTo>
                  <a:lnTo>
                    <a:pt x="0" y="742950"/>
                  </a:lnTo>
                  <a:close/>
                </a:path>
              </a:pathLst>
            </a:custGeom>
            <a:ln w="12700">
              <a:solidFill>
                <a:srgbClr val="000000"/>
              </a:solidFill>
            </a:ln>
          </p:spPr>
          <p:txBody>
            <a:bodyPr wrap="square" lIns="0" tIns="0" rIns="0" bIns="0" rtlCol="0"/>
            <a:lstStyle/>
            <a:p>
              <a:endParaRPr/>
            </a:p>
          </p:txBody>
        </p:sp>
      </p:grpSp>
      <p:sp>
        <p:nvSpPr>
          <p:cNvPr id="21" name="object 21"/>
          <p:cNvSpPr txBox="1"/>
          <p:nvPr/>
        </p:nvSpPr>
        <p:spPr>
          <a:xfrm>
            <a:off x="4012438" y="1726437"/>
            <a:ext cx="1071880" cy="664845"/>
          </a:xfrm>
          <a:prstGeom prst="rect">
            <a:avLst/>
          </a:prstGeom>
        </p:spPr>
        <p:txBody>
          <a:bodyPr vert="horz" wrap="square" lIns="0" tIns="11430" rIns="0" bIns="0" rtlCol="0">
            <a:spAutoFit/>
          </a:bodyPr>
          <a:lstStyle/>
          <a:p>
            <a:pPr marL="12700">
              <a:lnSpc>
                <a:spcPct val="100000"/>
              </a:lnSpc>
              <a:spcBef>
                <a:spcPts val="90"/>
              </a:spcBef>
            </a:pPr>
            <a:r>
              <a:rPr sz="1400" u="sng" spc="-10" dirty="0">
                <a:uFill>
                  <a:solidFill>
                    <a:srgbClr val="000000"/>
                  </a:solidFill>
                </a:uFill>
                <a:latin typeface="Times New Roman"/>
                <a:cs typeface="Times New Roman"/>
              </a:rPr>
              <a:t>NIM</a:t>
            </a:r>
            <a:endParaRPr sz="1400">
              <a:latin typeface="Times New Roman"/>
              <a:cs typeface="Times New Roman"/>
            </a:endParaRPr>
          </a:p>
          <a:p>
            <a:pPr marL="12700" marR="5080">
              <a:lnSpc>
                <a:spcPct val="100000"/>
              </a:lnSpc>
            </a:pPr>
            <a:r>
              <a:rPr sz="1400" u="sng" spc="-35" dirty="0">
                <a:uFill>
                  <a:solidFill>
                    <a:srgbClr val="000000"/>
                  </a:solidFill>
                </a:uFill>
                <a:latin typeface="Times New Roman"/>
                <a:cs typeface="Times New Roman"/>
              </a:rPr>
              <a:t>K</a:t>
            </a:r>
            <a:r>
              <a:rPr sz="1400" u="sng" spc="-10" dirty="0">
                <a:uFill>
                  <a:solidFill>
                    <a:srgbClr val="000000"/>
                  </a:solidFill>
                </a:uFill>
                <a:latin typeface="Times New Roman"/>
                <a:cs typeface="Times New Roman"/>
              </a:rPr>
              <a:t>D</a:t>
            </a:r>
            <a:r>
              <a:rPr sz="1400" u="sng" spc="-15" dirty="0">
                <a:uFill>
                  <a:solidFill>
                    <a:srgbClr val="000000"/>
                  </a:solidFill>
                </a:uFill>
                <a:latin typeface="Times New Roman"/>
                <a:cs typeface="Times New Roman"/>
              </a:rPr>
              <a:t>-</a:t>
            </a:r>
            <a:r>
              <a:rPr sz="1400" u="sng" spc="-5" dirty="0">
                <a:uFill>
                  <a:solidFill>
                    <a:srgbClr val="000000"/>
                  </a:solidFill>
                </a:uFill>
                <a:latin typeface="Times New Roman"/>
                <a:cs typeface="Times New Roman"/>
              </a:rPr>
              <a:t>M</a:t>
            </a:r>
            <a:r>
              <a:rPr sz="1400" u="sng" spc="-180" dirty="0">
                <a:uFill>
                  <a:solidFill>
                    <a:srgbClr val="000000"/>
                  </a:solidFill>
                </a:uFill>
                <a:latin typeface="Times New Roman"/>
                <a:cs typeface="Times New Roman"/>
              </a:rPr>
              <a:t>A</a:t>
            </a:r>
            <a:r>
              <a:rPr sz="1400" u="sng" spc="-20" dirty="0">
                <a:uFill>
                  <a:solidFill>
                    <a:srgbClr val="000000"/>
                  </a:solidFill>
                </a:uFill>
                <a:latin typeface="Times New Roman"/>
                <a:cs typeface="Times New Roman"/>
              </a:rPr>
              <a:t>T</a:t>
            </a:r>
            <a:r>
              <a:rPr sz="1400" u="sng" spc="-35" dirty="0">
                <a:uFill>
                  <a:solidFill>
                    <a:srgbClr val="000000"/>
                  </a:solidFill>
                </a:uFill>
                <a:latin typeface="Times New Roman"/>
                <a:cs typeface="Times New Roman"/>
              </a:rPr>
              <a:t>K</a:t>
            </a:r>
            <a:r>
              <a:rPr sz="1400" u="sng" spc="15" dirty="0">
                <a:uFill>
                  <a:solidFill>
                    <a:srgbClr val="000000"/>
                  </a:solidFill>
                </a:uFill>
                <a:latin typeface="Times New Roman"/>
                <a:cs typeface="Times New Roman"/>
              </a:rPr>
              <a:t>U</a:t>
            </a:r>
            <a:r>
              <a:rPr sz="1400" u="sng" spc="-5" dirty="0">
                <a:uFill>
                  <a:solidFill>
                    <a:srgbClr val="000000"/>
                  </a:solidFill>
                </a:uFill>
                <a:latin typeface="Times New Roman"/>
                <a:cs typeface="Times New Roman"/>
              </a:rPr>
              <a:t>L </a:t>
            </a:r>
            <a:r>
              <a:rPr sz="1400" spc="-5" dirty="0">
                <a:latin typeface="Times New Roman"/>
                <a:cs typeface="Times New Roman"/>
              </a:rPr>
              <a:t> </a:t>
            </a:r>
            <a:r>
              <a:rPr sz="1400" spc="-20" dirty="0">
                <a:latin typeface="Times New Roman"/>
                <a:cs typeface="Times New Roman"/>
              </a:rPr>
              <a:t>NILAI</a:t>
            </a:r>
            <a:endParaRPr sz="1400">
              <a:latin typeface="Times New Roman"/>
              <a:cs typeface="Times New Roman"/>
            </a:endParaRPr>
          </a:p>
        </p:txBody>
      </p:sp>
      <p:sp>
        <p:nvSpPr>
          <p:cNvPr id="22" name="object 22"/>
          <p:cNvSpPr txBox="1"/>
          <p:nvPr/>
        </p:nvSpPr>
        <p:spPr>
          <a:xfrm>
            <a:off x="1887601" y="4959350"/>
            <a:ext cx="1120775" cy="1165225"/>
          </a:xfrm>
          <a:prstGeom prst="rect">
            <a:avLst/>
          </a:prstGeom>
          <a:ln w="12700">
            <a:solidFill>
              <a:srgbClr val="000000"/>
            </a:solidFill>
          </a:ln>
        </p:spPr>
        <p:txBody>
          <a:bodyPr vert="horz" wrap="square" lIns="0" tIns="41275" rIns="0" bIns="0" rtlCol="0">
            <a:spAutoFit/>
          </a:bodyPr>
          <a:lstStyle/>
          <a:p>
            <a:pPr marL="92075">
              <a:lnSpc>
                <a:spcPct val="100000"/>
              </a:lnSpc>
              <a:spcBef>
                <a:spcPts val="325"/>
              </a:spcBef>
            </a:pPr>
            <a:r>
              <a:rPr sz="1400" u="sng" spc="-10" dirty="0">
                <a:uFill>
                  <a:solidFill>
                    <a:srgbClr val="000000"/>
                  </a:solidFill>
                </a:uFill>
                <a:latin typeface="Times New Roman"/>
                <a:cs typeface="Times New Roman"/>
              </a:rPr>
              <a:t>NIM</a:t>
            </a:r>
            <a:endParaRPr sz="1400">
              <a:latin typeface="Times New Roman"/>
              <a:cs typeface="Times New Roman"/>
            </a:endParaRPr>
          </a:p>
          <a:p>
            <a:pPr marL="92075" marR="92075">
              <a:lnSpc>
                <a:spcPct val="100000"/>
              </a:lnSpc>
            </a:pPr>
            <a:r>
              <a:rPr sz="1400" spc="-20" dirty="0">
                <a:latin typeface="Times New Roman"/>
                <a:cs typeface="Times New Roman"/>
              </a:rPr>
              <a:t>T</a:t>
            </a:r>
            <a:r>
              <a:rPr sz="1400" spc="-10" dirty="0">
                <a:latin typeface="Times New Roman"/>
                <a:cs typeface="Times New Roman"/>
              </a:rPr>
              <a:t>G</a:t>
            </a:r>
            <a:r>
              <a:rPr sz="1400" spc="-40" dirty="0">
                <a:latin typeface="Times New Roman"/>
                <a:cs typeface="Times New Roman"/>
              </a:rPr>
              <a:t>L</a:t>
            </a:r>
            <a:r>
              <a:rPr sz="1400" spc="-15" dirty="0">
                <a:latin typeface="Times New Roman"/>
                <a:cs typeface="Times New Roman"/>
              </a:rPr>
              <a:t>-</a:t>
            </a:r>
            <a:r>
              <a:rPr sz="1400" spc="-40" dirty="0">
                <a:latin typeface="Times New Roman"/>
                <a:cs typeface="Times New Roman"/>
              </a:rPr>
              <a:t>L</a:t>
            </a:r>
            <a:r>
              <a:rPr sz="1400" spc="-10" dirty="0">
                <a:latin typeface="Times New Roman"/>
                <a:cs typeface="Times New Roman"/>
              </a:rPr>
              <a:t>A</a:t>
            </a:r>
            <a:r>
              <a:rPr sz="1400" spc="-30" dirty="0">
                <a:latin typeface="Times New Roman"/>
                <a:cs typeface="Times New Roman"/>
              </a:rPr>
              <a:t>H</a:t>
            </a:r>
            <a:r>
              <a:rPr sz="1400" spc="-15" dirty="0">
                <a:latin typeface="Times New Roman"/>
                <a:cs typeface="Times New Roman"/>
              </a:rPr>
              <a:t>I</a:t>
            </a:r>
            <a:r>
              <a:rPr sz="1400" spc="-5" dirty="0">
                <a:latin typeface="Times New Roman"/>
                <a:cs typeface="Times New Roman"/>
              </a:rPr>
              <a:t>R  </a:t>
            </a:r>
            <a:r>
              <a:rPr sz="1400" spc="-15" dirty="0">
                <a:latin typeface="Times New Roman"/>
                <a:cs typeface="Times New Roman"/>
              </a:rPr>
              <a:t>NAMA </a:t>
            </a:r>
            <a:r>
              <a:rPr sz="1400" spc="-10" dirty="0">
                <a:latin typeface="Times New Roman"/>
                <a:cs typeface="Times New Roman"/>
              </a:rPr>
              <a:t> </a:t>
            </a:r>
            <a:r>
              <a:rPr sz="1400" spc="-50" dirty="0">
                <a:latin typeface="Times New Roman"/>
                <a:cs typeface="Times New Roman"/>
              </a:rPr>
              <a:t>ALAMAT </a:t>
            </a:r>
            <a:r>
              <a:rPr sz="1400" spc="-45" dirty="0">
                <a:latin typeface="Times New Roman"/>
                <a:cs typeface="Times New Roman"/>
              </a:rPr>
              <a:t> </a:t>
            </a:r>
            <a:r>
              <a:rPr sz="1400" spc="-15" dirty="0">
                <a:latin typeface="Times New Roman"/>
                <a:cs typeface="Times New Roman"/>
              </a:rPr>
              <a:t>JEN-KEL</a:t>
            </a:r>
            <a:endParaRPr sz="1400">
              <a:latin typeface="Times New Roman"/>
              <a:cs typeface="Times New Roman"/>
            </a:endParaRPr>
          </a:p>
        </p:txBody>
      </p:sp>
      <p:sp>
        <p:nvSpPr>
          <p:cNvPr id="23" name="object 23"/>
          <p:cNvSpPr/>
          <p:nvPr/>
        </p:nvSpPr>
        <p:spPr>
          <a:xfrm>
            <a:off x="3020948" y="5330825"/>
            <a:ext cx="1241425" cy="127000"/>
          </a:xfrm>
          <a:custGeom>
            <a:avLst/>
            <a:gdLst/>
            <a:ahLst/>
            <a:cxnLst/>
            <a:rect l="l" t="t" r="r" b="b"/>
            <a:pathLst>
              <a:path w="1241425" h="127000">
                <a:moveTo>
                  <a:pt x="1114425" y="0"/>
                </a:moveTo>
                <a:lnTo>
                  <a:pt x="1165225" y="63500"/>
                </a:lnTo>
                <a:lnTo>
                  <a:pt x="1114425" y="127000"/>
                </a:lnTo>
                <a:lnTo>
                  <a:pt x="1228725" y="69850"/>
                </a:lnTo>
                <a:lnTo>
                  <a:pt x="1165352" y="69850"/>
                </a:lnTo>
                <a:lnTo>
                  <a:pt x="1165352" y="57150"/>
                </a:lnTo>
                <a:lnTo>
                  <a:pt x="1228725" y="57150"/>
                </a:lnTo>
                <a:lnTo>
                  <a:pt x="1114425" y="0"/>
                </a:lnTo>
                <a:close/>
              </a:path>
              <a:path w="1241425" h="127000">
                <a:moveTo>
                  <a:pt x="1160145" y="57150"/>
                </a:moveTo>
                <a:lnTo>
                  <a:pt x="0" y="57150"/>
                </a:lnTo>
                <a:lnTo>
                  <a:pt x="0" y="69850"/>
                </a:lnTo>
                <a:lnTo>
                  <a:pt x="1160145" y="69850"/>
                </a:lnTo>
                <a:lnTo>
                  <a:pt x="1165225" y="63500"/>
                </a:lnTo>
                <a:lnTo>
                  <a:pt x="1160145" y="57150"/>
                </a:lnTo>
                <a:close/>
              </a:path>
              <a:path w="1241425" h="127000">
                <a:moveTo>
                  <a:pt x="1228725" y="57150"/>
                </a:moveTo>
                <a:lnTo>
                  <a:pt x="1165352" y="57150"/>
                </a:lnTo>
                <a:lnTo>
                  <a:pt x="1165352" y="69850"/>
                </a:lnTo>
                <a:lnTo>
                  <a:pt x="1228725" y="69850"/>
                </a:lnTo>
                <a:lnTo>
                  <a:pt x="1241425" y="63500"/>
                </a:lnTo>
                <a:lnTo>
                  <a:pt x="1228725" y="57150"/>
                </a:lnTo>
                <a:close/>
              </a:path>
            </a:pathLst>
          </a:custGeom>
          <a:solidFill>
            <a:srgbClr val="000000"/>
          </a:solidFill>
        </p:spPr>
        <p:txBody>
          <a:bodyPr wrap="square" lIns="0" tIns="0" rIns="0" bIns="0" rtlCol="0"/>
          <a:lstStyle/>
          <a:p>
            <a:endParaRPr/>
          </a:p>
        </p:txBody>
      </p:sp>
      <p:sp>
        <p:nvSpPr>
          <p:cNvPr id="24" name="object 24"/>
          <p:cNvSpPr txBox="1"/>
          <p:nvPr/>
        </p:nvSpPr>
        <p:spPr>
          <a:xfrm>
            <a:off x="1906651" y="4672406"/>
            <a:ext cx="839469" cy="238125"/>
          </a:xfrm>
          <a:prstGeom prst="rect">
            <a:avLst/>
          </a:prstGeom>
        </p:spPr>
        <p:txBody>
          <a:bodyPr vert="horz" wrap="square" lIns="0" tIns="12065" rIns="0" bIns="0" rtlCol="0">
            <a:spAutoFit/>
          </a:bodyPr>
          <a:lstStyle/>
          <a:p>
            <a:pPr marL="12700">
              <a:lnSpc>
                <a:spcPct val="100000"/>
              </a:lnSpc>
              <a:spcBef>
                <a:spcPts val="95"/>
              </a:spcBef>
            </a:pPr>
            <a:r>
              <a:rPr sz="1400" spc="-35" dirty="0">
                <a:latin typeface="Times New Roman"/>
                <a:cs typeface="Times New Roman"/>
              </a:rPr>
              <a:t>MHSISWA</a:t>
            </a:r>
            <a:endParaRPr sz="1400">
              <a:latin typeface="Times New Roman"/>
              <a:cs typeface="Times New Roman"/>
            </a:endParaRPr>
          </a:p>
        </p:txBody>
      </p:sp>
      <p:sp>
        <p:nvSpPr>
          <p:cNvPr id="25" name="object 25"/>
          <p:cNvSpPr txBox="1"/>
          <p:nvPr/>
        </p:nvSpPr>
        <p:spPr>
          <a:xfrm>
            <a:off x="4281551" y="5013325"/>
            <a:ext cx="1221105" cy="739775"/>
          </a:xfrm>
          <a:prstGeom prst="rect">
            <a:avLst/>
          </a:prstGeom>
          <a:ln w="12700">
            <a:solidFill>
              <a:srgbClr val="000000"/>
            </a:solidFill>
          </a:ln>
        </p:spPr>
        <p:txBody>
          <a:bodyPr vert="horz" wrap="square" lIns="0" tIns="40640" rIns="0" bIns="0" rtlCol="0">
            <a:spAutoFit/>
          </a:bodyPr>
          <a:lstStyle/>
          <a:p>
            <a:pPr marL="92710">
              <a:lnSpc>
                <a:spcPct val="100000"/>
              </a:lnSpc>
              <a:spcBef>
                <a:spcPts val="320"/>
              </a:spcBef>
            </a:pPr>
            <a:r>
              <a:rPr sz="1400" u="sng" spc="-10" dirty="0">
                <a:uFill>
                  <a:solidFill>
                    <a:srgbClr val="000000"/>
                  </a:solidFill>
                </a:uFill>
                <a:latin typeface="Times New Roman"/>
                <a:cs typeface="Times New Roman"/>
              </a:rPr>
              <a:t>NIM</a:t>
            </a:r>
            <a:endParaRPr sz="1400">
              <a:latin typeface="Times New Roman"/>
              <a:cs typeface="Times New Roman"/>
            </a:endParaRPr>
          </a:p>
          <a:p>
            <a:pPr marL="92710" marR="73660">
              <a:lnSpc>
                <a:spcPct val="100000"/>
              </a:lnSpc>
            </a:pPr>
            <a:r>
              <a:rPr sz="1400" u="sng" spc="-35" dirty="0">
                <a:uFill>
                  <a:solidFill>
                    <a:srgbClr val="000000"/>
                  </a:solidFill>
                </a:uFill>
                <a:latin typeface="Times New Roman"/>
                <a:cs typeface="Times New Roman"/>
              </a:rPr>
              <a:t>K</a:t>
            </a:r>
            <a:r>
              <a:rPr sz="1400" u="sng" spc="-10" dirty="0">
                <a:uFill>
                  <a:solidFill>
                    <a:srgbClr val="000000"/>
                  </a:solidFill>
                </a:uFill>
                <a:latin typeface="Times New Roman"/>
                <a:cs typeface="Times New Roman"/>
              </a:rPr>
              <a:t>D</a:t>
            </a:r>
            <a:r>
              <a:rPr sz="1400" u="sng" spc="-15" dirty="0">
                <a:uFill>
                  <a:solidFill>
                    <a:srgbClr val="000000"/>
                  </a:solidFill>
                </a:uFill>
                <a:latin typeface="Times New Roman"/>
                <a:cs typeface="Times New Roman"/>
              </a:rPr>
              <a:t>-</a:t>
            </a:r>
            <a:r>
              <a:rPr sz="1400" u="sng" spc="-5" dirty="0">
                <a:uFill>
                  <a:solidFill>
                    <a:srgbClr val="000000"/>
                  </a:solidFill>
                </a:uFill>
                <a:latin typeface="Times New Roman"/>
                <a:cs typeface="Times New Roman"/>
              </a:rPr>
              <a:t>M</a:t>
            </a:r>
            <a:r>
              <a:rPr sz="1400" u="sng" spc="-180" dirty="0">
                <a:uFill>
                  <a:solidFill>
                    <a:srgbClr val="000000"/>
                  </a:solidFill>
                </a:uFill>
                <a:latin typeface="Times New Roman"/>
                <a:cs typeface="Times New Roman"/>
              </a:rPr>
              <a:t>A</a:t>
            </a:r>
            <a:r>
              <a:rPr sz="1400" u="sng" spc="-20" dirty="0">
                <a:uFill>
                  <a:solidFill>
                    <a:srgbClr val="000000"/>
                  </a:solidFill>
                </a:uFill>
                <a:latin typeface="Times New Roman"/>
                <a:cs typeface="Times New Roman"/>
              </a:rPr>
              <a:t>T</a:t>
            </a:r>
            <a:r>
              <a:rPr sz="1400" u="sng" spc="-35" dirty="0">
                <a:uFill>
                  <a:solidFill>
                    <a:srgbClr val="000000"/>
                  </a:solidFill>
                </a:uFill>
                <a:latin typeface="Times New Roman"/>
                <a:cs typeface="Times New Roman"/>
              </a:rPr>
              <a:t>K</a:t>
            </a:r>
            <a:r>
              <a:rPr sz="1400" u="sng" spc="15" dirty="0">
                <a:uFill>
                  <a:solidFill>
                    <a:srgbClr val="000000"/>
                  </a:solidFill>
                </a:uFill>
                <a:latin typeface="Times New Roman"/>
                <a:cs typeface="Times New Roman"/>
              </a:rPr>
              <a:t>U</a:t>
            </a:r>
            <a:r>
              <a:rPr sz="1400" u="sng" spc="-5" dirty="0">
                <a:uFill>
                  <a:solidFill>
                    <a:srgbClr val="000000"/>
                  </a:solidFill>
                </a:uFill>
                <a:latin typeface="Times New Roman"/>
                <a:cs typeface="Times New Roman"/>
              </a:rPr>
              <a:t>L </a:t>
            </a:r>
            <a:r>
              <a:rPr sz="1400" spc="-5" dirty="0">
                <a:latin typeface="Times New Roman"/>
                <a:cs typeface="Times New Roman"/>
              </a:rPr>
              <a:t> </a:t>
            </a:r>
            <a:r>
              <a:rPr sz="1400" spc="-20" dirty="0">
                <a:latin typeface="Times New Roman"/>
                <a:cs typeface="Times New Roman"/>
              </a:rPr>
              <a:t>NILAI</a:t>
            </a:r>
            <a:endParaRPr sz="1400">
              <a:latin typeface="Times New Roman"/>
              <a:cs typeface="Times New Roman"/>
            </a:endParaRPr>
          </a:p>
        </p:txBody>
      </p:sp>
      <p:sp>
        <p:nvSpPr>
          <p:cNvPr id="26" name="object 26"/>
          <p:cNvSpPr txBox="1"/>
          <p:nvPr/>
        </p:nvSpPr>
        <p:spPr>
          <a:xfrm>
            <a:off x="4345940" y="4672406"/>
            <a:ext cx="444500"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I</a:t>
            </a:r>
            <a:r>
              <a:rPr sz="1400" spc="-30" dirty="0">
                <a:latin typeface="Times New Roman"/>
                <a:cs typeface="Times New Roman"/>
              </a:rPr>
              <a:t>K</a:t>
            </a:r>
            <a:r>
              <a:rPr sz="1400" spc="-5" dirty="0">
                <a:latin typeface="Times New Roman"/>
                <a:cs typeface="Times New Roman"/>
              </a:rPr>
              <a:t>UT</a:t>
            </a:r>
            <a:endParaRPr sz="1400">
              <a:latin typeface="Times New Roman"/>
              <a:cs typeface="Times New Roman"/>
            </a:endParaRPr>
          </a:p>
        </p:txBody>
      </p:sp>
      <p:sp>
        <p:nvSpPr>
          <p:cNvPr id="27" name="object 27"/>
          <p:cNvSpPr txBox="1"/>
          <p:nvPr/>
        </p:nvSpPr>
        <p:spPr>
          <a:xfrm>
            <a:off x="3355085" y="5129910"/>
            <a:ext cx="368935" cy="238125"/>
          </a:xfrm>
          <a:prstGeom prst="rect">
            <a:avLst/>
          </a:prstGeom>
        </p:spPr>
        <p:txBody>
          <a:bodyPr vert="horz" wrap="square" lIns="0" tIns="11430" rIns="0" bIns="0" rtlCol="0">
            <a:spAutoFit/>
          </a:bodyPr>
          <a:lstStyle/>
          <a:p>
            <a:pPr marL="12700">
              <a:lnSpc>
                <a:spcPct val="100000"/>
              </a:lnSpc>
              <a:spcBef>
                <a:spcPts val="90"/>
              </a:spcBef>
            </a:pPr>
            <a:r>
              <a:rPr sz="1400" spc="-10" dirty="0">
                <a:latin typeface="Times New Roman"/>
                <a:cs typeface="Times New Roman"/>
              </a:rPr>
              <a:t>NIM</a:t>
            </a:r>
            <a:endParaRPr sz="1400">
              <a:latin typeface="Times New Roman"/>
              <a:cs typeface="Times New Roman"/>
            </a:endParaRPr>
          </a:p>
        </p:txBody>
      </p:sp>
      <p:sp>
        <p:nvSpPr>
          <p:cNvPr id="28" name="object 28"/>
          <p:cNvSpPr txBox="1"/>
          <p:nvPr/>
        </p:nvSpPr>
        <p:spPr>
          <a:xfrm>
            <a:off x="6856476" y="5024437"/>
            <a:ext cx="1221105" cy="739775"/>
          </a:xfrm>
          <a:prstGeom prst="rect">
            <a:avLst/>
          </a:prstGeom>
          <a:ln w="12700">
            <a:solidFill>
              <a:srgbClr val="000000"/>
            </a:solidFill>
          </a:ln>
        </p:spPr>
        <p:txBody>
          <a:bodyPr vert="horz" wrap="square" lIns="0" tIns="40640" rIns="0" bIns="0" rtlCol="0">
            <a:spAutoFit/>
          </a:bodyPr>
          <a:lstStyle/>
          <a:p>
            <a:pPr marL="93345" marR="73025">
              <a:lnSpc>
                <a:spcPct val="100000"/>
              </a:lnSpc>
              <a:spcBef>
                <a:spcPts val="320"/>
              </a:spcBef>
            </a:pPr>
            <a:r>
              <a:rPr sz="1400" u="sng" spc="-35" dirty="0">
                <a:uFill>
                  <a:solidFill>
                    <a:srgbClr val="000000"/>
                  </a:solidFill>
                </a:uFill>
                <a:latin typeface="Times New Roman"/>
                <a:cs typeface="Times New Roman"/>
              </a:rPr>
              <a:t>K</a:t>
            </a:r>
            <a:r>
              <a:rPr sz="1400" u="sng" spc="-10" dirty="0">
                <a:uFill>
                  <a:solidFill>
                    <a:srgbClr val="000000"/>
                  </a:solidFill>
                </a:uFill>
                <a:latin typeface="Times New Roman"/>
                <a:cs typeface="Times New Roman"/>
              </a:rPr>
              <a:t>D</a:t>
            </a:r>
            <a:r>
              <a:rPr sz="1400" u="sng" spc="-15" dirty="0">
                <a:uFill>
                  <a:solidFill>
                    <a:srgbClr val="000000"/>
                  </a:solidFill>
                </a:uFill>
                <a:latin typeface="Times New Roman"/>
                <a:cs typeface="Times New Roman"/>
              </a:rPr>
              <a:t>-</a:t>
            </a:r>
            <a:r>
              <a:rPr sz="1400" u="sng" spc="-5" dirty="0">
                <a:uFill>
                  <a:solidFill>
                    <a:srgbClr val="000000"/>
                  </a:solidFill>
                </a:uFill>
                <a:latin typeface="Times New Roman"/>
                <a:cs typeface="Times New Roman"/>
              </a:rPr>
              <a:t>M</a:t>
            </a:r>
            <a:r>
              <a:rPr sz="1400" u="sng" spc="-180" dirty="0">
                <a:uFill>
                  <a:solidFill>
                    <a:srgbClr val="000000"/>
                  </a:solidFill>
                </a:uFill>
                <a:latin typeface="Times New Roman"/>
                <a:cs typeface="Times New Roman"/>
              </a:rPr>
              <a:t>A</a:t>
            </a:r>
            <a:r>
              <a:rPr sz="1400" u="sng" spc="-20" dirty="0">
                <a:uFill>
                  <a:solidFill>
                    <a:srgbClr val="000000"/>
                  </a:solidFill>
                </a:uFill>
                <a:latin typeface="Times New Roman"/>
                <a:cs typeface="Times New Roman"/>
              </a:rPr>
              <a:t>T</a:t>
            </a:r>
            <a:r>
              <a:rPr sz="1400" u="sng" spc="-35" dirty="0">
                <a:uFill>
                  <a:solidFill>
                    <a:srgbClr val="000000"/>
                  </a:solidFill>
                </a:uFill>
                <a:latin typeface="Times New Roman"/>
                <a:cs typeface="Times New Roman"/>
              </a:rPr>
              <a:t>K</a:t>
            </a:r>
            <a:r>
              <a:rPr sz="1400" u="sng" spc="15" dirty="0">
                <a:uFill>
                  <a:solidFill>
                    <a:srgbClr val="000000"/>
                  </a:solidFill>
                </a:uFill>
                <a:latin typeface="Times New Roman"/>
                <a:cs typeface="Times New Roman"/>
              </a:rPr>
              <a:t>U</a:t>
            </a:r>
            <a:r>
              <a:rPr sz="1400" u="sng" spc="-5" dirty="0">
                <a:uFill>
                  <a:solidFill>
                    <a:srgbClr val="000000"/>
                  </a:solidFill>
                </a:uFill>
                <a:latin typeface="Times New Roman"/>
                <a:cs typeface="Times New Roman"/>
              </a:rPr>
              <a:t>L </a:t>
            </a:r>
            <a:r>
              <a:rPr sz="1400" spc="-5" dirty="0">
                <a:latin typeface="Times New Roman"/>
                <a:cs typeface="Times New Roman"/>
              </a:rPr>
              <a:t> </a:t>
            </a:r>
            <a:r>
              <a:rPr sz="1400" spc="-15" dirty="0">
                <a:latin typeface="Times New Roman"/>
                <a:cs typeface="Times New Roman"/>
              </a:rPr>
              <a:t>DESKRIPSI </a:t>
            </a:r>
            <a:r>
              <a:rPr sz="1400" spc="-10" dirty="0">
                <a:latin typeface="Times New Roman"/>
                <a:cs typeface="Times New Roman"/>
              </a:rPr>
              <a:t> </a:t>
            </a:r>
            <a:r>
              <a:rPr sz="1400" spc="-20" dirty="0">
                <a:latin typeface="Times New Roman"/>
                <a:cs typeface="Times New Roman"/>
              </a:rPr>
              <a:t>SKS</a:t>
            </a:r>
            <a:endParaRPr sz="1400">
              <a:latin typeface="Times New Roman"/>
              <a:cs typeface="Times New Roman"/>
            </a:endParaRPr>
          </a:p>
        </p:txBody>
      </p:sp>
      <p:sp>
        <p:nvSpPr>
          <p:cNvPr id="29" name="object 29"/>
          <p:cNvSpPr txBox="1"/>
          <p:nvPr/>
        </p:nvSpPr>
        <p:spPr>
          <a:xfrm>
            <a:off x="7029704" y="4737608"/>
            <a:ext cx="800735"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M</a:t>
            </a:r>
            <a:r>
              <a:rPr sz="1400" spc="-180" dirty="0">
                <a:latin typeface="Times New Roman"/>
                <a:cs typeface="Times New Roman"/>
              </a:rPr>
              <a:t>A</a:t>
            </a:r>
            <a:r>
              <a:rPr sz="1400" spc="-135" dirty="0">
                <a:latin typeface="Times New Roman"/>
                <a:cs typeface="Times New Roman"/>
              </a:rPr>
              <a:t>T</a:t>
            </a:r>
            <a:r>
              <a:rPr sz="1400" spc="-15" dirty="0">
                <a:latin typeface="Times New Roman"/>
                <a:cs typeface="Times New Roman"/>
              </a:rPr>
              <a:t>-</a:t>
            </a:r>
            <a:r>
              <a:rPr sz="1400" spc="-35" dirty="0">
                <a:latin typeface="Times New Roman"/>
                <a:cs typeface="Times New Roman"/>
              </a:rPr>
              <a:t>K</a:t>
            </a:r>
            <a:r>
              <a:rPr sz="1400" spc="-10" dirty="0">
                <a:latin typeface="Times New Roman"/>
                <a:cs typeface="Times New Roman"/>
              </a:rPr>
              <a:t>UL</a:t>
            </a:r>
            <a:endParaRPr sz="1400">
              <a:latin typeface="Times New Roman"/>
              <a:cs typeface="Times New Roman"/>
            </a:endParaRPr>
          </a:p>
        </p:txBody>
      </p:sp>
      <p:sp>
        <p:nvSpPr>
          <p:cNvPr id="30" name="object 30"/>
          <p:cNvSpPr/>
          <p:nvPr/>
        </p:nvSpPr>
        <p:spPr>
          <a:xfrm>
            <a:off x="5576823" y="5330825"/>
            <a:ext cx="1241425" cy="127000"/>
          </a:xfrm>
          <a:custGeom>
            <a:avLst/>
            <a:gdLst/>
            <a:ahLst/>
            <a:cxnLst/>
            <a:rect l="l" t="t" r="r" b="b"/>
            <a:pathLst>
              <a:path w="1241425" h="127000">
                <a:moveTo>
                  <a:pt x="127000" y="0"/>
                </a:moveTo>
                <a:lnTo>
                  <a:pt x="0" y="63500"/>
                </a:lnTo>
                <a:lnTo>
                  <a:pt x="127000" y="127000"/>
                </a:lnTo>
                <a:lnTo>
                  <a:pt x="81279" y="69850"/>
                </a:lnTo>
                <a:lnTo>
                  <a:pt x="76200" y="69850"/>
                </a:lnTo>
                <a:lnTo>
                  <a:pt x="76200" y="57150"/>
                </a:lnTo>
                <a:lnTo>
                  <a:pt x="81279" y="57150"/>
                </a:lnTo>
                <a:lnTo>
                  <a:pt x="127000" y="0"/>
                </a:lnTo>
                <a:close/>
              </a:path>
              <a:path w="1241425" h="127000">
                <a:moveTo>
                  <a:pt x="76200" y="63500"/>
                </a:moveTo>
                <a:lnTo>
                  <a:pt x="76200" y="69850"/>
                </a:lnTo>
                <a:lnTo>
                  <a:pt x="81279" y="69850"/>
                </a:lnTo>
                <a:lnTo>
                  <a:pt x="76200" y="63500"/>
                </a:lnTo>
                <a:close/>
              </a:path>
              <a:path w="1241425" h="127000">
                <a:moveTo>
                  <a:pt x="1241425" y="57150"/>
                </a:moveTo>
                <a:lnTo>
                  <a:pt x="81279" y="57150"/>
                </a:lnTo>
                <a:lnTo>
                  <a:pt x="76200" y="63500"/>
                </a:lnTo>
                <a:lnTo>
                  <a:pt x="81279" y="69850"/>
                </a:lnTo>
                <a:lnTo>
                  <a:pt x="1241425" y="69850"/>
                </a:lnTo>
                <a:lnTo>
                  <a:pt x="1241425" y="57150"/>
                </a:lnTo>
                <a:close/>
              </a:path>
              <a:path w="1241425" h="127000">
                <a:moveTo>
                  <a:pt x="81279" y="57150"/>
                </a:moveTo>
                <a:lnTo>
                  <a:pt x="76200" y="57150"/>
                </a:lnTo>
                <a:lnTo>
                  <a:pt x="76200" y="63500"/>
                </a:lnTo>
                <a:lnTo>
                  <a:pt x="81279" y="57150"/>
                </a:lnTo>
                <a:close/>
              </a:path>
            </a:pathLst>
          </a:custGeom>
          <a:solidFill>
            <a:srgbClr val="000000"/>
          </a:solidFill>
        </p:spPr>
        <p:txBody>
          <a:bodyPr wrap="square" lIns="0" tIns="0" rIns="0" bIns="0" rtlCol="0"/>
          <a:lstStyle/>
          <a:p>
            <a:endParaRPr/>
          </a:p>
        </p:txBody>
      </p:sp>
      <p:sp>
        <p:nvSpPr>
          <p:cNvPr id="31" name="object 31"/>
          <p:cNvSpPr txBox="1"/>
          <p:nvPr/>
        </p:nvSpPr>
        <p:spPr>
          <a:xfrm>
            <a:off x="5717794" y="5129910"/>
            <a:ext cx="1072515" cy="238125"/>
          </a:xfrm>
          <a:prstGeom prst="rect">
            <a:avLst/>
          </a:prstGeom>
        </p:spPr>
        <p:txBody>
          <a:bodyPr vert="horz" wrap="square" lIns="0" tIns="11430" rIns="0" bIns="0" rtlCol="0">
            <a:spAutoFit/>
          </a:bodyPr>
          <a:lstStyle/>
          <a:p>
            <a:pPr marL="12700">
              <a:lnSpc>
                <a:spcPct val="100000"/>
              </a:lnSpc>
              <a:spcBef>
                <a:spcPts val="90"/>
              </a:spcBef>
            </a:pPr>
            <a:r>
              <a:rPr sz="1400" spc="-35" dirty="0">
                <a:latin typeface="Times New Roman"/>
                <a:cs typeface="Times New Roman"/>
              </a:rPr>
              <a:t>K</a:t>
            </a:r>
            <a:r>
              <a:rPr sz="1400" spc="-5" dirty="0">
                <a:latin typeface="Times New Roman"/>
                <a:cs typeface="Times New Roman"/>
              </a:rPr>
              <a:t>D</a:t>
            </a:r>
            <a:r>
              <a:rPr sz="1400" spc="-15" dirty="0">
                <a:latin typeface="Times New Roman"/>
                <a:cs typeface="Times New Roman"/>
              </a:rPr>
              <a:t>-</a:t>
            </a:r>
            <a:r>
              <a:rPr sz="1400" spc="-5" dirty="0">
                <a:latin typeface="Times New Roman"/>
                <a:cs typeface="Times New Roman"/>
              </a:rPr>
              <a:t>M</a:t>
            </a:r>
            <a:r>
              <a:rPr sz="1400" spc="-180" dirty="0">
                <a:latin typeface="Times New Roman"/>
                <a:cs typeface="Times New Roman"/>
              </a:rPr>
              <a:t>A</a:t>
            </a:r>
            <a:r>
              <a:rPr sz="1400" spc="-20" dirty="0">
                <a:latin typeface="Times New Roman"/>
                <a:cs typeface="Times New Roman"/>
              </a:rPr>
              <a:t>T</a:t>
            </a:r>
            <a:r>
              <a:rPr sz="1400" spc="-35" dirty="0">
                <a:latin typeface="Times New Roman"/>
                <a:cs typeface="Times New Roman"/>
              </a:rPr>
              <a:t>K</a:t>
            </a:r>
            <a:r>
              <a:rPr sz="1400" spc="15" dirty="0">
                <a:latin typeface="Times New Roman"/>
                <a:cs typeface="Times New Roman"/>
              </a:rPr>
              <a:t>U</a:t>
            </a:r>
            <a:r>
              <a:rPr sz="1400" spc="-5" dirty="0">
                <a:latin typeface="Times New Roman"/>
                <a:cs typeface="Times New Roman"/>
              </a:rPr>
              <a:t>L</a:t>
            </a:r>
            <a:endParaRPr sz="1400">
              <a:latin typeface="Times New Roman"/>
              <a:cs typeface="Times New Roman"/>
            </a:endParaRPr>
          </a:p>
        </p:txBody>
      </p:sp>
      <p:pic>
        <p:nvPicPr>
          <p:cNvPr id="32" name="object 32"/>
          <p:cNvPicPr/>
          <p:nvPr/>
        </p:nvPicPr>
        <p:blipFill>
          <a:blip r:embed="rId3" cstate="print"/>
          <a:stretch>
            <a:fillRect/>
          </a:stretch>
        </p:blipFill>
        <p:spPr>
          <a:xfrm>
            <a:off x="5180076" y="304800"/>
            <a:ext cx="3759200" cy="457200"/>
          </a:xfrm>
          <a:prstGeom prst="rect">
            <a:avLst/>
          </a:prstGeom>
        </p:spPr>
      </p:pic>
      <p:sp>
        <p:nvSpPr>
          <p:cNvPr id="33" name="object 33"/>
          <p:cNvSpPr txBox="1"/>
          <p:nvPr/>
        </p:nvSpPr>
        <p:spPr>
          <a:xfrm>
            <a:off x="5764148" y="371093"/>
            <a:ext cx="2444115" cy="270510"/>
          </a:xfrm>
          <a:prstGeom prst="rect">
            <a:avLst/>
          </a:prstGeom>
        </p:spPr>
        <p:txBody>
          <a:bodyPr vert="horz" wrap="square" lIns="0" tIns="13335" rIns="0" bIns="0" rtlCol="0">
            <a:spAutoFit/>
          </a:bodyPr>
          <a:lstStyle/>
          <a:p>
            <a:pPr marL="12700">
              <a:lnSpc>
                <a:spcPct val="100000"/>
              </a:lnSpc>
              <a:spcBef>
                <a:spcPts val="105"/>
              </a:spcBef>
            </a:pPr>
            <a:r>
              <a:rPr sz="1600" spc="-170" dirty="0">
                <a:latin typeface="Arial MT"/>
                <a:cs typeface="Arial MT"/>
              </a:rPr>
              <a:t>T</a:t>
            </a:r>
            <a:r>
              <a:rPr sz="1600" spc="-200" dirty="0">
                <a:latin typeface="Arial MT"/>
                <a:cs typeface="Arial MT"/>
              </a:rPr>
              <a:t>R</a:t>
            </a:r>
            <a:r>
              <a:rPr sz="1600" spc="-185" dirty="0">
                <a:latin typeface="Arial MT"/>
                <a:cs typeface="Arial MT"/>
              </a:rPr>
              <a:t>A</a:t>
            </a:r>
            <a:r>
              <a:rPr sz="1600" spc="-200" dirty="0">
                <a:latin typeface="Arial MT"/>
                <a:cs typeface="Arial MT"/>
              </a:rPr>
              <a:t>N</a:t>
            </a:r>
            <a:r>
              <a:rPr sz="1600" spc="-185" dirty="0">
                <a:latin typeface="Arial MT"/>
                <a:cs typeface="Arial MT"/>
              </a:rPr>
              <a:t>S</a:t>
            </a:r>
            <a:r>
              <a:rPr sz="1600" spc="-170" dirty="0">
                <a:latin typeface="Arial MT"/>
                <a:cs typeface="Arial MT"/>
              </a:rPr>
              <a:t>F</a:t>
            </a:r>
            <a:r>
              <a:rPr sz="1600" spc="-220" dirty="0">
                <a:latin typeface="Arial MT"/>
                <a:cs typeface="Arial MT"/>
              </a:rPr>
              <a:t>O</a:t>
            </a:r>
            <a:r>
              <a:rPr sz="1600" spc="-200" dirty="0">
                <a:latin typeface="Arial MT"/>
                <a:cs typeface="Arial MT"/>
              </a:rPr>
              <a:t>R</a:t>
            </a:r>
            <a:r>
              <a:rPr sz="1600" spc="-254" dirty="0">
                <a:latin typeface="Arial MT"/>
                <a:cs typeface="Arial MT"/>
              </a:rPr>
              <a:t>M</a:t>
            </a:r>
            <a:r>
              <a:rPr sz="1600" spc="-185" dirty="0">
                <a:latin typeface="Arial MT"/>
                <a:cs typeface="Arial MT"/>
              </a:rPr>
              <a:t>A</a:t>
            </a:r>
            <a:r>
              <a:rPr sz="1600" spc="-210" dirty="0">
                <a:latin typeface="Arial MT"/>
                <a:cs typeface="Arial MT"/>
              </a:rPr>
              <a:t>S</a:t>
            </a:r>
            <a:r>
              <a:rPr sz="1600" spc="-80" dirty="0">
                <a:latin typeface="Arial MT"/>
                <a:cs typeface="Arial MT"/>
              </a:rPr>
              <a:t>I</a:t>
            </a:r>
            <a:r>
              <a:rPr sz="1600" spc="-190" dirty="0">
                <a:latin typeface="Arial MT"/>
                <a:cs typeface="Arial MT"/>
              </a:rPr>
              <a:t> </a:t>
            </a:r>
            <a:r>
              <a:rPr sz="1600" spc="-175" dirty="0">
                <a:latin typeface="Arial MT"/>
                <a:cs typeface="Arial MT"/>
              </a:rPr>
              <a:t>D</a:t>
            </a:r>
            <a:r>
              <a:rPr sz="1600" spc="-105" dirty="0">
                <a:latin typeface="Arial MT"/>
                <a:cs typeface="Arial MT"/>
              </a:rPr>
              <a:t>-</a:t>
            </a:r>
            <a:r>
              <a:rPr sz="1600" spc="-185" dirty="0">
                <a:latin typeface="Arial MT"/>
                <a:cs typeface="Arial MT"/>
              </a:rPr>
              <a:t>E</a:t>
            </a:r>
            <a:r>
              <a:rPr sz="1600" spc="-204" dirty="0">
                <a:latin typeface="Arial MT"/>
                <a:cs typeface="Arial MT"/>
              </a:rPr>
              <a:t>R</a:t>
            </a:r>
            <a:r>
              <a:rPr sz="1600" spc="-105" dirty="0">
                <a:latin typeface="Arial MT"/>
                <a:cs typeface="Arial MT"/>
              </a:rPr>
              <a:t> </a:t>
            </a:r>
            <a:r>
              <a:rPr sz="1600" spc="-185" dirty="0">
                <a:latin typeface="Arial MT"/>
                <a:cs typeface="Arial MT"/>
              </a:rPr>
              <a:t>K</a:t>
            </a:r>
            <a:r>
              <a:rPr sz="1600" spc="-190" dirty="0">
                <a:latin typeface="Arial MT"/>
                <a:cs typeface="Arial MT"/>
              </a:rPr>
              <a:t>E</a:t>
            </a:r>
            <a:r>
              <a:rPr sz="1600" spc="-105" dirty="0">
                <a:latin typeface="Arial MT"/>
                <a:cs typeface="Arial MT"/>
              </a:rPr>
              <a:t> </a:t>
            </a:r>
            <a:r>
              <a:rPr sz="1600" spc="-155" dirty="0">
                <a:latin typeface="Arial MT"/>
                <a:cs typeface="Arial MT"/>
              </a:rPr>
              <a:t>L</a:t>
            </a:r>
            <a:r>
              <a:rPr sz="1600" spc="-200" dirty="0">
                <a:latin typeface="Arial MT"/>
                <a:cs typeface="Arial MT"/>
              </a:rPr>
              <a:t>R</a:t>
            </a:r>
            <a:r>
              <a:rPr sz="1600" spc="-190" dirty="0">
                <a:latin typeface="Arial MT"/>
                <a:cs typeface="Arial MT"/>
              </a:rPr>
              <a:t>S</a:t>
            </a:r>
            <a:endParaRPr sz="1600">
              <a:latin typeface="Arial MT"/>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433451"/>
            <a:ext cx="3759200" cy="457200"/>
          </a:xfrm>
          <a:prstGeom prst="rect">
            <a:avLst/>
          </a:prstGeom>
        </p:spPr>
      </p:pic>
      <p:sp>
        <p:nvSpPr>
          <p:cNvPr id="3" name="object 3"/>
          <p:cNvSpPr txBox="1"/>
          <p:nvPr/>
        </p:nvSpPr>
        <p:spPr>
          <a:xfrm>
            <a:off x="1048918" y="499618"/>
            <a:ext cx="2830830" cy="238125"/>
          </a:xfrm>
          <a:prstGeom prst="rect">
            <a:avLst/>
          </a:prstGeom>
        </p:spPr>
        <p:txBody>
          <a:bodyPr vert="horz" wrap="square" lIns="0" tIns="11430" rIns="0" bIns="0" rtlCol="0">
            <a:spAutoFit/>
          </a:bodyPr>
          <a:lstStyle/>
          <a:p>
            <a:pPr marL="12700">
              <a:lnSpc>
                <a:spcPct val="100000"/>
              </a:lnSpc>
              <a:spcBef>
                <a:spcPts val="90"/>
              </a:spcBef>
            </a:pPr>
            <a:r>
              <a:rPr sz="1400" spc="-30" dirty="0">
                <a:latin typeface="Times New Roman"/>
                <a:cs typeface="Times New Roman"/>
              </a:rPr>
              <a:t>ENTITY-RELATIONSHIP</a:t>
            </a:r>
            <a:r>
              <a:rPr sz="1400" spc="20" dirty="0">
                <a:latin typeface="Times New Roman"/>
                <a:cs typeface="Times New Roman"/>
              </a:rPr>
              <a:t> </a:t>
            </a:r>
            <a:r>
              <a:rPr sz="1400" spc="-15" dirty="0">
                <a:latin typeface="Times New Roman"/>
                <a:cs typeface="Times New Roman"/>
              </a:rPr>
              <a:t>DIAGRAM</a:t>
            </a:r>
            <a:endParaRPr sz="1400">
              <a:latin typeface="Times New Roman"/>
              <a:cs typeface="Times New Roman"/>
            </a:endParaRPr>
          </a:p>
        </p:txBody>
      </p:sp>
      <p:sp>
        <p:nvSpPr>
          <p:cNvPr id="4" name="object 4"/>
          <p:cNvSpPr txBox="1"/>
          <p:nvPr/>
        </p:nvSpPr>
        <p:spPr>
          <a:xfrm>
            <a:off x="7337806" y="1939289"/>
            <a:ext cx="587375" cy="483870"/>
          </a:xfrm>
          <a:prstGeom prst="rect">
            <a:avLst/>
          </a:prstGeom>
        </p:spPr>
        <p:txBody>
          <a:bodyPr vert="horz" wrap="square" lIns="0" tIns="13335" rIns="0" bIns="0" rtlCol="0">
            <a:spAutoFit/>
          </a:bodyPr>
          <a:lstStyle/>
          <a:p>
            <a:pPr marL="12700" marR="5080">
              <a:lnSpc>
                <a:spcPct val="100000"/>
              </a:lnSpc>
              <a:spcBef>
                <a:spcPts val="105"/>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spc="-10" dirty="0">
                <a:latin typeface="Times New Roman"/>
                <a:cs typeface="Times New Roman"/>
              </a:rPr>
              <a:t>LOKASI </a:t>
            </a:r>
            <a:r>
              <a:rPr sz="1000" spc="-5" dirty="0">
                <a:latin typeface="Times New Roman"/>
                <a:cs typeface="Times New Roman"/>
              </a:rPr>
              <a:t> </a:t>
            </a:r>
            <a:r>
              <a:rPr sz="1000" dirty="0">
                <a:latin typeface="Times New Roman"/>
                <a:cs typeface="Times New Roman"/>
              </a:rPr>
              <a:t>JENIS</a:t>
            </a:r>
            <a:endParaRPr sz="1000">
              <a:latin typeface="Times New Roman"/>
              <a:cs typeface="Times New Roman"/>
            </a:endParaRPr>
          </a:p>
        </p:txBody>
      </p:sp>
      <p:sp>
        <p:nvSpPr>
          <p:cNvPr id="5" name="object 5"/>
          <p:cNvSpPr txBox="1"/>
          <p:nvPr/>
        </p:nvSpPr>
        <p:spPr>
          <a:xfrm>
            <a:off x="7337806" y="3123945"/>
            <a:ext cx="599440" cy="484505"/>
          </a:xfrm>
          <a:prstGeom prst="rect">
            <a:avLst/>
          </a:prstGeom>
        </p:spPr>
        <p:txBody>
          <a:bodyPr vert="horz" wrap="square" lIns="0" tIns="13335" rIns="0" bIns="0" rtlCol="0">
            <a:spAutoFit/>
          </a:bodyPr>
          <a:lstStyle/>
          <a:p>
            <a:pPr marL="12700" marR="5080" algn="just">
              <a:lnSpc>
                <a:spcPct val="100000"/>
              </a:lnSpc>
              <a:spcBef>
                <a:spcPts val="105"/>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20" dirty="0">
                <a:uFill>
                  <a:solidFill>
                    <a:srgbClr val="000000"/>
                  </a:solidFill>
                </a:uFill>
                <a:latin typeface="Times New Roman"/>
                <a:cs typeface="Times New Roman"/>
              </a:rPr>
              <a:t>BR</a:t>
            </a:r>
            <a:r>
              <a:rPr sz="1000" u="sng" spc="-5" dirty="0">
                <a:uFill>
                  <a:solidFill>
                    <a:srgbClr val="000000"/>
                  </a:solidFill>
                </a:uFill>
                <a:latin typeface="Times New Roman"/>
                <a:cs typeface="Times New Roman"/>
              </a:rPr>
              <a:t>N</a:t>
            </a:r>
            <a:r>
              <a:rPr sz="1000" u="sng" dirty="0">
                <a:uFill>
                  <a:solidFill>
                    <a:srgbClr val="000000"/>
                  </a:solidFill>
                </a:uFill>
                <a:latin typeface="Times New Roman"/>
                <a:cs typeface="Times New Roman"/>
              </a:rPr>
              <a:t>G </a:t>
            </a:r>
            <a:r>
              <a:rPr sz="1000" dirty="0">
                <a:latin typeface="Times New Roman"/>
                <a:cs typeface="Times New Roman"/>
              </a:rPr>
              <a:t> </a:t>
            </a:r>
            <a:r>
              <a:rPr sz="1000" spc="-10" dirty="0">
                <a:latin typeface="Times New Roman"/>
                <a:cs typeface="Times New Roman"/>
              </a:rPr>
              <a:t>JUMLAH</a:t>
            </a:r>
            <a:endParaRPr sz="1000">
              <a:latin typeface="Times New Roman"/>
              <a:cs typeface="Times New Roman"/>
            </a:endParaRPr>
          </a:p>
        </p:txBody>
      </p:sp>
      <p:sp>
        <p:nvSpPr>
          <p:cNvPr id="6" name="object 6"/>
          <p:cNvSpPr txBox="1"/>
          <p:nvPr/>
        </p:nvSpPr>
        <p:spPr>
          <a:xfrm>
            <a:off x="7337806" y="4310329"/>
            <a:ext cx="620395" cy="484505"/>
          </a:xfrm>
          <a:prstGeom prst="rect">
            <a:avLst/>
          </a:prstGeom>
        </p:spPr>
        <p:txBody>
          <a:bodyPr vert="horz" wrap="square" lIns="0" tIns="13970" rIns="0" bIns="0" rtlCol="0">
            <a:spAutoFit/>
          </a:bodyPr>
          <a:lstStyle/>
          <a:p>
            <a:pPr marL="12700" marR="5080" algn="just">
              <a:lnSpc>
                <a:spcPct val="100000"/>
              </a:lnSpc>
              <a:spcBef>
                <a:spcPts val="110"/>
              </a:spcBef>
            </a:pPr>
            <a:r>
              <a:rPr sz="1000" u="sng" spc="-10" dirty="0">
                <a:uFill>
                  <a:solidFill>
                    <a:srgbClr val="000000"/>
                  </a:solidFill>
                </a:uFill>
                <a:latin typeface="Times New Roman"/>
                <a:cs typeface="Times New Roman"/>
              </a:rPr>
              <a:t>KD-BRNG </a:t>
            </a:r>
            <a:r>
              <a:rPr sz="1000" spc="-240" dirty="0">
                <a:latin typeface="Times New Roman"/>
                <a:cs typeface="Times New Roman"/>
              </a:rPr>
              <a:t> </a:t>
            </a:r>
            <a:r>
              <a:rPr sz="1000" spc="-5" dirty="0">
                <a:latin typeface="Times New Roman"/>
                <a:cs typeface="Times New Roman"/>
              </a:rPr>
              <a:t>NAMA</a:t>
            </a:r>
            <a:r>
              <a:rPr sz="1000" dirty="0">
                <a:latin typeface="Times New Roman"/>
                <a:cs typeface="Times New Roman"/>
              </a:rPr>
              <a:t>-</a:t>
            </a:r>
            <a:r>
              <a:rPr sz="1000" spc="-25" dirty="0">
                <a:latin typeface="Times New Roman"/>
                <a:cs typeface="Times New Roman"/>
              </a:rPr>
              <a:t>BR  </a:t>
            </a:r>
            <a:r>
              <a:rPr sz="1000" spc="-10" dirty="0">
                <a:latin typeface="Times New Roman"/>
                <a:cs typeface="Times New Roman"/>
              </a:rPr>
              <a:t>HAR-SAT</a:t>
            </a:r>
            <a:endParaRPr sz="1000">
              <a:latin typeface="Times New Roman"/>
              <a:cs typeface="Times New Roman"/>
            </a:endParaRPr>
          </a:p>
        </p:txBody>
      </p:sp>
      <p:grpSp>
        <p:nvGrpSpPr>
          <p:cNvPr id="7" name="object 7"/>
          <p:cNvGrpSpPr/>
          <p:nvPr/>
        </p:nvGrpSpPr>
        <p:grpSpPr>
          <a:xfrm>
            <a:off x="4219575" y="2066925"/>
            <a:ext cx="1727200" cy="422275"/>
            <a:chOff x="4219575" y="2066925"/>
            <a:chExt cx="1727200" cy="422275"/>
          </a:xfrm>
        </p:grpSpPr>
        <p:sp>
          <p:nvSpPr>
            <p:cNvPr id="8" name="object 8"/>
            <p:cNvSpPr/>
            <p:nvPr/>
          </p:nvSpPr>
          <p:spPr>
            <a:xfrm>
              <a:off x="4225925" y="2073275"/>
              <a:ext cx="660400" cy="395605"/>
            </a:xfrm>
            <a:custGeom>
              <a:avLst/>
              <a:gdLst/>
              <a:ahLst/>
              <a:cxnLst/>
              <a:rect l="l" t="t" r="r" b="b"/>
              <a:pathLst>
                <a:path w="660400" h="395605">
                  <a:moveTo>
                    <a:pt x="0" y="395224"/>
                  </a:moveTo>
                  <a:lnTo>
                    <a:pt x="660400" y="0"/>
                  </a:lnTo>
                </a:path>
              </a:pathLst>
            </a:custGeom>
            <a:ln w="12700">
              <a:solidFill>
                <a:srgbClr val="000000"/>
              </a:solidFill>
            </a:ln>
          </p:spPr>
          <p:txBody>
            <a:bodyPr wrap="square" lIns="0" tIns="0" rIns="0" bIns="0" rtlCol="0"/>
            <a:lstStyle/>
            <a:p>
              <a:endParaRPr/>
            </a:p>
          </p:txBody>
        </p:sp>
        <p:sp>
          <p:nvSpPr>
            <p:cNvPr id="9" name="object 9"/>
            <p:cNvSpPr/>
            <p:nvPr/>
          </p:nvSpPr>
          <p:spPr>
            <a:xfrm>
              <a:off x="5545200" y="2482850"/>
              <a:ext cx="395605" cy="0"/>
            </a:xfrm>
            <a:custGeom>
              <a:avLst/>
              <a:gdLst/>
              <a:ahLst/>
              <a:cxnLst/>
              <a:rect l="l" t="t" r="r" b="b"/>
              <a:pathLst>
                <a:path w="395604">
                  <a:moveTo>
                    <a:pt x="0" y="0"/>
                  </a:moveTo>
                  <a:lnTo>
                    <a:pt x="395224" y="0"/>
                  </a:lnTo>
                </a:path>
              </a:pathLst>
            </a:custGeom>
            <a:ln w="12700">
              <a:solidFill>
                <a:srgbClr val="000000"/>
              </a:solidFill>
            </a:ln>
          </p:spPr>
          <p:txBody>
            <a:bodyPr wrap="square" lIns="0" tIns="0" rIns="0" bIns="0" rtlCol="0"/>
            <a:lstStyle/>
            <a:p>
              <a:endParaRPr/>
            </a:p>
          </p:txBody>
        </p:sp>
      </p:grpSp>
      <p:sp>
        <p:nvSpPr>
          <p:cNvPr id="10" name="object 10"/>
          <p:cNvSpPr txBox="1"/>
          <p:nvPr/>
        </p:nvSpPr>
        <p:spPr>
          <a:xfrm>
            <a:off x="6640194" y="4201414"/>
            <a:ext cx="11811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N</a:t>
            </a:r>
            <a:endParaRPr sz="1000">
              <a:latin typeface="Times New Roman"/>
              <a:cs typeface="Times New Roman"/>
            </a:endParaRPr>
          </a:p>
        </p:txBody>
      </p:sp>
      <p:sp>
        <p:nvSpPr>
          <p:cNvPr id="11" name="object 11"/>
          <p:cNvSpPr txBox="1"/>
          <p:nvPr/>
        </p:nvSpPr>
        <p:spPr>
          <a:xfrm>
            <a:off x="3213354" y="4201414"/>
            <a:ext cx="89535" cy="179070"/>
          </a:xfrm>
          <a:prstGeom prst="rect">
            <a:avLst/>
          </a:prstGeom>
        </p:spPr>
        <p:txBody>
          <a:bodyPr vert="horz" wrap="square" lIns="0" tIns="13335" rIns="0" bIns="0" rtlCol="0">
            <a:spAutoFit/>
          </a:bodyPr>
          <a:lstStyle/>
          <a:p>
            <a:pPr marL="12700">
              <a:lnSpc>
                <a:spcPct val="100000"/>
              </a:lnSpc>
              <a:spcBef>
                <a:spcPts val="105"/>
              </a:spcBef>
            </a:pPr>
            <a:r>
              <a:rPr sz="1000" dirty="0">
                <a:latin typeface="Times New Roman"/>
                <a:cs typeface="Times New Roman"/>
              </a:rPr>
              <a:t>1</a:t>
            </a:r>
            <a:endParaRPr sz="1000">
              <a:latin typeface="Times New Roman"/>
              <a:cs typeface="Times New Roman"/>
            </a:endParaRPr>
          </a:p>
        </p:txBody>
      </p:sp>
      <p:sp>
        <p:nvSpPr>
          <p:cNvPr id="12" name="object 12"/>
          <p:cNvSpPr txBox="1"/>
          <p:nvPr/>
        </p:nvSpPr>
        <p:spPr>
          <a:xfrm>
            <a:off x="5717540" y="2225497"/>
            <a:ext cx="90170"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1</a:t>
            </a:r>
            <a:endParaRPr sz="1000">
              <a:latin typeface="Times New Roman"/>
              <a:cs typeface="Times New Roman"/>
            </a:endParaRPr>
          </a:p>
        </p:txBody>
      </p:sp>
      <p:sp>
        <p:nvSpPr>
          <p:cNvPr id="13" name="object 13"/>
          <p:cNvSpPr txBox="1"/>
          <p:nvPr/>
        </p:nvSpPr>
        <p:spPr>
          <a:xfrm>
            <a:off x="6640194" y="2751200"/>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graphicFrame>
        <p:nvGraphicFramePr>
          <p:cNvPr id="14" name="object 14"/>
          <p:cNvGraphicFramePr>
            <a:graphicFrameLocks noGrp="1"/>
          </p:cNvGraphicFramePr>
          <p:nvPr/>
        </p:nvGraphicFramePr>
        <p:xfrm>
          <a:off x="2506726" y="2079625"/>
          <a:ext cx="1720850" cy="1068705"/>
        </p:xfrm>
        <a:graphic>
          <a:graphicData uri="http://schemas.openxmlformats.org/drawingml/2006/table">
            <a:tbl>
              <a:tblPr firstRow="1" bandRow="1">
                <a:tableStyleId>{2D5ABB26-0587-4C30-8999-92F81FD0307C}</a:tableStyleId>
              </a:tblPr>
              <a:tblGrid>
                <a:gridCol w="659765"/>
                <a:gridCol w="659765"/>
                <a:gridCol w="395605"/>
              </a:tblGrid>
              <a:tr h="396875">
                <a:tc rowSpan="2" gridSpan="2">
                  <a:txBody>
                    <a:bodyPr/>
                    <a:lstStyle/>
                    <a:p>
                      <a:pPr>
                        <a:lnSpc>
                          <a:spcPct val="100000"/>
                        </a:lnSpc>
                      </a:pPr>
                      <a:endParaRPr sz="1100">
                        <a:latin typeface="Times New Roman"/>
                        <a:cs typeface="Times New Roman"/>
                      </a:endParaRPr>
                    </a:p>
                    <a:p>
                      <a:pPr marL="146685">
                        <a:lnSpc>
                          <a:spcPct val="100000"/>
                        </a:lnSpc>
                        <a:spcBef>
                          <a:spcPts val="880"/>
                        </a:spcBef>
                      </a:pPr>
                      <a:r>
                        <a:rPr sz="1000" spc="-5" dirty="0">
                          <a:latin typeface="Times New Roman"/>
                          <a:cs typeface="Times New Roman"/>
                        </a:rPr>
                        <a:t>PEGAWAI</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hMerge="1">
                  <a:txBody>
                    <a:bodyPr/>
                    <a:lstStyle/>
                    <a:p>
                      <a:endParaRPr/>
                    </a:p>
                  </a:txBody>
                  <a:tcPr marL="0" marR="0" marT="0" marB="0"/>
                </a:tc>
                <a:tc>
                  <a:txBody>
                    <a:bodyPr/>
                    <a:lstStyle/>
                    <a:p>
                      <a:pPr>
                        <a:lnSpc>
                          <a:spcPct val="100000"/>
                        </a:lnSpc>
                        <a:spcBef>
                          <a:spcPts val="55"/>
                        </a:spcBef>
                      </a:pPr>
                      <a:endParaRPr sz="1000">
                        <a:latin typeface="Times New Roman"/>
                        <a:cs typeface="Times New Roman"/>
                      </a:endParaRPr>
                    </a:p>
                    <a:p>
                      <a:pPr marL="53975">
                        <a:lnSpc>
                          <a:spcPct val="100000"/>
                        </a:lnSpc>
                      </a:pPr>
                      <a:r>
                        <a:rPr sz="1000" dirty="0">
                          <a:latin typeface="Times New Roman"/>
                          <a:cs typeface="Times New Roman"/>
                        </a:rPr>
                        <a:t>M</a:t>
                      </a:r>
                      <a:endParaRPr sz="1000">
                        <a:latin typeface="Times New Roman"/>
                        <a:cs typeface="Times New Roman"/>
                      </a:endParaRPr>
                    </a:p>
                  </a:txBody>
                  <a:tcPr marL="0" marR="0" marT="6985" marB="0">
                    <a:lnL w="12700">
                      <a:solidFill>
                        <a:srgbClr val="000000"/>
                      </a:solidFill>
                      <a:prstDash val="solid"/>
                    </a:lnL>
                    <a:lnB w="12700">
                      <a:solidFill>
                        <a:srgbClr val="000000"/>
                      </a:solidFill>
                      <a:prstDash val="solid"/>
                    </a:lnB>
                  </a:tcPr>
                </a:tc>
              </a:tr>
              <a:tr h="263525">
                <a:tc gridSpan="2"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v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T w="12700">
                      <a:solidFill>
                        <a:srgbClr val="000000"/>
                      </a:solidFill>
                      <a:prstDash val="solid"/>
                    </a:lnT>
                  </a:tcPr>
                </a:tc>
              </a:tr>
              <a:tr h="401574">
                <a:tc>
                  <a:txBody>
                    <a:bodyPr/>
                    <a:lstStyle/>
                    <a:p>
                      <a:pPr>
                        <a:lnSpc>
                          <a:spcPct val="100000"/>
                        </a:lnSpc>
                      </a:pPr>
                      <a:endParaRPr sz="1000">
                        <a:latin typeface="Times New Roman"/>
                        <a:cs typeface="Times New Roman"/>
                      </a:endParaRPr>
                    </a:p>
                  </a:txBody>
                  <a:tcPr marL="0" marR="0" marT="0" marB="0">
                    <a:lnR w="19050">
                      <a:solidFill>
                        <a:srgbClr val="000000"/>
                      </a:solidFill>
                      <a:prstDash val="solid"/>
                    </a:lnR>
                    <a:lnT w="12700">
                      <a:solidFill>
                        <a:srgbClr val="000000"/>
                      </a:solidFill>
                      <a:prstDash val="solid"/>
                    </a:lnT>
                  </a:tcPr>
                </a:tc>
                <a:tc gridSpan="2">
                  <a:txBody>
                    <a:bodyPr/>
                    <a:lstStyle/>
                    <a:p>
                      <a:pPr marL="53340">
                        <a:lnSpc>
                          <a:spcPct val="100000"/>
                        </a:lnSpc>
                        <a:spcBef>
                          <a:spcPts val="145"/>
                        </a:spcBef>
                      </a:pPr>
                      <a:r>
                        <a:rPr sz="1000" dirty="0">
                          <a:latin typeface="Times New Roman"/>
                          <a:cs typeface="Times New Roman"/>
                        </a:rPr>
                        <a:t>1</a:t>
                      </a:r>
                      <a:endParaRPr sz="1000">
                        <a:latin typeface="Times New Roman"/>
                        <a:cs typeface="Times New Roman"/>
                      </a:endParaRPr>
                    </a:p>
                  </a:txBody>
                  <a:tcPr marL="0" marR="0" marT="18415" marB="0">
                    <a:lnL w="19050">
                      <a:solidFill>
                        <a:srgbClr val="000000"/>
                      </a:solidFill>
                      <a:prstDash val="solid"/>
                    </a:lnL>
                  </a:tcPr>
                </a:tc>
                <a:tc hMerge="1">
                  <a:txBody>
                    <a:bodyPr/>
                    <a:lstStyle/>
                    <a:p>
                      <a:endParaRPr/>
                    </a:p>
                  </a:txBody>
                  <a:tcPr marL="0" marR="0" marT="0" marB="0"/>
                </a:tc>
              </a:tr>
            </a:tbl>
          </a:graphicData>
        </a:graphic>
      </p:graphicFrame>
      <p:sp>
        <p:nvSpPr>
          <p:cNvPr id="15" name="object 15"/>
          <p:cNvSpPr/>
          <p:nvPr/>
        </p:nvSpPr>
        <p:spPr>
          <a:xfrm>
            <a:off x="4225925" y="2073275"/>
            <a:ext cx="1319530" cy="790575"/>
          </a:xfrm>
          <a:custGeom>
            <a:avLst/>
            <a:gdLst/>
            <a:ahLst/>
            <a:cxnLst/>
            <a:rect l="l" t="t" r="r" b="b"/>
            <a:pathLst>
              <a:path w="1319529" h="790575">
                <a:moveTo>
                  <a:pt x="658876" y="0"/>
                </a:moveTo>
                <a:lnTo>
                  <a:pt x="1319276" y="395224"/>
                </a:lnTo>
              </a:path>
              <a:path w="1319529" h="790575">
                <a:moveTo>
                  <a:pt x="0" y="395350"/>
                </a:moveTo>
                <a:lnTo>
                  <a:pt x="660400" y="790575"/>
                </a:lnTo>
              </a:path>
              <a:path w="1319529" h="790575">
                <a:moveTo>
                  <a:pt x="658876" y="790575"/>
                </a:moveTo>
                <a:lnTo>
                  <a:pt x="1319276" y="395350"/>
                </a:lnTo>
              </a:path>
            </a:pathLst>
          </a:custGeom>
          <a:ln w="12700">
            <a:solidFill>
              <a:srgbClr val="000000"/>
            </a:solidFill>
          </a:ln>
        </p:spPr>
        <p:txBody>
          <a:bodyPr wrap="square" lIns="0" tIns="0" rIns="0" bIns="0" rtlCol="0"/>
          <a:lstStyle/>
          <a:p>
            <a:endParaRPr/>
          </a:p>
        </p:txBody>
      </p:sp>
      <p:sp>
        <p:nvSpPr>
          <p:cNvPr id="16" name="object 16"/>
          <p:cNvSpPr txBox="1"/>
          <p:nvPr/>
        </p:nvSpPr>
        <p:spPr>
          <a:xfrm>
            <a:off x="4622672" y="2330323"/>
            <a:ext cx="419734"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K</a:t>
            </a:r>
            <a:r>
              <a:rPr sz="1000" spc="5" dirty="0">
                <a:latin typeface="Times New Roman"/>
                <a:cs typeface="Times New Roman"/>
              </a:rPr>
              <a:t>E</a:t>
            </a:r>
            <a:r>
              <a:rPr sz="1000" spc="-20" dirty="0">
                <a:latin typeface="Times New Roman"/>
                <a:cs typeface="Times New Roman"/>
              </a:rPr>
              <a:t>R</a:t>
            </a:r>
            <a:r>
              <a:rPr sz="1000" spc="-10" dirty="0">
                <a:latin typeface="Times New Roman"/>
                <a:cs typeface="Times New Roman"/>
              </a:rPr>
              <a:t>J</a:t>
            </a:r>
            <a:r>
              <a:rPr sz="1000" spc="5" dirty="0">
                <a:latin typeface="Times New Roman"/>
                <a:cs typeface="Times New Roman"/>
              </a:rPr>
              <a:t>A</a:t>
            </a:r>
            <a:endParaRPr sz="1000">
              <a:latin typeface="Times New Roman"/>
              <a:cs typeface="Times New Roman"/>
            </a:endParaRPr>
          </a:p>
        </p:txBody>
      </p:sp>
      <p:sp>
        <p:nvSpPr>
          <p:cNvPr id="17" name="object 17"/>
          <p:cNvSpPr txBox="1"/>
          <p:nvPr/>
        </p:nvSpPr>
        <p:spPr>
          <a:xfrm>
            <a:off x="5938901" y="2085975"/>
            <a:ext cx="1319530" cy="660400"/>
          </a:xfrm>
          <a:prstGeom prst="rect">
            <a:avLst/>
          </a:prstGeom>
          <a:ln w="12700">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marL="278130">
              <a:lnSpc>
                <a:spcPct val="100000"/>
              </a:lnSpc>
              <a:spcBef>
                <a:spcPts val="880"/>
              </a:spcBef>
            </a:pPr>
            <a:r>
              <a:rPr sz="1000" spc="-5" dirty="0">
                <a:latin typeface="Times New Roman"/>
                <a:cs typeface="Times New Roman"/>
              </a:rPr>
              <a:t>PROYEK</a:t>
            </a:r>
            <a:endParaRPr sz="1000">
              <a:latin typeface="Times New Roman"/>
              <a:cs typeface="Times New Roman"/>
            </a:endParaRPr>
          </a:p>
        </p:txBody>
      </p:sp>
      <p:sp>
        <p:nvSpPr>
          <p:cNvPr id="18" name="object 18"/>
          <p:cNvSpPr txBox="1"/>
          <p:nvPr/>
        </p:nvSpPr>
        <p:spPr>
          <a:xfrm>
            <a:off x="5938901" y="4456112"/>
            <a:ext cx="1319530" cy="659130"/>
          </a:xfrm>
          <a:prstGeom prst="rect">
            <a:avLst/>
          </a:prstGeom>
          <a:ln w="12700">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marL="278130">
              <a:lnSpc>
                <a:spcPct val="100000"/>
              </a:lnSpc>
              <a:spcBef>
                <a:spcPts val="885"/>
              </a:spcBef>
            </a:pPr>
            <a:r>
              <a:rPr sz="1000" spc="-10" dirty="0">
                <a:latin typeface="Times New Roman"/>
                <a:cs typeface="Times New Roman"/>
              </a:rPr>
              <a:t>BARANG</a:t>
            </a:r>
            <a:endParaRPr sz="1000">
              <a:latin typeface="Times New Roman"/>
              <a:cs typeface="Times New Roman"/>
            </a:endParaRPr>
          </a:p>
        </p:txBody>
      </p:sp>
      <p:sp>
        <p:nvSpPr>
          <p:cNvPr id="19" name="object 19"/>
          <p:cNvSpPr txBox="1"/>
          <p:nvPr/>
        </p:nvSpPr>
        <p:spPr>
          <a:xfrm>
            <a:off x="2513076" y="4443412"/>
            <a:ext cx="1319530" cy="659130"/>
          </a:xfrm>
          <a:prstGeom prst="rect">
            <a:avLst/>
          </a:prstGeom>
          <a:ln w="12700">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marL="276860">
              <a:lnSpc>
                <a:spcPct val="100000"/>
              </a:lnSpc>
              <a:spcBef>
                <a:spcPts val="885"/>
              </a:spcBef>
            </a:pPr>
            <a:r>
              <a:rPr sz="1000" spc="-5" dirty="0">
                <a:latin typeface="Times New Roman"/>
                <a:cs typeface="Times New Roman"/>
              </a:rPr>
              <a:t>MOBIL</a:t>
            </a:r>
            <a:endParaRPr sz="1000">
              <a:latin typeface="Times New Roman"/>
              <a:cs typeface="Times New Roman"/>
            </a:endParaRPr>
          </a:p>
        </p:txBody>
      </p:sp>
      <p:sp>
        <p:nvSpPr>
          <p:cNvPr id="20" name="object 20"/>
          <p:cNvSpPr/>
          <p:nvPr/>
        </p:nvSpPr>
        <p:spPr>
          <a:xfrm>
            <a:off x="5938901" y="3138423"/>
            <a:ext cx="1319530" cy="791210"/>
          </a:xfrm>
          <a:custGeom>
            <a:avLst/>
            <a:gdLst/>
            <a:ahLst/>
            <a:cxnLst/>
            <a:rect l="l" t="t" r="r" b="b"/>
            <a:pathLst>
              <a:path w="1319529" h="791210">
                <a:moveTo>
                  <a:pt x="0" y="395859"/>
                </a:moveTo>
                <a:lnTo>
                  <a:pt x="660019" y="0"/>
                </a:lnTo>
              </a:path>
              <a:path w="1319529" h="791210">
                <a:moveTo>
                  <a:pt x="659129" y="0"/>
                </a:moveTo>
                <a:lnTo>
                  <a:pt x="1319149" y="395859"/>
                </a:lnTo>
              </a:path>
              <a:path w="1319529" h="791210">
                <a:moveTo>
                  <a:pt x="0" y="394842"/>
                </a:moveTo>
                <a:lnTo>
                  <a:pt x="660019" y="790701"/>
                </a:lnTo>
              </a:path>
              <a:path w="1319529" h="791210">
                <a:moveTo>
                  <a:pt x="659129" y="790701"/>
                </a:moveTo>
                <a:lnTo>
                  <a:pt x="1319149" y="394842"/>
                </a:lnTo>
              </a:path>
            </a:pathLst>
          </a:custGeom>
          <a:ln w="12700">
            <a:solidFill>
              <a:srgbClr val="000000"/>
            </a:solidFill>
          </a:ln>
        </p:spPr>
        <p:txBody>
          <a:bodyPr wrap="square" lIns="0" tIns="0" rIns="0" bIns="0" rtlCol="0"/>
          <a:lstStyle/>
          <a:p>
            <a:endParaRPr/>
          </a:p>
        </p:txBody>
      </p:sp>
      <p:sp>
        <p:nvSpPr>
          <p:cNvPr id="21" name="object 21"/>
          <p:cNvSpPr txBox="1"/>
          <p:nvPr/>
        </p:nvSpPr>
        <p:spPr>
          <a:xfrm>
            <a:off x="6336284" y="3395853"/>
            <a:ext cx="41148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PAKAI</a:t>
            </a:r>
            <a:endParaRPr sz="1000">
              <a:latin typeface="Times New Roman"/>
              <a:cs typeface="Times New Roman"/>
            </a:endParaRPr>
          </a:p>
        </p:txBody>
      </p:sp>
      <p:sp>
        <p:nvSpPr>
          <p:cNvPr id="22" name="object 22"/>
          <p:cNvSpPr txBox="1"/>
          <p:nvPr/>
        </p:nvSpPr>
        <p:spPr>
          <a:xfrm>
            <a:off x="2910967" y="3395853"/>
            <a:ext cx="447675"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DAPAT</a:t>
            </a:r>
            <a:endParaRPr sz="1000">
              <a:latin typeface="Times New Roman"/>
              <a:cs typeface="Times New Roman"/>
            </a:endParaRPr>
          </a:p>
        </p:txBody>
      </p:sp>
      <p:sp>
        <p:nvSpPr>
          <p:cNvPr id="23" name="object 23"/>
          <p:cNvSpPr/>
          <p:nvPr/>
        </p:nvSpPr>
        <p:spPr>
          <a:xfrm>
            <a:off x="6597650" y="2746375"/>
            <a:ext cx="0" cy="1710055"/>
          </a:xfrm>
          <a:custGeom>
            <a:avLst/>
            <a:gdLst/>
            <a:ahLst/>
            <a:cxnLst/>
            <a:rect l="l" t="t" r="r" b="b"/>
            <a:pathLst>
              <a:path h="1710054">
                <a:moveTo>
                  <a:pt x="0" y="395224"/>
                </a:moveTo>
                <a:lnTo>
                  <a:pt x="0" y="0"/>
                </a:lnTo>
              </a:path>
              <a:path h="1710054">
                <a:moveTo>
                  <a:pt x="0" y="1709674"/>
                </a:moveTo>
                <a:lnTo>
                  <a:pt x="0" y="1182751"/>
                </a:lnTo>
              </a:path>
            </a:pathLst>
          </a:custGeom>
          <a:ln w="12700">
            <a:solidFill>
              <a:srgbClr val="000000"/>
            </a:solidFill>
          </a:ln>
        </p:spPr>
        <p:txBody>
          <a:bodyPr wrap="square" lIns="0" tIns="0" rIns="0" bIns="0" rtlCol="0"/>
          <a:lstStyle/>
          <a:p>
            <a:endParaRPr/>
          </a:p>
        </p:txBody>
      </p:sp>
      <p:sp>
        <p:nvSpPr>
          <p:cNvPr id="24" name="object 24"/>
          <p:cNvSpPr/>
          <p:nvPr/>
        </p:nvSpPr>
        <p:spPr>
          <a:xfrm>
            <a:off x="2513076" y="3140075"/>
            <a:ext cx="1319530" cy="1316355"/>
          </a:xfrm>
          <a:custGeom>
            <a:avLst/>
            <a:gdLst/>
            <a:ahLst/>
            <a:cxnLst/>
            <a:rect l="l" t="t" r="r" b="b"/>
            <a:pathLst>
              <a:path w="1319529" h="1316354">
                <a:moveTo>
                  <a:pt x="658749" y="1315974"/>
                </a:moveTo>
                <a:lnTo>
                  <a:pt x="660400" y="789051"/>
                </a:lnTo>
              </a:path>
              <a:path w="1319529" h="1316354">
                <a:moveTo>
                  <a:pt x="0" y="395732"/>
                </a:moveTo>
                <a:lnTo>
                  <a:pt x="660019" y="0"/>
                </a:lnTo>
              </a:path>
              <a:path w="1319529" h="1316354">
                <a:moveTo>
                  <a:pt x="659130" y="0"/>
                </a:moveTo>
                <a:lnTo>
                  <a:pt x="1319149" y="395732"/>
                </a:lnTo>
              </a:path>
              <a:path w="1319529" h="1316354">
                <a:moveTo>
                  <a:pt x="0" y="394842"/>
                </a:moveTo>
                <a:lnTo>
                  <a:pt x="660019" y="790575"/>
                </a:lnTo>
              </a:path>
              <a:path w="1319529" h="1316354">
                <a:moveTo>
                  <a:pt x="659130" y="790575"/>
                </a:moveTo>
                <a:lnTo>
                  <a:pt x="1319149" y="394842"/>
                </a:lnTo>
              </a:path>
            </a:pathLst>
          </a:custGeom>
          <a:ln w="12700">
            <a:solidFill>
              <a:srgbClr val="000000"/>
            </a:solidFill>
          </a:ln>
        </p:spPr>
        <p:txBody>
          <a:bodyPr wrap="square" lIns="0" tIns="0" rIns="0" bIns="0" rtlCol="0"/>
          <a:lstStyle/>
          <a:p>
            <a:endParaRPr/>
          </a:p>
        </p:txBody>
      </p:sp>
      <p:sp>
        <p:nvSpPr>
          <p:cNvPr id="25" name="object 25"/>
          <p:cNvSpPr txBox="1"/>
          <p:nvPr/>
        </p:nvSpPr>
        <p:spPr>
          <a:xfrm>
            <a:off x="1407922" y="1939289"/>
            <a:ext cx="567055" cy="636905"/>
          </a:xfrm>
          <a:prstGeom prst="rect">
            <a:avLst/>
          </a:prstGeom>
        </p:spPr>
        <p:txBody>
          <a:bodyPr vert="horz" wrap="square" lIns="0" tIns="13335" rIns="0" bIns="0" rtlCol="0">
            <a:spAutoFit/>
          </a:bodyPr>
          <a:lstStyle/>
          <a:p>
            <a:pPr marL="12700" marR="5080">
              <a:lnSpc>
                <a:spcPct val="100000"/>
              </a:lnSpc>
              <a:spcBef>
                <a:spcPts val="105"/>
              </a:spcBef>
            </a:pPr>
            <a:r>
              <a:rPr sz="1000" u="sng" dirty="0">
                <a:uFill>
                  <a:solidFill>
                    <a:srgbClr val="000000"/>
                  </a:solidFill>
                </a:uFill>
                <a:latin typeface="Times New Roman"/>
                <a:cs typeface="Times New Roman"/>
              </a:rPr>
              <a:t>NO-PEG </a:t>
            </a:r>
            <a:r>
              <a:rPr sz="1000" spc="5" dirty="0">
                <a:latin typeface="Times New Roman"/>
                <a:cs typeface="Times New Roman"/>
              </a:rPr>
              <a:t> </a:t>
            </a:r>
            <a:r>
              <a:rPr sz="1000" spc="-5" dirty="0">
                <a:latin typeface="Times New Roman"/>
                <a:cs typeface="Times New Roman"/>
              </a:rPr>
              <a:t>NAMA </a:t>
            </a:r>
            <a:r>
              <a:rPr sz="1000" dirty="0">
                <a:latin typeface="Times New Roman"/>
                <a:cs typeface="Times New Roman"/>
              </a:rPr>
              <a:t> </a:t>
            </a:r>
            <a:r>
              <a:rPr sz="1000" spc="-5" dirty="0">
                <a:latin typeface="Times New Roman"/>
                <a:cs typeface="Times New Roman"/>
              </a:rPr>
              <a:t>A</a:t>
            </a:r>
            <a:r>
              <a:rPr sz="1000" spc="-20" dirty="0">
                <a:latin typeface="Times New Roman"/>
                <a:cs typeface="Times New Roman"/>
              </a:rPr>
              <a:t>L</a:t>
            </a:r>
            <a:r>
              <a:rPr sz="1000" spc="-5" dirty="0">
                <a:latin typeface="Times New Roman"/>
                <a:cs typeface="Times New Roman"/>
              </a:rPr>
              <a:t>AMA</a:t>
            </a:r>
            <a:r>
              <a:rPr sz="1000" dirty="0">
                <a:latin typeface="Times New Roman"/>
                <a:cs typeface="Times New Roman"/>
              </a:rPr>
              <a:t>T  </a:t>
            </a:r>
            <a:r>
              <a:rPr sz="1000" spc="-10" dirty="0">
                <a:latin typeface="Times New Roman"/>
                <a:cs typeface="Times New Roman"/>
              </a:rPr>
              <a:t>HONOR</a:t>
            </a:r>
            <a:endParaRPr sz="1000">
              <a:latin typeface="Times New Roman"/>
              <a:cs typeface="Times New Roman"/>
            </a:endParaRPr>
          </a:p>
        </p:txBody>
      </p:sp>
      <p:sp>
        <p:nvSpPr>
          <p:cNvPr id="26" name="object 26"/>
          <p:cNvSpPr txBox="1"/>
          <p:nvPr/>
        </p:nvSpPr>
        <p:spPr>
          <a:xfrm>
            <a:off x="4439539" y="1511935"/>
            <a:ext cx="588010" cy="332105"/>
          </a:xfrm>
          <a:prstGeom prst="rect">
            <a:avLst/>
          </a:prstGeom>
        </p:spPr>
        <p:txBody>
          <a:bodyPr vert="horz" wrap="square" lIns="0" tIns="13335" rIns="0" bIns="0" rtlCol="0">
            <a:spAutoFit/>
          </a:bodyPr>
          <a:lstStyle/>
          <a:p>
            <a:pPr marL="12700">
              <a:lnSpc>
                <a:spcPct val="100000"/>
              </a:lnSpc>
              <a:spcBef>
                <a:spcPts val="105"/>
              </a:spcBef>
            </a:pPr>
            <a:r>
              <a:rPr sz="1000" u="sng" dirty="0">
                <a:uFill>
                  <a:solidFill>
                    <a:srgbClr val="000000"/>
                  </a:solidFill>
                </a:uFill>
                <a:latin typeface="Times New Roman"/>
                <a:cs typeface="Times New Roman"/>
              </a:rPr>
              <a:t>NO-PEG</a:t>
            </a:r>
            <a:endParaRPr sz="1000">
              <a:latin typeface="Times New Roman"/>
              <a:cs typeface="Times New Roman"/>
            </a:endParaRPr>
          </a:p>
          <a:p>
            <a:pPr marL="12700">
              <a:lnSpc>
                <a:spcPct val="100000"/>
              </a:lnSpc>
            </a:pPr>
            <a:r>
              <a:rPr sz="1000" u="sng" spc="-5" dirty="0">
                <a:uFill>
                  <a:solidFill>
                    <a:srgbClr val="000000"/>
                  </a:solidFill>
                </a:uFill>
                <a:latin typeface="Times New Roman"/>
                <a:cs typeface="Times New Roman"/>
              </a:rPr>
              <a:t>KD-</a:t>
            </a:r>
            <a:r>
              <a:rPr sz="1000" u="sng" spc="-10" dirty="0">
                <a:uFill>
                  <a:solidFill>
                    <a:srgbClr val="000000"/>
                  </a:solidFill>
                </a:uFill>
                <a:latin typeface="Times New Roman"/>
                <a:cs typeface="Times New Roman"/>
              </a:rPr>
              <a:t>P</a:t>
            </a:r>
            <a:r>
              <a:rPr sz="1000" u="sng" spc="-25"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spc="5" dirty="0">
                <a:uFill>
                  <a:solidFill>
                    <a:srgbClr val="000000"/>
                  </a:solidFill>
                </a:uFill>
                <a:latin typeface="Times New Roman"/>
                <a:cs typeface="Times New Roman"/>
              </a:rPr>
              <a:t>Y</a:t>
            </a:r>
            <a:endParaRPr sz="1000">
              <a:latin typeface="Times New Roman"/>
              <a:cs typeface="Times New Roman"/>
            </a:endParaRPr>
          </a:p>
        </p:txBody>
      </p:sp>
      <p:sp>
        <p:nvSpPr>
          <p:cNvPr id="27" name="object 27"/>
          <p:cNvSpPr txBox="1"/>
          <p:nvPr/>
        </p:nvSpPr>
        <p:spPr>
          <a:xfrm>
            <a:off x="1407922" y="4310329"/>
            <a:ext cx="701040" cy="789305"/>
          </a:xfrm>
          <a:prstGeom prst="rect">
            <a:avLst/>
          </a:prstGeom>
        </p:spPr>
        <p:txBody>
          <a:bodyPr vert="horz" wrap="square" lIns="0" tIns="13970" rIns="0" bIns="0" rtlCol="0">
            <a:spAutoFit/>
          </a:bodyPr>
          <a:lstStyle/>
          <a:p>
            <a:pPr marL="12700" marR="5080">
              <a:lnSpc>
                <a:spcPct val="100000"/>
              </a:lnSpc>
              <a:spcBef>
                <a:spcPts val="110"/>
              </a:spcBef>
            </a:pPr>
            <a:r>
              <a:rPr sz="1000" u="sng" spc="-5" dirty="0">
                <a:uFill>
                  <a:solidFill>
                    <a:srgbClr val="000000"/>
                  </a:solidFill>
                </a:uFill>
                <a:latin typeface="Times New Roman"/>
                <a:cs typeface="Times New Roman"/>
              </a:rPr>
              <a:t>NO-POL </a:t>
            </a:r>
            <a:r>
              <a:rPr sz="1000" dirty="0">
                <a:latin typeface="Times New Roman"/>
                <a:cs typeface="Times New Roman"/>
              </a:rPr>
              <a:t> MEREK </a:t>
            </a:r>
            <a:r>
              <a:rPr sz="1000" spc="5" dirty="0">
                <a:latin typeface="Times New Roman"/>
                <a:cs typeface="Times New Roman"/>
              </a:rPr>
              <a:t> </a:t>
            </a:r>
            <a:r>
              <a:rPr sz="1000" spc="-10" dirty="0">
                <a:latin typeface="Times New Roman"/>
                <a:cs typeface="Times New Roman"/>
              </a:rPr>
              <a:t>TAHUN </a:t>
            </a:r>
            <a:r>
              <a:rPr sz="1000" spc="-5" dirty="0">
                <a:latin typeface="Times New Roman"/>
                <a:cs typeface="Times New Roman"/>
              </a:rPr>
              <a:t> </a:t>
            </a:r>
            <a:r>
              <a:rPr sz="1000" spc="-10" dirty="0">
                <a:latin typeface="Times New Roman"/>
                <a:cs typeface="Times New Roman"/>
              </a:rPr>
              <a:t>WARNA </a:t>
            </a:r>
            <a:r>
              <a:rPr sz="1000" spc="-5" dirty="0">
                <a:latin typeface="Times New Roman"/>
                <a:cs typeface="Times New Roman"/>
              </a:rPr>
              <a:t> </a:t>
            </a:r>
            <a:r>
              <a:rPr sz="1000" spc="10" dirty="0">
                <a:latin typeface="Times New Roman"/>
                <a:cs typeface="Times New Roman"/>
              </a:rPr>
              <a:t>T</a:t>
            </a:r>
            <a:r>
              <a:rPr sz="1000" spc="-5" dirty="0">
                <a:latin typeface="Times New Roman"/>
                <a:cs typeface="Times New Roman"/>
              </a:rPr>
              <a:t>G</a:t>
            </a:r>
            <a:r>
              <a:rPr sz="1000" spc="-15" dirty="0">
                <a:latin typeface="Times New Roman"/>
                <a:cs typeface="Times New Roman"/>
              </a:rPr>
              <a:t>L</a:t>
            </a:r>
            <a:r>
              <a:rPr sz="1000" spc="-5" dirty="0">
                <a:latin typeface="Times New Roman"/>
                <a:cs typeface="Times New Roman"/>
              </a:rPr>
              <a:t>-PAKAI</a:t>
            </a:r>
            <a:endParaRPr sz="1000">
              <a:latin typeface="Times New Roman"/>
              <a:cs typeface="Times New Roman"/>
            </a:endParaRPr>
          </a:p>
        </p:txBody>
      </p:sp>
      <p:sp>
        <p:nvSpPr>
          <p:cNvPr id="28" name="object 28"/>
          <p:cNvSpPr txBox="1"/>
          <p:nvPr/>
        </p:nvSpPr>
        <p:spPr>
          <a:xfrm>
            <a:off x="1419225" y="3342588"/>
            <a:ext cx="493395" cy="332105"/>
          </a:xfrm>
          <a:prstGeom prst="rect">
            <a:avLst/>
          </a:prstGeom>
        </p:spPr>
        <p:txBody>
          <a:bodyPr vert="horz" wrap="square" lIns="0" tIns="13970" rIns="0" bIns="0" rtlCol="0">
            <a:spAutoFit/>
          </a:bodyPr>
          <a:lstStyle/>
          <a:p>
            <a:pPr marL="12700">
              <a:lnSpc>
                <a:spcPct val="100000"/>
              </a:lnSpc>
              <a:spcBef>
                <a:spcPts val="110"/>
              </a:spcBef>
            </a:pPr>
            <a:r>
              <a:rPr sz="1000" u="sng" spc="-5" dirty="0">
                <a:uFill>
                  <a:solidFill>
                    <a:srgbClr val="000000"/>
                  </a:solidFill>
                </a:uFill>
                <a:latin typeface="Times New Roman"/>
                <a:cs typeface="Times New Roman"/>
              </a:rPr>
              <a:t>NO-</a:t>
            </a:r>
            <a:r>
              <a:rPr sz="1000" u="sng" spc="-10" dirty="0">
                <a:uFill>
                  <a:solidFill>
                    <a:srgbClr val="000000"/>
                  </a:solidFill>
                </a:uFill>
                <a:latin typeface="Times New Roman"/>
                <a:cs typeface="Times New Roman"/>
              </a:rPr>
              <a:t>P</a:t>
            </a:r>
            <a:r>
              <a:rPr sz="1000" u="sng" spc="10" dirty="0">
                <a:uFill>
                  <a:solidFill>
                    <a:srgbClr val="000000"/>
                  </a:solidFill>
                </a:uFill>
                <a:latin typeface="Times New Roman"/>
                <a:cs typeface="Times New Roman"/>
              </a:rPr>
              <a:t>E</a:t>
            </a:r>
            <a:r>
              <a:rPr sz="1000" u="sng" spc="5" dirty="0">
                <a:uFill>
                  <a:solidFill>
                    <a:srgbClr val="000000"/>
                  </a:solidFill>
                </a:uFill>
                <a:latin typeface="Times New Roman"/>
                <a:cs typeface="Times New Roman"/>
              </a:rPr>
              <a:t>G</a:t>
            </a:r>
            <a:endParaRPr sz="1000">
              <a:latin typeface="Times New Roman"/>
              <a:cs typeface="Times New Roman"/>
            </a:endParaRPr>
          </a:p>
          <a:p>
            <a:pPr marL="12700">
              <a:lnSpc>
                <a:spcPct val="100000"/>
              </a:lnSpc>
            </a:pPr>
            <a:r>
              <a:rPr sz="1000" u="sng" spc="-5" dirty="0">
                <a:uFill>
                  <a:solidFill>
                    <a:srgbClr val="000000"/>
                  </a:solidFill>
                </a:uFill>
                <a:latin typeface="Times New Roman"/>
                <a:cs typeface="Times New Roman"/>
              </a:rPr>
              <a:t>NO-POL</a:t>
            </a:r>
            <a:endParaRPr sz="100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45125" y="3551301"/>
            <a:ext cx="2765425" cy="923925"/>
          </a:xfrm>
          <a:custGeom>
            <a:avLst/>
            <a:gdLst/>
            <a:ahLst/>
            <a:cxnLst/>
            <a:rect l="l" t="t" r="r" b="b"/>
            <a:pathLst>
              <a:path w="2765425" h="923925">
                <a:moveTo>
                  <a:pt x="0" y="153924"/>
                </a:moveTo>
                <a:lnTo>
                  <a:pt x="7852" y="105241"/>
                </a:lnTo>
                <a:lnTo>
                  <a:pt x="29720" y="62983"/>
                </a:lnTo>
                <a:lnTo>
                  <a:pt x="63066" y="29675"/>
                </a:lnTo>
                <a:lnTo>
                  <a:pt x="105355" y="7839"/>
                </a:lnTo>
                <a:lnTo>
                  <a:pt x="154050" y="0"/>
                </a:lnTo>
                <a:lnTo>
                  <a:pt x="2611374" y="0"/>
                </a:lnTo>
                <a:lnTo>
                  <a:pt x="2660069" y="7839"/>
                </a:lnTo>
                <a:lnTo>
                  <a:pt x="2702358" y="29675"/>
                </a:lnTo>
                <a:lnTo>
                  <a:pt x="2735704" y="62983"/>
                </a:lnTo>
                <a:lnTo>
                  <a:pt x="2757572" y="105241"/>
                </a:lnTo>
                <a:lnTo>
                  <a:pt x="2765425" y="153924"/>
                </a:lnTo>
                <a:lnTo>
                  <a:pt x="2765425" y="769874"/>
                </a:lnTo>
                <a:lnTo>
                  <a:pt x="2757572" y="818556"/>
                </a:lnTo>
                <a:lnTo>
                  <a:pt x="2735704" y="860814"/>
                </a:lnTo>
                <a:lnTo>
                  <a:pt x="2702358" y="894122"/>
                </a:lnTo>
                <a:lnTo>
                  <a:pt x="2660069" y="915958"/>
                </a:lnTo>
                <a:lnTo>
                  <a:pt x="2611374" y="923798"/>
                </a:lnTo>
                <a:lnTo>
                  <a:pt x="154050" y="923798"/>
                </a:lnTo>
                <a:lnTo>
                  <a:pt x="105355" y="915958"/>
                </a:lnTo>
                <a:lnTo>
                  <a:pt x="63066" y="894122"/>
                </a:lnTo>
                <a:lnTo>
                  <a:pt x="29720" y="860814"/>
                </a:lnTo>
                <a:lnTo>
                  <a:pt x="7852" y="818556"/>
                </a:lnTo>
                <a:lnTo>
                  <a:pt x="0" y="769874"/>
                </a:lnTo>
                <a:lnTo>
                  <a:pt x="0" y="153924"/>
                </a:lnTo>
                <a:close/>
              </a:path>
            </a:pathLst>
          </a:custGeom>
          <a:ln w="12700">
            <a:solidFill>
              <a:srgbClr val="000000"/>
            </a:solidFill>
          </a:ln>
        </p:spPr>
        <p:txBody>
          <a:bodyPr wrap="square" lIns="0" tIns="0" rIns="0" bIns="0" rtlCol="0"/>
          <a:lstStyle/>
          <a:p>
            <a:endParaRPr/>
          </a:p>
        </p:txBody>
      </p:sp>
      <p:sp>
        <p:nvSpPr>
          <p:cNvPr id="3" name="object 3"/>
          <p:cNvSpPr/>
          <p:nvPr/>
        </p:nvSpPr>
        <p:spPr>
          <a:xfrm>
            <a:off x="5445125" y="2367026"/>
            <a:ext cx="2765425" cy="1052830"/>
          </a:xfrm>
          <a:custGeom>
            <a:avLst/>
            <a:gdLst/>
            <a:ahLst/>
            <a:cxnLst/>
            <a:rect l="l" t="t" r="r" b="b"/>
            <a:pathLst>
              <a:path w="2765425" h="1052829">
                <a:moveTo>
                  <a:pt x="0" y="175387"/>
                </a:moveTo>
                <a:lnTo>
                  <a:pt x="6262" y="128749"/>
                </a:lnTo>
                <a:lnTo>
                  <a:pt x="23937" y="86849"/>
                </a:lnTo>
                <a:lnTo>
                  <a:pt x="51355" y="51355"/>
                </a:lnTo>
                <a:lnTo>
                  <a:pt x="86849" y="23937"/>
                </a:lnTo>
                <a:lnTo>
                  <a:pt x="128749" y="6262"/>
                </a:lnTo>
                <a:lnTo>
                  <a:pt x="175387" y="0"/>
                </a:lnTo>
                <a:lnTo>
                  <a:pt x="2590038" y="0"/>
                </a:lnTo>
                <a:lnTo>
                  <a:pt x="2636675" y="6262"/>
                </a:lnTo>
                <a:lnTo>
                  <a:pt x="2678575" y="23937"/>
                </a:lnTo>
                <a:lnTo>
                  <a:pt x="2714069" y="51355"/>
                </a:lnTo>
                <a:lnTo>
                  <a:pt x="2741487" y="86849"/>
                </a:lnTo>
                <a:lnTo>
                  <a:pt x="2759162" y="128749"/>
                </a:lnTo>
                <a:lnTo>
                  <a:pt x="2765425" y="175387"/>
                </a:lnTo>
                <a:lnTo>
                  <a:pt x="2765425" y="877062"/>
                </a:lnTo>
                <a:lnTo>
                  <a:pt x="2759162" y="923699"/>
                </a:lnTo>
                <a:lnTo>
                  <a:pt x="2741487" y="965599"/>
                </a:lnTo>
                <a:lnTo>
                  <a:pt x="2714069" y="1001093"/>
                </a:lnTo>
                <a:lnTo>
                  <a:pt x="2678575" y="1028511"/>
                </a:lnTo>
                <a:lnTo>
                  <a:pt x="2636675" y="1046186"/>
                </a:lnTo>
                <a:lnTo>
                  <a:pt x="2590038" y="1052449"/>
                </a:lnTo>
                <a:lnTo>
                  <a:pt x="175387" y="1052449"/>
                </a:lnTo>
                <a:lnTo>
                  <a:pt x="128749" y="1046186"/>
                </a:lnTo>
                <a:lnTo>
                  <a:pt x="86849" y="1028511"/>
                </a:lnTo>
                <a:lnTo>
                  <a:pt x="51355" y="1001093"/>
                </a:lnTo>
                <a:lnTo>
                  <a:pt x="23937" y="965599"/>
                </a:lnTo>
                <a:lnTo>
                  <a:pt x="6262" y="923699"/>
                </a:lnTo>
                <a:lnTo>
                  <a:pt x="0" y="877062"/>
                </a:lnTo>
                <a:lnTo>
                  <a:pt x="0" y="175387"/>
                </a:lnTo>
                <a:close/>
              </a:path>
            </a:pathLst>
          </a:custGeom>
          <a:ln w="12700">
            <a:solidFill>
              <a:srgbClr val="000000"/>
            </a:solidFill>
          </a:ln>
        </p:spPr>
        <p:txBody>
          <a:bodyPr wrap="square" lIns="0" tIns="0" rIns="0" bIns="0" rtlCol="0"/>
          <a:lstStyle/>
          <a:p>
            <a:endParaRPr/>
          </a:p>
        </p:txBody>
      </p:sp>
      <p:sp>
        <p:nvSpPr>
          <p:cNvPr id="4" name="object 4"/>
          <p:cNvSpPr/>
          <p:nvPr/>
        </p:nvSpPr>
        <p:spPr>
          <a:xfrm>
            <a:off x="5445125" y="4602098"/>
            <a:ext cx="2765425" cy="1186180"/>
          </a:xfrm>
          <a:custGeom>
            <a:avLst/>
            <a:gdLst/>
            <a:ahLst/>
            <a:cxnLst/>
            <a:rect l="l" t="t" r="r" b="b"/>
            <a:pathLst>
              <a:path w="2765425" h="1186179">
                <a:moveTo>
                  <a:pt x="0" y="197738"/>
                </a:moveTo>
                <a:lnTo>
                  <a:pt x="5221" y="152395"/>
                </a:lnTo>
                <a:lnTo>
                  <a:pt x="20093" y="110773"/>
                </a:lnTo>
                <a:lnTo>
                  <a:pt x="43427" y="74058"/>
                </a:lnTo>
                <a:lnTo>
                  <a:pt x="74034" y="43437"/>
                </a:lnTo>
                <a:lnTo>
                  <a:pt x="110726" y="20096"/>
                </a:lnTo>
                <a:lnTo>
                  <a:pt x="152315" y="5221"/>
                </a:lnTo>
                <a:lnTo>
                  <a:pt x="197612" y="0"/>
                </a:lnTo>
                <a:lnTo>
                  <a:pt x="2567813" y="0"/>
                </a:lnTo>
                <a:lnTo>
                  <a:pt x="2613109" y="5221"/>
                </a:lnTo>
                <a:lnTo>
                  <a:pt x="2654698" y="20096"/>
                </a:lnTo>
                <a:lnTo>
                  <a:pt x="2691390" y="43437"/>
                </a:lnTo>
                <a:lnTo>
                  <a:pt x="2721997" y="74058"/>
                </a:lnTo>
                <a:lnTo>
                  <a:pt x="2745331" y="110773"/>
                </a:lnTo>
                <a:lnTo>
                  <a:pt x="2760203" y="152395"/>
                </a:lnTo>
                <a:lnTo>
                  <a:pt x="2765425" y="197738"/>
                </a:lnTo>
                <a:lnTo>
                  <a:pt x="2765425" y="988275"/>
                </a:lnTo>
                <a:lnTo>
                  <a:pt x="2760203" y="1033594"/>
                </a:lnTo>
                <a:lnTo>
                  <a:pt x="2745331" y="1075196"/>
                </a:lnTo>
                <a:lnTo>
                  <a:pt x="2721997" y="1111894"/>
                </a:lnTo>
                <a:lnTo>
                  <a:pt x="2691390" y="1142503"/>
                </a:lnTo>
                <a:lnTo>
                  <a:pt x="2654698" y="1165836"/>
                </a:lnTo>
                <a:lnTo>
                  <a:pt x="2613109" y="1180705"/>
                </a:lnTo>
                <a:lnTo>
                  <a:pt x="2567813" y="1185926"/>
                </a:lnTo>
                <a:lnTo>
                  <a:pt x="197612" y="1185926"/>
                </a:lnTo>
                <a:lnTo>
                  <a:pt x="152315" y="1180705"/>
                </a:lnTo>
                <a:lnTo>
                  <a:pt x="110726" y="1165836"/>
                </a:lnTo>
                <a:lnTo>
                  <a:pt x="74034" y="1142503"/>
                </a:lnTo>
                <a:lnTo>
                  <a:pt x="43427" y="1111894"/>
                </a:lnTo>
                <a:lnTo>
                  <a:pt x="20093" y="1075196"/>
                </a:lnTo>
                <a:lnTo>
                  <a:pt x="5221" y="1033594"/>
                </a:lnTo>
                <a:lnTo>
                  <a:pt x="0" y="988275"/>
                </a:lnTo>
                <a:lnTo>
                  <a:pt x="0" y="197738"/>
                </a:lnTo>
                <a:close/>
              </a:path>
            </a:pathLst>
          </a:custGeom>
          <a:ln w="12700">
            <a:solidFill>
              <a:srgbClr val="000000"/>
            </a:solidFill>
          </a:ln>
        </p:spPr>
        <p:txBody>
          <a:bodyPr wrap="square" lIns="0" tIns="0" rIns="0" bIns="0" rtlCol="0"/>
          <a:lstStyle/>
          <a:p>
            <a:endParaRPr/>
          </a:p>
        </p:txBody>
      </p:sp>
      <p:sp>
        <p:nvSpPr>
          <p:cNvPr id="5" name="object 5"/>
          <p:cNvSpPr/>
          <p:nvPr/>
        </p:nvSpPr>
        <p:spPr>
          <a:xfrm>
            <a:off x="836612" y="3551301"/>
            <a:ext cx="3424554" cy="2240280"/>
          </a:xfrm>
          <a:custGeom>
            <a:avLst/>
            <a:gdLst/>
            <a:ahLst/>
            <a:cxnLst/>
            <a:rect l="l" t="t" r="r" b="b"/>
            <a:pathLst>
              <a:path w="3424554" h="2240279">
                <a:moveTo>
                  <a:pt x="0" y="373253"/>
                </a:moveTo>
                <a:lnTo>
                  <a:pt x="2908" y="326437"/>
                </a:lnTo>
                <a:lnTo>
                  <a:pt x="11401" y="281355"/>
                </a:lnTo>
                <a:lnTo>
                  <a:pt x="25129" y="238357"/>
                </a:lnTo>
                <a:lnTo>
                  <a:pt x="43741" y="197794"/>
                </a:lnTo>
                <a:lnTo>
                  <a:pt x="66888" y="160014"/>
                </a:lnTo>
                <a:lnTo>
                  <a:pt x="94219" y="125369"/>
                </a:lnTo>
                <a:lnTo>
                  <a:pt x="125386" y="94207"/>
                </a:lnTo>
                <a:lnTo>
                  <a:pt x="160037" y="66880"/>
                </a:lnTo>
                <a:lnTo>
                  <a:pt x="197825" y="43736"/>
                </a:lnTo>
                <a:lnTo>
                  <a:pt x="238397" y="25126"/>
                </a:lnTo>
                <a:lnTo>
                  <a:pt x="281405" y="11400"/>
                </a:lnTo>
                <a:lnTo>
                  <a:pt x="326499" y="2908"/>
                </a:lnTo>
                <a:lnTo>
                  <a:pt x="373329" y="0"/>
                </a:lnTo>
                <a:lnTo>
                  <a:pt x="3050857" y="0"/>
                </a:lnTo>
                <a:lnTo>
                  <a:pt x="3097700" y="2908"/>
                </a:lnTo>
                <a:lnTo>
                  <a:pt x="3142805" y="11400"/>
                </a:lnTo>
                <a:lnTo>
                  <a:pt x="3185822" y="25126"/>
                </a:lnTo>
                <a:lnTo>
                  <a:pt x="3226401" y="43736"/>
                </a:lnTo>
                <a:lnTo>
                  <a:pt x="3264193" y="66880"/>
                </a:lnTo>
                <a:lnTo>
                  <a:pt x="3298848" y="94207"/>
                </a:lnTo>
                <a:lnTo>
                  <a:pt x="3330017" y="125369"/>
                </a:lnTo>
                <a:lnTo>
                  <a:pt x="3357350" y="160014"/>
                </a:lnTo>
                <a:lnTo>
                  <a:pt x="3380497" y="197794"/>
                </a:lnTo>
                <a:lnTo>
                  <a:pt x="3399109" y="238357"/>
                </a:lnTo>
                <a:lnTo>
                  <a:pt x="3412836" y="281355"/>
                </a:lnTo>
                <a:lnTo>
                  <a:pt x="3421328" y="326437"/>
                </a:lnTo>
                <a:lnTo>
                  <a:pt x="3424237" y="373253"/>
                </a:lnTo>
                <a:lnTo>
                  <a:pt x="3424237" y="1866519"/>
                </a:lnTo>
                <a:lnTo>
                  <a:pt x="3421328" y="1913359"/>
                </a:lnTo>
                <a:lnTo>
                  <a:pt x="3412836" y="1958462"/>
                </a:lnTo>
                <a:lnTo>
                  <a:pt x="3399109" y="2001478"/>
                </a:lnTo>
                <a:lnTo>
                  <a:pt x="3380497" y="2042057"/>
                </a:lnTo>
                <a:lnTo>
                  <a:pt x="3357350" y="2079849"/>
                </a:lnTo>
                <a:lnTo>
                  <a:pt x="3330017" y="2114504"/>
                </a:lnTo>
                <a:lnTo>
                  <a:pt x="3298848" y="2145674"/>
                </a:lnTo>
                <a:lnTo>
                  <a:pt x="3264193" y="2173008"/>
                </a:lnTo>
                <a:lnTo>
                  <a:pt x="3226401" y="2196156"/>
                </a:lnTo>
                <a:lnTo>
                  <a:pt x="3185822" y="2214769"/>
                </a:lnTo>
                <a:lnTo>
                  <a:pt x="3142805" y="2228497"/>
                </a:lnTo>
                <a:lnTo>
                  <a:pt x="3097700" y="2236990"/>
                </a:lnTo>
                <a:lnTo>
                  <a:pt x="3050857" y="2239899"/>
                </a:lnTo>
                <a:lnTo>
                  <a:pt x="373329" y="2239899"/>
                </a:lnTo>
                <a:lnTo>
                  <a:pt x="326499" y="2236990"/>
                </a:lnTo>
                <a:lnTo>
                  <a:pt x="281405" y="2228497"/>
                </a:lnTo>
                <a:lnTo>
                  <a:pt x="238397" y="2214769"/>
                </a:lnTo>
                <a:lnTo>
                  <a:pt x="197825" y="2196156"/>
                </a:lnTo>
                <a:lnTo>
                  <a:pt x="160037" y="2173008"/>
                </a:lnTo>
                <a:lnTo>
                  <a:pt x="125386" y="2145674"/>
                </a:lnTo>
                <a:lnTo>
                  <a:pt x="94219" y="2114504"/>
                </a:lnTo>
                <a:lnTo>
                  <a:pt x="66888" y="2079849"/>
                </a:lnTo>
                <a:lnTo>
                  <a:pt x="43741" y="2042057"/>
                </a:lnTo>
                <a:lnTo>
                  <a:pt x="25129" y="2001478"/>
                </a:lnTo>
                <a:lnTo>
                  <a:pt x="11401" y="1958462"/>
                </a:lnTo>
                <a:lnTo>
                  <a:pt x="2908" y="1913359"/>
                </a:lnTo>
                <a:lnTo>
                  <a:pt x="0" y="1866519"/>
                </a:lnTo>
                <a:lnTo>
                  <a:pt x="0" y="373253"/>
                </a:lnTo>
                <a:close/>
              </a:path>
            </a:pathLst>
          </a:custGeom>
          <a:ln w="12700">
            <a:solidFill>
              <a:srgbClr val="000000"/>
            </a:solidFill>
          </a:ln>
        </p:spPr>
        <p:txBody>
          <a:bodyPr wrap="square" lIns="0" tIns="0" rIns="0" bIns="0" rtlCol="0"/>
          <a:lstStyle/>
          <a:p>
            <a:endParaRPr/>
          </a:p>
        </p:txBody>
      </p:sp>
      <p:sp>
        <p:nvSpPr>
          <p:cNvPr id="6" name="object 6"/>
          <p:cNvSpPr/>
          <p:nvPr/>
        </p:nvSpPr>
        <p:spPr>
          <a:xfrm>
            <a:off x="836612" y="1576450"/>
            <a:ext cx="4478655" cy="1843405"/>
          </a:xfrm>
          <a:custGeom>
            <a:avLst/>
            <a:gdLst/>
            <a:ahLst/>
            <a:cxnLst/>
            <a:rect l="l" t="t" r="r" b="b"/>
            <a:pathLst>
              <a:path w="4478655" h="1843404">
                <a:moveTo>
                  <a:pt x="0" y="307086"/>
                </a:moveTo>
                <a:lnTo>
                  <a:pt x="3330" y="261690"/>
                </a:lnTo>
                <a:lnTo>
                  <a:pt x="13005" y="218368"/>
                </a:lnTo>
                <a:lnTo>
                  <a:pt x="28550" y="177594"/>
                </a:lnTo>
                <a:lnTo>
                  <a:pt x="49488" y="139842"/>
                </a:lnTo>
                <a:lnTo>
                  <a:pt x="75346" y="105585"/>
                </a:lnTo>
                <a:lnTo>
                  <a:pt x="105648" y="75298"/>
                </a:lnTo>
                <a:lnTo>
                  <a:pt x="139918" y="49455"/>
                </a:lnTo>
                <a:lnTo>
                  <a:pt x="177683" y="28529"/>
                </a:lnTo>
                <a:lnTo>
                  <a:pt x="218466" y="12995"/>
                </a:lnTo>
                <a:lnTo>
                  <a:pt x="261792" y="3327"/>
                </a:lnTo>
                <a:lnTo>
                  <a:pt x="307187" y="0"/>
                </a:lnTo>
                <a:lnTo>
                  <a:pt x="4171124" y="0"/>
                </a:lnTo>
                <a:lnTo>
                  <a:pt x="4216522" y="3327"/>
                </a:lnTo>
                <a:lnTo>
                  <a:pt x="4259852" y="12995"/>
                </a:lnTo>
                <a:lnTo>
                  <a:pt x="4300639" y="28529"/>
                </a:lnTo>
                <a:lnTo>
                  <a:pt x="4338406" y="49455"/>
                </a:lnTo>
                <a:lnTo>
                  <a:pt x="4372679" y="75298"/>
                </a:lnTo>
                <a:lnTo>
                  <a:pt x="4402984" y="105585"/>
                </a:lnTo>
                <a:lnTo>
                  <a:pt x="4428844" y="139842"/>
                </a:lnTo>
                <a:lnTo>
                  <a:pt x="4449784" y="177594"/>
                </a:lnTo>
                <a:lnTo>
                  <a:pt x="4465330" y="218368"/>
                </a:lnTo>
                <a:lnTo>
                  <a:pt x="4475006" y="261690"/>
                </a:lnTo>
                <a:lnTo>
                  <a:pt x="4478337" y="307086"/>
                </a:lnTo>
                <a:lnTo>
                  <a:pt x="4478337" y="1535811"/>
                </a:lnTo>
                <a:lnTo>
                  <a:pt x="4475006" y="1581209"/>
                </a:lnTo>
                <a:lnTo>
                  <a:pt x="4465330" y="1624539"/>
                </a:lnTo>
                <a:lnTo>
                  <a:pt x="4449784" y="1665325"/>
                </a:lnTo>
                <a:lnTo>
                  <a:pt x="4428844" y="1703092"/>
                </a:lnTo>
                <a:lnTo>
                  <a:pt x="4402984" y="1737366"/>
                </a:lnTo>
                <a:lnTo>
                  <a:pt x="4372679" y="1767670"/>
                </a:lnTo>
                <a:lnTo>
                  <a:pt x="4338406" y="1793530"/>
                </a:lnTo>
                <a:lnTo>
                  <a:pt x="4300639" y="1814471"/>
                </a:lnTo>
                <a:lnTo>
                  <a:pt x="4259852" y="1830017"/>
                </a:lnTo>
                <a:lnTo>
                  <a:pt x="4216522" y="1839693"/>
                </a:lnTo>
                <a:lnTo>
                  <a:pt x="4171124" y="1843024"/>
                </a:lnTo>
                <a:lnTo>
                  <a:pt x="307187" y="1843024"/>
                </a:lnTo>
                <a:lnTo>
                  <a:pt x="261792" y="1839693"/>
                </a:lnTo>
                <a:lnTo>
                  <a:pt x="218466" y="1830017"/>
                </a:lnTo>
                <a:lnTo>
                  <a:pt x="177683" y="1814471"/>
                </a:lnTo>
                <a:lnTo>
                  <a:pt x="139918" y="1793530"/>
                </a:lnTo>
                <a:lnTo>
                  <a:pt x="105648" y="1767670"/>
                </a:lnTo>
                <a:lnTo>
                  <a:pt x="75346" y="1737366"/>
                </a:lnTo>
                <a:lnTo>
                  <a:pt x="49488" y="1703092"/>
                </a:lnTo>
                <a:lnTo>
                  <a:pt x="28550" y="1665325"/>
                </a:lnTo>
                <a:lnTo>
                  <a:pt x="13005" y="1624539"/>
                </a:lnTo>
                <a:lnTo>
                  <a:pt x="3330" y="1581209"/>
                </a:lnTo>
                <a:lnTo>
                  <a:pt x="0" y="1535811"/>
                </a:lnTo>
                <a:lnTo>
                  <a:pt x="0" y="307086"/>
                </a:lnTo>
                <a:close/>
              </a:path>
            </a:pathLst>
          </a:custGeom>
          <a:ln w="12700">
            <a:solidFill>
              <a:srgbClr val="000000"/>
            </a:solidFill>
          </a:ln>
        </p:spPr>
        <p:txBody>
          <a:bodyPr wrap="square" lIns="0" tIns="0" rIns="0" bIns="0" rtlCol="0"/>
          <a:lstStyle/>
          <a:p>
            <a:endParaRPr/>
          </a:p>
        </p:txBody>
      </p:sp>
      <p:sp>
        <p:nvSpPr>
          <p:cNvPr id="7" name="object 7"/>
          <p:cNvSpPr txBox="1"/>
          <p:nvPr/>
        </p:nvSpPr>
        <p:spPr>
          <a:xfrm>
            <a:off x="3643629" y="2683001"/>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sp>
        <p:nvSpPr>
          <p:cNvPr id="8" name="object 8"/>
          <p:cNvSpPr txBox="1"/>
          <p:nvPr/>
        </p:nvSpPr>
        <p:spPr>
          <a:xfrm>
            <a:off x="2982848" y="3208781"/>
            <a:ext cx="89535" cy="179070"/>
          </a:xfrm>
          <a:prstGeom prst="rect">
            <a:avLst/>
          </a:prstGeom>
        </p:spPr>
        <p:txBody>
          <a:bodyPr vert="horz" wrap="square" lIns="0" tIns="13335" rIns="0" bIns="0" rtlCol="0">
            <a:spAutoFit/>
          </a:bodyPr>
          <a:lstStyle/>
          <a:p>
            <a:pPr marL="12700">
              <a:lnSpc>
                <a:spcPct val="100000"/>
              </a:lnSpc>
              <a:spcBef>
                <a:spcPts val="105"/>
              </a:spcBef>
            </a:pPr>
            <a:r>
              <a:rPr sz="1000" dirty="0">
                <a:latin typeface="Times New Roman"/>
                <a:cs typeface="Times New Roman"/>
              </a:rPr>
              <a:t>1</a:t>
            </a:r>
            <a:endParaRPr sz="1000">
              <a:latin typeface="Times New Roman"/>
              <a:cs typeface="Times New Roman"/>
            </a:endParaRPr>
          </a:p>
        </p:txBody>
      </p:sp>
      <p:sp>
        <p:nvSpPr>
          <p:cNvPr id="9" name="object 9"/>
          <p:cNvSpPr txBox="1"/>
          <p:nvPr/>
        </p:nvSpPr>
        <p:spPr>
          <a:xfrm>
            <a:off x="6410071" y="4658614"/>
            <a:ext cx="11811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N</a:t>
            </a:r>
            <a:endParaRPr sz="1000">
              <a:latin typeface="Times New Roman"/>
              <a:cs typeface="Times New Roman"/>
            </a:endParaRPr>
          </a:p>
        </p:txBody>
      </p:sp>
      <p:sp>
        <p:nvSpPr>
          <p:cNvPr id="10" name="object 10"/>
          <p:cNvSpPr txBox="1"/>
          <p:nvPr/>
        </p:nvSpPr>
        <p:spPr>
          <a:xfrm>
            <a:off x="2982848" y="4658614"/>
            <a:ext cx="89535" cy="179070"/>
          </a:xfrm>
          <a:prstGeom prst="rect">
            <a:avLst/>
          </a:prstGeom>
        </p:spPr>
        <p:txBody>
          <a:bodyPr vert="horz" wrap="square" lIns="0" tIns="13335" rIns="0" bIns="0" rtlCol="0">
            <a:spAutoFit/>
          </a:bodyPr>
          <a:lstStyle/>
          <a:p>
            <a:pPr marL="12700">
              <a:lnSpc>
                <a:spcPct val="100000"/>
              </a:lnSpc>
              <a:spcBef>
                <a:spcPts val="105"/>
              </a:spcBef>
            </a:pPr>
            <a:r>
              <a:rPr sz="1000" dirty="0">
                <a:latin typeface="Times New Roman"/>
                <a:cs typeface="Times New Roman"/>
              </a:rPr>
              <a:t>1</a:t>
            </a:r>
            <a:endParaRPr sz="1000">
              <a:latin typeface="Times New Roman"/>
              <a:cs typeface="Times New Roman"/>
            </a:endParaRPr>
          </a:p>
        </p:txBody>
      </p:sp>
      <p:sp>
        <p:nvSpPr>
          <p:cNvPr id="11" name="object 11"/>
          <p:cNvSpPr/>
          <p:nvPr/>
        </p:nvSpPr>
        <p:spPr>
          <a:xfrm>
            <a:off x="3602101" y="2940050"/>
            <a:ext cx="395605" cy="0"/>
          </a:xfrm>
          <a:custGeom>
            <a:avLst/>
            <a:gdLst/>
            <a:ahLst/>
            <a:cxnLst/>
            <a:rect l="l" t="t" r="r" b="b"/>
            <a:pathLst>
              <a:path w="395604">
                <a:moveTo>
                  <a:pt x="395224" y="0"/>
                </a:moveTo>
                <a:lnTo>
                  <a:pt x="0" y="0"/>
                </a:lnTo>
              </a:path>
            </a:pathLst>
          </a:custGeom>
          <a:ln w="12700">
            <a:solidFill>
              <a:srgbClr val="000000"/>
            </a:solidFill>
          </a:ln>
        </p:spPr>
        <p:txBody>
          <a:bodyPr wrap="square" lIns="0" tIns="0" rIns="0" bIns="0" rtlCol="0"/>
          <a:lstStyle/>
          <a:p>
            <a:endParaRPr/>
          </a:p>
        </p:txBody>
      </p:sp>
      <p:sp>
        <p:nvSpPr>
          <p:cNvPr id="12" name="object 12"/>
          <p:cNvSpPr txBox="1"/>
          <p:nvPr/>
        </p:nvSpPr>
        <p:spPr>
          <a:xfrm>
            <a:off x="2282825" y="2543175"/>
            <a:ext cx="1319530" cy="660400"/>
          </a:xfrm>
          <a:prstGeom prst="rect">
            <a:avLst/>
          </a:prstGeom>
          <a:ln w="12700">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marL="146685">
              <a:lnSpc>
                <a:spcPct val="100000"/>
              </a:lnSpc>
              <a:spcBef>
                <a:spcPts val="880"/>
              </a:spcBef>
            </a:pPr>
            <a:r>
              <a:rPr sz="1000" spc="-5" dirty="0">
                <a:latin typeface="Times New Roman"/>
                <a:cs typeface="Times New Roman"/>
              </a:rPr>
              <a:t>PEGAWAI</a:t>
            </a:r>
            <a:endParaRPr sz="1000">
              <a:latin typeface="Times New Roman"/>
              <a:cs typeface="Times New Roman"/>
            </a:endParaRPr>
          </a:p>
        </p:txBody>
      </p:sp>
      <p:sp>
        <p:nvSpPr>
          <p:cNvPr id="13" name="object 13"/>
          <p:cNvSpPr/>
          <p:nvPr/>
        </p:nvSpPr>
        <p:spPr>
          <a:xfrm>
            <a:off x="3995801" y="2530475"/>
            <a:ext cx="1319530" cy="790575"/>
          </a:xfrm>
          <a:custGeom>
            <a:avLst/>
            <a:gdLst/>
            <a:ahLst/>
            <a:cxnLst/>
            <a:rect l="l" t="t" r="r" b="b"/>
            <a:pathLst>
              <a:path w="1319529" h="790575">
                <a:moveTo>
                  <a:pt x="0" y="395732"/>
                </a:moveTo>
                <a:lnTo>
                  <a:pt x="660019" y="0"/>
                </a:lnTo>
              </a:path>
              <a:path w="1319529" h="790575">
                <a:moveTo>
                  <a:pt x="659129" y="0"/>
                </a:moveTo>
                <a:lnTo>
                  <a:pt x="1319149" y="395732"/>
                </a:lnTo>
              </a:path>
              <a:path w="1319529" h="790575">
                <a:moveTo>
                  <a:pt x="0" y="394842"/>
                </a:moveTo>
                <a:lnTo>
                  <a:pt x="660019" y="790575"/>
                </a:lnTo>
              </a:path>
              <a:path w="1319529" h="790575">
                <a:moveTo>
                  <a:pt x="659129" y="790575"/>
                </a:moveTo>
                <a:lnTo>
                  <a:pt x="1319149" y="394842"/>
                </a:lnTo>
              </a:path>
            </a:pathLst>
          </a:custGeom>
          <a:ln w="12700">
            <a:solidFill>
              <a:srgbClr val="000000"/>
            </a:solidFill>
          </a:ln>
        </p:spPr>
        <p:txBody>
          <a:bodyPr wrap="square" lIns="0" tIns="0" rIns="0" bIns="0" rtlCol="0"/>
          <a:lstStyle/>
          <a:p>
            <a:endParaRPr/>
          </a:p>
        </p:txBody>
      </p:sp>
      <p:sp>
        <p:nvSpPr>
          <p:cNvPr id="14" name="object 14"/>
          <p:cNvSpPr txBox="1"/>
          <p:nvPr/>
        </p:nvSpPr>
        <p:spPr>
          <a:xfrm>
            <a:off x="4392548" y="2787472"/>
            <a:ext cx="419734"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K</a:t>
            </a:r>
            <a:r>
              <a:rPr sz="1000" spc="10" dirty="0">
                <a:latin typeface="Times New Roman"/>
                <a:cs typeface="Times New Roman"/>
              </a:rPr>
              <a:t>E</a:t>
            </a:r>
            <a:r>
              <a:rPr sz="1000" spc="-25" dirty="0">
                <a:latin typeface="Times New Roman"/>
                <a:cs typeface="Times New Roman"/>
              </a:rPr>
              <a:t>R</a:t>
            </a:r>
            <a:r>
              <a:rPr sz="1000" spc="-10" dirty="0">
                <a:latin typeface="Times New Roman"/>
                <a:cs typeface="Times New Roman"/>
              </a:rPr>
              <a:t>J</a:t>
            </a:r>
            <a:r>
              <a:rPr sz="1000" spc="5" dirty="0">
                <a:latin typeface="Times New Roman"/>
                <a:cs typeface="Times New Roman"/>
              </a:rPr>
              <a:t>A</a:t>
            </a:r>
            <a:endParaRPr sz="1000">
              <a:latin typeface="Times New Roman"/>
              <a:cs typeface="Times New Roman"/>
            </a:endParaRPr>
          </a:p>
        </p:txBody>
      </p:sp>
      <p:graphicFrame>
        <p:nvGraphicFramePr>
          <p:cNvPr id="15" name="object 15"/>
          <p:cNvGraphicFramePr>
            <a:graphicFrameLocks noGrp="1"/>
          </p:cNvGraphicFramePr>
          <p:nvPr/>
        </p:nvGraphicFramePr>
        <p:xfrm>
          <a:off x="5308600" y="2536825"/>
          <a:ext cx="1732280" cy="1068705"/>
        </p:xfrm>
        <a:graphic>
          <a:graphicData uri="http://schemas.openxmlformats.org/drawingml/2006/table">
            <a:tbl>
              <a:tblPr firstRow="1" bandRow="1">
                <a:tableStyleId>{2D5ABB26-0587-4C30-8999-92F81FD0307C}</a:tableStyleId>
              </a:tblPr>
              <a:tblGrid>
                <a:gridCol w="393700"/>
                <a:gridCol w="659130"/>
                <a:gridCol w="660400"/>
              </a:tblGrid>
              <a:tr h="396875">
                <a:tc>
                  <a:txBody>
                    <a:bodyPr/>
                    <a:lstStyle/>
                    <a:p>
                      <a:pPr>
                        <a:lnSpc>
                          <a:spcPct val="100000"/>
                        </a:lnSpc>
                      </a:pPr>
                      <a:endParaRPr sz="1050">
                        <a:latin typeface="Times New Roman"/>
                        <a:cs typeface="Times New Roman"/>
                      </a:endParaRPr>
                    </a:p>
                    <a:p>
                      <a:pPr marL="40640" algn="ctr">
                        <a:lnSpc>
                          <a:spcPct val="100000"/>
                        </a:lnSpc>
                      </a:pPr>
                      <a:r>
                        <a:rPr sz="1000" dirty="0">
                          <a:latin typeface="Times New Roman"/>
                          <a:cs typeface="Times New Roman"/>
                        </a:rPr>
                        <a:t>1</a:t>
                      </a:r>
                      <a:endParaRPr sz="100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rowSpan="2" gridSpan="2">
                  <a:txBody>
                    <a:bodyPr/>
                    <a:lstStyle/>
                    <a:p>
                      <a:pPr>
                        <a:lnSpc>
                          <a:spcPct val="100000"/>
                        </a:lnSpc>
                      </a:pPr>
                      <a:endParaRPr sz="1100">
                        <a:latin typeface="Times New Roman"/>
                        <a:cs typeface="Times New Roman"/>
                      </a:endParaRPr>
                    </a:p>
                    <a:p>
                      <a:pPr marL="278130">
                        <a:lnSpc>
                          <a:spcPct val="100000"/>
                        </a:lnSpc>
                        <a:spcBef>
                          <a:spcPts val="880"/>
                        </a:spcBef>
                      </a:pPr>
                      <a:r>
                        <a:rPr sz="1000" spc="-5" dirty="0">
                          <a:latin typeface="Times New Roman"/>
                          <a:cs typeface="Times New Roman"/>
                        </a:rPr>
                        <a:t>PROYEK</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hMerge="1">
                  <a:txBody>
                    <a:bodyPr/>
                    <a:lstStyle/>
                    <a:p>
                      <a:endParaRPr/>
                    </a:p>
                  </a:txBody>
                  <a:tcPr marL="0" marR="0" marT="0" marB="0"/>
                </a:tc>
              </a:tr>
              <a:tr h="263525">
                <a:tc>
                  <a:txBody>
                    <a:bodyPr/>
                    <a:lstStyle/>
                    <a:p>
                      <a:pPr>
                        <a:lnSpc>
                          <a:spcPct val="100000"/>
                        </a:lnSpc>
                      </a:pPr>
                      <a:endParaRPr sz="1000">
                        <a:latin typeface="Times New Roman"/>
                        <a:cs typeface="Times New Roman"/>
                      </a:endParaRPr>
                    </a:p>
                  </a:txBody>
                  <a:tcPr marL="0" marR="0" marT="0" marB="0">
                    <a:lnR w="12700">
                      <a:solidFill>
                        <a:srgbClr val="000000"/>
                      </a:solidFill>
                      <a:prstDash val="solid"/>
                    </a:lnR>
                    <a:lnT w="12700">
                      <a:solidFill>
                        <a:srgbClr val="000000"/>
                      </a:solidFill>
                      <a:prstDash val="solid"/>
                    </a:lnT>
                  </a:tcPr>
                </a:tc>
                <a:tc gridSpan="2"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vMerge="1">
                  <a:txBody>
                    <a:bodyPr/>
                    <a:lstStyle/>
                    <a:p>
                      <a:endParaRPr/>
                    </a:p>
                  </a:txBody>
                  <a:tcPr marL="0" marR="0" marT="0" marB="0"/>
                </a:tc>
              </a:tr>
              <a:tr h="395224">
                <a:tc gridSpan="2">
                  <a:txBody>
                    <a:bodyPr/>
                    <a:lstStyle/>
                    <a:p>
                      <a:pPr>
                        <a:lnSpc>
                          <a:spcPct val="100000"/>
                        </a:lnSpc>
                      </a:pPr>
                      <a:endParaRPr sz="1000">
                        <a:latin typeface="Times New Roman"/>
                        <a:cs typeface="Times New Roman"/>
                      </a:endParaRPr>
                    </a:p>
                  </a:txBody>
                  <a:tcPr marL="0" marR="0" marT="0" marB="0">
                    <a:lnR w="12700">
                      <a:solidFill>
                        <a:srgbClr val="000000"/>
                      </a:solidFill>
                      <a:prstDash val="solid"/>
                    </a:lnR>
                  </a:tcPr>
                </a:tc>
                <a:tc hMerge="1">
                  <a:txBody>
                    <a:bodyPr/>
                    <a:lstStyle/>
                    <a:p>
                      <a:endParaRPr/>
                    </a:p>
                  </a:txBody>
                  <a:tcPr marL="0" marR="0" marT="0" marB="0"/>
                </a:tc>
                <a:tc>
                  <a:txBody>
                    <a:bodyPr/>
                    <a:lstStyle/>
                    <a:p>
                      <a:pPr marL="55244">
                        <a:lnSpc>
                          <a:spcPct val="100000"/>
                        </a:lnSpc>
                        <a:spcBef>
                          <a:spcPts val="145"/>
                        </a:spcBef>
                      </a:pPr>
                      <a:r>
                        <a:rPr sz="1000" dirty="0">
                          <a:latin typeface="Times New Roman"/>
                          <a:cs typeface="Times New Roman"/>
                        </a:rPr>
                        <a:t>M</a:t>
                      </a:r>
                      <a:endParaRPr sz="1000">
                        <a:latin typeface="Times New Roman"/>
                        <a:cs typeface="Times New Roman"/>
                      </a:endParaRPr>
                    </a:p>
                  </a:txBody>
                  <a:tcPr marL="0" marR="0" marT="18415" marB="0">
                    <a:lnL w="12700">
                      <a:solidFill>
                        <a:srgbClr val="000000"/>
                      </a:solidFill>
                      <a:prstDash val="solid"/>
                    </a:lnL>
                    <a:lnT w="12700">
                      <a:solidFill>
                        <a:srgbClr val="000000"/>
                      </a:solidFill>
                      <a:prstDash val="solid"/>
                    </a:lnT>
                  </a:tcPr>
                </a:tc>
              </a:tr>
            </a:tbl>
          </a:graphicData>
        </a:graphic>
      </p:graphicFrame>
      <p:sp>
        <p:nvSpPr>
          <p:cNvPr id="16" name="object 16"/>
          <p:cNvSpPr txBox="1"/>
          <p:nvPr/>
        </p:nvSpPr>
        <p:spPr>
          <a:xfrm>
            <a:off x="5708650" y="4913312"/>
            <a:ext cx="1319530" cy="659130"/>
          </a:xfrm>
          <a:prstGeom prst="rect">
            <a:avLst/>
          </a:prstGeom>
          <a:ln w="12700">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marL="278130">
              <a:lnSpc>
                <a:spcPct val="100000"/>
              </a:lnSpc>
              <a:spcBef>
                <a:spcPts val="890"/>
              </a:spcBef>
            </a:pPr>
            <a:r>
              <a:rPr sz="1000" spc="-10" dirty="0">
                <a:latin typeface="Times New Roman"/>
                <a:cs typeface="Times New Roman"/>
              </a:rPr>
              <a:t>BARANG</a:t>
            </a:r>
            <a:endParaRPr sz="1000">
              <a:latin typeface="Times New Roman"/>
              <a:cs typeface="Times New Roman"/>
            </a:endParaRPr>
          </a:p>
        </p:txBody>
      </p:sp>
      <p:sp>
        <p:nvSpPr>
          <p:cNvPr id="17" name="object 17"/>
          <p:cNvSpPr txBox="1"/>
          <p:nvPr/>
        </p:nvSpPr>
        <p:spPr>
          <a:xfrm>
            <a:off x="2282825" y="4900612"/>
            <a:ext cx="1319530" cy="659130"/>
          </a:xfrm>
          <a:prstGeom prst="rect">
            <a:avLst/>
          </a:prstGeom>
          <a:ln w="12700">
            <a:solidFill>
              <a:srgbClr val="000000"/>
            </a:solidFill>
          </a:ln>
        </p:spPr>
        <p:txBody>
          <a:bodyPr vert="horz" wrap="square" lIns="0" tIns="0" rIns="0" bIns="0" rtlCol="0">
            <a:spAutoFit/>
          </a:bodyPr>
          <a:lstStyle/>
          <a:p>
            <a:pPr>
              <a:lnSpc>
                <a:spcPct val="100000"/>
              </a:lnSpc>
            </a:pPr>
            <a:endParaRPr sz="1100">
              <a:latin typeface="Times New Roman"/>
              <a:cs typeface="Times New Roman"/>
            </a:endParaRPr>
          </a:p>
          <a:p>
            <a:pPr marL="276860">
              <a:lnSpc>
                <a:spcPct val="100000"/>
              </a:lnSpc>
              <a:spcBef>
                <a:spcPts val="885"/>
              </a:spcBef>
            </a:pPr>
            <a:r>
              <a:rPr sz="1000" spc="-5" dirty="0">
                <a:latin typeface="Times New Roman"/>
                <a:cs typeface="Times New Roman"/>
              </a:rPr>
              <a:t>MOBIL</a:t>
            </a:r>
            <a:endParaRPr sz="1000">
              <a:latin typeface="Times New Roman"/>
              <a:cs typeface="Times New Roman"/>
            </a:endParaRPr>
          </a:p>
        </p:txBody>
      </p:sp>
      <p:sp>
        <p:nvSpPr>
          <p:cNvPr id="18" name="object 18"/>
          <p:cNvSpPr/>
          <p:nvPr/>
        </p:nvSpPr>
        <p:spPr>
          <a:xfrm>
            <a:off x="5708650" y="3595751"/>
            <a:ext cx="1319530" cy="790575"/>
          </a:xfrm>
          <a:custGeom>
            <a:avLst/>
            <a:gdLst/>
            <a:ahLst/>
            <a:cxnLst/>
            <a:rect l="l" t="t" r="r" b="b"/>
            <a:pathLst>
              <a:path w="1319529" h="790575">
                <a:moveTo>
                  <a:pt x="0" y="395731"/>
                </a:moveTo>
                <a:lnTo>
                  <a:pt x="660019" y="0"/>
                </a:lnTo>
              </a:path>
              <a:path w="1319529" h="790575">
                <a:moveTo>
                  <a:pt x="659129" y="0"/>
                </a:moveTo>
                <a:lnTo>
                  <a:pt x="1319276" y="395731"/>
                </a:lnTo>
              </a:path>
              <a:path w="1319529" h="790575">
                <a:moveTo>
                  <a:pt x="0" y="394716"/>
                </a:moveTo>
                <a:lnTo>
                  <a:pt x="660019" y="790448"/>
                </a:lnTo>
              </a:path>
              <a:path w="1319529" h="790575">
                <a:moveTo>
                  <a:pt x="659129" y="790448"/>
                </a:moveTo>
                <a:lnTo>
                  <a:pt x="1319276" y="394716"/>
                </a:lnTo>
              </a:path>
            </a:pathLst>
          </a:custGeom>
          <a:ln w="12700">
            <a:solidFill>
              <a:srgbClr val="000000"/>
            </a:solidFill>
          </a:ln>
        </p:spPr>
        <p:txBody>
          <a:bodyPr wrap="square" lIns="0" tIns="0" rIns="0" bIns="0" rtlCol="0"/>
          <a:lstStyle/>
          <a:p>
            <a:endParaRPr/>
          </a:p>
        </p:txBody>
      </p:sp>
      <p:sp>
        <p:nvSpPr>
          <p:cNvPr id="19" name="object 19"/>
          <p:cNvSpPr txBox="1"/>
          <p:nvPr/>
        </p:nvSpPr>
        <p:spPr>
          <a:xfrm>
            <a:off x="6106159" y="3853434"/>
            <a:ext cx="41148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PAKAI</a:t>
            </a:r>
            <a:endParaRPr sz="1000">
              <a:latin typeface="Times New Roman"/>
              <a:cs typeface="Times New Roman"/>
            </a:endParaRPr>
          </a:p>
        </p:txBody>
      </p:sp>
      <p:sp>
        <p:nvSpPr>
          <p:cNvPr id="20" name="object 20"/>
          <p:cNvSpPr txBox="1"/>
          <p:nvPr/>
        </p:nvSpPr>
        <p:spPr>
          <a:xfrm>
            <a:off x="2680461" y="3853434"/>
            <a:ext cx="447675"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DAPAT</a:t>
            </a:r>
            <a:endParaRPr sz="1000">
              <a:latin typeface="Times New Roman"/>
              <a:cs typeface="Times New Roman"/>
            </a:endParaRPr>
          </a:p>
        </p:txBody>
      </p:sp>
      <p:sp>
        <p:nvSpPr>
          <p:cNvPr id="21" name="object 21"/>
          <p:cNvSpPr/>
          <p:nvPr/>
        </p:nvSpPr>
        <p:spPr>
          <a:xfrm>
            <a:off x="6367526" y="4386198"/>
            <a:ext cx="0" cy="527050"/>
          </a:xfrm>
          <a:custGeom>
            <a:avLst/>
            <a:gdLst/>
            <a:ahLst/>
            <a:cxnLst/>
            <a:rect l="l" t="t" r="r" b="b"/>
            <a:pathLst>
              <a:path h="527050">
                <a:moveTo>
                  <a:pt x="0" y="527050"/>
                </a:moveTo>
                <a:lnTo>
                  <a:pt x="0" y="0"/>
                </a:lnTo>
              </a:path>
            </a:pathLst>
          </a:custGeom>
          <a:ln w="12700">
            <a:solidFill>
              <a:srgbClr val="000000"/>
            </a:solidFill>
          </a:ln>
        </p:spPr>
        <p:txBody>
          <a:bodyPr wrap="square" lIns="0" tIns="0" rIns="0" bIns="0" rtlCol="0"/>
          <a:lstStyle/>
          <a:p>
            <a:endParaRPr/>
          </a:p>
        </p:txBody>
      </p:sp>
      <p:sp>
        <p:nvSpPr>
          <p:cNvPr id="22" name="object 22"/>
          <p:cNvSpPr/>
          <p:nvPr/>
        </p:nvSpPr>
        <p:spPr>
          <a:xfrm>
            <a:off x="2282825" y="3203575"/>
            <a:ext cx="1319530" cy="1710055"/>
          </a:xfrm>
          <a:custGeom>
            <a:avLst/>
            <a:gdLst/>
            <a:ahLst/>
            <a:cxnLst/>
            <a:rect l="l" t="t" r="r" b="b"/>
            <a:pathLst>
              <a:path w="1319529" h="1710054">
                <a:moveTo>
                  <a:pt x="658876" y="395224"/>
                </a:moveTo>
                <a:lnTo>
                  <a:pt x="660400" y="0"/>
                </a:lnTo>
              </a:path>
              <a:path w="1319529" h="1710054">
                <a:moveTo>
                  <a:pt x="0" y="789432"/>
                </a:moveTo>
                <a:lnTo>
                  <a:pt x="660019" y="393700"/>
                </a:lnTo>
              </a:path>
              <a:path w="1319529" h="1710054">
                <a:moveTo>
                  <a:pt x="659130" y="393700"/>
                </a:moveTo>
                <a:lnTo>
                  <a:pt x="1319276" y="789432"/>
                </a:lnTo>
              </a:path>
              <a:path w="1319529" h="1710054">
                <a:moveTo>
                  <a:pt x="658876" y="1709674"/>
                </a:moveTo>
                <a:lnTo>
                  <a:pt x="660400" y="1182624"/>
                </a:lnTo>
              </a:path>
              <a:path w="1319529" h="1710054">
                <a:moveTo>
                  <a:pt x="0" y="788543"/>
                </a:moveTo>
                <a:lnTo>
                  <a:pt x="660019" y="1184275"/>
                </a:lnTo>
              </a:path>
              <a:path w="1319529" h="1710054">
                <a:moveTo>
                  <a:pt x="659130" y="1184275"/>
                </a:moveTo>
                <a:lnTo>
                  <a:pt x="1319276" y="788543"/>
                </a:lnTo>
              </a:path>
            </a:pathLst>
          </a:custGeom>
          <a:ln w="12700">
            <a:solidFill>
              <a:srgbClr val="000000"/>
            </a:solidFill>
          </a:ln>
        </p:spPr>
        <p:txBody>
          <a:bodyPr wrap="square" lIns="0" tIns="0" rIns="0" bIns="0" rtlCol="0"/>
          <a:lstStyle/>
          <a:p>
            <a:endParaRPr/>
          </a:p>
        </p:txBody>
      </p:sp>
      <p:sp>
        <p:nvSpPr>
          <p:cNvPr id="23" name="object 23"/>
          <p:cNvSpPr txBox="1"/>
          <p:nvPr/>
        </p:nvSpPr>
        <p:spPr>
          <a:xfrm>
            <a:off x="1177848" y="2396743"/>
            <a:ext cx="567055" cy="636270"/>
          </a:xfrm>
          <a:prstGeom prst="rect">
            <a:avLst/>
          </a:prstGeom>
        </p:spPr>
        <p:txBody>
          <a:bodyPr vert="horz" wrap="square" lIns="0" tIns="13335" rIns="0" bIns="0" rtlCol="0">
            <a:spAutoFit/>
          </a:bodyPr>
          <a:lstStyle/>
          <a:p>
            <a:pPr marL="12700" marR="5080">
              <a:lnSpc>
                <a:spcPct val="100000"/>
              </a:lnSpc>
              <a:spcBef>
                <a:spcPts val="105"/>
              </a:spcBef>
            </a:pPr>
            <a:r>
              <a:rPr sz="1000" u="sng" dirty="0">
                <a:uFill>
                  <a:solidFill>
                    <a:srgbClr val="000000"/>
                  </a:solidFill>
                </a:uFill>
                <a:latin typeface="Times New Roman"/>
                <a:cs typeface="Times New Roman"/>
              </a:rPr>
              <a:t>NO-PEG </a:t>
            </a:r>
            <a:r>
              <a:rPr sz="1000" spc="5" dirty="0">
                <a:latin typeface="Times New Roman"/>
                <a:cs typeface="Times New Roman"/>
              </a:rPr>
              <a:t> </a:t>
            </a:r>
            <a:r>
              <a:rPr sz="1000" spc="-5" dirty="0">
                <a:latin typeface="Times New Roman"/>
                <a:cs typeface="Times New Roman"/>
              </a:rPr>
              <a:t>NAMA </a:t>
            </a:r>
            <a:r>
              <a:rPr sz="1000" dirty="0">
                <a:latin typeface="Times New Roman"/>
                <a:cs typeface="Times New Roman"/>
              </a:rPr>
              <a:t> </a:t>
            </a:r>
            <a:r>
              <a:rPr sz="1000" spc="-5" dirty="0">
                <a:latin typeface="Times New Roman"/>
                <a:cs typeface="Times New Roman"/>
              </a:rPr>
              <a:t>A</a:t>
            </a:r>
            <a:r>
              <a:rPr sz="1000" spc="-20" dirty="0">
                <a:latin typeface="Times New Roman"/>
                <a:cs typeface="Times New Roman"/>
              </a:rPr>
              <a:t>L</a:t>
            </a:r>
            <a:r>
              <a:rPr sz="1000" spc="-5" dirty="0">
                <a:latin typeface="Times New Roman"/>
                <a:cs typeface="Times New Roman"/>
              </a:rPr>
              <a:t>AMA</a:t>
            </a:r>
            <a:r>
              <a:rPr sz="1000" dirty="0">
                <a:latin typeface="Times New Roman"/>
                <a:cs typeface="Times New Roman"/>
              </a:rPr>
              <a:t>T  </a:t>
            </a:r>
            <a:r>
              <a:rPr sz="1000" spc="-10" dirty="0">
                <a:latin typeface="Times New Roman"/>
                <a:cs typeface="Times New Roman"/>
              </a:rPr>
              <a:t>HONOR</a:t>
            </a:r>
            <a:endParaRPr sz="1000">
              <a:latin typeface="Times New Roman"/>
              <a:cs typeface="Times New Roman"/>
            </a:endParaRPr>
          </a:p>
        </p:txBody>
      </p:sp>
      <p:sp>
        <p:nvSpPr>
          <p:cNvPr id="24" name="object 24"/>
          <p:cNvSpPr txBox="1"/>
          <p:nvPr/>
        </p:nvSpPr>
        <p:spPr>
          <a:xfrm>
            <a:off x="7107428" y="2396743"/>
            <a:ext cx="587375" cy="483870"/>
          </a:xfrm>
          <a:prstGeom prst="rect">
            <a:avLst/>
          </a:prstGeom>
        </p:spPr>
        <p:txBody>
          <a:bodyPr vert="horz" wrap="square" lIns="0" tIns="13335" rIns="0" bIns="0" rtlCol="0">
            <a:spAutoFit/>
          </a:bodyPr>
          <a:lstStyle/>
          <a:p>
            <a:pPr marL="12700" marR="5080">
              <a:lnSpc>
                <a:spcPct val="100000"/>
              </a:lnSpc>
              <a:spcBef>
                <a:spcPts val="105"/>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spc="-10" dirty="0">
                <a:latin typeface="Times New Roman"/>
                <a:cs typeface="Times New Roman"/>
              </a:rPr>
              <a:t>LOKASI </a:t>
            </a:r>
            <a:r>
              <a:rPr sz="1000" spc="-5" dirty="0">
                <a:latin typeface="Times New Roman"/>
                <a:cs typeface="Times New Roman"/>
              </a:rPr>
              <a:t> </a:t>
            </a:r>
            <a:r>
              <a:rPr sz="1000" dirty="0">
                <a:latin typeface="Times New Roman"/>
                <a:cs typeface="Times New Roman"/>
              </a:rPr>
              <a:t>JENIS</a:t>
            </a:r>
            <a:endParaRPr sz="1000">
              <a:latin typeface="Times New Roman"/>
              <a:cs typeface="Times New Roman"/>
            </a:endParaRPr>
          </a:p>
        </p:txBody>
      </p:sp>
      <p:sp>
        <p:nvSpPr>
          <p:cNvPr id="25" name="object 25"/>
          <p:cNvSpPr txBox="1"/>
          <p:nvPr/>
        </p:nvSpPr>
        <p:spPr>
          <a:xfrm>
            <a:off x="4209415" y="1969388"/>
            <a:ext cx="587375" cy="331470"/>
          </a:xfrm>
          <a:prstGeom prst="rect">
            <a:avLst/>
          </a:prstGeom>
        </p:spPr>
        <p:txBody>
          <a:bodyPr vert="horz" wrap="square" lIns="0" tIns="13335" rIns="0" bIns="0" rtlCol="0">
            <a:spAutoFit/>
          </a:bodyPr>
          <a:lstStyle/>
          <a:p>
            <a:pPr marL="12700" marR="5080">
              <a:lnSpc>
                <a:spcPct val="100000"/>
              </a:lnSpc>
              <a:spcBef>
                <a:spcPts val="105"/>
              </a:spcBef>
            </a:pPr>
            <a:r>
              <a:rPr sz="1000" u="sng" dirty="0">
                <a:uFill>
                  <a:solidFill>
                    <a:srgbClr val="000000"/>
                  </a:solidFill>
                </a:uFill>
                <a:latin typeface="Times New Roman"/>
                <a:cs typeface="Times New Roman"/>
              </a:rPr>
              <a:t>NO-PEG </a:t>
            </a:r>
            <a:r>
              <a:rPr sz="1000" spc="5" dirty="0">
                <a:latin typeface="Times New Roman"/>
                <a:cs typeface="Times New Roman"/>
              </a:rPr>
              <a:t> </a:t>
            </a: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spc="5" dirty="0">
                <a:uFill>
                  <a:solidFill>
                    <a:srgbClr val="000000"/>
                  </a:solidFill>
                </a:uFill>
                <a:latin typeface="Times New Roman"/>
                <a:cs typeface="Times New Roman"/>
              </a:rPr>
              <a:t>Y</a:t>
            </a:r>
            <a:endParaRPr sz="1000">
              <a:latin typeface="Times New Roman"/>
              <a:cs typeface="Times New Roman"/>
            </a:endParaRPr>
          </a:p>
        </p:txBody>
      </p:sp>
      <p:sp>
        <p:nvSpPr>
          <p:cNvPr id="26" name="object 26"/>
          <p:cNvSpPr txBox="1"/>
          <p:nvPr/>
        </p:nvSpPr>
        <p:spPr>
          <a:xfrm>
            <a:off x="7107428" y="3581527"/>
            <a:ext cx="599440" cy="483870"/>
          </a:xfrm>
          <a:prstGeom prst="rect">
            <a:avLst/>
          </a:prstGeom>
        </p:spPr>
        <p:txBody>
          <a:bodyPr vert="horz" wrap="square" lIns="0" tIns="13335" rIns="0" bIns="0" rtlCol="0">
            <a:spAutoFit/>
          </a:bodyPr>
          <a:lstStyle/>
          <a:p>
            <a:pPr marL="12700" marR="5080" algn="just">
              <a:lnSpc>
                <a:spcPct val="100000"/>
              </a:lnSpc>
              <a:spcBef>
                <a:spcPts val="105"/>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20" dirty="0">
                <a:uFill>
                  <a:solidFill>
                    <a:srgbClr val="000000"/>
                  </a:solidFill>
                </a:uFill>
                <a:latin typeface="Times New Roman"/>
                <a:cs typeface="Times New Roman"/>
              </a:rPr>
              <a:t>BR</a:t>
            </a:r>
            <a:r>
              <a:rPr sz="1000" u="sng" spc="-5" dirty="0">
                <a:uFill>
                  <a:solidFill>
                    <a:srgbClr val="000000"/>
                  </a:solidFill>
                </a:uFill>
                <a:latin typeface="Times New Roman"/>
                <a:cs typeface="Times New Roman"/>
              </a:rPr>
              <a:t>N</a:t>
            </a:r>
            <a:r>
              <a:rPr sz="1000" u="sng" dirty="0">
                <a:uFill>
                  <a:solidFill>
                    <a:srgbClr val="000000"/>
                  </a:solidFill>
                </a:uFill>
                <a:latin typeface="Times New Roman"/>
                <a:cs typeface="Times New Roman"/>
              </a:rPr>
              <a:t>G </a:t>
            </a:r>
            <a:r>
              <a:rPr sz="1000" dirty="0">
                <a:latin typeface="Times New Roman"/>
                <a:cs typeface="Times New Roman"/>
              </a:rPr>
              <a:t> </a:t>
            </a:r>
            <a:r>
              <a:rPr sz="1000" spc="-10" dirty="0">
                <a:latin typeface="Times New Roman"/>
                <a:cs typeface="Times New Roman"/>
              </a:rPr>
              <a:t>JUMLAH</a:t>
            </a:r>
            <a:endParaRPr sz="1000">
              <a:latin typeface="Times New Roman"/>
              <a:cs typeface="Times New Roman"/>
            </a:endParaRPr>
          </a:p>
        </p:txBody>
      </p:sp>
      <p:sp>
        <p:nvSpPr>
          <p:cNvPr id="27" name="object 27"/>
          <p:cNvSpPr txBox="1"/>
          <p:nvPr/>
        </p:nvSpPr>
        <p:spPr>
          <a:xfrm>
            <a:off x="7107428" y="4767834"/>
            <a:ext cx="620395" cy="484505"/>
          </a:xfrm>
          <a:prstGeom prst="rect">
            <a:avLst/>
          </a:prstGeom>
        </p:spPr>
        <p:txBody>
          <a:bodyPr vert="horz" wrap="square" lIns="0" tIns="13335" rIns="0" bIns="0" rtlCol="0">
            <a:spAutoFit/>
          </a:bodyPr>
          <a:lstStyle/>
          <a:p>
            <a:pPr marL="12700" marR="5080" algn="just">
              <a:lnSpc>
                <a:spcPct val="100000"/>
              </a:lnSpc>
              <a:spcBef>
                <a:spcPts val="105"/>
              </a:spcBef>
            </a:pPr>
            <a:r>
              <a:rPr sz="1000" u="sng" spc="-10" dirty="0">
                <a:uFill>
                  <a:solidFill>
                    <a:srgbClr val="000000"/>
                  </a:solidFill>
                </a:uFill>
                <a:latin typeface="Times New Roman"/>
                <a:cs typeface="Times New Roman"/>
              </a:rPr>
              <a:t>KD-BRNG </a:t>
            </a:r>
            <a:r>
              <a:rPr sz="1000" spc="-240" dirty="0">
                <a:latin typeface="Times New Roman"/>
                <a:cs typeface="Times New Roman"/>
              </a:rPr>
              <a:t> </a:t>
            </a:r>
            <a:r>
              <a:rPr sz="1000" spc="-5" dirty="0">
                <a:latin typeface="Times New Roman"/>
                <a:cs typeface="Times New Roman"/>
              </a:rPr>
              <a:t>NAMA-</a:t>
            </a:r>
            <a:r>
              <a:rPr sz="1000" spc="-30" dirty="0">
                <a:latin typeface="Times New Roman"/>
                <a:cs typeface="Times New Roman"/>
              </a:rPr>
              <a:t>BR  </a:t>
            </a:r>
            <a:r>
              <a:rPr sz="1000" spc="-10" dirty="0">
                <a:latin typeface="Times New Roman"/>
                <a:cs typeface="Times New Roman"/>
              </a:rPr>
              <a:t>HAR-SAT</a:t>
            </a:r>
            <a:endParaRPr sz="1000">
              <a:latin typeface="Times New Roman"/>
              <a:cs typeface="Times New Roman"/>
            </a:endParaRPr>
          </a:p>
        </p:txBody>
      </p:sp>
      <p:sp>
        <p:nvSpPr>
          <p:cNvPr id="28" name="object 28"/>
          <p:cNvSpPr txBox="1"/>
          <p:nvPr/>
        </p:nvSpPr>
        <p:spPr>
          <a:xfrm>
            <a:off x="1177848" y="4767834"/>
            <a:ext cx="701040" cy="789305"/>
          </a:xfrm>
          <a:prstGeom prst="rect">
            <a:avLst/>
          </a:prstGeom>
        </p:spPr>
        <p:txBody>
          <a:bodyPr vert="horz" wrap="square" lIns="0" tIns="13335" rIns="0" bIns="0" rtlCol="0">
            <a:spAutoFit/>
          </a:bodyPr>
          <a:lstStyle/>
          <a:p>
            <a:pPr marL="12700" marR="5080">
              <a:lnSpc>
                <a:spcPct val="100000"/>
              </a:lnSpc>
              <a:spcBef>
                <a:spcPts val="105"/>
              </a:spcBef>
            </a:pPr>
            <a:r>
              <a:rPr sz="1000" u="sng" spc="-5" dirty="0">
                <a:uFill>
                  <a:solidFill>
                    <a:srgbClr val="000000"/>
                  </a:solidFill>
                </a:uFill>
                <a:latin typeface="Times New Roman"/>
                <a:cs typeface="Times New Roman"/>
              </a:rPr>
              <a:t>NO-POL </a:t>
            </a:r>
            <a:r>
              <a:rPr sz="1000" dirty="0">
                <a:latin typeface="Times New Roman"/>
                <a:cs typeface="Times New Roman"/>
              </a:rPr>
              <a:t> MEREK </a:t>
            </a:r>
            <a:r>
              <a:rPr sz="1000" spc="5" dirty="0">
                <a:latin typeface="Times New Roman"/>
                <a:cs typeface="Times New Roman"/>
              </a:rPr>
              <a:t> </a:t>
            </a:r>
            <a:r>
              <a:rPr sz="1000" spc="-10" dirty="0">
                <a:latin typeface="Times New Roman"/>
                <a:cs typeface="Times New Roman"/>
              </a:rPr>
              <a:t>TAHUN </a:t>
            </a:r>
            <a:r>
              <a:rPr sz="1000" spc="-5" dirty="0">
                <a:latin typeface="Times New Roman"/>
                <a:cs typeface="Times New Roman"/>
              </a:rPr>
              <a:t> </a:t>
            </a:r>
            <a:r>
              <a:rPr sz="1000" spc="-10" dirty="0">
                <a:latin typeface="Times New Roman"/>
                <a:cs typeface="Times New Roman"/>
              </a:rPr>
              <a:t>WARNA </a:t>
            </a:r>
            <a:r>
              <a:rPr sz="1000" spc="-5" dirty="0">
                <a:latin typeface="Times New Roman"/>
                <a:cs typeface="Times New Roman"/>
              </a:rPr>
              <a:t> </a:t>
            </a:r>
            <a:r>
              <a:rPr sz="1000" spc="5" dirty="0">
                <a:latin typeface="Times New Roman"/>
                <a:cs typeface="Times New Roman"/>
              </a:rPr>
              <a:t>T</a:t>
            </a:r>
            <a:r>
              <a:rPr sz="1000" spc="-5" dirty="0">
                <a:latin typeface="Times New Roman"/>
                <a:cs typeface="Times New Roman"/>
              </a:rPr>
              <a:t>G</a:t>
            </a:r>
            <a:r>
              <a:rPr sz="1000" spc="-15" dirty="0">
                <a:latin typeface="Times New Roman"/>
                <a:cs typeface="Times New Roman"/>
              </a:rPr>
              <a:t>L</a:t>
            </a:r>
            <a:r>
              <a:rPr sz="1000" dirty="0">
                <a:latin typeface="Times New Roman"/>
                <a:cs typeface="Times New Roman"/>
              </a:rPr>
              <a:t>-</a:t>
            </a:r>
            <a:r>
              <a:rPr sz="1000" spc="-10" dirty="0">
                <a:latin typeface="Times New Roman"/>
                <a:cs typeface="Times New Roman"/>
              </a:rPr>
              <a:t>PAKAI</a:t>
            </a:r>
            <a:endParaRPr sz="1000">
              <a:latin typeface="Times New Roman"/>
              <a:cs typeface="Times New Roman"/>
            </a:endParaRPr>
          </a:p>
        </p:txBody>
      </p:sp>
      <p:sp>
        <p:nvSpPr>
          <p:cNvPr id="29" name="object 29"/>
          <p:cNvSpPr txBox="1"/>
          <p:nvPr/>
        </p:nvSpPr>
        <p:spPr>
          <a:xfrm>
            <a:off x="1189126" y="3800094"/>
            <a:ext cx="492759" cy="332105"/>
          </a:xfrm>
          <a:prstGeom prst="rect">
            <a:avLst/>
          </a:prstGeom>
        </p:spPr>
        <p:txBody>
          <a:bodyPr vert="horz" wrap="square" lIns="0" tIns="13335" rIns="0" bIns="0" rtlCol="0">
            <a:spAutoFit/>
          </a:bodyPr>
          <a:lstStyle/>
          <a:p>
            <a:pPr marL="12700">
              <a:lnSpc>
                <a:spcPct val="100000"/>
              </a:lnSpc>
              <a:spcBef>
                <a:spcPts val="105"/>
              </a:spcBef>
            </a:pPr>
            <a:r>
              <a:rPr sz="1000" u="sng" spc="-5" dirty="0">
                <a:uFill>
                  <a:solidFill>
                    <a:srgbClr val="000000"/>
                  </a:solidFill>
                </a:uFill>
                <a:latin typeface="Times New Roman"/>
                <a:cs typeface="Times New Roman"/>
              </a:rPr>
              <a:t>NO</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5" dirty="0">
                <a:uFill>
                  <a:solidFill>
                    <a:srgbClr val="000000"/>
                  </a:solidFill>
                </a:uFill>
                <a:latin typeface="Times New Roman"/>
                <a:cs typeface="Times New Roman"/>
              </a:rPr>
              <a:t>EG</a:t>
            </a:r>
            <a:endParaRPr sz="1000">
              <a:latin typeface="Times New Roman"/>
              <a:cs typeface="Times New Roman"/>
            </a:endParaRPr>
          </a:p>
          <a:p>
            <a:pPr marL="12700">
              <a:lnSpc>
                <a:spcPct val="100000"/>
              </a:lnSpc>
            </a:pPr>
            <a:r>
              <a:rPr sz="1000" u="sng" spc="-5" dirty="0">
                <a:uFill>
                  <a:solidFill>
                    <a:srgbClr val="000000"/>
                  </a:solidFill>
                </a:uFill>
                <a:latin typeface="Times New Roman"/>
                <a:cs typeface="Times New Roman"/>
              </a:rPr>
              <a:t>NO-POL</a:t>
            </a:r>
            <a:endParaRPr sz="1000">
              <a:latin typeface="Times New Roman"/>
              <a:cs typeface="Times New Roman"/>
            </a:endParaRPr>
          </a:p>
        </p:txBody>
      </p:sp>
      <p:pic>
        <p:nvPicPr>
          <p:cNvPr id="30" name="object 30"/>
          <p:cNvPicPr/>
          <p:nvPr/>
        </p:nvPicPr>
        <p:blipFill>
          <a:blip r:embed="rId2" cstate="print"/>
          <a:stretch>
            <a:fillRect/>
          </a:stretch>
        </p:blipFill>
        <p:spPr>
          <a:xfrm>
            <a:off x="5180076" y="509651"/>
            <a:ext cx="3759200" cy="457200"/>
          </a:xfrm>
          <a:prstGeom prst="rect">
            <a:avLst/>
          </a:prstGeom>
        </p:spPr>
      </p:pic>
      <p:sp>
        <p:nvSpPr>
          <p:cNvPr id="31" name="object 31"/>
          <p:cNvSpPr txBox="1">
            <a:spLocks noGrp="1"/>
          </p:cNvSpPr>
          <p:nvPr>
            <p:ph type="title"/>
          </p:nvPr>
        </p:nvSpPr>
        <p:spPr>
          <a:prstGeom prst="rect">
            <a:avLst/>
          </a:prstGeom>
        </p:spPr>
        <p:txBody>
          <a:bodyPr vert="horz" wrap="square" lIns="0" tIns="13970" rIns="0" bIns="0" rtlCol="0">
            <a:spAutoFit/>
          </a:bodyPr>
          <a:lstStyle/>
          <a:p>
            <a:pPr marL="4840605">
              <a:lnSpc>
                <a:spcPct val="100000"/>
              </a:lnSpc>
              <a:spcBef>
                <a:spcPts val="110"/>
              </a:spcBef>
            </a:pPr>
            <a:r>
              <a:rPr spc="-170" dirty="0"/>
              <a:t>T</a:t>
            </a:r>
            <a:r>
              <a:rPr spc="-200" dirty="0"/>
              <a:t>R</a:t>
            </a:r>
            <a:r>
              <a:rPr spc="-185" dirty="0"/>
              <a:t>A</a:t>
            </a:r>
            <a:r>
              <a:rPr spc="-200" dirty="0"/>
              <a:t>N</a:t>
            </a:r>
            <a:r>
              <a:rPr spc="-185" dirty="0"/>
              <a:t>S</a:t>
            </a:r>
            <a:r>
              <a:rPr spc="-170" dirty="0"/>
              <a:t>F</a:t>
            </a:r>
            <a:r>
              <a:rPr spc="-225" dirty="0"/>
              <a:t>O</a:t>
            </a:r>
            <a:r>
              <a:rPr spc="-200" dirty="0"/>
              <a:t>R</a:t>
            </a:r>
            <a:r>
              <a:rPr spc="-254" dirty="0"/>
              <a:t>M</a:t>
            </a:r>
            <a:r>
              <a:rPr spc="-185" dirty="0"/>
              <a:t>A</a:t>
            </a:r>
            <a:r>
              <a:rPr spc="-210" dirty="0"/>
              <a:t>S</a:t>
            </a:r>
            <a:r>
              <a:rPr spc="-80" dirty="0"/>
              <a:t>I</a:t>
            </a:r>
            <a:r>
              <a:rPr spc="-190" dirty="0"/>
              <a:t> </a:t>
            </a:r>
            <a:r>
              <a:rPr spc="-185" dirty="0"/>
              <a:t>D</a:t>
            </a:r>
            <a:r>
              <a:rPr spc="-105" dirty="0"/>
              <a:t>-</a:t>
            </a:r>
            <a:r>
              <a:rPr spc="-185" dirty="0"/>
              <a:t>E</a:t>
            </a:r>
            <a:r>
              <a:rPr spc="-204" dirty="0"/>
              <a:t>R</a:t>
            </a:r>
            <a:r>
              <a:rPr spc="-105" dirty="0"/>
              <a:t> </a:t>
            </a:r>
            <a:r>
              <a:rPr spc="-185" dirty="0"/>
              <a:t>K</a:t>
            </a:r>
            <a:r>
              <a:rPr spc="-190" dirty="0"/>
              <a:t>E</a:t>
            </a:r>
            <a:r>
              <a:rPr spc="-105" dirty="0"/>
              <a:t> </a:t>
            </a:r>
            <a:r>
              <a:rPr spc="-155" dirty="0"/>
              <a:t>L</a:t>
            </a:r>
            <a:r>
              <a:rPr spc="-200" dirty="0"/>
              <a:t>R</a:t>
            </a:r>
            <a:r>
              <a:rPr spc="-190" dirty="0"/>
              <a: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75225" y="4206875"/>
            <a:ext cx="821055" cy="1000125"/>
          </a:xfrm>
          <a:prstGeom prst="rect">
            <a:avLst/>
          </a:prstGeom>
          <a:ln w="12700">
            <a:solidFill>
              <a:srgbClr val="000000"/>
            </a:solidFill>
          </a:ln>
        </p:spPr>
        <p:txBody>
          <a:bodyPr vert="horz" wrap="square" lIns="0" tIns="46355" rIns="0" bIns="0" rtlCol="0">
            <a:spAutoFit/>
          </a:bodyPr>
          <a:lstStyle/>
          <a:p>
            <a:pPr marL="93345" marR="241300">
              <a:lnSpc>
                <a:spcPct val="99500"/>
              </a:lnSpc>
              <a:spcBef>
                <a:spcPts val="365"/>
              </a:spcBef>
            </a:pPr>
            <a:r>
              <a:rPr sz="1000" u="sng" spc="-120" dirty="0">
                <a:uFill>
                  <a:solidFill>
                    <a:srgbClr val="000000"/>
                  </a:solidFill>
                </a:uFill>
                <a:latin typeface="Arial MT"/>
                <a:cs typeface="Arial MT"/>
              </a:rPr>
              <a:t>NO-PEG </a:t>
            </a:r>
            <a:r>
              <a:rPr sz="1000" spc="-114" dirty="0">
                <a:latin typeface="Arial MT"/>
                <a:cs typeface="Arial MT"/>
              </a:rPr>
              <a:t> </a:t>
            </a:r>
            <a:r>
              <a:rPr sz="1000" spc="-125" dirty="0">
                <a:latin typeface="Arial MT"/>
                <a:cs typeface="Arial MT"/>
              </a:rPr>
              <a:t>NAMA </a:t>
            </a:r>
            <a:r>
              <a:rPr sz="1000" spc="-120" dirty="0">
                <a:latin typeface="Arial MT"/>
                <a:cs typeface="Arial MT"/>
              </a:rPr>
              <a:t> ALAMAT </a:t>
            </a:r>
            <a:r>
              <a:rPr sz="1000" spc="-114" dirty="0">
                <a:latin typeface="Arial MT"/>
                <a:cs typeface="Arial MT"/>
              </a:rPr>
              <a:t> </a:t>
            </a:r>
            <a:r>
              <a:rPr sz="1000" spc="-125" dirty="0">
                <a:latin typeface="Arial MT"/>
                <a:cs typeface="Arial MT"/>
              </a:rPr>
              <a:t>KD</a:t>
            </a:r>
            <a:r>
              <a:rPr sz="1000" spc="-75" dirty="0">
                <a:latin typeface="Arial MT"/>
                <a:cs typeface="Arial MT"/>
              </a:rPr>
              <a:t>-</a:t>
            </a:r>
            <a:r>
              <a:rPr sz="1000" spc="-125" dirty="0">
                <a:latin typeface="Arial MT"/>
                <a:cs typeface="Arial MT"/>
              </a:rPr>
              <a:t>PR</a:t>
            </a:r>
            <a:r>
              <a:rPr sz="1000" spc="-135" dirty="0">
                <a:latin typeface="Arial MT"/>
                <a:cs typeface="Arial MT"/>
              </a:rPr>
              <a:t>O</a:t>
            </a:r>
            <a:r>
              <a:rPr sz="1000" spc="-75" dirty="0">
                <a:latin typeface="Arial MT"/>
                <a:cs typeface="Arial MT"/>
              </a:rPr>
              <a:t>Y  </a:t>
            </a:r>
            <a:r>
              <a:rPr sz="1000" spc="-110" dirty="0">
                <a:latin typeface="Arial MT"/>
                <a:cs typeface="Arial MT"/>
              </a:rPr>
              <a:t>KD-JAB</a:t>
            </a:r>
            <a:endParaRPr sz="1000">
              <a:latin typeface="Arial MT"/>
              <a:cs typeface="Arial MT"/>
            </a:endParaRPr>
          </a:p>
        </p:txBody>
      </p:sp>
      <p:sp>
        <p:nvSpPr>
          <p:cNvPr id="3" name="object 3"/>
          <p:cNvSpPr txBox="1"/>
          <p:nvPr/>
        </p:nvSpPr>
        <p:spPr>
          <a:xfrm>
            <a:off x="4271264" y="4397755"/>
            <a:ext cx="61087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t>
            </a:r>
            <a:r>
              <a:rPr sz="1000" spc="5" dirty="0">
                <a:latin typeface="Times New Roman"/>
                <a:cs typeface="Times New Roman"/>
              </a:rPr>
              <a:t>E</a:t>
            </a:r>
            <a:r>
              <a:rPr sz="1000" spc="-5" dirty="0">
                <a:latin typeface="Times New Roman"/>
                <a:cs typeface="Times New Roman"/>
              </a:rPr>
              <a:t>GA</a:t>
            </a:r>
            <a:r>
              <a:rPr sz="1000" spc="-10" dirty="0">
                <a:latin typeface="Times New Roman"/>
                <a:cs typeface="Times New Roman"/>
              </a:rPr>
              <a:t>W</a:t>
            </a:r>
            <a:r>
              <a:rPr sz="1000" spc="-5" dirty="0">
                <a:latin typeface="Times New Roman"/>
                <a:cs typeface="Times New Roman"/>
              </a:rPr>
              <a:t>A</a:t>
            </a:r>
            <a:r>
              <a:rPr sz="1000" dirty="0">
                <a:latin typeface="Times New Roman"/>
                <a:cs typeface="Times New Roman"/>
              </a:rPr>
              <a:t>I</a:t>
            </a:r>
            <a:endParaRPr sz="1000">
              <a:latin typeface="Times New Roman"/>
              <a:cs typeface="Times New Roman"/>
            </a:endParaRPr>
          </a:p>
        </p:txBody>
      </p:sp>
      <p:sp>
        <p:nvSpPr>
          <p:cNvPr id="4" name="object 4"/>
          <p:cNvSpPr txBox="1"/>
          <p:nvPr/>
        </p:nvSpPr>
        <p:spPr>
          <a:xfrm>
            <a:off x="4975225" y="5740400"/>
            <a:ext cx="968375" cy="609600"/>
          </a:xfrm>
          <a:prstGeom prst="rect">
            <a:avLst/>
          </a:prstGeom>
          <a:ln w="12700">
            <a:solidFill>
              <a:srgbClr val="000000"/>
            </a:solidFill>
          </a:ln>
        </p:spPr>
        <p:txBody>
          <a:bodyPr vert="horz" wrap="square" lIns="0" tIns="47625" rIns="0" bIns="0" rtlCol="0">
            <a:spAutoFit/>
          </a:bodyPr>
          <a:lstStyle/>
          <a:p>
            <a:pPr marL="93345" marR="224790">
              <a:lnSpc>
                <a:spcPct val="99100"/>
              </a:lnSpc>
              <a:spcBef>
                <a:spcPts val="375"/>
              </a:spcBef>
            </a:pPr>
            <a:r>
              <a:rPr sz="1000" u="sng" spc="-110" dirty="0">
                <a:uFill>
                  <a:solidFill>
                    <a:srgbClr val="000000"/>
                  </a:solidFill>
                </a:uFill>
                <a:latin typeface="Arial MT"/>
                <a:cs typeface="Arial MT"/>
              </a:rPr>
              <a:t>KD-JAB </a:t>
            </a:r>
            <a:r>
              <a:rPr sz="1000" spc="-105" dirty="0">
                <a:latin typeface="Arial MT"/>
                <a:cs typeface="Arial MT"/>
              </a:rPr>
              <a:t> </a:t>
            </a:r>
            <a:r>
              <a:rPr sz="1000" spc="-110" dirty="0">
                <a:latin typeface="Arial MT"/>
                <a:cs typeface="Arial MT"/>
              </a:rPr>
              <a:t>URAIAN </a:t>
            </a:r>
            <a:r>
              <a:rPr sz="1000" spc="-105" dirty="0">
                <a:latin typeface="Arial MT"/>
                <a:cs typeface="Arial MT"/>
              </a:rPr>
              <a:t> </a:t>
            </a:r>
            <a:r>
              <a:rPr sz="1000" spc="-120" dirty="0">
                <a:latin typeface="Arial MT"/>
                <a:cs typeface="Arial MT"/>
              </a:rPr>
              <a:t>TUN</a:t>
            </a:r>
            <a:r>
              <a:rPr sz="1000" spc="-100" dirty="0">
                <a:latin typeface="Arial MT"/>
                <a:cs typeface="Arial MT"/>
              </a:rPr>
              <a:t>J</a:t>
            </a:r>
            <a:r>
              <a:rPr sz="1000" spc="-125" dirty="0">
                <a:latin typeface="Arial MT"/>
                <a:cs typeface="Arial MT"/>
              </a:rPr>
              <a:t>AN</a:t>
            </a:r>
            <a:r>
              <a:rPr sz="1000" spc="-135" dirty="0">
                <a:latin typeface="Arial MT"/>
                <a:cs typeface="Arial MT"/>
              </a:rPr>
              <a:t>G</a:t>
            </a:r>
            <a:r>
              <a:rPr sz="1000" spc="-125" dirty="0">
                <a:latin typeface="Arial MT"/>
                <a:cs typeface="Arial MT"/>
              </a:rPr>
              <a:t>AN</a:t>
            </a:r>
            <a:endParaRPr sz="1000">
              <a:latin typeface="Arial MT"/>
              <a:cs typeface="Arial MT"/>
            </a:endParaRPr>
          </a:p>
        </p:txBody>
      </p:sp>
      <p:sp>
        <p:nvSpPr>
          <p:cNvPr id="5" name="object 5"/>
          <p:cNvSpPr txBox="1"/>
          <p:nvPr/>
        </p:nvSpPr>
        <p:spPr>
          <a:xfrm>
            <a:off x="4271264" y="5846165"/>
            <a:ext cx="602615"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J</a:t>
            </a:r>
            <a:r>
              <a:rPr sz="1000" spc="-5" dirty="0">
                <a:latin typeface="Times New Roman"/>
                <a:cs typeface="Times New Roman"/>
              </a:rPr>
              <a:t>A</a:t>
            </a:r>
            <a:r>
              <a:rPr sz="1000" spc="-20" dirty="0">
                <a:latin typeface="Times New Roman"/>
                <a:cs typeface="Times New Roman"/>
              </a:rPr>
              <a:t>B</a:t>
            </a:r>
            <a:r>
              <a:rPr sz="1000" spc="-5" dirty="0">
                <a:latin typeface="Times New Roman"/>
                <a:cs typeface="Times New Roman"/>
              </a:rPr>
              <a:t>A</a:t>
            </a:r>
            <a:r>
              <a:rPr sz="1000" spc="5" dirty="0">
                <a:latin typeface="Times New Roman"/>
                <a:cs typeface="Times New Roman"/>
              </a:rPr>
              <a:t>T</a:t>
            </a:r>
            <a:r>
              <a:rPr sz="1000" spc="-5" dirty="0">
                <a:latin typeface="Times New Roman"/>
                <a:cs typeface="Times New Roman"/>
              </a:rPr>
              <a:t>A</a:t>
            </a:r>
            <a:r>
              <a:rPr sz="1000" spc="5" dirty="0">
                <a:latin typeface="Times New Roman"/>
                <a:cs typeface="Times New Roman"/>
              </a:rPr>
              <a:t>N</a:t>
            </a:r>
            <a:endParaRPr sz="1000">
              <a:latin typeface="Times New Roman"/>
              <a:cs typeface="Times New Roman"/>
            </a:endParaRPr>
          </a:p>
        </p:txBody>
      </p:sp>
      <p:sp>
        <p:nvSpPr>
          <p:cNvPr id="6" name="object 6"/>
          <p:cNvSpPr/>
          <p:nvPr/>
        </p:nvSpPr>
        <p:spPr>
          <a:xfrm>
            <a:off x="5786373" y="4568825"/>
            <a:ext cx="1101725" cy="127000"/>
          </a:xfrm>
          <a:custGeom>
            <a:avLst/>
            <a:gdLst/>
            <a:ahLst/>
            <a:cxnLst/>
            <a:rect l="l" t="t" r="r" b="b"/>
            <a:pathLst>
              <a:path w="1101725" h="127000">
                <a:moveTo>
                  <a:pt x="127000" y="0"/>
                </a:moveTo>
                <a:lnTo>
                  <a:pt x="0" y="63500"/>
                </a:lnTo>
                <a:lnTo>
                  <a:pt x="127000" y="127000"/>
                </a:lnTo>
                <a:lnTo>
                  <a:pt x="127000" y="69850"/>
                </a:lnTo>
                <a:lnTo>
                  <a:pt x="114300" y="69850"/>
                </a:lnTo>
                <a:lnTo>
                  <a:pt x="114300" y="57150"/>
                </a:lnTo>
                <a:lnTo>
                  <a:pt x="127000" y="57150"/>
                </a:lnTo>
                <a:lnTo>
                  <a:pt x="127000" y="0"/>
                </a:lnTo>
                <a:close/>
              </a:path>
              <a:path w="1101725" h="127000">
                <a:moveTo>
                  <a:pt x="127000" y="57150"/>
                </a:moveTo>
                <a:lnTo>
                  <a:pt x="114300" y="57150"/>
                </a:lnTo>
                <a:lnTo>
                  <a:pt x="114300" y="69850"/>
                </a:lnTo>
                <a:lnTo>
                  <a:pt x="127000" y="69850"/>
                </a:lnTo>
                <a:lnTo>
                  <a:pt x="127000" y="57150"/>
                </a:lnTo>
                <a:close/>
              </a:path>
              <a:path w="1101725" h="127000">
                <a:moveTo>
                  <a:pt x="1101725" y="57150"/>
                </a:moveTo>
                <a:lnTo>
                  <a:pt x="127000" y="57150"/>
                </a:lnTo>
                <a:lnTo>
                  <a:pt x="127000" y="69850"/>
                </a:lnTo>
                <a:lnTo>
                  <a:pt x="1101725" y="69850"/>
                </a:lnTo>
                <a:lnTo>
                  <a:pt x="1101725" y="57150"/>
                </a:lnTo>
                <a:close/>
              </a:path>
            </a:pathLst>
          </a:custGeom>
          <a:solidFill>
            <a:srgbClr val="000000"/>
          </a:solidFill>
        </p:spPr>
        <p:txBody>
          <a:bodyPr wrap="square" lIns="0" tIns="0" rIns="0" bIns="0" rtlCol="0"/>
          <a:lstStyle/>
          <a:p>
            <a:endParaRPr/>
          </a:p>
        </p:txBody>
      </p:sp>
      <p:sp>
        <p:nvSpPr>
          <p:cNvPr id="7" name="object 7"/>
          <p:cNvSpPr txBox="1"/>
          <p:nvPr/>
        </p:nvSpPr>
        <p:spPr>
          <a:xfrm>
            <a:off x="6046723" y="4391025"/>
            <a:ext cx="587375"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KD</a:t>
            </a:r>
            <a:r>
              <a:rPr sz="1000" dirty="0">
                <a:latin typeface="Times New Roman"/>
                <a:cs typeface="Times New Roman"/>
              </a:rPr>
              <a:t>-</a:t>
            </a:r>
            <a:r>
              <a:rPr sz="1000" spc="-10" dirty="0">
                <a:latin typeface="Times New Roman"/>
                <a:cs typeface="Times New Roman"/>
              </a:rPr>
              <a:t>P</a:t>
            </a:r>
            <a:r>
              <a:rPr sz="1000" spc="-20" dirty="0">
                <a:latin typeface="Times New Roman"/>
                <a:cs typeface="Times New Roman"/>
              </a:rPr>
              <a:t>R</a:t>
            </a:r>
            <a:r>
              <a:rPr sz="1000" spc="-5" dirty="0">
                <a:latin typeface="Times New Roman"/>
                <a:cs typeface="Times New Roman"/>
              </a:rPr>
              <a:t>O</a:t>
            </a:r>
            <a:r>
              <a:rPr sz="1000" spc="5" dirty="0">
                <a:latin typeface="Times New Roman"/>
                <a:cs typeface="Times New Roman"/>
              </a:rPr>
              <a:t>Y</a:t>
            </a:r>
            <a:endParaRPr sz="1000">
              <a:latin typeface="Times New Roman"/>
              <a:cs typeface="Times New Roman"/>
            </a:endParaRPr>
          </a:p>
        </p:txBody>
      </p:sp>
      <p:sp>
        <p:nvSpPr>
          <p:cNvPr id="8" name="object 8"/>
          <p:cNvSpPr txBox="1"/>
          <p:nvPr/>
        </p:nvSpPr>
        <p:spPr>
          <a:xfrm>
            <a:off x="5414517" y="5403037"/>
            <a:ext cx="476250"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KD-JAB</a:t>
            </a:r>
            <a:endParaRPr sz="1000">
              <a:latin typeface="Times New Roman"/>
              <a:cs typeface="Times New Roman"/>
            </a:endParaRPr>
          </a:p>
        </p:txBody>
      </p:sp>
      <p:sp>
        <p:nvSpPr>
          <p:cNvPr id="9" name="object 9"/>
          <p:cNvSpPr/>
          <p:nvPr/>
        </p:nvSpPr>
        <p:spPr>
          <a:xfrm>
            <a:off x="5270500" y="5207000"/>
            <a:ext cx="127000" cy="527050"/>
          </a:xfrm>
          <a:custGeom>
            <a:avLst/>
            <a:gdLst/>
            <a:ahLst/>
            <a:cxnLst/>
            <a:rect l="l" t="t" r="r" b="b"/>
            <a:pathLst>
              <a:path w="127000" h="527050">
                <a:moveTo>
                  <a:pt x="69850" y="114300"/>
                </a:moveTo>
                <a:lnTo>
                  <a:pt x="57150" y="114300"/>
                </a:lnTo>
                <a:lnTo>
                  <a:pt x="57150" y="527050"/>
                </a:lnTo>
                <a:lnTo>
                  <a:pt x="69850" y="527050"/>
                </a:lnTo>
                <a:lnTo>
                  <a:pt x="69850" y="114300"/>
                </a:lnTo>
                <a:close/>
              </a:path>
              <a:path w="127000" h="527050">
                <a:moveTo>
                  <a:pt x="63500" y="0"/>
                </a:moveTo>
                <a:lnTo>
                  <a:pt x="0" y="127000"/>
                </a:lnTo>
                <a:lnTo>
                  <a:pt x="57150" y="127000"/>
                </a:lnTo>
                <a:lnTo>
                  <a:pt x="57150" y="114300"/>
                </a:lnTo>
                <a:lnTo>
                  <a:pt x="120650" y="114300"/>
                </a:lnTo>
                <a:lnTo>
                  <a:pt x="63500" y="0"/>
                </a:lnTo>
                <a:close/>
              </a:path>
              <a:path w="127000" h="527050">
                <a:moveTo>
                  <a:pt x="120650" y="114300"/>
                </a:moveTo>
                <a:lnTo>
                  <a:pt x="69850" y="114300"/>
                </a:lnTo>
                <a:lnTo>
                  <a:pt x="69850" y="127000"/>
                </a:lnTo>
                <a:lnTo>
                  <a:pt x="127000" y="127000"/>
                </a:lnTo>
                <a:lnTo>
                  <a:pt x="120650" y="114300"/>
                </a:lnTo>
                <a:close/>
              </a:path>
            </a:pathLst>
          </a:custGeom>
          <a:solidFill>
            <a:srgbClr val="000000"/>
          </a:solidFill>
        </p:spPr>
        <p:txBody>
          <a:bodyPr wrap="square" lIns="0" tIns="0" rIns="0" bIns="0" rtlCol="0"/>
          <a:lstStyle/>
          <a:p>
            <a:endParaRPr/>
          </a:p>
        </p:txBody>
      </p:sp>
      <p:sp>
        <p:nvSpPr>
          <p:cNvPr id="10" name="object 10"/>
          <p:cNvSpPr txBox="1"/>
          <p:nvPr/>
        </p:nvSpPr>
        <p:spPr>
          <a:xfrm>
            <a:off x="6867525" y="4181475"/>
            <a:ext cx="822325" cy="609600"/>
          </a:xfrm>
          <a:prstGeom prst="rect">
            <a:avLst/>
          </a:prstGeom>
          <a:ln w="12700">
            <a:solidFill>
              <a:srgbClr val="000000"/>
            </a:solidFill>
          </a:ln>
        </p:spPr>
        <p:txBody>
          <a:bodyPr vert="horz" wrap="square" lIns="0" tIns="46990" rIns="0" bIns="0" rtlCol="0">
            <a:spAutoFit/>
          </a:bodyPr>
          <a:lstStyle/>
          <a:p>
            <a:pPr marL="93345" marR="242570">
              <a:lnSpc>
                <a:spcPct val="99100"/>
              </a:lnSpc>
              <a:spcBef>
                <a:spcPts val="370"/>
              </a:spcBef>
            </a:pPr>
            <a:r>
              <a:rPr sz="1000" u="sng" spc="-125" dirty="0">
                <a:uFill>
                  <a:solidFill>
                    <a:srgbClr val="000000"/>
                  </a:solidFill>
                </a:uFill>
                <a:latin typeface="Arial MT"/>
                <a:cs typeface="Arial MT"/>
              </a:rPr>
              <a:t>KD</a:t>
            </a:r>
            <a:r>
              <a:rPr sz="1000" u="sng" spc="-75" dirty="0">
                <a:uFill>
                  <a:solidFill>
                    <a:srgbClr val="000000"/>
                  </a:solidFill>
                </a:uFill>
                <a:latin typeface="Arial MT"/>
                <a:cs typeface="Arial MT"/>
              </a:rPr>
              <a:t>-</a:t>
            </a:r>
            <a:r>
              <a:rPr sz="1000" u="sng" spc="-125" dirty="0">
                <a:uFill>
                  <a:solidFill>
                    <a:srgbClr val="000000"/>
                  </a:solidFill>
                </a:uFill>
                <a:latin typeface="Arial MT"/>
                <a:cs typeface="Arial MT"/>
              </a:rPr>
              <a:t>PR</a:t>
            </a:r>
            <a:r>
              <a:rPr sz="1000" u="sng" spc="-135" dirty="0">
                <a:uFill>
                  <a:solidFill>
                    <a:srgbClr val="000000"/>
                  </a:solidFill>
                </a:uFill>
                <a:latin typeface="Arial MT"/>
                <a:cs typeface="Arial MT"/>
              </a:rPr>
              <a:t>O</a:t>
            </a:r>
            <a:r>
              <a:rPr sz="1000" u="sng" spc="-85" dirty="0">
                <a:uFill>
                  <a:solidFill>
                    <a:srgbClr val="000000"/>
                  </a:solidFill>
                </a:uFill>
                <a:latin typeface="Arial MT"/>
                <a:cs typeface="Arial MT"/>
              </a:rPr>
              <a:t>Y </a:t>
            </a:r>
            <a:r>
              <a:rPr sz="1000" spc="-50" dirty="0">
                <a:latin typeface="Arial MT"/>
                <a:cs typeface="Arial MT"/>
              </a:rPr>
              <a:t> </a:t>
            </a:r>
            <a:r>
              <a:rPr sz="1000" spc="-105" dirty="0">
                <a:latin typeface="Arial MT"/>
                <a:cs typeface="Arial MT"/>
              </a:rPr>
              <a:t>LOKASI </a:t>
            </a:r>
            <a:r>
              <a:rPr sz="1000" spc="-100" dirty="0">
                <a:latin typeface="Arial MT"/>
                <a:cs typeface="Arial MT"/>
              </a:rPr>
              <a:t> JENIS</a:t>
            </a:r>
            <a:endParaRPr sz="1000">
              <a:latin typeface="Arial MT"/>
              <a:cs typeface="Arial MT"/>
            </a:endParaRPr>
          </a:p>
        </p:txBody>
      </p:sp>
      <p:sp>
        <p:nvSpPr>
          <p:cNvPr id="11" name="object 11"/>
          <p:cNvSpPr txBox="1"/>
          <p:nvPr/>
        </p:nvSpPr>
        <p:spPr>
          <a:xfrm>
            <a:off x="7777733" y="4321555"/>
            <a:ext cx="532765"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t>
            </a:r>
            <a:r>
              <a:rPr sz="1000" spc="-20" dirty="0">
                <a:latin typeface="Times New Roman"/>
                <a:cs typeface="Times New Roman"/>
              </a:rPr>
              <a:t>R</a:t>
            </a:r>
            <a:r>
              <a:rPr sz="1000" spc="-5" dirty="0">
                <a:latin typeface="Times New Roman"/>
                <a:cs typeface="Times New Roman"/>
              </a:rPr>
              <a:t>OY</a:t>
            </a:r>
            <a:r>
              <a:rPr sz="1000" spc="5" dirty="0">
                <a:latin typeface="Times New Roman"/>
                <a:cs typeface="Times New Roman"/>
              </a:rPr>
              <a:t>EK</a:t>
            </a:r>
            <a:endParaRPr sz="1000">
              <a:latin typeface="Times New Roman"/>
              <a:cs typeface="Times New Roman"/>
            </a:endParaRPr>
          </a:p>
        </p:txBody>
      </p:sp>
      <p:sp>
        <p:nvSpPr>
          <p:cNvPr id="12" name="object 12"/>
          <p:cNvSpPr txBox="1"/>
          <p:nvPr/>
        </p:nvSpPr>
        <p:spPr>
          <a:xfrm>
            <a:off x="6921500" y="5324475"/>
            <a:ext cx="822325" cy="574675"/>
          </a:xfrm>
          <a:prstGeom prst="rect">
            <a:avLst/>
          </a:prstGeom>
          <a:ln w="12700">
            <a:solidFill>
              <a:srgbClr val="000000"/>
            </a:solidFill>
          </a:ln>
        </p:spPr>
        <p:txBody>
          <a:bodyPr vert="horz" wrap="square" lIns="0" tIns="47625" rIns="0" bIns="0" rtlCol="0">
            <a:spAutoFit/>
          </a:bodyPr>
          <a:lstStyle/>
          <a:p>
            <a:pPr marL="93345" marR="236854" algn="just">
              <a:lnSpc>
                <a:spcPct val="99000"/>
              </a:lnSpc>
              <a:spcBef>
                <a:spcPts val="375"/>
              </a:spcBef>
            </a:pPr>
            <a:r>
              <a:rPr sz="1000" u="sng" spc="-125" dirty="0">
                <a:uFill>
                  <a:solidFill>
                    <a:srgbClr val="000000"/>
                  </a:solidFill>
                </a:uFill>
                <a:latin typeface="Arial MT"/>
                <a:cs typeface="Arial MT"/>
              </a:rPr>
              <a:t>KD</a:t>
            </a:r>
            <a:r>
              <a:rPr sz="1000" u="sng" spc="-75" dirty="0">
                <a:uFill>
                  <a:solidFill>
                    <a:srgbClr val="000000"/>
                  </a:solidFill>
                </a:uFill>
                <a:latin typeface="Arial MT"/>
                <a:cs typeface="Arial MT"/>
              </a:rPr>
              <a:t>-</a:t>
            </a:r>
            <a:r>
              <a:rPr sz="1000" u="sng" spc="-125" dirty="0">
                <a:uFill>
                  <a:solidFill>
                    <a:srgbClr val="000000"/>
                  </a:solidFill>
                </a:uFill>
                <a:latin typeface="Arial MT"/>
                <a:cs typeface="Arial MT"/>
              </a:rPr>
              <a:t>PR</a:t>
            </a:r>
            <a:r>
              <a:rPr sz="1000" u="sng" spc="-135" dirty="0">
                <a:uFill>
                  <a:solidFill>
                    <a:srgbClr val="000000"/>
                  </a:solidFill>
                </a:uFill>
                <a:latin typeface="Arial MT"/>
                <a:cs typeface="Arial MT"/>
              </a:rPr>
              <a:t>O</a:t>
            </a:r>
            <a:r>
              <a:rPr sz="1000" u="sng" spc="-85" dirty="0">
                <a:uFill>
                  <a:solidFill>
                    <a:srgbClr val="000000"/>
                  </a:solidFill>
                </a:uFill>
                <a:latin typeface="Arial MT"/>
                <a:cs typeface="Arial MT"/>
              </a:rPr>
              <a:t>Y </a:t>
            </a:r>
            <a:r>
              <a:rPr sz="1000" spc="-50" dirty="0">
                <a:latin typeface="Arial MT"/>
                <a:cs typeface="Arial MT"/>
              </a:rPr>
              <a:t> </a:t>
            </a:r>
            <a:r>
              <a:rPr sz="1000" u="sng" spc="-125" dirty="0">
                <a:uFill>
                  <a:solidFill>
                    <a:srgbClr val="000000"/>
                  </a:solidFill>
                </a:uFill>
                <a:latin typeface="Arial MT"/>
                <a:cs typeface="Arial MT"/>
              </a:rPr>
              <a:t>KD</a:t>
            </a:r>
            <a:r>
              <a:rPr sz="1000" u="sng" spc="-75" dirty="0">
                <a:uFill>
                  <a:solidFill>
                    <a:srgbClr val="000000"/>
                  </a:solidFill>
                </a:uFill>
                <a:latin typeface="Arial MT"/>
                <a:cs typeface="Arial MT"/>
              </a:rPr>
              <a:t>-</a:t>
            </a:r>
            <a:r>
              <a:rPr sz="1000" u="sng" spc="-125" dirty="0">
                <a:uFill>
                  <a:solidFill>
                    <a:srgbClr val="000000"/>
                  </a:solidFill>
                </a:uFill>
                <a:latin typeface="Arial MT"/>
                <a:cs typeface="Arial MT"/>
              </a:rPr>
              <a:t>BR</a:t>
            </a:r>
            <a:r>
              <a:rPr sz="1000" u="sng" spc="-130" dirty="0">
                <a:uFill>
                  <a:solidFill>
                    <a:srgbClr val="000000"/>
                  </a:solidFill>
                </a:uFill>
                <a:latin typeface="Arial MT"/>
                <a:cs typeface="Arial MT"/>
              </a:rPr>
              <a:t>N</a:t>
            </a:r>
            <a:r>
              <a:rPr sz="1000" u="sng" spc="-95" dirty="0">
                <a:uFill>
                  <a:solidFill>
                    <a:srgbClr val="000000"/>
                  </a:solidFill>
                </a:uFill>
                <a:latin typeface="Arial MT"/>
                <a:cs typeface="Arial MT"/>
              </a:rPr>
              <a:t>G </a:t>
            </a:r>
            <a:r>
              <a:rPr sz="1000" spc="-50" dirty="0">
                <a:latin typeface="Arial MT"/>
                <a:cs typeface="Arial MT"/>
              </a:rPr>
              <a:t> </a:t>
            </a:r>
            <a:r>
              <a:rPr sz="1000" spc="-120" dirty="0">
                <a:latin typeface="Arial MT"/>
                <a:cs typeface="Arial MT"/>
              </a:rPr>
              <a:t>JUMLAH</a:t>
            </a:r>
            <a:endParaRPr sz="1000">
              <a:latin typeface="Arial MT"/>
              <a:cs typeface="Arial MT"/>
            </a:endParaRPr>
          </a:p>
        </p:txBody>
      </p:sp>
      <p:sp>
        <p:nvSpPr>
          <p:cNvPr id="13" name="object 13"/>
          <p:cNvSpPr txBox="1"/>
          <p:nvPr/>
        </p:nvSpPr>
        <p:spPr>
          <a:xfrm>
            <a:off x="7764906" y="5506313"/>
            <a:ext cx="41148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PAKAI</a:t>
            </a:r>
            <a:endParaRPr sz="1000">
              <a:latin typeface="Times New Roman"/>
              <a:cs typeface="Times New Roman"/>
            </a:endParaRPr>
          </a:p>
        </p:txBody>
      </p:sp>
      <p:sp>
        <p:nvSpPr>
          <p:cNvPr id="14" name="object 14"/>
          <p:cNvSpPr/>
          <p:nvPr/>
        </p:nvSpPr>
        <p:spPr>
          <a:xfrm>
            <a:off x="7010400" y="6315075"/>
            <a:ext cx="822325" cy="542925"/>
          </a:xfrm>
          <a:custGeom>
            <a:avLst/>
            <a:gdLst/>
            <a:ahLst/>
            <a:cxnLst/>
            <a:rect l="l" t="t" r="r" b="b"/>
            <a:pathLst>
              <a:path w="822325" h="542925">
                <a:moveTo>
                  <a:pt x="0" y="542925"/>
                </a:moveTo>
                <a:lnTo>
                  <a:pt x="822325" y="542925"/>
                </a:lnTo>
                <a:lnTo>
                  <a:pt x="822325" y="0"/>
                </a:lnTo>
                <a:lnTo>
                  <a:pt x="0" y="0"/>
                </a:lnTo>
                <a:lnTo>
                  <a:pt x="0" y="542925"/>
                </a:lnTo>
                <a:close/>
              </a:path>
            </a:pathLst>
          </a:custGeom>
          <a:ln w="12700">
            <a:solidFill>
              <a:srgbClr val="000000"/>
            </a:solidFill>
          </a:ln>
        </p:spPr>
        <p:txBody>
          <a:bodyPr wrap="square" lIns="0" tIns="0" rIns="0" bIns="0" rtlCol="0"/>
          <a:lstStyle/>
          <a:p>
            <a:endParaRPr/>
          </a:p>
        </p:txBody>
      </p:sp>
      <p:sp>
        <p:nvSpPr>
          <p:cNvPr id="15" name="object 15"/>
          <p:cNvSpPr txBox="1"/>
          <p:nvPr/>
        </p:nvSpPr>
        <p:spPr>
          <a:xfrm>
            <a:off x="7091553" y="6347866"/>
            <a:ext cx="509905" cy="481330"/>
          </a:xfrm>
          <a:prstGeom prst="rect">
            <a:avLst/>
          </a:prstGeom>
        </p:spPr>
        <p:txBody>
          <a:bodyPr vert="horz" wrap="square" lIns="0" tIns="15240" rIns="0" bIns="0" rtlCol="0">
            <a:spAutoFit/>
          </a:bodyPr>
          <a:lstStyle/>
          <a:p>
            <a:pPr marL="12700" marR="5080" algn="just">
              <a:lnSpc>
                <a:spcPct val="99000"/>
              </a:lnSpc>
              <a:spcBef>
                <a:spcPts val="120"/>
              </a:spcBef>
            </a:pPr>
            <a:r>
              <a:rPr sz="1000" u="sng" spc="-120" dirty="0">
                <a:uFill>
                  <a:solidFill>
                    <a:srgbClr val="000000"/>
                  </a:solidFill>
                </a:uFill>
                <a:latin typeface="Arial MT"/>
                <a:cs typeface="Arial MT"/>
              </a:rPr>
              <a:t>K</a:t>
            </a:r>
            <a:r>
              <a:rPr sz="1000" u="sng" spc="-125" dirty="0">
                <a:uFill>
                  <a:solidFill>
                    <a:srgbClr val="000000"/>
                  </a:solidFill>
                </a:uFill>
                <a:latin typeface="Arial MT"/>
                <a:cs typeface="Arial MT"/>
              </a:rPr>
              <a:t>D</a:t>
            </a:r>
            <a:r>
              <a:rPr sz="1000" u="sng" spc="-75" dirty="0">
                <a:uFill>
                  <a:solidFill>
                    <a:srgbClr val="000000"/>
                  </a:solidFill>
                </a:uFill>
                <a:latin typeface="Arial MT"/>
                <a:cs typeface="Arial MT"/>
              </a:rPr>
              <a:t>-</a:t>
            </a:r>
            <a:r>
              <a:rPr sz="1000" u="sng" spc="-110" dirty="0">
                <a:uFill>
                  <a:solidFill>
                    <a:srgbClr val="000000"/>
                  </a:solidFill>
                </a:uFill>
                <a:latin typeface="Arial MT"/>
                <a:cs typeface="Arial MT"/>
              </a:rPr>
              <a:t>BRNG </a:t>
            </a:r>
            <a:r>
              <a:rPr sz="1000" spc="-50" dirty="0">
                <a:latin typeface="Arial MT"/>
                <a:cs typeface="Arial MT"/>
              </a:rPr>
              <a:t> </a:t>
            </a:r>
            <a:r>
              <a:rPr sz="1000" spc="-130" dirty="0">
                <a:latin typeface="Arial MT"/>
                <a:cs typeface="Arial MT"/>
              </a:rPr>
              <a:t>N</a:t>
            </a:r>
            <a:r>
              <a:rPr sz="1000" spc="-120" dirty="0">
                <a:latin typeface="Arial MT"/>
                <a:cs typeface="Arial MT"/>
              </a:rPr>
              <a:t>A</a:t>
            </a:r>
            <a:r>
              <a:rPr sz="1000" spc="-140" dirty="0">
                <a:latin typeface="Arial MT"/>
                <a:cs typeface="Arial MT"/>
              </a:rPr>
              <a:t>M</a:t>
            </a:r>
            <a:r>
              <a:rPr sz="1000" spc="-120" dirty="0">
                <a:latin typeface="Arial MT"/>
                <a:cs typeface="Arial MT"/>
              </a:rPr>
              <a:t>A</a:t>
            </a:r>
            <a:r>
              <a:rPr sz="1000" spc="-75" dirty="0">
                <a:latin typeface="Arial MT"/>
                <a:cs typeface="Arial MT"/>
              </a:rPr>
              <a:t>-</a:t>
            </a:r>
            <a:r>
              <a:rPr sz="1000" spc="-85" dirty="0">
                <a:latin typeface="Arial MT"/>
                <a:cs typeface="Arial MT"/>
              </a:rPr>
              <a:t>BR  </a:t>
            </a:r>
            <a:r>
              <a:rPr sz="1000" spc="-114" dirty="0">
                <a:latin typeface="Arial MT"/>
                <a:cs typeface="Arial MT"/>
              </a:rPr>
              <a:t>HAR-SAT</a:t>
            </a:r>
            <a:endParaRPr sz="1000">
              <a:latin typeface="Arial MT"/>
              <a:cs typeface="Arial MT"/>
            </a:endParaRPr>
          </a:p>
        </p:txBody>
      </p:sp>
      <p:sp>
        <p:nvSpPr>
          <p:cNvPr id="16" name="object 16"/>
          <p:cNvSpPr txBox="1"/>
          <p:nvPr/>
        </p:nvSpPr>
        <p:spPr>
          <a:xfrm>
            <a:off x="7866633" y="6497523"/>
            <a:ext cx="556895" cy="179070"/>
          </a:xfrm>
          <a:prstGeom prst="rect">
            <a:avLst/>
          </a:prstGeom>
        </p:spPr>
        <p:txBody>
          <a:bodyPr vert="horz" wrap="square" lIns="0" tIns="13335" rIns="0" bIns="0" rtlCol="0">
            <a:spAutoFit/>
          </a:bodyPr>
          <a:lstStyle/>
          <a:p>
            <a:pPr marL="12700">
              <a:lnSpc>
                <a:spcPct val="100000"/>
              </a:lnSpc>
              <a:spcBef>
                <a:spcPts val="105"/>
              </a:spcBef>
            </a:pPr>
            <a:r>
              <a:rPr sz="1000" spc="-20" dirty="0">
                <a:latin typeface="Times New Roman"/>
                <a:cs typeface="Times New Roman"/>
              </a:rPr>
              <a:t>B</a:t>
            </a:r>
            <a:r>
              <a:rPr sz="1000" spc="-5" dirty="0">
                <a:latin typeface="Times New Roman"/>
                <a:cs typeface="Times New Roman"/>
              </a:rPr>
              <a:t>A</a:t>
            </a:r>
            <a:r>
              <a:rPr sz="1000" spc="-20" dirty="0">
                <a:latin typeface="Times New Roman"/>
                <a:cs typeface="Times New Roman"/>
              </a:rPr>
              <a:t>R</a:t>
            </a:r>
            <a:r>
              <a:rPr sz="1000" spc="-5" dirty="0">
                <a:latin typeface="Times New Roman"/>
                <a:cs typeface="Times New Roman"/>
              </a:rPr>
              <a:t>AN</a:t>
            </a:r>
            <a:r>
              <a:rPr sz="1000" spc="5" dirty="0">
                <a:latin typeface="Times New Roman"/>
                <a:cs typeface="Times New Roman"/>
              </a:rPr>
              <a:t>G</a:t>
            </a:r>
            <a:endParaRPr sz="1000">
              <a:latin typeface="Times New Roman"/>
              <a:cs typeface="Times New Roman"/>
            </a:endParaRPr>
          </a:p>
        </p:txBody>
      </p:sp>
      <p:sp>
        <p:nvSpPr>
          <p:cNvPr id="17" name="object 17"/>
          <p:cNvSpPr/>
          <p:nvPr/>
        </p:nvSpPr>
        <p:spPr>
          <a:xfrm>
            <a:off x="7239000" y="4791075"/>
            <a:ext cx="127000" cy="527050"/>
          </a:xfrm>
          <a:custGeom>
            <a:avLst/>
            <a:gdLst/>
            <a:ahLst/>
            <a:cxnLst/>
            <a:rect l="l" t="t" r="r" b="b"/>
            <a:pathLst>
              <a:path w="127000" h="527050">
                <a:moveTo>
                  <a:pt x="57150" y="400050"/>
                </a:moveTo>
                <a:lnTo>
                  <a:pt x="0" y="400050"/>
                </a:lnTo>
                <a:lnTo>
                  <a:pt x="63500" y="527050"/>
                </a:lnTo>
                <a:lnTo>
                  <a:pt x="120650" y="412750"/>
                </a:lnTo>
                <a:lnTo>
                  <a:pt x="57150" y="412750"/>
                </a:lnTo>
                <a:lnTo>
                  <a:pt x="57150" y="400050"/>
                </a:lnTo>
                <a:close/>
              </a:path>
              <a:path w="127000" h="527050">
                <a:moveTo>
                  <a:pt x="69850" y="0"/>
                </a:moveTo>
                <a:lnTo>
                  <a:pt x="57150" y="0"/>
                </a:lnTo>
                <a:lnTo>
                  <a:pt x="57150" y="412750"/>
                </a:lnTo>
                <a:lnTo>
                  <a:pt x="69850" y="412750"/>
                </a:lnTo>
                <a:lnTo>
                  <a:pt x="69850" y="0"/>
                </a:lnTo>
                <a:close/>
              </a:path>
              <a:path w="127000" h="527050">
                <a:moveTo>
                  <a:pt x="127000" y="400050"/>
                </a:moveTo>
                <a:lnTo>
                  <a:pt x="69850" y="400050"/>
                </a:lnTo>
                <a:lnTo>
                  <a:pt x="69850" y="412750"/>
                </a:lnTo>
                <a:lnTo>
                  <a:pt x="120650" y="412750"/>
                </a:lnTo>
                <a:lnTo>
                  <a:pt x="127000" y="400050"/>
                </a:lnTo>
                <a:close/>
              </a:path>
            </a:pathLst>
          </a:custGeom>
          <a:solidFill>
            <a:srgbClr val="000000"/>
          </a:solidFill>
        </p:spPr>
        <p:txBody>
          <a:bodyPr wrap="square" lIns="0" tIns="0" rIns="0" bIns="0" rtlCol="0"/>
          <a:lstStyle/>
          <a:p>
            <a:endParaRPr/>
          </a:p>
        </p:txBody>
      </p:sp>
      <p:sp>
        <p:nvSpPr>
          <p:cNvPr id="18" name="object 18"/>
          <p:cNvSpPr txBox="1"/>
          <p:nvPr/>
        </p:nvSpPr>
        <p:spPr>
          <a:xfrm>
            <a:off x="7383906" y="4910709"/>
            <a:ext cx="587375"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KD</a:t>
            </a:r>
            <a:r>
              <a:rPr sz="1000" dirty="0">
                <a:latin typeface="Times New Roman"/>
                <a:cs typeface="Times New Roman"/>
              </a:rPr>
              <a:t>-</a:t>
            </a:r>
            <a:r>
              <a:rPr sz="1000" spc="-10" dirty="0">
                <a:latin typeface="Times New Roman"/>
                <a:cs typeface="Times New Roman"/>
              </a:rPr>
              <a:t>P</a:t>
            </a:r>
            <a:r>
              <a:rPr sz="1000" spc="-20" dirty="0">
                <a:latin typeface="Times New Roman"/>
                <a:cs typeface="Times New Roman"/>
              </a:rPr>
              <a:t>R</a:t>
            </a:r>
            <a:r>
              <a:rPr sz="1000" spc="-5" dirty="0">
                <a:latin typeface="Times New Roman"/>
                <a:cs typeface="Times New Roman"/>
              </a:rPr>
              <a:t>O</a:t>
            </a:r>
            <a:r>
              <a:rPr sz="1000" spc="5" dirty="0">
                <a:latin typeface="Times New Roman"/>
                <a:cs typeface="Times New Roman"/>
              </a:rPr>
              <a:t>Y</a:t>
            </a:r>
            <a:endParaRPr sz="1000">
              <a:latin typeface="Times New Roman"/>
              <a:cs typeface="Times New Roman"/>
            </a:endParaRPr>
          </a:p>
        </p:txBody>
      </p:sp>
      <p:sp>
        <p:nvSpPr>
          <p:cNvPr id="19" name="object 19"/>
          <p:cNvSpPr/>
          <p:nvPr/>
        </p:nvSpPr>
        <p:spPr>
          <a:xfrm>
            <a:off x="7280275" y="5926137"/>
            <a:ext cx="127000" cy="381000"/>
          </a:xfrm>
          <a:custGeom>
            <a:avLst/>
            <a:gdLst/>
            <a:ahLst/>
            <a:cxnLst/>
            <a:rect l="l" t="t" r="r" b="b"/>
            <a:pathLst>
              <a:path w="127000" h="381000">
                <a:moveTo>
                  <a:pt x="69850" y="114300"/>
                </a:moveTo>
                <a:lnTo>
                  <a:pt x="57150" y="114300"/>
                </a:lnTo>
                <a:lnTo>
                  <a:pt x="57150" y="381000"/>
                </a:lnTo>
                <a:lnTo>
                  <a:pt x="69850" y="381000"/>
                </a:lnTo>
                <a:lnTo>
                  <a:pt x="69850" y="114300"/>
                </a:lnTo>
                <a:close/>
              </a:path>
              <a:path w="127000" h="381000">
                <a:moveTo>
                  <a:pt x="63500" y="0"/>
                </a:moveTo>
                <a:lnTo>
                  <a:pt x="0" y="127000"/>
                </a:lnTo>
                <a:lnTo>
                  <a:pt x="57150" y="127000"/>
                </a:lnTo>
                <a:lnTo>
                  <a:pt x="57150" y="114300"/>
                </a:lnTo>
                <a:lnTo>
                  <a:pt x="120650" y="114300"/>
                </a:lnTo>
                <a:lnTo>
                  <a:pt x="63500" y="0"/>
                </a:lnTo>
                <a:close/>
              </a:path>
              <a:path w="127000" h="381000">
                <a:moveTo>
                  <a:pt x="120650" y="114300"/>
                </a:moveTo>
                <a:lnTo>
                  <a:pt x="69850" y="114300"/>
                </a:lnTo>
                <a:lnTo>
                  <a:pt x="69850" y="127000"/>
                </a:lnTo>
                <a:lnTo>
                  <a:pt x="127000" y="127000"/>
                </a:lnTo>
                <a:lnTo>
                  <a:pt x="120650" y="114300"/>
                </a:lnTo>
                <a:close/>
              </a:path>
            </a:pathLst>
          </a:custGeom>
          <a:solidFill>
            <a:srgbClr val="000000"/>
          </a:solidFill>
        </p:spPr>
        <p:txBody>
          <a:bodyPr wrap="square" lIns="0" tIns="0" rIns="0" bIns="0" rtlCol="0"/>
          <a:lstStyle/>
          <a:p>
            <a:endParaRPr/>
          </a:p>
        </p:txBody>
      </p:sp>
      <p:sp>
        <p:nvSpPr>
          <p:cNvPr id="20" name="object 20"/>
          <p:cNvSpPr txBox="1"/>
          <p:nvPr/>
        </p:nvSpPr>
        <p:spPr>
          <a:xfrm>
            <a:off x="7396353" y="6053734"/>
            <a:ext cx="600075" cy="179705"/>
          </a:xfrm>
          <a:prstGeom prst="rect">
            <a:avLst/>
          </a:prstGeom>
        </p:spPr>
        <p:txBody>
          <a:bodyPr vert="horz" wrap="square" lIns="0" tIns="13970" rIns="0" bIns="0" rtlCol="0">
            <a:spAutoFit/>
          </a:bodyPr>
          <a:lstStyle/>
          <a:p>
            <a:pPr marL="12700">
              <a:lnSpc>
                <a:spcPct val="100000"/>
              </a:lnSpc>
              <a:spcBef>
                <a:spcPts val="110"/>
              </a:spcBef>
            </a:pPr>
            <a:r>
              <a:rPr sz="1000" spc="-10" dirty="0">
                <a:latin typeface="Times New Roman"/>
                <a:cs typeface="Times New Roman"/>
              </a:rPr>
              <a:t>KD-BRNG</a:t>
            </a:r>
            <a:endParaRPr sz="1000">
              <a:latin typeface="Times New Roman"/>
              <a:cs typeface="Times New Roman"/>
            </a:endParaRPr>
          </a:p>
        </p:txBody>
      </p:sp>
      <p:sp>
        <p:nvSpPr>
          <p:cNvPr id="21" name="object 21"/>
          <p:cNvSpPr/>
          <p:nvPr/>
        </p:nvSpPr>
        <p:spPr>
          <a:xfrm>
            <a:off x="304800" y="1209675"/>
            <a:ext cx="5120005" cy="2927350"/>
          </a:xfrm>
          <a:custGeom>
            <a:avLst/>
            <a:gdLst/>
            <a:ahLst/>
            <a:cxnLst/>
            <a:rect l="l" t="t" r="r" b="b"/>
            <a:pathLst>
              <a:path w="5120005" h="2927350">
                <a:moveTo>
                  <a:pt x="3200400" y="1478279"/>
                </a:moveTo>
                <a:lnTo>
                  <a:pt x="3208782" y="1436751"/>
                </a:lnTo>
                <a:lnTo>
                  <a:pt x="3231642" y="1402841"/>
                </a:lnTo>
                <a:lnTo>
                  <a:pt x="3265551" y="1379981"/>
                </a:lnTo>
                <a:lnTo>
                  <a:pt x="3307079" y="1371600"/>
                </a:lnTo>
                <a:lnTo>
                  <a:pt x="5013071" y="1371600"/>
                </a:lnTo>
                <a:lnTo>
                  <a:pt x="5054600" y="1379982"/>
                </a:lnTo>
                <a:lnTo>
                  <a:pt x="5088509" y="1402842"/>
                </a:lnTo>
                <a:lnTo>
                  <a:pt x="5111369" y="1436751"/>
                </a:lnTo>
                <a:lnTo>
                  <a:pt x="5119751" y="1478279"/>
                </a:lnTo>
                <a:lnTo>
                  <a:pt x="5119751" y="1904746"/>
                </a:lnTo>
                <a:lnTo>
                  <a:pt x="5111369" y="1946255"/>
                </a:lnTo>
                <a:lnTo>
                  <a:pt x="5088508" y="1980120"/>
                </a:lnTo>
                <a:lnTo>
                  <a:pt x="5054599" y="2002936"/>
                </a:lnTo>
                <a:lnTo>
                  <a:pt x="5013071" y="2011299"/>
                </a:lnTo>
                <a:lnTo>
                  <a:pt x="3307079" y="2011299"/>
                </a:lnTo>
                <a:lnTo>
                  <a:pt x="3265551" y="2002936"/>
                </a:lnTo>
                <a:lnTo>
                  <a:pt x="3231641" y="1980120"/>
                </a:lnTo>
                <a:lnTo>
                  <a:pt x="3208781" y="1946255"/>
                </a:lnTo>
                <a:lnTo>
                  <a:pt x="3200400" y="1904746"/>
                </a:lnTo>
                <a:lnTo>
                  <a:pt x="3200400" y="1478279"/>
                </a:lnTo>
                <a:close/>
              </a:path>
              <a:path w="5120005" h="2927350">
                <a:moveTo>
                  <a:pt x="3200400" y="671195"/>
                </a:moveTo>
                <a:lnTo>
                  <a:pt x="3209984" y="623748"/>
                </a:lnTo>
                <a:lnTo>
                  <a:pt x="3236118" y="584993"/>
                </a:lnTo>
                <a:lnTo>
                  <a:pt x="3274873" y="558859"/>
                </a:lnTo>
                <a:lnTo>
                  <a:pt x="3322320" y="549275"/>
                </a:lnTo>
                <a:lnTo>
                  <a:pt x="4997704" y="549275"/>
                </a:lnTo>
                <a:lnTo>
                  <a:pt x="5045223" y="558859"/>
                </a:lnTo>
                <a:lnTo>
                  <a:pt x="5084016" y="584993"/>
                </a:lnTo>
                <a:lnTo>
                  <a:pt x="5110164" y="623748"/>
                </a:lnTo>
                <a:lnTo>
                  <a:pt x="5119751" y="671195"/>
                </a:lnTo>
                <a:lnTo>
                  <a:pt x="5119751" y="1159128"/>
                </a:lnTo>
                <a:lnTo>
                  <a:pt x="5110164" y="1206648"/>
                </a:lnTo>
                <a:lnTo>
                  <a:pt x="5084016" y="1245441"/>
                </a:lnTo>
                <a:lnTo>
                  <a:pt x="5045223" y="1271589"/>
                </a:lnTo>
                <a:lnTo>
                  <a:pt x="4997704" y="1281176"/>
                </a:lnTo>
                <a:lnTo>
                  <a:pt x="3322320" y="1281176"/>
                </a:lnTo>
                <a:lnTo>
                  <a:pt x="3274873" y="1271589"/>
                </a:lnTo>
                <a:lnTo>
                  <a:pt x="3236118" y="1245441"/>
                </a:lnTo>
                <a:lnTo>
                  <a:pt x="3209984" y="1206648"/>
                </a:lnTo>
                <a:lnTo>
                  <a:pt x="3200400" y="1159128"/>
                </a:lnTo>
                <a:lnTo>
                  <a:pt x="3200400" y="671195"/>
                </a:lnTo>
                <a:close/>
              </a:path>
              <a:path w="5120005" h="2927350">
                <a:moveTo>
                  <a:pt x="3200400" y="2238883"/>
                </a:moveTo>
                <a:lnTo>
                  <a:pt x="3207385" y="2195565"/>
                </a:lnTo>
                <a:lnTo>
                  <a:pt x="3226836" y="2157948"/>
                </a:lnTo>
                <a:lnTo>
                  <a:pt x="3256498" y="2128286"/>
                </a:lnTo>
                <a:lnTo>
                  <a:pt x="3294115" y="2108835"/>
                </a:lnTo>
                <a:lnTo>
                  <a:pt x="3337433" y="2101850"/>
                </a:lnTo>
                <a:lnTo>
                  <a:pt x="4982591" y="2101850"/>
                </a:lnTo>
                <a:lnTo>
                  <a:pt x="5025921" y="2108835"/>
                </a:lnTo>
                <a:lnTo>
                  <a:pt x="5063570" y="2128286"/>
                </a:lnTo>
                <a:lnTo>
                  <a:pt x="5093269" y="2157948"/>
                </a:lnTo>
                <a:lnTo>
                  <a:pt x="5112752" y="2195565"/>
                </a:lnTo>
                <a:lnTo>
                  <a:pt x="5119751" y="2238883"/>
                </a:lnTo>
                <a:lnTo>
                  <a:pt x="5119751" y="2787142"/>
                </a:lnTo>
                <a:lnTo>
                  <a:pt x="5112752" y="2830459"/>
                </a:lnTo>
                <a:lnTo>
                  <a:pt x="5093269" y="2868076"/>
                </a:lnTo>
                <a:lnTo>
                  <a:pt x="5063570" y="2897738"/>
                </a:lnTo>
                <a:lnTo>
                  <a:pt x="5025921" y="2917190"/>
                </a:lnTo>
                <a:lnTo>
                  <a:pt x="4982591" y="2924175"/>
                </a:lnTo>
                <a:lnTo>
                  <a:pt x="3337433" y="2924175"/>
                </a:lnTo>
                <a:lnTo>
                  <a:pt x="3294115" y="2917190"/>
                </a:lnTo>
                <a:lnTo>
                  <a:pt x="3256498" y="2897738"/>
                </a:lnTo>
                <a:lnTo>
                  <a:pt x="3226836" y="2868076"/>
                </a:lnTo>
                <a:lnTo>
                  <a:pt x="3207385" y="2830459"/>
                </a:lnTo>
                <a:lnTo>
                  <a:pt x="3200400" y="2787142"/>
                </a:lnTo>
                <a:lnTo>
                  <a:pt x="3200400" y="2238883"/>
                </a:lnTo>
                <a:close/>
              </a:path>
              <a:path w="5120005" h="2927350">
                <a:moveTo>
                  <a:pt x="0" y="2202434"/>
                </a:moveTo>
                <a:lnTo>
                  <a:pt x="7392" y="2156577"/>
                </a:lnTo>
                <a:lnTo>
                  <a:pt x="27977" y="2116762"/>
                </a:lnTo>
                <a:lnTo>
                  <a:pt x="59365" y="2085372"/>
                </a:lnTo>
                <a:lnTo>
                  <a:pt x="99168" y="2064790"/>
                </a:lnTo>
                <a:lnTo>
                  <a:pt x="144995" y="2057400"/>
                </a:lnTo>
                <a:lnTo>
                  <a:pt x="2233041" y="2057400"/>
                </a:lnTo>
                <a:lnTo>
                  <a:pt x="2278897" y="2064790"/>
                </a:lnTo>
                <a:lnTo>
                  <a:pt x="2318712" y="2085372"/>
                </a:lnTo>
                <a:lnTo>
                  <a:pt x="2350102" y="2116762"/>
                </a:lnTo>
                <a:lnTo>
                  <a:pt x="2370684" y="2156577"/>
                </a:lnTo>
                <a:lnTo>
                  <a:pt x="2378075" y="2202434"/>
                </a:lnTo>
                <a:lnTo>
                  <a:pt x="2378075" y="2782316"/>
                </a:lnTo>
                <a:lnTo>
                  <a:pt x="2370684" y="2828172"/>
                </a:lnTo>
                <a:lnTo>
                  <a:pt x="2350102" y="2867987"/>
                </a:lnTo>
                <a:lnTo>
                  <a:pt x="2318712" y="2899377"/>
                </a:lnTo>
                <a:lnTo>
                  <a:pt x="2278897" y="2919959"/>
                </a:lnTo>
                <a:lnTo>
                  <a:pt x="2233041" y="2927350"/>
                </a:lnTo>
                <a:lnTo>
                  <a:pt x="144995" y="2927350"/>
                </a:lnTo>
                <a:lnTo>
                  <a:pt x="99168" y="2919959"/>
                </a:lnTo>
                <a:lnTo>
                  <a:pt x="59365" y="2899377"/>
                </a:lnTo>
                <a:lnTo>
                  <a:pt x="27977" y="2867987"/>
                </a:lnTo>
                <a:lnTo>
                  <a:pt x="7392" y="2828172"/>
                </a:lnTo>
                <a:lnTo>
                  <a:pt x="0" y="2782316"/>
                </a:lnTo>
                <a:lnTo>
                  <a:pt x="0" y="2202434"/>
                </a:lnTo>
                <a:close/>
              </a:path>
              <a:path w="5120005" h="2927350">
                <a:moveTo>
                  <a:pt x="0" y="330200"/>
                </a:moveTo>
                <a:lnTo>
                  <a:pt x="3580" y="281403"/>
                </a:lnTo>
                <a:lnTo>
                  <a:pt x="13980" y="234831"/>
                </a:lnTo>
                <a:lnTo>
                  <a:pt x="30690" y="190992"/>
                </a:lnTo>
                <a:lnTo>
                  <a:pt x="53199" y="150399"/>
                </a:lnTo>
                <a:lnTo>
                  <a:pt x="80995" y="113561"/>
                </a:lnTo>
                <a:lnTo>
                  <a:pt x="113568" y="80989"/>
                </a:lnTo>
                <a:lnTo>
                  <a:pt x="150408" y="53195"/>
                </a:lnTo>
                <a:lnTo>
                  <a:pt x="191003" y="30688"/>
                </a:lnTo>
                <a:lnTo>
                  <a:pt x="234842" y="13979"/>
                </a:lnTo>
                <a:lnTo>
                  <a:pt x="281416" y="3580"/>
                </a:lnTo>
                <a:lnTo>
                  <a:pt x="330212" y="0"/>
                </a:lnTo>
                <a:lnTo>
                  <a:pt x="2778125" y="0"/>
                </a:lnTo>
                <a:lnTo>
                  <a:pt x="2826921" y="3580"/>
                </a:lnTo>
                <a:lnTo>
                  <a:pt x="2873493" y="13979"/>
                </a:lnTo>
                <a:lnTo>
                  <a:pt x="2917332" y="30688"/>
                </a:lnTo>
                <a:lnTo>
                  <a:pt x="2957925" y="53195"/>
                </a:lnTo>
                <a:lnTo>
                  <a:pt x="2994763" y="80989"/>
                </a:lnTo>
                <a:lnTo>
                  <a:pt x="3027335" y="113561"/>
                </a:lnTo>
                <a:lnTo>
                  <a:pt x="3055129" y="150399"/>
                </a:lnTo>
                <a:lnTo>
                  <a:pt x="3077636" y="190992"/>
                </a:lnTo>
                <a:lnTo>
                  <a:pt x="3094345" y="234831"/>
                </a:lnTo>
                <a:lnTo>
                  <a:pt x="3104744" y="281403"/>
                </a:lnTo>
                <a:lnTo>
                  <a:pt x="3108325" y="330200"/>
                </a:lnTo>
                <a:lnTo>
                  <a:pt x="3108325" y="1651000"/>
                </a:lnTo>
                <a:lnTo>
                  <a:pt x="3104744" y="1699796"/>
                </a:lnTo>
                <a:lnTo>
                  <a:pt x="3094345" y="1746368"/>
                </a:lnTo>
                <a:lnTo>
                  <a:pt x="3077636" y="1790207"/>
                </a:lnTo>
                <a:lnTo>
                  <a:pt x="3055129" y="1830800"/>
                </a:lnTo>
                <a:lnTo>
                  <a:pt x="3027335" y="1867638"/>
                </a:lnTo>
                <a:lnTo>
                  <a:pt x="2994763" y="1900210"/>
                </a:lnTo>
                <a:lnTo>
                  <a:pt x="2957925" y="1928004"/>
                </a:lnTo>
                <a:lnTo>
                  <a:pt x="2917332" y="1950511"/>
                </a:lnTo>
                <a:lnTo>
                  <a:pt x="2873493" y="1967220"/>
                </a:lnTo>
                <a:lnTo>
                  <a:pt x="2826921" y="1977619"/>
                </a:lnTo>
                <a:lnTo>
                  <a:pt x="2778125" y="1981200"/>
                </a:lnTo>
                <a:lnTo>
                  <a:pt x="330212" y="1981200"/>
                </a:lnTo>
                <a:lnTo>
                  <a:pt x="281416" y="1977619"/>
                </a:lnTo>
                <a:lnTo>
                  <a:pt x="234842" y="1967220"/>
                </a:lnTo>
                <a:lnTo>
                  <a:pt x="191003" y="1950511"/>
                </a:lnTo>
                <a:lnTo>
                  <a:pt x="150408" y="1928004"/>
                </a:lnTo>
                <a:lnTo>
                  <a:pt x="113568" y="1900210"/>
                </a:lnTo>
                <a:lnTo>
                  <a:pt x="80995" y="1867638"/>
                </a:lnTo>
                <a:lnTo>
                  <a:pt x="53199" y="1830800"/>
                </a:lnTo>
                <a:lnTo>
                  <a:pt x="30690" y="1790207"/>
                </a:lnTo>
                <a:lnTo>
                  <a:pt x="13980" y="1746368"/>
                </a:lnTo>
                <a:lnTo>
                  <a:pt x="3580" y="1699796"/>
                </a:lnTo>
                <a:lnTo>
                  <a:pt x="0" y="1651000"/>
                </a:lnTo>
                <a:lnTo>
                  <a:pt x="0" y="330200"/>
                </a:lnTo>
                <a:close/>
              </a:path>
            </a:pathLst>
          </a:custGeom>
          <a:ln w="12700">
            <a:solidFill>
              <a:srgbClr val="000000"/>
            </a:solidFill>
          </a:ln>
        </p:spPr>
        <p:txBody>
          <a:bodyPr wrap="square" lIns="0" tIns="0" rIns="0" bIns="0" rtlCol="0"/>
          <a:lstStyle/>
          <a:p>
            <a:endParaRPr/>
          </a:p>
        </p:txBody>
      </p:sp>
      <p:sp>
        <p:nvSpPr>
          <p:cNvPr id="22" name="object 22"/>
          <p:cNvSpPr txBox="1"/>
          <p:nvPr/>
        </p:nvSpPr>
        <p:spPr>
          <a:xfrm>
            <a:off x="2235454" y="2129408"/>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sp>
        <p:nvSpPr>
          <p:cNvPr id="23" name="object 23"/>
          <p:cNvSpPr txBox="1"/>
          <p:nvPr/>
        </p:nvSpPr>
        <p:spPr>
          <a:xfrm>
            <a:off x="1805432" y="2341829"/>
            <a:ext cx="90170"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1</a:t>
            </a:r>
            <a:endParaRPr sz="1000">
              <a:latin typeface="Times New Roman"/>
              <a:cs typeface="Times New Roman"/>
            </a:endParaRPr>
          </a:p>
        </p:txBody>
      </p:sp>
      <p:sp>
        <p:nvSpPr>
          <p:cNvPr id="24" name="object 24"/>
          <p:cNvSpPr txBox="1"/>
          <p:nvPr/>
        </p:nvSpPr>
        <p:spPr>
          <a:xfrm>
            <a:off x="4182871" y="3349244"/>
            <a:ext cx="11811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N</a:t>
            </a:r>
            <a:endParaRPr sz="1000">
              <a:latin typeface="Times New Roman"/>
              <a:cs typeface="Times New Roman"/>
            </a:endParaRPr>
          </a:p>
        </p:txBody>
      </p:sp>
      <p:sp>
        <p:nvSpPr>
          <p:cNvPr id="25" name="object 25"/>
          <p:cNvSpPr txBox="1"/>
          <p:nvPr/>
        </p:nvSpPr>
        <p:spPr>
          <a:xfrm>
            <a:off x="1805432" y="3349244"/>
            <a:ext cx="89535" cy="179070"/>
          </a:xfrm>
          <a:prstGeom prst="rect">
            <a:avLst/>
          </a:prstGeom>
        </p:spPr>
        <p:txBody>
          <a:bodyPr vert="horz" wrap="square" lIns="0" tIns="13335" rIns="0" bIns="0" rtlCol="0">
            <a:spAutoFit/>
          </a:bodyPr>
          <a:lstStyle/>
          <a:p>
            <a:pPr marL="12700">
              <a:lnSpc>
                <a:spcPct val="100000"/>
              </a:lnSpc>
              <a:spcBef>
                <a:spcPts val="105"/>
              </a:spcBef>
            </a:pPr>
            <a:r>
              <a:rPr sz="1000" dirty="0">
                <a:latin typeface="Times New Roman"/>
                <a:cs typeface="Times New Roman"/>
              </a:rPr>
              <a:t>1</a:t>
            </a:r>
            <a:endParaRPr sz="1000">
              <a:latin typeface="Times New Roman"/>
              <a:cs typeface="Times New Roman"/>
            </a:endParaRPr>
          </a:p>
        </p:txBody>
      </p:sp>
      <p:sp>
        <p:nvSpPr>
          <p:cNvPr id="26" name="object 26"/>
          <p:cNvSpPr txBox="1"/>
          <p:nvPr/>
        </p:nvSpPr>
        <p:spPr>
          <a:xfrm>
            <a:off x="3400425" y="1977008"/>
            <a:ext cx="301625" cy="179070"/>
          </a:xfrm>
          <a:prstGeom prst="rect">
            <a:avLst/>
          </a:prstGeom>
        </p:spPr>
        <p:txBody>
          <a:bodyPr vert="horz" wrap="square" lIns="0" tIns="13335" rIns="0" bIns="0" rtlCol="0">
            <a:spAutoFit/>
          </a:bodyPr>
          <a:lstStyle/>
          <a:p>
            <a:pPr marL="12700">
              <a:lnSpc>
                <a:spcPct val="100000"/>
              </a:lnSpc>
              <a:spcBef>
                <a:spcPts val="105"/>
              </a:spcBef>
            </a:pPr>
            <a:r>
              <a:rPr sz="1000" u="sng" dirty="0">
                <a:uFill>
                  <a:solidFill>
                    <a:srgbClr val="000000"/>
                  </a:solidFill>
                </a:uFill>
                <a:latin typeface="Times New Roman"/>
                <a:cs typeface="Times New Roman"/>
              </a:rPr>
              <a:t>   </a:t>
            </a:r>
            <a:r>
              <a:rPr sz="1000" u="sng" spc="114" dirty="0">
                <a:uFill>
                  <a:solidFill>
                    <a:srgbClr val="000000"/>
                  </a:solidFill>
                </a:uFill>
                <a:latin typeface="Times New Roman"/>
                <a:cs typeface="Times New Roman"/>
              </a:rPr>
              <a:t> </a:t>
            </a:r>
            <a:r>
              <a:rPr sz="1000" u="sng" dirty="0">
                <a:uFill>
                  <a:solidFill>
                    <a:srgbClr val="000000"/>
                  </a:solidFill>
                </a:uFill>
                <a:latin typeface="Times New Roman"/>
                <a:cs typeface="Times New Roman"/>
              </a:rPr>
              <a:t>1</a:t>
            </a:r>
            <a:r>
              <a:rPr sz="1000" u="sng" spc="50" dirty="0">
                <a:uFill>
                  <a:solidFill>
                    <a:srgbClr val="000000"/>
                  </a:solidFill>
                </a:uFill>
                <a:latin typeface="Times New Roman"/>
                <a:cs typeface="Times New Roman"/>
              </a:rPr>
              <a:t> </a:t>
            </a:r>
            <a:endParaRPr sz="1000">
              <a:latin typeface="Times New Roman"/>
              <a:cs typeface="Times New Roman"/>
            </a:endParaRPr>
          </a:p>
        </p:txBody>
      </p:sp>
      <p:sp>
        <p:nvSpPr>
          <p:cNvPr id="27" name="object 27"/>
          <p:cNvSpPr txBox="1"/>
          <p:nvPr/>
        </p:nvSpPr>
        <p:spPr>
          <a:xfrm>
            <a:off x="4155440" y="2494914"/>
            <a:ext cx="13970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M</a:t>
            </a:r>
            <a:endParaRPr sz="1000">
              <a:latin typeface="Times New Roman"/>
              <a:cs typeface="Times New Roman"/>
            </a:endParaRPr>
          </a:p>
        </p:txBody>
      </p:sp>
      <p:sp>
        <p:nvSpPr>
          <p:cNvPr id="28" name="object 28"/>
          <p:cNvSpPr/>
          <p:nvPr/>
        </p:nvSpPr>
        <p:spPr>
          <a:xfrm>
            <a:off x="2225675" y="2155825"/>
            <a:ext cx="274955" cy="0"/>
          </a:xfrm>
          <a:custGeom>
            <a:avLst/>
            <a:gdLst/>
            <a:ahLst/>
            <a:cxnLst/>
            <a:rect l="l" t="t" r="r" b="b"/>
            <a:pathLst>
              <a:path w="274955">
                <a:moveTo>
                  <a:pt x="274700" y="0"/>
                </a:moveTo>
                <a:lnTo>
                  <a:pt x="0" y="0"/>
                </a:lnTo>
              </a:path>
            </a:pathLst>
          </a:custGeom>
          <a:ln w="12700">
            <a:solidFill>
              <a:srgbClr val="000000"/>
            </a:solidFill>
          </a:ln>
        </p:spPr>
        <p:txBody>
          <a:bodyPr wrap="square" lIns="0" tIns="0" rIns="0" bIns="0" rtlCol="0"/>
          <a:lstStyle/>
          <a:p>
            <a:endParaRPr/>
          </a:p>
        </p:txBody>
      </p:sp>
      <p:sp>
        <p:nvSpPr>
          <p:cNvPr id="29" name="object 29"/>
          <p:cNvSpPr txBox="1"/>
          <p:nvPr/>
        </p:nvSpPr>
        <p:spPr>
          <a:xfrm>
            <a:off x="1311275" y="1881251"/>
            <a:ext cx="914400" cy="457200"/>
          </a:xfrm>
          <a:prstGeom prst="rect">
            <a:avLst/>
          </a:prstGeom>
          <a:ln w="12700">
            <a:solidFill>
              <a:srgbClr val="000000"/>
            </a:solidFill>
          </a:ln>
        </p:spPr>
        <p:txBody>
          <a:bodyPr vert="horz" wrap="square" lIns="0" tIns="1270" rIns="0" bIns="0" rtlCol="0">
            <a:spAutoFit/>
          </a:bodyPr>
          <a:lstStyle/>
          <a:p>
            <a:pPr>
              <a:lnSpc>
                <a:spcPct val="100000"/>
              </a:lnSpc>
              <a:spcBef>
                <a:spcPts val="10"/>
              </a:spcBef>
            </a:pPr>
            <a:endParaRPr sz="1300">
              <a:latin typeface="Times New Roman"/>
              <a:cs typeface="Times New Roman"/>
            </a:endParaRPr>
          </a:p>
          <a:p>
            <a:pPr marL="103505">
              <a:lnSpc>
                <a:spcPct val="100000"/>
              </a:lnSpc>
            </a:pPr>
            <a:r>
              <a:rPr sz="1000" spc="-5" dirty="0">
                <a:latin typeface="Times New Roman"/>
                <a:cs typeface="Times New Roman"/>
              </a:rPr>
              <a:t>PEGAWAI</a:t>
            </a:r>
            <a:endParaRPr sz="1000">
              <a:latin typeface="Times New Roman"/>
              <a:cs typeface="Times New Roman"/>
            </a:endParaRPr>
          </a:p>
        </p:txBody>
      </p:sp>
      <p:sp>
        <p:nvSpPr>
          <p:cNvPr id="30" name="object 30"/>
          <p:cNvSpPr/>
          <p:nvPr/>
        </p:nvSpPr>
        <p:spPr>
          <a:xfrm>
            <a:off x="2500376" y="1871726"/>
            <a:ext cx="914400" cy="549275"/>
          </a:xfrm>
          <a:custGeom>
            <a:avLst/>
            <a:gdLst/>
            <a:ahLst/>
            <a:cxnLst/>
            <a:rect l="l" t="t" r="r" b="b"/>
            <a:pathLst>
              <a:path w="914400" h="549275">
                <a:moveTo>
                  <a:pt x="0" y="274827"/>
                </a:moveTo>
                <a:lnTo>
                  <a:pt x="457454" y="0"/>
                </a:lnTo>
              </a:path>
              <a:path w="914400" h="549275">
                <a:moveTo>
                  <a:pt x="456819" y="0"/>
                </a:moveTo>
                <a:lnTo>
                  <a:pt x="914400" y="274827"/>
                </a:lnTo>
              </a:path>
              <a:path w="914400" h="549275">
                <a:moveTo>
                  <a:pt x="0" y="274320"/>
                </a:moveTo>
                <a:lnTo>
                  <a:pt x="457454" y="549275"/>
                </a:lnTo>
              </a:path>
              <a:path w="914400" h="549275">
                <a:moveTo>
                  <a:pt x="456819" y="549275"/>
                </a:moveTo>
                <a:lnTo>
                  <a:pt x="914400" y="274320"/>
                </a:lnTo>
              </a:path>
            </a:pathLst>
          </a:custGeom>
          <a:ln w="12700">
            <a:solidFill>
              <a:srgbClr val="000000"/>
            </a:solidFill>
          </a:ln>
        </p:spPr>
        <p:txBody>
          <a:bodyPr wrap="square" lIns="0" tIns="0" rIns="0" bIns="0" rtlCol="0"/>
          <a:lstStyle/>
          <a:p>
            <a:endParaRPr/>
          </a:p>
        </p:txBody>
      </p:sp>
      <p:sp>
        <p:nvSpPr>
          <p:cNvPr id="31" name="object 31"/>
          <p:cNvSpPr txBox="1"/>
          <p:nvPr/>
        </p:nvSpPr>
        <p:spPr>
          <a:xfrm>
            <a:off x="2775966" y="2048967"/>
            <a:ext cx="419734"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K</a:t>
            </a:r>
            <a:r>
              <a:rPr sz="1000" spc="10" dirty="0">
                <a:latin typeface="Times New Roman"/>
                <a:cs typeface="Times New Roman"/>
              </a:rPr>
              <a:t>E</a:t>
            </a:r>
            <a:r>
              <a:rPr sz="1000" spc="-25" dirty="0">
                <a:latin typeface="Times New Roman"/>
                <a:cs typeface="Times New Roman"/>
              </a:rPr>
              <a:t>R</a:t>
            </a:r>
            <a:r>
              <a:rPr sz="1000" spc="-10" dirty="0">
                <a:latin typeface="Times New Roman"/>
                <a:cs typeface="Times New Roman"/>
              </a:rPr>
              <a:t>J</a:t>
            </a:r>
            <a:r>
              <a:rPr sz="1000" spc="5" dirty="0">
                <a:latin typeface="Times New Roman"/>
                <a:cs typeface="Times New Roman"/>
              </a:rPr>
              <a:t>A</a:t>
            </a:r>
            <a:endParaRPr sz="1000">
              <a:latin typeface="Times New Roman"/>
              <a:cs typeface="Times New Roman"/>
            </a:endParaRPr>
          </a:p>
        </p:txBody>
      </p:sp>
      <p:sp>
        <p:nvSpPr>
          <p:cNvPr id="32" name="object 32"/>
          <p:cNvSpPr txBox="1"/>
          <p:nvPr/>
        </p:nvSpPr>
        <p:spPr>
          <a:xfrm>
            <a:off x="3687826" y="1881251"/>
            <a:ext cx="916305" cy="457200"/>
          </a:xfrm>
          <a:prstGeom prst="rect">
            <a:avLst/>
          </a:prstGeom>
          <a:ln w="12700">
            <a:solidFill>
              <a:srgbClr val="000000"/>
            </a:solidFill>
          </a:ln>
        </p:spPr>
        <p:txBody>
          <a:bodyPr vert="horz" wrap="square" lIns="0" tIns="1270" rIns="0" bIns="0" rtlCol="0">
            <a:spAutoFit/>
          </a:bodyPr>
          <a:lstStyle/>
          <a:p>
            <a:pPr>
              <a:lnSpc>
                <a:spcPct val="100000"/>
              </a:lnSpc>
              <a:spcBef>
                <a:spcPts val="10"/>
              </a:spcBef>
            </a:pPr>
            <a:endParaRPr sz="1300">
              <a:latin typeface="Times New Roman"/>
              <a:cs typeface="Times New Roman"/>
            </a:endParaRPr>
          </a:p>
          <a:p>
            <a:pPr marL="196215">
              <a:lnSpc>
                <a:spcPct val="100000"/>
              </a:lnSpc>
            </a:pPr>
            <a:r>
              <a:rPr sz="1000" spc="-5" dirty="0">
                <a:latin typeface="Times New Roman"/>
                <a:cs typeface="Times New Roman"/>
              </a:rPr>
              <a:t>PROYEK</a:t>
            </a:r>
            <a:endParaRPr sz="1000">
              <a:latin typeface="Times New Roman"/>
              <a:cs typeface="Times New Roman"/>
            </a:endParaRPr>
          </a:p>
        </p:txBody>
      </p:sp>
      <p:sp>
        <p:nvSpPr>
          <p:cNvPr id="33" name="object 33"/>
          <p:cNvSpPr txBox="1"/>
          <p:nvPr/>
        </p:nvSpPr>
        <p:spPr>
          <a:xfrm>
            <a:off x="3687826" y="3527425"/>
            <a:ext cx="916305" cy="457200"/>
          </a:xfrm>
          <a:prstGeom prst="rect">
            <a:avLst/>
          </a:prstGeom>
          <a:ln w="12700">
            <a:solidFill>
              <a:srgbClr val="000000"/>
            </a:solidFill>
          </a:ln>
        </p:spPr>
        <p:txBody>
          <a:bodyPr vert="horz" wrap="square" lIns="0" tIns="1905" rIns="0" bIns="0" rtlCol="0">
            <a:spAutoFit/>
          </a:bodyPr>
          <a:lstStyle/>
          <a:p>
            <a:pPr>
              <a:lnSpc>
                <a:spcPct val="100000"/>
              </a:lnSpc>
              <a:spcBef>
                <a:spcPts val="15"/>
              </a:spcBef>
            </a:pPr>
            <a:endParaRPr sz="1300">
              <a:latin typeface="Times New Roman"/>
              <a:cs typeface="Times New Roman"/>
            </a:endParaRPr>
          </a:p>
          <a:p>
            <a:pPr marL="196215">
              <a:lnSpc>
                <a:spcPct val="100000"/>
              </a:lnSpc>
            </a:pPr>
            <a:r>
              <a:rPr sz="1000" spc="-10" dirty="0">
                <a:latin typeface="Times New Roman"/>
                <a:cs typeface="Times New Roman"/>
              </a:rPr>
              <a:t>BARANG</a:t>
            </a:r>
            <a:endParaRPr sz="1000">
              <a:latin typeface="Times New Roman"/>
              <a:cs typeface="Times New Roman"/>
            </a:endParaRPr>
          </a:p>
        </p:txBody>
      </p:sp>
      <p:sp>
        <p:nvSpPr>
          <p:cNvPr id="34" name="object 34"/>
          <p:cNvSpPr txBox="1"/>
          <p:nvPr/>
        </p:nvSpPr>
        <p:spPr>
          <a:xfrm>
            <a:off x="1311275" y="3517900"/>
            <a:ext cx="914400" cy="457200"/>
          </a:xfrm>
          <a:prstGeom prst="rect">
            <a:avLst/>
          </a:prstGeom>
          <a:ln w="12700">
            <a:solidFill>
              <a:srgbClr val="000000"/>
            </a:solidFill>
          </a:ln>
        </p:spPr>
        <p:txBody>
          <a:bodyPr vert="horz" wrap="square" lIns="0" tIns="1905" rIns="0" bIns="0" rtlCol="0">
            <a:spAutoFit/>
          </a:bodyPr>
          <a:lstStyle/>
          <a:p>
            <a:pPr>
              <a:lnSpc>
                <a:spcPct val="100000"/>
              </a:lnSpc>
              <a:spcBef>
                <a:spcPts val="15"/>
              </a:spcBef>
            </a:pPr>
            <a:endParaRPr sz="1300">
              <a:latin typeface="Times New Roman"/>
              <a:cs typeface="Times New Roman"/>
            </a:endParaRPr>
          </a:p>
          <a:p>
            <a:pPr marL="195580">
              <a:lnSpc>
                <a:spcPct val="100000"/>
              </a:lnSpc>
            </a:pPr>
            <a:r>
              <a:rPr sz="1000" spc="-5" dirty="0">
                <a:latin typeface="Times New Roman"/>
                <a:cs typeface="Times New Roman"/>
              </a:rPr>
              <a:t>JABATAN</a:t>
            </a:r>
            <a:endParaRPr sz="1000">
              <a:latin typeface="Times New Roman"/>
              <a:cs typeface="Times New Roman"/>
            </a:endParaRPr>
          </a:p>
        </p:txBody>
      </p:sp>
      <p:sp>
        <p:nvSpPr>
          <p:cNvPr id="35" name="object 35"/>
          <p:cNvSpPr/>
          <p:nvPr/>
        </p:nvSpPr>
        <p:spPr>
          <a:xfrm>
            <a:off x="3687826" y="2611501"/>
            <a:ext cx="916305" cy="549275"/>
          </a:xfrm>
          <a:custGeom>
            <a:avLst/>
            <a:gdLst/>
            <a:ahLst/>
            <a:cxnLst/>
            <a:rect l="l" t="t" r="r" b="b"/>
            <a:pathLst>
              <a:path w="916304" h="549275">
                <a:moveTo>
                  <a:pt x="0" y="274827"/>
                </a:moveTo>
                <a:lnTo>
                  <a:pt x="458215" y="0"/>
                </a:lnTo>
              </a:path>
              <a:path w="916304" h="549275">
                <a:moveTo>
                  <a:pt x="457581" y="0"/>
                </a:moveTo>
                <a:lnTo>
                  <a:pt x="915924" y="274827"/>
                </a:lnTo>
              </a:path>
              <a:path w="916304" h="549275">
                <a:moveTo>
                  <a:pt x="0" y="274320"/>
                </a:moveTo>
                <a:lnTo>
                  <a:pt x="458215" y="549148"/>
                </a:lnTo>
              </a:path>
              <a:path w="916304" h="549275">
                <a:moveTo>
                  <a:pt x="457581" y="549148"/>
                </a:moveTo>
                <a:lnTo>
                  <a:pt x="915924" y="274320"/>
                </a:lnTo>
              </a:path>
            </a:pathLst>
          </a:custGeom>
          <a:ln w="12700">
            <a:solidFill>
              <a:srgbClr val="000000"/>
            </a:solidFill>
          </a:ln>
        </p:spPr>
        <p:txBody>
          <a:bodyPr wrap="square" lIns="0" tIns="0" rIns="0" bIns="0" rtlCol="0"/>
          <a:lstStyle/>
          <a:p>
            <a:endParaRPr/>
          </a:p>
        </p:txBody>
      </p:sp>
      <p:sp>
        <p:nvSpPr>
          <p:cNvPr id="36" name="object 36"/>
          <p:cNvSpPr txBox="1"/>
          <p:nvPr/>
        </p:nvSpPr>
        <p:spPr>
          <a:xfrm>
            <a:off x="3963670" y="2789300"/>
            <a:ext cx="41148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PAKAI</a:t>
            </a:r>
            <a:endParaRPr sz="1000">
              <a:latin typeface="Times New Roman"/>
              <a:cs typeface="Times New Roman"/>
            </a:endParaRPr>
          </a:p>
        </p:txBody>
      </p:sp>
      <p:sp>
        <p:nvSpPr>
          <p:cNvPr id="37" name="object 37"/>
          <p:cNvSpPr txBox="1"/>
          <p:nvPr/>
        </p:nvSpPr>
        <p:spPr>
          <a:xfrm>
            <a:off x="1586611" y="2789300"/>
            <a:ext cx="45974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t>
            </a:r>
            <a:r>
              <a:rPr sz="1000" spc="-30" dirty="0">
                <a:latin typeface="Times New Roman"/>
                <a:cs typeface="Times New Roman"/>
              </a:rPr>
              <a:t>U</a:t>
            </a:r>
            <a:r>
              <a:rPr sz="1000" spc="-5" dirty="0">
                <a:latin typeface="Times New Roman"/>
                <a:cs typeface="Times New Roman"/>
              </a:rPr>
              <a:t>NY</a:t>
            </a:r>
            <a:r>
              <a:rPr sz="1000" spc="5" dirty="0">
                <a:latin typeface="Times New Roman"/>
                <a:cs typeface="Times New Roman"/>
              </a:rPr>
              <a:t>A</a:t>
            </a:r>
            <a:endParaRPr sz="1000">
              <a:latin typeface="Times New Roman"/>
              <a:cs typeface="Times New Roman"/>
            </a:endParaRPr>
          </a:p>
        </p:txBody>
      </p:sp>
      <p:grpSp>
        <p:nvGrpSpPr>
          <p:cNvPr id="38" name="object 38"/>
          <p:cNvGrpSpPr/>
          <p:nvPr/>
        </p:nvGrpSpPr>
        <p:grpSpPr>
          <a:xfrm>
            <a:off x="1304925" y="2332101"/>
            <a:ext cx="2847975" cy="3913504"/>
            <a:chOff x="1304925" y="2332101"/>
            <a:chExt cx="2847975" cy="3913504"/>
          </a:xfrm>
        </p:grpSpPr>
        <p:sp>
          <p:nvSpPr>
            <p:cNvPr id="39" name="object 39"/>
            <p:cNvSpPr/>
            <p:nvPr/>
          </p:nvSpPr>
          <p:spPr>
            <a:xfrm>
              <a:off x="1311275" y="2338451"/>
              <a:ext cx="2835275" cy="1189355"/>
            </a:xfrm>
            <a:custGeom>
              <a:avLst/>
              <a:gdLst/>
              <a:ahLst/>
              <a:cxnLst/>
              <a:rect l="l" t="t" r="r" b="b"/>
              <a:pathLst>
                <a:path w="2835275" h="1189354">
                  <a:moveTo>
                    <a:pt x="2833751" y="274574"/>
                  </a:moveTo>
                  <a:lnTo>
                    <a:pt x="2835275" y="0"/>
                  </a:lnTo>
                </a:path>
                <a:path w="2835275" h="1189354">
                  <a:moveTo>
                    <a:pt x="2833751" y="1188974"/>
                  </a:moveTo>
                  <a:lnTo>
                    <a:pt x="2835275" y="822198"/>
                  </a:lnTo>
                </a:path>
                <a:path w="2835275" h="1189354">
                  <a:moveTo>
                    <a:pt x="457200" y="274574"/>
                  </a:moveTo>
                  <a:lnTo>
                    <a:pt x="457200" y="0"/>
                  </a:lnTo>
                </a:path>
                <a:path w="2835275" h="1189354">
                  <a:moveTo>
                    <a:pt x="457200" y="1188974"/>
                  </a:moveTo>
                  <a:lnTo>
                    <a:pt x="457200" y="822198"/>
                  </a:lnTo>
                </a:path>
                <a:path w="2835275" h="1189354">
                  <a:moveTo>
                    <a:pt x="0" y="549148"/>
                  </a:moveTo>
                  <a:lnTo>
                    <a:pt x="457200" y="274574"/>
                  </a:lnTo>
                </a:path>
                <a:path w="2835275" h="1189354">
                  <a:moveTo>
                    <a:pt x="457200" y="274574"/>
                  </a:moveTo>
                  <a:lnTo>
                    <a:pt x="914400" y="549148"/>
                  </a:lnTo>
                </a:path>
                <a:path w="2835275" h="1189354">
                  <a:moveTo>
                    <a:pt x="0" y="549148"/>
                  </a:moveTo>
                  <a:lnTo>
                    <a:pt x="457200" y="823849"/>
                  </a:lnTo>
                </a:path>
                <a:path w="2835275" h="1189354">
                  <a:moveTo>
                    <a:pt x="457200" y="823849"/>
                  </a:moveTo>
                  <a:lnTo>
                    <a:pt x="914400" y="549148"/>
                  </a:lnTo>
                </a:path>
              </a:pathLst>
            </a:custGeom>
            <a:ln w="12700">
              <a:solidFill>
                <a:srgbClr val="000000"/>
              </a:solidFill>
            </a:ln>
          </p:spPr>
          <p:txBody>
            <a:bodyPr wrap="square" lIns="0" tIns="0" rIns="0" bIns="0" rtlCol="0"/>
            <a:lstStyle/>
            <a:p>
              <a:endParaRPr/>
            </a:p>
          </p:txBody>
        </p:sp>
        <p:sp>
          <p:nvSpPr>
            <p:cNvPr id="40" name="object 40"/>
            <p:cNvSpPr/>
            <p:nvPr/>
          </p:nvSpPr>
          <p:spPr>
            <a:xfrm>
              <a:off x="2895600" y="4029075"/>
              <a:ext cx="914400" cy="2209800"/>
            </a:xfrm>
            <a:custGeom>
              <a:avLst/>
              <a:gdLst/>
              <a:ahLst/>
              <a:cxnLst/>
              <a:rect l="l" t="t" r="r" b="b"/>
              <a:pathLst>
                <a:path w="914400" h="2209800">
                  <a:moveTo>
                    <a:pt x="274066" y="0"/>
                  </a:moveTo>
                  <a:lnTo>
                    <a:pt x="0" y="0"/>
                  </a:lnTo>
                  <a:lnTo>
                    <a:pt x="0" y="965962"/>
                  </a:lnTo>
                  <a:lnTo>
                    <a:pt x="1035" y="1025776"/>
                  </a:lnTo>
                  <a:lnTo>
                    <a:pt x="4099" y="1084603"/>
                  </a:lnTo>
                  <a:lnTo>
                    <a:pt x="9131" y="1142331"/>
                  </a:lnTo>
                  <a:lnTo>
                    <a:pt x="16069" y="1198850"/>
                  </a:lnTo>
                  <a:lnTo>
                    <a:pt x="24852" y="1254049"/>
                  </a:lnTo>
                  <a:lnTo>
                    <a:pt x="35416" y="1307816"/>
                  </a:lnTo>
                  <a:lnTo>
                    <a:pt x="47702" y="1360042"/>
                  </a:lnTo>
                  <a:lnTo>
                    <a:pt x="61647" y="1410614"/>
                  </a:lnTo>
                  <a:lnTo>
                    <a:pt x="77189" y="1459423"/>
                  </a:lnTo>
                  <a:lnTo>
                    <a:pt x="94267" y="1506357"/>
                  </a:lnTo>
                  <a:lnTo>
                    <a:pt x="112819" y="1551306"/>
                  </a:lnTo>
                  <a:lnTo>
                    <a:pt x="132783" y="1594159"/>
                  </a:lnTo>
                  <a:lnTo>
                    <a:pt x="154098" y="1634804"/>
                  </a:lnTo>
                  <a:lnTo>
                    <a:pt x="176702" y="1673131"/>
                  </a:lnTo>
                  <a:lnTo>
                    <a:pt x="200533" y="1709029"/>
                  </a:lnTo>
                  <a:lnTo>
                    <a:pt x="225530" y="1742387"/>
                  </a:lnTo>
                  <a:lnTo>
                    <a:pt x="251631" y="1773094"/>
                  </a:lnTo>
                  <a:lnTo>
                    <a:pt x="278774" y="1801040"/>
                  </a:lnTo>
                  <a:lnTo>
                    <a:pt x="335940" y="1848203"/>
                  </a:lnTo>
                  <a:lnTo>
                    <a:pt x="396534" y="1882990"/>
                  </a:lnTo>
                  <a:lnTo>
                    <a:pt x="460063" y="1904512"/>
                  </a:lnTo>
                  <a:lnTo>
                    <a:pt x="526034" y="1911883"/>
                  </a:lnTo>
                  <a:lnTo>
                    <a:pt x="640334" y="1911883"/>
                  </a:lnTo>
                  <a:lnTo>
                    <a:pt x="640334" y="2209800"/>
                  </a:lnTo>
                  <a:lnTo>
                    <a:pt x="914400" y="1587881"/>
                  </a:lnTo>
                  <a:lnTo>
                    <a:pt x="640334" y="965962"/>
                  </a:lnTo>
                  <a:lnTo>
                    <a:pt x="640334" y="1263904"/>
                  </a:lnTo>
                  <a:lnTo>
                    <a:pt x="526034" y="1263904"/>
                  </a:lnTo>
                  <a:lnTo>
                    <a:pt x="480733" y="1259100"/>
                  </a:lnTo>
                  <a:lnTo>
                    <a:pt x="438100" y="1245254"/>
                  </a:lnTo>
                  <a:lnTo>
                    <a:pt x="398845" y="1223207"/>
                  </a:lnTo>
                  <a:lnTo>
                    <a:pt x="363680" y="1193804"/>
                  </a:lnTo>
                  <a:lnTo>
                    <a:pt x="333314" y="1157887"/>
                  </a:lnTo>
                  <a:lnTo>
                    <a:pt x="308459" y="1116301"/>
                  </a:lnTo>
                  <a:lnTo>
                    <a:pt x="289825" y="1069889"/>
                  </a:lnTo>
                  <a:lnTo>
                    <a:pt x="278124" y="1019495"/>
                  </a:lnTo>
                  <a:lnTo>
                    <a:pt x="274066" y="965962"/>
                  </a:lnTo>
                  <a:lnTo>
                    <a:pt x="274066" y="0"/>
                  </a:lnTo>
                  <a:close/>
                </a:path>
              </a:pathLst>
            </a:custGeom>
            <a:solidFill>
              <a:srgbClr val="FFFF00"/>
            </a:solidFill>
          </p:spPr>
          <p:txBody>
            <a:bodyPr wrap="square" lIns="0" tIns="0" rIns="0" bIns="0" rtlCol="0"/>
            <a:lstStyle/>
            <a:p>
              <a:endParaRPr/>
            </a:p>
          </p:txBody>
        </p:sp>
        <p:sp>
          <p:nvSpPr>
            <p:cNvPr id="41" name="object 41"/>
            <p:cNvSpPr/>
            <p:nvPr/>
          </p:nvSpPr>
          <p:spPr>
            <a:xfrm>
              <a:off x="2895600" y="4029075"/>
              <a:ext cx="914400" cy="2209800"/>
            </a:xfrm>
            <a:custGeom>
              <a:avLst/>
              <a:gdLst/>
              <a:ahLst/>
              <a:cxnLst/>
              <a:rect l="l" t="t" r="r" b="b"/>
              <a:pathLst>
                <a:path w="914400" h="2209800">
                  <a:moveTo>
                    <a:pt x="914400" y="1587881"/>
                  </a:moveTo>
                  <a:lnTo>
                    <a:pt x="640334" y="2209800"/>
                  </a:lnTo>
                  <a:lnTo>
                    <a:pt x="640334" y="1911883"/>
                  </a:lnTo>
                  <a:lnTo>
                    <a:pt x="526034" y="1911883"/>
                  </a:lnTo>
                  <a:lnTo>
                    <a:pt x="460063" y="1904512"/>
                  </a:lnTo>
                  <a:lnTo>
                    <a:pt x="396534" y="1882990"/>
                  </a:lnTo>
                  <a:lnTo>
                    <a:pt x="335940" y="1848203"/>
                  </a:lnTo>
                  <a:lnTo>
                    <a:pt x="278774" y="1801040"/>
                  </a:lnTo>
                  <a:lnTo>
                    <a:pt x="251631" y="1773094"/>
                  </a:lnTo>
                  <a:lnTo>
                    <a:pt x="225530" y="1742387"/>
                  </a:lnTo>
                  <a:lnTo>
                    <a:pt x="200533" y="1709029"/>
                  </a:lnTo>
                  <a:lnTo>
                    <a:pt x="176702" y="1673131"/>
                  </a:lnTo>
                  <a:lnTo>
                    <a:pt x="154098" y="1634804"/>
                  </a:lnTo>
                  <a:lnTo>
                    <a:pt x="132783" y="1594159"/>
                  </a:lnTo>
                  <a:lnTo>
                    <a:pt x="112819" y="1551306"/>
                  </a:lnTo>
                  <a:lnTo>
                    <a:pt x="94267" y="1506357"/>
                  </a:lnTo>
                  <a:lnTo>
                    <a:pt x="77189" y="1459423"/>
                  </a:lnTo>
                  <a:lnTo>
                    <a:pt x="61647" y="1410614"/>
                  </a:lnTo>
                  <a:lnTo>
                    <a:pt x="47702" y="1360042"/>
                  </a:lnTo>
                  <a:lnTo>
                    <a:pt x="35416" y="1307816"/>
                  </a:lnTo>
                  <a:lnTo>
                    <a:pt x="24852" y="1254049"/>
                  </a:lnTo>
                  <a:lnTo>
                    <a:pt x="16069" y="1198850"/>
                  </a:lnTo>
                  <a:lnTo>
                    <a:pt x="9131" y="1142331"/>
                  </a:lnTo>
                  <a:lnTo>
                    <a:pt x="4099" y="1084603"/>
                  </a:lnTo>
                  <a:lnTo>
                    <a:pt x="1035" y="1025776"/>
                  </a:lnTo>
                  <a:lnTo>
                    <a:pt x="0" y="965962"/>
                  </a:lnTo>
                  <a:lnTo>
                    <a:pt x="0" y="0"/>
                  </a:lnTo>
                  <a:lnTo>
                    <a:pt x="274066" y="0"/>
                  </a:lnTo>
                  <a:lnTo>
                    <a:pt x="274066" y="965962"/>
                  </a:lnTo>
                  <a:lnTo>
                    <a:pt x="278124" y="1019495"/>
                  </a:lnTo>
                  <a:lnTo>
                    <a:pt x="289825" y="1069889"/>
                  </a:lnTo>
                  <a:lnTo>
                    <a:pt x="308459" y="1116301"/>
                  </a:lnTo>
                  <a:lnTo>
                    <a:pt x="333314" y="1157887"/>
                  </a:lnTo>
                  <a:lnTo>
                    <a:pt x="363680" y="1193804"/>
                  </a:lnTo>
                  <a:lnTo>
                    <a:pt x="398845" y="1223207"/>
                  </a:lnTo>
                  <a:lnTo>
                    <a:pt x="438100" y="1245254"/>
                  </a:lnTo>
                  <a:lnTo>
                    <a:pt x="480733" y="1259100"/>
                  </a:lnTo>
                  <a:lnTo>
                    <a:pt x="526034" y="1263904"/>
                  </a:lnTo>
                  <a:lnTo>
                    <a:pt x="640334" y="1263904"/>
                  </a:lnTo>
                  <a:lnTo>
                    <a:pt x="640334" y="965962"/>
                  </a:lnTo>
                  <a:lnTo>
                    <a:pt x="914400" y="1587881"/>
                  </a:lnTo>
                  <a:close/>
                </a:path>
              </a:pathLst>
            </a:custGeom>
            <a:ln w="12700">
              <a:solidFill>
                <a:srgbClr val="000000"/>
              </a:solidFill>
            </a:ln>
          </p:spPr>
          <p:txBody>
            <a:bodyPr wrap="square" lIns="0" tIns="0" rIns="0" bIns="0" rtlCol="0"/>
            <a:lstStyle/>
            <a:p>
              <a:endParaRPr/>
            </a:p>
          </p:txBody>
        </p:sp>
      </p:grpSp>
      <p:sp>
        <p:nvSpPr>
          <p:cNvPr id="42" name="object 42"/>
          <p:cNvSpPr txBox="1"/>
          <p:nvPr/>
        </p:nvSpPr>
        <p:spPr>
          <a:xfrm>
            <a:off x="567029" y="1786889"/>
            <a:ext cx="568960" cy="483870"/>
          </a:xfrm>
          <a:prstGeom prst="rect">
            <a:avLst/>
          </a:prstGeom>
        </p:spPr>
        <p:txBody>
          <a:bodyPr vert="horz" wrap="square" lIns="0" tIns="13335" rIns="0" bIns="0" rtlCol="0">
            <a:spAutoFit/>
          </a:bodyPr>
          <a:lstStyle/>
          <a:p>
            <a:pPr marL="12700" marR="5080">
              <a:lnSpc>
                <a:spcPct val="100000"/>
              </a:lnSpc>
              <a:spcBef>
                <a:spcPts val="105"/>
              </a:spcBef>
            </a:pPr>
            <a:r>
              <a:rPr sz="1000" u="sng" dirty="0">
                <a:uFill>
                  <a:solidFill>
                    <a:srgbClr val="000000"/>
                  </a:solidFill>
                </a:uFill>
                <a:latin typeface="Times New Roman"/>
                <a:cs typeface="Times New Roman"/>
              </a:rPr>
              <a:t>NO-PEG </a:t>
            </a:r>
            <a:r>
              <a:rPr sz="1000" spc="5" dirty="0">
                <a:latin typeface="Times New Roman"/>
                <a:cs typeface="Times New Roman"/>
              </a:rPr>
              <a:t> </a:t>
            </a:r>
            <a:r>
              <a:rPr sz="1000" spc="-5" dirty="0">
                <a:latin typeface="Times New Roman"/>
                <a:cs typeface="Times New Roman"/>
              </a:rPr>
              <a:t>NAMA </a:t>
            </a:r>
            <a:r>
              <a:rPr sz="1000" dirty="0">
                <a:latin typeface="Times New Roman"/>
                <a:cs typeface="Times New Roman"/>
              </a:rPr>
              <a:t> A</a:t>
            </a:r>
            <a:r>
              <a:rPr sz="1000" spc="-15" dirty="0">
                <a:latin typeface="Times New Roman"/>
                <a:cs typeface="Times New Roman"/>
              </a:rPr>
              <a:t>L</a:t>
            </a:r>
            <a:r>
              <a:rPr sz="1000" dirty="0">
                <a:latin typeface="Times New Roman"/>
                <a:cs typeface="Times New Roman"/>
              </a:rPr>
              <a:t>A</a:t>
            </a:r>
            <a:r>
              <a:rPr sz="1000" spc="-5" dirty="0">
                <a:latin typeface="Times New Roman"/>
                <a:cs typeface="Times New Roman"/>
              </a:rPr>
              <a:t>M</a:t>
            </a:r>
            <a:r>
              <a:rPr sz="1000" dirty="0">
                <a:latin typeface="Times New Roman"/>
                <a:cs typeface="Times New Roman"/>
              </a:rPr>
              <a:t>AT</a:t>
            </a:r>
            <a:endParaRPr sz="1000">
              <a:latin typeface="Times New Roman"/>
              <a:cs typeface="Times New Roman"/>
            </a:endParaRPr>
          </a:p>
        </p:txBody>
      </p:sp>
      <p:sp>
        <p:nvSpPr>
          <p:cNvPr id="43" name="object 43"/>
          <p:cNvSpPr txBox="1"/>
          <p:nvPr/>
        </p:nvSpPr>
        <p:spPr>
          <a:xfrm>
            <a:off x="4683378" y="1786889"/>
            <a:ext cx="587375" cy="483870"/>
          </a:xfrm>
          <a:prstGeom prst="rect">
            <a:avLst/>
          </a:prstGeom>
        </p:spPr>
        <p:txBody>
          <a:bodyPr vert="horz" wrap="square" lIns="0" tIns="13335" rIns="0" bIns="0" rtlCol="0">
            <a:spAutoFit/>
          </a:bodyPr>
          <a:lstStyle/>
          <a:p>
            <a:pPr marL="12700" marR="5080">
              <a:lnSpc>
                <a:spcPct val="100000"/>
              </a:lnSpc>
              <a:spcBef>
                <a:spcPts val="105"/>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spc="-10" dirty="0">
                <a:latin typeface="Times New Roman"/>
                <a:cs typeface="Times New Roman"/>
              </a:rPr>
              <a:t>LOKASI </a:t>
            </a:r>
            <a:r>
              <a:rPr sz="1000" spc="-5" dirty="0">
                <a:latin typeface="Times New Roman"/>
                <a:cs typeface="Times New Roman"/>
              </a:rPr>
              <a:t> </a:t>
            </a:r>
            <a:r>
              <a:rPr sz="1000" dirty="0">
                <a:latin typeface="Times New Roman"/>
                <a:cs typeface="Times New Roman"/>
              </a:rPr>
              <a:t>JENIS</a:t>
            </a:r>
            <a:endParaRPr sz="1000">
              <a:latin typeface="Times New Roman"/>
              <a:cs typeface="Times New Roman"/>
            </a:endParaRPr>
          </a:p>
        </p:txBody>
      </p:sp>
      <p:sp>
        <p:nvSpPr>
          <p:cNvPr id="44" name="object 44"/>
          <p:cNvSpPr txBox="1"/>
          <p:nvPr/>
        </p:nvSpPr>
        <p:spPr>
          <a:xfrm>
            <a:off x="2671317" y="1329308"/>
            <a:ext cx="587375" cy="331470"/>
          </a:xfrm>
          <a:prstGeom prst="rect">
            <a:avLst/>
          </a:prstGeom>
        </p:spPr>
        <p:txBody>
          <a:bodyPr vert="horz" wrap="square" lIns="0" tIns="13335" rIns="0" bIns="0" rtlCol="0">
            <a:spAutoFit/>
          </a:bodyPr>
          <a:lstStyle/>
          <a:p>
            <a:pPr marL="12700" marR="5080">
              <a:lnSpc>
                <a:spcPct val="100000"/>
              </a:lnSpc>
              <a:spcBef>
                <a:spcPts val="105"/>
              </a:spcBef>
            </a:pPr>
            <a:r>
              <a:rPr sz="1000" u="sng" dirty="0">
                <a:uFill>
                  <a:solidFill>
                    <a:srgbClr val="000000"/>
                  </a:solidFill>
                </a:uFill>
                <a:latin typeface="Times New Roman"/>
                <a:cs typeface="Times New Roman"/>
              </a:rPr>
              <a:t>NO-PEG </a:t>
            </a:r>
            <a:r>
              <a:rPr sz="1000" spc="5" dirty="0">
                <a:latin typeface="Times New Roman"/>
                <a:cs typeface="Times New Roman"/>
              </a:rPr>
              <a:t> </a:t>
            </a: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spc="5" dirty="0">
                <a:uFill>
                  <a:solidFill>
                    <a:srgbClr val="000000"/>
                  </a:solidFill>
                </a:uFill>
                <a:latin typeface="Times New Roman"/>
                <a:cs typeface="Times New Roman"/>
              </a:rPr>
              <a:t>Y</a:t>
            </a:r>
            <a:endParaRPr sz="1000">
              <a:latin typeface="Times New Roman"/>
              <a:cs typeface="Times New Roman"/>
            </a:endParaRPr>
          </a:p>
        </p:txBody>
      </p:sp>
      <p:sp>
        <p:nvSpPr>
          <p:cNvPr id="45" name="object 45"/>
          <p:cNvSpPr txBox="1"/>
          <p:nvPr/>
        </p:nvSpPr>
        <p:spPr>
          <a:xfrm>
            <a:off x="4683378" y="2609468"/>
            <a:ext cx="599440" cy="483870"/>
          </a:xfrm>
          <a:prstGeom prst="rect">
            <a:avLst/>
          </a:prstGeom>
        </p:spPr>
        <p:txBody>
          <a:bodyPr vert="horz" wrap="square" lIns="0" tIns="13335" rIns="0" bIns="0" rtlCol="0">
            <a:spAutoFit/>
          </a:bodyPr>
          <a:lstStyle/>
          <a:p>
            <a:pPr marL="12700" marR="5080" algn="just">
              <a:lnSpc>
                <a:spcPct val="100000"/>
              </a:lnSpc>
              <a:spcBef>
                <a:spcPts val="105"/>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20" dirty="0">
                <a:uFill>
                  <a:solidFill>
                    <a:srgbClr val="000000"/>
                  </a:solidFill>
                </a:uFill>
                <a:latin typeface="Times New Roman"/>
                <a:cs typeface="Times New Roman"/>
              </a:rPr>
              <a:t>BR</a:t>
            </a:r>
            <a:r>
              <a:rPr sz="1000" u="sng" spc="-5" dirty="0">
                <a:uFill>
                  <a:solidFill>
                    <a:srgbClr val="000000"/>
                  </a:solidFill>
                </a:uFill>
                <a:latin typeface="Times New Roman"/>
                <a:cs typeface="Times New Roman"/>
              </a:rPr>
              <a:t>N</a:t>
            </a:r>
            <a:r>
              <a:rPr sz="1000" u="sng" dirty="0">
                <a:uFill>
                  <a:solidFill>
                    <a:srgbClr val="000000"/>
                  </a:solidFill>
                </a:uFill>
                <a:latin typeface="Times New Roman"/>
                <a:cs typeface="Times New Roman"/>
              </a:rPr>
              <a:t>G </a:t>
            </a:r>
            <a:r>
              <a:rPr sz="1000" dirty="0">
                <a:latin typeface="Times New Roman"/>
                <a:cs typeface="Times New Roman"/>
              </a:rPr>
              <a:t> </a:t>
            </a:r>
            <a:r>
              <a:rPr sz="1000" spc="-10" dirty="0">
                <a:latin typeface="Times New Roman"/>
                <a:cs typeface="Times New Roman"/>
              </a:rPr>
              <a:t>JUMLAH</a:t>
            </a:r>
            <a:endParaRPr sz="1000">
              <a:latin typeface="Times New Roman"/>
              <a:cs typeface="Times New Roman"/>
            </a:endParaRPr>
          </a:p>
        </p:txBody>
      </p:sp>
      <p:sp>
        <p:nvSpPr>
          <p:cNvPr id="46" name="object 46"/>
          <p:cNvSpPr txBox="1"/>
          <p:nvPr/>
        </p:nvSpPr>
        <p:spPr>
          <a:xfrm>
            <a:off x="4683378" y="3433699"/>
            <a:ext cx="620395" cy="484505"/>
          </a:xfrm>
          <a:prstGeom prst="rect">
            <a:avLst/>
          </a:prstGeom>
        </p:spPr>
        <p:txBody>
          <a:bodyPr vert="horz" wrap="square" lIns="0" tIns="13335" rIns="0" bIns="0" rtlCol="0">
            <a:spAutoFit/>
          </a:bodyPr>
          <a:lstStyle/>
          <a:p>
            <a:pPr marL="12700" marR="5080" algn="just">
              <a:lnSpc>
                <a:spcPct val="100000"/>
              </a:lnSpc>
              <a:spcBef>
                <a:spcPts val="105"/>
              </a:spcBef>
            </a:pPr>
            <a:r>
              <a:rPr sz="1000" u="sng" spc="-10" dirty="0">
                <a:uFill>
                  <a:solidFill>
                    <a:srgbClr val="000000"/>
                  </a:solidFill>
                </a:uFill>
                <a:latin typeface="Times New Roman"/>
                <a:cs typeface="Times New Roman"/>
              </a:rPr>
              <a:t>KD-BRNG </a:t>
            </a:r>
            <a:r>
              <a:rPr sz="1000" spc="-240" dirty="0">
                <a:latin typeface="Times New Roman"/>
                <a:cs typeface="Times New Roman"/>
              </a:rPr>
              <a:t> </a:t>
            </a:r>
            <a:r>
              <a:rPr sz="1000" spc="-5" dirty="0">
                <a:latin typeface="Times New Roman"/>
                <a:cs typeface="Times New Roman"/>
              </a:rPr>
              <a:t>NAMA-</a:t>
            </a:r>
            <a:r>
              <a:rPr sz="1000" spc="-30" dirty="0">
                <a:latin typeface="Times New Roman"/>
                <a:cs typeface="Times New Roman"/>
              </a:rPr>
              <a:t>BR  </a:t>
            </a:r>
            <a:r>
              <a:rPr sz="1000" spc="-10" dirty="0">
                <a:latin typeface="Times New Roman"/>
                <a:cs typeface="Times New Roman"/>
              </a:rPr>
              <a:t>HAR-SAT</a:t>
            </a:r>
            <a:endParaRPr sz="1000">
              <a:latin typeface="Times New Roman"/>
              <a:cs typeface="Times New Roman"/>
            </a:endParaRPr>
          </a:p>
        </p:txBody>
      </p:sp>
      <p:sp>
        <p:nvSpPr>
          <p:cNvPr id="47" name="object 47"/>
          <p:cNvSpPr txBox="1"/>
          <p:nvPr/>
        </p:nvSpPr>
        <p:spPr>
          <a:xfrm>
            <a:off x="567029" y="2609468"/>
            <a:ext cx="494030" cy="331470"/>
          </a:xfrm>
          <a:prstGeom prst="rect">
            <a:avLst/>
          </a:prstGeom>
        </p:spPr>
        <p:txBody>
          <a:bodyPr vert="horz" wrap="square" lIns="0" tIns="13335" rIns="0" bIns="0" rtlCol="0">
            <a:spAutoFit/>
          </a:bodyPr>
          <a:lstStyle/>
          <a:p>
            <a:pPr marL="12700" marR="5080">
              <a:lnSpc>
                <a:spcPct val="100000"/>
              </a:lnSpc>
              <a:spcBef>
                <a:spcPts val="105"/>
              </a:spcBef>
            </a:pPr>
            <a:r>
              <a:rPr sz="1000" u="sng" spc="-5" dirty="0">
                <a:uFill>
                  <a:solidFill>
                    <a:srgbClr val="000000"/>
                  </a:solidFill>
                </a:uFill>
                <a:latin typeface="Times New Roman"/>
                <a:cs typeface="Times New Roman"/>
              </a:rPr>
              <a:t>NO</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5" dirty="0">
                <a:uFill>
                  <a:solidFill>
                    <a:srgbClr val="000000"/>
                  </a:solidFill>
                </a:uFill>
                <a:latin typeface="Times New Roman"/>
                <a:cs typeface="Times New Roman"/>
              </a:rPr>
              <a:t>E</a:t>
            </a:r>
            <a:r>
              <a:rPr sz="1000" u="sng" dirty="0">
                <a:uFill>
                  <a:solidFill>
                    <a:srgbClr val="000000"/>
                  </a:solidFill>
                </a:uFill>
                <a:latin typeface="Times New Roman"/>
                <a:cs typeface="Times New Roman"/>
              </a:rPr>
              <a:t>G </a:t>
            </a:r>
            <a:r>
              <a:rPr sz="1000" dirty="0">
                <a:latin typeface="Times New Roman"/>
                <a:cs typeface="Times New Roman"/>
              </a:rPr>
              <a:t> </a:t>
            </a:r>
            <a:r>
              <a:rPr sz="1000" u="sng" spc="-5" dirty="0">
                <a:uFill>
                  <a:solidFill>
                    <a:srgbClr val="000000"/>
                  </a:solidFill>
                </a:uFill>
                <a:latin typeface="Times New Roman"/>
                <a:cs typeface="Times New Roman"/>
              </a:rPr>
              <a:t>KD-JAB</a:t>
            </a:r>
            <a:endParaRPr sz="1000">
              <a:latin typeface="Times New Roman"/>
              <a:cs typeface="Times New Roman"/>
            </a:endParaRPr>
          </a:p>
        </p:txBody>
      </p:sp>
      <p:sp>
        <p:nvSpPr>
          <p:cNvPr id="48" name="object 48"/>
          <p:cNvSpPr txBox="1"/>
          <p:nvPr/>
        </p:nvSpPr>
        <p:spPr>
          <a:xfrm>
            <a:off x="460044" y="3448050"/>
            <a:ext cx="791845" cy="484505"/>
          </a:xfrm>
          <a:prstGeom prst="rect">
            <a:avLst/>
          </a:prstGeom>
        </p:spPr>
        <p:txBody>
          <a:bodyPr vert="horz" wrap="square" lIns="0" tIns="13335" rIns="0" bIns="0" rtlCol="0">
            <a:spAutoFit/>
          </a:bodyPr>
          <a:lstStyle/>
          <a:p>
            <a:pPr marL="12700" marR="5080">
              <a:lnSpc>
                <a:spcPct val="100000"/>
              </a:lnSpc>
              <a:spcBef>
                <a:spcPts val="105"/>
              </a:spcBef>
            </a:pPr>
            <a:r>
              <a:rPr sz="1000" u="sng" spc="-5" dirty="0">
                <a:uFill>
                  <a:solidFill>
                    <a:srgbClr val="000000"/>
                  </a:solidFill>
                </a:uFill>
                <a:latin typeface="Times New Roman"/>
                <a:cs typeface="Times New Roman"/>
              </a:rPr>
              <a:t>KD-JAB </a:t>
            </a:r>
            <a:r>
              <a:rPr sz="1000" dirty="0">
                <a:latin typeface="Times New Roman"/>
                <a:cs typeface="Times New Roman"/>
              </a:rPr>
              <a:t> </a:t>
            </a:r>
            <a:r>
              <a:rPr sz="1000" spc="-10" dirty="0">
                <a:latin typeface="Times New Roman"/>
                <a:cs typeface="Times New Roman"/>
              </a:rPr>
              <a:t>URAIAN </a:t>
            </a:r>
            <a:r>
              <a:rPr sz="1000" spc="-5" dirty="0">
                <a:latin typeface="Times New Roman"/>
                <a:cs typeface="Times New Roman"/>
              </a:rPr>
              <a:t> </a:t>
            </a:r>
            <a:r>
              <a:rPr sz="1000" spc="10" dirty="0">
                <a:latin typeface="Times New Roman"/>
                <a:cs typeface="Times New Roman"/>
              </a:rPr>
              <a:t>T</a:t>
            </a:r>
            <a:r>
              <a:rPr sz="1000" spc="-30" dirty="0">
                <a:latin typeface="Times New Roman"/>
                <a:cs typeface="Times New Roman"/>
              </a:rPr>
              <a:t>U</a:t>
            </a:r>
            <a:r>
              <a:rPr sz="1000" spc="-5" dirty="0">
                <a:latin typeface="Times New Roman"/>
                <a:cs typeface="Times New Roman"/>
              </a:rPr>
              <a:t>N</a:t>
            </a:r>
            <a:r>
              <a:rPr sz="1000" spc="-10" dirty="0">
                <a:latin typeface="Times New Roman"/>
                <a:cs typeface="Times New Roman"/>
              </a:rPr>
              <a:t>J</a:t>
            </a:r>
            <a:r>
              <a:rPr sz="1000" spc="-5" dirty="0">
                <a:latin typeface="Times New Roman"/>
                <a:cs typeface="Times New Roman"/>
              </a:rPr>
              <a:t>ANGA</a:t>
            </a:r>
            <a:r>
              <a:rPr sz="1000" spc="5" dirty="0">
                <a:latin typeface="Times New Roman"/>
                <a:cs typeface="Times New Roman"/>
              </a:rPr>
              <a:t>N</a:t>
            </a:r>
            <a:endParaRPr sz="1000">
              <a:latin typeface="Times New Roman"/>
              <a:cs typeface="Times New Roman"/>
            </a:endParaRPr>
          </a:p>
        </p:txBody>
      </p:sp>
      <p:pic>
        <p:nvPicPr>
          <p:cNvPr id="49" name="object 49"/>
          <p:cNvPicPr/>
          <p:nvPr/>
        </p:nvPicPr>
        <p:blipFill>
          <a:blip r:embed="rId2" cstate="print"/>
          <a:stretch>
            <a:fillRect/>
          </a:stretch>
        </p:blipFill>
        <p:spPr>
          <a:xfrm>
            <a:off x="5181600" y="304800"/>
            <a:ext cx="3759200" cy="457200"/>
          </a:xfrm>
          <a:prstGeom prst="rect">
            <a:avLst/>
          </a:prstGeom>
        </p:spPr>
      </p:pic>
      <p:sp>
        <p:nvSpPr>
          <p:cNvPr id="50" name="object 50"/>
          <p:cNvSpPr txBox="1">
            <a:spLocks noGrp="1"/>
          </p:cNvSpPr>
          <p:nvPr>
            <p:ph type="title"/>
          </p:nvPr>
        </p:nvSpPr>
        <p:spPr>
          <a:xfrm>
            <a:off x="5765672" y="371093"/>
            <a:ext cx="2444115" cy="270510"/>
          </a:xfrm>
          <a:prstGeom prst="rect">
            <a:avLst/>
          </a:prstGeom>
        </p:spPr>
        <p:txBody>
          <a:bodyPr vert="horz" wrap="square" lIns="0" tIns="13335" rIns="0" bIns="0" rtlCol="0">
            <a:spAutoFit/>
          </a:bodyPr>
          <a:lstStyle/>
          <a:p>
            <a:pPr marL="12700">
              <a:lnSpc>
                <a:spcPct val="100000"/>
              </a:lnSpc>
              <a:spcBef>
                <a:spcPts val="105"/>
              </a:spcBef>
            </a:pPr>
            <a:r>
              <a:rPr spc="-170" dirty="0"/>
              <a:t>T</a:t>
            </a:r>
            <a:r>
              <a:rPr spc="-200" dirty="0"/>
              <a:t>R</a:t>
            </a:r>
            <a:r>
              <a:rPr spc="-185" dirty="0"/>
              <a:t>A</a:t>
            </a:r>
            <a:r>
              <a:rPr spc="-200" dirty="0"/>
              <a:t>N</a:t>
            </a:r>
            <a:r>
              <a:rPr spc="-185" dirty="0"/>
              <a:t>S</a:t>
            </a:r>
            <a:r>
              <a:rPr spc="-170" dirty="0"/>
              <a:t>F</a:t>
            </a:r>
            <a:r>
              <a:rPr spc="-220" dirty="0"/>
              <a:t>O</a:t>
            </a:r>
            <a:r>
              <a:rPr spc="-200" dirty="0"/>
              <a:t>R</a:t>
            </a:r>
            <a:r>
              <a:rPr spc="-254" dirty="0"/>
              <a:t>M</a:t>
            </a:r>
            <a:r>
              <a:rPr spc="-185" dirty="0"/>
              <a:t>A</a:t>
            </a:r>
            <a:r>
              <a:rPr spc="-210" dirty="0"/>
              <a:t>S</a:t>
            </a:r>
            <a:r>
              <a:rPr spc="-80" dirty="0"/>
              <a:t>I</a:t>
            </a:r>
            <a:r>
              <a:rPr spc="-190" dirty="0"/>
              <a:t> </a:t>
            </a:r>
            <a:r>
              <a:rPr spc="-175" dirty="0"/>
              <a:t>D</a:t>
            </a:r>
            <a:r>
              <a:rPr spc="-105" dirty="0"/>
              <a:t>-</a:t>
            </a:r>
            <a:r>
              <a:rPr spc="-185" dirty="0"/>
              <a:t>E</a:t>
            </a:r>
            <a:r>
              <a:rPr spc="-204" dirty="0"/>
              <a:t>R</a:t>
            </a:r>
            <a:r>
              <a:rPr spc="-105" dirty="0"/>
              <a:t> </a:t>
            </a:r>
            <a:r>
              <a:rPr spc="-185" dirty="0"/>
              <a:t>K</a:t>
            </a:r>
            <a:r>
              <a:rPr spc="-190" dirty="0"/>
              <a:t>E</a:t>
            </a:r>
            <a:r>
              <a:rPr spc="-105" dirty="0"/>
              <a:t> </a:t>
            </a:r>
            <a:r>
              <a:rPr spc="-155" dirty="0"/>
              <a:t>L</a:t>
            </a:r>
            <a:r>
              <a:rPr spc="-200" dirty="0"/>
              <a:t>R</a:t>
            </a:r>
            <a:r>
              <a:rPr spc="-190" dirty="0"/>
              <a: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ject 8"/>
          <p:cNvPicPr/>
          <p:nvPr/>
        </p:nvPicPr>
        <p:blipFill>
          <a:blip r:embed="rId3" cstate="print"/>
          <a:stretch>
            <a:fillRect/>
          </a:stretch>
        </p:blipFill>
        <p:spPr>
          <a:xfrm>
            <a:off x="1042416" y="1252727"/>
            <a:ext cx="7959852" cy="20116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244" y="4896358"/>
            <a:ext cx="5317490" cy="1170940"/>
          </a:xfrm>
          <a:prstGeom prst="rect">
            <a:avLst/>
          </a:prstGeom>
        </p:spPr>
        <p:txBody>
          <a:bodyPr vert="horz" wrap="square" lIns="0" tIns="13970" rIns="0" bIns="0" rtlCol="0">
            <a:spAutoFit/>
          </a:bodyPr>
          <a:lstStyle/>
          <a:p>
            <a:pPr marL="201295" indent="-189230">
              <a:lnSpc>
                <a:spcPct val="100000"/>
              </a:lnSpc>
              <a:spcBef>
                <a:spcPts val="110"/>
              </a:spcBef>
              <a:buFont typeface="Wingdings"/>
              <a:buChar char=""/>
              <a:tabLst>
                <a:tab pos="201930" algn="l"/>
              </a:tabLst>
            </a:pPr>
            <a:r>
              <a:rPr sz="1500" spc="-10" dirty="0">
                <a:latin typeface="Times New Roman"/>
                <a:cs typeface="Times New Roman"/>
              </a:rPr>
              <a:t>NA</a:t>
            </a:r>
            <a:r>
              <a:rPr sz="1500" spc="5" dirty="0">
                <a:latin typeface="Times New Roman"/>
                <a:cs typeface="Times New Roman"/>
              </a:rPr>
              <a:t>MA</a:t>
            </a:r>
            <a:r>
              <a:rPr sz="1500" spc="-100" dirty="0">
                <a:latin typeface="Times New Roman"/>
                <a:cs typeface="Times New Roman"/>
              </a:rPr>
              <a:t> </a:t>
            </a:r>
            <a:r>
              <a:rPr sz="1500" spc="-35" dirty="0">
                <a:latin typeface="Times New Roman"/>
                <a:cs typeface="Times New Roman"/>
              </a:rPr>
              <a:t>L</a:t>
            </a:r>
            <a:r>
              <a:rPr sz="1500" spc="5" dirty="0">
                <a:latin typeface="Times New Roman"/>
                <a:cs typeface="Times New Roman"/>
              </a:rPr>
              <a:t>RS</a:t>
            </a:r>
            <a:r>
              <a:rPr sz="1500" spc="30" dirty="0">
                <a:latin typeface="Times New Roman"/>
                <a:cs typeface="Times New Roman"/>
              </a:rPr>
              <a:t> </a:t>
            </a:r>
            <a:r>
              <a:rPr sz="1500" spc="10" dirty="0">
                <a:latin typeface="Times New Roman"/>
                <a:cs typeface="Times New Roman"/>
              </a:rPr>
              <a:t>M</a:t>
            </a:r>
            <a:r>
              <a:rPr sz="1500" spc="-10" dirty="0">
                <a:latin typeface="Times New Roman"/>
                <a:cs typeface="Times New Roman"/>
              </a:rPr>
              <a:t>EN</a:t>
            </a:r>
            <a:r>
              <a:rPr sz="1500" spc="10" dirty="0">
                <a:latin typeface="Times New Roman"/>
                <a:cs typeface="Times New Roman"/>
              </a:rPr>
              <a:t>J</a:t>
            </a:r>
            <a:r>
              <a:rPr sz="1500" spc="-10" dirty="0">
                <a:latin typeface="Times New Roman"/>
                <a:cs typeface="Times New Roman"/>
              </a:rPr>
              <a:t>AD</a:t>
            </a:r>
            <a:r>
              <a:rPr sz="1500" dirty="0">
                <a:latin typeface="Times New Roman"/>
                <a:cs typeface="Times New Roman"/>
              </a:rPr>
              <a:t>I</a:t>
            </a:r>
            <a:r>
              <a:rPr sz="1500" spc="-20" dirty="0">
                <a:latin typeface="Times New Roman"/>
                <a:cs typeface="Times New Roman"/>
              </a:rPr>
              <a:t> </a:t>
            </a:r>
            <a:r>
              <a:rPr sz="1500" spc="-10" dirty="0">
                <a:latin typeface="Times New Roman"/>
                <a:cs typeface="Times New Roman"/>
              </a:rPr>
              <a:t>NA</a:t>
            </a:r>
            <a:r>
              <a:rPr sz="1500" spc="5" dirty="0">
                <a:latin typeface="Times New Roman"/>
                <a:cs typeface="Times New Roman"/>
              </a:rPr>
              <a:t>MA</a:t>
            </a:r>
            <a:r>
              <a:rPr sz="1500" spc="-100" dirty="0">
                <a:latin typeface="Times New Roman"/>
                <a:cs typeface="Times New Roman"/>
              </a:rPr>
              <a:t> </a:t>
            </a:r>
            <a:r>
              <a:rPr sz="1500" spc="-130" dirty="0">
                <a:latin typeface="Times New Roman"/>
                <a:cs typeface="Times New Roman"/>
              </a:rPr>
              <a:t>T</a:t>
            </a:r>
            <a:r>
              <a:rPr sz="1500" spc="-10" dirty="0">
                <a:latin typeface="Times New Roman"/>
                <a:cs typeface="Times New Roman"/>
              </a:rPr>
              <a:t>A</a:t>
            </a:r>
            <a:r>
              <a:rPr sz="1500" spc="5" dirty="0">
                <a:latin typeface="Times New Roman"/>
                <a:cs typeface="Times New Roman"/>
              </a:rPr>
              <a:t>B</a:t>
            </a:r>
            <a:r>
              <a:rPr sz="1500" spc="-10" dirty="0">
                <a:latin typeface="Times New Roman"/>
                <a:cs typeface="Times New Roman"/>
              </a:rPr>
              <a:t>E</a:t>
            </a:r>
            <a:r>
              <a:rPr sz="1500" spc="5" dirty="0">
                <a:latin typeface="Times New Roman"/>
                <a:cs typeface="Times New Roman"/>
              </a:rPr>
              <a:t>L</a:t>
            </a:r>
            <a:endParaRPr sz="1500">
              <a:latin typeface="Times New Roman"/>
              <a:cs typeface="Times New Roman"/>
            </a:endParaRPr>
          </a:p>
          <a:p>
            <a:pPr>
              <a:lnSpc>
                <a:spcPct val="100000"/>
              </a:lnSpc>
              <a:spcBef>
                <a:spcPts val="15"/>
              </a:spcBef>
              <a:buFont typeface="Wingdings"/>
              <a:buChar char=""/>
            </a:pPr>
            <a:endParaRPr sz="1550">
              <a:latin typeface="Times New Roman"/>
              <a:cs typeface="Times New Roman"/>
            </a:endParaRPr>
          </a:p>
          <a:p>
            <a:pPr marL="198120" indent="-186055">
              <a:lnSpc>
                <a:spcPct val="100000"/>
              </a:lnSpc>
              <a:spcBef>
                <a:spcPts val="5"/>
              </a:spcBef>
              <a:buFont typeface="Wingdings"/>
              <a:buChar char=""/>
              <a:tabLst>
                <a:tab pos="198755" algn="l"/>
              </a:tabLst>
            </a:pPr>
            <a:r>
              <a:rPr sz="1500" spc="-10" dirty="0">
                <a:latin typeface="Times New Roman"/>
                <a:cs typeface="Times New Roman"/>
              </a:rPr>
              <a:t>T</a:t>
            </a:r>
            <a:r>
              <a:rPr sz="1500" spc="-25" dirty="0">
                <a:latin typeface="Times New Roman"/>
                <a:cs typeface="Times New Roman"/>
              </a:rPr>
              <a:t>I</a:t>
            </a:r>
            <a:r>
              <a:rPr sz="1500" spc="-10" dirty="0">
                <a:latin typeface="Times New Roman"/>
                <a:cs typeface="Times New Roman"/>
              </a:rPr>
              <a:t>A</a:t>
            </a:r>
            <a:r>
              <a:rPr sz="1500" spc="5" dirty="0">
                <a:latin typeface="Times New Roman"/>
                <a:cs typeface="Times New Roman"/>
              </a:rPr>
              <a:t>P</a:t>
            </a:r>
            <a:r>
              <a:rPr sz="1500" spc="-45" dirty="0">
                <a:latin typeface="Times New Roman"/>
                <a:cs typeface="Times New Roman"/>
              </a:rPr>
              <a:t> </a:t>
            </a:r>
            <a:r>
              <a:rPr sz="1500" spc="5" dirty="0">
                <a:latin typeface="Times New Roman"/>
                <a:cs typeface="Times New Roman"/>
              </a:rPr>
              <a:t>1</a:t>
            </a:r>
            <a:r>
              <a:rPr sz="1500" spc="-5" dirty="0">
                <a:latin typeface="Times New Roman"/>
                <a:cs typeface="Times New Roman"/>
              </a:rPr>
              <a:t> </a:t>
            </a:r>
            <a:r>
              <a:rPr sz="1500" spc="5" dirty="0">
                <a:latin typeface="Times New Roman"/>
                <a:cs typeface="Times New Roman"/>
              </a:rPr>
              <a:t>(S</a:t>
            </a:r>
            <a:r>
              <a:rPr sz="1500" spc="-175" dirty="0">
                <a:latin typeface="Times New Roman"/>
                <a:cs typeface="Times New Roman"/>
              </a:rPr>
              <a:t>A</a:t>
            </a:r>
            <a:r>
              <a:rPr sz="1500" spc="-10" dirty="0">
                <a:latin typeface="Times New Roman"/>
                <a:cs typeface="Times New Roman"/>
              </a:rPr>
              <a:t>TU</a:t>
            </a:r>
            <a:r>
              <a:rPr sz="1500" dirty="0">
                <a:latin typeface="Times New Roman"/>
                <a:cs typeface="Times New Roman"/>
              </a:rPr>
              <a:t>)</a:t>
            </a:r>
            <a:r>
              <a:rPr sz="1500" spc="-90" dirty="0">
                <a:latin typeface="Times New Roman"/>
                <a:cs typeface="Times New Roman"/>
              </a:rPr>
              <a:t> </a:t>
            </a:r>
            <a:r>
              <a:rPr sz="1500" spc="-175" dirty="0">
                <a:latin typeface="Times New Roman"/>
                <a:cs typeface="Times New Roman"/>
              </a:rPr>
              <a:t>A</a:t>
            </a:r>
            <a:r>
              <a:rPr sz="1500" spc="-10" dirty="0">
                <a:latin typeface="Times New Roman"/>
                <a:cs typeface="Times New Roman"/>
              </a:rPr>
              <a:t>T</a:t>
            </a:r>
            <a:r>
              <a:rPr sz="1500" spc="5" dirty="0">
                <a:latin typeface="Times New Roman"/>
                <a:cs typeface="Times New Roman"/>
              </a:rPr>
              <a:t>R</a:t>
            </a:r>
            <a:r>
              <a:rPr sz="1500" spc="-25" dirty="0">
                <a:latin typeface="Times New Roman"/>
                <a:cs typeface="Times New Roman"/>
              </a:rPr>
              <a:t>I</a:t>
            </a:r>
            <a:r>
              <a:rPr sz="1500" spc="5" dirty="0">
                <a:latin typeface="Times New Roman"/>
                <a:cs typeface="Times New Roman"/>
              </a:rPr>
              <a:t>B</a:t>
            </a:r>
            <a:r>
              <a:rPr sz="1500" spc="-10" dirty="0">
                <a:latin typeface="Times New Roman"/>
                <a:cs typeface="Times New Roman"/>
              </a:rPr>
              <a:t>U</a:t>
            </a:r>
            <a:r>
              <a:rPr sz="1500" spc="5" dirty="0">
                <a:latin typeface="Times New Roman"/>
                <a:cs typeface="Times New Roman"/>
              </a:rPr>
              <a:t>T</a:t>
            </a:r>
            <a:r>
              <a:rPr sz="1500" spc="-100" dirty="0">
                <a:latin typeface="Times New Roman"/>
                <a:cs typeface="Times New Roman"/>
              </a:rPr>
              <a:t> </a:t>
            </a:r>
            <a:r>
              <a:rPr sz="1500" spc="-10" dirty="0">
                <a:latin typeface="Times New Roman"/>
                <a:cs typeface="Times New Roman"/>
              </a:rPr>
              <a:t>AKA</a:t>
            </a:r>
            <a:r>
              <a:rPr sz="1500" spc="5" dirty="0">
                <a:latin typeface="Times New Roman"/>
                <a:cs typeface="Times New Roman"/>
              </a:rPr>
              <a:t>N</a:t>
            </a:r>
            <a:r>
              <a:rPr sz="1500" spc="15" dirty="0">
                <a:latin typeface="Times New Roman"/>
                <a:cs typeface="Times New Roman"/>
              </a:rPr>
              <a:t> </a:t>
            </a:r>
            <a:r>
              <a:rPr sz="1500" spc="10" dirty="0">
                <a:latin typeface="Times New Roman"/>
                <a:cs typeface="Times New Roman"/>
              </a:rPr>
              <a:t>M</a:t>
            </a:r>
            <a:r>
              <a:rPr sz="1500" spc="-10" dirty="0">
                <a:latin typeface="Times New Roman"/>
                <a:cs typeface="Times New Roman"/>
              </a:rPr>
              <a:t>EN</a:t>
            </a:r>
            <a:r>
              <a:rPr sz="1500" spc="10" dirty="0">
                <a:latin typeface="Times New Roman"/>
                <a:cs typeface="Times New Roman"/>
              </a:rPr>
              <a:t>J</a:t>
            </a:r>
            <a:r>
              <a:rPr sz="1500" spc="-10" dirty="0">
                <a:latin typeface="Times New Roman"/>
                <a:cs typeface="Times New Roman"/>
              </a:rPr>
              <a:t>AD</a:t>
            </a:r>
            <a:r>
              <a:rPr sz="1500" dirty="0">
                <a:latin typeface="Times New Roman"/>
                <a:cs typeface="Times New Roman"/>
              </a:rPr>
              <a:t>I </a:t>
            </a:r>
            <a:r>
              <a:rPr sz="1500" spc="-10" dirty="0">
                <a:latin typeface="Times New Roman"/>
                <a:cs typeface="Times New Roman"/>
              </a:rPr>
              <a:t> </a:t>
            </a:r>
            <a:r>
              <a:rPr sz="1500" spc="5" dirty="0">
                <a:latin typeface="Times New Roman"/>
                <a:cs typeface="Times New Roman"/>
              </a:rPr>
              <a:t>1</a:t>
            </a:r>
            <a:r>
              <a:rPr sz="1500" spc="-5" dirty="0">
                <a:latin typeface="Times New Roman"/>
                <a:cs typeface="Times New Roman"/>
              </a:rPr>
              <a:t> </a:t>
            </a:r>
            <a:r>
              <a:rPr sz="1500" spc="5" dirty="0">
                <a:latin typeface="Times New Roman"/>
                <a:cs typeface="Times New Roman"/>
              </a:rPr>
              <a:t>(S</a:t>
            </a:r>
            <a:r>
              <a:rPr sz="1500" spc="-175" dirty="0">
                <a:latin typeface="Times New Roman"/>
                <a:cs typeface="Times New Roman"/>
              </a:rPr>
              <a:t>A</a:t>
            </a:r>
            <a:r>
              <a:rPr sz="1500" spc="-10" dirty="0">
                <a:latin typeface="Times New Roman"/>
                <a:cs typeface="Times New Roman"/>
              </a:rPr>
              <a:t>TU</a:t>
            </a:r>
            <a:r>
              <a:rPr sz="1500" dirty="0">
                <a:latin typeface="Times New Roman"/>
                <a:cs typeface="Times New Roman"/>
              </a:rPr>
              <a:t>)</a:t>
            </a:r>
            <a:r>
              <a:rPr sz="1500" spc="5" dirty="0">
                <a:latin typeface="Times New Roman"/>
                <a:cs typeface="Times New Roman"/>
              </a:rPr>
              <a:t> </a:t>
            </a:r>
            <a:r>
              <a:rPr sz="1500" spc="-10" dirty="0">
                <a:latin typeface="Times New Roman"/>
                <a:cs typeface="Times New Roman"/>
              </a:rPr>
              <a:t>KO</a:t>
            </a:r>
            <a:r>
              <a:rPr sz="1500" spc="-35" dirty="0">
                <a:latin typeface="Times New Roman"/>
                <a:cs typeface="Times New Roman"/>
              </a:rPr>
              <a:t>L</a:t>
            </a:r>
            <a:r>
              <a:rPr sz="1500" spc="-10" dirty="0">
                <a:latin typeface="Times New Roman"/>
                <a:cs typeface="Times New Roman"/>
              </a:rPr>
              <a:t>O</a:t>
            </a:r>
            <a:r>
              <a:rPr sz="1500" spc="10" dirty="0">
                <a:latin typeface="Times New Roman"/>
                <a:cs typeface="Times New Roman"/>
              </a:rPr>
              <a:t>M</a:t>
            </a:r>
            <a:endParaRPr sz="1500">
              <a:latin typeface="Times New Roman"/>
              <a:cs typeface="Times New Roman"/>
            </a:endParaRPr>
          </a:p>
          <a:p>
            <a:pPr>
              <a:lnSpc>
                <a:spcPct val="100000"/>
              </a:lnSpc>
              <a:spcBef>
                <a:spcPts val="20"/>
              </a:spcBef>
              <a:buFont typeface="Wingdings"/>
              <a:buChar char=""/>
            </a:pPr>
            <a:endParaRPr sz="1550">
              <a:latin typeface="Times New Roman"/>
              <a:cs typeface="Times New Roman"/>
            </a:endParaRPr>
          </a:p>
          <a:p>
            <a:pPr marL="201295" indent="-189230">
              <a:lnSpc>
                <a:spcPct val="100000"/>
              </a:lnSpc>
              <a:buFont typeface="Wingdings"/>
              <a:buChar char=""/>
              <a:tabLst>
                <a:tab pos="201930" algn="l"/>
              </a:tabLst>
            </a:pPr>
            <a:r>
              <a:rPr sz="1500" spc="-10" dirty="0">
                <a:latin typeface="Times New Roman"/>
                <a:cs typeface="Times New Roman"/>
              </a:rPr>
              <a:t>NA</a:t>
            </a:r>
            <a:r>
              <a:rPr sz="1500" spc="5" dirty="0">
                <a:latin typeface="Times New Roman"/>
                <a:cs typeface="Times New Roman"/>
              </a:rPr>
              <a:t>MA</a:t>
            </a:r>
            <a:r>
              <a:rPr sz="1500" spc="-175" dirty="0">
                <a:latin typeface="Times New Roman"/>
                <a:cs typeface="Times New Roman"/>
              </a:rPr>
              <a:t> A</a:t>
            </a:r>
            <a:r>
              <a:rPr sz="1500" spc="-10" dirty="0">
                <a:latin typeface="Times New Roman"/>
                <a:cs typeface="Times New Roman"/>
              </a:rPr>
              <a:t>T</a:t>
            </a:r>
            <a:r>
              <a:rPr sz="1500" spc="5" dirty="0">
                <a:latin typeface="Times New Roman"/>
                <a:cs typeface="Times New Roman"/>
              </a:rPr>
              <a:t>R</a:t>
            </a:r>
            <a:r>
              <a:rPr sz="1500" spc="-25" dirty="0">
                <a:latin typeface="Times New Roman"/>
                <a:cs typeface="Times New Roman"/>
              </a:rPr>
              <a:t>I</a:t>
            </a:r>
            <a:r>
              <a:rPr sz="1500" spc="5" dirty="0">
                <a:latin typeface="Times New Roman"/>
                <a:cs typeface="Times New Roman"/>
              </a:rPr>
              <a:t>B</a:t>
            </a:r>
            <a:r>
              <a:rPr sz="1500" spc="-10" dirty="0">
                <a:latin typeface="Times New Roman"/>
                <a:cs typeface="Times New Roman"/>
              </a:rPr>
              <a:t>U</a:t>
            </a:r>
            <a:r>
              <a:rPr sz="1500" spc="5" dirty="0">
                <a:latin typeface="Times New Roman"/>
                <a:cs typeface="Times New Roman"/>
              </a:rPr>
              <a:t>T</a:t>
            </a:r>
            <a:r>
              <a:rPr sz="1500" spc="-100" dirty="0">
                <a:latin typeface="Times New Roman"/>
                <a:cs typeface="Times New Roman"/>
              </a:rPr>
              <a:t> </a:t>
            </a:r>
            <a:r>
              <a:rPr sz="1500" spc="-10" dirty="0">
                <a:latin typeface="Times New Roman"/>
                <a:cs typeface="Times New Roman"/>
              </a:rPr>
              <a:t>AKA</a:t>
            </a:r>
            <a:r>
              <a:rPr sz="1500" spc="5" dirty="0">
                <a:latin typeface="Times New Roman"/>
                <a:cs typeface="Times New Roman"/>
              </a:rPr>
              <a:t>N</a:t>
            </a:r>
            <a:r>
              <a:rPr sz="1500" spc="15" dirty="0">
                <a:latin typeface="Times New Roman"/>
                <a:cs typeface="Times New Roman"/>
              </a:rPr>
              <a:t> </a:t>
            </a:r>
            <a:r>
              <a:rPr sz="1500" spc="10" dirty="0">
                <a:latin typeface="Times New Roman"/>
                <a:cs typeface="Times New Roman"/>
              </a:rPr>
              <a:t>M</a:t>
            </a:r>
            <a:r>
              <a:rPr sz="1500" spc="-10" dirty="0">
                <a:latin typeface="Times New Roman"/>
                <a:cs typeface="Times New Roman"/>
              </a:rPr>
              <a:t>EN</a:t>
            </a:r>
            <a:r>
              <a:rPr sz="1500" spc="10" dirty="0">
                <a:latin typeface="Times New Roman"/>
                <a:cs typeface="Times New Roman"/>
              </a:rPr>
              <a:t>J</a:t>
            </a:r>
            <a:r>
              <a:rPr sz="1500" spc="-10" dirty="0">
                <a:latin typeface="Times New Roman"/>
                <a:cs typeface="Times New Roman"/>
              </a:rPr>
              <a:t>AD</a:t>
            </a:r>
            <a:r>
              <a:rPr sz="1500" dirty="0">
                <a:latin typeface="Times New Roman"/>
                <a:cs typeface="Times New Roman"/>
              </a:rPr>
              <a:t>I</a:t>
            </a:r>
            <a:r>
              <a:rPr sz="1500" spc="-20" dirty="0">
                <a:latin typeface="Times New Roman"/>
                <a:cs typeface="Times New Roman"/>
              </a:rPr>
              <a:t> </a:t>
            </a:r>
            <a:r>
              <a:rPr sz="1500" spc="-10" dirty="0">
                <a:latin typeface="Times New Roman"/>
                <a:cs typeface="Times New Roman"/>
              </a:rPr>
              <a:t>NA</a:t>
            </a:r>
            <a:r>
              <a:rPr sz="1500" spc="5" dirty="0">
                <a:latin typeface="Times New Roman"/>
                <a:cs typeface="Times New Roman"/>
              </a:rPr>
              <a:t>MA</a:t>
            </a:r>
            <a:r>
              <a:rPr sz="1500" spc="-80" dirty="0">
                <a:latin typeface="Times New Roman"/>
                <a:cs typeface="Times New Roman"/>
              </a:rPr>
              <a:t> </a:t>
            </a:r>
            <a:r>
              <a:rPr sz="1500" spc="-10" dirty="0">
                <a:latin typeface="Times New Roman"/>
                <a:cs typeface="Times New Roman"/>
              </a:rPr>
              <a:t>KO</a:t>
            </a:r>
            <a:r>
              <a:rPr sz="1500" spc="-35" dirty="0">
                <a:latin typeface="Times New Roman"/>
                <a:cs typeface="Times New Roman"/>
              </a:rPr>
              <a:t>L</a:t>
            </a:r>
            <a:r>
              <a:rPr sz="1500" spc="-10" dirty="0">
                <a:latin typeface="Times New Roman"/>
                <a:cs typeface="Times New Roman"/>
              </a:rPr>
              <a:t>O</a:t>
            </a:r>
            <a:r>
              <a:rPr sz="1500" spc="10" dirty="0">
                <a:latin typeface="Times New Roman"/>
                <a:cs typeface="Times New Roman"/>
              </a:rPr>
              <a:t>M</a:t>
            </a:r>
            <a:endParaRPr sz="1500">
              <a:latin typeface="Times New Roman"/>
              <a:cs typeface="Times New Roman"/>
            </a:endParaRPr>
          </a:p>
        </p:txBody>
      </p:sp>
      <p:sp>
        <p:nvSpPr>
          <p:cNvPr id="3" name="object 3"/>
          <p:cNvSpPr txBox="1"/>
          <p:nvPr/>
        </p:nvSpPr>
        <p:spPr>
          <a:xfrm>
            <a:off x="1295400" y="1981200"/>
            <a:ext cx="1447800" cy="2057400"/>
          </a:xfrm>
          <a:prstGeom prst="rect">
            <a:avLst/>
          </a:prstGeom>
          <a:ln w="12700">
            <a:solidFill>
              <a:srgbClr val="000000"/>
            </a:solidFill>
          </a:ln>
        </p:spPr>
        <p:txBody>
          <a:bodyPr vert="horz" wrap="square" lIns="0" tIns="1270" rIns="0" bIns="0" rtlCol="0">
            <a:spAutoFit/>
          </a:bodyPr>
          <a:lstStyle/>
          <a:p>
            <a:pPr>
              <a:lnSpc>
                <a:spcPct val="100000"/>
              </a:lnSpc>
              <a:spcBef>
                <a:spcPts val="10"/>
              </a:spcBef>
            </a:pPr>
            <a:endParaRPr sz="1550">
              <a:latin typeface="Times New Roman"/>
              <a:cs typeface="Times New Roman"/>
            </a:endParaRPr>
          </a:p>
          <a:p>
            <a:pPr marL="92075" marR="685165">
              <a:lnSpc>
                <a:spcPct val="100000"/>
              </a:lnSpc>
            </a:pPr>
            <a:r>
              <a:rPr sz="1600" u="heavy" spc="-175" dirty="0">
                <a:uFill>
                  <a:solidFill>
                    <a:srgbClr val="000000"/>
                  </a:solidFill>
                </a:uFill>
                <a:latin typeface="Arial MT"/>
                <a:cs typeface="Arial MT"/>
              </a:rPr>
              <a:t>NIM </a:t>
            </a:r>
            <a:r>
              <a:rPr sz="1600" spc="-170" dirty="0">
                <a:latin typeface="Arial MT"/>
                <a:cs typeface="Arial MT"/>
              </a:rPr>
              <a:t> </a:t>
            </a:r>
            <a:r>
              <a:rPr sz="1600" spc="-204" dirty="0">
                <a:latin typeface="Arial MT"/>
                <a:cs typeface="Arial MT"/>
              </a:rPr>
              <a:t>NAMA </a:t>
            </a:r>
            <a:r>
              <a:rPr sz="1600" spc="-200" dirty="0">
                <a:latin typeface="Arial MT"/>
                <a:cs typeface="Arial MT"/>
              </a:rPr>
              <a:t> </a:t>
            </a:r>
            <a:r>
              <a:rPr sz="1600" spc="-185" dirty="0">
                <a:latin typeface="Arial MT"/>
                <a:cs typeface="Arial MT"/>
              </a:rPr>
              <a:t>A</a:t>
            </a:r>
            <a:r>
              <a:rPr sz="1600" spc="-155" dirty="0">
                <a:latin typeface="Arial MT"/>
                <a:cs typeface="Arial MT"/>
              </a:rPr>
              <a:t>L</a:t>
            </a:r>
            <a:r>
              <a:rPr sz="1600" spc="-185" dirty="0">
                <a:latin typeface="Arial MT"/>
                <a:cs typeface="Arial MT"/>
              </a:rPr>
              <a:t>A</a:t>
            </a:r>
            <a:r>
              <a:rPr sz="1600" spc="-235" dirty="0">
                <a:latin typeface="Arial MT"/>
                <a:cs typeface="Arial MT"/>
              </a:rPr>
              <a:t>M</a:t>
            </a:r>
            <a:r>
              <a:rPr sz="1600" spc="-280" dirty="0">
                <a:latin typeface="Arial MT"/>
                <a:cs typeface="Arial MT"/>
              </a:rPr>
              <a:t>A</a:t>
            </a:r>
            <a:r>
              <a:rPr sz="1600" spc="-175" dirty="0">
                <a:latin typeface="Arial MT"/>
                <a:cs typeface="Arial MT"/>
              </a:rPr>
              <a:t>T</a:t>
            </a:r>
            <a:endParaRPr sz="1600">
              <a:latin typeface="Arial MT"/>
              <a:cs typeface="Arial MT"/>
            </a:endParaRPr>
          </a:p>
          <a:p>
            <a:pPr marL="92075" marR="151130">
              <a:lnSpc>
                <a:spcPct val="100000"/>
              </a:lnSpc>
            </a:pPr>
            <a:r>
              <a:rPr sz="1600" spc="-170" dirty="0">
                <a:latin typeface="Arial MT"/>
                <a:cs typeface="Arial MT"/>
              </a:rPr>
              <a:t>T</a:t>
            </a:r>
            <a:r>
              <a:rPr sz="1600" spc="-185" dirty="0">
                <a:latin typeface="Arial MT"/>
                <a:cs typeface="Arial MT"/>
              </a:rPr>
              <a:t>E</a:t>
            </a:r>
            <a:r>
              <a:rPr sz="1600" spc="-235" dirty="0">
                <a:latin typeface="Arial MT"/>
                <a:cs typeface="Arial MT"/>
              </a:rPr>
              <a:t>M</a:t>
            </a:r>
            <a:r>
              <a:rPr sz="1600" spc="-280" dirty="0">
                <a:latin typeface="Arial MT"/>
                <a:cs typeface="Arial MT"/>
              </a:rPr>
              <a:t>PA</a:t>
            </a:r>
            <a:r>
              <a:rPr sz="1600" spc="-260" dirty="0">
                <a:latin typeface="Arial MT"/>
                <a:cs typeface="Arial MT"/>
              </a:rPr>
              <a:t>T</a:t>
            </a:r>
            <a:r>
              <a:rPr sz="1600" spc="-105" dirty="0">
                <a:latin typeface="Arial MT"/>
                <a:cs typeface="Arial MT"/>
              </a:rPr>
              <a:t>-</a:t>
            </a:r>
            <a:r>
              <a:rPr sz="1600" spc="-155" dirty="0">
                <a:latin typeface="Arial MT"/>
                <a:cs typeface="Arial MT"/>
              </a:rPr>
              <a:t>L</a:t>
            </a:r>
            <a:r>
              <a:rPr sz="1600" spc="-210" dirty="0">
                <a:latin typeface="Arial MT"/>
                <a:cs typeface="Arial MT"/>
              </a:rPr>
              <a:t>A</a:t>
            </a:r>
            <a:r>
              <a:rPr sz="1600" spc="-200" dirty="0">
                <a:latin typeface="Arial MT"/>
                <a:cs typeface="Arial MT"/>
              </a:rPr>
              <a:t>H</a:t>
            </a:r>
            <a:r>
              <a:rPr sz="1600" spc="-90" dirty="0">
                <a:latin typeface="Arial MT"/>
                <a:cs typeface="Arial MT"/>
              </a:rPr>
              <a:t>I</a:t>
            </a:r>
            <a:r>
              <a:rPr sz="1600" spc="-125" dirty="0">
                <a:latin typeface="Arial MT"/>
                <a:cs typeface="Arial MT"/>
              </a:rPr>
              <a:t>R  </a:t>
            </a:r>
            <a:r>
              <a:rPr sz="1600" spc="-165" dirty="0">
                <a:latin typeface="Arial MT"/>
                <a:cs typeface="Arial MT"/>
              </a:rPr>
              <a:t>TGL-LAHIR</a:t>
            </a:r>
            <a:endParaRPr sz="1600">
              <a:latin typeface="Arial MT"/>
              <a:cs typeface="Arial MT"/>
            </a:endParaRPr>
          </a:p>
          <a:p>
            <a:pPr marL="92075">
              <a:lnSpc>
                <a:spcPct val="100000"/>
              </a:lnSpc>
              <a:spcBef>
                <a:spcPts val="5"/>
              </a:spcBef>
            </a:pPr>
            <a:r>
              <a:rPr sz="1600" spc="-165" dirty="0">
                <a:latin typeface="Arial MT"/>
                <a:cs typeface="Arial MT"/>
              </a:rPr>
              <a:t>J-KELAMIN</a:t>
            </a:r>
            <a:endParaRPr sz="1600">
              <a:latin typeface="Arial MT"/>
              <a:cs typeface="Arial MT"/>
            </a:endParaRPr>
          </a:p>
        </p:txBody>
      </p:sp>
      <p:graphicFrame>
        <p:nvGraphicFramePr>
          <p:cNvPr id="4" name="object 4"/>
          <p:cNvGraphicFramePr>
            <a:graphicFrameLocks noGrp="1"/>
          </p:cNvGraphicFramePr>
          <p:nvPr/>
        </p:nvGraphicFramePr>
        <p:xfrm>
          <a:off x="4870450" y="2508250"/>
          <a:ext cx="2838450" cy="1079500"/>
        </p:xfrm>
        <a:graphic>
          <a:graphicData uri="http://schemas.openxmlformats.org/drawingml/2006/table">
            <a:tbl>
              <a:tblPr firstRow="1" bandRow="1">
                <a:tableStyleId>{2D5ABB26-0587-4C30-8999-92F81FD0307C}</a:tableStyleId>
              </a:tblPr>
              <a:tblGrid>
                <a:gridCol w="609600"/>
                <a:gridCol w="685800"/>
                <a:gridCol w="762000"/>
                <a:gridCol w="762000"/>
              </a:tblGrid>
              <a:tr h="228600">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pSp>
        <p:nvGrpSpPr>
          <p:cNvPr id="5" name="object 5"/>
          <p:cNvGrpSpPr/>
          <p:nvPr/>
        </p:nvGrpSpPr>
        <p:grpSpPr>
          <a:xfrm>
            <a:off x="3117850" y="2660650"/>
            <a:ext cx="1231900" cy="850900"/>
            <a:chOff x="3117850" y="2660650"/>
            <a:chExt cx="1231900" cy="850900"/>
          </a:xfrm>
        </p:grpSpPr>
        <p:sp>
          <p:nvSpPr>
            <p:cNvPr id="6" name="object 6"/>
            <p:cNvSpPr/>
            <p:nvPr/>
          </p:nvSpPr>
          <p:spPr>
            <a:xfrm>
              <a:off x="3124200" y="2666999"/>
              <a:ext cx="1219200" cy="838200"/>
            </a:xfrm>
            <a:custGeom>
              <a:avLst/>
              <a:gdLst/>
              <a:ahLst/>
              <a:cxnLst/>
              <a:rect l="l" t="t" r="r" b="b"/>
              <a:pathLst>
                <a:path w="1219200" h="838200">
                  <a:moveTo>
                    <a:pt x="38100" y="209550"/>
                  </a:moveTo>
                  <a:lnTo>
                    <a:pt x="0" y="209550"/>
                  </a:lnTo>
                  <a:lnTo>
                    <a:pt x="0" y="628650"/>
                  </a:lnTo>
                  <a:lnTo>
                    <a:pt x="38100" y="628650"/>
                  </a:lnTo>
                  <a:lnTo>
                    <a:pt x="38100" y="209550"/>
                  </a:lnTo>
                  <a:close/>
                </a:path>
                <a:path w="1219200" h="838200">
                  <a:moveTo>
                    <a:pt x="152400" y="209550"/>
                  </a:moveTo>
                  <a:lnTo>
                    <a:pt x="76200" y="209550"/>
                  </a:lnTo>
                  <a:lnTo>
                    <a:pt x="76200" y="628650"/>
                  </a:lnTo>
                  <a:lnTo>
                    <a:pt x="152400" y="628650"/>
                  </a:lnTo>
                  <a:lnTo>
                    <a:pt x="152400" y="209550"/>
                  </a:lnTo>
                  <a:close/>
                </a:path>
                <a:path w="1219200" h="838200">
                  <a:moveTo>
                    <a:pt x="1219200" y="419100"/>
                  </a:moveTo>
                  <a:lnTo>
                    <a:pt x="914400" y="0"/>
                  </a:lnTo>
                  <a:lnTo>
                    <a:pt x="914400" y="209550"/>
                  </a:lnTo>
                  <a:lnTo>
                    <a:pt x="190500" y="209550"/>
                  </a:lnTo>
                  <a:lnTo>
                    <a:pt x="190500" y="628650"/>
                  </a:lnTo>
                  <a:lnTo>
                    <a:pt x="914400" y="628650"/>
                  </a:lnTo>
                  <a:lnTo>
                    <a:pt x="914400" y="838200"/>
                  </a:lnTo>
                  <a:lnTo>
                    <a:pt x="1219200" y="419100"/>
                  </a:lnTo>
                  <a:close/>
                </a:path>
              </a:pathLst>
            </a:custGeom>
            <a:solidFill>
              <a:srgbClr val="FFFF99">
                <a:alpha val="50195"/>
              </a:srgbClr>
            </a:solidFill>
          </p:spPr>
          <p:txBody>
            <a:bodyPr wrap="square" lIns="0" tIns="0" rIns="0" bIns="0" rtlCol="0"/>
            <a:lstStyle/>
            <a:p>
              <a:endParaRPr/>
            </a:p>
          </p:txBody>
        </p:sp>
        <p:sp>
          <p:nvSpPr>
            <p:cNvPr id="7" name="object 7"/>
            <p:cNvSpPr/>
            <p:nvPr/>
          </p:nvSpPr>
          <p:spPr>
            <a:xfrm>
              <a:off x="3124200" y="2667000"/>
              <a:ext cx="1219200" cy="838200"/>
            </a:xfrm>
            <a:custGeom>
              <a:avLst/>
              <a:gdLst/>
              <a:ahLst/>
              <a:cxnLst/>
              <a:rect l="l" t="t" r="r" b="b"/>
              <a:pathLst>
                <a:path w="1219200" h="838200">
                  <a:moveTo>
                    <a:pt x="914400" y="0"/>
                  </a:moveTo>
                  <a:lnTo>
                    <a:pt x="914400" y="209550"/>
                  </a:lnTo>
                  <a:lnTo>
                    <a:pt x="190500" y="209550"/>
                  </a:lnTo>
                  <a:lnTo>
                    <a:pt x="190500" y="628650"/>
                  </a:lnTo>
                  <a:lnTo>
                    <a:pt x="914400" y="628650"/>
                  </a:lnTo>
                  <a:lnTo>
                    <a:pt x="914400" y="838200"/>
                  </a:lnTo>
                  <a:lnTo>
                    <a:pt x="1219200" y="419100"/>
                  </a:lnTo>
                  <a:lnTo>
                    <a:pt x="914400" y="0"/>
                  </a:lnTo>
                  <a:close/>
                </a:path>
                <a:path w="1219200" h="838200">
                  <a:moveTo>
                    <a:pt x="76200" y="628650"/>
                  </a:moveTo>
                  <a:lnTo>
                    <a:pt x="152400" y="628650"/>
                  </a:lnTo>
                  <a:lnTo>
                    <a:pt x="152400" y="209550"/>
                  </a:lnTo>
                  <a:lnTo>
                    <a:pt x="76200" y="209550"/>
                  </a:lnTo>
                  <a:lnTo>
                    <a:pt x="76200" y="628650"/>
                  </a:lnTo>
                  <a:close/>
                </a:path>
                <a:path w="1219200" h="838200">
                  <a:moveTo>
                    <a:pt x="0" y="628650"/>
                  </a:moveTo>
                  <a:lnTo>
                    <a:pt x="38100" y="628650"/>
                  </a:lnTo>
                  <a:lnTo>
                    <a:pt x="38100" y="209550"/>
                  </a:lnTo>
                  <a:lnTo>
                    <a:pt x="0" y="209550"/>
                  </a:lnTo>
                  <a:lnTo>
                    <a:pt x="0" y="628650"/>
                  </a:lnTo>
                  <a:close/>
                </a:path>
              </a:pathLst>
            </a:custGeom>
            <a:ln w="12700">
              <a:solidFill>
                <a:srgbClr val="000000"/>
              </a:solidFill>
            </a:ln>
          </p:spPr>
          <p:txBody>
            <a:bodyPr wrap="square" lIns="0" tIns="0" rIns="0" bIns="0" rtlCol="0"/>
            <a:lstStyle/>
            <a:p>
              <a:endParaRPr/>
            </a:p>
          </p:txBody>
        </p:sp>
      </p:grpSp>
      <p:pic>
        <p:nvPicPr>
          <p:cNvPr id="8" name="object 8"/>
          <p:cNvPicPr/>
          <p:nvPr/>
        </p:nvPicPr>
        <p:blipFill>
          <a:blip r:embed="rId2" cstate="print"/>
          <a:stretch>
            <a:fillRect/>
          </a:stretch>
        </p:blipFill>
        <p:spPr>
          <a:xfrm>
            <a:off x="1219200" y="381000"/>
            <a:ext cx="6507226" cy="457200"/>
          </a:xfrm>
          <a:prstGeom prst="rect">
            <a:avLst/>
          </a:prstGeom>
        </p:spPr>
      </p:pic>
      <p:sp>
        <p:nvSpPr>
          <p:cNvPr id="9" name="object 9"/>
          <p:cNvSpPr txBox="1"/>
          <p:nvPr/>
        </p:nvSpPr>
        <p:spPr>
          <a:xfrm>
            <a:off x="536244" y="444195"/>
            <a:ext cx="6196330" cy="1533525"/>
          </a:xfrm>
          <a:prstGeom prst="rect">
            <a:avLst/>
          </a:prstGeom>
        </p:spPr>
        <p:txBody>
          <a:bodyPr vert="horz" wrap="square" lIns="0" tIns="13970" rIns="0" bIns="0" rtlCol="0">
            <a:spAutoFit/>
          </a:bodyPr>
          <a:lstStyle/>
          <a:p>
            <a:pPr marL="1310005">
              <a:lnSpc>
                <a:spcPct val="100000"/>
              </a:lnSpc>
              <a:spcBef>
                <a:spcPts val="110"/>
              </a:spcBef>
            </a:pPr>
            <a:r>
              <a:rPr sz="1600" b="1" spc="-130" dirty="0">
                <a:latin typeface="Times New Roman"/>
                <a:cs typeface="Times New Roman"/>
              </a:rPr>
              <a:t>A</a:t>
            </a:r>
            <a:r>
              <a:rPr sz="1600" b="1" spc="5" dirty="0">
                <a:latin typeface="Times New Roman"/>
                <a:cs typeface="Times New Roman"/>
              </a:rPr>
              <a:t>T</a:t>
            </a:r>
            <a:r>
              <a:rPr sz="1600" b="1" spc="-10" dirty="0">
                <a:latin typeface="Times New Roman"/>
                <a:cs typeface="Times New Roman"/>
              </a:rPr>
              <a:t>URA</a:t>
            </a:r>
            <a:r>
              <a:rPr sz="1600" b="1" spc="5" dirty="0">
                <a:latin typeface="Times New Roman"/>
                <a:cs typeface="Times New Roman"/>
              </a:rPr>
              <a:t>N</a:t>
            </a:r>
            <a:r>
              <a:rPr sz="1600" b="1" spc="-75" dirty="0">
                <a:latin typeface="Times New Roman"/>
                <a:cs typeface="Times New Roman"/>
              </a:rPr>
              <a:t> </a:t>
            </a:r>
            <a:r>
              <a:rPr sz="1600" b="1" spc="5" dirty="0">
                <a:latin typeface="Times New Roman"/>
                <a:cs typeface="Times New Roman"/>
              </a:rPr>
              <a:t>T</a:t>
            </a:r>
            <a:r>
              <a:rPr sz="1600" b="1" spc="-10" dirty="0">
                <a:latin typeface="Times New Roman"/>
                <a:cs typeface="Times New Roman"/>
              </a:rPr>
              <a:t>RAN</a:t>
            </a:r>
            <a:r>
              <a:rPr sz="1600" b="1" spc="-5" dirty="0">
                <a:latin typeface="Times New Roman"/>
                <a:cs typeface="Times New Roman"/>
              </a:rPr>
              <a:t>S</a:t>
            </a:r>
            <a:r>
              <a:rPr sz="1600" b="1" spc="5" dirty="0">
                <a:latin typeface="Times New Roman"/>
                <a:cs typeface="Times New Roman"/>
              </a:rPr>
              <a:t>F</a:t>
            </a:r>
            <a:r>
              <a:rPr sz="1600" b="1" dirty="0">
                <a:latin typeface="Times New Roman"/>
                <a:cs typeface="Times New Roman"/>
              </a:rPr>
              <a:t>O</a:t>
            </a:r>
            <a:r>
              <a:rPr sz="1600" b="1" spc="-10" dirty="0">
                <a:latin typeface="Times New Roman"/>
                <a:cs typeface="Times New Roman"/>
              </a:rPr>
              <a:t>R</a:t>
            </a:r>
            <a:r>
              <a:rPr sz="1600" b="1" spc="-5" dirty="0">
                <a:latin typeface="Times New Roman"/>
                <a:cs typeface="Times New Roman"/>
              </a:rPr>
              <a:t>M</a:t>
            </a:r>
            <a:r>
              <a:rPr sz="1600" b="1" spc="-10" dirty="0">
                <a:latin typeface="Times New Roman"/>
                <a:cs typeface="Times New Roman"/>
              </a:rPr>
              <a:t>A</a:t>
            </a:r>
            <a:r>
              <a:rPr sz="1600" b="1" spc="-5" dirty="0">
                <a:latin typeface="Times New Roman"/>
                <a:cs typeface="Times New Roman"/>
              </a:rPr>
              <a:t>S</a:t>
            </a:r>
            <a:r>
              <a:rPr sz="1600" b="1" dirty="0">
                <a:latin typeface="Times New Roman"/>
                <a:cs typeface="Times New Roman"/>
              </a:rPr>
              <a:t>I</a:t>
            </a:r>
            <a:r>
              <a:rPr sz="1600" b="1" spc="-45" dirty="0">
                <a:latin typeface="Times New Roman"/>
                <a:cs typeface="Times New Roman"/>
              </a:rPr>
              <a:t> </a:t>
            </a:r>
            <a:r>
              <a:rPr sz="1600" b="1" spc="5" dirty="0">
                <a:latin typeface="Times New Roman"/>
                <a:cs typeface="Times New Roman"/>
              </a:rPr>
              <a:t>L</a:t>
            </a:r>
            <a:r>
              <a:rPr sz="1600" b="1" spc="-10" dirty="0">
                <a:latin typeface="Times New Roman"/>
                <a:cs typeface="Times New Roman"/>
              </a:rPr>
              <a:t>R</a:t>
            </a:r>
            <a:r>
              <a:rPr sz="1600" b="1" spc="5" dirty="0">
                <a:latin typeface="Times New Roman"/>
                <a:cs typeface="Times New Roman"/>
              </a:rPr>
              <a:t>S</a:t>
            </a:r>
            <a:r>
              <a:rPr sz="1600" b="1" spc="-25" dirty="0">
                <a:latin typeface="Times New Roman"/>
                <a:cs typeface="Times New Roman"/>
              </a:rPr>
              <a:t> </a:t>
            </a:r>
            <a:r>
              <a:rPr sz="1600" b="1" dirty="0">
                <a:latin typeface="Times New Roman"/>
                <a:cs typeface="Times New Roman"/>
              </a:rPr>
              <a:t>K</a:t>
            </a:r>
            <a:r>
              <a:rPr sz="1600" b="1" spc="5" dirty="0">
                <a:latin typeface="Times New Roman"/>
                <a:cs typeface="Times New Roman"/>
              </a:rPr>
              <a:t>E</a:t>
            </a:r>
            <a:r>
              <a:rPr sz="1600" b="1" spc="-15" dirty="0">
                <a:latin typeface="Times New Roman"/>
                <a:cs typeface="Times New Roman"/>
              </a:rPr>
              <a:t> </a:t>
            </a:r>
            <a:r>
              <a:rPr sz="1600" b="1" spc="-10" dirty="0">
                <a:latin typeface="Times New Roman"/>
                <a:cs typeface="Times New Roman"/>
              </a:rPr>
              <a:t>R</a:t>
            </a:r>
            <a:r>
              <a:rPr sz="1600" b="1" spc="5" dirty="0">
                <a:latin typeface="Times New Roman"/>
                <a:cs typeface="Times New Roman"/>
              </a:rPr>
              <a:t>EL</a:t>
            </a:r>
            <a:r>
              <a:rPr sz="1600" b="1" spc="-10" dirty="0">
                <a:latin typeface="Times New Roman"/>
                <a:cs typeface="Times New Roman"/>
              </a:rPr>
              <a:t>A</a:t>
            </a:r>
            <a:r>
              <a:rPr sz="1600" b="1" spc="-5" dirty="0">
                <a:latin typeface="Times New Roman"/>
                <a:cs typeface="Times New Roman"/>
              </a:rPr>
              <a:t>S</a:t>
            </a:r>
            <a:r>
              <a:rPr sz="1600" b="1" dirty="0">
                <a:latin typeface="Times New Roman"/>
                <a:cs typeface="Times New Roman"/>
              </a:rPr>
              <a:t>I/</a:t>
            </a:r>
            <a:r>
              <a:rPr sz="1600" b="1" spc="-110" dirty="0">
                <a:latin typeface="Times New Roman"/>
                <a:cs typeface="Times New Roman"/>
              </a:rPr>
              <a:t>T</a:t>
            </a:r>
            <a:r>
              <a:rPr sz="1600" b="1" spc="-10" dirty="0">
                <a:latin typeface="Times New Roman"/>
                <a:cs typeface="Times New Roman"/>
              </a:rPr>
              <a:t>A</a:t>
            </a:r>
            <a:r>
              <a:rPr sz="1600" b="1" spc="5" dirty="0">
                <a:latin typeface="Times New Roman"/>
                <a:cs typeface="Times New Roman"/>
              </a:rPr>
              <a:t>BEL</a:t>
            </a:r>
            <a:endParaRPr sz="1600">
              <a:latin typeface="Times New Roman"/>
              <a:cs typeface="Times New Roman"/>
            </a:endParaRPr>
          </a:p>
          <a:p>
            <a:pPr>
              <a:lnSpc>
                <a:spcPct val="100000"/>
              </a:lnSpc>
              <a:spcBef>
                <a:spcPts val="50"/>
              </a:spcBef>
            </a:pPr>
            <a:endParaRPr sz="2150">
              <a:latin typeface="Times New Roman"/>
              <a:cs typeface="Times New Roman"/>
            </a:endParaRPr>
          </a:p>
          <a:p>
            <a:pPr marL="156210" indent="-144145">
              <a:lnSpc>
                <a:spcPct val="100000"/>
              </a:lnSpc>
              <a:buSzPct val="93333"/>
              <a:buFont typeface="Wingdings"/>
              <a:buChar char=""/>
              <a:tabLst>
                <a:tab pos="156845" algn="l"/>
              </a:tabLst>
            </a:pPr>
            <a:r>
              <a:rPr sz="1500" spc="-10" dirty="0">
                <a:latin typeface="Times New Roman"/>
                <a:cs typeface="Times New Roman"/>
              </a:rPr>
              <a:t>T</a:t>
            </a:r>
            <a:r>
              <a:rPr sz="1500" spc="-25" dirty="0">
                <a:latin typeface="Times New Roman"/>
                <a:cs typeface="Times New Roman"/>
              </a:rPr>
              <a:t>I</a:t>
            </a:r>
            <a:r>
              <a:rPr sz="1500" spc="-10" dirty="0">
                <a:latin typeface="Times New Roman"/>
                <a:cs typeface="Times New Roman"/>
              </a:rPr>
              <a:t>A</a:t>
            </a:r>
            <a:r>
              <a:rPr sz="1500" spc="5" dirty="0">
                <a:latin typeface="Times New Roman"/>
                <a:cs typeface="Times New Roman"/>
              </a:rPr>
              <a:t>P</a:t>
            </a:r>
            <a:r>
              <a:rPr sz="1500" spc="-65" dirty="0">
                <a:latin typeface="Times New Roman"/>
                <a:cs typeface="Times New Roman"/>
              </a:rPr>
              <a:t> </a:t>
            </a:r>
            <a:r>
              <a:rPr sz="1500" spc="5" dirty="0">
                <a:latin typeface="Times New Roman"/>
                <a:cs typeface="Times New Roman"/>
              </a:rPr>
              <a:t>S</a:t>
            </a:r>
            <a:r>
              <a:rPr sz="1500" spc="-175" dirty="0">
                <a:latin typeface="Times New Roman"/>
                <a:cs typeface="Times New Roman"/>
              </a:rPr>
              <a:t>A</a:t>
            </a:r>
            <a:r>
              <a:rPr sz="1500" spc="-10" dirty="0">
                <a:latin typeface="Times New Roman"/>
                <a:cs typeface="Times New Roman"/>
              </a:rPr>
              <a:t>T</a:t>
            </a:r>
            <a:r>
              <a:rPr sz="1500" spc="5" dirty="0">
                <a:latin typeface="Times New Roman"/>
                <a:cs typeface="Times New Roman"/>
              </a:rPr>
              <a:t>U</a:t>
            </a:r>
            <a:r>
              <a:rPr sz="1500" spc="15" dirty="0">
                <a:latin typeface="Times New Roman"/>
                <a:cs typeface="Times New Roman"/>
              </a:rPr>
              <a:t> </a:t>
            </a:r>
            <a:r>
              <a:rPr sz="1500" spc="-35" dirty="0">
                <a:latin typeface="Times New Roman"/>
                <a:cs typeface="Times New Roman"/>
              </a:rPr>
              <a:t>L</a:t>
            </a:r>
            <a:r>
              <a:rPr sz="1500" spc="5" dirty="0">
                <a:latin typeface="Times New Roman"/>
                <a:cs typeface="Times New Roman"/>
              </a:rPr>
              <a:t>RS</a:t>
            </a:r>
            <a:r>
              <a:rPr sz="1500" spc="-90" dirty="0">
                <a:latin typeface="Times New Roman"/>
                <a:cs typeface="Times New Roman"/>
              </a:rPr>
              <a:t> </a:t>
            </a:r>
            <a:r>
              <a:rPr sz="1500" spc="-10" dirty="0">
                <a:latin typeface="Times New Roman"/>
                <a:cs typeface="Times New Roman"/>
              </a:rPr>
              <a:t>AKA</a:t>
            </a:r>
            <a:r>
              <a:rPr sz="1500" spc="5" dirty="0">
                <a:latin typeface="Times New Roman"/>
                <a:cs typeface="Times New Roman"/>
              </a:rPr>
              <a:t>N</a:t>
            </a:r>
            <a:r>
              <a:rPr sz="1500" spc="15" dirty="0">
                <a:latin typeface="Times New Roman"/>
                <a:cs typeface="Times New Roman"/>
              </a:rPr>
              <a:t> </a:t>
            </a:r>
            <a:r>
              <a:rPr sz="1500" spc="10" dirty="0">
                <a:latin typeface="Times New Roman"/>
                <a:cs typeface="Times New Roman"/>
              </a:rPr>
              <a:t>M</a:t>
            </a:r>
            <a:r>
              <a:rPr sz="1500" spc="-10" dirty="0">
                <a:latin typeface="Times New Roman"/>
                <a:cs typeface="Times New Roman"/>
              </a:rPr>
              <a:t>EN</a:t>
            </a:r>
            <a:r>
              <a:rPr sz="1500" spc="10" dirty="0">
                <a:latin typeface="Times New Roman"/>
                <a:cs typeface="Times New Roman"/>
              </a:rPr>
              <a:t>J</a:t>
            </a:r>
            <a:r>
              <a:rPr sz="1500" spc="-10" dirty="0">
                <a:latin typeface="Times New Roman"/>
                <a:cs typeface="Times New Roman"/>
              </a:rPr>
              <a:t>AD</a:t>
            </a:r>
            <a:r>
              <a:rPr sz="1500" dirty="0">
                <a:latin typeface="Times New Roman"/>
                <a:cs typeface="Times New Roman"/>
              </a:rPr>
              <a:t>I</a:t>
            </a:r>
            <a:r>
              <a:rPr sz="1500" spc="5" dirty="0">
                <a:latin typeface="Times New Roman"/>
                <a:cs typeface="Times New Roman"/>
              </a:rPr>
              <a:t> S</a:t>
            </a:r>
            <a:r>
              <a:rPr sz="1500" spc="-175" dirty="0">
                <a:latin typeface="Times New Roman"/>
                <a:cs typeface="Times New Roman"/>
              </a:rPr>
              <a:t>A</a:t>
            </a:r>
            <a:r>
              <a:rPr sz="1500" spc="-10" dirty="0">
                <a:latin typeface="Times New Roman"/>
                <a:cs typeface="Times New Roman"/>
              </a:rPr>
              <a:t>T</a:t>
            </a:r>
            <a:r>
              <a:rPr sz="1500" spc="5" dirty="0">
                <a:latin typeface="Times New Roman"/>
                <a:cs typeface="Times New Roman"/>
              </a:rPr>
              <a:t>U</a:t>
            </a:r>
            <a:r>
              <a:rPr sz="1500" spc="-30" dirty="0">
                <a:latin typeface="Times New Roman"/>
                <a:cs typeface="Times New Roman"/>
              </a:rPr>
              <a:t> </a:t>
            </a:r>
            <a:r>
              <a:rPr sz="1500" spc="-130" dirty="0">
                <a:latin typeface="Times New Roman"/>
                <a:cs typeface="Times New Roman"/>
              </a:rPr>
              <a:t>T</a:t>
            </a:r>
            <a:r>
              <a:rPr sz="1500" spc="-10" dirty="0">
                <a:latin typeface="Times New Roman"/>
                <a:cs typeface="Times New Roman"/>
              </a:rPr>
              <a:t>A</a:t>
            </a:r>
            <a:r>
              <a:rPr sz="1500" spc="5" dirty="0">
                <a:latin typeface="Times New Roman"/>
                <a:cs typeface="Times New Roman"/>
              </a:rPr>
              <a:t>B</a:t>
            </a:r>
            <a:r>
              <a:rPr sz="1500" spc="-10" dirty="0">
                <a:latin typeface="Times New Roman"/>
                <a:cs typeface="Times New Roman"/>
              </a:rPr>
              <a:t>E</a:t>
            </a:r>
            <a:r>
              <a:rPr sz="1500" spc="5" dirty="0">
                <a:latin typeface="Times New Roman"/>
                <a:cs typeface="Times New Roman"/>
              </a:rPr>
              <a:t>L</a:t>
            </a:r>
            <a:endParaRPr sz="1500">
              <a:latin typeface="Times New Roman"/>
              <a:cs typeface="Times New Roman"/>
            </a:endParaRPr>
          </a:p>
          <a:p>
            <a:pPr>
              <a:lnSpc>
                <a:spcPct val="100000"/>
              </a:lnSpc>
            </a:pPr>
            <a:endParaRPr sz="1700">
              <a:latin typeface="Times New Roman"/>
              <a:cs typeface="Times New Roman"/>
            </a:endParaRPr>
          </a:p>
          <a:p>
            <a:pPr>
              <a:lnSpc>
                <a:spcPct val="100000"/>
              </a:lnSpc>
              <a:spcBef>
                <a:spcPts val="20"/>
              </a:spcBef>
            </a:pPr>
            <a:endParaRPr sz="1500">
              <a:latin typeface="Times New Roman"/>
              <a:cs typeface="Times New Roman"/>
            </a:endParaRPr>
          </a:p>
          <a:p>
            <a:pPr marL="850900">
              <a:lnSpc>
                <a:spcPct val="100000"/>
              </a:lnSpc>
            </a:pPr>
            <a:r>
              <a:rPr sz="1600" spc="-200" dirty="0">
                <a:latin typeface="Arial MT"/>
                <a:cs typeface="Arial MT"/>
              </a:rPr>
              <a:t>MAHASISWA</a:t>
            </a:r>
            <a:endParaRPr sz="1600">
              <a:latin typeface="Arial MT"/>
              <a:cs typeface="Arial MT"/>
            </a:endParaRPr>
          </a:p>
        </p:txBody>
      </p:sp>
      <p:sp>
        <p:nvSpPr>
          <p:cNvPr id="10" name="object 10"/>
          <p:cNvSpPr txBox="1"/>
          <p:nvPr/>
        </p:nvSpPr>
        <p:spPr>
          <a:xfrm>
            <a:off x="4972050" y="2184349"/>
            <a:ext cx="1044575" cy="271145"/>
          </a:xfrm>
          <a:prstGeom prst="rect">
            <a:avLst/>
          </a:prstGeom>
        </p:spPr>
        <p:txBody>
          <a:bodyPr vert="horz" wrap="square" lIns="0" tIns="13970" rIns="0" bIns="0" rtlCol="0">
            <a:spAutoFit/>
          </a:bodyPr>
          <a:lstStyle/>
          <a:p>
            <a:pPr marL="12700">
              <a:lnSpc>
                <a:spcPct val="100000"/>
              </a:lnSpc>
              <a:spcBef>
                <a:spcPts val="110"/>
              </a:spcBef>
            </a:pPr>
            <a:r>
              <a:rPr sz="1600" spc="-200" dirty="0">
                <a:latin typeface="Arial MT"/>
                <a:cs typeface="Arial MT"/>
              </a:rPr>
              <a:t>MAHASISWA</a:t>
            </a:r>
            <a:endParaRPr sz="160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0044" y="1502486"/>
            <a:ext cx="928369" cy="271145"/>
          </a:xfrm>
          <a:prstGeom prst="rect">
            <a:avLst/>
          </a:prstGeom>
        </p:spPr>
        <p:txBody>
          <a:bodyPr vert="horz" wrap="square" lIns="0" tIns="13970" rIns="0" bIns="0" rtlCol="0">
            <a:spAutoFit/>
          </a:bodyPr>
          <a:lstStyle/>
          <a:p>
            <a:pPr marL="12700">
              <a:lnSpc>
                <a:spcPct val="100000"/>
              </a:lnSpc>
              <a:spcBef>
                <a:spcPts val="110"/>
              </a:spcBef>
            </a:pPr>
            <a:r>
              <a:rPr sz="1600" b="1" spc="-10" dirty="0">
                <a:latin typeface="Times New Roman"/>
                <a:cs typeface="Times New Roman"/>
              </a:rPr>
              <a:t>C</a:t>
            </a:r>
            <a:r>
              <a:rPr sz="1600" b="1" dirty="0">
                <a:latin typeface="Times New Roman"/>
                <a:cs typeface="Times New Roman"/>
              </a:rPr>
              <a:t>O</a:t>
            </a:r>
            <a:r>
              <a:rPr sz="1600" b="1" spc="-10" dirty="0">
                <a:latin typeface="Times New Roman"/>
                <a:cs typeface="Times New Roman"/>
              </a:rPr>
              <a:t>N</a:t>
            </a:r>
            <a:r>
              <a:rPr sz="1600" b="1" spc="-15" dirty="0">
                <a:latin typeface="Times New Roman"/>
                <a:cs typeface="Times New Roman"/>
              </a:rPr>
              <a:t>T</a:t>
            </a:r>
            <a:r>
              <a:rPr sz="1600" b="1" dirty="0">
                <a:latin typeface="Times New Roman"/>
                <a:cs typeface="Times New Roman"/>
              </a:rPr>
              <a:t>O</a:t>
            </a:r>
            <a:r>
              <a:rPr sz="1600" b="1" spc="5" dirty="0">
                <a:latin typeface="Times New Roman"/>
                <a:cs typeface="Times New Roman"/>
              </a:rPr>
              <a:t>H</a:t>
            </a:r>
            <a:endParaRPr sz="1600">
              <a:latin typeface="Times New Roman"/>
              <a:cs typeface="Times New Roman"/>
            </a:endParaRPr>
          </a:p>
        </p:txBody>
      </p:sp>
      <p:sp>
        <p:nvSpPr>
          <p:cNvPr id="3" name="object 3"/>
          <p:cNvSpPr txBox="1"/>
          <p:nvPr/>
        </p:nvSpPr>
        <p:spPr>
          <a:xfrm>
            <a:off x="4118864" y="1265631"/>
            <a:ext cx="800735" cy="238125"/>
          </a:xfrm>
          <a:prstGeom prst="rect">
            <a:avLst/>
          </a:prstGeom>
        </p:spPr>
        <p:txBody>
          <a:bodyPr vert="horz" wrap="square" lIns="0" tIns="12065" rIns="0" bIns="0" rtlCol="0">
            <a:spAutoFit/>
          </a:bodyPr>
          <a:lstStyle/>
          <a:p>
            <a:pPr marL="12700">
              <a:lnSpc>
                <a:spcPct val="100000"/>
              </a:lnSpc>
              <a:spcBef>
                <a:spcPts val="95"/>
              </a:spcBef>
            </a:pPr>
            <a:r>
              <a:rPr sz="1400" spc="-15" dirty="0">
                <a:latin typeface="Times New Roman"/>
                <a:cs typeface="Times New Roman"/>
              </a:rPr>
              <a:t>P</a:t>
            </a:r>
            <a:r>
              <a:rPr sz="1400" spc="-20" dirty="0">
                <a:latin typeface="Times New Roman"/>
                <a:cs typeface="Times New Roman"/>
              </a:rPr>
              <a:t>E</a:t>
            </a:r>
            <a:r>
              <a:rPr sz="1400" spc="-5" dirty="0">
                <a:latin typeface="Times New Roman"/>
                <a:cs typeface="Times New Roman"/>
              </a:rPr>
              <a:t>G</a:t>
            </a:r>
            <a:r>
              <a:rPr sz="1400" spc="-150" dirty="0">
                <a:latin typeface="Times New Roman"/>
                <a:cs typeface="Times New Roman"/>
              </a:rPr>
              <a:t>A</a:t>
            </a:r>
            <a:r>
              <a:rPr sz="1400" spc="-155" dirty="0">
                <a:latin typeface="Times New Roman"/>
                <a:cs typeface="Times New Roman"/>
              </a:rPr>
              <a:t>W</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graphicFrame>
        <p:nvGraphicFramePr>
          <p:cNvPr id="4" name="object 4"/>
          <p:cNvGraphicFramePr>
            <a:graphicFrameLocks noGrp="1"/>
          </p:cNvGraphicFramePr>
          <p:nvPr/>
        </p:nvGraphicFramePr>
        <p:xfrm>
          <a:off x="4032250" y="1460500"/>
          <a:ext cx="4743450" cy="850900"/>
        </p:xfrm>
        <a:graphic>
          <a:graphicData uri="http://schemas.openxmlformats.org/drawingml/2006/table">
            <a:tbl>
              <a:tblPr firstRow="1" bandRow="1">
                <a:tableStyleId>{2D5ABB26-0587-4C30-8999-92F81FD0307C}</a:tableStyleId>
              </a:tblPr>
              <a:tblGrid>
                <a:gridCol w="914400"/>
                <a:gridCol w="914400"/>
                <a:gridCol w="914400"/>
                <a:gridCol w="914400"/>
                <a:gridCol w="1066800"/>
              </a:tblGrid>
              <a:tr h="304800">
                <a:tc>
                  <a:txBody>
                    <a:bodyPr/>
                    <a:lstStyle/>
                    <a:p>
                      <a:pPr marL="92710">
                        <a:lnSpc>
                          <a:spcPct val="100000"/>
                        </a:lnSpc>
                        <a:spcBef>
                          <a:spcPts val="190"/>
                        </a:spcBef>
                      </a:pPr>
                      <a:r>
                        <a:rPr sz="1400" u="sng" spc="-15" dirty="0">
                          <a:uFill>
                            <a:solidFill>
                              <a:srgbClr val="000000"/>
                            </a:solidFill>
                          </a:uFill>
                          <a:latin typeface="Times New Roman"/>
                          <a:cs typeface="Times New Roman"/>
                        </a:rPr>
                        <a:t>NO-PEG</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0"/>
                        </a:spcBef>
                      </a:pPr>
                      <a:r>
                        <a:rPr sz="1400" spc="-15" dirty="0">
                          <a:latin typeface="Times New Roman"/>
                          <a:cs typeface="Times New Roman"/>
                        </a:rPr>
                        <a:t>NAMA</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190"/>
                        </a:spcBef>
                      </a:pPr>
                      <a:r>
                        <a:rPr sz="1400" spc="-50" dirty="0">
                          <a:latin typeface="Times New Roman"/>
                          <a:cs typeface="Times New Roman"/>
                        </a:rPr>
                        <a:t>ALAMAT</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190"/>
                        </a:spcBef>
                      </a:pPr>
                      <a:r>
                        <a:rPr sz="1400" spc="-15" dirty="0">
                          <a:latin typeface="Times New Roman"/>
                          <a:cs typeface="Times New Roman"/>
                        </a:rPr>
                        <a:t>KD-PROY</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nSpc>
                          <a:spcPct val="100000"/>
                        </a:lnSpc>
                        <a:spcBef>
                          <a:spcPts val="190"/>
                        </a:spcBef>
                      </a:pPr>
                      <a:r>
                        <a:rPr sz="1400" spc="-15" dirty="0">
                          <a:latin typeface="Times New Roman"/>
                          <a:cs typeface="Times New Roman"/>
                        </a:rPr>
                        <a:t>KD-JAB</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5" name="object 5"/>
          <p:cNvSpPr txBox="1"/>
          <p:nvPr/>
        </p:nvSpPr>
        <p:spPr>
          <a:xfrm>
            <a:off x="4118864" y="2332989"/>
            <a:ext cx="732155" cy="238125"/>
          </a:xfrm>
          <a:prstGeom prst="rect">
            <a:avLst/>
          </a:prstGeom>
        </p:spPr>
        <p:txBody>
          <a:bodyPr vert="horz" wrap="square" lIns="0" tIns="11430" rIns="0" bIns="0" rtlCol="0">
            <a:spAutoFit/>
          </a:bodyPr>
          <a:lstStyle/>
          <a:p>
            <a:pPr marL="12700">
              <a:lnSpc>
                <a:spcPct val="100000"/>
              </a:lnSpc>
              <a:spcBef>
                <a:spcPts val="90"/>
              </a:spcBef>
            </a:pPr>
            <a:r>
              <a:rPr sz="1400" spc="-15" dirty="0">
                <a:latin typeface="Times New Roman"/>
                <a:cs typeface="Times New Roman"/>
              </a:rPr>
              <a:t>P</a:t>
            </a:r>
            <a:r>
              <a:rPr sz="1400" spc="-5" dirty="0">
                <a:latin typeface="Times New Roman"/>
                <a:cs typeface="Times New Roman"/>
              </a:rPr>
              <a:t>R</a:t>
            </a:r>
            <a:r>
              <a:rPr sz="1400" spc="-10" dirty="0">
                <a:latin typeface="Times New Roman"/>
                <a:cs typeface="Times New Roman"/>
              </a:rPr>
              <a:t>OY</a:t>
            </a:r>
            <a:r>
              <a:rPr sz="1400" spc="-20" dirty="0">
                <a:latin typeface="Times New Roman"/>
                <a:cs typeface="Times New Roman"/>
              </a:rPr>
              <a:t>E</a:t>
            </a:r>
            <a:r>
              <a:rPr sz="1400" spc="-10" dirty="0">
                <a:latin typeface="Times New Roman"/>
                <a:cs typeface="Times New Roman"/>
              </a:rPr>
              <a:t>K</a:t>
            </a:r>
            <a:endParaRPr sz="1400">
              <a:latin typeface="Times New Roman"/>
              <a:cs typeface="Times New Roman"/>
            </a:endParaRPr>
          </a:p>
        </p:txBody>
      </p:sp>
      <p:graphicFrame>
        <p:nvGraphicFramePr>
          <p:cNvPr id="6" name="object 6"/>
          <p:cNvGraphicFramePr>
            <a:graphicFrameLocks noGrp="1"/>
          </p:cNvGraphicFramePr>
          <p:nvPr/>
        </p:nvGraphicFramePr>
        <p:xfrm>
          <a:off x="4032250" y="2527300"/>
          <a:ext cx="2762250" cy="850900"/>
        </p:xfrm>
        <a:graphic>
          <a:graphicData uri="http://schemas.openxmlformats.org/drawingml/2006/table">
            <a:tbl>
              <a:tblPr firstRow="1" bandRow="1">
                <a:tableStyleId>{2D5ABB26-0587-4C30-8999-92F81FD0307C}</a:tableStyleId>
              </a:tblPr>
              <a:tblGrid>
                <a:gridCol w="914400"/>
                <a:gridCol w="914400"/>
                <a:gridCol w="914400"/>
              </a:tblGrid>
              <a:tr h="304800">
                <a:tc>
                  <a:txBody>
                    <a:bodyPr/>
                    <a:lstStyle/>
                    <a:p>
                      <a:pPr marL="92710">
                        <a:lnSpc>
                          <a:spcPct val="100000"/>
                        </a:lnSpc>
                        <a:spcBef>
                          <a:spcPts val="195"/>
                        </a:spcBef>
                      </a:pPr>
                      <a:r>
                        <a:rPr sz="1400" u="sng" spc="-15" dirty="0">
                          <a:uFill>
                            <a:solidFill>
                              <a:srgbClr val="000000"/>
                            </a:solidFill>
                          </a:uFill>
                          <a:latin typeface="Times New Roman"/>
                          <a:cs typeface="Times New Roman"/>
                        </a:rPr>
                        <a:t>KD-PROY</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5"/>
                        </a:spcBef>
                      </a:pPr>
                      <a:r>
                        <a:rPr sz="1400" spc="-25" dirty="0">
                          <a:latin typeface="Times New Roman"/>
                          <a:cs typeface="Times New Roman"/>
                        </a:rPr>
                        <a:t>LOKASI</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195"/>
                        </a:spcBef>
                      </a:pPr>
                      <a:r>
                        <a:rPr sz="1400" spc="-10" dirty="0">
                          <a:latin typeface="Times New Roman"/>
                          <a:cs typeface="Times New Roman"/>
                        </a:rPr>
                        <a:t>JENIS</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7" name="object 7"/>
          <p:cNvSpPr txBox="1"/>
          <p:nvPr/>
        </p:nvSpPr>
        <p:spPr>
          <a:xfrm>
            <a:off x="4118864" y="3400425"/>
            <a:ext cx="541655" cy="238125"/>
          </a:xfrm>
          <a:prstGeom prst="rect">
            <a:avLst/>
          </a:prstGeom>
        </p:spPr>
        <p:txBody>
          <a:bodyPr vert="horz" wrap="square" lIns="0" tIns="11430" rIns="0" bIns="0" rtlCol="0">
            <a:spAutoFit/>
          </a:bodyPr>
          <a:lstStyle/>
          <a:p>
            <a:pPr marL="12700">
              <a:lnSpc>
                <a:spcPct val="100000"/>
              </a:lnSpc>
              <a:spcBef>
                <a:spcPts val="90"/>
              </a:spcBef>
            </a:pPr>
            <a:r>
              <a:rPr sz="1400" spc="-135" dirty="0">
                <a:latin typeface="Times New Roman"/>
                <a:cs typeface="Times New Roman"/>
              </a:rPr>
              <a:t>P</a:t>
            </a:r>
            <a:r>
              <a:rPr sz="1400" spc="-35" dirty="0">
                <a:latin typeface="Times New Roman"/>
                <a:cs typeface="Times New Roman"/>
              </a:rPr>
              <a:t>AKA</a:t>
            </a:r>
            <a:r>
              <a:rPr sz="1400" spc="-5" dirty="0">
                <a:latin typeface="Times New Roman"/>
                <a:cs typeface="Times New Roman"/>
              </a:rPr>
              <a:t>I</a:t>
            </a:r>
            <a:endParaRPr sz="1400">
              <a:latin typeface="Times New Roman"/>
              <a:cs typeface="Times New Roman"/>
            </a:endParaRPr>
          </a:p>
        </p:txBody>
      </p:sp>
      <p:graphicFrame>
        <p:nvGraphicFramePr>
          <p:cNvPr id="8" name="object 8"/>
          <p:cNvGraphicFramePr>
            <a:graphicFrameLocks noGrp="1"/>
          </p:cNvGraphicFramePr>
          <p:nvPr/>
        </p:nvGraphicFramePr>
        <p:xfrm>
          <a:off x="4032250" y="3594100"/>
          <a:ext cx="2762250" cy="850900"/>
        </p:xfrm>
        <a:graphic>
          <a:graphicData uri="http://schemas.openxmlformats.org/drawingml/2006/table">
            <a:tbl>
              <a:tblPr firstRow="1" bandRow="1">
                <a:tableStyleId>{2D5ABB26-0587-4C30-8999-92F81FD0307C}</a:tableStyleId>
              </a:tblPr>
              <a:tblGrid>
                <a:gridCol w="914400"/>
                <a:gridCol w="914400"/>
                <a:gridCol w="914400"/>
              </a:tblGrid>
              <a:tr h="224027">
                <a:tc>
                  <a:txBody>
                    <a:bodyPr/>
                    <a:lstStyle/>
                    <a:p>
                      <a:pPr marL="92710">
                        <a:lnSpc>
                          <a:spcPts val="1465"/>
                        </a:lnSpc>
                        <a:spcBef>
                          <a:spcPts val="195"/>
                        </a:spcBef>
                      </a:pPr>
                      <a:r>
                        <a:rPr sz="1400" spc="-15" dirty="0">
                          <a:latin typeface="Times New Roman"/>
                          <a:cs typeface="Times New Roman"/>
                        </a:rPr>
                        <a:t>KD-PROY</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tc>
                  <a:txBody>
                    <a:bodyPr/>
                    <a:lstStyle/>
                    <a:p>
                      <a:pPr marL="92710">
                        <a:lnSpc>
                          <a:spcPts val="1465"/>
                        </a:lnSpc>
                        <a:spcBef>
                          <a:spcPts val="195"/>
                        </a:spcBef>
                      </a:pPr>
                      <a:r>
                        <a:rPr sz="1400" spc="-15" dirty="0">
                          <a:latin typeface="Times New Roman"/>
                          <a:cs typeface="Times New Roman"/>
                        </a:rPr>
                        <a:t>KD-BRNG</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tc rowSpan="2">
                  <a:txBody>
                    <a:bodyPr/>
                    <a:lstStyle/>
                    <a:p>
                      <a:pPr marL="93345">
                        <a:lnSpc>
                          <a:spcPct val="100000"/>
                        </a:lnSpc>
                        <a:spcBef>
                          <a:spcPts val="195"/>
                        </a:spcBef>
                      </a:pPr>
                      <a:r>
                        <a:rPr sz="1400" spc="-15" dirty="0">
                          <a:latin typeface="Times New Roman"/>
                          <a:cs typeface="Times New Roman"/>
                        </a:rPr>
                        <a:t>JUMLAH</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80772">
                <a:tc>
                  <a:txBody>
                    <a:bodyPr/>
                    <a:lstStyle/>
                    <a:p>
                      <a:pPr>
                        <a:lnSpc>
                          <a:spcPct val="100000"/>
                        </a:lnSpc>
                      </a:pPr>
                      <a:endParaRPr sz="300">
                        <a:latin typeface="Times New Roman"/>
                        <a:cs typeface="Times New Roman"/>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vMerge="1">
                  <a:txBody>
                    <a:bodyPr/>
                    <a:lstStyle/>
                    <a:p>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9" name="object 9"/>
          <p:cNvSpPr txBox="1"/>
          <p:nvPr/>
        </p:nvSpPr>
        <p:spPr>
          <a:xfrm>
            <a:off x="4118864" y="4467555"/>
            <a:ext cx="765810" cy="238125"/>
          </a:xfrm>
          <a:prstGeom prst="rect">
            <a:avLst/>
          </a:prstGeom>
        </p:spPr>
        <p:txBody>
          <a:bodyPr vert="horz" wrap="square" lIns="0" tIns="12065" rIns="0" bIns="0" rtlCol="0">
            <a:spAutoFit/>
          </a:bodyPr>
          <a:lstStyle/>
          <a:p>
            <a:pPr marL="12700">
              <a:lnSpc>
                <a:spcPct val="100000"/>
              </a:lnSpc>
              <a:spcBef>
                <a:spcPts val="95"/>
              </a:spcBef>
            </a:pPr>
            <a:r>
              <a:rPr sz="1400" spc="-20" dirty="0">
                <a:latin typeface="Times New Roman"/>
                <a:cs typeface="Times New Roman"/>
              </a:rPr>
              <a:t>BARANG</a:t>
            </a:r>
            <a:endParaRPr sz="1400">
              <a:latin typeface="Times New Roman"/>
              <a:cs typeface="Times New Roman"/>
            </a:endParaRPr>
          </a:p>
        </p:txBody>
      </p:sp>
      <p:graphicFrame>
        <p:nvGraphicFramePr>
          <p:cNvPr id="10" name="object 10"/>
          <p:cNvGraphicFramePr>
            <a:graphicFrameLocks noGrp="1"/>
          </p:cNvGraphicFramePr>
          <p:nvPr/>
        </p:nvGraphicFramePr>
        <p:xfrm>
          <a:off x="4032250" y="4660900"/>
          <a:ext cx="2771775" cy="850900"/>
        </p:xfrm>
        <a:graphic>
          <a:graphicData uri="http://schemas.openxmlformats.org/drawingml/2006/table">
            <a:tbl>
              <a:tblPr firstRow="1" bandRow="1">
                <a:tableStyleId>{2D5ABB26-0587-4C30-8999-92F81FD0307C}</a:tableStyleId>
              </a:tblPr>
              <a:tblGrid>
                <a:gridCol w="914400"/>
                <a:gridCol w="91440"/>
                <a:gridCol w="832485"/>
                <a:gridCol w="914400"/>
              </a:tblGrid>
              <a:tr h="224027">
                <a:tc>
                  <a:txBody>
                    <a:bodyPr/>
                    <a:lstStyle/>
                    <a:p>
                      <a:pPr marL="92710">
                        <a:lnSpc>
                          <a:spcPts val="1460"/>
                        </a:lnSpc>
                        <a:spcBef>
                          <a:spcPts val="200"/>
                        </a:spcBef>
                      </a:pPr>
                      <a:r>
                        <a:rPr sz="1400" spc="-15" dirty="0">
                          <a:latin typeface="Times New Roman"/>
                          <a:cs typeface="Times New Roman"/>
                        </a:rPr>
                        <a:t>KD-BRNG</a:t>
                      </a:r>
                      <a:endParaRPr sz="1400">
                        <a:latin typeface="Times New Roman"/>
                        <a:cs typeface="Times New Roman"/>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T w="12700">
                      <a:solidFill>
                        <a:srgbClr val="000000"/>
                      </a:solidFill>
                      <a:prstDash val="solid"/>
                    </a:lnT>
                    <a:lnB w="9525">
                      <a:solidFill>
                        <a:srgbClr val="000000"/>
                      </a:solidFill>
                      <a:prstDash val="solid"/>
                    </a:lnB>
                  </a:tcPr>
                </a:tc>
                <a:tc rowSpan="2">
                  <a:txBody>
                    <a:bodyPr/>
                    <a:lstStyle/>
                    <a:p>
                      <a:pPr marL="1270">
                        <a:lnSpc>
                          <a:spcPct val="100000"/>
                        </a:lnSpc>
                        <a:spcBef>
                          <a:spcPts val="200"/>
                        </a:spcBef>
                      </a:pPr>
                      <a:r>
                        <a:rPr sz="1400" dirty="0">
                          <a:latin typeface="Times New Roman"/>
                          <a:cs typeface="Times New Roman"/>
                        </a:rPr>
                        <a:t>N</a:t>
                      </a:r>
                      <a:r>
                        <a:rPr sz="1400" spc="-20" dirty="0">
                          <a:latin typeface="Times New Roman"/>
                          <a:cs typeface="Times New Roman"/>
                        </a:rPr>
                        <a:t>A</a:t>
                      </a:r>
                      <a:r>
                        <a:rPr sz="1400" spc="5" dirty="0">
                          <a:latin typeface="Times New Roman"/>
                          <a:cs typeface="Times New Roman"/>
                        </a:rPr>
                        <a:t>M</a:t>
                      </a:r>
                      <a:r>
                        <a:rPr sz="1400" spc="-25" dirty="0">
                          <a:latin typeface="Times New Roman"/>
                          <a:cs typeface="Times New Roman"/>
                        </a:rPr>
                        <a:t>A</a:t>
                      </a:r>
                      <a:r>
                        <a:rPr sz="1400" spc="-10" dirty="0">
                          <a:latin typeface="Times New Roman"/>
                          <a:cs typeface="Times New Roman"/>
                        </a:rPr>
                        <a:t>-</a:t>
                      </a:r>
                      <a:r>
                        <a:rPr sz="1400" spc="-20" dirty="0">
                          <a:latin typeface="Times New Roman"/>
                          <a:cs typeface="Times New Roman"/>
                        </a:rPr>
                        <a:t>BR</a:t>
                      </a:r>
                      <a:endParaRPr sz="1400">
                        <a:latin typeface="Times New Roman"/>
                        <a:cs typeface="Times New Roman"/>
                      </a:endParaRPr>
                    </a:p>
                  </a:txBody>
                  <a:tcPr marL="0" marR="0" marT="25400" marB="0">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93345">
                        <a:lnSpc>
                          <a:spcPct val="100000"/>
                        </a:lnSpc>
                        <a:spcBef>
                          <a:spcPts val="200"/>
                        </a:spcBef>
                      </a:pPr>
                      <a:r>
                        <a:rPr sz="1400" spc="-45" dirty="0">
                          <a:latin typeface="Times New Roman"/>
                          <a:cs typeface="Times New Roman"/>
                        </a:rPr>
                        <a:t>HARSAT</a:t>
                      </a:r>
                      <a:endParaRPr sz="1400">
                        <a:latin typeface="Times New Roman"/>
                        <a:cs typeface="Times New Roman"/>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80772">
                <a:tc>
                  <a:txBody>
                    <a:bodyPr/>
                    <a:lstStyle/>
                    <a:p>
                      <a:pPr>
                        <a:lnSpc>
                          <a:spcPct val="100000"/>
                        </a:lnSpc>
                      </a:pPr>
                      <a:endParaRPr sz="300">
                        <a:latin typeface="Times New Roman"/>
                        <a:cs typeface="Times New Roman"/>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a:lnSpc>
                          <a:spcPct val="100000"/>
                        </a:lnSpc>
                      </a:pPr>
                      <a:endParaRPr sz="300">
                        <a:latin typeface="Times New Roman"/>
                        <a:cs typeface="Times New Roman"/>
                      </a:endParaRPr>
                    </a:p>
                  </a:txBody>
                  <a:tcPr marL="0" marR="0" marT="0" marB="0">
                    <a:lnL w="12700">
                      <a:solidFill>
                        <a:srgbClr val="000000"/>
                      </a:solidFill>
                      <a:prstDash val="solid"/>
                    </a:lnL>
                    <a:lnT w="9525">
                      <a:solidFill>
                        <a:srgbClr val="000000"/>
                      </a:solidFill>
                      <a:prstDash val="solid"/>
                    </a:lnT>
                    <a:lnB w="12700">
                      <a:solidFill>
                        <a:srgbClr val="000000"/>
                      </a:solidFill>
                      <a:prstDash val="solid"/>
                    </a:lnB>
                  </a:tcPr>
                </a:tc>
                <a:tc vMerge="1">
                  <a:txBody>
                    <a:bodyPr/>
                    <a:lstStyle/>
                    <a:p>
                      <a:endParaRPr/>
                    </a:p>
                  </a:txBody>
                  <a:tcPr marL="0" marR="0" marT="25400" marB="0">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254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R="3175">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R="3175">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1" name="object 11"/>
          <p:cNvSpPr txBox="1"/>
          <p:nvPr/>
        </p:nvSpPr>
        <p:spPr>
          <a:xfrm>
            <a:off x="4118864" y="5534964"/>
            <a:ext cx="787400" cy="238125"/>
          </a:xfrm>
          <a:prstGeom prst="rect">
            <a:avLst/>
          </a:prstGeom>
        </p:spPr>
        <p:txBody>
          <a:bodyPr vert="horz" wrap="square" lIns="0" tIns="11430" rIns="0" bIns="0" rtlCol="0">
            <a:spAutoFit/>
          </a:bodyPr>
          <a:lstStyle/>
          <a:p>
            <a:pPr marL="12700">
              <a:lnSpc>
                <a:spcPct val="100000"/>
              </a:lnSpc>
              <a:spcBef>
                <a:spcPts val="90"/>
              </a:spcBef>
            </a:pPr>
            <a:r>
              <a:rPr sz="1400" dirty="0">
                <a:latin typeface="Times New Roman"/>
                <a:cs typeface="Times New Roman"/>
              </a:rPr>
              <a:t>J</a:t>
            </a:r>
            <a:r>
              <a:rPr sz="1400" spc="-35" dirty="0">
                <a:latin typeface="Times New Roman"/>
                <a:cs typeface="Times New Roman"/>
              </a:rPr>
              <a:t>A</a:t>
            </a:r>
            <a:r>
              <a:rPr sz="1400" spc="-30" dirty="0">
                <a:latin typeface="Times New Roman"/>
                <a:cs typeface="Times New Roman"/>
              </a:rPr>
              <a:t>B</a:t>
            </a:r>
            <a:r>
              <a:rPr sz="1400" spc="-180" dirty="0">
                <a:latin typeface="Times New Roman"/>
                <a:cs typeface="Times New Roman"/>
              </a:rPr>
              <a:t>A</a:t>
            </a:r>
            <a:r>
              <a:rPr sz="1400" spc="-140" dirty="0">
                <a:latin typeface="Times New Roman"/>
                <a:cs typeface="Times New Roman"/>
              </a:rPr>
              <a:t>T</a:t>
            </a:r>
            <a:r>
              <a:rPr sz="1400" spc="-35" dirty="0">
                <a:latin typeface="Times New Roman"/>
                <a:cs typeface="Times New Roman"/>
              </a:rPr>
              <a:t>A</a:t>
            </a:r>
            <a:r>
              <a:rPr sz="1400" spc="-10" dirty="0">
                <a:latin typeface="Times New Roman"/>
                <a:cs typeface="Times New Roman"/>
              </a:rPr>
              <a:t>N</a:t>
            </a:r>
            <a:endParaRPr sz="1400">
              <a:latin typeface="Times New Roman"/>
              <a:cs typeface="Times New Roman"/>
            </a:endParaRPr>
          </a:p>
        </p:txBody>
      </p:sp>
      <p:graphicFrame>
        <p:nvGraphicFramePr>
          <p:cNvPr id="12" name="object 12"/>
          <p:cNvGraphicFramePr>
            <a:graphicFrameLocks noGrp="1"/>
          </p:cNvGraphicFramePr>
          <p:nvPr/>
        </p:nvGraphicFramePr>
        <p:xfrm>
          <a:off x="4032250" y="5727700"/>
          <a:ext cx="3143250" cy="850900"/>
        </p:xfrm>
        <a:graphic>
          <a:graphicData uri="http://schemas.openxmlformats.org/drawingml/2006/table">
            <a:tbl>
              <a:tblPr firstRow="1" bandRow="1">
                <a:tableStyleId>{2D5ABB26-0587-4C30-8999-92F81FD0307C}</a:tableStyleId>
              </a:tblPr>
              <a:tblGrid>
                <a:gridCol w="914400"/>
                <a:gridCol w="914400"/>
                <a:gridCol w="1295400"/>
              </a:tblGrid>
              <a:tr h="304800">
                <a:tc>
                  <a:txBody>
                    <a:bodyPr/>
                    <a:lstStyle/>
                    <a:p>
                      <a:pPr marL="92710">
                        <a:lnSpc>
                          <a:spcPct val="100000"/>
                        </a:lnSpc>
                        <a:spcBef>
                          <a:spcPts val="204"/>
                        </a:spcBef>
                      </a:pPr>
                      <a:r>
                        <a:rPr sz="1400" u="sng" spc="-15" dirty="0">
                          <a:uFill>
                            <a:solidFill>
                              <a:srgbClr val="000000"/>
                            </a:solidFill>
                          </a:uFill>
                          <a:latin typeface="Times New Roman"/>
                          <a:cs typeface="Times New Roman"/>
                        </a:rPr>
                        <a:t>KD-JAB</a:t>
                      </a:r>
                      <a:endParaRPr sz="1400">
                        <a:latin typeface="Times New Roman"/>
                        <a:cs typeface="Times New Roman"/>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04"/>
                        </a:spcBef>
                      </a:pPr>
                      <a:r>
                        <a:rPr sz="1400" spc="-15" dirty="0">
                          <a:latin typeface="Times New Roman"/>
                          <a:cs typeface="Times New Roman"/>
                        </a:rPr>
                        <a:t>URAIAN</a:t>
                      </a:r>
                      <a:endParaRPr sz="1400">
                        <a:latin typeface="Times New Roman"/>
                        <a:cs typeface="Times New Roman"/>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204"/>
                        </a:spcBef>
                      </a:pPr>
                      <a:r>
                        <a:rPr sz="1400" spc="-15" dirty="0">
                          <a:latin typeface="Times New Roman"/>
                          <a:cs typeface="Times New Roman"/>
                        </a:rPr>
                        <a:t>TUNJANGAN</a:t>
                      </a:r>
                      <a:endParaRPr sz="1400">
                        <a:latin typeface="Times New Roman"/>
                        <a:cs typeface="Times New Roman"/>
                      </a:endParaRPr>
                    </a:p>
                  </a:txBody>
                  <a:tcPr marL="0" marR="0" marT="260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3" name="object 13"/>
          <p:cNvSpPr txBox="1"/>
          <p:nvPr/>
        </p:nvSpPr>
        <p:spPr>
          <a:xfrm>
            <a:off x="513994" y="2028189"/>
            <a:ext cx="610870"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t>
            </a:r>
            <a:r>
              <a:rPr sz="1000" spc="5" dirty="0">
                <a:latin typeface="Times New Roman"/>
                <a:cs typeface="Times New Roman"/>
              </a:rPr>
              <a:t>E</a:t>
            </a:r>
            <a:r>
              <a:rPr sz="1000" spc="-5" dirty="0">
                <a:latin typeface="Times New Roman"/>
                <a:cs typeface="Times New Roman"/>
              </a:rPr>
              <a:t>GA</a:t>
            </a:r>
            <a:r>
              <a:rPr sz="1000" spc="-10" dirty="0">
                <a:latin typeface="Times New Roman"/>
                <a:cs typeface="Times New Roman"/>
              </a:rPr>
              <a:t>W</a:t>
            </a:r>
            <a:r>
              <a:rPr sz="1000" spc="-5" dirty="0">
                <a:latin typeface="Times New Roman"/>
                <a:cs typeface="Times New Roman"/>
              </a:rPr>
              <a:t>A</a:t>
            </a:r>
            <a:r>
              <a:rPr sz="1000" dirty="0">
                <a:latin typeface="Times New Roman"/>
                <a:cs typeface="Times New Roman"/>
              </a:rPr>
              <a:t>I</a:t>
            </a:r>
            <a:endParaRPr sz="1000">
              <a:latin typeface="Times New Roman"/>
              <a:cs typeface="Times New Roman"/>
            </a:endParaRPr>
          </a:p>
        </p:txBody>
      </p:sp>
      <p:sp>
        <p:nvSpPr>
          <p:cNvPr id="14" name="object 14"/>
          <p:cNvSpPr txBox="1"/>
          <p:nvPr/>
        </p:nvSpPr>
        <p:spPr>
          <a:xfrm>
            <a:off x="381000" y="3863975"/>
            <a:ext cx="968375" cy="609600"/>
          </a:xfrm>
          <a:prstGeom prst="rect">
            <a:avLst/>
          </a:prstGeom>
          <a:ln w="12700">
            <a:solidFill>
              <a:srgbClr val="000000"/>
            </a:solidFill>
          </a:ln>
        </p:spPr>
        <p:txBody>
          <a:bodyPr vert="horz" wrap="square" lIns="0" tIns="41910" rIns="0" bIns="0" rtlCol="0">
            <a:spAutoFit/>
          </a:bodyPr>
          <a:lstStyle/>
          <a:p>
            <a:pPr marL="91440" marR="102235">
              <a:lnSpc>
                <a:spcPct val="100000"/>
              </a:lnSpc>
              <a:spcBef>
                <a:spcPts val="330"/>
              </a:spcBef>
            </a:pPr>
            <a:r>
              <a:rPr sz="1000" u="sng" spc="-5" dirty="0">
                <a:uFill>
                  <a:solidFill>
                    <a:srgbClr val="000000"/>
                  </a:solidFill>
                </a:uFill>
                <a:latin typeface="Times New Roman"/>
                <a:cs typeface="Times New Roman"/>
              </a:rPr>
              <a:t>KD-JAB </a:t>
            </a:r>
            <a:r>
              <a:rPr sz="1000" dirty="0">
                <a:latin typeface="Times New Roman"/>
                <a:cs typeface="Times New Roman"/>
              </a:rPr>
              <a:t> </a:t>
            </a:r>
            <a:r>
              <a:rPr sz="1000" spc="-10" dirty="0">
                <a:latin typeface="Times New Roman"/>
                <a:cs typeface="Times New Roman"/>
              </a:rPr>
              <a:t>URAIAN </a:t>
            </a:r>
            <a:r>
              <a:rPr sz="1000" spc="-5" dirty="0">
                <a:latin typeface="Times New Roman"/>
                <a:cs typeface="Times New Roman"/>
              </a:rPr>
              <a:t> </a:t>
            </a:r>
            <a:r>
              <a:rPr sz="1000" spc="10" dirty="0">
                <a:latin typeface="Times New Roman"/>
                <a:cs typeface="Times New Roman"/>
              </a:rPr>
              <a:t>T</a:t>
            </a:r>
            <a:r>
              <a:rPr sz="1000" spc="-30" dirty="0">
                <a:latin typeface="Times New Roman"/>
                <a:cs typeface="Times New Roman"/>
              </a:rPr>
              <a:t>U</a:t>
            </a:r>
            <a:r>
              <a:rPr sz="1000" spc="-5" dirty="0">
                <a:latin typeface="Times New Roman"/>
                <a:cs typeface="Times New Roman"/>
              </a:rPr>
              <a:t>N</a:t>
            </a:r>
            <a:r>
              <a:rPr sz="1000" spc="-10" dirty="0">
                <a:latin typeface="Times New Roman"/>
                <a:cs typeface="Times New Roman"/>
              </a:rPr>
              <a:t>J</a:t>
            </a:r>
            <a:r>
              <a:rPr sz="1000" spc="-5" dirty="0">
                <a:latin typeface="Times New Roman"/>
                <a:cs typeface="Times New Roman"/>
              </a:rPr>
              <a:t>ANGA</a:t>
            </a:r>
            <a:r>
              <a:rPr sz="1000" spc="5" dirty="0">
                <a:latin typeface="Times New Roman"/>
                <a:cs typeface="Times New Roman"/>
              </a:rPr>
              <a:t>N</a:t>
            </a:r>
            <a:endParaRPr sz="1000">
              <a:latin typeface="Times New Roman"/>
              <a:cs typeface="Times New Roman"/>
            </a:endParaRPr>
          </a:p>
        </p:txBody>
      </p:sp>
      <p:sp>
        <p:nvSpPr>
          <p:cNvPr id="15" name="object 15"/>
          <p:cNvSpPr txBox="1"/>
          <p:nvPr/>
        </p:nvSpPr>
        <p:spPr>
          <a:xfrm>
            <a:off x="513994" y="4543755"/>
            <a:ext cx="603250" cy="179705"/>
          </a:xfrm>
          <a:prstGeom prst="rect">
            <a:avLst/>
          </a:prstGeom>
        </p:spPr>
        <p:txBody>
          <a:bodyPr vert="horz" wrap="square" lIns="0" tIns="13970" rIns="0" bIns="0" rtlCol="0">
            <a:spAutoFit/>
          </a:bodyPr>
          <a:lstStyle/>
          <a:p>
            <a:pPr marL="12700">
              <a:lnSpc>
                <a:spcPct val="100000"/>
              </a:lnSpc>
              <a:spcBef>
                <a:spcPts val="110"/>
              </a:spcBef>
            </a:pPr>
            <a:r>
              <a:rPr sz="1000" spc="-10" dirty="0">
                <a:latin typeface="Times New Roman"/>
                <a:cs typeface="Times New Roman"/>
              </a:rPr>
              <a:t>J</a:t>
            </a:r>
            <a:r>
              <a:rPr sz="1000" spc="-5" dirty="0">
                <a:latin typeface="Times New Roman"/>
                <a:cs typeface="Times New Roman"/>
              </a:rPr>
              <a:t>A</a:t>
            </a:r>
            <a:r>
              <a:rPr sz="1000" spc="-25" dirty="0">
                <a:latin typeface="Times New Roman"/>
                <a:cs typeface="Times New Roman"/>
              </a:rPr>
              <a:t>B</a:t>
            </a:r>
            <a:r>
              <a:rPr sz="1000" spc="-5" dirty="0">
                <a:latin typeface="Times New Roman"/>
                <a:cs typeface="Times New Roman"/>
              </a:rPr>
              <a:t>A</a:t>
            </a:r>
            <a:r>
              <a:rPr sz="1000" spc="10" dirty="0">
                <a:latin typeface="Times New Roman"/>
                <a:cs typeface="Times New Roman"/>
              </a:rPr>
              <a:t>T</a:t>
            </a:r>
            <a:r>
              <a:rPr sz="1000" spc="-5" dirty="0">
                <a:latin typeface="Times New Roman"/>
                <a:cs typeface="Times New Roman"/>
              </a:rPr>
              <a:t>A</a:t>
            </a:r>
            <a:r>
              <a:rPr sz="1000" spc="5" dirty="0">
                <a:latin typeface="Times New Roman"/>
                <a:cs typeface="Times New Roman"/>
              </a:rPr>
              <a:t>N</a:t>
            </a:r>
            <a:endParaRPr sz="1000">
              <a:latin typeface="Times New Roman"/>
              <a:cs typeface="Times New Roman"/>
            </a:endParaRPr>
          </a:p>
        </p:txBody>
      </p:sp>
      <p:sp>
        <p:nvSpPr>
          <p:cNvPr id="16" name="object 16"/>
          <p:cNvSpPr/>
          <p:nvPr/>
        </p:nvSpPr>
        <p:spPr>
          <a:xfrm>
            <a:off x="1192212" y="2692400"/>
            <a:ext cx="1101725" cy="127000"/>
          </a:xfrm>
          <a:custGeom>
            <a:avLst/>
            <a:gdLst/>
            <a:ahLst/>
            <a:cxnLst/>
            <a:rect l="l" t="t" r="r" b="b"/>
            <a:pathLst>
              <a:path w="1101725" h="127000">
                <a:moveTo>
                  <a:pt x="127063" y="0"/>
                </a:moveTo>
                <a:lnTo>
                  <a:pt x="0" y="63500"/>
                </a:lnTo>
                <a:lnTo>
                  <a:pt x="127063" y="127000"/>
                </a:lnTo>
                <a:lnTo>
                  <a:pt x="127063" y="69850"/>
                </a:lnTo>
                <a:lnTo>
                  <a:pt x="114236" y="69850"/>
                </a:lnTo>
                <a:lnTo>
                  <a:pt x="114236" y="57150"/>
                </a:lnTo>
                <a:lnTo>
                  <a:pt x="127063" y="57150"/>
                </a:lnTo>
                <a:lnTo>
                  <a:pt x="127063" y="0"/>
                </a:lnTo>
                <a:close/>
              </a:path>
              <a:path w="1101725" h="127000">
                <a:moveTo>
                  <a:pt x="127063" y="57150"/>
                </a:moveTo>
                <a:lnTo>
                  <a:pt x="114236" y="57150"/>
                </a:lnTo>
                <a:lnTo>
                  <a:pt x="114236" y="69850"/>
                </a:lnTo>
                <a:lnTo>
                  <a:pt x="127063" y="69850"/>
                </a:lnTo>
                <a:lnTo>
                  <a:pt x="127063" y="57150"/>
                </a:lnTo>
                <a:close/>
              </a:path>
              <a:path w="1101725" h="127000">
                <a:moveTo>
                  <a:pt x="1101661" y="57150"/>
                </a:moveTo>
                <a:lnTo>
                  <a:pt x="127063" y="57150"/>
                </a:lnTo>
                <a:lnTo>
                  <a:pt x="127063" y="69850"/>
                </a:lnTo>
                <a:lnTo>
                  <a:pt x="1101661" y="69850"/>
                </a:lnTo>
                <a:lnTo>
                  <a:pt x="1101661" y="57150"/>
                </a:lnTo>
                <a:close/>
              </a:path>
            </a:pathLst>
          </a:custGeom>
          <a:solidFill>
            <a:srgbClr val="000000"/>
          </a:solidFill>
        </p:spPr>
        <p:txBody>
          <a:bodyPr wrap="square" lIns="0" tIns="0" rIns="0" bIns="0" rtlCol="0"/>
          <a:lstStyle/>
          <a:p>
            <a:endParaRPr/>
          </a:p>
        </p:txBody>
      </p:sp>
      <p:sp>
        <p:nvSpPr>
          <p:cNvPr id="17" name="object 17"/>
          <p:cNvSpPr txBox="1"/>
          <p:nvPr/>
        </p:nvSpPr>
        <p:spPr>
          <a:xfrm>
            <a:off x="818794" y="3525469"/>
            <a:ext cx="476250"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KD-JAB</a:t>
            </a:r>
            <a:endParaRPr sz="1000">
              <a:latin typeface="Times New Roman"/>
              <a:cs typeface="Times New Roman"/>
            </a:endParaRPr>
          </a:p>
        </p:txBody>
      </p:sp>
      <p:graphicFrame>
        <p:nvGraphicFramePr>
          <p:cNvPr id="18" name="object 18"/>
          <p:cNvGraphicFramePr>
            <a:graphicFrameLocks noGrp="1"/>
          </p:cNvGraphicFramePr>
          <p:nvPr/>
        </p:nvGraphicFramePr>
        <p:xfrm>
          <a:off x="374650" y="2330450"/>
          <a:ext cx="2727325" cy="1012825"/>
        </p:xfrm>
        <a:graphic>
          <a:graphicData uri="http://schemas.openxmlformats.org/drawingml/2006/table">
            <a:tbl>
              <a:tblPr firstRow="1" bandRow="1">
                <a:tableStyleId>{2D5ABB26-0587-4C30-8999-92F81FD0307C}</a:tableStyleId>
              </a:tblPr>
              <a:tblGrid>
                <a:gridCol w="821055"/>
                <a:gridCol w="1071880"/>
                <a:gridCol w="822960"/>
              </a:tblGrid>
              <a:tr h="189123">
                <a:tc>
                  <a:txBody>
                    <a:bodyPr/>
                    <a:lstStyle/>
                    <a:p>
                      <a:pPr marL="91440">
                        <a:lnSpc>
                          <a:spcPts val="1060"/>
                        </a:lnSpc>
                        <a:spcBef>
                          <a:spcPts val="330"/>
                        </a:spcBef>
                      </a:pPr>
                      <a:r>
                        <a:rPr sz="1000" u="sng" dirty="0">
                          <a:uFill>
                            <a:solidFill>
                              <a:srgbClr val="000000"/>
                            </a:solidFill>
                          </a:uFill>
                          <a:latin typeface="Times New Roman"/>
                          <a:cs typeface="Times New Roman"/>
                        </a:rPr>
                        <a:t>NO-PEG</a:t>
                      </a:r>
                      <a:endParaRPr sz="1000">
                        <a:latin typeface="Times New Roman"/>
                        <a:cs typeface="Times New Roman"/>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92075">
                        <a:lnSpc>
                          <a:spcPct val="100000"/>
                        </a:lnSpc>
                        <a:spcBef>
                          <a:spcPts val="325"/>
                        </a:spcBef>
                      </a:pPr>
                      <a:r>
                        <a:rPr sz="1000" u="sng" spc="-5" dirty="0">
                          <a:uFill>
                            <a:solidFill>
                              <a:srgbClr val="000000"/>
                            </a:solidFill>
                          </a:uFill>
                          <a:latin typeface="Times New Roman"/>
                          <a:cs typeface="Times New Roman"/>
                        </a:rPr>
                        <a:t>KD-PROY</a:t>
                      </a:r>
                      <a:endParaRPr sz="1000">
                        <a:latin typeface="Times New Roman"/>
                        <a:cs typeface="Times New Roman"/>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tcPr>
                </a:tc>
              </a:tr>
              <a:tr h="153954">
                <a:tc>
                  <a:txBody>
                    <a:bodyPr/>
                    <a:lstStyle/>
                    <a:p>
                      <a:pPr marL="91440">
                        <a:lnSpc>
                          <a:spcPts val="1070"/>
                        </a:lnSpc>
                        <a:spcBef>
                          <a:spcPts val="40"/>
                        </a:spcBef>
                      </a:pPr>
                      <a:r>
                        <a:rPr sz="1000" spc="-5" dirty="0">
                          <a:latin typeface="Times New Roman"/>
                          <a:cs typeface="Times New Roman"/>
                        </a:rPr>
                        <a:t>NAMA</a:t>
                      </a:r>
                      <a:endParaRPr sz="1000">
                        <a:latin typeface="Times New Roman"/>
                        <a:cs typeface="Times New Roman"/>
                      </a:endParaRPr>
                    </a:p>
                  </a:txBody>
                  <a:tcPr marL="0" marR="0" marT="5080" marB="0">
                    <a:lnL w="12700">
                      <a:solidFill>
                        <a:srgbClr val="000000"/>
                      </a:solidFill>
                      <a:prstDash val="solid"/>
                    </a:lnL>
                    <a:lnR w="12700">
                      <a:solidFill>
                        <a:srgbClr val="000000"/>
                      </a:solidFill>
                      <a:prstDash val="solid"/>
                    </a:lnR>
                  </a:tcPr>
                </a:tc>
                <a:tc>
                  <a:txBody>
                    <a:bodyPr/>
                    <a:lstStyle/>
                    <a:p>
                      <a:pPr marL="261620">
                        <a:lnSpc>
                          <a:spcPts val="1050"/>
                        </a:lnSpc>
                        <a:spcBef>
                          <a:spcPts val="60"/>
                        </a:spcBef>
                      </a:pPr>
                      <a:r>
                        <a:rPr sz="1000" spc="-5" dirty="0">
                          <a:latin typeface="Times New Roman"/>
                          <a:cs typeface="Times New Roman"/>
                        </a:rPr>
                        <a:t>KD-PROY</a:t>
                      </a:r>
                      <a:endParaRPr sz="1000">
                        <a:latin typeface="Times New Roman"/>
                        <a:cs typeface="Times New Roman"/>
                      </a:endParaRPr>
                    </a:p>
                  </a:txBody>
                  <a:tcPr marL="0" marR="0" marT="7620" marB="0">
                    <a:lnL w="12700">
                      <a:solidFill>
                        <a:srgbClr val="000000"/>
                      </a:solidFill>
                      <a:prstDash val="solid"/>
                    </a:lnL>
                    <a:lnR w="12700">
                      <a:solidFill>
                        <a:srgbClr val="000000"/>
                      </a:solidFill>
                      <a:prstDash val="solid"/>
                    </a:lnR>
                  </a:tcPr>
                </a:tc>
                <a:tc>
                  <a:txBody>
                    <a:bodyPr/>
                    <a:lstStyle/>
                    <a:p>
                      <a:pPr marL="92075">
                        <a:lnSpc>
                          <a:spcPts val="1040"/>
                        </a:lnSpc>
                      </a:pPr>
                      <a:r>
                        <a:rPr sz="1000" spc="-10" dirty="0">
                          <a:latin typeface="Times New Roman"/>
                          <a:cs typeface="Times New Roman"/>
                        </a:rPr>
                        <a:t>LOKASI</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r>
              <a:tr h="545922">
                <a:tc>
                  <a:txBody>
                    <a:bodyPr/>
                    <a:lstStyle/>
                    <a:p>
                      <a:pPr marL="91440" marR="159385" algn="just">
                        <a:lnSpc>
                          <a:spcPct val="100000"/>
                        </a:lnSpc>
                        <a:spcBef>
                          <a:spcPts val="25"/>
                        </a:spcBef>
                      </a:pPr>
                      <a:r>
                        <a:rPr sz="1000" spc="-5" dirty="0">
                          <a:latin typeface="Times New Roman"/>
                          <a:cs typeface="Times New Roman"/>
                        </a:rPr>
                        <a:t>ALAMAT </a:t>
                      </a:r>
                      <a:r>
                        <a:rPr sz="1000" spc="-240" dirty="0">
                          <a:latin typeface="Times New Roman"/>
                          <a:cs typeface="Times New Roman"/>
                        </a:rPr>
                        <a:t> </a:t>
                      </a:r>
                      <a:r>
                        <a:rPr sz="1000" spc="-10" dirty="0">
                          <a:latin typeface="Times New Roman"/>
                          <a:cs typeface="Times New Roman"/>
                        </a:rPr>
                        <a:t>KD</a:t>
                      </a:r>
                      <a:r>
                        <a:rPr sz="1000" dirty="0">
                          <a:latin typeface="Times New Roman"/>
                          <a:cs typeface="Times New Roman"/>
                        </a:rPr>
                        <a:t>-</a:t>
                      </a:r>
                      <a:r>
                        <a:rPr sz="1000" spc="-10" dirty="0">
                          <a:latin typeface="Times New Roman"/>
                          <a:cs typeface="Times New Roman"/>
                        </a:rPr>
                        <a:t>P</a:t>
                      </a:r>
                      <a:r>
                        <a:rPr sz="1000" spc="-25" dirty="0">
                          <a:latin typeface="Times New Roman"/>
                          <a:cs typeface="Times New Roman"/>
                        </a:rPr>
                        <a:t>R</a:t>
                      </a:r>
                      <a:r>
                        <a:rPr sz="1000" spc="-10" dirty="0">
                          <a:latin typeface="Times New Roman"/>
                          <a:cs typeface="Times New Roman"/>
                        </a:rPr>
                        <a:t>O</a:t>
                      </a:r>
                      <a:r>
                        <a:rPr sz="1000" dirty="0">
                          <a:latin typeface="Times New Roman"/>
                          <a:cs typeface="Times New Roman"/>
                        </a:rPr>
                        <a:t>Y  </a:t>
                      </a:r>
                      <a:r>
                        <a:rPr sz="1000" spc="-5" dirty="0">
                          <a:latin typeface="Times New Roman"/>
                          <a:cs typeface="Times New Roman"/>
                        </a:rPr>
                        <a:t>KD-JAB</a:t>
                      </a:r>
                      <a:endParaRPr sz="1000">
                        <a:latin typeface="Times New Roman"/>
                        <a:cs typeface="Times New Roman"/>
                      </a:endParaRPr>
                    </a:p>
                  </a:txBody>
                  <a:tcPr marL="0" marR="0" marT="3175" marB="0">
                    <a:lnL w="12700">
                      <a:solidFill>
                        <a:srgbClr val="000000"/>
                      </a:solidFill>
                      <a:prstDash val="solid"/>
                    </a:lnL>
                    <a:lnR w="12700">
                      <a:solidFill>
                        <a:srgbClr val="000000"/>
                      </a:solidFill>
                      <a:prstDash val="solid"/>
                    </a:lnR>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92075">
                        <a:lnSpc>
                          <a:spcPts val="1030"/>
                        </a:lnSpc>
                      </a:pPr>
                      <a:r>
                        <a:rPr sz="1000" dirty="0">
                          <a:latin typeface="Times New Roman"/>
                          <a:cs typeface="Times New Roman"/>
                        </a:rPr>
                        <a:t>JENIS</a:t>
                      </a: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r>
              <a:tr h="111125">
                <a:tc>
                  <a:txBody>
                    <a:bodyPr/>
                    <a:lstStyle/>
                    <a:p>
                      <a:pPr>
                        <a:lnSpc>
                          <a:spcPct val="100000"/>
                        </a:lnSpc>
                      </a:pPr>
                      <a:endParaRPr sz="500">
                        <a:latin typeface="Times New Roman"/>
                        <a:cs typeface="Times New Roman"/>
                      </a:endParaRPr>
                    </a:p>
                  </a:txBody>
                  <a:tcPr marL="0" marR="0" marT="0" marB="0">
                    <a:lnL w="12700">
                      <a:solidFill>
                        <a:srgbClr val="000000"/>
                      </a:solidFill>
                      <a:prstDash val="solid"/>
                    </a:lnL>
                    <a:lnR w="12700">
                      <a:solidFill>
                        <a:srgbClr val="000000"/>
                      </a:solidFill>
                      <a:prstDash val="solid"/>
                    </a:lnR>
                    <a:lnB w="12700">
                      <a:solidFill>
                        <a:srgbClr val="000000"/>
                      </a:solidFill>
                      <a:prstDash val="solid"/>
                    </a:lnB>
                  </a:tcPr>
                </a:tc>
                <a:tc>
                  <a:txBody>
                    <a:bodyPr/>
                    <a:lstStyle/>
                    <a:p>
                      <a:pPr>
                        <a:lnSpc>
                          <a:spcPct val="100000"/>
                        </a:lnSpc>
                      </a:pPr>
                      <a:endParaRPr sz="500">
                        <a:latin typeface="Times New Roman"/>
                        <a:cs typeface="Times New Roman"/>
                      </a:endParaRPr>
                    </a:p>
                  </a:txBody>
                  <a:tcPr marL="0" marR="0" marT="0" marB="0">
                    <a:lnL w="12700">
                      <a:solidFill>
                        <a:srgbClr val="000000"/>
                      </a:solidFill>
                      <a:prstDash val="solid"/>
                    </a:lnL>
                  </a:tcPr>
                </a:tc>
                <a:tc>
                  <a:txBody>
                    <a:bodyPr/>
                    <a:lstStyle/>
                    <a:p>
                      <a:pPr>
                        <a:lnSpc>
                          <a:spcPct val="100000"/>
                        </a:lnSpc>
                      </a:pPr>
                      <a:endParaRPr sz="500">
                        <a:latin typeface="Times New Roman"/>
                        <a:cs typeface="Times New Roman"/>
                      </a:endParaRPr>
                    </a:p>
                  </a:txBody>
                  <a:tcPr marL="0" marR="0" marT="0" marB="0">
                    <a:lnT w="12700">
                      <a:solidFill>
                        <a:srgbClr val="000000"/>
                      </a:solidFill>
                      <a:prstDash val="solid"/>
                    </a:lnT>
                  </a:tcPr>
                </a:tc>
              </a:tr>
            </a:tbl>
          </a:graphicData>
        </a:graphic>
      </p:graphicFrame>
      <p:sp>
        <p:nvSpPr>
          <p:cNvPr id="19" name="object 19"/>
          <p:cNvSpPr/>
          <p:nvPr/>
        </p:nvSpPr>
        <p:spPr>
          <a:xfrm>
            <a:off x="676275" y="3330575"/>
            <a:ext cx="127000" cy="527050"/>
          </a:xfrm>
          <a:custGeom>
            <a:avLst/>
            <a:gdLst/>
            <a:ahLst/>
            <a:cxnLst/>
            <a:rect l="l" t="t" r="r" b="b"/>
            <a:pathLst>
              <a:path w="127000" h="527050">
                <a:moveTo>
                  <a:pt x="69850" y="114300"/>
                </a:moveTo>
                <a:lnTo>
                  <a:pt x="57150" y="114300"/>
                </a:lnTo>
                <a:lnTo>
                  <a:pt x="57150" y="527050"/>
                </a:lnTo>
                <a:lnTo>
                  <a:pt x="69850" y="527050"/>
                </a:lnTo>
                <a:lnTo>
                  <a:pt x="69850" y="114300"/>
                </a:lnTo>
                <a:close/>
              </a:path>
              <a:path w="127000" h="527050">
                <a:moveTo>
                  <a:pt x="63500" y="0"/>
                </a:moveTo>
                <a:lnTo>
                  <a:pt x="0" y="127000"/>
                </a:lnTo>
                <a:lnTo>
                  <a:pt x="57150" y="127000"/>
                </a:lnTo>
                <a:lnTo>
                  <a:pt x="57150" y="114300"/>
                </a:lnTo>
                <a:lnTo>
                  <a:pt x="120650" y="114300"/>
                </a:lnTo>
                <a:lnTo>
                  <a:pt x="63500" y="0"/>
                </a:lnTo>
                <a:close/>
              </a:path>
              <a:path w="127000" h="527050">
                <a:moveTo>
                  <a:pt x="120650" y="114300"/>
                </a:moveTo>
                <a:lnTo>
                  <a:pt x="69850" y="114300"/>
                </a:lnTo>
                <a:lnTo>
                  <a:pt x="69850" y="127000"/>
                </a:lnTo>
                <a:lnTo>
                  <a:pt x="127000" y="127000"/>
                </a:lnTo>
                <a:lnTo>
                  <a:pt x="120650" y="114300"/>
                </a:lnTo>
                <a:close/>
              </a:path>
            </a:pathLst>
          </a:custGeom>
          <a:solidFill>
            <a:srgbClr val="000000"/>
          </a:solidFill>
        </p:spPr>
        <p:txBody>
          <a:bodyPr wrap="square" lIns="0" tIns="0" rIns="0" bIns="0" rtlCol="0"/>
          <a:lstStyle/>
          <a:p>
            <a:endParaRPr/>
          </a:p>
        </p:txBody>
      </p:sp>
      <p:sp>
        <p:nvSpPr>
          <p:cNvPr id="20" name="object 20"/>
          <p:cNvSpPr txBox="1"/>
          <p:nvPr/>
        </p:nvSpPr>
        <p:spPr>
          <a:xfrm>
            <a:off x="2343404" y="2028189"/>
            <a:ext cx="532765" cy="179070"/>
          </a:xfrm>
          <a:prstGeom prst="rect">
            <a:avLst/>
          </a:prstGeom>
        </p:spPr>
        <p:txBody>
          <a:bodyPr vert="horz" wrap="square" lIns="0" tIns="13335" rIns="0" bIns="0" rtlCol="0">
            <a:spAutoFit/>
          </a:bodyPr>
          <a:lstStyle/>
          <a:p>
            <a:pPr marL="12700">
              <a:lnSpc>
                <a:spcPct val="100000"/>
              </a:lnSpc>
              <a:spcBef>
                <a:spcPts val="105"/>
              </a:spcBef>
            </a:pPr>
            <a:r>
              <a:rPr sz="1000" spc="-10" dirty="0">
                <a:latin typeface="Times New Roman"/>
                <a:cs typeface="Times New Roman"/>
              </a:rPr>
              <a:t>P</a:t>
            </a:r>
            <a:r>
              <a:rPr sz="1000" spc="-20" dirty="0">
                <a:latin typeface="Times New Roman"/>
                <a:cs typeface="Times New Roman"/>
              </a:rPr>
              <a:t>R</a:t>
            </a:r>
            <a:r>
              <a:rPr sz="1000" spc="-5" dirty="0">
                <a:latin typeface="Times New Roman"/>
                <a:cs typeface="Times New Roman"/>
              </a:rPr>
              <a:t>OY</a:t>
            </a:r>
            <a:r>
              <a:rPr sz="1000" spc="5" dirty="0">
                <a:latin typeface="Times New Roman"/>
                <a:cs typeface="Times New Roman"/>
              </a:rPr>
              <a:t>EK</a:t>
            </a:r>
            <a:endParaRPr sz="1000">
              <a:latin typeface="Times New Roman"/>
              <a:cs typeface="Times New Roman"/>
            </a:endParaRPr>
          </a:p>
        </p:txBody>
      </p:sp>
      <p:sp>
        <p:nvSpPr>
          <p:cNvPr id="21" name="object 21"/>
          <p:cNvSpPr txBox="1"/>
          <p:nvPr/>
        </p:nvSpPr>
        <p:spPr>
          <a:xfrm>
            <a:off x="2339975" y="3711575"/>
            <a:ext cx="822325" cy="914400"/>
          </a:xfrm>
          <a:prstGeom prst="rect">
            <a:avLst/>
          </a:prstGeom>
          <a:ln w="12700">
            <a:solidFill>
              <a:srgbClr val="000000"/>
            </a:solidFill>
          </a:ln>
        </p:spPr>
        <p:txBody>
          <a:bodyPr vert="horz" wrap="square" lIns="0" tIns="41910" rIns="0" bIns="0" rtlCol="0">
            <a:spAutoFit/>
          </a:bodyPr>
          <a:lstStyle/>
          <a:p>
            <a:pPr marL="92075" marR="147955" algn="just">
              <a:lnSpc>
                <a:spcPct val="100000"/>
              </a:lnSpc>
              <a:spcBef>
                <a:spcPts val="330"/>
              </a:spcBef>
            </a:pP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10" dirty="0">
                <a:uFill>
                  <a:solidFill>
                    <a:srgbClr val="000000"/>
                  </a:solidFill>
                </a:uFill>
                <a:latin typeface="Times New Roman"/>
                <a:cs typeface="Times New Roman"/>
              </a:rPr>
              <a:t>P</a:t>
            </a:r>
            <a:r>
              <a:rPr sz="1000" u="sng" spc="-20" dirty="0">
                <a:uFill>
                  <a:solidFill>
                    <a:srgbClr val="000000"/>
                  </a:solidFill>
                </a:uFill>
                <a:latin typeface="Times New Roman"/>
                <a:cs typeface="Times New Roman"/>
              </a:rPr>
              <a:t>R</a:t>
            </a:r>
            <a:r>
              <a:rPr sz="1000" u="sng" spc="-5" dirty="0">
                <a:uFill>
                  <a:solidFill>
                    <a:srgbClr val="000000"/>
                  </a:solidFill>
                </a:uFill>
                <a:latin typeface="Times New Roman"/>
                <a:cs typeface="Times New Roman"/>
              </a:rPr>
              <a:t>O</a:t>
            </a:r>
            <a:r>
              <a:rPr sz="1000" u="sng" dirty="0">
                <a:uFill>
                  <a:solidFill>
                    <a:srgbClr val="000000"/>
                  </a:solidFill>
                </a:uFill>
                <a:latin typeface="Times New Roman"/>
                <a:cs typeface="Times New Roman"/>
              </a:rPr>
              <a:t>Y </a:t>
            </a:r>
            <a:r>
              <a:rPr sz="1000" dirty="0">
                <a:latin typeface="Times New Roman"/>
                <a:cs typeface="Times New Roman"/>
              </a:rPr>
              <a:t> </a:t>
            </a:r>
            <a:r>
              <a:rPr sz="1000" u="sng" spc="-5" dirty="0">
                <a:uFill>
                  <a:solidFill>
                    <a:srgbClr val="000000"/>
                  </a:solidFill>
                </a:uFill>
                <a:latin typeface="Times New Roman"/>
                <a:cs typeface="Times New Roman"/>
              </a:rPr>
              <a:t>KD</a:t>
            </a:r>
            <a:r>
              <a:rPr sz="1000" u="sng" dirty="0">
                <a:uFill>
                  <a:solidFill>
                    <a:srgbClr val="000000"/>
                  </a:solidFill>
                </a:uFill>
                <a:latin typeface="Times New Roman"/>
                <a:cs typeface="Times New Roman"/>
              </a:rPr>
              <a:t>-</a:t>
            </a:r>
            <a:r>
              <a:rPr sz="1000" u="sng" spc="-20" dirty="0">
                <a:uFill>
                  <a:solidFill>
                    <a:srgbClr val="000000"/>
                  </a:solidFill>
                </a:uFill>
                <a:latin typeface="Times New Roman"/>
                <a:cs typeface="Times New Roman"/>
              </a:rPr>
              <a:t>BR</a:t>
            </a:r>
            <a:r>
              <a:rPr sz="1000" u="sng" spc="-5" dirty="0">
                <a:uFill>
                  <a:solidFill>
                    <a:srgbClr val="000000"/>
                  </a:solidFill>
                </a:uFill>
                <a:latin typeface="Times New Roman"/>
                <a:cs typeface="Times New Roman"/>
              </a:rPr>
              <a:t>N</a:t>
            </a:r>
            <a:r>
              <a:rPr sz="1000" u="sng" dirty="0">
                <a:uFill>
                  <a:solidFill>
                    <a:srgbClr val="000000"/>
                  </a:solidFill>
                </a:uFill>
                <a:latin typeface="Times New Roman"/>
                <a:cs typeface="Times New Roman"/>
              </a:rPr>
              <a:t>G </a:t>
            </a:r>
            <a:r>
              <a:rPr sz="1000" dirty="0">
                <a:latin typeface="Times New Roman"/>
                <a:cs typeface="Times New Roman"/>
              </a:rPr>
              <a:t> </a:t>
            </a:r>
            <a:r>
              <a:rPr sz="1000" spc="-10" dirty="0">
                <a:latin typeface="Times New Roman"/>
                <a:cs typeface="Times New Roman"/>
              </a:rPr>
              <a:t>JUMLAH</a:t>
            </a:r>
            <a:endParaRPr sz="1000">
              <a:latin typeface="Times New Roman"/>
              <a:cs typeface="Times New Roman"/>
            </a:endParaRPr>
          </a:p>
        </p:txBody>
      </p:sp>
      <p:sp>
        <p:nvSpPr>
          <p:cNvPr id="22" name="object 22"/>
          <p:cNvSpPr txBox="1"/>
          <p:nvPr/>
        </p:nvSpPr>
        <p:spPr>
          <a:xfrm>
            <a:off x="1885950" y="3857320"/>
            <a:ext cx="411480" cy="179705"/>
          </a:xfrm>
          <a:prstGeom prst="rect">
            <a:avLst/>
          </a:prstGeom>
        </p:spPr>
        <p:txBody>
          <a:bodyPr vert="horz" wrap="square" lIns="0" tIns="13970" rIns="0" bIns="0" rtlCol="0">
            <a:spAutoFit/>
          </a:bodyPr>
          <a:lstStyle/>
          <a:p>
            <a:pPr marL="12700">
              <a:lnSpc>
                <a:spcPct val="100000"/>
              </a:lnSpc>
              <a:spcBef>
                <a:spcPts val="110"/>
              </a:spcBef>
            </a:pPr>
            <a:r>
              <a:rPr sz="1000" spc="-5" dirty="0">
                <a:latin typeface="Times New Roman"/>
                <a:cs typeface="Times New Roman"/>
              </a:rPr>
              <a:t>PAKAI</a:t>
            </a:r>
            <a:endParaRPr sz="1000">
              <a:latin typeface="Times New Roman"/>
              <a:cs typeface="Times New Roman"/>
            </a:endParaRPr>
          </a:p>
        </p:txBody>
      </p:sp>
      <p:sp>
        <p:nvSpPr>
          <p:cNvPr id="23" name="object 23"/>
          <p:cNvSpPr txBox="1"/>
          <p:nvPr/>
        </p:nvSpPr>
        <p:spPr>
          <a:xfrm>
            <a:off x="2454275" y="5191125"/>
            <a:ext cx="822325" cy="914400"/>
          </a:xfrm>
          <a:prstGeom prst="rect">
            <a:avLst/>
          </a:prstGeom>
          <a:ln w="12700">
            <a:solidFill>
              <a:srgbClr val="000000"/>
            </a:solidFill>
          </a:ln>
        </p:spPr>
        <p:txBody>
          <a:bodyPr vert="horz" wrap="square" lIns="0" tIns="42545" rIns="0" bIns="0" rtlCol="0">
            <a:spAutoFit/>
          </a:bodyPr>
          <a:lstStyle/>
          <a:p>
            <a:pPr marL="92075" marR="127635" algn="just">
              <a:lnSpc>
                <a:spcPct val="100000"/>
              </a:lnSpc>
              <a:spcBef>
                <a:spcPts val="335"/>
              </a:spcBef>
            </a:pPr>
            <a:r>
              <a:rPr sz="1000" u="sng" spc="-10" dirty="0">
                <a:uFill>
                  <a:solidFill>
                    <a:srgbClr val="000000"/>
                  </a:solidFill>
                </a:uFill>
                <a:latin typeface="Times New Roman"/>
                <a:cs typeface="Times New Roman"/>
              </a:rPr>
              <a:t>KD-BRNG </a:t>
            </a:r>
            <a:r>
              <a:rPr sz="1000" spc="-240" dirty="0">
                <a:latin typeface="Times New Roman"/>
                <a:cs typeface="Times New Roman"/>
              </a:rPr>
              <a:t> </a:t>
            </a:r>
            <a:r>
              <a:rPr sz="1000" spc="-5" dirty="0">
                <a:latin typeface="Times New Roman"/>
                <a:cs typeface="Times New Roman"/>
              </a:rPr>
              <a:t>NAM</a:t>
            </a:r>
            <a:r>
              <a:rPr sz="1000" spc="-10" dirty="0">
                <a:latin typeface="Times New Roman"/>
                <a:cs typeface="Times New Roman"/>
              </a:rPr>
              <a:t>A</a:t>
            </a:r>
            <a:r>
              <a:rPr sz="1000" spc="-5" dirty="0">
                <a:latin typeface="Times New Roman"/>
                <a:cs typeface="Times New Roman"/>
              </a:rPr>
              <a:t>-</a:t>
            </a:r>
            <a:r>
              <a:rPr sz="1000" spc="-30" dirty="0">
                <a:latin typeface="Times New Roman"/>
                <a:cs typeface="Times New Roman"/>
              </a:rPr>
              <a:t>BR  </a:t>
            </a:r>
            <a:r>
              <a:rPr sz="1000" spc="-10" dirty="0">
                <a:latin typeface="Times New Roman"/>
                <a:cs typeface="Times New Roman"/>
              </a:rPr>
              <a:t>HAR-SAT</a:t>
            </a:r>
            <a:endParaRPr sz="1000">
              <a:latin typeface="Times New Roman"/>
              <a:cs typeface="Times New Roman"/>
            </a:endParaRPr>
          </a:p>
        </p:txBody>
      </p:sp>
      <p:sp>
        <p:nvSpPr>
          <p:cNvPr id="24" name="object 24"/>
          <p:cNvSpPr txBox="1"/>
          <p:nvPr/>
        </p:nvSpPr>
        <p:spPr>
          <a:xfrm>
            <a:off x="2419604" y="6144869"/>
            <a:ext cx="556895" cy="179070"/>
          </a:xfrm>
          <a:prstGeom prst="rect">
            <a:avLst/>
          </a:prstGeom>
        </p:spPr>
        <p:txBody>
          <a:bodyPr vert="horz" wrap="square" lIns="0" tIns="13335" rIns="0" bIns="0" rtlCol="0">
            <a:spAutoFit/>
          </a:bodyPr>
          <a:lstStyle/>
          <a:p>
            <a:pPr marL="12700">
              <a:lnSpc>
                <a:spcPct val="100000"/>
              </a:lnSpc>
              <a:spcBef>
                <a:spcPts val="105"/>
              </a:spcBef>
            </a:pPr>
            <a:r>
              <a:rPr sz="1000" spc="-20" dirty="0">
                <a:latin typeface="Times New Roman"/>
                <a:cs typeface="Times New Roman"/>
              </a:rPr>
              <a:t>B</a:t>
            </a:r>
            <a:r>
              <a:rPr sz="1000" spc="-5" dirty="0">
                <a:latin typeface="Times New Roman"/>
                <a:cs typeface="Times New Roman"/>
              </a:rPr>
              <a:t>A</a:t>
            </a:r>
            <a:r>
              <a:rPr sz="1000" spc="-20" dirty="0">
                <a:latin typeface="Times New Roman"/>
                <a:cs typeface="Times New Roman"/>
              </a:rPr>
              <a:t>R</a:t>
            </a:r>
            <a:r>
              <a:rPr sz="1000" spc="-5" dirty="0">
                <a:latin typeface="Times New Roman"/>
                <a:cs typeface="Times New Roman"/>
              </a:rPr>
              <a:t>AN</a:t>
            </a:r>
            <a:r>
              <a:rPr sz="1000" spc="5" dirty="0">
                <a:latin typeface="Times New Roman"/>
                <a:cs typeface="Times New Roman"/>
              </a:rPr>
              <a:t>G</a:t>
            </a:r>
            <a:endParaRPr sz="1000">
              <a:latin typeface="Times New Roman"/>
              <a:cs typeface="Times New Roman"/>
            </a:endParaRPr>
          </a:p>
        </p:txBody>
      </p:sp>
      <p:sp>
        <p:nvSpPr>
          <p:cNvPr id="25" name="object 25"/>
          <p:cNvSpPr/>
          <p:nvPr/>
        </p:nvSpPr>
        <p:spPr>
          <a:xfrm>
            <a:off x="2660650" y="3206750"/>
            <a:ext cx="127000" cy="527050"/>
          </a:xfrm>
          <a:custGeom>
            <a:avLst/>
            <a:gdLst/>
            <a:ahLst/>
            <a:cxnLst/>
            <a:rect l="l" t="t" r="r" b="b"/>
            <a:pathLst>
              <a:path w="127000" h="527050">
                <a:moveTo>
                  <a:pt x="57150" y="400050"/>
                </a:moveTo>
                <a:lnTo>
                  <a:pt x="0" y="400050"/>
                </a:lnTo>
                <a:lnTo>
                  <a:pt x="63500" y="527050"/>
                </a:lnTo>
                <a:lnTo>
                  <a:pt x="120650" y="412750"/>
                </a:lnTo>
                <a:lnTo>
                  <a:pt x="57150" y="412750"/>
                </a:lnTo>
                <a:lnTo>
                  <a:pt x="57150" y="400050"/>
                </a:lnTo>
                <a:close/>
              </a:path>
              <a:path w="127000" h="527050">
                <a:moveTo>
                  <a:pt x="69850" y="0"/>
                </a:moveTo>
                <a:lnTo>
                  <a:pt x="57150" y="0"/>
                </a:lnTo>
                <a:lnTo>
                  <a:pt x="57150" y="412750"/>
                </a:lnTo>
                <a:lnTo>
                  <a:pt x="69850" y="412750"/>
                </a:lnTo>
                <a:lnTo>
                  <a:pt x="69850" y="0"/>
                </a:lnTo>
                <a:close/>
              </a:path>
              <a:path w="127000" h="527050">
                <a:moveTo>
                  <a:pt x="127000" y="400050"/>
                </a:moveTo>
                <a:lnTo>
                  <a:pt x="69850" y="400050"/>
                </a:lnTo>
                <a:lnTo>
                  <a:pt x="69850" y="412750"/>
                </a:lnTo>
                <a:lnTo>
                  <a:pt x="120650" y="412750"/>
                </a:lnTo>
                <a:lnTo>
                  <a:pt x="127000" y="400050"/>
                </a:lnTo>
                <a:close/>
              </a:path>
            </a:pathLst>
          </a:custGeom>
          <a:solidFill>
            <a:srgbClr val="000000"/>
          </a:solidFill>
        </p:spPr>
        <p:txBody>
          <a:bodyPr wrap="square" lIns="0" tIns="0" rIns="0" bIns="0" rtlCol="0"/>
          <a:lstStyle/>
          <a:p>
            <a:endParaRPr/>
          </a:p>
        </p:txBody>
      </p:sp>
      <p:sp>
        <p:nvSpPr>
          <p:cNvPr id="26" name="object 26"/>
          <p:cNvSpPr txBox="1"/>
          <p:nvPr/>
        </p:nvSpPr>
        <p:spPr>
          <a:xfrm>
            <a:off x="2803905" y="3325749"/>
            <a:ext cx="587375"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KD</a:t>
            </a:r>
            <a:r>
              <a:rPr sz="1000" dirty="0">
                <a:latin typeface="Times New Roman"/>
                <a:cs typeface="Times New Roman"/>
              </a:rPr>
              <a:t>-</a:t>
            </a:r>
            <a:r>
              <a:rPr sz="1000" spc="-10" dirty="0">
                <a:latin typeface="Times New Roman"/>
                <a:cs typeface="Times New Roman"/>
              </a:rPr>
              <a:t>P</a:t>
            </a:r>
            <a:r>
              <a:rPr sz="1000" spc="-20" dirty="0">
                <a:latin typeface="Times New Roman"/>
                <a:cs typeface="Times New Roman"/>
              </a:rPr>
              <a:t>R</a:t>
            </a:r>
            <a:r>
              <a:rPr sz="1000" spc="-5" dirty="0">
                <a:latin typeface="Times New Roman"/>
                <a:cs typeface="Times New Roman"/>
              </a:rPr>
              <a:t>O</a:t>
            </a:r>
            <a:r>
              <a:rPr sz="1000" spc="5" dirty="0">
                <a:latin typeface="Times New Roman"/>
                <a:cs typeface="Times New Roman"/>
              </a:rPr>
              <a:t>Y</a:t>
            </a:r>
            <a:endParaRPr sz="1000">
              <a:latin typeface="Times New Roman"/>
              <a:cs typeface="Times New Roman"/>
            </a:endParaRPr>
          </a:p>
        </p:txBody>
      </p:sp>
      <p:sp>
        <p:nvSpPr>
          <p:cNvPr id="27" name="object 27"/>
          <p:cNvSpPr/>
          <p:nvPr/>
        </p:nvSpPr>
        <p:spPr>
          <a:xfrm>
            <a:off x="2660650" y="4649723"/>
            <a:ext cx="127000" cy="525780"/>
          </a:xfrm>
          <a:custGeom>
            <a:avLst/>
            <a:gdLst/>
            <a:ahLst/>
            <a:cxnLst/>
            <a:rect l="l" t="t" r="r" b="b"/>
            <a:pathLst>
              <a:path w="127000" h="525779">
                <a:moveTo>
                  <a:pt x="69850" y="114300"/>
                </a:moveTo>
                <a:lnTo>
                  <a:pt x="57150" y="114300"/>
                </a:lnTo>
                <a:lnTo>
                  <a:pt x="57150" y="525526"/>
                </a:lnTo>
                <a:lnTo>
                  <a:pt x="69850" y="525526"/>
                </a:lnTo>
                <a:lnTo>
                  <a:pt x="69850" y="114300"/>
                </a:lnTo>
                <a:close/>
              </a:path>
              <a:path w="127000" h="525779">
                <a:moveTo>
                  <a:pt x="63500" y="0"/>
                </a:moveTo>
                <a:lnTo>
                  <a:pt x="0" y="127000"/>
                </a:lnTo>
                <a:lnTo>
                  <a:pt x="57150" y="127000"/>
                </a:lnTo>
                <a:lnTo>
                  <a:pt x="57150" y="114300"/>
                </a:lnTo>
                <a:lnTo>
                  <a:pt x="120650" y="114300"/>
                </a:lnTo>
                <a:lnTo>
                  <a:pt x="63500" y="0"/>
                </a:lnTo>
                <a:close/>
              </a:path>
              <a:path w="127000" h="525779">
                <a:moveTo>
                  <a:pt x="120650" y="114300"/>
                </a:moveTo>
                <a:lnTo>
                  <a:pt x="69850" y="114300"/>
                </a:lnTo>
                <a:lnTo>
                  <a:pt x="69850" y="127000"/>
                </a:lnTo>
                <a:lnTo>
                  <a:pt x="127000" y="127000"/>
                </a:lnTo>
                <a:lnTo>
                  <a:pt x="120650" y="114300"/>
                </a:lnTo>
                <a:close/>
              </a:path>
            </a:pathLst>
          </a:custGeom>
          <a:solidFill>
            <a:srgbClr val="000000"/>
          </a:solidFill>
        </p:spPr>
        <p:txBody>
          <a:bodyPr wrap="square" lIns="0" tIns="0" rIns="0" bIns="0" rtlCol="0"/>
          <a:lstStyle/>
          <a:p>
            <a:endParaRPr/>
          </a:p>
        </p:txBody>
      </p:sp>
      <p:sp>
        <p:nvSpPr>
          <p:cNvPr id="28" name="object 28"/>
          <p:cNvSpPr txBox="1"/>
          <p:nvPr/>
        </p:nvSpPr>
        <p:spPr>
          <a:xfrm>
            <a:off x="2803905" y="4859528"/>
            <a:ext cx="599440" cy="179070"/>
          </a:xfrm>
          <a:prstGeom prst="rect">
            <a:avLst/>
          </a:prstGeom>
        </p:spPr>
        <p:txBody>
          <a:bodyPr vert="horz" wrap="square" lIns="0" tIns="13335" rIns="0" bIns="0" rtlCol="0">
            <a:spAutoFit/>
          </a:bodyPr>
          <a:lstStyle/>
          <a:p>
            <a:pPr marL="12700">
              <a:lnSpc>
                <a:spcPct val="100000"/>
              </a:lnSpc>
              <a:spcBef>
                <a:spcPts val="105"/>
              </a:spcBef>
            </a:pPr>
            <a:r>
              <a:rPr sz="1000" spc="-5" dirty="0">
                <a:latin typeface="Times New Roman"/>
                <a:cs typeface="Times New Roman"/>
              </a:rPr>
              <a:t>KD</a:t>
            </a:r>
            <a:r>
              <a:rPr sz="1000" dirty="0">
                <a:latin typeface="Times New Roman"/>
                <a:cs typeface="Times New Roman"/>
              </a:rPr>
              <a:t>-</a:t>
            </a:r>
            <a:r>
              <a:rPr sz="1000" spc="-20" dirty="0">
                <a:latin typeface="Times New Roman"/>
                <a:cs typeface="Times New Roman"/>
              </a:rPr>
              <a:t>BR</a:t>
            </a:r>
            <a:r>
              <a:rPr sz="1000" spc="-5" dirty="0">
                <a:latin typeface="Times New Roman"/>
                <a:cs typeface="Times New Roman"/>
              </a:rPr>
              <a:t>N</a:t>
            </a:r>
            <a:r>
              <a:rPr sz="1000" spc="5" dirty="0">
                <a:latin typeface="Times New Roman"/>
                <a:cs typeface="Times New Roman"/>
              </a:rPr>
              <a:t>G</a:t>
            </a:r>
            <a:endParaRPr sz="1000">
              <a:latin typeface="Times New Roman"/>
              <a:cs typeface="Times New Roman"/>
            </a:endParaRPr>
          </a:p>
        </p:txBody>
      </p:sp>
      <p:pic>
        <p:nvPicPr>
          <p:cNvPr id="29" name="object 29"/>
          <p:cNvPicPr/>
          <p:nvPr/>
        </p:nvPicPr>
        <p:blipFill>
          <a:blip r:embed="rId2" cstate="print"/>
          <a:stretch>
            <a:fillRect/>
          </a:stretch>
        </p:blipFill>
        <p:spPr>
          <a:xfrm>
            <a:off x="5181600" y="476250"/>
            <a:ext cx="3759200" cy="457200"/>
          </a:xfrm>
          <a:prstGeom prst="rect">
            <a:avLst/>
          </a:prstGeom>
        </p:spPr>
      </p:pic>
      <p:sp>
        <p:nvSpPr>
          <p:cNvPr id="30" name="object 30"/>
          <p:cNvSpPr txBox="1">
            <a:spLocks noGrp="1"/>
          </p:cNvSpPr>
          <p:nvPr>
            <p:ph type="title"/>
          </p:nvPr>
        </p:nvSpPr>
        <p:spPr>
          <a:xfrm>
            <a:off x="5588889" y="542670"/>
            <a:ext cx="2677160" cy="270510"/>
          </a:xfrm>
          <a:prstGeom prst="rect">
            <a:avLst/>
          </a:prstGeom>
        </p:spPr>
        <p:txBody>
          <a:bodyPr vert="horz" wrap="square" lIns="0" tIns="13335" rIns="0" bIns="0" rtlCol="0">
            <a:spAutoFit/>
          </a:bodyPr>
          <a:lstStyle/>
          <a:p>
            <a:pPr marL="12700">
              <a:lnSpc>
                <a:spcPct val="100000"/>
              </a:lnSpc>
              <a:spcBef>
                <a:spcPts val="105"/>
              </a:spcBef>
            </a:pPr>
            <a:r>
              <a:rPr spc="-170" dirty="0"/>
              <a:t>T</a:t>
            </a:r>
            <a:r>
              <a:rPr spc="-200" dirty="0"/>
              <a:t>R</a:t>
            </a:r>
            <a:r>
              <a:rPr spc="-185" dirty="0"/>
              <a:t>A</a:t>
            </a:r>
            <a:r>
              <a:rPr spc="-200" dirty="0"/>
              <a:t>N</a:t>
            </a:r>
            <a:r>
              <a:rPr spc="-185" dirty="0"/>
              <a:t>S</a:t>
            </a:r>
            <a:r>
              <a:rPr spc="-170" dirty="0"/>
              <a:t>F</a:t>
            </a:r>
            <a:r>
              <a:rPr spc="-220" dirty="0"/>
              <a:t>O</a:t>
            </a:r>
            <a:r>
              <a:rPr spc="-200" dirty="0"/>
              <a:t>R</a:t>
            </a:r>
            <a:r>
              <a:rPr spc="-254" dirty="0"/>
              <a:t>M</a:t>
            </a:r>
            <a:r>
              <a:rPr spc="-210" dirty="0"/>
              <a:t>A</a:t>
            </a:r>
            <a:r>
              <a:rPr spc="-185" dirty="0"/>
              <a:t>S</a:t>
            </a:r>
            <a:r>
              <a:rPr spc="-80" dirty="0"/>
              <a:t>I</a:t>
            </a:r>
            <a:r>
              <a:rPr spc="170" dirty="0"/>
              <a:t> </a:t>
            </a:r>
            <a:r>
              <a:rPr spc="-155" dirty="0"/>
              <a:t>L</a:t>
            </a:r>
            <a:r>
              <a:rPr spc="-200" dirty="0"/>
              <a:t>R</a:t>
            </a:r>
            <a:r>
              <a:rPr spc="-190" dirty="0"/>
              <a:t>S</a:t>
            </a:r>
            <a:r>
              <a:rPr spc="-105" dirty="0"/>
              <a:t> </a:t>
            </a:r>
            <a:r>
              <a:rPr spc="-185" dirty="0"/>
              <a:t>K</a:t>
            </a:r>
            <a:r>
              <a:rPr spc="-190" dirty="0"/>
              <a:t>E</a:t>
            </a:r>
            <a:r>
              <a:rPr spc="-105" dirty="0"/>
              <a:t> </a:t>
            </a:r>
            <a:r>
              <a:rPr spc="-200" dirty="0"/>
              <a:t>R</a:t>
            </a:r>
            <a:r>
              <a:rPr spc="-185" dirty="0"/>
              <a:t>E</a:t>
            </a:r>
            <a:r>
              <a:rPr spc="-155" dirty="0"/>
              <a:t>L</a:t>
            </a:r>
            <a:r>
              <a:rPr spc="-185" dirty="0"/>
              <a:t>AS</a:t>
            </a:r>
            <a:r>
              <a:rPr spc="-80" dirty="0"/>
              <a:t>I</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80076" y="428625"/>
            <a:ext cx="3759200" cy="457200"/>
          </a:xfrm>
          <a:prstGeom prst="rect">
            <a:avLst/>
          </a:prstGeom>
        </p:spPr>
      </p:pic>
      <p:sp>
        <p:nvSpPr>
          <p:cNvPr id="3" name="object 3"/>
          <p:cNvSpPr txBox="1"/>
          <p:nvPr/>
        </p:nvSpPr>
        <p:spPr>
          <a:xfrm>
            <a:off x="5587365" y="495045"/>
            <a:ext cx="2677160" cy="270510"/>
          </a:xfrm>
          <a:prstGeom prst="rect">
            <a:avLst/>
          </a:prstGeom>
        </p:spPr>
        <p:txBody>
          <a:bodyPr vert="horz" wrap="square" lIns="0" tIns="13335" rIns="0" bIns="0" rtlCol="0">
            <a:spAutoFit/>
          </a:bodyPr>
          <a:lstStyle/>
          <a:p>
            <a:pPr marL="12700">
              <a:lnSpc>
                <a:spcPct val="100000"/>
              </a:lnSpc>
              <a:spcBef>
                <a:spcPts val="105"/>
              </a:spcBef>
            </a:pPr>
            <a:r>
              <a:rPr sz="1600" spc="-170" dirty="0">
                <a:latin typeface="Arial MT"/>
                <a:cs typeface="Arial MT"/>
              </a:rPr>
              <a:t>T</a:t>
            </a:r>
            <a:r>
              <a:rPr sz="1600" spc="-200" dirty="0">
                <a:latin typeface="Arial MT"/>
                <a:cs typeface="Arial MT"/>
              </a:rPr>
              <a:t>R</a:t>
            </a:r>
            <a:r>
              <a:rPr sz="1600" spc="-185" dirty="0">
                <a:latin typeface="Arial MT"/>
                <a:cs typeface="Arial MT"/>
              </a:rPr>
              <a:t>A</a:t>
            </a:r>
            <a:r>
              <a:rPr sz="1600" spc="-200" dirty="0">
                <a:latin typeface="Arial MT"/>
                <a:cs typeface="Arial MT"/>
              </a:rPr>
              <a:t>N</a:t>
            </a:r>
            <a:r>
              <a:rPr sz="1600" spc="-185" dirty="0">
                <a:latin typeface="Arial MT"/>
                <a:cs typeface="Arial MT"/>
              </a:rPr>
              <a:t>S</a:t>
            </a:r>
            <a:r>
              <a:rPr sz="1600" spc="-170" dirty="0">
                <a:latin typeface="Arial MT"/>
                <a:cs typeface="Arial MT"/>
              </a:rPr>
              <a:t>F</a:t>
            </a:r>
            <a:r>
              <a:rPr sz="1600" spc="-220" dirty="0">
                <a:latin typeface="Arial MT"/>
                <a:cs typeface="Arial MT"/>
              </a:rPr>
              <a:t>O</a:t>
            </a:r>
            <a:r>
              <a:rPr sz="1600" spc="-200" dirty="0">
                <a:latin typeface="Arial MT"/>
                <a:cs typeface="Arial MT"/>
              </a:rPr>
              <a:t>R</a:t>
            </a:r>
            <a:r>
              <a:rPr sz="1600" spc="-254" dirty="0">
                <a:latin typeface="Arial MT"/>
                <a:cs typeface="Arial MT"/>
              </a:rPr>
              <a:t>M</a:t>
            </a:r>
            <a:r>
              <a:rPr sz="1600" spc="-210" dirty="0">
                <a:latin typeface="Arial MT"/>
                <a:cs typeface="Arial MT"/>
              </a:rPr>
              <a:t>A</a:t>
            </a:r>
            <a:r>
              <a:rPr sz="1600" spc="-185" dirty="0">
                <a:latin typeface="Arial MT"/>
                <a:cs typeface="Arial MT"/>
              </a:rPr>
              <a:t>S</a:t>
            </a:r>
            <a:r>
              <a:rPr sz="1600" spc="-80" dirty="0">
                <a:latin typeface="Arial MT"/>
                <a:cs typeface="Arial MT"/>
              </a:rPr>
              <a:t>I</a:t>
            </a:r>
            <a:r>
              <a:rPr sz="1600" spc="170" dirty="0">
                <a:latin typeface="Arial MT"/>
                <a:cs typeface="Arial MT"/>
              </a:rPr>
              <a:t> </a:t>
            </a:r>
            <a:r>
              <a:rPr sz="1600" spc="-155" dirty="0">
                <a:latin typeface="Arial MT"/>
                <a:cs typeface="Arial MT"/>
              </a:rPr>
              <a:t>L</a:t>
            </a:r>
            <a:r>
              <a:rPr sz="1600" spc="-200" dirty="0">
                <a:latin typeface="Arial MT"/>
                <a:cs typeface="Arial MT"/>
              </a:rPr>
              <a:t>R</a:t>
            </a:r>
            <a:r>
              <a:rPr sz="1600" spc="-190" dirty="0">
                <a:latin typeface="Arial MT"/>
                <a:cs typeface="Arial MT"/>
              </a:rPr>
              <a:t>S</a:t>
            </a:r>
            <a:r>
              <a:rPr sz="1600" spc="-105" dirty="0">
                <a:latin typeface="Arial MT"/>
                <a:cs typeface="Arial MT"/>
              </a:rPr>
              <a:t> </a:t>
            </a:r>
            <a:r>
              <a:rPr sz="1600" spc="-185" dirty="0">
                <a:latin typeface="Arial MT"/>
                <a:cs typeface="Arial MT"/>
              </a:rPr>
              <a:t>K</a:t>
            </a:r>
            <a:r>
              <a:rPr sz="1600" spc="-190" dirty="0">
                <a:latin typeface="Arial MT"/>
                <a:cs typeface="Arial MT"/>
              </a:rPr>
              <a:t>E</a:t>
            </a:r>
            <a:r>
              <a:rPr sz="1600" spc="-105" dirty="0">
                <a:latin typeface="Arial MT"/>
                <a:cs typeface="Arial MT"/>
              </a:rPr>
              <a:t> </a:t>
            </a:r>
            <a:r>
              <a:rPr sz="1600" spc="-200" dirty="0">
                <a:latin typeface="Arial MT"/>
                <a:cs typeface="Arial MT"/>
              </a:rPr>
              <a:t>R</a:t>
            </a:r>
            <a:r>
              <a:rPr sz="1600" spc="-185" dirty="0">
                <a:latin typeface="Arial MT"/>
                <a:cs typeface="Arial MT"/>
              </a:rPr>
              <a:t>E</a:t>
            </a:r>
            <a:r>
              <a:rPr sz="1600" spc="-155" dirty="0">
                <a:latin typeface="Arial MT"/>
                <a:cs typeface="Arial MT"/>
              </a:rPr>
              <a:t>L</a:t>
            </a:r>
            <a:r>
              <a:rPr sz="1600" spc="-185" dirty="0">
                <a:latin typeface="Arial MT"/>
                <a:cs typeface="Arial MT"/>
              </a:rPr>
              <a:t>AS</a:t>
            </a:r>
            <a:r>
              <a:rPr sz="1600" spc="-80" dirty="0">
                <a:latin typeface="Arial MT"/>
                <a:cs typeface="Arial MT"/>
              </a:rPr>
              <a:t>I</a:t>
            </a:r>
            <a:endParaRPr sz="1600">
              <a:latin typeface="Arial MT"/>
              <a:cs typeface="Arial MT"/>
            </a:endParaRPr>
          </a:p>
        </p:txBody>
      </p:sp>
      <p:sp>
        <p:nvSpPr>
          <p:cNvPr id="4" name="object 4"/>
          <p:cNvSpPr txBox="1"/>
          <p:nvPr/>
        </p:nvSpPr>
        <p:spPr>
          <a:xfrm>
            <a:off x="361950" y="2052320"/>
            <a:ext cx="2183130" cy="2246630"/>
          </a:xfrm>
          <a:prstGeom prst="rect">
            <a:avLst/>
          </a:prstGeom>
          <a:ln w="12700">
            <a:solidFill>
              <a:srgbClr val="000000"/>
            </a:solidFill>
          </a:ln>
        </p:spPr>
        <p:txBody>
          <a:bodyPr vert="horz" wrap="square" lIns="0" tIns="50165" rIns="0" bIns="0" rtlCol="0">
            <a:spAutoFit/>
          </a:bodyPr>
          <a:lstStyle/>
          <a:p>
            <a:pPr algn="ctr">
              <a:lnSpc>
                <a:spcPct val="100000"/>
              </a:lnSpc>
              <a:spcBef>
                <a:spcPts val="395"/>
              </a:spcBef>
            </a:pPr>
            <a:r>
              <a:rPr sz="2000" spc="-254" dirty="0">
                <a:latin typeface="Arial MT"/>
                <a:cs typeface="Arial MT"/>
              </a:rPr>
              <a:t>ADA</a:t>
            </a:r>
            <a:r>
              <a:rPr sz="2000" spc="-215" dirty="0">
                <a:latin typeface="Arial MT"/>
                <a:cs typeface="Arial MT"/>
              </a:rPr>
              <a:t> </a:t>
            </a:r>
            <a:r>
              <a:rPr sz="2000" spc="-375" dirty="0">
                <a:latin typeface="Arial MT"/>
                <a:cs typeface="Arial MT"/>
              </a:rPr>
              <a:t>Y</a:t>
            </a:r>
            <a:r>
              <a:rPr sz="2000" spc="-254" dirty="0">
                <a:latin typeface="Arial MT"/>
                <a:cs typeface="Arial MT"/>
              </a:rPr>
              <a:t>A</a:t>
            </a:r>
            <a:r>
              <a:rPr sz="2000" spc="-275" dirty="0">
                <a:latin typeface="Arial MT"/>
                <a:cs typeface="Arial MT"/>
              </a:rPr>
              <a:t>NG</a:t>
            </a:r>
            <a:endParaRPr sz="2000">
              <a:latin typeface="Arial MT"/>
              <a:cs typeface="Arial MT"/>
            </a:endParaRPr>
          </a:p>
          <a:p>
            <a:pPr marL="104139" marR="165735" indent="70485" algn="ctr">
              <a:lnSpc>
                <a:spcPct val="150100"/>
              </a:lnSpc>
              <a:spcBef>
                <a:spcPts val="5"/>
              </a:spcBef>
            </a:pPr>
            <a:r>
              <a:rPr sz="2000" spc="-305" dirty="0">
                <a:latin typeface="Arial MT"/>
                <a:cs typeface="Arial MT"/>
              </a:rPr>
              <a:t>M</a:t>
            </a:r>
            <a:r>
              <a:rPr sz="2000" spc="-254" dirty="0">
                <a:latin typeface="Arial MT"/>
                <a:cs typeface="Arial MT"/>
              </a:rPr>
              <a:t>E</a:t>
            </a:r>
            <a:r>
              <a:rPr sz="2000" spc="-270" dirty="0">
                <a:latin typeface="Arial MT"/>
                <a:cs typeface="Arial MT"/>
              </a:rPr>
              <a:t>R</a:t>
            </a:r>
            <a:r>
              <a:rPr sz="2000" spc="-260" dirty="0">
                <a:latin typeface="Arial MT"/>
                <a:cs typeface="Arial MT"/>
              </a:rPr>
              <a:t>A</a:t>
            </a:r>
            <a:r>
              <a:rPr sz="2000" spc="-254" dirty="0">
                <a:latin typeface="Arial MT"/>
                <a:cs typeface="Arial MT"/>
              </a:rPr>
              <a:t>S</a:t>
            </a:r>
            <a:r>
              <a:rPr sz="2000" spc="-245" dirty="0">
                <a:latin typeface="Arial MT"/>
                <a:cs typeface="Arial MT"/>
              </a:rPr>
              <a:t>A</a:t>
            </a:r>
            <a:r>
              <a:rPr sz="2000" spc="-140" dirty="0">
                <a:latin typeface="Arial MT"/>
                <a:cs typeface="Arial MT"/>
              </a:rPr>
              <a:t> </a:t>
            </a:r>
            <a:r>
              <a:rPr sz="2000" spc="-254" dirty="0">
                <a:latin typeface="Arial MT"/>
                <a:cs typeface="Arial MT"/>
              </a:rPr>
              <a:t>PE</a:t>
            </a:r>
            <a:r>
              <a:rPr sz="2000" spc="-190" dirty="0">
                <a:latin typeface="Arial MT"/>
                <a:cs typeface="Arial MT"/>
              </a:rPr>
              <a:t>RLU  </a:t>
            </a:r>
            <a:r>
              <a:rPr sz="2000" spc="-305" dirty="0">
                <a:latin typeface="Arial MT"/>
                <a:cs typeface="Arial MT"/>
              </a:rPr>
              <a:t>M</a:t>
            </a:r>
            <a:r>
              <a:rPr sz="2000" spc="-254" dirty="0">
                <a:latin typeface="Arial MT"/>
                <a:cs typeface="Arial MT"/>
              </a:rPr>
              <a:t>E</a:t>
            </a:r>
            <a:r>
              <a:rPr sz="2000" spc="-305" dirty="0">
                <a:latin typeface="Arial MT"/>
                <a:cs typeface="Arial MT"/>
              </a:rPr>
              <a:t>M</a:t>
            </a:r>
            <a:r>
              <a:rPr sz="2000" spc="-254" dirty="0">
                <a:latin typeface="Arial MT"/>
                <a:cs typeface="Arial MT"/>
              </a:rPr>
              <a:t>PE</a:t>
            </a:r>
            <a:r>
              <a:rPr sz="2000" spc="-210" dirty="0">
                <a:latin typeface="Arial MT"/>
                <a:cs typeface="Arial MT"/>
              </a:rPr>
              <a:t>RLIH</a:t>
            </a:r>
            <a:r>
              <a:rPr sz="2000" spc="-380" dirty="0">
                <a:latin typeface="Arial MT"/>
                <a:cs typeface="Arial MT"/>
              </a:rPr>
              <a:t>A</a:t>
            </a:r>
            <a:r>
              <a:rPr sz="2000" spc="-220" dirty="0">
                <a:latin typeface="Arial MT"/>
                <a:cs typeface="Arial MT"/>
              </a:rPr>
              <a:t>T</a:t>
            </a:r>
            <a:r>
              <a:rPr sz="2000" spc="-254" dirty="0">
                <a:latin typeface="Arial MT"/>
                <a:cs typeface="Arial MT"/>
              </a:rPr>
              <a:t>KA</a:t>
            </a:r>
            <a:r>
              <a:rPr sz="2000" spc="-160" dirty="0">
                <a:latin typeface="Arial MT"/>
                <a:cs typeface="Arial MT"/>
              </a:rPr>
              <a:t>N  </a:t>
            </a:r>
            <a:r>
              <a:rPr sz="2000" spc="-254" dirty="0">
                <a:latin typeface="Arial MT"/>
                <a:cs typeface="Arial MT"/>
              </a:rPr>
              <a:t>P</a:t>
            </a:r>
            <a:r>
              <a:rPr sz="2000" spc="-225" dirty="0">
                <a:latin typeface="Arial MT"/>
                <a:cs typeface="Arial MT"/>
              </a:rPr>
              <a:t>RIM</a:t>
            </a:r>
            <a:r>
              <a:rPr sz="2000" spc="-254" dirty="0">
                <a:latin typeface="Arial MT"/>
                <a:cs typeface="Arial MT"/>
              </a:rPr>
              <a:t>A</a:t>
            </a:r>
            <a:r>
              <a:rPr sz="2000" spc="-295" dirty="0">
                <a:latin typeface="Arial MT"/>
                <a:cs typeface="Arial MT"/>
              </a:rPr>
              <a:t>R</a:t>
            </a:r>
            <a:r>
              <a:rPr sz="2000" spc="-245" dirty="0">
                <a:latin typeface="Arial MT"/>
                <a:cs typeface="Arial MT"/>
              </a:rPr>
              <a:t>Y</a:t>
            </a:r>
            <a:r>
              <a:rPr sz="2000" spc="-114" dirty="0">
                <a:latin typeface="Arial MT"/>
                <a:cs typeface="Arial MT"/>
              </a:rPr>
              <a:t> </a:t>
            </a:r>
            <a:r>
              <a:rPr sz="2000" spc="-254" dirty="0">
                <a:latin typeface="Arial MT"/>
                <a:cs typeface="Arial MT"/>
              </a:rPr>
              <a:t>KE</a:t>
            </a:r>
            <a:r>
              <a:rPr sz="2000" spc="-245" dirty="0">
                <a:latin typeface="Arial MT"/>
                <a:cs typeface="Arial MT"/>
              </a:rPr>
              <a:t>Y</a:t>
            </a:r>
            <a:r>
              <a:rPr sz="2000" spc="-90" dirty="0">
                <a:latin typeface="Arial MT"/>
                <a:cs typeface="Arial MT"/>
              </a:rPr>
              <a:t> </a:t>
            </a:r>
            <a:r>
              <a:rPr sz="2000" spc="-150" dirty="0">
                <a:latin typeface="Arial MT"/>
                <a:cs typeface="Arial MT"/>
              </a:rPr>
              <a:t>&amp;  </a:t>
            </a:r>
            <a:r>
              <a:rPr sz="2000" spc="-220" dirty="0">
                <a:latin typeface="Arial MT"/>
                <a:cs typeface="Arial MT"/>
              </a:rPr>
              <a:t>F</a:t>
            </a:r>
            <a:r>
              <a:rPr sz="2000" spc="-280" dirty="0">
                <a:latin typeface="Arial MT"/>
                <a:cs typeface="Arial MT"/>
              </a:rPr>
              <a:t>OR</a:t>
            </a:r>
            <a:r>
              <a:rPr sz="2000" spc="-260" dirty="0">
                <a:latin typeface="Arial MT"/>
                <a:cs typeface="Arial MT"/>
              </a:rPr>
              <a:t>E</a:t>
            </a:r>
            <a:r>
              <a:rPr sz="2000" spc="-200" dirty="0">
                <a:latin typeface="Arial MT"/>
                <a:cs typeface="Arial MT"/>
              </a:rPr>
              <a:t>IG</a:t>
            </a:r>
            <a:r>
              <a:rPr sz="2000" spc="-265" dirty="0">
                <a:latin typeface="Arial MT"/>
                <a:cs typeface="Arial MT"/>
              </a:rPr>
              <a:t>N</a:t>
            </a:r>
            <a:r>
              <a:rPr sz="2000" spc="-105" dirty="0">
                <a:latin typeface="Arial MT"/>
                <a:cs typeface="Arial MT"/>
              </a:rPr>
              <a:t> </a:t>
            </a:r>
            <a:r>
              <a:rPr sz="2000" spc="-254" dirty="0">
                <a:latin typeface="Arial MT"/>
                <a:cs typeface="Arial MT"/>
              </a:rPr>
              <a:t>KE</a:t>
            </a:r>
            <a:r>
              <a:rPr sz="2000" spc="-245" dirty="0">
                <a:latin typeface="Arial MT"/>
                <a:cs typeface="Arial MT"/>
              </a:rPr>
              <a:t>Y</a:t>
            </a:r>
            <a:endParaRPr sz="2000">
              <a:latin typeface="Arial MT"/>
              <a:cs typeface="Arial MT"/>
            </a:endParaRPr>
          </a:p>
        </p:txBody>
      </p:sp>
      <p:sp>
        <p:nvSpPr>
          <p:cNvPr id="5" name="object 5"/>
          <p:cNvSpPr txBox="1"/>
          <p:nvPr/>
        </p:nvSpPr>
        <p:spPr>
          <a:xfrm>
            <a:off x="3202304" y="1165606"/>
            <a:ext cx="802640"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P</a:t>
            </a:r>
            <a:r>
              <a:rPr sz="1400" spc="-20" dirty="0">
                <a:latin typeface="Times New Roman"/>
                <a:cs typeface="Times New Roman"/>
              </a:rPr>
              <a:t>E</a:t>
            </a:r>
            <a:r>
              <a:rPr sz="1400" spc="-10" dirty="0">
                <a:latin typeface="Times New Roman"/>
                <a:cs typeface="Times New Roman"/>
              </a:rPr>
              <a:t>G</a:t>
            </a:r>
            <a:r>
              <a:rPr sz="1400" spc="-150" dirty="0">
                <a:latin typeface="Times New Roman"/>
                <a:cs typeface="Times New Roman"/>
              </a:rPr>
              <a:t>A</a:t>
            </a:r>
            <a:r>
              <a:rPr sz="1400" spc="-145" dirty="0">
                <a:latin typeface="Times New Roman"/>
                <a:cs typeface="Times New Roman"/>
              </a:rPr>
              <a:t>W</a:t>
            </a:r>
            <a:r>
              <a:rPr sz="1400" spc="-30" dirty="0">
                <a:latin typeface="Times New Roman"/>
                <a:cs typeface="Times New Roman"/>
              </a:rPr>
              <a:t>A</a:t>
            </a:r>
            <a:r>
              <a:rPr sz="1400" spc="-5" dirty="0">
                <a:latin typeface="Times New Roman"/>
                <a:cs typeface="Times New Roman"/>
              </a:rPr>
              <a:t>I</a:t>
            </a:r>
            <a:endParaRPr sz="1400">
              <a:latin typeface="Times New Roman"/>
              <a:cs typeface="Times New Roman"/>
            </a:endParaRPr>
          </a:p>
        </p:txBody>
      </p:sp>
      <p:sp>
        <p:nvSpPr>
          <p:cNvPr id="6" name="object 6"/>
          <p:cNvSpPr txBox="1"/>
          <p:nvPr/>
        </p:nvSpPr>
        <p:spPr>
          <a:xfrm>
            <a:off x="3202304" y="2233041"/>
            <a:ext cx="733425" cy="238125"/>
          </a:xfrm>
          <a:prstGeom prst="rect">
            <a:avLst/>
          </a:prstGeom>
        </p:spPr>
        <p:txBody>
          <a:bodyPr vert="horz" wrap="square" lIns="0" tIns="11430" rIns="0" bIns="0" rtlCol="0">
            <a:spAutoFit/>
          </a:bodyPr>
          <a:lstStyle/>
          <a:p>
            <a:pPr marL="12700">
              <a:lnSpc>
                <a:spcPct val="100000"/>
              </a:lnSpc>
              <a:spcBef>
                <a:spcPts val="90"/>
              </a:spcBef>
            </a:pPr>
            <a:r>
              <a:rPr sz="1400" spc="-5" dirty="0">
                <a:latin typeface="Times New Roman"/>
                <a:cs typeface="Times New Roman"/>
              </a:rPr>
              <a:t>PR</a:t>
            </a:r>
            <a:r>
              <a:rPr sz="1400" spc="-10" dirty="0">
                <a:latin typeface="Times New Roman"/>
                <a:cs typeface="Times New Roman"/>
              </a:rPr>
              <a:t>OY</a:t>
            </a:r>
            <a:r>
              <a:rPr sz="1400" spc="-15" dirty="0">
                <a:latin typeface="Times New Roman"/>
                <a:cs typeface="Times New Roman"/>
              </a:rPr>
              <a:t>E</a:t>
            </a:r>
            <a:r>
              <a:rPr sz="1400" spc="-10" dirty="0">
                <a:latin typeface="Times New Roman"/>
                <a:cs typeface="Times New Roman"/>
              </a:rPr>
              <a:t>K</a:t>
            </a:r>
            <a:endParaRPr sz="1400">
              <a:latin typeface="Times New Roman"/>
              <a:cs typeface="Times New Roman"/>
            </a:endParaRPr>
          </a:p>
        </p:txBody>
      </p:sp>
      <p:sp>
        <p:nvSpPr>
          <p:cNvPr id="7" name="object 7"/>
          <p:cNvSpPr txBox="1"/>
          <p:nvPr/>
        </p:nvSpPr>
        <p:spPr>
          <a:xfrm>
            <a:off x="3202304" y="3300171"/>
            <a:ext cx="542925" cy="238125"/>
          </a:xfrm>
          <a:prstGeom prst="rect">
            <a:avLst/>
          </a:prstGeom>
        </p:spPr>
        <p:txBody>
          <a:bodyPr vert="horz" wrap="square" lIns="0" tIns="12065" rIns="0" bIns="0" rtlCol="0">
            <a:spAutoFit/>
          </a:bodyPr>
          <a:lstStyle/>
          <a:p>
            <a:pPr marL="12700">
              <a:lnSpc>
                <a:spcPct val="100000"/>
              </a:lnSpc>
              <a:spcBef>
                <a:spcPts val="95"/>
              </a:spcBef>
            </a:pPr>
            <a:r>
              <a:rPr sz="1400" spc="-135" dirty="0">
                <a:latin typeface="Times New Roman"/>
                <a:cs typeface="Times New Roman"/>
              </a:rPr>
              <a:t>P</a:t>
            </a:r>
            <a:r>
              <a:rPr sz="1400" spc="-30" dirty="0">
                <a:latin typeface="Times New Roman"/>
                <a:cs typeface="Times New Roman"/>
              </a:rPr>
              <a:t>AKA</a:t>
            </a:r>
            <a:r>
              <a:rPr sz="1400" spc="-5" dirty="0">
                <a:latin typeface="Times New Roman"/>
                <a:cs typeface="Times New Roman"/>
              </a:rPr>
              <a:t>I</a:t>
            </a:r>
            <a:endParaRPr sz="1400">
              <a:latin typeface="Times New Roman"/>
              <a:cs typeface="Times New Roman"/>
            </a:endParaRPr>
          </a:p>
        </p:txBody>
      </p:sp>
      <p:sp>
        <p:nvSpPr>
          <p:cNvPr id="8" name="object 8"/>
          <p:cNvSpPr txBox="1"/>
          <p:nvPr/>
        </p:nvSpPr>
        <p:spPr>
          <a:xfrm>
            <a:off x="3202304" y="4794630"/>
            <a:ext cx="767080" cy="238125"/>
          </a:xfrm>
          <a:prstGeom prst="rect">
            <a:avLst/>
          </a:prstGeom>
        </p:spPr>
        <p:txBody>
          <a:bodyPr vert="horz" wrap="square" lIns="0" tIns="11430" rIns="0" bIns="0" rtlCol="0">
            <a:spAutoFit/>
          </a:bodyPr>
          <a:lstStyle/>
          <a:p>
            <a:pPr marL="12700">
              <a:lnSpc>
                <a:spcPct val="100000"/>
              </a:lnSpc>
              <a:spcBef>
                <a:spcPts val="90"/>
              </a:spcBef>
            </a:pPr>
            <a:r>
              <a:rPr sz="1400" spc="-25" dirty="0">
                <a:latin typeface="Times New Roman"/>
                <a:cs typeface="Times New Roman"/>
              </a:rPr>
              <a:t>B</a:t>
            </a:r>
            <a:r>
              <a:rPr sz="1400" spc="-30" dirty="0">
                <a:latin typeface="Times New Roman"/>
                <a:cs typeface="Times New Roman"/>
              </a:rPr>
              <a:t>A</a:t>
            </a:r>
            <a:r>
              <a:rPr sz="1400" spc="-5" dirty="0">
                <a:latin typeface="Times New Roman"/>
                <a:cs typeface="Times New Roman"/>
              </a:rPr>
              <a:t>R</a:t>
            </a:r>
            <a:r>
              <a:rPr sz="1400" spc="-30" dirty="0">
                <a:latin typeface="Times New Roman"/>
                <a:cs typeface="Times New Roman"/>
              </a:rPr>
              <a:t>A</a:t>
            </a:r>
            <a:r>
              <a:rPr sz="1400" spc="-10" dirty="0">
                <a:latin typeface="Times New Roman"/>
                <a:cs typeface="Times New Roman"/>
              </a:rPr>
              <a:t>NG</a:t>
            </a:r>
            <a:endParaRPr sz="1400">
              <a:latin typeface="Times New Roman"/>
              <a:cs typeface="Times New Roman"/>
            </a:endParaRPr>
          </a:p>
        </p:txBody>
      </p:sp>
      <p:sp>
        <p:nvSpPr>
          <p:cNvPr id="9" name="object 9"/>
          <p:cNvSpPr txBox="1"/>
          <p:nvPr/>
        </p:nvSpPr>
        <p:spPr>
          <a:xfrm>
            <a:off x="3202304" y="5861710"/>
            <a:ext cx="789305" cy="238125"/>
          </a:xfrm>
          <a:prstGeom prst="rect">
            <a:avLst/>
          </a:prstGeom>
        </p:spPr>
        <p:txBody>
          <a:bodyPr vert="horz" wrap="square" lIns="0" tIns="12065" rIns="0" bIns="0" rtlCol="0">
            <a:spAutoFit/>
          </a:bodyPr>
          <a:lstStyle/>
          <a:p>
            <a:pPr marL="12700">
              <a:lnSpc>
                <a:spcPct val="100000"/>
              </a:lnSpc>
              <a:spcBef>
                <a:spcPts val="95"/>
              </a:spcBef>
            </a:pPr>
            <a:r>
              <a:rPr sz="1400" spc="5" dirty="0">
                <a:latin typeface="Times New Roman"/>
                <a:cs typeface="Times New Roman"/>
              </a:rPr>
              <a:t>J</a:t>
            </a:r>
            <a:r>
              <a:rPr sz="1400" spc="-30" dirty="0">
                <a:latin typeface="Times New Roman"/>
                <a:cs typeface="Times New Roman"/>
              </a:rPr>
              <a:t>A</a:t>
            </a:r>
            <a:r>
              <a:rPr sz="1400" spc="-25" dirty="0">
                <a:latin typeface="Times New Roman"/>
                <a:cs typeface="Times New Roman"/>
              </a:rPr>
              <a:t>B</a:t>
            </a:r>
            <a:r>
              <a:rPr sz="1400" spc="-170" dirty="0">
                <a:latin typeface="Times New Roman"/>
                <a:cs typeface="Times New Roman"/>
              </a:rPr>
              <a:t>A</a:t>
            </a:r>
            <a:r>
              <a:rPr sz="1400" spc="-135" dirty="0">
                <a:latin typeface="Times New Roman"/>
                <a:cs typeface="Times New Roman"/>
              </a:rPr>
              <a:t>T</a:t>
            </a:r>
            <a:r>
              <a:rPr sz="1400" spc="-30" dirty="0">
                <a:latin typeface="Times New Roman"/>
                <a:cs typeface="Times New Roman"/>
              </a:rPr>
              <a:t>A</a:t>
            </a:r>
            <a:r>
              <a:rPr sz="1400" spc="-5" dirty="0">
                <a:latin typeface="Times New Roman"/>
                <a:cs typeface="Times New Roman"/>
              </a:rPr>
              <a:t>N</a:t>
            </a:r>
            <a:endParaRPr sz="1400">
              <a:latin typeface="Times New Roman"/>
              <a:cs typeface="Times New Roman"/>
            </a:endParaRPr>
          </a:p>
        </p:txBody>
      </p:sp>
      <p:graphicFrame>
        <p:nvGraphicFramePr>
          <p:cNvPr id="10" name="object 10"/>
          <p:cNvGraphicFramePr>
            <a:graphicFrameLocks noGrp="1"/>
          </p:cNvGraphicFramePr>
          <p:nvPr/>
        </p:nvGraphicFramePr>
        <p:xfrm>
          <a:off x="3116326" y="2427351"/>
          <a:ext cx="2762250" cy="850900"/>
        </p:xfrm>
        <a:graphic>
          <a:graphicData uri="http://schemas.openxmlformats.org/drawingml/2006/table">
            <a:tbl>
              <a:tblPr firstRow="1" bandRow="1">
                <a:tableStyleId>{2D5ABB26-0587-4C30-8999-92F81FD0307C}</a:tableStyleId>
              </a:tblPr>
              <a:tblGrid>
                <a:gridCol w="914400"/>
                <a:gridCol w="914400"/>
                <a:gridCol w="914400"/>
              </a:tblGrid>
              <a:tr h="304673">
                <a:tc>
                  <a:txBody>
                    <a:bodyPr/>
                    <a:lstStyle/>
                    <a:p>
                      <a:pPr marL="92075">
                        <a:lnSpc>
                          <a:spcPct val="100000"/>
                        </a:lnSpc>
                        <a:spcBef>
                          <a:spcPts val="190"/>
                        </a:spcBef>
                      </a:pPr>
                      <a:r>
                        <a:rPr sz="1400" spc="-10" dirty="0">
                          <a:latin typeface="Times New Roman"/>
                          <a:cs typeface="Times New Roman"/>
                        </a:rPr>
                        <a:t>KD-PROY</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0"/>
                        </a:spcBef>
                      </a:pPr>
                      <a:r>
                        <a:rPr sz="1400" spc="-20" dirty="0">
                          <a:latin typeface="Times New Roman"/>
                          <a:cs typeface="Times New Roman"/>
                        </a:rPr>
                        <a:t>LOKASI</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0"/>
                        </a:spcBef>
                      </a:pPr>
                      <a:r>
                        <a:rPr sz="1400" spc="-10" dirty="0">
                          <a:latin typeface="Times New Roman"/>
                          <a:cs typeface="Times New Roman"/>
                        </a:rPr>
                        <a:t>JENIS</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marR="54610" algn="ctr">
                        <a:lnSpc>
                          <a:spcPts val="1650"/>
                        </a:lnSpc>
                        <a:spcBef>
                          <a:spcPts val="50"/>
                        </a:spcBef>
                      </a:pPr>
                      <a:r>
                        <a:rPr sz="1400" spc="-170" dirty="0">
                          <a:latin typeface="Arial MT"/>
                          <a:cs typeface="Arial MT"/>
                        </a:rPr>
                        <a:t>PK</a:t>
                      </a:r>
                      <a:endParaRPr sz="1400">
                        <a:latin typeface="Arial MT"/>
                        <a:cs typeface="Arial MT"/>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926">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aphicFrame>
        <p:nvGraphicFramePr>
          <p:cNvPr id="11" name="object 11"/>
          <p:cNvGraphicFramePr>
            <a:graphicFrameLocks noGrp="1"/>
          </p:cNvGraphicFramePr>
          <p:nvPr/>
        </p:nvGraphicFramePr>
        <p:xfrm>
          <a:off x="3116326" y="5018087"/>
          <a:ext cx="2872740" cy="850900"/>
        </p:xfrm>
        <a:graphic>
          <a:graphicData uri="http://schemas.openxmlformats.org/drawingml/2006/table">
            <a:tbl>
              <a:tblPr firstRow="1" bandRow="1">
                <a:tableStyleId>{2D5ABB26-0587-4C30-8999-92F81FD0307C}</a:tableStyleId>
              </a:tblPr>
              <a:tblGrid>
                <a:gridCol w="1015365"/>
                <a:gridCol w="923925"/>
                <a:gridCol w="914400"/>
              </a:tblGrid>
              <a:tr h="304863">
                <a:tc>
                  <a:txBody>
                    <a:bodyPr/>
                    <a:lstStyle/>
                    <a:p>
                      <a:pPr marL="92075">
                        <a:lnSpc>
                          <a:spcPts val="1639"/>
                        </a:lnSpc>
                      </a:pPr>
                      <a:r>
                        <a:rPr sz="1400" spc="-15" dirty="0">
                          <a:latin typeface="Times New Roman"/>
                          <a:cs typeface="Times New Roman"/>
                        </a:rPr>
                        <a:t>KD-BRNG</a:t>
                      </a:r>
                      <a:r>
                        <a:rPr sz="1400" u="sng" dirty="0">
                          <a:uFill>
                            <a:solidFill>
                              <a:srgbClr val="000000"/>
                            </a:solidFill>
                          </a:uFill>
                          <a:latin typeface="Times New Roman"/>
                          <a:cs typeface="Times New Roman"/>
                        </a:rPr>
                        <a:t> </a:t>
                      </a:r>
                      <a:r>
                        <a:rPr sz="1400" u="sng" spc="-150" dirty="0">
                          <a:uFill>
                            <a:solidFill>
                              <a:srgbClr val="000000"/>
                            </a:solidFill>
                          </a:uFill>
                          <a:latin typeface="Times New Roman"/>
                          <a:cs typeface="Times New Roman"/>
                        </a:rPr>
                        <a:t> </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ts val="1639"/>
                        </a:lnSpc>
                      </a:pPr>
                      <a:r>
                        <a:rPr sz="1400" dirty="0">
                          <a:latin typeface="Times New Roman"/>
                          <a:cs typeface="Times New Roman"/>
                        </a:rPr>
                        <a:t>N</a:t>
                      </a:r>
                      <a:r>
                        <a:rPr sz="1400" spc="-20" dirty="0">
                          <a:latin typeface="Times New Roman"/>
                          <a:cs typeface="Times New Roman"/>
                        </a:rPr>
                        <a:t>A</a:t>
                      </a:r>
                      <a:r>
                        <a:rPr sz="1400" spc="10" dirty="0">
                          <a:latin typeface="Times New Roman"/>
                          <a:cs typeface="Times New Roman"/>
                        </a:rPr>
                        <a:t>M</a:t>
                      </a:r>
                      <a:r>
                        <a:rPr sz="1400" spc="-25" dirty="0">
                          <a:latin typeface="Times New Roman"/>
                          <a:cs typeface="Times New Roman"/>
                        </a:rPr>
                        <a:t>A</a:t>
                      </a:r>
                      <a:r>
                        <a:rPr sz="1400" spc="-10" dirty="0">
                          <a:latin typeface="Times New Roman"/>
                          <a:cs typeface="Times New Roman"/>
                        </a:rPr>
                        <a:t>-</a:t>
                      </a:r>
                      <a:r>
                        <a:rPr sz="1400" spc="-15" dirty="0">
                          <a:latin typeface="Times New Roman"/>
                          <a:cs typeface="Times New Roman"/>
                        </a:rPr>
                        <a:t>BR</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ts val="1639"/>
                        </a:lnSpc>
                      </a:pPr>
                      <a:r>
                        <a:rPr sz="1400" spc="-40" dirty="0">
                          <a:latin typeface="Times New Roman"/>
                          <a:cs typeface="Times New Roman"/>
                        </a:rPr>
                        <a:t>HARSAT</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marR="155575" algn="ctr">
                        <a:lnSpc>
                          <a:spcPts val="1639"/>
                        </a:lnSpc>
                        <a:spcBef>
                          <a:spcPts val="60"/>
                        </a:spcBef>
                      </a:pPr>
                      <a:r>
                        <a:rPr sz="1400" spc="-170" dirty="0">
                          <a:latin typeface="Arial MT"/>
                          <a:cs typeface="Arial MT"/>
                        </a:rPr>
                        <a:t>PK</a:t>
                      </a:r>
                      <a:endParaRPr sz="1400">
                        <a:latin typeface="Arial MT"/>
                        <a:cs typeface="Arial MT"/>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736">
                <a:tc>
                  <a:txBody>
                    <a:bodyPr/>
                    <a:lstStyle/>
                    <a:p>
                      <a:pPr marR="94615">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aphicFrame>
        <p:nvGraphicFramePr>
          <p:cNvPr id="12" name="object 12"/>
          <p:cNvGraphicFramePr>
            <a:graphicFrameLocks noGrp="1"/>
          </p:cNvGraphicFramePr>
          <p:nvPr/>
        </p:nvGraphicFramePr>
        <p:xfrm>
          <a:off x="3116326" y="6084887"/>
          <a:ext cx="3143250" cy="779780"/>
        </p:xfrm>
        <a:graphic>
          <a:graphicData uri="http://schemas.openxmlformats.org/drawingml/2006/table">
            <a:tbl>
              <a:tblPr firstRow="1" bandRow="1">
                <a:tableStyleId>{2D5ABB26-0587-4C30-8999-92F81FD0307C}</a:tableStyleId>
              </a:tblPr>
              <a:tblGrid>
                <a:gridCol w="914400"/>
                <a:gridCol w="914400"/>
                <a:gridCol w="1295400"/>
              </a:tblGrid>
              <a:tr h="304800">
                <a:tc>
                  <a:txBody>
                    <a:bodyPr/>
                    <a:lstStyle/>
                    <a:p>
                      <a:pPr marR="97155" algn="ctr">
                        <a:lnSpc>
                          <a:spcPts val="1645"/>
                        </a:lnSpc>
                      </a:pPr>
                      <a:r>
                        <a:rPr sz="1400" spc="-15" dirty="0">
                          <a:latin typeface="Times New Roman"/>
                          <a:cs typeface="Times New Roman"/>
                        </a:rPr>
                        <a:t>KD-JAB</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ts val="1645"/>
                        </a:lnSpc>
                      </a:pPr>
                      <a:r>
                        <a:rPr sz="1400" spc="-15" dirty="0">
                          <a:latin typeface="Times New Roman"/>
                          <a:cs typeface="Times New Roman"/>
                        </a:rPr>
                        <a:t>URAIAN</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ts val="1645"/>
                        </a:lnSpc>
                      </a:pPr>
                      <a:r>
                        <a:rPr sz="1400" spc="-10" dirty="0">
                          <a:latin typeface="Times New Roman"/>
                          <a:cs typeface="Times New Roman"/>
                        </a:rPr>
                        <a:t>TUNJANGAN</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marR="54610" algn="ctr">
                        <a:lnSpc>
                          <a:spcPts val="1635"/>
                        </a:lnSpc>
                        <a:spcBef>
                          <a:spcPts val="65"/>
                        </a:spcBef>
                      </a:pPr>
                      <a:r>
                        <a:rPr sz="1400" spc="-170" dirty="0">
                          <a:latin typeface="Arial MT"/>
                          <a:cs typeface="Arial MT"/>
                        </a:rPr>
                        <a:t>PK</a:t>
                      </a:r>
                      <a:endParaRPr sz="1400">
                        <a:latin typeface="Arial MT"/>
                        <a:cs typeface="Arial MT"/>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33360">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tcPr>
                </a:tc>
              </a:tr>
            </a:tbl>
          </a:graphicData>
        </a:graphic>
      </p:graphicFrame>
      <p:graphicFrame>
        <p:nvGraphicFramePr>
          <p:cNvPr id="13" name="object 13"/>
          <p:cNvGraphicFramePr>
            <a:graphicFrameLocks noGrp="1"/>
          </p:cNvGraphicFramePr>
          <p:nvPr/>
        </p:nvGraphicFramePr>
        <p:xfrm>
          <a:off x="3116326" y="3494023"/>
          <a:ext cx="2762250" cy="1231900"/>
        </p:xfrm>
        <a:graphic>
          <a:graphicData uri="http://schemas.openxmlformats.org/drawingml/2006/table">
            <a:tbl>
              <a:tblPr firstRow="1" bandRow="1">
                <a:tableStyleId>{2D5ABB26-0587-4C30-8999-92F81FD0307C}</a:tableStyleId>
              </a:tblPr>
              <a:tblGrid>
                <a:gridCol w="917575"/>
                <a:gridCol w="911225"/>
                <a:gridCol w="914400"/>
              </a:tblGrid>
              <a:tr h="304926">
                <a:tc>
                  <a:txBody>
                    <a:bodyPr/>
                    <a:lstStyle/>
                    <a:p>
                      <a:pPr marL="92075">
                        <a:lnSpc>
                          <a:spcPct val="100000"/>
                        </a:lnSpc>
                        <a:spcBef>
                          <a:spcPts val="195"/>
                        </a:spcBef>
                      </a:pPr>
                      <a:r>
                        <a:rPr sz="1400" spc="-10" dirty="0">
                          <a:latin typeface="Times New Roman"/>
                          <a:cs typeface="Times New Roman"/>
                        </a:rPr>
                        <a:t>KD-PROY</a:t>
                      </a:r>
                      <a:endParaRPr sz="1400">
                        <a:latin typeface="Times New Roman"/>
                        <a:cs typeface="Times New Roman"/>
                      </a:endParaRPr>
                    </a:p>
                  </a:txBody>
                  <a:tcPr marL="0" marR="0" marT="24765"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89535">
                        <a:lnSpc>
                          <a:spcPct val="100000"/>
                        </a:lnSpc>
                        <a:spcBef>
                          <a:spcPts val="195"/>
                        </a:spcBef>
                      </a:pPr>
                      <a:r>
                        <a:rPr sz="1400" spc="-15" dirty="0">
                          <a:latin typeface="Times New Roman"/>
                          <a:cs typeface="Times New Roman"/>
                        </a:rPr>
                        <a:t>KD-BRNG</a:t>
                      </a:r>
                      <a:endParaRPr sz="1400">
                        <a:latin typeface="Times New Roman"/>
                        <a:cs typeface="Times New Roman"/>
                      </a:endParaRPr>
                    </a:p>
                  </a:txBody>
                  <a:tcPr marL="0" marR="0" marT="24765"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5"/>
                        </a:spcBef>
                      </a:pPr>
                      <a:r>
                        <a:rPr sz="1400" spc="-15" dirty="0">
                          <a:latin typeface="Times New Roman"/>
                          <a:cs typeface="Times New Roman"/>
                        </a:rPr>
                        <a:t>JUMLAH</a:t>
                      </a:r>
                      <a:endParaRPr sz="1400">
                        <a:latin typeface="Times New Roman"/>
                        <a:cs typeface="Times New Roman"/>
                      </a:endParaRPr>
                    </a:p>
                  </a:txBody>
                  <a:tcPr marL="0" marR="0" marT="247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473">
                <a:tc gridSpan="2">
                  <a:txBody>
                    <a:bodyPr/>
                    <a:lstStyle/>
                    <a:p>
                      <a:pPr marR="54610" algn="ctr">
                        <a:lnSpc>
                          <a:spcPts val="1645"/>
                        </a:lnSpc>
                        <a:spcBef>
                          <a:spcPts val="55"/>
                        </a:spcBef>
                      </a:pPr>
                      <a:r>
                        <a:rPr sz="1400" spc="-170" dirty="0">
                          <a:latin typeface="Arial MT"/>
                          <a:cs typeface="Arial MT"/>
                        </a:rPr>
                        <a:t>PK</a:t>
                      </a:r>
                      <a:endParaRPr sz="1400">
                        <a:latin typeface="Arial MT"/>
                        <a:cs typeface="Arial MT"/>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marR="81915" algn="ctr">
                        <a:lnSpc>
                          <a:spcPct val="100000"/>
                        </a:lnSpc>
                        <a:spcBef>
                          <a:spcPts val="340"/>
                        </a:spcBef>
                      </a:pPr>
                      <a:r>
                        <a:rPr sz="1400" spc="-175" dirty="0">
                          <a:latin typeface="Arial MT"/>
                          <a:cs typeface="Arial MT"/>
                        </a:rPr>
                        <a:t>FK</a:t>
                      </a:r>
                      <a:endParaRPr sz="1400">
                        <a:latin typeface="Arial MT"/>
                        <a:cs typeface="Arial MT"/>
                      </a:endParaRPr>
                    </a:p>
                  </a:txBody>
                  <a:tcPr marL="0" marR="0" marT="4318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R="81280" algn="ctr">
                        <a:lnSpc>
                          <a:spcPct val="100000"/>
                        </a:lnSpc>
                        <a:spcBef>
                          <a:spcPts val="340"/>
                        </a:spcBef>
                      </a:pPr>
                      <a:r>
                        <a:rPr sz="1400" spc="-175" dirty="0">
                          <a:latin typeface="Arial MT"/>
                          <a:cs typeface="Arial MT"/>
                        </a:rPr>
                        <a:t>FK</a:t>
                      </a:r>
                      <a:endParaRPr sz="1400">
                        <a:latin typeface="Arial MT"/>
                        <a:cs typeface="Arial MT"/>
                      </a:endParaRPr>
                    </a:p>
                  </a:txBody>
                  <a:tcPr marL="0" marR="0" marT="4318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81000">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graphicFrame>
        <p:nvGraphicFramePr>
          <p:cNvPr id="14" name="object 14"/>
          <p:cNvGraphicFramePr>
            <a:graphicFrameLocks noGrp="1"/>
          </p:cNvGraphicFramePr>
          <p:nvPr/>
        </p:nvGraphicFramePr>
        <p:xfrm>
          <a:off x="3116326" y="1360550"/>
          <a:ext cx="4743450" cy="850900"/>
        </p:xfrm>
        <a:graphic>
          <a:graphicData uri="http://schemas.openxmlformats.org/drawingml/2006/table">
            <a:tbl>
              <a:tblPr firstRow="1" bandRow="1">
                <a:tableStyleId>{2D5ABB26-0587-4C30-8999-92F81FD0307C}</a:tableStyleId>
              </a:tblPr>
              <a:tblGrid>
                <a:gridCol w="914400"/>
                <a:gridCol w="914400"/>
                <a:gridCol w="914400"/>
                <a:gridCol w="914400"/>
                <a:gridCol w="1066800"/>
              </a:tblGrid>
              <a:tr h="304800">
                <a:tc>
                  <a:txBody>
                    <a:bodyPr/>
                    <a:lstStyle/>
                    <a:p>
                      <a:pPr marR="74930" algn="ctr">
                        <a:lnSpc>
                          <a:spcPct val="100000"/>
                        </a:lnSpc>
                        <a:spcBef>
                          <a:spcPts val="190"/>
                        </a:spcBef>
                      </a:pPr>
                      <a:r>
                        <a:rPr sz="1400" spc="-10" dirty="0">
                          <a:latin typeface="Times New Roman"/>
                          <a:cs typeface="Times New Roman"/>
                        </a:rPr>
                        <a:t>NO-PEG</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0"/>
                        </a:spcBef>
                      </a:pPr>
                      <a:r>
                        <a:rPr sz="1400" spc="-10" dirty="0">
                          <a:latin typeface="Times New Roman"/>
                          <a:cs typeface="Times New Roman"/>
                        </a:rPr>
                        <a:t>NAMA</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190"/>
                        </a:spcBef>
                      </a:pPr>
                      <a:r>
                        <a:rPr sz="1400" spc="-45" dirty="0">
                          <a:latin typeface="Times New Roman"/>
                          <a:cs typeface="Times New Roman"/>
                        </a:rPr>
                        <a:t>ALAMAT</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5880" algn="ctr">
                        <a:lnSpc>
                          <a:spcPct val="100000"/>
                        </a:lnSpc>
                        <a:spcBef>
                          <a:spcPts val="190"/>
                        </a:spcBef>
                      </a:pPr>
                      <a:r>
                        <a:rPr sz="1400" spc="-10" dirty="0">
                          <a:latin typeface="Times New Roman"/>
                          <a:cs typeface="Times New Roman"/>
                        </a:rPr>
                        <a:t>KD-PROY</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nSpc>
                          <a:spcPct val="100000"/>
                        </a:lnSpc>
                        <a:spcBef>
                          <a:spcPts val="190"/>
                        </a:spcBef>
                      </a:pPr>
                      <a:r>
                        <a:rPr sz="1400" spc="-15" dirty="0">
                          <a:latin typeface="Times New Roman"/>
                          <a:cs typeface="Times New Roman"/>
                        </a:rPr>
                        <a:t>KD-JAB</a:t>
                      </a:r>
                      <a:endParaRPr sz="1400">
                        <a:latin typeface="Times New Roman"/>
                        <a:cs typeface="Times New Roman"/>
                      </a:endParaRPr>
                    </a:p>
                  </a:txBody>
                  <a:tcPr marL="0" marR="0" marT="241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8600">
                <a:tc>
                  <a:txBody>
                    <a:bodyPr/>
                    <a:lstStyle/>
                    <a:p>
                      <a:pPr marR="54610" algn="ctr">
                        <a:lnSpc>
                          <a:spcPts val="1655"/>
                        </a:lnSpc>
                        <a:spcBef>
                          <a:spcPts val="45"/>
                        </a:spcBef>
                      </a:pPr>
                      <a:r>
                        <a:rPr sz="1400" spc="-170" dirty="0">
                          <a:latin typeface="Arial MT"/>
                          <a:cs typeface="Arial MT"/>
                        </a:rPr>
                        <a:t>PK</a:t>
                      </a:r>
                      <a:endParaRPr sz="1400">
                        <a:latin typeface="Arial MT"/>
                        <a:cs typeface="Arial MT"/>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gn="ctr">
                        <a:lnSpc>
                          <a:spcPts val="1680"/>
                        </a:lnSpc>
                      </a:pPr>
                      <a:r>
                        <a:rPr sz="1400" spc="-170" dirty="0">
                          <a:latin typeface="Arial MT"/>
                          <a:cs typeface="Arial MT"/>
                        </a:rPr>
                        <a:t>FK</a:t>
                      </a:r>
                      <a:endParaRPr sz="14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22580">
                        <a:lnSpc>
                          <a:spcPts val="1680"/>
                        </a:lnSpc>
                      </a:pPr>
                      <a:r>
                        <a:rPr sz="1400" spc="-170" dirty="0">
                          <a:latin typeface="Arial MT"/>
                          <a:cs typeface="Arial MT"/>
                        </a:rPr>
                        <a:t>FK</a:t>
                      </a:r>
                      <a:endParaRPr sz="14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4800">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8402" y="1390853"/>
            <a:ext cx="1204595" cy="1518920"/>
          </a:xfrm>
          <a:prstGeom prst="rect">
            <a:avLst/>
          </a:prstGeom>
        </p:spPr>
        <p:txBody>
          <a:bodyPr vert="horz" wrap="square" lIns="0" tIns="12065" rIns="0" bIns="0" rtlCol="0">
            <a:spAutoFit/>
          </a:bodyPr>
          <a:lstStyle/>
          <a:p>
            <a:pPr marL="12700">
              <a:lnSpc>
                <a:spcPct val="100000"/>
              </a:lnSpc>
              <a:spcBef>
                <a:spcPts val="95"/>
              </a:spcBef>
            </a:pPr>
            <a:r>
              <a:rPr sz="1400" spc="-10" dirty="0">
                <a:latin typeface="Tahoma"/>
                <a:cs typeface="Tahoma"/>
              </a:rPr>
              <a:t>Nama</a:t>
            </a:r>
            <a:r>
              <a:rPr sz="1400" spc="-45" dirty="0">
                <a:latin typeface="Tahoma"/>
                <a:cs typeface="Tahoma"/>
              </a:rPr>
              <a:t> </a:t>
            </a:r>
            <a:r>
              <a:rPr sz="1400" spc="-10" dirty="0">
                <a:latin typeface="Tahoma"/>
                <a:cs typeface="Tahoma"/>
              </a:rPr>
              <a:t>File</a:t>
            </a:r>
            <a:endParaRPr sz="1400">
              <a:latin typeface="Tahoma"/>
              <a:cs typeface="Tahoma"/>
            </a:endParaRPr>
          </a:p>
          <a:p>
            <a:pPr marL="12700" marR="722630">
              <a:lnSpc>
                <a:spcPct val="100000"/>
              </a:lnSpc>
            </a:pPr>
            <a:r>
              <a:rPr sz="1400" spc="-5" dirty="0">
                <a:latin typeface="Tahoma"/>
                <a:cs typeface="Tahoma"/>
              </a:rPr>
              <a:t>Med</a:t>
            </a:r>
            <a:r>
              <a:rPr sz="1400" spc="-15" dirty="0">
                <a:latin typeface="Tahoma"/>
                <a:cs typeface="Tahoma"/>
              </a:rPr>
              <a:t>i</a:t>
            </a:r>
            <a:r>
              <a:rPr sz="1400" spc="-5" dirty="0">
                <a:latin typeface="Tahoma"/>
                <a:cs typeface="Tahoma"/>
              </a:rPr>
              <a:t>a  </a:t>
            </a:r>
            <a:r>
              <a:rPr sz="1400" spc="-15" dirty="0">
                <a:latin typeface="Tahoma"/>
                <a:cs typeface="Tahoma"/>
              </a:rPr>
              <a:t>Isi</a:t>
            </a:r>
            <a:endParaRPr sz="1400">
              <a:latin typeface="Tahoma"/>
              <a:cs typeface="Tahoma"/>
            </a:endParaRPr>
          </a:p>
          <a:p>
            <a:pPr marL="12700" marR="5080">
              <a:lnSpc>
                <a:spcPct val="100000"/>
              </a:lnSpc>
            </a:pPr>
            <a:r>
              <a:rPr sz="1400" spc="-10" dirty="0">
                <a:latin typeface="Tahoma"/>
                <a:cs typeface="Tahoma"/>
              </a:rPr>
              <a:t>Primary</a:t>
            </a:r>
            <a:r>
              <a:rPr sz="1400" spc="5" dirty="0">
                <a:latin typeface="Tahoma"/>
                <a:cs typeface="Tahoma"/>
              </a:rPr>
              <a:t> </a:t>
            </a:r>
            <a:r>
              <a:rPr sz="1400" spc="-15" dirty="0">
                <a:latin typeface="Tahoma"/>
                <a:cs typeface="Tahoma"/>
              </a:rPr>
              <a:t>key </a:t>
            </a:r>
            <a:r>
              <a:rPr sz="1400" spc="-10" dirty="0">
                <a:latin typeface="Tahoma"/>
                <a:cs typeface="Tahoma"/>
              </a:rPr>
              <a:t> </a:t>
            </a:r>
            <a:r>
              <a:rPr sz="1400" spc="-20" dirty="0">
                <a:latin typeface="Tahoma"/>
                <a:cs typeface="Tahoma"/>
              </a:rPr>
              <a:t>Panjang</a:t>
            </a:r>
            <a:r>
              <a:rPr sz="1400" spc="-15" dirty="0">
                <a:latin typeface="Tahoma"/>
                <a:cs typeface="Tahoma"/>
              </a:rPr>
              <a:t> </a:t>
            </a:r>
            <a:r>
              <a:rPr sz="1400" spc="-5" dirty="0">
                <a:latin typeface="Tahoma"/>
                <a:cs typeface="Tahoma"/>
              </a:rPr>
              <a:t>record </a:t>
            </a:r>
            <a:r>
              <a:rPr sz="1400" spc="-420" dirty="0">
                <a:latin typeface="Tahoma"/>
                <a:cs typeface="Tahoma"/>
              </a:rPr>
              <a:t> </a:t>
            </a:r>
            <a:r>
              <a:rPr sz="1400" spc="-10" dirty="0">
                <a:latin typeface="Tahoma"/>
                <a:cs typeface="Tahoma"/>
              </a:rPr>
              <a:t>Jumlah </a:t>
            </a:r>
            <a:r>
              <a:rPr sz="1400" spc="-5" dirty="0">
                <a:latin typeface="Tahoma"/>
                <a:cs typeface="Tahoma"/>
              </a:rPr>
              <a:t>record </a:t>
            </a:r>
            <a:r>
              <a:rPr sz="1400" dirty="0">
                <a:latin typeface="Tahoma"/>
                <a:cs typeface="Tahoma"/>
              </a:rPr>
              <a:t> </a:t>
            </a:r>
            <a:r>
              <a:rPr sz="1400" spc="-15" dirty="0">
                <a:latin typeface="Tahoma"/>
                <a:cs typeface="Tahoma"/>
              </a:rPr>
              <a:t>Struktur</a:t>
            </a:r>
            <a:endParaRPr sz="1400">
              <a:latin typeface="Tahoma"/>
              <a:cs typeface="Tahoma"/>
            </a:endParaRPr>
          </a:p>
        </p:txBody>
      </p:sp>
      <p:sp>
        <p:nvSpPr>
          <p:cNvPr id="3" name="object 3"/>
          <p:cNvSpPr txBox="1"/>
          <p:nvPr/>
        </p:nvSpPr>
        <p:spPr>
          <a:xfrm>
            <a:off x="4037838" y="1390853"/>
            <a:ext cx="3079115" cy="1518920"/>
          </a:xfrm>
          <a:prstGeom prst="rect">
            <a:avLst/>
          </a:prstGeom>
        </p:spPr>
        <p:txBody>
          <a:bodyPr vert="horz" wrap="square" lIns="0" tIns="12065" rIns="0" bIns="0" rtlCol="0">
            <a:spAutoFit/>
          </a:bodyPr>
          <a:lstStyle/>
          <a:p>
            <a:pPr marL="12700">
              <a:lnSpc>
                <a:spcPct val="100000"/>
              </a:lnSpc>
              <a:spcBef>
                <a:spcPts val="95"/>
              </a:spcBef>
            </a:pPr>
            <a:r>
              <a:rPr sz="1400" spc="-5" dirty="0">
                <a:latin typeface="Tahoma"/>
                <a:cs typeface="Tahoma"/>
              </a:rPr>
              <a:t>:</a:t>
            </a:r>
            <a:r>
              <a:rPr sz="1400" spc="-60" dirty="0">
                <a:latin typeface="Tahoma"/>
                <a:cs typeface="Tahoma"/>
              </a:rPr>
              <a:t> </a:t>
            </a:r>
            <a:r>
              <a:rPr sz="1400" spc="-5" dirty="0">
                <a:latin typeface="Tahoma"/>
                <a:cs typeface="Tahoma"/>
              </a:rPr>
              <a:t>Proyek</a:t>
            </a:r>
            <a:endParaRPr sz="1400">
              <a:latin typeface="Tahoma"/>
              <a:cs typeface="Tahoma"/>
            </a:endParaRPr>
          </a:p>
          <a:p>
            <a:pPr marL="12700">
              <a:lnSpc>
                <a:spcPct val="100000"/>
              </a:lnSpc>
            </a:pPr>
            <a:r>
              <a:rPr sz="1400" spc="-5" dirty="0">
                <a:latin typeface="Tahoma"/>
                <a:cs typeface="Tahoma"/>
              </a:rPr>
              <a:t>:</a:t>
            </a:r>
            <a:r>
              <a:rPr sz="1400" spc="-50" dirty="0">
                <a:latin typeface="Tahoma"/>
                <a:cs typeface="Tahoma"/>
              </a:rPr>
              <a:t> </a:t>
            </a:r>
            <a:r>
              <a:rPr sz="1400" spc="-15" dirty="0">
                <a:latin typeface="Tahoma"/>
                <a:cs typeface="Tahoma"/>
              </a:rPr>
              <a:t>Harddisk</a:t>
            </a:r>
            <a:endParaRPr sz="1400">
              <a:latin typeface="Tahoma"/>
              <a:cs typeface="Tahoma"/>
            </a:endParaRPr>
          </a:p>
          <a:p>
            <a:pPr marL="12700">
              <a:lnSpc>
                <a:spcPct val="100000"/>
              </a:lnSpc>
            </a:pPr>
            <a:r>
              <a:rPr sz="1400" spc="-5" dirty="0">
                <a:latin typeface="Tahoma"/>
                <a:cs typeface="Tahoma"/>
              </a:rPr>
              <a:t>:</a:t>
            </a:r>
            <a:r>
              <a:rPr sz="1400" spc="-25" dirty="0">
                <a:latin typeface="Tahoma"/>
                <a:cs typeface="Tahoma"/>
              </a:rPr>
              <a:t> </a:t>
            </a:r>
            <a:r>
              <a:rPr sz="1400" spc="-15" dirty="0">
                <a:latin typeface="Tahoma"/>
                <a:cs typeface="Tahoma"/>
              </a:rPr>
              <a:t>Data</a:t>
            </a:r>
            <a:r>
              <a:rPr sz="1400" spc="50" dirty="0">
                <a:latin typeface="Tahoma"/>
                <a:cs typeface="Tahoma"/>
              </a:rPr>
              <a:t> </a:t>
            </a:r>
            <a:r>
              <a:rPr sz="1400" spc="-5" dirty="0">
                <a:latin typeface="Tahoma"/>
                <a:cs typeface="Tahoma"/>
              </a:rPr>
              <a:t>Proyek</a:t>
            </a:r>
            <a:r>
              <a:rPr sz="1400" spc="-30" dirty="0">
                <a:latin typeface="Tahoma"/>
                <a:cs typeface="Tahoma"/>
              </a:rPr>
              <a:t> </a:t>
            </a:r>
            <a:r>
              <a:rPr sz="1400" spc="-20" dirty="0">
                <a:latin typeface="Tahoma"/>
                <a:cs typeface="Tahoma"/>
              </a:rPr>
              <a:t>yang</a:t>
            </a:r>
            <a:r>
              <a:rPr sz="1400" spc="15" dirty="0">
                <a:latin typeface="Tahoma"/>
                <a:cs typeface="Tahoma"/>
              </a:rPr>
              <a:t> </a:t>
            </a:r>
            <a:r>
              <a:rPr sz="1400" spc="-10" dirty="0">
                <a:latin typeface="Tahoma"/>
                <a:cs typeface="Tahoma"/>
              </a:rPr>
              <a:t>dimiliki</a:t>
            </a:r>
            <a:r>
              <a:rPr sz="1400" spc="80" dirty="0">
                <a:latin typeface="Tahoma"/>
                <a:cs typeface="Tahoma"/>
              </a:rPr>
              <a:t> </a:t>
            </a:r>
            <a:r>
              <a:rPr sz="1400" spc="-15" dirty="0">
                <a:latin typeface="Tahoma"/>
                <a:cs typeface="Tahoma"/>
              </a:rPr>
              <a:t>perusahaan</a:t>
            </a:r>
            <a:endParaRPr sz="1400">
              <a:latin typeface="Tahoma"/>
              <a:cs typeface="Tahoma"/>
            </a:endParaRPr>
          </a:p>
          <a:p>
            <a:pPr marL="12700">
              <a:lnSpc>
                <a:spcPct val="100000"/>
              </a:lnSpc>
            </a:pPr>
            <a:r>
              <a:rPr sz="1400" spc="-5" dirty="0">
                <a:latin typeface="Tahoma"/>
                <a:cs typeface="Tahoma"/>
              </a:rPr>
              <a:t>:</a:t>
            </a:r>
            <a:r>
              <a:rPr sz="1400" spc="-55" dirty="0">
                <a:latin typeface="Tahoma"/>
                <a:cs typeface="Tahoma"/>
              </a:rPr>
              <a:t> </a:t>
            </a:r>
            <a:r>
              <a:rPr sz="1400" spc="-15" dirty="0">
                <a:latin typeface="Tahoma"/>
                <a:cs typeface="Tahoma"/>
              </a:rPr>
              <a:t>KD_PROY</a:t>
            </a:r>
            <a:endParaRPr sz="1400">
              <a:latin typeface="Tahoma"/>
              <a:cs typeface="Tahoma"/>
            </a:endParaRPr>
          </a:p>
          <a:p>
            <a:pPr marL="12700">
              <a:lnSpc>
                <a:spcPct val="100000"/>
              </a:lnSpc>
            </a:pPr>
            <a:r>
              <a:rPr sz="1400" spc="-5" dirty="0">
                <a:latin typeface="Tahoma"/>
                <a:cs typeface="Tahoma"/>
              </a:rPr>
              <a:t>:</a:t>
            </a:r>
            <a:r>
              <a:rPr sz="1400" spc="-45" dirty="0">
                <a:latin typeface="Tahoma"/>
                <a:cs typeface="Tahoma"/>
              </a:rPr>
              <a:t> </a:t>
            </a:r>
            <a:r>
              <a:rPr sz="1400" spc="-5" dirty="0">
                <a:latin typeface="Tahoma"/>
                <a:cs typeface="Tahoma"/>
              </a:rPr>
              <a:t>39</a:t>
            </a:r>
            <a:r>
              <a:rPr sz="1400" spc="-20" dirty="0">
                <a:latin typeface="Tahoma"/>
                <a:cs typeface="Tahoma"/>
              </a:rPr>
              <a:t> </a:t>
            </a:r>
            <a:r>
              <a:rPr sz="1400" spc="-15" dirty="0">
                <a:latin typeface="Tahoma"/>
                <a:cs typeface="Tahoma"/>
              </a:rPr>
              <a:t>byte</a:t>
            </a:r>
            <a:endParaRPr sz="1400">
              <a:latin typeface="Tahoma"/>
              <a:cs typeface="Tahoma"/>
            </a:endParaRPr>
          </a:p>
          <a:p>
            <a:pPr marL="12700">
              <a:lnSpc>
                <a:spcPct val="100000"/>
              </a:lnSpc>
            </a:pPr>
            <a:r>
              <a:rPr sz="1400" spc="-5" dirty="0">
                <a:latin typeface="Tahoma"/>
                <a:cs typeface="Tahoma"/>
              </a:rPr>
              <a:t>:</a:t>
            </a:r>
            <a:r>
              <a:rPr sz="1400" spc="-45" dirty="0">
                <a:latin typeface="Tahoma"/>
                <a:cs typeface="Tahoma"/>
              </a:rPr>
              <a:t> </a:t>
            </a:r>
            <a:r>
              <a:rPr sz="1400" spc="-5" dirty="0">
                <a:latin typeface="Tahoma"/>
                <a:cs typeface="Tahoma"/>
              </a:rPr>
              <a:t>13</a:t>
            </a:r>
            <a:r>
              <a:rPr sz="1400" spc="-20" dirty="0">
                <a:latin typeface="Tahoma"/>
                <a:cs typeface="Tahoma"/>
              </a:rPr>
              <a:t> </a:t>
            </a:r>
            <a:r>
              <a:rPr sz="1400" spc="-10" dirty="0">
                <a:latin typeface="Tahoma"/>
                <a:cs typeface="Tahoma"/>
              </a:rPr>
              <a:t>Record</a:t>
            </a:r>
            <a:endParaRPr sz="1400">
              <a:latin typeface="Tahoma"/>
              <a:cs typeface="Tahoma"/>
            </a:endParaRPr>
          </a:p>
          <a:p>
            <a:pPr marL="12700">
              <a:lnSpc>
                <a:spcPct val="100000"/>
              </a:lnSpc>
            </a:pPr>
            <a:r>
              <a:rPr sz="1400" spc="-5" dirty="0">
                <a:latin typeface="Tahoma"/>
                <a:cs typeface="Tahoma"/>
              </a:rPr>
              <a:t>:</a:t>
            </a:r>
            <a:endParaRPr sz="1400">
              <a:latin typeface="Tahoma"/>
              <a:cs typeface="Tahoma"/>
            </a:endParaRPr>
          </a:p>
        </p:txBody>
      </p:sp>
      <p:graphicFrame>
        <p:nvGraphicFramePr>
          <p:cNvPr id="4" name="object 4"/>
          <p:cNvGraphicFramePr>
            <a:graphicFrameLocks noGrp="1"/>
          </p:cNvGraphicFramePr>
          <p:nvPr/>
        </p:nvGraphicFramePr>
        <p:xfrm>
          <a:off x="1133602" y="3277876"/>
          <a:ext cx="7240905" cy="2757805"/>
        </p:xfrm>
        <a:graphic>
          <a:graphicData uri="http://schemas.openxmlformats.org/drawingml/2006/table">
            <a:tbl>
              <a:tblPr firstRow="1" bandRow="1">
                <a:tableStyleId>{2D5ABB26-0587-4C30-8999-92F81FD0307C}</a:tableStyleId>
              </a:tblPr>
              <a:tblGrid>
                <a:gridCol w="607060"/>
                <a:gridCol w="1356360"/>
                <a:gridCol w="822325"/>
                <a:gridCol w="848994"/>
                <a:gridCol w="1057910"/>
                <a:gridCol w="2519045"/>
              </a:tblGrid>
              <a:tr h="649852">
                <a:tc>
                  <a:txBody>
                    <a:bodyPr/>
                    <a:lstStyle/>
                    <a:p>
                      <a:pPr marL="5080" algn="ctr">
                        <a:lnSpc>
                          <a:spcPct val="100000"/>
                        </a:lnSpc>
                        <a:spcBef>
                          <a:spcPts val="320"/>
                        </a:spcBef>
                      </a:pPr>
                      <a:r>
                        <a:rPr sz="1400" spc="-20" dirty="0">
                          <a:latin typeface="Calibri"/>
                          <a:cs typeface="Calibri"/>
                        </a:rPr>
                        <a:t>No</a:t>
                      </a:r>
                      <a:endParaRPr sz="1400">
                        <a:latin typeface="Calibri"/>
                        <a:cs typeface="Calibri"/>
                      </a:endParaRPr>
                    </a:p>
                  </a:txBody>
                  <a:tcPr marL="0" marR="0" marT="40640" marB="0">
                    <a:lnL w="1905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276860">
                        <a:lnSpc>
                          <a:spcPct val="100000"/>
                        </a:lnSpc>
                        <a:spcBef>
                          <a:spcPts val="320"/>
                        </a:spcBef>
                      </a:pPr>
                      <a:r>
                        <a:rPr sz="1400" spc="-15" dirty="0">
                          <a:latin typeface="Calibri"/>
                          <a:cs typeface="Calibri"/>
                        </a:rPr>
                        <a:t>Nama</a:t>
                      </a:r>
                      <a:r>
                        <a:rPr sz="1400" spc="-30" dirty="0">
                          <a:latin typeface="Calibri"/>
                          <a:cs typeface="Calibri"/>
                        </a:rPr>
                        <a:t> </a:t>
                      </a:r>
                      <a:r>
                        <a:rPr sz="1400" spc="-10" dirty="0">
                          <a:latin typeface="Calibri"/>
                          <a:cs typeface="Calibri"/>
                        </a:rPr>
                        <a:t>Field</a:t>
                      </a:r>
                      <a:endParaRPr sz="1400">
                        <a:latin typeface="Calibri"/>
                        <a:cs typeface="Calibri"/>
                      </a:endParaRPr>
                    </a:p>
                  </a:txBody>
                  <a:tcPr marL="0" marR="0" marT="4064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238125">
                        <a:lnSpc>
                          <a:spcPct val="100000"/>
                        </a:lnSpc>
                        <a:spcBef>
                          <a:spcPts val="320"/>
                        </a:spcBef>
                      </a:pPr>
                      <a:r>
                        <a:rPr sz="1400" spc="-10" dirty="0">
                          <a:latin typeface="Calibri"/>
                          <a:cs typeface="Calibri"/>
                        </a:rPr>
                        <a:t>Jenis</a:t>
                      </a:r>
                      <a:endParaRPr sz="1400">
                        <a:latin typeface="Calibri"/>
                        <a:cs typeface="Calibri"/>
                      </a:endParaRPr>
                    </a:p>
                  </a:txBody>
                  <a:tcPr marL="0" marR="0" marT="4064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3175" algn="ctr">
                        <a:lnSpc>
                          <a:spcPct val="100000"/>
                        </a:lnSpc>
                        <a:spcBef>
                          <a:spcPts val="320"/>
                        </a:spcBef>
                      </a:pPr>
                      <a:r>
                        <a:rPr sz="1400" spc="-10" dirty="0">
                          <a:latin typeface="Calibri"/>
                          <a:cs typeface="Calibri"/>
                        </a:rPr>
                        <a:t>Lebar</a:t>
                      </a:r>
                      <a:endParaRPr sz="1400">
                        <a:latin typeface="Calibri"/>
                        <a:cs typeface="Calibri"/>
                      </a:endParaRPr>
                    </a:p>
                  </a:txBody>
                  <a:tcPr marL="0" marR="0" marT="40640" marB="0">
                    <a:lnL w="1270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marL="244475">
                        <a:lnSpc>
                          <a:spcPct val="100000"/>
                        </a:lnSpc>
                        <a:spcBef>
                          <a:spcPts val="320"/>
                        </a:spcBef>
                      </a:pPr>
                      <a:r>
                        <a:rPr sz="1400" spc="-5" dirty="0">
                          <a:latin typeface="Calibri"/>
                          <a:cs typeface="Calibri"/>
                        </a:rPr>
                        <a:t>Desimal</a:t>
                      </a:r>
                      <a:endParaRPr sz="1400">
                        <a:latin typeface="Calibri"/>
                        <a:cs typeface="Calibri"/>
                      </a:endParaRPr>
                    </a:p>
                  </a:txBody>
                  <a:tcPr marL="0" marR="0" marT="4064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marL="3175" algn="ctr">
                        <a:lnSpc>
                          <a:spcPct val="100000"/>
                        </a:lnSpc>
                        <a:spcBef>
                          <a:spcPts val="320"/>
                        </a:spcBef>
                      </a:pPr>
                      <a:r>
                        <a:rPr sz="1400" spc="-20" dirty="0">
                          <a:latin typeface="Calibri"/>
                          <a:cs typeface="Calibri"/>
                        </a:rPr>
                        <a:t>Keterangan</a:t>
                      </a:r>
                      <a:endParaRPr sz="1400">
                        <a:latin typeface="Calibri"/>
                        <a:cs typeface="Calibri"/>
                      </a:endParaRPr>
                    </a:p>
                  </a:txBody>
                  <a:tcPr marL="0" marR="0" marT="4064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r>
              <a:tr h="651700">
                <a:tc>
                  <a:txBody>
                    <a:bodyPr/>
                    <a:lstStyle/>
                    <a:p>
                      <a:pPr marL="5715" algn="ctr">
                        <a:lnSpc>
                          <a:spcPct val="100000"/>
                        </a:lnSpc>
                        <a:spcBef>
                          <a:spcPts val="280"/>
                        </a:spcBef>
                      </a:pPr>
                      <a:r>
                        <a:rPr sz="1400" dirty="0">
                          <a:latin typeface="Calibri"/>
                          <a:cs typeface="Calibri"/>
                        </a:rPr>
                        <a:t>1</a:t>
                      </a:r>
                      <a:endParaRPr sz="1400">
                        <a:latin typeface="Calibri"/>
                        <a:cs typeface="Calibri"/>
                      </a:endParaRPr>
                    </a:p>
                  </a:txBody>
                  <a:tcPr marL="0" marR="0" marT="35560" marB="0">
                    <a:lnL w="1905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179070">
                        <a:lnSpc>
                          <a:spcPct val="100000"/>
                        </a:lnSpc>
                        <a:spcBef>
                          <a:spcPts val="280"/>
                        </a:spcBef>
                      </a:pPr>
                      <a:r>
                        <a:rPr sz="1400" spc="-15" dirty="0">
                          <a:latin typeface="Calibri"/>
                          <a:cs typeface="Calibri"/>
                        </a:rPr>
                        <a:t>KD_PROY</a:t>
                      </a:r>
                      <a:endParaRPr sz="1400">
                        <a:latin typeface="Calibri"/>
                        <a:cs typeface="Calibri"/>
                      </a:endParaRPr>
                    </a:p>
                  </a:txBody>
                  <a:tcPr marL="0" marR="0" marT="3556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179705">
                        <a:lnSpc>
                          <a:spcPct val="100000"/>
                        </a:lnSpc>
                        <a:spcBef>
                          <a:spcPts val="280"/>
                        </a:spcBef>
                      </a:pPr>
                      <a:r>
                        <a:rPr sz="1400" spc="-15" dirty="0">
                          <a:latin typeface="Calibri"/>
                          <a:cs typeface="Calibri"/>
                        </a:rPr>
                        <a:t>TEXT</a:t>
                      </a:r>
                      <a:endParaRPr sz="1400">
                        <a:latin typeface="Calibri"/>
                        <a:cs typeface="Calibri"/>
                      </a:endParaRPr>
                    </a:p>
                  </a:txBody>
                  <a:tcPr marL="0" marR="0" marT="3556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3810" algn="ctr">
                        <a:lnSpc>
                          <a:spcPct val="100000"/>
                        </a:lnSpc>
                        <a:spcBef>
                          <a:spcPts val="280"/>
                        </a:spcBef>
                      </a:pPr>
                      <a:r>
                        <a:rPr sz="1400" dirty="0">
                          <a:latin typeface="Calibri"/>
                          <a:cs typeface="Calibri"/>
                        </a:rPr>
                        <a:t>4</a:t>
                      </a:r>
                      <a:endParaRPr sz="1400">
                        <a:latin typeface="Calibri"/>
                        <a:cs typeface="Calibri"/>
                      </a:endParaRPr>
                    </a:p>
                  </a:txBody>
                  <a:tcPr marL="0" marR="0" marT="35560" marB="0">
                    <a:lnL w="1270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a:lnSpc>
                          <a:spcPct val="100000"/>
                        </a:lnSpc>
                      </a:pPr>
                      <a:endParaRPr sz="1600">
                        <a:latin typeface="Times New Roman"/>
                        <a:cs typeface="Times New Roman"/>
                      </a:endParaRPr>
                    </a:p>
                  </a:txBody>
                  <a:tcPr marL="0" marR="0" marT="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marL="180340">
                        <a:lnSpc>
                          <a:spcPct val="100000"/>
                        </a:lnSpc>
                        <a:spcBef>
                          <a:spcPts val="280"/>
                        </a:spcBef>
                      </a:pPr>
                      <a:r>
                        <a:rPr sz="1400" spc="-15" dirty="0">
                          <a:latin typeface="Calibri"/>
                          <a:cs typeface="Calibri"/>
                        </a:rPr>
                        <a:t>Kode</a:t>
                      </a:r>
                      <a:r>
                        <a:rPr sz="1400" spc="-45" dirty="0">
                          <a:latin typeface="Calibri"/>
                          <a:cs typeface="Calibri"/>
                        </a:rPr>
                        <a:t> </a:t>
                      </a:r>
                      <a:r>
                        <a:rPr sz="1400" spc="-15" dirty="0">
                          <a:latin typeface="Calibri"/>
                          <a:cs typeface="Calibri"/>
                        </a:rPr>
                        <a:t>Proyek</a:t>
                      </a:r>
                      <a:endParaRPr sz="1400">
                        <a:latin typeface="Calibri"/>
                        <a:cs typeface="Calibri"/>
                      </a:endParaRPr>
                    </a:p>
                  </a:txBody>
                  <a:tcPr marL="0" marR="0" marT="3556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r>
              <a:tr h="646106">
                <a:tc>
                  <a:txBody>
                    <a:bodyPr/>
                    <a:lstStyle/>
                    <a:p>
                      <a:pPr marL="5715" algn="ctr">
                        <a:lnSpc>
                          <a:spcPct val="100000"/>
                        </a:lnSpc>
                        <a:spcBef>
                          <a:spcPts val="280"/>
                        </a:spcBef>
                      </a:pPr>
                      <a:r>
                        <a:rPr sz="1400" dirty="0">
                          <a:latin typeface="Calibri"/>
                          <a:cs typeface="Calibri"/>
                        </a:rPr>
                        <a:t>2</a:t>
                      </a:r>
                      <a:endParaRPr sz="1400">
                        <a:latin typeface="Calibri"/>
                        <a:cs typeface="Calibri"/>
                      </a:endParaRPr>
                    </a:p>
                  </a:txBody>
                  <a:tcPr marL="0" marR="0" marT="35560" marB="0">
                    <a:lnL w="1905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179070">
                        <a:lnSpc>
                          <a:spcPct val="100000"/>
                        </a:lnSpc>
                        <a:spcBef>
                          <a:spcPts val="280"/>
                        </a:spcBef>
                      </a:pPr>
                      <a:r>
                        <a:rPr sz="1400" spc="-5" dirty="0">
                          <a:latin typeface="Calibri"/>
                          <a:cs typeface="Calibri"/>
                        </a:rPr>
                        <a:t>JENIS</a:t>
                      </a:r>
                      <a:endParaRPr sz="1400">
                        <a:latin typeface="Calibri"/>
                        <a:cs typeface="Calibri"/>
                      </a:endParaRPr>
                    </a:p>
                  </a:txBody>
                  <a:tcPr marL="0" marR="0" marT="3556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179705">
                        <a:lnSpc>
                          <a:spcPct val="100000"/>
                        </a:lnSpc>
                        <a:spcBef>
                          <a:spcPts val="280"/>
                        </a:spcBef>
                      </a:pPr>
                      <a:r>
                        <a:rPr sz="1400" spc="-15" dirty="0">
                          <a:latin typeface="Calibri"/>
                          <a:cs typeface="Calibri"/>
                        </a:rPr>
                        <a:t>TEXT</a:t>
                      </a:r>
                      <a:endParaRPr sz="1400">
                        <a:latin typeface="Calibri"/>
                        <a:cs typeface="Calibri"/>
                      </a:endParaRPr>
                    </a:p>
                  </a:txBody>
                  <a:tcPr marL="0" marR="0" marT="3556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algn="ctr">
                        <a:lnSpc>
                          <a:spcPct val="100000"/>
                        </a:lnSpc>
                        <a:spcBef>
                          <a:spcPts val="280"/>
                        </a:spcBef>
                      </a:pPr>
                      <a:r>
                        <a:rPr sz="1400" spc="-20" dirty="0">
                          <a:latin typeface="Calibri"/>
                          <a:cs typeface="Calibri"/>
                        </a:rPr>
                        <a:t>15</a:t>
                      </a:r>
                      <a:endParaRPr sz="1400">
                        <a:latin typeface="Calibri"/>
                        <a:cs typeface="Calibri"/>
                      </a:endParaRPr>
                    </a:p>
                  </a:txBody>
                  <a:tcPr marL="0" marR="0" marT="35560" marB="0">
                    <a:lnL w="1270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a:lnSpc>
                          <a:spcPct val="100000"/>
                        </a:lnSpc>
                      </a:pPr>
                      <a:endParaRPr sz="1600">
                        <a:latin typeface="Times New Roman"/>
                        <a:cs typeface="Times New Roman"/>
                      </a:endParaRPr>
                    </a:p>
                  </a:txBody>
                  <a:tcPr marL="0" marR="0" marT="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marL="180340">
                        <a:lnSpc>
                          <a:spcPct val="100000"/>
                        </a:lnSpc>
                        <a:spcBef>
                          <a:spcPts val="280"/>
                        </a:spcBef>
                      </a:pPr>
                      <a:r>
                        <a:rPr sz="1400" spc="-10" dirty="0">
                          <a:latin typeface="Calibri"/>
                          <a:cs typeface="Calibri"/>
                        </a:rPr>
                        <a:t>Jenis</a:t>
                      </a:r>
                      <a:r>
                        <a:rPr sz="1400" spc="-30" dirty="0">
                          <a:latin typeface="Calibri"/>
                          <a:cs typeface="Calibri"/>
                        </a:rPr>
                        <a:t> </a:t>
                      </a:r>
                      <a:r>
                        <a:rPr sz="1400" spc="-15" dirty="0">
                          <a:latin typeface="Calibri"/>
                          <a:cs typeface="Calibri"/>
                        </a:rPr>
                        <a:t>Proyek</a:t>
                      </a:r>
                      <a:endParaRPr sz="1400">
                        <a:latin typeface="Calibri"/>
                        <a:cs typeface="Calibri"/>
                      </a:endParaRPr>
                    </a:p>
                  </a:txBody>
                  <a:tcPr marL="0" marR="0" marT="3556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r>
              <a:tr h="793667">
                <a:tc>
                  <a:txBody>
                    <a:bodyPr/>
                    <a:lstStyle/>
                    <a:p>
                      <a:pPr marL="5715" algn="ctr">
                        <a:lnSpc>
                          <a:spcPct val="100000"/>
                        </a:lnSpc>
                        <a:spcBef>
                          <a:spcPts val="300"/>
                        </a:spcBef>
                      </a:pPr>
                      <a:r>
                        <a:rPr sz="1400" dirty="0">
                          <a:latin typeface="Calibri"/>
                          <a:cs typeface="Calibri"/>
                        </a:rPr>
                        <a:t>3</a:t>
                      </a:r>
                      <a:endParaRPr sz="1400">
                        <a:latin typeface="Calibri"/>
                        <a:cs typeface="Calibri"/>
                      </a:endParaRPr>
                    </a:p>
                  </a:txBody>
                  <a:tcPr marL="0" marR="0" marT="38100" marB="0">
                    <a:lnL w="1905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179070">
                        <a:lnSpc>
                          <a:spcPct val="100000"/>
                        </a:lnSpc>
                        <a:spcBef>
                          <a:spcPts val="300"/>
                        </a:spcBef>
                      </a:pPr>
                      <a:r>
                        <a:rPr sz="1400" spc="-15" dirty="0">
                          <a:latin typeface="Calibri"/>
                          <a:cs typeface="Calibri"/>
                        </a:rPr>
                        <a:t>LOKASI</a:t>
                      </a:r>
                      <a:endParaRPr sz="1400">
                        <a:latin typeface="Calibri"/>
                        <a:cs typeface="Calibri"/>
                      </a:endParaRPr>
                    </a:p>
                  </a:txBody>
                  <a:tcPr marL="0" marR="0" marT="3810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marL="179705">
                        <a:lnSpc>
                          <a:spcPct val="100000"/>
                        </a:lnSpc>
                        <a:spcBef>
                          <a:spcPts val="300"/>
                        </a:spcBef>
                      </a:pPr>
                      <a:r>
                        <a:rPr sz="1400" spc="-15" dirty="0">
                          <a:latin typeface="Calibri"/>
                          <a:cs typeface="Calibri"/>
                        </a:rPr>
                        <a:t>TEXT</a:t>
                      </a:r>
                      <a:endParaRPr sz="1400">
                        <a:latin typeface="Calibri"/>
                        <a:cs typeface="Calibri"/>
                      </a:endParaRPr>
                    </a:p>
                  </a:txBody>
                  <a:tcPr marL="0" marR="0" marT="38100" marB="0">
                    <a:lnL w="12700">
                      <a:solidFill>
                        <a:srgbClr val="9F9F9F"/>
                      </a:solidFill>
                      <a:prstDash val="solid"/>
                    </a:lnL>
                    <a:lnR w="12700">
                      <a:solidFill>
                        <a:srgbClr val="9F9F9F"/>
                      </a:solidFill>
                      <a:prstDash val="solid"/>
                    </a:lnR>
                    <a:lnT w="19050">
                      <a:solidFill>
                        <a:srgbClr val="9F9F9F"/>
                      </a:solidFill>
                      <a:prstDash val="solid"/>
                    </a:lnT>
                    <a:lnB w="19050">
                      <a:solidFill>
                        <a:srgbClr val="9F9F9F"/>
                      </a:solidFill>
                      <a:prstDash val="solid"/>
                    </a:lnB>
                  </a:tcPr>
                </a:tc>
                <a:tc>
                  <a:txBody>
                    <a:bodyPr/>
                    <a:lstStyle/>
                    <a:p>
                      <a:pPr algn="ctr">
                        <a:lnSpc>
                          <a:spcPct val="100000"/>
                        </a:lnSpc>
                        <a:spcBef>
                          <a:spcPts val="300"/>
                        </a:spcBef>
                      </a:pPr>
                      <a:r>
                        <a:rPr sz="1400" spc="-15" dirty="0">
                          <a:latin typeface="Calibri"/>
                          <a:cs typeface="Calibri"/>
                        </a:rPr>
                        <a:t>20</a:t>
                      </a:r>
                      <a:endParaRPr sz="1400">
                        <a:latin typeface="Calibri"/>
                        <a:cs typeface="Calibri"/>
                      </a:endParaRPr>
                    </a:p>
                  </a:txBody>
                  <a:tcPr marL="0" marR="0" marT="38100" marB="0">
                    <a:lnL w="1270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a:lnSpc>
                          <a:spcPct val="100000"/>
                        </a:lnSpc>
                      </a:pPr>
                      <a:endParaRPr sz="1600">
                        <a:latin typeface="Times New Roman"/>
                        <a:cs typeface="Times New Roman"/>
                      </a:endParaRPr>
                    </a:p>
                  </a:txBody>
                  <a:tcPr marL="0" marR="0" marT="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c>
                  <a:txBody>
                    <a:bodyPr/>
                    <a:lstStyle/>
                    <a:p>
                      <a:pPr marL="180340">
                        <a:lnSpc>
                          <a:spcPct val="100000"/>
                        </a:lnSpc>
                        <a:spcBef>
                          <a:spcPts val="300"/>
                        </a:spcBef>
                      </a:pPr>
                      <a:r>
                        <a:rPr sz="1400" spc="-10" dirty="0">
                          <a:latin typeface="Calibri"/>
                          <a:cs typeface="Calibri"/>
                        </a:rPr>
                        <a:t>Lokasi</a:t>
                      </a:r>
                      <a:r>
                        <a:rPr sz="1400" spc="-50" dirty="0">
                          <a:latin typeface="Calibri"/>
                          <a:cs typeface="Calibri"/>
                        </a:rPr>
                        <a:t> </a:t>
                      </a:r>
                      <a:r>
                        <a:rPr sz="1400" spc="-15" dirty="0">
                          <a:latin typeface="Calibri"/>
                          <a:cs typeface="Calibri"/>
                        </a:rPr>
                        <a:t>Proyek</a:t>
                      </a:r>
                      <a:endParaRPr sz="1400">
                        <a:latin typeface="Calibri"/>
                        <a:cs typeface="Calibri"/>
                      </a:endParaRPr>
                    </a:p>
                  </a:txBody>
                  <a:tcPr marL="0" marR="0" marT="38100" marB="0">
                    <a:lnL w="19050">
                      <a:solidFill>
                        <a:srgbClr val="9F9F9F"/>
                      </a:solidFill>
                      <a:prstDash val="solid"/>
                    </a:lnL>
                    <a:lnR w="19050">
                      <a:solidFill>
                        <a:srgbClr val="9F9F9F"/>
                      </a:solidFill>
                      <a:prstDash val="solid"/>
                    </a:lnR>
                    <a:lnT w="19050">
                      <a:solidFill>
                        <a:srgbClr val="9F9F9F"/>
                      </a:solidFill>
                      <a:prstDash val="solid"/>
                    </a:lnT>
                    <a:lnB w="19050">
                      <a:solidFill>
                        <a:srgbClr val="9F9F9F"/>
                      </a:solidFill>
                      <a:prstDash val="solid"/>
                    </a:lnB>
                  </a:tcPr>
                </a:tc>
              </a:tr>
            </a:tbl>
          </a:graphicData>
        </a:graphic>
      </p:graphicFrame>
      <p:sp>
        <p:nvSpPr>
          <p:cNvPr id="5" name="object 5"/>
          <p:cNvSpPr txBox="1">
            <a:spLocks noGrp="1"/>
          </p:cNvSpPr>
          <p:nvPr>
            <p:ph type="title"/>
          </p:nvPr>
        </p:nvSpPr>
        <p:spPr>
          <a:xfrm>
            <a:off x="444804" y="444830"/>
            <a:ext cx="6058535" cy="786765"/>
          </a:xfrm>
          <a:prstGeom prst="rect">
            <a:avLst/>
          </a:prstGeom>
        </p:spPr>
        <p:txBody>
          <a:bodyPr vert="horz" wrap="square" lIns="0" tIns="12065" rIns="0" bIns="0" rtlCol="0">
            <a:spAutoFit/>
          </a:bodyPr>
          <a:lstStyle/>
          <a:p>
            <a:pPr marL="12700">
              <a:lnSpc>
                <a:spcPct val="100000"/>
              </a:lnSpc>
              <a:spcBef>
                <a:spcPts val="95"/>
              </a:spcBef>
            </a:pPr>
            <a:r>
              <a:rPr sz="5000" spc="-15" dirty="0">
                <a:solidFill>
                  <a:srgbClr val="04607A"/>
                </a:solidFill>
                <a:latin typeface="Calibri"/>
                <a:cs typeface="Calibri"/>
              </a:rPr>
              <a:t>SPESIFIKASI</a:t>
            </a:r>
            <a:r>
              <a:rPr sz="5000" spc="-20" dirty="0">
                <a:solidFill>
                  <a:srgbClr val="04607A"/>
                </a:solidFill>
                <a:latin typeface="Calibri"/>
                <a:cs typeface="Calibri"/>
              </a:rPr>
              <a:t> </a:t>
            </a:r>
            <a:r>
              <a:rPr sz="5000" spc="-15" dirty="0">
                <a:solidFill>
                  <a:srgbClr val="04607A"/>
                </a:solidFill>
                <a:latin typeface="Calibri"/>
                <a:cs typeface="Calibri"/>
              </a:rPr>
              <a:t>BASIS</a:t>
            </a:r>
            <a:r>
              <a:rPr sz="5000" spc="10" dirty="0">
                <a:solidFill>
                  <a:srgbClr val="04607A"/>
                </a:solidFill>
                <a:latin typeface="Calibri"/>
                <a:cs typeface="Calibri"/>
              </a:rPr>
              <a:t> </a:t>
            </a:r>
            <a:r>
              <a:rPr sz="5000" spc="-225" dirty="0">
                <a:solidFill>
                  <a:srgbClr val="04607A"/>
                </a:solidFill>
                <a:latin typeface="Calibri"/>
                <a:cs typeface="Calibri"/>
              </a:rPr>
              <a:t>DATA</a:t>
            </a:r>
            <a:endParaRPr sz="50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7593" y="5422117"/>
            <a:ext cx="7710170" cy="1257935"/>
          </a:xfrm>
          <a:prstGeom prst="rect">
            <a:avLst/>
          </a:prstGeom>
        </p:spPr>
        <p:txBody>
          <a:bodyPr vert="horz" wrap="square" lIns="0" tIns="12065" rIns="0" bIns="0" rtlCol="0">
            <a:spAutoFit/>
          </a:bodyPr>
          <a:lstStyle/>
          <a:p>
            <a:pPr marL="12700">
              <a:lnSpc>
                <a:spcPts val="2030"/>
              </a:lnSpc>
              <a:spcBef>
                <a:spcPts val="95"/>
              </a:spcBef>
            </a:pPr>
            <a:r>
              <a:rPr sz="1700" b="1" i="1" u="heavy" spc="-190" dirty="0">
                <a:uFill>
                  <a:solidFill>
                    <a:srgbClr val="000000"/>
                  </a:solidFill>
                </a:uFill>
                <a:latin typeface="Verdana"/>
                <a:cs typeface="Verdana"/>
              </a:rPr>
              <a:t>K</a:t>
            </a:r>
            <a:r>
              <a:rPr sz="1700" b="1" i="1" u="heavy" spc="-175" dirty="0">
                <a:uFill>
                  <a:solidFill>
                    <a:srgbClr val="000000"/>
                  </a:solidFill>
                </a:uFill>
                <a:latin typeface="Verdana"/>
                <a:cs typeface="Verdana"/>
              </a:rPr>
              <a:t>e</a:t>
            </a:r>
            <a:r>
              <a:rPr sz="1700" b="1" i="1" u="heavy" spc="-114" dirty="0">
                <a:uFill>
                  <a:solidFill>
                    <a:srgbClr val="000000"/>
                  </a:solidFill>
                </a:uFill>
                <a:latin typeface="Verdana"/>
                <a:cs typeface="Verdana"/>
              </a:rPr>
              <a:t>t</a:t>
            </a:r>
            <a:r>
              <a:rPr sz="1700" b="1" i="1" u="heavy" spc="-165" dirty="0">
                <a:uFill>
                  <a:solidFill>
                    <a:srgbClr val="000000"/>
                  </a:solidFill>
                </a:uFill>
                <a:latin typeface="Verdana"/>
                <a:cs typeface="Verdana"/>
              </a:rPr>
              <a:t>e</a:t>
            </a:r>
            <a:r>
              <a:rPr sz="1700" b="1" i="1" u="heavy" spc="-140" dirty="0">
                <a:uFill>
                  <a:solidFill>
                    <a:srgbClr val="000000"/>
                  </a:solidFill>
                </a:uFill>
                <a:latin typeface="Verdana"/>
                <a:cs typeface="Verdana"/>
              </a:rPr>
              <a:t>r</a:t>
            </a:r>
            <a:r>
              <a:rPr sz="1700" b="1" i="1" u="heavy" spc="-190" dirty="0">
                <a:uFill>
                  <a:solidFill>
                    <a:srgbClr val="000000"/>
                  </a:solidFill>
                </a:uFill>
                <a:latin typeface="Verdana"/>
                <a:cs typeface="Verdana"/>
              </a:rPr>
              <a:t>a</a:t>
            </a:r>
            <a:r>
              <a:rPr sz="1700" b="1" i="1" u="heavy" spc="-185" dirty="0">
                <a:uFill>
                  <a:solidFill>
                    <a:srgbClr val="000000"/>
                  </a:solidFill>
                </a:uFill>
                <a:latin typeface="Verdana"/>
                <a:cs typeface="Verdana"/>
              </a:rPr>
              <a:t>ngan</a:t>
            </a:r>
            <a:r>
              <a:rPr sz="1700" b="1" i="1" u="heavy" spc="-170" dirty="0">
                <a:uFill>
                  <a:solidFill>
                    <a:srgbClr val="000000"/>
                  </a:solidFill>
                </a:uFill>
                <a:latin typeface="Verdana"/>
                <a:cs typeface="Verdana"/>
              </a:rPr>
              <a:t> </a:t>
            </a:r>
            <a:r>
              <a:rPr sz="1700" b="1" i="1" u="heavy" spc="-100" dirty="0">
                <a:uFill>
                  <a:solidFill>
                    <a:srgbClr val="000000"/>
                  </a:solidFill>
                </a:uFill>
                <a:latin typeface="Verdana"/>
                <a:cs typeface="Verdana"/>
              </a:rPr>
              <a:t>:</a:t>
            </a:r>
            <a:endParaRPr sz="1700">
              <a:latin typeface="Verdana"/>
              <a:cs typeface="Verdana"/>
            </a:endParaRPr>
          </a:p>
          <a:p>
            <a:pPr marL="186055" indent="-173990">
              <a:lnSpc>
                <a:spcPts val="1910"/>
              </a:lnSpc>
              <a:buChar char="•"/>
              <a:tabLst>
                <a:tab pos="186690" algn="l"/>
              </a:tabLst>
            </a:pPr>
            <a:r>
              <a:rPr sz="1600" spc="-5" dirty="0">
                <a:latin typeface="Tahoma"/>
                <a:cs typeface="Tahoma"/>
              </a:rPr>
              <a:t>Setiap</a:t>
            </a:r>
            <a:r>
              <a:rPr sz="1600" spc="-25" dirty="0">
                <a:latin typeface="Tahoma"/>
                <a:cs typeface="Tahoma"/>
              </a:rPr>
              <a:t> </a:t>
            </a:r>
            <a:r>
              <a:rPr sz="1600" spc="-5" dirty="0">
                <a:latin typeface="Tahoma"/>
                <a:cs typeface="Tahoma"/>
              </a:rPr>
              <a:t>Divisi</a:t>
            </a:r>
            <a:r>
              <a:rPr sz="1600" spc="15" dirty="0">
                <a:latin typeface="Tahoma"/>
                <a:cs typeface="Tahoma"/>
              </a:rPr>
              <a:t> </a:t>
            </a:r>
            <a:r>
              <a:rPr sz="1600" dirty="0">
                <a:latin typeface="Tahoma"/>
                <a:cs typeface="Tahoma"/>
              </a:rPr>
              <a:t>dapat </a:t>
            </a:r>
            <a:r>
              <a:rPr sz="1600" spc="-5" dirty="0">
                <a:latin typeface="Tahoma"/>
                <a:cs typeface="Tahoma"/>
              </a:rPr>
              <a:t>membuat</a:t>
            </a:r>
            <a:r>
              <a:rPr sz="1600" spc="-10" dirty="0">
                <a:latin typeface="Tahoma"/>
                <a:cs typeface="Tahoma"/>
              </a:rPr>
              <a:t> </a:t>
            </a:r>
            <a:r>
              <a:rPr sz="1600" spc="-5" dirty="0">
                <a:latin typeface="Tahoma"/>
                <a:cs typeface="Tahoma"/>
              </a:rPr>
              <a:t>Lebih </a:t>
            </a:r>
            <a:r>
              <a:rPr sz="1600" dirty="0">
                <a:latin typeface="Tahoma"/>
                <a:cs typeface="Tahoma"/>
              </a:rPr>
              <a:t>dari</a:t>
            </a:r>
            <a:r>
              <a:rPr sz="1600" spc="-5" dirty="0">
                <a:latin typeface="Tahoma"/>
                <a:cs typeface="Tahoma"/>
              </a:rPr>
              <a:t> satu </a:t>
            </a:r>
            <a:r>
              <a:rPr sz="1600" spc="-15" dirty="0">
                <a:latin typeface="Tahoma"/>
                <a:cs typeface="Tahoma"/>
              </a:rPr>
              <a:t>Form</a:t>
            </a:r>
            <a:r>
              <a:rPr sz="1600" spc="15" dirty="0">
                <a:latin typeface="Tahoma"/>
                <a:cs typeface="Tahoma"/>
              </a:rPr>
              <a:t> </a:t>
            </a:r>
            <a:r>
              <a:rPr sz="1600" spc="-10" dirty="0">
                <a:latin typeface="Tahoma"/>
                <a:cs typeface="Tahoma"/>
              </a:rPr>
              <a:t>Permintaan </a:t>
            </a:r>
            <a:r>
              <a:rPr sz="1600" spc="-5" dirty="0">
                <a:latin typeface="Tahoma"/>
                <a:cs typeface="Tahoma"/>
              </a:rPr>
              <a:t>Barang.</a:t>
            </a:r>
            <a:endParaRPr sz="1600">
              <a:latin typeface="Tahoma"/>
              <a:cs typeface="Tahoma"/>
            </a:endParaRPr>
          </a:p>
          <a:p>
            <a:pPr marL="201295" marR="5080" indent="-189230">
              <a:lnSpc>
                <a:spcPct val="100000"/>
              </a:lnSpc>
              <a:buFont typeface="Tahoma"/>
              <a:buChar char="•"/>
              <a:tabLst>
                <a:tab pos="247015" algn="l"/>
                <a:tab pos="247650" algn="l"/>
              </a:tabLst>
            </a:pPr>
            <a:r>
              <a:rPr dirty="0"/>
              <a:t>	</a:t>
            </a:r>
            <a:r>
              <a:rPr sz="1600" spc="-5" dirty="0">
                <a:latin typeface="Tahoma"/>
                <a:cs typeface="Tahoma"/>
              </a:rPr>
              <a:t>Satu </a:t>
            </a:r>
            <a:r>
              <a:rPr sz="1600" spc="-15" dirty="0">
                <a:latin typeface="Tahoma"/>
                <a:cs typeface="Tahoma"/>
              </a:rPr>
              <a:t>Form</a:t>
            </a:r>
            <a:r>
              <a:rPr sz="1600" spc="20" dirty="0">
                <a:latin typeface="Tahoma"/>
                <a:cs typeface="Tahoma"/>
              </a:rPr>
              <a:t> </a:t>
            </a:r>
            <a:r>
              <a:rPr sz="1600" spc="-10" dirty="0">
                <a:latin typeface="Tahoma"/>
                <a:cs typeface="Tahoma"/>
              </a:rPr>
              <a:t>Permintaan</a:t>
            </a:r>
            <a:r>
              <a:rPr sz="1600" dirty="0">
                <a:latin typeface="Tahoma"/>
                <a:cs typeface="Tahoma"/>
              </a:rPr>
              <a:t> </a:t>
            </a:r>
            <a:r>
              <a:rPr sz="1600" spc="-10" dirty="0">
                <a:latin typeface="Tahoma"/>
                <a:cs typeface="Tahoma"/>
              </a:rPr>
              <a:t>Barang</a:t>
            </a:r>
            <a:r>
              <a:rPr sz="1600" spc="5" dirty="0">
                <a:latin typeface="Tahoma"/>
                <a:cs typeface="Tahoma"/>
              </a:rPr>
              <a:t> </a:t>
            </a:r>
            <a:r>
              <a:rPr sz="1600" dirty="0">
                <a:latin typeface="Tahoma"/>
                <a:cs typeface="Tahoma"/>
              </a:rPr>
              <a:t>dapat</a:t>
            </a:r>
            <a:r>
              <a:rPr sz="1600" spc="-10" dirty="0">
                <a:latin typeface="Tahoma"/>
                <a:cs typeface="Tahoma"/>
              </a:rPr>
              <a:t> </a:t>
            </a:r>
            <a:r>
              <a:rPr sz="1600" spc="-5" dirty="0">
                <a:latin typeface="Tahoma"/>
                <a:cs typeface="Tahoma"/>
              </a:rPr>
              <a:t>membuat</a:t>
            </a:r>
            <a:r>
              <a:rPr sz="1600" spc="20" dirty="0">
                <a:latin typeface="Tahoma"/>
                <a:cs typeface="Tahoma"/>
              </a:rPr>
              <a:t> </a:t>
            </a:r>
            <a:r>
              <a:rPr sz="1600" spc="-5" dirty="0">
                <a:latin typeface="Tahoma"/>
                <a:cs typeface="Tahoma"/>
              </a:rPr>
              <a:t>Lebih</a:t>
            </a:r>
            <a:r>
              <a:rPr sz="1600" dirty="0">
                <a:latin typeface="Tahoma"/>
                <a:cs typeface="Tahoma"/>
              </a:rPr>
              <a:t> dari</a:t>
            </a:r>
            <a:r>
              <a:rPr sz="1600" spc="-10" dirty="0">
                <a:latin typeface="Tahoma"/>
                <a:cs typeface="Tahoma"/>
              </a:rPr>
              <a:t> </a:t>
            </a:r>
            <a:r>
              <a:rPr sz="1600" spc="-5" dirty="0">
                <a:latin typeface="Tahoma"/>
                <a:cs typeface="Tahoma"/>
              </a:rPr>
              <a:t>satu</a:t>
            </a:r>
            <a:r>
              <a:rPr sz="1600" spc="-25" dirty="0">
                <a:latin typeface="Tahoma"/>
                <a:cs typeface="Tahoma"/>
              </a:rPr>
              <a:t> </a:t>
            </a:r>
            <a:r>
              <a:rPr sz="1600" spc="-10" dirty="0">
                <a:latin typeface="Tahoma"/>
                <a:cs typeface="Tahoma"/>
              </a:rPr>
              <a:t>Bukti</a:t>
            </a:r>
            <a:r>
              <a:rPr sz="1600" spc="20" dirty="0">
                <a:latin typeface="Tahoma"/>
                <a:cs typeface="Tahoma"/>
              </a:rPr>
              <a:t> </a:t>
            </a:r>
            <a:r>
              <a:rPr sz="1600" spc="-15" dirty="0">
                <a:latin typeface="Tahoma"/>
                <a:cs typeface="Tahoma"/>
              </a:rPr>
              <a:t>Penyerahan </a:t>
            </a:r>
            <a:r>
              <a:rPr sz="1600" spc="-10" dirty="0">
                <a:latin typeface="Tahoma"/>
                <a:cs typeface="Tahoma"/>
              </a:rPr>
              <a:t> Barang,</a:t>
            </a:r>
            <a:r>
              <a:rPr sz="1600" dirty="0">
                <a:latin typeface="Tahoma"/>
                <a:cs typeface="Tahoma"/>
              </a:rPr>
              <a:t> </a:t>
            </a:r>
            <a:r>
              <a:rPr sz="1600" spc="-5" dirty="0">
                <a:latin typeface="Tahoma"/>
                <a:cs typeface="Tahoma"/>
              </a:rPr>
              <a:t>karena</a:t>
            </a:r>
            <a:r>
              <a:rPr sz="1600" spc="-20" dirty="0">
                <a:latin typeface="Tahoma"/>
                <a:cs typeface="Tahoma"/>
              </a:rPr>
              <a:t> </a:t>
            </a:r>
            <a:r>
              <a:rPr sz="1600" dirty="0">
                <a:latin typeface="Tahoma"/>
                <a:cs typeface="Tahoma"/>
              </a:rPr>
              <a:t>dapat</a:t>
            </a:r>
            <a:r>
              <a:rPr sz="1600" spc="-5" dirty="0">
                <a:latin typeface="Tahoma"/>
                <a:cs typeface="Tahoma"/>
              </a:rPr>
              <a:t> dimungkinkan</a:t>
            </a:r>
            <a:r>
              <a:rPr sz="1600" spc="25" dirty="0">
                <a:latin typeface="Tahoma"/>
                <a:cs typeface="Tahoma"/>
              </a:rPr>
              <a:t> </a:t>
            </a:r>
            <a:r>
              <a:rPr sz="1600" spc="-5" dirty="0">
                <a:latin typeface="Tahoma"/>
                <a:cs typeface="Tahoma"/>
              </a:rPr>
              <a:t>Jumlah</a:t>
            </a:r>
            <a:r>
              <a:rPr sz="1600" spc="-30" dirty="0">
                <a:latin typeface="Tahoma"/>
                <a:cs typeface="Tahoma"/>
              </a:rPr>
              <a:t> </a:t>
            </a:r>
            <a:r>
              <a:rPr sz="1600" spc="-10" dirty="0">
                <a:latin typeface="Tahoma"/>
                <a:cs typeface="Tahoma"/>
              </a:rPr>
              <a:t>yang</a:t>
            </a:r>
            <a:r>
              <a:rPr sz="1600" spc="5" dirty="0">
                <a:latin typeface="Tahoma"/>
                <a:cs typeface="Tahoma"/>
              </a:rPr>
              <a:t> </a:t>
            </a:r>
            <a:r>
              <a:rPr sz="1600" spc="-5" dirty="0">
                <a:latin typeface="Tahoma"/>
                <a:cs typeface="Tahoma"/>
              </a:rPr>
              <a:t>diminta</a:t>
            </a:r>
            <a:r>
              <a:rPr sz="1600" spc="30" dirty="0">
                <a:latin typeface="Tahoma"/>
                <a:cs typeface="Tahoma"/>
              </a:rPr>
              <a:t> </a:t>
            </a:r>
            <a:r>
              <a:rPr sz="1600" dirty="0">
                <a:latin typeface="Tahoma"/>
                <a:cs typeface="Tahoma"/>
              </a:rPr>
              <a:t>dapat</a:t>
            </a:r>
            <a:r>
              <a:rPr sz="1600" spc="5" dirty="0">
                <a:latin typeface="Tahoma"/>
                <a:cs typeface="Tahoma"/>
              </a:rPr>
              <a:t> </a:t>
            </a:r>
            <a:r>
              <a:rPr sz="1600" spc="-5" dirty="0">
                <a:latin typeface="Tahoma"/>
                <a:cs typeface="Tahoma"/>
              </a:rPr>
              <a:t>tidak sama</a:t>
            </a:r>
            <a:r>
              <a:rPr sz="1600" spc="5" dirty="0">
                <a:latin typeface="Tahoma"/>
                <a:cs typeface="Tahoma"/>
              </a:rPr>
              <a:t> </a:t>
            </a:r>
            <a:r>
              <a:rPr sz="1600" dirty="0">
                <a:latin typeface="Tahoma"/>
                <a:cs typeface="Tahoma"/>
              </a:rPr>
              <a:t>dengan </a:t>
            </a:r>
            <a:r>
              <a:rPr sz="1600" spc="-484" dirty="0">
                <a:latin typeface="Tahoma"/>
                <a:cs typeface="Tahoma"/>
              </a:rPr>
              <a:t> </a:t>
            </a:r>
            <a:r>
              <a:rPr sz="1600" spc="-5" dirty="0">
                <a:latin typeface="Tahoma"/>
                <a:cs typeface="Tahoma"/>
              </a:rPr>
              <a:t>jumlah</a:t>
            </a:r>
            <a:r>
              <a:rPr sz="1600" spc="-40" dirty="0">
                <a:latin typeface="Tahoma"/>
                <a:cs typeface="Tahoma"/>
              </a:rPr>
              <a:t> </a:t>
            </a:r>
            <a:r>
              <a:rPr sz="1600" spc="-10" dirty="0">
                <a:latin typeface="Tahoma"/>
                <a:cs typeface="Tahoma"/>
              </a:rPr>
              <a:t>yang</a:t>
            </a:r>
            <a:r>
              <a:rPr sz="1600" dirty="0">
                <a:latin typeface="Tahoma"/>
                <a:cs typeface="Tahoma"/>
              </a:rPr>
              <a:t> </a:t>
            </a:r>
            <a:r>
              <a:rPr sz="1600" spc="-5" dirty="0">
                <a:latin typeface="Tahoma"/>
                <a:cs typeface="Tahoma"/>
              </a:rPr>
              <a:t>diserahkan.</a:t>
            </a:r>
            <a:endParaRPr sz="1600">
              <a:latin typeface="Tahoma"/>
              <a:cs typeface="Tahoma"/>
            </a:endParaRPr>
          </a:p>
        </p:txBody>
      </p:sp>
      <p:pic>
        <p:nvPicPr>
          <p:cNvPr id="3" name="object 3"/>
          <p:cNvPicPr/>
          <p:nvPr/>
        </p:nvPicPr>
        <p:blipFill>
          <a:blip r:embed="rId2" cstate="print"/>
          <a:stretch>
            <a:fillRect/>
          </a:stretch>
        </p:blipFill>
        <p:spPr>
          <a:xfrm>
            <a:off x="642937" y="1285875"/>
            <a:ext cx="7858125" cy="4065651"/>
          </a:xfrm>
          <a:prstGeom prst="rect">
            <a:avLst/>
          </a:prstGeom>
        </p:spPr>
      </p:pic>
      <p:sp>
        <p:nvSpPr>
          <p:cNvPr id="4" name="object 4"/>
          <p:cNvSpPr txBox="1">
            <a:spLocks noGrp="1"/>
          </p:cNvSpPr>
          <p:nvPr>
            <p:ph type="title"/>
          </p:nvPr>
        </p:nvSpPr>
        <p:spPr>
          <a:xfrm>
            <a:off x="444804" y="444830"/>
            <a:ext cx="2209800" cy="786765"/>
          </a:xfrm>
          <a:prstGeom prst="rect">
            <a:avLst/>
          </a:prstGeom>
        </p:spPr>
        <p:txBody>
          <a:bodyPr vert="horz" wrap="square" lIns="0" tIns="12065" rIns="0" bIns="0" rtlCol="0">
            <a:spAutoFit/>
          </a:bodyPr>
          <a:lstStyle/>
          <a:p>
            <a:pPr marL="12700">
              <a:lnSpc>
                <a:spcPct val="100000"/>
              </a:lnSpc>
              <a:spcBef>
                <a:spcPts val="95"/>
              </a:spcBef>
            </a:pPr>
            <a:r>
              <a:rPr sz="5000" spc="-25" dirty="0">
                <a:solidFill>
                  <a:srgbClr val="04607A"/>
                </a:solidFill>
                <a:latin typeface="Calibri"/>
                <a:cs typeface="Calibri"/>
              </a:rPr>
              <a:t>Contoh</a:t>
            </a:r>
            <a:r>
              <a:rPr sz="5000" spc="-95" dirty="0">
                <a:solidFill>
                  <a:srgbClr val="04607A"/>
                </a:solidFill>
                <a:latin typeface="Calibri"/>
                <a:cs typeface="Calibri"/>
              </a:rPr>
              <a:t> </a:t>
            </a:r>
            <a:r>
              <a:rPr sz="5000" spc="-5" dirty="0">
                <a:solidFill>
                  <a:srgbClr val="04607A"/>
                </a:solidFill>
                <a:latin typeface="Calibri"/>
                <a:cs typeface="Calibri"/>
              </a:rPr>
              <a:t>:</a:t>
            </a:r>
            <a:endParaRPr sz="50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a:spLocks noGrp="1"/>
          </p:cNvSpPr>
          <p:nvPr>
            <p:ph type="title"/>
          </p:nvPr>
        </p:nvSpPr>
        <p:spPr>
          <a:xfrm>
            <a:off x="444804" y="1033983"/>
            <a:ext cx="5829935" cy="786765"/>
          </a:xfrm>
          <a:prstGeom prst="rect">
            <a:avLst/>
          </a:prstGeom>
        </p:spPr>
        <p:txBody>
          <a:bodyPr vert="horz" wrap="square" lIns="0" tIns="12065" rIns="0" bIns="0" rtlCol="0">
            <a:spAutoFit/>
          </a:bodyPr>
          <a:lstStyle/>
          <a:p>
            <a:pPr marL="12700">
              <a:lnSpc>
                <a:spcPct val="100000"/>
              </a:lnSpc>
              <a:spcBef>
                <a:spcPts val="95"/>
              </a:spcBef>
            </a:pPr>
            <a:r>
              <a:rPr sz="5000" spc="-90" dirty="0">
                <a:latin typeface="Calibri"/>
                <a:cs typeface="Calibri"/>
              </a:rPr>
              <a:t>TAHAP</a:t>
            </a:r>
            <a:r>
              <a:rPr sz="5000" spc="-35" dirty="0">
                <a:latin typeface="Calibri"/>
                <a:cs typeface="Calibri"/>
              </a:rPr>
              <a:t> </a:t>
            </a:r>
            <a:r>
              <a:rPr sz="5000" spc="-80" dirty="0">
                <a:latin typeface="Calibri"/>
                <a:cs typeface="Calibri"/>
              </a:rPr>
              <a:t>MEMBUAT</a:t>
            </a:r>
            <a:r>
              <a:rPr sz="5000" spc="-10" dirty="0">
                <a:latin typeface="Calibri"/>
                <a:cs typeface="Calibri"/>
              </a:rPr>
              <a:t> ERD</a:t>
            </a:r>
            <a:endParaRPr sz="5000">
              <a:latin typeface="Calibri"/>
              <a:cs typeface="Calibri"/>
            </a:endParaRPr>
          </a:p>
        </p:txBody>
      </p:sp>
      <p:sp>
        <p:nvSpPr>
          <p:cNvPr id="9" name="object 9"/>
          <p:cNvSpPr txBox="1"/>
          <p:nvPr/>
        </p:nvSpPr>
        <p:spPr>
          <a:xfrm>
            <a:off x="612444" y="1795983"/>
            <a:ext cx="7727315" cy="4050665"/>
          </a:xfrm>
          <a:prstGeom prst="rect">
            <a:avLst/>
          </a:prstGeom>
        </p:spPr>
        <p:txBody>
          <a:bodyPr vert="horz" wrap="square" lIns="0" tIns="12700" rIns="0" bIns="0" rtlCol="0">
            <a:spAutoFit/>
          </a:bodyPr>
          <a:lstStyle/>
          <a:p>
            <a:pPr marL="469900" indent="-457200">
              <a:lnSpc>
                <a:spcPct val="100000"/>
              </a:lnSpc>
              <a:spcBef>
                <a:spcPts val="100"/>
              </a:spcBef>
              <a:buAutoNum type="arabicPeriod"/>
              <a:tabLst>
                <a:tab pos="469265" algn="l"/>
                <a:tab pos="469900" algn="l"/>
              </a:tabLst>
            </a:pPr>
            <a:r>
              <a:rPr sz="2400" spc="-15" dirty="0">
                <a:latin typeface="Tahoma"/>
                <a:cs typeface="Tahoma"/>
              </a:rPr>
              <a:t>Keluarkan</a:t>
            </a:r>
            <a:r>
              <a:rPr sz="2400" spc="-25" dirty="0">
                <a:latin typeface="Tahoma"/>
                <a:cs typeface="Tahoma"/>
              </a:rPr>
              <a:t> </a:t>
            </a:r>
            <a:r>
              <a:rPr sz="2400" dirty="0">
                <a:latin typeface="Tahoma"/>
                <a:cs typeface="Tahoma"/>
              </a:rPr>
              <a:t>semua</a:t>
            </a:r>
            <a:r>
              <a:rPr sz="2400" spc="-15" dirty="0">
                <a:latin typeface="Tahoma"/>
                <a:cs typeface="Tahoma"/>
              </a:rPr>
              <a:t> </a:t>
            </a:r>
            <a:r>
              <a:rPr sz="2400" spc="-10" dirty="0">
                <a:latin typeface="Tahoma"/>
                <a:cs typeface="Tahoma"/>
              </a:rPr>
              <a:t>atribut</a:t>
            </a:r>
            <a:r>
              <a:rPr sz="2400" spc="40" dirty="0">
                <a:latin typeface="Tahoma"/>
                <a:cs typeface="Tahoma"/>
              </a:rPr>
              <a:t> </a:t>
            </a:r>
            <a:r>
              <a:rPr sz="2400" spc="-15" dirty="0">
                <a:latin typeface="Tahoma"/>
                <a:cs typeface="Tahoma"/>
              </a:rPr>
              <a:t>yang</a:t>
            </a:r>
            <a:r>
              <a:rPr sz="2400" spc="-10" dirty="0">
                <a:latin typeface="Tahoma"/>
                <a:cs typeface="Tahoma"/>
              </a:rPr>
              <a:t> </a:t>
            </a:r>
            <a:r>
              <a:rPr sz="2400" dirty="0">
                <a:latin typeface="Tahoma"/>
                <a:cs typeface="Tahoma"/>
              </a:rPr>
              <a:t>dimiliki</a:t>
            </a:r>
            <a:r>
              <a:rPr sz="2400" spc="20" dirty="0">
                <a:latin typeface="Tahoma"/>
                <a:cs typeface="Tahoma"/>
              </a:rPr>
              <a:t> </a:t>
            </a:r>
            <a:r>
              <a:rPr sz="2400" spc="-5" dirty="0">
                <a:latin typeface="Tahoma"/>
                <a:cs typeface="Tahoma"/>
              </a:rPr>
              <a:t>oleh</a:t>
            </a:r>
            <a:r>
              <a:rPr sz="2400" spc="-20" dirty="0">
                <a:latin typeface="Tahoma"/>
                <a:cs typeface="Tahoma"/>
              </a:rPr>
              <a:t> </a:t>
            </a:r>
            <a:r>
              <a:rPr sz="2400" spc="-5" dirty="0">
                <a:latin typeface="Tahoma"/>
                <a:cs typeface="Tahoma"/>
              </a:rPr>
              <a:t>dokumen</a:t>
            </a:r>
            <a:endParaRPr sz="2400">
              <a:latin typeface="Tahoma"/>
              <a:cs typeface="Tahoma"/>
            </a:endParaRPr>
          </a:p>
          <a:p>
            <a:pPr marL="469900">
              <a:lnSpc>
                <a:spcPct val="100000"/>
              </a:lnSpc>
            </a:pPr>
            <a:r>
              <a:rPr sz="2400" dirty="0">
                <a:latin typeface="Tahoma"/>
                <a:cs typeface="Tahoma"/>
              </a:rPr>
              <a:t>sumber</a:t>
            </a:r>
            <a:endParaRPr sz="2400">
              <a:latin typeface="Tahoma"/>
              <a:cs typeface="Tahoma"/>
            </a:endParaRPr>
          </a:p>
          <a:p>
            <a:pPr marL="469900" marR="5080" indent="-457200">
              <a:lnSpc>
                <a:spcPct val="100000"/>
              </a:lnSpc>
              <a:spcBef>
                <a:spcPts val="5"/>
              </a:spcBef>
              <a:buAutoNum type="arabicPeriod" startAt="2"/>
              <a:tabLst>
                <a:tab pos="469265" algn="l"/>
                <a:tab pos="469900" algn="l"/>
                <a:tab pos="4994275" algn="l"/>
              </a:tabLst>
            </a:pPr>
            <a:r>
              <a:rPr sz="2400" spc="-35" dirty="0">
                <a:latin typeface="Tahoma"/>
                <a:cs typeface="Tahoma"/>
              </a:rPr>
              <a:t>Tentukan</a:t>
            </a:r>
            <a:r>
              <a:rPr sz="2400" spc="-25" dirty="0">
                <a:latin typeface="Tahoma"/>
                <a:cs typeface="Tahoma"/>
              </a:rPr>
              <a:t> </a:t>
            </a:r>
            <a:r>
              <a:rPr sz="2400" spc="-10" dirty="0">
                <a:latin typeface="Tahoma"/>
                <a:cs typeface="Tahoma"/>
              </a:rPr>
              <a:t>Atribut</a:t>
            </a:r>
            <a:r>
              <a:rPr sz="2400" spc="5" dirty="0">
                <a:latin typeface="Tahoma"/>
                <a:cs typeface="Tahoma"/>
              </a:rPr>
              <a:t> </a:t>
            </a:r>
            <a:r>
              <a:rPr sz="2400" spc="-15" dirty="0">
                <a:latin typeface="Tahoma"/>
                <a:cs typeface="Tahoma"/>
              </a:rPr>
              <a:t>yang</a:t>
            </a:r>
            <a:r>
              <a:rPr sz="2400" spc="15" dirty="0">
                <a:latin typeface="Tahoma"/>
                <a:cs typeface="Tahoma"/>
              </a:rPr>
              <a:t> </a:t>
            </a:r>
            <a:r>
              <a:rPr sz="2400" spc="-10" dirty="0">
                <a:latin typeface="Tahoma"/>
                <a:cs typeface="Tahoma"/>
              </a:rPr>
              <a:t>dapat</a:t>
            </a:r>
            <a:r>
              <a:rPr sz="2400" spc="30" dirty="0">
                <a:latin typeface="Tahoma"/>
                <a:cs typeface="Tahoma"/>
              </a:rPr>
              <a:t> </a:t>
            </a:r>
            <a:r>
              <a:rPr sz="2400" spc="-5" dirty="0">
                <a:latin typeface="Tahoma"/>
                <a:cs typeface="Tahoma"/>
              </a:rPr>
              <a:t>menjadi</a:t>
            </a:r>
            <a:r>
              <a:rPr sz="2400" spc="-10" dirty="0">
                <a:latin typeface="Tahoma"/>
                <a:cs typeface="Tahoma"/>
              </a:rPr>
              <a:t> Primary</a:t>
            </a:r>
            <a:r>
              <a:rPr sz="2400" spc="15" dirty="0">
                <a:latin typeface="Tahoma"/>
                <a:cs typeface="Tahoma"/>
              </a:rPr>
              <a:t> </a:t>
            </a:r>
            <a:r>
              <a:rPr sz="2400" spc="-25" dirty="0">
                <a:latin typeface="Tahoma"/>
                <a:cs typeface="Tahoma"/>
              </a:rPr>
              <a:t>Key</a:t>
            </a:r>
            <a:r>
              <a:rPr sz="2400" dirty="0">
                <a:latin typeface="Tahoma"/>
                <a:cs typeface="Tahoma"/>
              </a:rPr>
              <a:t> jika </a:t>
            </a:r>
            <a:r>
              <a:rPr sz="2400" spc="-735" dirty="0">
                <a:latin typeface="Tahoma"/>
                <a:cs typeface="Tahoma"/>
              </a:rPr>
              <a:t> </a:t>
            </a:r>
            <a:r>
              <a:rPr sz="2400" spc="-10" dirty="0">
                <a:latin typeface="Tahoma"/>
                <a:cs typeface="Tahoma"/>
              </a:rPr>
              <a:t>TIDAK</a:t>
            </a:r>
            <a:r>
              <a:rPr sz="2400" spc="10" dirty="0">
                <a:latin typeface="Tahoma"/>
                <a:cs typeface="Tahoma"/>
              </a:rPr>
              <a:t> </a:t>
            </a:r>
            <a:r>
              <a:rPr sz="2400" dirty="0">
                <a:latin typeface="Tahoma"/>
                <a:cs typeface="Tahoma"/>
              </a:rPr>
              <a:t>ADA</a:t>
            </a:r>
            <a:r>
              <a:rPr sz="2400" spc="-20" dirty="0">
                <a:latin typeface="Tahoma"/>
                <a:cs typeface="Tahoma"/>
              </a:rPr>
              <a:t> </a:t>
            </a:r>
            <a:r>
              <a:rPr sz="2400" spc="-5" dirty="0">
                <a:latin typeface="Tahoma"/>
                <a:cs typeface="Tahoma"/>
              </a:rPr>
              <a:t>boleh</a:t>
            </a:r>
            <a:r>
              <a:rPr sz="2400" spc="15" dirty="0">
                <a:latin typeface="Tahoma"/>
                <a:cs typeface="Tahoma"/>
              </a:rPr>
              <a:t> </a:t>
            </a:r>
            <a:r>
              <a:rPr sz="2400" spc="-30" dirty="0">
                <a:latin typeface="Tahoma"/>
                <a:cs typeface="Tahoma"/>
              </a:rPr>
              <a:t>DIBUAT</a:t>
            </a:r>
            <a:r>
              <a:rPr sz="2400" spc="-10" dirty="0">
                <a:latin typeface="Tahoma"/>
                <a:cs typeface="Tahoma"/>
              </a:rPr>
              <a:t> </a:t>
            </a:r>
            <a:r>
              <a:rPr sz="2400" spc="-5" dirty="0">
                <a:latin typeface="Tahoma"/>
                <a:cs typeface="Tahoma"/>
              </a:rPr>
              <a:t>BARU	lalu</a:t>
            </a:r>
            <a:r>
              <a:rPr sz="2400" spc="15" dirty="0">
                <a:latin typeface="Tahoma"/>
                <a:cs typeface="Tahoma"/>
              </a:rPr>
              <a:t> </a:t>
            </a:r>
            <a:r>
              <a:rPr sz="2400" spc="-5" dirty="0">
                <a:latin typeface="Tahoma"/>
                <a:cs typeface="Tahoma"/>
              </a:rPr>
              <a:t>tentukan </a:t>
            </a:r>
            <a:r>
              <a:rPr sz="2400" dirty="0">
                <a:latin typeface="Tahoma"/>
                <a:cs typeface="Tahoma"/>
              </a:rPr>
              <a:t> </a:t>
            </a:r>
            <a:r>
              <a:rPr sz="2400" spc="-5" dirty="0">
                <a:latin typeface="Tahoma"/>
                <a:cs typeface="Tahoma"/>
              </a:rPr>
              <a:t>ketergantungan</a:t>
            </a:r>
            <a:r>
              <a:rPr sz="2400" spc="-30" dirty="0">
                <a:latin typeface="Tahoma"/>
                <a:cs typeface="Tahoma"/>
              </a:rPr>
              <a:t> </a:t>
            </a:r>
            <a:r>
              <a:rPr sz="2400" spc="-10" dirty="0">
                <a:latin typeface="Tahoma"/>
                <a:cs typeface="Tahoma"/>
              </a:rPr>
              <a:t>atribut</a:t>
            </a:r>
            <a:r>
              <a:rPr sz="2400" spc="20" dirty="0">
                <a:latin typeface="Tahoma"/>
                <a:cs typeface="Tahoma"/>
              </a:rPr>
              <a:t> </a:t>
            </a:r>
            <a:r>
              <a:rPr sz="2400" spc="-10" dirty="0">
                <a:latin typeface="Tahoma"/>
                <a:cs typeface="Tahoma"/>
              </a:rPr>
              <a:t>terhadap</a:t>
            </a:r>
            <a:r>
              <a:rPr sz="2400" spc="5" dirty="0">
                <a:latin typeface="Tahoma"/>
                <a:cs typeface="Tahoma"/>
              </a:rPr>
              <a:t> </a:t>
            </a:r>
            <a:r>
              <a:rPr sz="2400" spc="-5" dirty="0">
                <a:latin typeface="Tahoma"/>
                <a:cs typeface="Tahoma"/>
              </a:rPr>
              <a:t>primary</a:t>
            </a:r>
            <a:r>
              <a:rPr sz="2400" spc="10" dirty="0">
                <a:latin typeface="Tahoma"/>
                <a:cs typeface="Tahoma"/>
              </a:rPr>
              <a:t> </a:t>
            </a:r>
            <a:r>
              <a:rPr sz="2400" spc="-5" dirty="0">
                <a:latin typeface="Tahoma"/>
                <a:cs typeface="Tahoma"/>
              </a:rPr>
              <a:t>key </a:t>
            </a:r>
            <a:r>
              <a:rPr sz="2400" spc="-25" dirty="0">
                <a:latin typeface="Tahoma"/>
                <a:cs typeface="Tahoma"/>
              </a:rPr>
              <a:t>nya</a:t>
            </a:r>
            <a:endParaRPr sz="2400">
              <a:latin typeface="Tahoma"/>
              <a:cs typeface="Tahoma"/>
            </a:endParaRPr>
          </a:p>
          <a:p>
            <a:pPr marL="469900" indent="-457200">
              <a:lnSpc>
                <a:spcPct val="100000"/>
              </a:lnSpc>
              <a:spcBef>
                <a:spcPts val="5"/>
              </a:spcBef>
              <a:buAutoNum type="arabicPeriod" startAt="2"/>
              <a:tabLst>
                <a:tab pos="469265" algn="l"/>
                <a:tab pos="469900" algn="l"/>
              </a:tabLst>
            </a:pPr>
            <a:r>
              <a:rPr sz="2400" spc="-35" dirty="0">
                <a:latin typeface="Tahoma"/>
                <a:cs typeface="Tahoma"/>
              </a:rPr>
              <a:t>Tentukan</a:t>
            </a:r>
            <a:r>
              <a:rPr sz="2400" spc="-30" dirty="0">
                <a:latin typeface="Tahoma"/>
                <a:cs typeface="Tahoma"/>
              </a:rPr>
              <a:t> </a:t>
            </a:r>
            <a:r>
              <a:rPr sz="2400" spc="-5" dirty="0">
                <a:latin typeface="Tahoma"/>
                <a:cs typeface="Tahoma"/>
              </a:rPr>
              <a:t>nama</a:t>
            </a:r>
            <a:r>
              <a:rPr sz="2400" dirty="0">
                <a:latin typeface="Tahoma"/>
                <a:cs typeface="Tahoma"/>
              </a:rPr>
              <a:t> </a:t>
            </a:r>
            <a:r>
              <a:rPr sz="2400" spc="-5" dirty="0">
                <a:latin typeface="Tahoma"/>
                <a:cs typeface="Tahoma"/>
              </a:rPr>
              <a:t>entitas</a:t>
            </a:r>
            <a:r>
              <a:rPr sz="2400" spc="20" dirty="0">
                <a:latin typeface="Tahoma"/>
                <a:cs typeface="Tahoma"/>
              </a:rPr>
              <a:t> </a:t>
            </a:r>
            <a:r>
              <a:rPr sz="2400" spc="-10" dirty="0">
                <a:latin typeface="Tahoma"/>
                <a:cs typeface="Tahoma"/>
              </a:rPr>
              <a:t>dari</a:t>
            </a:r>
            <a:r>
              <a:rPr sz="2400" spc="10" dirty="0">
                <a:latin typeface="Tahoma"/>
                <a:cs typeface="Tahoma"/>
              </a:rPr>
              <a:t> </a:t>
            </a:r>
            <a:r>
              <a:rPr sz="2400" spc="-5" dirty="0">
                <a:latin typeface="Tahoma"/>
                <a:cs typeface="Tahoma"/>
              </a:rPr>
              <a:t>kelompok</a:t>
            </a:r>
            <a:r>
              <a:rPr sz="2400" dirty="0">
                <a:latin typeface="Tahoma"/>
                <a:cs typeface="Tahoma"/>
              </a:rPr>
              <a:t> </a:t>
            </a:r>
            <a:r>
              <a:rPr sz="2400" spc="-10" dirty="0">
                <a:latin typeface="Tahoma"/>
                <a:cs typeface="Tahoma"/>
              </a:rPr>
              <a:t>atribut</a:t>
            </a:r>
            <a:r>
              <a:rPr sz="2400" spc="10" dirty="0">
                <a:latin typeface="Tahoma"/>
                <a:cs typeface="Tahoma"/>
              </a:rPr>
              <a:t> </a:t>
            </a:r>
            <a:r>
              <a:rPr sz="2400" spc="-15" dirty="0">
                <a:latin typeface="Tahoma"/>
                <a:cs typeface="Tahoma"/>
              </a:rPr>
              <a:t>yang</a:t>
            </a:r>
            <a:endParaRPr sz="2400">
              <a:latin typeface="Tahoma"/>
              <a:cs typeface="Tahoma"/>
            </a:endParaRPr>
          </a:p>
          <a:p>
            <a:pPr marL="469900">
              <a:lnSpc>
                <a:spcPct val="100000"/>
              </a:lnSpc>
            </a:pPr>
            <a:r>
              <a:rPr sz="2400" spc="-5" dirty="0">
                <a:latin typeface="Tahoma"/>
                <a:cs typeface="Tahoma"/>
              </a:rPr>
              <a:t>telah</a:t>
            </a:r>
            <a:r>
              <a:rPr sz="2400" spc="-30" dirty="0">
                <a:latin typeface="Tahoma"/>
                <a:cs typeface="Tahoma"/>
              </a:rPr>
              <a:t> </a:t>
            </a:r>
            <a:r>
              <a:rPr sz="2400" spc="-5" dirty="0">
                <a:latin typeface="Tahoma"/>
                <a:cs typeface="Tahoma"/>
              </a:rPr>
              <a:t>bergantung</a:t>
            </a:r>
            <a:r>
              <a:rPr sz="2400" spc="10" dirty="0">
                <a:latin typeface="Tahoma"/>
                <a:cs typeface="Tahoma"/>
              </a:rPr>
              <a:t> </a:t>
            </a:r>
            <a:r>
              <a:rPr sz="2400" spc="-10" dirty="0">
                <a:latin typeface="Tahoma"/>
                <a:cs typeface="Tahoma"/>
              </a:rPr>
              <a:t>terhadap</a:t>
            </a:r>
            <a:r>
              <a:rPr sz="2400" spc="5" dirty="0">
                <a:latin typeface="Tahoma"/>
                <a:cs typeface="Tahoma"/>
              </a:rPr>
              <a:t> </a:t>
            </a:r>
            <a:r>
              <a:rPr sz="2400" spc="-5" dirty="0">
                <a:latin typeface="Tahoma"/>
                <a:cs typeface="Tahoma"/>
              </a:rPr>
              <a:t>primary</a:t>
            </a:r>
            <a:r>
              <a:rPr sz="2400" spc="10" dirty="0">
                <a:latin typeface="Tahoma"/>
                <a:cs typeface="Tahoma"/>
              </a:rPr>
              <a:t> </a:t>
            </a:r>
            <a:r>
              <a:rPr sz="2400" spc="-15" dirty="0">
                <a:latin typeface="Tahoma"/>
                <a:cs typeface="Tahoma"/>
              </a:rPr>
              <a:t>keynya.</a:t>
            </a:r>
            <a:endParaRPr sz="2400">
              <a:latin typeface="Tahoma"/>
              <a:cs typeface="Tahoma"/>
            </a:endParaRPr>
          </a:p>
          <a:p>
            <a:pPr marL="469900" indent="-457200">
              <a:lnSpc>
                <a:spcPct val="100000"/>
              </a:lnSpc>
              <a:buAutoNum type="arabicPeriod" startAt="4"/>
              <a:tabLst>
                <a:tab pos="469265" algn="l"/>
                <a:tab pos="469900" algn="l"/>
              </a:tabLst>
            </a:pPr>
            <a:r>
              <a:rPr sz="2400" spc="-10" dirty="0">
                <a:latin typeface="Tahoma"/>
                <a:cs typeface="Tahoma"/>
              </a:rPr>
              <a:t>Gambarkan</a:t>
            </a:r>
            <a:r>
              <a:rPr sz="2400" spc="10" dirty="0">
                <a:latin typeface="Tahoma"/>
                <a:cs typeface="Tahoma"/>
              </a:rPr>
              <a:t> </a:t>
            </a:r>
            <a:r>
              <a:rPr sz="2400" spc="-5" dirty="0">
                <a:latin typeface="Tahoma"/>
                <a:cs typeface="Tahoma"/>
              </a:rPr>
              <a:t>hubungan</a:t>
            </a:r>
            <a:r>
              <a:rPr sz="2400" spc="10" dirty="0">
                <a:latin typeface="Tahoma"/>
                <a:cs typeface="Tahoma"/>
              </a:rPr>
              <a:t> </a:t>
            </a:r>
            <a:r>
              <a:rPr sz="2400" spc="-5" dirty="0">
                <a:latin typeface="Tahoma"/>
                <a:cs typeface="Tahoma"/>
              </a:rPr>
              <a:t>masing-masing</a:t>
            </a:r>
            <a:r>
              <a:rPr sz="2400" spc="20" dirty="0">
                <a:latin typeface="Tahoma"/>
                <a:cs typeface="Tahoma"/>
              </a:rPr>
              <a:t> </a:t>
            </a:r>
            <a:r>
              <a:rPr sz="2400" spc="-5" dirty="0">
                <a:latin typeface="Tahoma"/>
                <a:cs typeface="Tahoma"/>
              </a:rPr>
              <a:t>entitas</a:t>
            </a:r>
            <a:r>
              <a:rPr sz="2400" spc="30" dirty="0">
                <a:latin typeface="Tahoma"/>
                <a:cs typeface="Tahoma"/>
              </a:rPr>
              <a:t> </a:t>
            </a:r>
            <a:r>
              <a:rPr sz="2400" spc="-5" dirty="0">
                <a:latin typeface="Tahoma"/>
                <a:cs typeface="Tahoma"/>
              </a:rPr>
              <a:t>beserta</a:t>
            </a:r>
            <a:endParaRPr sz="2400">
              <a:latin typeface="Tahoma"/>
              <a:cs typeface="Tahoma"/>
            </a:endParaRPr>
          </a:p>
          <a:p>
            <a:pPr marL="469900">
              <a:lnSpc>
                <a:spcPct val="100000"/>
              </a:lnSpc>
            </a:pPr>
            <a:r>
              <a:rPr sz="2400" spc="-10" dirty="0">
                <a:latin typeface="Tahoma"/>
                <a:cs typeface="Tahoma"/>
              </a:rPr>
              <a:t>atribut</a:t>
            </a:r>
            <a:r>
              <a:rPr sz="2400" spc="-30" dirty="0">
                <a:latin typeface="Tahoma"/>
                <a:cs typeface="Tahoma"/>
              </a:rPr>
              <a:t> </a:t>
            </a:r>
            <a:r>
              <a:rPr sz="2400" dirty="0">
                <a:latin typeface="Tahoma"/>
                <a:cs typeface="Tahoma"/>
              </a:rPr>
              <a:t>–</a:t>
            </a:r>
            <a:r>
              <a:rPr sz="2400" spc="-15" dirty="0">
                <a:latin typeface="Tahoma"/>
                <a:cs typeface="Tahoma"/>
              </a:rPr>
              <a:t> atributnya.</a:t>
            </a:r>
            <a:endParaRPr sz="2400">
              <a:latin typeface="Tahoma"/>
              <a:cs typeface="Tahoma"/>
            </a:endParaRPr>
          </a:p>
          <a:p>
            <a:pPr marL="469900" indent="-457200">
              <a:lnSpc>
                <a:spcPct val="100000"/>
              </a:lnSpc>
              <a:spcBef>
                <a:spcPts val="5"/>
              </a:spcBef>
              <a:buAutoNum type="arabicPeriod" startAt="5"/>
              <a:tabLst>
                <a:tab pos="469265" algn="l"/>
                <a:tab pos="469900" algn="l"/>
              </a:tabLst>
            </a:pPr>
            <a:r>
              <a:rPr sz="2400" spc="-35" dirty="0">
                <a:latin typeface="Tahoma"/>
                <a:cs typeface="Tahoma"/>
              </a:rPr>
              <a:t>Tentukan</a:t>
            </a:r>
            <a:r>
              <a:rPr sz="2400" spc="-15" dirty="0">
                <a:latin typeface="Tahoma"/>
                <a:cs typeface="Tahoma"/>
              </a:rPr>
              <a:t> </a:t>
            </a:r>
            <a:r>
              <a:rPr sz="2400" spc="-10" dirty="0">
                <a:latin typeface="Tahoma"/>
                <a:cs typeface="Tahoma"/>
              </a:rPr>
              <a:t>Cardinality/tingkat</a:t>
            </a:r>
            <a:r>
              <a:rPr sz="2400" spc="35" dirty="0">
                <a:latin typeface="Tahoma"/>
                <a:cs typeface="Tahoma"/>
              </a:rPr>
              <a:t> </a:t>
            </a:r>
            <a:r>
              <a:rPr sz="2400" spc="-5" dirty="0">
                <a:latin typeface="Tahoma"/>
                <a:cs typeface="Tahoma"/>
              </a:rPr>
              <a:t>hubungan</a:t>
            </a:r>
            <a:r>
              <a:rPr sz="2400" spc="10" dirty="0">
                <a:latin typeface="Tahoma"/>
                <a:cs typeface="Tahoma"/>
              </a:rPr>
              <a:t> </a:t>
            </a:r>
            <a:r>
              <a:rPr sz="2400" spc="-10" dirty="0">
                <a:latin typeface="Tahoma"/>
                <a:cs typeface="Tahoma"/>
              </a:rPr>
              <a:t>dari</a:t>
            </a:r>
            <a:r>
              <a:rPr sz="2400" spc="25" dirty="0">
                <a:latin typeface="Tahoma"/>
                <a:cs typeface="Tahoma"/>
              </a:rPr>
              <a:t> </a:t>
            </a:r>
            <a:r>
              <a:rPr sz="2400" dirty="0">
                <a:latin typeface="Tahoma"/>
                <a:cs typeface="Tahoma"/>
              </a:rPr>
              <a:t>masing-</a:t>
            </a:r>
            <a:endParaRPr sz="2400">
              <a:latin typeface="Tahoma"/>
              <a:cs typeface="Tahoma"/>
            </a:endParaRPr>
          </a:p>
          <a:p>
            <a:pPr marL="469900">
              <a:lnSpc>
                <a:spcPct val="100000"/>
              </a:lnSpc>
            </a:pPr>
            <a:r>
              <a:rPr sz="2400" spc="-5" dirty="0">
                <a:latin typeface="Tahoma"/>
                <a:cs typeface="Tahoma"/>
              </a:rPr>
              <a:t>masing</a:t>
            </a:r>
            <a:r>
              <a:rPr sz="2400" spc="-35" dirty="0">
                <a:latin typeface="Tahoma"/>
                <a:cs typeface="Tahoma"/>
              </a:rPr>
              <a:t> </a:t>
            </a:r>
            <a:r>
              <a:rPr sz="2400" spc="-10" dirty="0">
                <a:latin typeface="Tahoma"/>
                <a:cs typeface="Tahoma"/>
              </a:rPr>
              <a:t>Entitas</a:t>
            </a:r>
            <a:r>
              <a:rPr sz="2400" spc="40" dirty="0">
                <a:latin typeface="Tahoma"/>
                <a:cs typeface="Tahoma"/>
              </a:rPr>
              <a:t> </a:t>
            </a:r>
            <a:r>
              <a:rPr sz="2400" spc="-15" dirty="0">
                <a:latin typeface="Tahoma"/>
                <a:cs typeface="Tahoma"/>
              </a:rPr>
              <a:t>yang</a:t>
            </a:r>
            <a:r>
              <a:rPr sz="2400" spc="10" dirty="0">
                <a:latin typeface="Tahoma"/>
                <a:cs typeface="Tahoma"/>
              </a:rPr>
              <a:t> </a:t>
            </a:r>
            <a:r>
              <a:rPr sz="2400" spc="-5" dirty="0">
                <a:latin typeface="Tahoma"/>
                <a:cs typeface="Tahoma"/>
              </a:rPr>
              <a:t>telah terhubung.</a:t>
            </a:r>
            <a:endParaRPr sz="2400">
              <a:latin typeface="Tahoma"/>
              <a:cs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252425"/>
            <a:ext cx="8268970" cy="881380"/>
          </a:xfrm>
          <a:prstGeom prst="rect">
            <a:avLst/>
          </a:prstGeom>
        </p:spPr>
        <p:txBody>
          <a:bodyPr vert="horz" wrap="square" lIns="0" tIns="13970" rIns="0" bIns="0" rtlCol="0">
            <a:spAutoFit/>
          </a:bodyPr>
          <a:lstStyle/>
          <a:p>
            <a:pPr marL="12700" marR="5080">
              <a:lnSpc>
                <a:spcPct val="100000"/>
              </a:lnSpc>
              <a:spcBef>
                <a:spcPts val="110"/>
              </a:spcBef>
            </a:pPr>
            <a:r>
              <a:rPr sz="2800" spc="5" dirty="0">
                <a:solidFill>
                  <a:srgbClr val="04607A"/>
                </a:solidFill>
                <a:latin typeface="Calibri"/>
                <a:cs typeface="Calibri"/>
              </a:rPr>
              <a:t>MENGGUNAKAN</a:t>
            </a:r>
            <a:r>
              <a:rPr sz="2800" spc="-10" dirty="0">
                <a:solidFill>
                  <a:srgbClr val="04607A"/>
                </a:solidFill>
                <a:latin typeface="Calibri"/>
                <a:cs typeface="Calibri"/>
              </a:rPr>
              <a:t> </a:t>
            </a:r>
            <a:r>
              <a:rPr sz="2800" spc="-5" dirty="0">
                <a:solidFill>
                  <a:srgbClr val="04607A"/>
                </a:solidFill>
                <a:latin typeface="Calibri"/>
                <a:cs typeface="Calibri"/>
              </a:rPr>
              <a:t>BASIS</a:t>
            </a:r>
            <a:r>
              <a:rPr sz="2800" spc="-75" dirty="0">
                <a:solidFill>
                  <a:srgbClr val="04607A"/>
                </a:solidFill>
                <a:latin typeface="Calibri"/>
                <a:cs typeface="Calibri"/>
              </a:rPr>
              <a:t> </a:t>
            </a:r>
            <a:r>
              <a:rPr sz="2800" spc="-114" dirty="0">
                <a:solidFill>
                  <a:srgbClr val="04607A"/>
                </a:solidFill>
                <a:latin typeface="Calibri"/>
                <a:cs typeface="Calibri"/>
              </a:rPr>
              <a:t>DATA</a:t>
            </a:r>
            <a:r>
              <a:rPr sz="2800" spc="-25" dirty="0">
                <a:solidFill>
                  <a:srgbClr val="04607A"/>
                </a:solidFill>
                <a:latin typeface="Calibri"/>
                <a:cs typeface="Calibri"/>
              </a:rPr>
              <a:t> </a:t>
            </a:r>
            <a:r>
              <a:rPr sz="2800" spc="5" dirty="0">
                <a:solidFill>
                  <a:srgbClr val="04607A"/>
                </a:solidFill>
                <a:latin typeface="Calibri"/>
                <a:cs typeface="Calibri"/>
              </a:rPr>
              <a:t>UNTUK</a:t>
            </a:r>
            <a:r>
              <a:rPr sz="2800" dirty="0">
                <a:solidFill>
                  <a:srgbClr val="04607A"/>
                </a:solidFill>
                <a:latin typeface="Calibri"/>
                <a:cs typeface="Calibri"/>
              </a:rPr>
              <a:t> </a:t>
            </a:r>
            <a:r>
              <a:rPr sz="2800" spc="-15" dirty="0">
                <a:solidFill>
                  <a:srgbClr val="04607A"/>
                </a:solidFill>
                <a:latin typeface="Calibri"/>
                <a:cs typeface="Calibri"/>
              </a:rPr>
              <a:t>MENINGKATKAN </a:t>
            </a:r>
            <a:r>
              <a:rPr sz="2800" spc="-10" dirty="0">
                <a:solidFill>
                  <a:srgbClr val="04607A"/>
                </a:solidFill>
                <a:latin typeface="Calibri"/>
                <a:cs typeface="Calibri"/>
              </a:rPr>
              <a:t> </a:t>
            </a:r>
            <a:r>
              <a:rPr sz="2800" spc="-5" dirty="0">
                <a:solidFill>
                  <a:srgbClr val="04607A"/>
                </a:solidFill>
                <a:latin typeface="Calibri"/>
                <a:cs typeface="Calibri"/>
              </a:rPr>
              <a:t>KINERJA</a:t>
            </a:r>
            <a:r>
              <a:rPr sz="2800" spc="-45" dirty="0">
                <a:solidFill>
                  <a:srgbClr val="04607A"/>
                </a:solidFill>
                <a:latin typeface="Calibri"/>
                <a:cs typeface="Calibri"/>
              </a:rPr>
              <a:t> </a:t>
            </a:r>
            <a:r>
              <a:rPr sz="2800" dirty="0">
                <a:solidFill>
                  <a:srgbClr val="04607A"/>
                </a:solidFill>
                <a:latin typeface="Calibri"/>
                <a:cs typeface="Calibri"/>
              </a:rPr>
              <a:t>BISNIS</a:t>
            </a:r>
            <a:r>
              <a:rPr sz="2800" spc="-25" dirty="0">
                <a:solidFill>
                  <a:srgbClr val="04607A"/>
                </a:solidFill>
                <a:latin typeface="Calibri"/>
                <a:cs typeface="Calibri"/>
              </a:rPr>
              <a:t> </a:t>
            </a:r>
            <a:r>
              <a:rPr sz="2800" spc="-15" dirty="0">
                <a:solidFill>
                  <a:srgbClr val="04607A"/>
                </a:solidFill>
                <a:latin typeface="Calibri"/>
                <a:cs typeface="Calibri"/>
              </a:rPr>
              <a:t>DAN</a:t>
            </a:r>
            <a:r>
              <a:rPr sz="2800" spc="10" dirty="0">
                <a:solidFill>
                  <a:srgbClr val="04607A"/>
                </a:solidFill>
                <a:latin typeface="Calibri"/>
                <a:cs typeface="Calibri"/>
              </a:rPr>
              <a:t> </a:t>
            </a:r>
            <a:r>
              <a:rPr sz="2800" spc="-10" dirty="0">
                <a:solidFill>
                  <a:srgbClr val="04607A"/>
                </a:solidFill>
                <a:latin typeface="Calibri"/>
                <a:cs typeface="Calibri"/>
              </a:rPr>
              <a:t>PROSES</a:t>
            </a:r>
            <a:r>
              <a:rPr sz="2800" spc="-20" dirty="0">
                <a:solidFill>
                  <a:srgbClr val="04607A"/>
                </a:solidFill>
                <a:latin typeface="Calibri"/>
                <a:cs typeface="Calibri"/>
              </a:rPr>
              <a:t> </a:t>
            </a:r>
            <a:r>
              <a:rPr sz="2800" dirty="0">
                <a:solidFill>
                  <a:srgbClr val="04607A"/>
                </a:solidFill>
                <a:latin typeface="Calibri"/>
                <a:cs typeface="Calibri"/>
              </a:rPr>
              <a:t>PENGAMBILAN</a:t>
            </a:r>
            <a:r>
              <a:rPr sz="2800" spc="-15" dirty="0">
                <a:solidFill>
                  <a:srgbClr val="04607A"/>
                </a:solidFill>
                <a:latin typeface="Calibri"/>
                <a:cs typeface="Calibri"/>
              </a:rPr>
              <a:t> </a:t>
            </a:r>
            <a:r>
              <a:rPr sz="2800" dirty="0">
                <a:solidFill>
                  <a:srgbClr val="04607A"/>
                </a:solidFill>
                <a:latin typeface="Calibri"/>
                <a:cs typeface="Calibri"/>
              </a:rPr>
              <a:t>KEPUTUSAN</a:t>
            </a:r>
            <a:endParaRPr sz="2800">
              <a:latin typeface="Calibri"/>
              <a:cs typeface="Calibri"/>
            </a:endParaRPr>
          </a:p>
        </p:txBody>
      </p:sp>
      <p:sp>
        <p:nvSpPr>
          <p:cNvPr id="3" name="object 3"/>
          <p:cNvSpPr txBox="1"/>
          <p:nvPr/>
        </p:nvSpPr>
        <p:spPr>
          <a:xfrm>
            <a:off x="460044" y="1386916"/>
            <a:ext cx="8207375" cy="3904615"/>
          </a:xfrm>
          <a:prstGeom prst="rect">
            <a:avLst/>
          </a:prstGeom>
        </p:spPr>
        <p:txBody>
          <a:bodyPr vert="horz" wrap="square" lIns="0" tIns="12700" rIns="0" bIns="0" rtlCol="0">
            <a:spAutoFit/>
          </a:bodyPr>
          <a:lstStyle/>
          <a:p>
            <a:pPr marL="287020" marR="190500" indent="-274320">
              <a:lnSpc>
                <a:spcPct val="100000"/>
              </a:lnSpc>
              <a:spcBef>
                <a:spcPts val="100"/>
              </a:spcBef>
              <a:buClr>
                <a:srgbClr val="0AD0D9"/>
              </a:buClr>
              <a:buSzPct val="93750"/>
              <a:buFont typeface="Segoe UI Symbol"/>
              <a:buChar char="⚫"/>
              <a:tabLst>
                <a:tab pos="287020" algn="l"/>
              </a:tabLst>
            </a:pPr>
            <a:r>
              <a:rPr sz="2400" spc="-10" dirty="0">
                <a:latin typeface="Constantia"/>
                <a:cs typeface="Constantia"/>
              </a:rPr>
              <a:t>Perusahaan </a:t>
            </a:r>
            <a:r>
              <a:rPr sz="2400" spc="-5" dirty="0">
                <a:latin typeface="Constantia"/>
                <a:cs typeface="Constantia"/>
              </a:rPr>
              <a:t>menggunakan </a:t>
            </a:r>
            <a:r>
              <a:rPr sz="2400" spc="-10" dirty="0">
                <a:latin typeface="Constantia"/>
                <a:cs typeface="Constantia"/>
              </a:rPr>
              <a:t>basis </a:t>
            </a:r>
            <a:r>
              <a:rPr sz="2400" spc="-5" dirty="0">
                <a:latin typeface="Constantia"/>
                <a:cs typeface="Constantia"/>
              </a:rPr>
              <a:t>data untuk melacak </a:t>
            </a:r>
            <a:r>
              <a:rPr sz="2400" dirty="0">
                <a:latin typeface="Constantia"/>
                <a:cs typeface="Constantia"/>
              </a:rPr>
              <a:t> </a:t>
            </a:r>
            <a:r>
              <a:rPr sz="2400" spc="-5" dirty="0">
                <a:latin typeface="Constantia"/>
                <a:cs typeface="Constantia"/>
              </a:rPr>
              <a:t>t</a:t>
            </a:r>
            <a:r>
              <a:rPr sz="2400" spc="-65" dirty="0">
                <a:latin typeface="Constantia"/>
                <a:cs typeface="Constantia"/>
              </a:rPr>
              <a:t>r</a:t>
            </a:r>
            <a:r>
              <a:rPr sz="2400" dirty="0">
                <a:latin typeface="Constantia"/>
                <a:cs typeface="Constantia"/>
              </a:rPr>
              <a:t>an</a:t>
            </a:r>
            <a:r>
              <a:rPr sz="2400" spc="-20" dirty="0">
                <a:latin typeface="Constantia"/>
                <a:cs typeface="Constantia"/>
              </a:rPr>
              <a:t>s</a:t>
            </a:r>
            <a:r>
              <a:rPr sz="2400" dirty="0">
                <a:latin typeface="Constantia"/>
                <a:cs typeface="Constantia"/>
              </a:rPr>
              <a:t>a</a:t>
            </a:r>
            <a:r>
              <a:rPr sz="2400" spc="-15" dirty="0">
                <a:latin typeface="Constantia"/>
                <a:cs typeface="Constantia"/>
              </a:rPr>
              <a:t>ks</a:t>
            </a:r>
            <a:r>
              <a:rPr sz="2400" dirty="0">
                <a:latin typeface="Constantia"/>
                <a:cs typeface="Constantia"/>
              </a:rPr>
              <a:t>i</a:t>
            </a:r>
            <a:r>
              <a:rPr sz="2400" spc="-15" dirty="0">
                <a:latin typeface="Constantia"/>
                <a:cs typeface="Constantia"/>
              </a:rPr>
              <a:t> </a:t>
            </a:r>
            <a:r>
              <a:rPr sz="2400" dirty="0">
                <a:latin typeface="Constantia"/>
                <a:cs typeface="Constantia"/>
              </a:rPr>
              <a:t>da</a:t>
            </a:r>
            <a:r>
              <a:rPr sz="2400" spc="-15" dirty="0">
                <a:latin typeface="Constantia"/>
                <a:cs typeface="Constantia"/>
              </a:rPr>
              <a:t>s</a:t>
            </a:r>
            <a:r>
              <a:rPr sz="2400" dirty="0">
                <a:latin typeface="Constantia"/>
                <a:cs typeface="Constantia"/>
              </a:rPr>
              <a:t>ar</a:t>
            </a:r>
            <a:r>
              <a:rPr sz="2400" spc="-130" dirty="0">
                <a:latin typeface="Constantia"/>
                <a:cs typeface="Constantia"/>
              </a:rPr>
              <a:t> </a:t>
            </a:r>
            <a:r>
              <a:rPr sz="2400" spc="-15" dirty="0">
                <a:latin typeface="Constantia"/>
                <a:cs typeface="Constantia"/>
              </a:rPr>
              <a:t>s</a:t>
            </a:r>
            <a:r>
              <a:rPr sz="2400" dirty="0">
                <a:latin typeface="Constantia"/>
                <a:cs typeface="Constantia"/>
              </a:rPr>
              <a:t>eper</a:t>
            </a:r>
            <a:r>
              <a:rPr sz="2400" spc="-10" dirty="0">
                <a:latin typeface="Constantia"/>
                <a:cs typeface="Constantia"/>
              </a:rPr>
              <a:t>t</a:t>
            </a:r>
            <a:r>
              <a:rPr sz="2400" dirty="0">
                <a:latin typeface="Constantia"/>
                <a:cs typeface="Constantia"/>
              </a:rPr>
              <a:t>i</a:t>
            </a:r>
            <a:r>
              <a:rPr sz="2400" spc="35" dirty="0">
                <a:latin typeface="Constantia"/>
                <a:cs typeface="Constantia"/>
              </a:rPr>
              <a:t> </a:t>
            </a:r>
            <a:r>
              <a:rPr sz="2400" spc="5" dirty="0">
                <a:latin typeface="Constantia"/>
                <a:cs typeface="Constantia"/>
              </a:rPr>
              <a:t>m</a:t>
            </a:r>
            <a:r>
              <a:rPr sz="2400" dirty="0">
                <a:latin typeface="Constantia"/>
                <a:cs typeface="Constantia"/>
              </a:rPr>
              <a:t>e</a:t>
            </a:r>
            <a:r>
              <a:rPr sz="2400" spc="5" dirty="0">
                <a:latin typeface="Constantia"/>
                <a:cs typeface="Constantia"/>
              </a:rPr>
              <a:t>m</a:t>
            </a:r>
            <a:r>
              <a:rPr sz="2400" dirty="0">
                <a:latin typeface="Constantia"/>
                <a:cs typeface="Constantia"/>
              </a:rPr>
              <a:t>b</a:t>
            </a:r>
            <a:r>
              <a:rPr sz="2400" spc="-50" dirty="0">
                <a:latin typeface="Constantia"/>
                <a:cs typeface="Constantia"/>
              </a:rPr>
              <a:t>a</a:t>
            </a:r>
            <a:r>
              <a:rPr sz="2400" spc="-30" dirty="0">
                <a:latin typeface="Constantia"/>
                <a:cs typeface="Constantia"/>
              </a:rPr>
              <a:t>y</a:t>
            </a:r>
            <a:r>
              <a:rPr sz="2400" dirty="0">
                <a:latin typeface="Constantia"/>
                <a:cs typeface="Constantia"/>
              </a:rPr>
              <a:t>ar</a:t>
            </a:r>
            <a:r>
              <a:rPr sz="2400" spc="-155" dirty="0">
                <a:latin typeface="Constantia"/>
                <a:cs typeface="Constantia"/>
              </a:rPr>
              <a:t> </a:t>
            </a:r>
            <a:r>
              <a:rPr sz="2400" dirty="0">
                <a:latin typeface="Constantia"/>
                <a:cs typeface="Constantia"/>
              </a:rPr>
              <a:t>pe</a:t>
            </a:r>
            <a:r>
              <a:rPr sz="2400" spc="10" dirty="0">
                <a:latin typeface="Constantia"/>
                <a:cs typeface="Constantia"/>
              </a:rPr>
              <a:t>m</a:t>
            </a:r>
            <a:r>
              <a:rPr sz="2400" dirty="0">
                <a:latin typeface="Constantia"/>
                <a:cs typeface="Constantia"/>
              </a:rPr>
              <a:t>a</a:t>
            </a:r>
            <a:r>
              <a:rPr sz="2400" spc="-15" dirty="0">
                <a:latin typeface="Constantia"/>
                <a:cs typeface="Constantia"/>
              </a:rPr>
              <a:t>s</a:t>
            </a:r>
            <a:r>
              <a:rPr sz="2400" dirty="0">
                <a:latin typeface="Constantia"/>
                <a:cs typeface="Constantia"/>
              </a:rPr>
              <a:t>o</a:t>
            </a:r>
            <a:r>
              <a:rPr sz="2400" spc="-15" dirty="0">
                <a:latin typeface="Constantia"/>
                <a:cs typeface="Constantia"/>
              </a:rPr>
              <a:t>k</a:t>
            </a:r>
            <a:r>
              <a:rPr sz="2400" dirty="0">
                <a:latin typeface="Constantia"/>
                <a:cs typeface="Constantia"/>
              </a:rPr>
              <a:t>,</a:t>
            </a:r>
            <a:r>
              <a:rPr sz="2400" spc="5" dirty="0">
                <a:latin typeface="Constantia"/>
                <a:cs typeface="Constantia"/>
              </a:rPr>
              <a:t> </a:t>
            </a:r>
            <a:r>
              <a:rPr sz="2400" dirty="0">
                <a:latin typeface="Constantia"/>
                <a:cs typeface="Constantia"/>
              </a:rPr>
              <a:t>me</a:t>
            </a:r>
            <a:r>
              <a:rPr sz="2400" spc="5" dirty="0">
                <a:latin typeface="Constantia"/>
                <a:cs typeface="Constantia"/>
              </a:rPr>
              <a:t>m</a:t>
            </a:r>
            <a:r>
              <a:rPr sz="2400" dirty="0">
                <a:latin typeface="Constantia"/>
                <a:cs typeface="Constantia"/>
              </a:rPr>
              <a:t>p</a:t>
            </a:r>
            <a:r>
              <a:rPr sz="2400" spc="-35" dirty="0">
                <a:latin typeface="Constantia"/>
                <a:cs typeface="Constantia"/>
              </a:rPr>
              <a:t>r</a:t>
            </a:r>
            <a:r>
              <a:rPr sz="2400" dirty="0">
                <a:latin typeface="Constantia"/>
                <a:cs typeface="Constantia"/>
              </a:rPr>
              <a:t>o</a:t>
            </a:r>
            <a:r>
              <a:rPr sz="2400" spc="-15" dirty="0">
                <a:latin typeface="Constantia"/>
                <a:cs typeface="Constantia"/>
              </a:rPr>
              <a:t>s</a:t>
            </a:r>
            <a:r>
              <a:rPr sz="2400" dirty="0">
                <a:latin typeface="Constantia"/>
                <a:cs typeface="Constantia"/>
              </a:rPr>
              <a:t>es  pe</a:t>
            </a:r>
            <a:r>
              <a:rPr sz="2400" spc="-15" dirty="0">
                <a:latin typeface="Constantia"/>
                <a:cs typeface="Constantia"/>
              </a:rPr>
              <a:t>s</a:t>
            </a:r>
            <a:r>
              <a:rPr sz="2400" dirty="0">
                <a:latin typeface="Constantia"/>
                <a:cs typeface="Constantia"/>
              </a:rPr>
              <a:t>a</a:t>
            </a:r>
            <a:r>
              <a:rPr sz="2400" spc="-10" dirty="0">
                <a:latin typeface="Constantia"/>
                <a:cs typeface="Constantia"/>
              </a:rPr>
              <a:t>n</a:t>
            </a:r>
            <a:r>
              <a:rPr sz="2400" dirty="0">
                <a:latin typeface="Constantia"/>
                <a:cs typeface="Constantia"/>
              </a:rPr>
              <a:t>a</a:t>
            </a:r>
            <a:r>
              <a:rPr sz="2400" spc="-10" dirty="0">
                <a:latin typeface="Constantia"/>
                <a:cs typeface="Constantia"/>
              </a:rPr>
              <a:t>n</a:t>
            </a:r>
            <a:r>
              <a:rPr sz="2400" dirty="0">
                <a:latin typeface="Constantia"/>
                <a:cs typeface="Constantia"/>
              </a:rPr>
              <a:t>,</a:t>
            </a:r>
            <a:r>
              <a:rPr sz="2400" spc="-20" dirty="0">
                <a:latin typeface="Constantia"/>
                <a:cs typeface="Constantia"/>
              </a:rPr>
              <a:t> </a:t>
            </a:r>
            <a:r>
              <a:rPr sz="2400" dirty="0">
                <a:latin typeface="Constantia"/>
                <a:cs typeface="Constantia"/>
              </a:rPr>
              <a:t>melac</a:t>
            </a:r>
            <a:r>
              <a:rPr sz="2400" spc="-10" dirty="0">
                <a:latin typeface="Constantia"/>
                <a:cs typeface="Constantia"/>
              </a:rPr>
              <a:t>a</a:t>
            </a:r>
            <a:r>
              <a:rPr sz="2400" dirty="0">
                <a:latin typeface="Constantia"/>
                <a:cs typeface="Constantia"/>
              </a:rPr>
              <a:t>k</a:t>
            </a:r>
            <a:r>
              <a:rPr sz="2400" spc="-65" dirty="0">
                <a:latin typeface="Constantia"/>
                <a:cs typeface="Constantia"/>
              </a:rPr>
              <a:t> </a:t>
            </a:r>
            <a:r>
              <a:rPr sz="2400" dirty="0">
                <a:latin typeface="Constantia"/>
                <a:cs typeface="Constantia"/>
              </a:rPr>
              <a:t>pela</a:t>
            </a:r>
            <a:r>
              <a:rPr sz="2400" spc="-10" dirty="0">
                <a:latin typeface="Constantia"/>
                <a:cs typeface="Constantia"/>
              </a:rPr>
              <a:t>n</a:t>
            </a:r>
            <a:r>
              <a:rPr sz="2400" dirty="0">
                <a:latin typeface="Constantia"/>
                <a:cs typeface="Constantia"/>
              </a:rPr>
              <a:t>ggan,</a:t>
            </a:r>
            <a:r>
              <a:rPr sz="2400" spc="-45" dirty="0">
                <a:latin typeface="Constantia"/>
                <a:cs typeface="Constantia"/>
              </a:rPr>
              <a:t> </a:t>
            </a:r>
            <a:r>
              <a:rPr sz="2400" spc="-5" dirty="0">
                <a:latin typeface="Constantia"/>
                <a:cs typeface="Constantia"/>
              </a:rPr>
              <a:t>da</a:t>
            </a:r>
            <a:r>
              <a:rPr sz="2400" dirty="0">
                <a:latin typeface="Constantia"/>
                <a:cs typeface="Constantia"/>
              </a:rPr>
              <a:t>n</a:t>
            </a:r>
            <a:r>
              <a:rPr sz="2400" spc="-55" dirty="0">
                <a:latin typeface="Constantia"/>
                <a:cs typeface="Constantia"/>
              </a:rPr>
              <a:t> </a:t>
            </a:r>
            <a:r>
              <a:rPr sz="2400" dirty="0">
                <a:latin typeface="Constantia"/>
                <a:cs typeface="Constantia"/>
              </a:rPr>
              <a:t>me</a:t>
            </a:r>
            <a:r>
              <a:rPr sz="2400" spc="5" dirty="0">
                <a:latin typeface="Constantia"/>
                <a:cs typeface="Constantia"/>
              </a:rPr>
              <a:t>m</a:t>
            </a:r>
            <a:r>
              <a:rPr sz="2400" spc="-5" dirty="0">
                <a:latin typeface="Constantia"/>
                <a:cs typeface="Constantia"/>
              </a:rPr>
              <a:t>b</a:t>
            </a:r>
            <a:r>
              <a:rPr sz="2400" spc="-45" dirty="0">
                <a:latin typeface="Constantia"/>
                <a:cs typeface="Constantia"/>
              </a:rPr>
              <a:t>a</a:t>
            </a:r>
            <a:r>
              <a:rPr sz="2400" spc="-30" dirty="0">
                <a:latin typeface="Constantia"/>
                <a:cs typeface="Constantia"/>
              </a:rPr>
              <a:t>y</a:t>
            </a:r>
            <a:r>
              <a:rPr sz="2400" dirty="0">
                <a:latin typeface="Constantia"/>
                <a:cs typeface="Constantia"/>
              </a:rPr>
              <a:t>ar</a:t>
            </a:r>
            <a:r>
              <a:rPr sz="2400" spc="-180" dirty="0">
                <a:latin typeface="Constantia"/>
                <a:cs typeface="Constantia"/>
              </a:rPr>
              <a:t> </a:t>
            </a:r>
            <a:r>
              <a:rPr sz="2400" dirty="0">
                <a:latin typeface="Constantia"/>
                <a:cs typeface="Constantia"/>
              </a:rPr>
              <a:t>ga</a:t>
            </a:r>
            <a:r>
              <a:rPr sz="2400" spc="10" dirty="0">
                <a:latin typeface="Constantia"/>
                <a:cs typeface="Constantia"/>
              </a:rPr>
              <a:t>j</a:t>
            </a:r>
            <a:r>
              <a:rPr sz="2400" dirty="0">
                <a:latin typeface="Constantia"/>
                <a:cs typeface="Constantia"/>
              </a:rPr>
              <a:t>i</a:t>
            </a:r>
            <a:r>
              <a:rPr sz="2400" spc="-10" dirty="0">
                <a:latin typeface="Constantia"/>
                <a:cs typeface="Constantia"/>
              </a:rPr>
              <a:t> </a:t>
            </a:r>
            <a:r>
              <a:rPr sz="2400" spc="-20" dirty="0">
                <a:latin typeface="Constantia"/>
                <a:cs typeface="Constantia"/>
              </a:rPr>
              <a:t>k</a:t>
            </a:r>
            <a:r>
              <a:rPr sz="2400" dirty="0">
                <a:latin typeface="Constantia"/>
                <a:cs typeface="Constantia"/>
              </a:rPr>
              <a:t>a</a:t>
            </a:r>
            <a:r>
              <a:rPr sz="2400" spc="10" dirty="0">
                <a:latin typeface="Constantia"/>
                <a:cs typeface="Constantia"/>
              </a:rPr>
              <a:t>r</a:t>
            </a:r>
            <a:r>
              <a:rPr sz="2400" spc="-30" dirty="0">
                <a:latin typeface="Constantia"/>
                <a:cs typeface="Constantia"/>
              </a:rPr>
              <a:t>y</a:t>
            </a:r>
            <a:r>
              <a:rPr sz="2400" spc="-50" dirty="0">
                <a:latin typeface="Constantia"/>
                <a:cs typeface="Constantia"/>
              </a:rPr>
              <a:t>a</a:t>
            </a:r>
            <a:r>
              <a:rPr sz="2400" spc="-35" dirty="0">
                <a:latin typeface="Constantia"/>
                <a:cs typeface="Constantia"/>
              </a:rPr>
              <a:t>w</a:t>
            </a:r>
            <a:r>
              <a:rPr sz="2400" dirty="0">
                <a:latin typeface="Constantia"/>
                <a:cs typeface="Constantia"/>
              </a:rPr>
              <a:t>an</a:t>
            </a:r>
            <a:endParaRPr sz="2400">
              <a:latin typeface="Constantia"/>
              <a:cs typeface="Constantia"/>
            </a:endParaRPr>
          </a:p>
          <a:p>
            <a:pPr marL="287020" marR="324485" indent="-274320">
              <a:lnSpc>
                <a:spcPct val="100000"/>
              </a:lnSpc>
              <a:spcBef>
                <a:spcPts val="580"/>
              </a:spcBef>
              <a:buClr>
                <a:srgbClr val="0AD0D9"/>
              </a:buClr>
              <a:buSzPct val="93750"/>
              <a:buFont typeface="Segoe UI Symbol"/>
              <a:buChar char="⚫"/>
              <a:tabLst>
                <a:tab pos="287020" algn="l"/>
              </a:tabLst>
            </a:pPr>
            <a:r>
              <a:rPr sz="2400" spc="-10" dirty="0">
                <a:latin typeface="Constantia"/>
                <a:cs typeface="Constantia"/>
              </a:rPr>
              <a:t>Perusahaan </a:t>
            </a:r>
            <a:r>
              <a:rPr sz="2400" spc="-5" dirty="0">
                <a:latin typeface="Constantia"/>
                <a:cs typeface="Constantia"/>
              </a:rPr>
              <a:t>juga membutuhkan basis </a:t>
            </a:r>
            <a:r>
              <a:rPr sz="2400" dirty="0">
                <a:latin typeface="Constantia"/>
                <a:cs typeface="Constantia"/>
              </a:rPr>
              <a:t>data </a:t>
            </a:r>
            <a:r>
              <a:rPr sz="2400" spc="-10" dirty="0">
                <a:latin typeface="Constantia"/>
                <a:cs typeface="Constantia"/>
              </a:rPr>
              <a:t>untuk </a:t>
            </a:r>
            <a:r>
              <a:rPr sz="2400" spc="-5" dirty="0">
                <a:latin typeface="Constantia"/>
                <a:cs typeface="Constantia"/>
              </a:rPr>
              <a:t> </a:t>
            </a:r>
            <a:r>
              <a:rPr sz="2400" spc="-10" dirty="0">
                <a:latin typeface="Constantia"/>
                <a:cs typeface="Constantia"/>
              </a:rPr>
              <a:t>menyediakan</a:t>
            </a:r>
            <a:r>
              <a:rPr sz="2400" spc="-85" dirty="0">
                <a:latin typeface="Constantia"/>
                <a:cs typeface="Constantia"/>
              </a:rPr>
              <a:t> </a:t>
            </a:r>
            <a:r>
              <a:rPr sz="2400" spc="-10" dirty="0">
                <a:latin typeface="Constantia"/>
                <a:cs typeface="Constantia"/>
              </a:rPr>
              <a:t>informasi</a:t>
            </a:r>
            <a:r>
              <a:rPr sz="2400" spc="-55" dirty="0">
                <a:latin typeface="Constantia"/>
                <a:cs typeface="Constantia"/>
              </a:rPr>
              <a:t> </a:t>
            </a:r>
            <a:r>
              <a:rPr sz="2400" spc="-10" dirty="0">
                <a:latin typeface="Constantia"/>
                <a:cs typeface="Constantia"/>
              </a:rPr>
              <a:t>yang</a:t>
            </a:r>
            <a:r>
              <a:rPr sz="2400" spc="-50" dirty="0">
                <a:latin typeface="Constantia"/>
                <a:cs typeface="Constantia"/>
              </a:rPr>
              <a:t> </a:t>
            </a:r>
            <a:r>
              <a:rPr sz="2400" spc="-5" dirty="0">
                <a:latin typeface="Constantia"/>
                <a:cs typeface="Constantia"/>
              </a:rPr>
              <a:t>akan</a:t>
            </a:r>
            <a:r>
              <a:rPr sz="2400" spc="-30" dirty="0">
                <a:latin typeface="Constantia"/>
                <a:cs typeface="Constantia"/>
              </a:rPr>
              <a:t> </a:t>
            </a:r>
            <a:r>
              <a:rPr sz="2400" spc="-5" dirty="0">
                <a:latin typeface="Constantia"/>
                <a:cs typeface="Constantia"/>
              </a:rPr>
              <a:t>membantu</a:t>
            </a:r>
            <a:r>
              <a:rPr sz="2400" spc="-70" dirty="0">
                <a:latin typeface="Constantia"/>
                <a:cs typeface="Constantia"/>
              </a:rPr>
              <a:t> </a:t>
            </a:r>
            <a:r>
              <a:rPr sz="2400" spc="-5" dirty="0">
                <a:latin typeface="Constantia"/>
                <a:cs typeface="Constantia"/>
              </a:rPr>
              <a:t>perusahaan </a:t>
            </a:r>
            <a:r>
              <a:rPr sz="2400" spc="-590" dirty="0">
                <a:latin typeface="Constantia"/>
                <a:cs typeface="Constantia"/>
              </a:rPr>
              <a:t> </a:t>
            </a:r>
            <a:r>
              <a:rPr sz="2400" spc="-5" dirty="0">
                <a:latin typeface="Constantia"/>
                <a:cs typeface="Constantia"/>
              </a:rPr>
              <a:t>menjalankan </a:t>
            </a:r>
            <a:r>
              <a:rPr sz="2400" spc="-10" dirty="0">
                <a:latin typeface="Constantia"/>
                <a:cs typeface="Constantia"/>
              </a:rPr>
              <a:t>bisnis </a:t>
            </a:r>
            <a:r>
              <a:rPr sz="2400" dirty="0">
                <a:latin typeface="Constantia"/>
                <a:cs typeface="Constantia"/>
              </a:rPr>
              <a:t>dengan lebih efisien dan </a:t>
            </a:r>
            <a:r>
              <a:rPr sz="2400" spc="-5" dirty="0">
                <a:latin typeface="Constantia"/>
                <a:cs typeface="Constantia"/>
              </a:rPr>
              <a:t>membantu </a:t>
            </a:r>
            <a:r>
              <a:rPr sz="2400" dirty="0">
                <a:latin typeface="Constantia"/>
                <a:cs typeface="Constantia"/>
              </a:rPr>
              <a:t> </a:t>
            </a:r>
            <a:r>
              <a:rPr sz="2400" spc="5" dirty="0">
                <a:latin typeface="Constantia"/>
                <a:cs typeface="Constantia"/>
              </a:rPr>
              <a:t>m</a:t>
            </a:r>
            <a:r>
              <a:rPr sz="2400" dirty="0">
                <a:latin typeface="Constantia"/>
                <a:cs typeface="Constantia"/>
              </a:rPr>
              <a:t>anajer</a:t>
            </a:r>
            <a:r>
              <a:rPr sz="2400" spc="-180" dirty="0">
                <a:latin typeface="Constantia"/>
                <a:cs typeface="Constantia"/>
              </a:rPr>
              <a:t> </a:t>
            </a:r>
            <a:r>
              <a:rPr sz="2400" dirty="0">
                <a:latin typeface="Constantia"/>
                <a:cs typeface="Constantia"/>
              </a:rPr>
              <a:t>dan</a:t>
            </a:r>
            <a:r>
              <a:rPr sz="2400" spc="-60" dirty="0">
                <a:latin typeface="Constantia"/>
                <a:cs typeface="Constantia"/>
              </a:rPr>
              <a:t> </a:t>
            </a:r>
            <a:r>
              <a:rPr sz="2400" spc="-15" dirty="0">
                <a:latin typeface="Constantia"/>
                <a:cs typeface="Constantia"/>
              </a:rPr>
              <a:t>k</a:t>
            </a:r>
            <a:r>
              <a:rPr sz="2400" dirty="0">
                <a:latin typeface="Constantia"/>
                <a:cs typeface="Constantia"/>
              </a:rPr>
              <a:t>a</a:t>
            </a:r>
            <a:r>
              <a:rPr sz="2400" spc="10" dirty="0">
                <a:latin typeface="Constantia"/>
                <a:cs typeface="Constantia"/>
              </a:rPr>
              <a:t>r</a:t>
            </a:r>
            <a:r>
              <a:rPr sz="2400" spc="-30" dirty="0">
                <a:latin typeface="Constantia"/>
                <a:cs typeface="Constantia"/>
              </a:rPr>
              <a:t>y</a:t>
            </a:r>
            <a:r>
              <a:rPr sz="2400" spc="-50" dirty="0">
                <a:latin typeface="Constantia"/>
                <a:cs typeface="Constantia"/>
              </a:rPr>
              <a:t>a</a:t>
            </a:r>
            <a:r>
              <a:rPr sz="2400" spc="-30" dirty="0">
                <a:latin typeface="Constantia"/>
                <a:cs typeface="Constantia"/>
              </a:rPr>
              <a:t>w</a:t>
            </a:r>
            <a:r>
              <a:rPr sz="2400" dirty="0">
                <a:latin typeface="Constantia"/>
                <a:cs typeface="Constantia"/>
              </a:rPr>
              <a:t>an</a:t>
            </a:r>
            <a:r>
              <a:rPr sz="2400" spc="10" dirty="0">
                <a:latin typeface="Constantia"/>
                <a:cs typeface="Constantia"/>
              </a:rPr>
              <a:t> </a:t>
            </a:r>
            <a:r>
              <a:rPr sz="2400" spc="5" dirty="0">
                <a:latin typeface="Constantia"/>
                <a:cs typeface="Constantia"/>
              </a:rPr>
              <a:t>m</a:t>
            </a:r>
            <a:r>
              <a:rPr sz="2400" dirty="0">
                <a:latin typeface="Constantia"/>
                <a:cs typeface="Constantia"/>
              </a:rPr>
              <a:t>e</a:t>
            </a:r>
            <a:r>
              <a:rPr sz="2400" spc="5" dirty="0">
                <a:latin typeface="Constantia"/>
                <a:cs typeface="Constantia"/>
              </a:rPr>
              <a:t>m</a:t>
            </a:r>
            <a:r>
              <a:rPr sz="2400" dirty="0">
                <a:latin typeface="Constantia"/>
                <a:cs typeface="Constantia"/>
              </a:rPr>
              <a:t>b</a:t>
            </a:r>
            <a:r>
              <a:rPr sz="2400" spc="-5" dirty="0">
                <a:latin typeface="Constantia"/>
                <a:cs typeface="Constantia"/>
              </a:rPr>
              <a:t>ua</a:t>
            </a:r>
            <a:r>
              <a:rPr sz="2400" dirty="0">
                <a:latin typeface="Constantia"/>
                <a:cs typeface="Constantia"/>
              </a:rPr>
              <a:t>t</a:t>
            </a:r>
            <a:r>
              <a:rPr sz="2400" spc="-105" dirty="0">
                <a:latin typeface="Constantia"/>
                <a:cs typeface="Constantia"/>
              </a:rPr>
              <a:t> </a:t>
            </a:r>
            <a:r>
              <a:rPr sz="2400" spc="-60" dirty="0">
                <a:latin typeface="Constantia"/>
                <a:cs typeface="Constantia"/>
              </a:rPr>
              <a:t>k</a:t>
            </a:r>
            <a:r>
              <a:rPr sz="2400" dirty="0">
                <a:latin typeface="Constantia"/>
                <a:cs typeface="Constantia"/>
              </a:rPr>
              <a:t>eputu</a:t>
            </a:r>
            <a:r>
              <a:rPr sz="2400" spc="-15" dirty="0">
                <a:latin typeface="Constantia"/>
                <a:cs typeface="Constantia"/>
              </a:rPr>
              <a:t>s</a:t>
            </a:r>
            <a:r>
              <a:rPr sz="2400" dirty="0">
                <a:latin typeface="Constantia"/>
                <a:cs typeface="Constantia"/>
              </a:rPr>
              <a:t>an</a:t>
            </a:r>
            <a:r>
              <a:rPr sz="2400" spc="-10" dirty="0">
                <a:latin typeface="Constantia"/>
                <a:cs typeface="Constantia"/>
              </a:rPr>
              <a:t> </a:t>
            </a:r>
            <a:r>
              <a:rPr sz="2400" dirty="0">
                <a:latin typeface="Constantia"/>
                <a:cs typeface="Constantia"/>
              </a:rPr>
              <a:t>le</a:t>
            </a:r>
            <a:r>
              <a:rPr sz="2400" spc="5" dirty="0">
                <a:latin typeface="Constantia"/>
                <a:cs typeface="Constantia"/>
              </a:rPr>
              <a:t>b</a:t>
            </a:r>
            <a:r>
              <a:rPr sz="2400" spc="-5" dirty="0">
                <a:latin typeface="Constantia"/>
                <a:cs typeface="Constantia"/>
              </a:rPr>
              <a:t>i</a:t>
            </a:r>
            <a:r>
              <a:rPr sz="2400" dirty="0">
                <a:latin typeface="Constantia"/>
                <a:cs typeface="Constantia"/>
              </a:rPr>
              <a:t>h</a:t>
            </a:r>
            <a:r>
              <a:rPr sz="2400" spc="-60" dirty="0">
                <a:latin typeface="Constantia"/>
                <a:cs typeface="Constantia"/>
              </a:rPr>
              <a:t> </a:t>
            </a:r>
            <a:r>
              <a:rPr sz="2400" dirty="0">
                <a:latin typeface="Constantia"/>
                <a:cs typeface="Constantia"/>
              </a:rPr>
              <a:t>ba</a:t>
            </a:r>
            <a:r>
              <a:rPr sz="2400" spc="-10" dirty="0">
                <a:latin typeface="Constantia"/>
                <a:cs typeface="Constantia"/>
              </a:rPr>
              <a:t>i</a:t>
            </a:r>
            <a:r>
              <a:rPr sz="2400" spc="-15" dirty="0">
                <a:latin typeface="Constantia"/>
                <a:cs typeface="Constantia"/>
              </a:rPr>
              <a:t>k</a:t>
            </a:r>
            <a:r>
              <a:rPr sz="2400" dirty="0">
                <a:latin typeface="Constantia"/>
                <a:cs typeface="Constantia"/>
              </a:rPr>
              <a:t>.  </a:t>
            </a:r>
            <a:r>
              <a:rPr sz="2400" spc="-15" dirty="0">
                <a:latin typeface="Constantia"/>
                <a:cs typeface="Constantia"/>
              </a:rPr>
              <a:t>Contoh</a:t>
            </a:r>
            <a:r>
              <a:rPr sz="2400" spc="-60" dirty="0">
                <a:latin typeface="Constantia"/>
                <a:cs typeface="Constantia"/>
              </a:rPr>
              <a:t> </a:t>
            </a:r>
            <a:r>
              <a:rPr sz="2400" dirty="0">
                <a:latin typeface="Constantia"/>
                <a:cs typeface="Constantia"/>
              </a:rPr>
              <a:t>:</a:t>
            </a:r>
            <a:endParaRPr sz="2400">
              <a:latin typeface="Constantia"/>
              <a:cs typeface="Constantia"/>
            </a:endParaRPr>
          </a:p>
          <a:p>
            <a:pPr marL="652780" lvl="1" indent="-247015">
              <a:lnSpc>
                <a:spcPct val="100000"/>
              </a:lnSpc>
              <a:spcBef>
                <a:spcPts val="585"/>
              </a:spcBef>
              <a:buClr>
                <a:srgbClr val="0E6EC5"/>
              </a:buClr>
              <a:buSzPct val="85416"/>
              <a:buFont typeface="Segoe UI Symbol"/>
              <a:buChar char="⚫"/>
              <a:tabLst>
                <a:tab pos="652780" algn="l"/>
              </a:tabLst>
            </a:pPr>
            <a:r>
              <a:rPr sz="2400" spc="-10" dirty="0">
                <a:latin typeface="Constantia"/>
                <a:cs typeface="Constantia"/>
              </a:rPr>
              <a:t>Perusahaan</a:t>
            </a:r>
            <a:r>
              <a:rPr sz="2400" spc="-35" dirty="0">
                <a:latin typeface="Constantia"/>
                <a:cs typeface="Constantia"/>
              </a:rPr>
              <a:t> </a:t>
            </a:r>
            <a:r>
              <a:rPr sz="2400" spc="-10" dirty="0">
                <a:latin typeface="Constantia"/>
                <a:cs typeface="Constantia"/>
              </a:rPr>
              <a:t>ingin</a:t>
            </a:r>
            <a:r>
              <a:rPr sz="2400" spc="-35" dirty="0">
                <a:latin typeface="Constantia"/>
                <a:cs typeface="Constantia"/>
              </a:rPr>
              <a:t> </a:t>
            </a:r>
            <a:r>
              <a:rPr sz="2400" spc="-5" dirty="0">
                <a:latin typeface="Constantia"/>
                <a:cs typeface="Constantia"/>
              </a:rPr>
              <a:t>mengetahui</a:t>
            </a:r>
            <a:r>
              <a:rPr sz="2400" spc="-65" dirty="0">
                <a:latin typeface="Constantia"/>
                <a:cs typeface="Constantia"/>
              </a:rPr>
              <a:t> </a:t>
            </a:r>
            <a:r>
              <a:rPr sz="2400" spc="-5" dirty="0">
                <a:latin typeface="Constantia"/>
                <a:cs typeface="Constantia"/>
              </a:rPr>
              <a:t>produk</a:t>
            </a:r>
            <a:r>
              <a:rPr sz="2400" spc="-114" dirty="0">
                <a:latin typeface="Constantia"/>
                <a:cs typeface="Constantia"/>
              </a:rPr>
              <a:t> </a:t>
            </a:r>
            <a:r>
              <a:rPr sz="2400" spc="-10" dirty="0">
                <a:latin typeface="Constantia"/>
                <a:cs typeface="Constantia"/>
              </a:rPr>
              <a:t>yang</a:t>
            </a:r>
            <a:r>
              <a:rPr sz="2400" spc="-35" dirty="0">
                <a:latin typeface="Constantia"/>
                <a:cs typeface="Constantia"/>
              </a:rPr>
              <a:t> </a:t>
            </a:r>
            <a:r>
              <a:rPr sz="2400" spc="-5" dirty="0">
                <a:latin typeface="Constantia"/>
                <a:cs typeface="Constantia"/>
              </a:rPr>
              <a:t>paling</a:t>
            </a:r>
            <a:r>
              <a:rPr sz="2400" spc="-60" dirty="0">
                <a:latin typeface="Constantia"/>
                <a:cs typeface="Constantia"/>
              </a:rPr>
              <a:t> </a:t>
            </a:r>
            <a:r>
              <a:rPr sz="2400" spc="-10" dirty="0">
                <a:latin typeface="Constantia"/>
                <a:cs typeface="Constantia"/>
              </a:rPr>
              <a:t>disukai</a:t>
            </a:r>
            <a:endParaRPr sz="2400">
              <a:latin typeface="Constantia"/>
              <a:cs typeface="Constantia"/>
            </a:endParaRPr>
          </a:p>
          <a:p>
            <a:pPr marL="652780" lvl="1" indent="-247015">
              <a:lnSpc>
                <a:spcPct val="100000"/>
              </a:lnSpc>
              <a:spcBef>
                <a:spcPts val="575"/>
              </a:spcBef>
              <a:buClr>
                <a:srgbClr val="0E6EC5"/>
              </a:buClr>
              <a:buSzPct val="85416"/>
              <a:buFont typeface="Segoe UI Symbol"/>
              <a:buChar char="⚫"/>
              <a:tabLst>
                <a:tab pos="652780" algn="l"/>
              </a:tabLst>
            </a:pPr>
            <a:r>
              <a:rPr sz="2400" spc="-80" dirty="0">
                <a:latin typeface="Constantia"/>
                <a:cs typeface="Constantia"/>
              </a:rPr>
              <a:t>P</a:t>
            </a:r>
            <a:r>
              <a:rPr sz="2400" dirty="0">
                <a:latin typeface="Constantia"/>
                <a:cs typeface="Constantia"/>
              </a:rPr>
              <a:t>ela</a:t>
            </a:r>
            <a:r>
              <a:rPr sz="2400" spc="-10" dirty="0">
                <a:latin typeface="Constantia"/>
                <a:cs typeface="Constantia"/>
              </a:rPr>
              <a:t>n</a:t>
            </a:r>
            <a:r>
              <a:rPr sz="2400" dirty="0">
                <a:latin typeface="Constantia"/>
                <a:cs typeface="Constantia"/>
              </a:rPr>
              <a:t>ggan</a:t>
            </a:r>
            <a:r>
              <a:rPr sz="2400" spc="-25" dirty="0">
                <a:latin typeface="Constantia"/>
                <a:cs typeface="Constantia"/>
              </a:rPr>
              <a:t> </a:t>
            </a:r>
            <a:r>
              <a:rPr sz="2400" spc="-5" dirty="0">
                <a:latin typeface="Constantia"/>
                <a:cs typeface="Constantia"/>
              </a:rPr>
              <a:t>man</a:t>
            </a:r>
            <a:r>
              <a:rPr sz="2400" dirty="0">
                <a:latin typeface="Constantia"/>
                <a:cs typeface="Constantia"/>
              </a:rPr>
              <a:t>a</a:t>
            </a:r>
            <a:r>
              <a:rPr sz="2400" spc="-155" dirty="0">
                <a:latin typeface="Constantia"/>
                <a:cs typeface="Constantia"/>
              </a:rPr>
              <a:t> </a:t>
            </a:r>
            <a:r>
              <a:rPr sz="2400" spc="-30" dirty="0">
                <a:latin typeface="Constantia"/>
                <a:cs typeface="Constantia"/>
              </a:rPr>
              <a:t>y</a:t>
            </a:r>
            <a:r>
              <a:rPr sz="2400" dirty="0">
                <a:latin typeface="Constantia"/>
                <a:cs typeface="Constantia"/>
              </a:rPr>
              <a:t>a</a:t>
            </a:r>
            <a:r>
              <a:rPr sz="2400" spc="-10" dirty="0">
                <a:latin typeface="Constantia"/>
                <a:cs typeface="Constantia"/>
              </a:rPr>
              <a:t>n</a:t>
            </a:r>
            <a:r>
              <a:rPr sz="2400" dirty="0">
                <a:latin typeface="Constantia"/>
                <a:cs typeface="Constantia"/>
              </a:rPr>
              <a:t>g</a:t>
            </a:r>
            <a:r>
              <a:rPr sz="2400" spc="-25" dirty="0">
                <a:latin typeface="Constantia"/>
                <a:cs typeface="Constantia"/>
              </a:rPr>
              <a:t> </a:t>
            </a:r>
            <a:r>
              <a:rPr sz="2400" dirty="0">
                <a:latin typeface="Constantia"/>
                <a:cs typeface="Constantia"/>
              </a:rPr>
              <a:t>pal</a:t>
            </a:r>
            <a:r>
              <a:rPr sz="2400" spc="-15" dirty="0">
                <a:latin typeface="Constantia"/>
                <a:cs typeface="Constantia"/>
              </a:rPr>
              <a:t>i</a:t>
            </a:r>
            <a:r>
              <a:rPr sz="2400" spc="-5" dirty="0">
                <a:latin typeface="Constantia"/>
                <a:cs typeface="Constantia"/>
              </a:rPr>
              <a:t>n</a:t>
            </a:r>
            <a:r>
              <a:rPr sz="2400" dirty="0">
                <a:latin typeface="Constantia"/>
                <a:cs typeface="Constantia"/>
              </a:rPr>
              <a:t>g </a:t>
            </a:r>
            <a:r>
              <a:rPr sz="2400" spc="-5" dirty="0">
                <a:latin typeface="Constantia"/>
                <a:cs typeface="Constantia"/>
              </a:rPr>
              <a:t>mengun</a:t>
            </a:r>
            <a:r>
              <a:rPr sz="2400" spc="-15" dirty="0">
                <a:latin typeface="Constantia"/>
                <a:cs typeface="Constantia"/>
              </a:rPr>
              <a:t>t</a:t>
            </a:r>
            <a:r>
              <a:rPr sz="2400" spc="-5" dirty="0">
                <a:latin typeface="Constantia"/>
                <a:cs typeface="Constantia"/>
              </a:rPr>
              <a:t>un</a:t>
            </a:r>
            <a:r>
              <a:rPr sz="2400" spc="-30" dirty="0">
                <a:latin typeface="Constantia"/>
                <a:cs typeface="Constantia"/>
              </a:rPr>
              <a:t>g</a:t>
            </a:r>
            <a:r>
              <a:rPr sz="2400" spc="-15" dirty="0">
                <a:latin typeface="Constantia"/>
                <a:cs typeface="Constantia"/>
              </a:rPr>
              <a:t>k</a:t>
            </a:r>
            <a:r>
              <a:rPr sz="2400" dirty="0">
                <a:latin typeface="Constantia"/>
                <a:cs typeface="Constantia"/>
              </a:rPr>
              <a:t>an</a:t>
            </a:r>
            <a:endParaRPr sz="2400">
              <a:latin typeface="Constantia"/>
              <a:cs typeface="Constant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804" y="1033983"/>
            <a:ext cx="7148830" cy="786765"/>
          </a:xfrm>
          <a:prstGeom prst="rect">
            <a:avLst/>
          </a:prstGeom>
        </p:spPr>
        <p:txBody>
          <a:bodyPr vert="horz" wrap="square" lIns="0" tIns="12065" rIns="0" bIns="0" rtlCol="0">
            <a:spAutoFit/>
          </a:bodyPr>
          <a:lstStyle/>
          <a:p>
            <a:pPr marL="12700">
              <a:lnSpc>
                <a:spcPct val="100000"/>
              </a:lnSpc>
              <a:spcBef>
                <a:spcPts val="95"/>
              </a:spcBef>
            </a:pPr>
            <a:r>
              <a:rPr sz="5000" spc="-20" dirty="0">
                <a:solidFill>
                  <a:srgbClr val="04607A"/>
                </a:solidFill>
                <a:latin typeface="Calibri"/>
                <a:cs typeface="Calibri"/>
              </a:rPr>
              <a:t>MENGELOLA</a:t>
            </a:r>
            <a:r>
              <a:rPr sz="5000" spc="-25" dirty="0">
                <a:solidFill>
                  <a:srgbClr val="04607A"/>
                </a:solidFill>
                <a:latin typeface="Calibri"/>
                <a:cs typeface="Calibri"/>
              </a:rPr>
              <a:t> </a:t>
            </a:r>
            <a:r>
              <a:rPr sz="5000" spc="-10" dirty="0">
                <a:solidFill>
                  <a:srgbClr val="04607A"/>
                </a:solidFill>
                <a:latin typeface="Calibri"/>
                <a:cs typeface="Calibri"/>
              </a:rPr>
              <a:t>SUMBER</a:t>
            </a:r>
            <a:r>
              <a:rPr sz="5000" spc="-35" dirty="0">
                <a:solidFill>
                  <a:srgbClr val="04607A"/>
                </a:solidFill>
                <a:latin typeface="Calibri"/>
                <a:cs typeface="Calibri"/>
              </a:rPr>
              <a:t> </a:t>
            </a:r>
            <a:r>
              <a:rPr sz="5000" spc="-225" dirty="0">
                <a:solidFill>
                  <a:srgbClr val="04607A"/>
                </a:solidFill>
                <a:latin typeface="Calibri"/>
                <a:cs typeface="Calibri"/>
              </a:rPr>
              <a:t>DATA</a:t>
            </a:r>
            <a:endParaRPr sz="5000">
              <a:latin typeface="Calibri"/>
              <a:cs typeface="Calibri"/>
            </a:endParaRPr>
          </a:p>
        </p:txBody>
      </p:sp>
      <p:sp>
        <p:nvSpPr>
          <p:cNvPr id="3" name="object 3"/>
          <p:cNvSpPr txBox="1"/>
          <p:nvPr/>
        </p:nvSpPr>
        <p:spPr>
          <a:xfrm>
            <a:off x="536244" y="1950846"/>
            <a:ext cx="7950200" cy="4636770"/>
          </a:xfrm>
          <a:prstGeom prst="rect">
            <a:avLst/>
          </a:prstGeom>
        </p:spPr>
        <p:txBody>
          <a:bodyPr vert="horz" wrap="square" lIns="0" tIns="12700" rIns="0" bIns="0" rtlCol="0">
            <a:spAutoFit/>
          </a:bodyPr>
          <a:lstStyle/>
          <a:p>
            <a:pPr marL="287020" marR="1270000" indent="-274320">
              <a:lnSpc>
                <a:spcPct val="100000"/>
              </a:lnSpc>
              <a:spcBef>
                <a:spcPts val="100"/>
              </a:spcBef>
              <a:buClr>
                <a:srgbClr val="0AD0D9"/>
              </a:buClr>
              <a:buSzPct val="93750"/>
              <a:buFont typeface="Segoe UI Symbol"/>
              <a:buChar char="⚫"/>
              <a:tabLst>
                <a:tab pos="287020" algn="l"/>
              </a:tabLst>
            </a:pPr>
            <a:r>
              <a:rPr sz="2400" spc="-10" dirty="0">
                <a:latin typeface="Constantia"/>
                <a:cs typeface="Constantia"/>
              </a:rPr>
              <a:t>Menetapkan kebijakan informasi yaitu </a:t>
            </a:r>
            <a:r>
              <a:rPr sz="2400" dirty="0">
                <a:latin typeface="Constantia"/>
                <a:cs typeface="Constantia"/>
              </a:rPr>
              <a:t>dengan </a:t>
            </a:r>
            <a:r>
              <a:rPr sz="2400" spc="5" dirty="0">
                <a:latin typeface="Constantia"/>
                <a:cs typeface="Constantia"/>
              </a:rPr>
              <a:t> </a:t>
            </a:r>
            <a:r>
              <a:rPr sz="2400" spc="-5" dirty="0">
                <a:latin typeface="Constantia"/>
                <a:cs typeface="Constantia"/>
              </a:rPr>
              <a:t>menentukan </a:t>
            </a:r>
            <a:r>
              <a:rPr sz="2400" spc="-10" dirty="0">
                <a:latin typeface="Constantia"/>
                <a:cs typeface="Constantia"/>
              </a:rPr>
              <a:t>aturan-aturan organisasi </a:t>
            </a:r>
            <a:r>
              <a:rPr sz="2400" dirty="0">
                <a:latin typeface="Constantia"/>
                <a:cs typeface="Constantia"/>
              </a:rPr>
              <a:t>dalam hal </a:t>
            </a:r>
            <a:r>
              <a:rPr sz="2400" spc="-590" dirty="0">
                <a:latin typeface="Constantia"/>
                <a:cs typeface="Constantia"/>
              </a:rPr>
              <a:t> </a:t>
            </a:r>
            <a:r>
              <a:rPr sz="2400" spc="-5" dirty="0">
                <a:latin typeface="Constantia"/>
                <a:cs typeface="Constantia"/>
              </a:rPr>
              <a:t>pembagian,</a:t>
            </a:r>
            <a:r>
              <a:rPr sz="2400" spc="-95" dirty="0">
                <a:latin typeface="Constantia"/>
                <a:cs typeface="Constantia"/>
              </a:rPr>
              <a:t> </a:t>
            </a:r>
            <a:r>
              <a:rPr sz="2400" spc="-15" dirty="0">
                <a:latin typeface="Constantia"/>
                <a:cs typeface="Constantia"/>
              </a:rPr>
              <a:t>penyebaran,</a:t>
            </a:r>
            <a:r>
              <a:rPr sz="2400" spc="-40" dirty="0">
                <a:latin typeface="Constantia"/>
                <a:cs typeface="Constantia"/>
              </a:rPr>
              <a:t> </a:t>
            </a:r>
            <a:r>
              <a:rPr sz="2400" spc="-5" dirty="0">
                <a:latin typeface="Constantia"/>
                <a:cs typeface="Constantia"/>
              </a:rPr>
              <a:t>perolehan,</a:t>
            </a:r>
            <a:r>
              <a:rPr sz="2400" spc="-50" dirty="0">
                <a:latin typeface="Constantia"/>
                <a:cs typeface="Constantia"/>
              </a:rPr>
              <a:t> </a:t>
            </a:r>
            <a:r>
              <a:rPr sz="2400" spc="-10" dirty="0">
                <a:latin typeface="Constantia"/>
                <a:cs typeface="Constantia"/>
              </a:rPr>
              <a:t>standarisasi, </a:t>
            </a:r>
            <a:r>
              <a:rPr sz="2400" spc="-585" dirty="0">
                <a:latin typeface="Constantia"/>
                <a:cs typeface="Constantia"/>
              </a:rPr>
              <a:t> </a:t>
            </a:r>
            <a:r>
              <a:rPr sz="2400" spc="-5" dirty="0">
                <a:latin typeface="Constantia"/>
                <a:cs typeface="Constantia"/>
              </a:rPr>
              <a:t>klasifikasi</a:t>
            </a:r>
            <a:r>
              <a:rPr sz="2400" spc="-20" dirty="0">
                <a:latin typeface="Constantia"/>
                <a:cs typeface="Constantia"/>
              </a:rPr>
              <a:t> </a:t>
            </a:r>
            <a:r>
              <a:rPr sz="2400" dirty="0">
                <a:latin typeface="Constantia"/>
                <a:cs typeface="Constantia"/>
              </a:rPr>
              <a:t>dan</a:t>
            </a:r>
            <a:r>
              <a:rPr sz="2400" spc="-85" dirty="0">
                <a:latin typeface="Constantia"/>
                <a:cs typeface="Constantia"/>
              </a:rPr>
              <a:t> </a:t>
            </a:r>
            <a:r>
              <a:rPr sz="2400" spc="-5" dirty="0">
                <a:latin typeface="Constantia"/>
                <a:cs typeface="Constantia"/>
              </a:rPr>
              <a:t>penyimpanan</a:t>
            </a:r>
            <a:r>
              <a:rPr sz="2400" spc="-140" dirty="0">
                <a:latin typeface="Constantia"/>
                <a:cs typeface="Constantia"/>
              </a:rPr>
              <a:t> </a:t>
            </a:r>
            <a:r>
              <a:rPr sz="2400" dirty="0">
                <a:latin typeface="Constantia"/>
                <a:cs typeface="Constantia"/>
              </a:rPr>
              <a:t>dari</a:t>
            </a:r>
            <a:r>
              <a:rPr sz="2400" spc="-15" dirty="0">
                <a:latin typeface="Constantia"/>
                <a:cs typeface="Constantia"/>
              </a:rPr>
              <a:t> </a:t>
            </a:r>
            <a:r>
              <a:rPr sz="2400" spc="-10" dirty="0">
                <a:latin typeface="Constantia"/>
                <a:cs typeface="Constantia"/>
              </a:rPr>
              <a:t>informasi</a:t>
            </a:r>
            <a:endParaRPr sz="2400">
              <a:latin typeface="Constantia"/>
              <a:cs typeface="Constantia"/>
            </a:endParaRPr>
          </a:p>
          <a:p>
            <a:pPr marL="287020" indent="-274320">
              <a:lnSpc>
                <a:spcPct val="100000"/>
              </a:lnSpc>
              <a:spcBef>
                <a:spcPts val="580"/>
              </a:spcBef>
              <a:buClr>
                <a:srgbClr val="0AD0D9"/>
              </a:buClr>
              <a:buSzPct val="93750"/>
              <a:buFont typeface="Segoe UI Symbol"/>
              <a:buChar char="⚫"/>
              <a:tabLst>
                <a:tab pos="287020" algn="l"/>
              </a:tabLst>
            </a:pPr>
            <a:r>
              <a:rPr sz="2400" spc="-10" dirty="0">
                <a:latin typeface="Constantia"/>
                <a:cs typeface="Constantia"/>
              </a:rPr>
              <a:t>Meliputi</a:t>
            </a:r>
            <a:endParaRPr sz="2400">
              <a:latin typeface="Constantia"/>
              <a:cs typeface="Constantia"/>
            </a:endParaRPr>
          </a:p>
          <a:p>
            <a:pPr marL="652780" marR="121285" lvl="1" indent="-247015">
              <a:lnSpc>
                <a:spcPct val="100000"/>
              </a:lnSpc>
              <a:spcBef>
                <a:spcPts val="580"/>
              </a:spcBef>
              <a:buClr>
                <a:srgbClr val="0E6EC5"/>
              </a:buClr>
              <a:buSzPct val="85416"/>
              <a:buFont typeface="Segoe UI Symbol"/>
              <a:buChar char="⚫"/>
              <a:tabLst>
                <a:tab pos="652780" algn="l"/>
              </a:tabLst>
            </a:pPr>
            <a:r>
              <a:rPr sz="2400" spc="-15" dirty="0">
                <a:solidFill>
                  <a:srgbClr val="0000CC"/>
                </a:solidFill>
                <a:latin typeface="Constantia"/>
                <a:cs typeface="Constantia"/>
              </a:rPr>
              <a:t>Administrasi</a:t>
            </a:r>
            <a:r>
              <a:rPr sz="2400" spc="-30" dirty="0">
                <a:solidFill>
                  <a:srgbClr val="0000CC"/>
                </a:solidFill>
                <a:latin typeface="Constantia"/>
                <a:cs typeface="Constantia"/>
              </a:rPr>
              <a:t> </a:t>
            </a:r>
            <a:r>
              <a:rPr sz="2400" dirty="0">
                <a:solidFill>
                  <a:srgbClr val="0000CC"/>
                </a:solidFill>
                <a:latin typeface="Constantia"/>
                <a:cs typeface="Constantia"/>
              </a:rPr>
              <a:t>data</a:t>
            </a:r>
            <a:r>
              <a:rPr sz="2400" spc="-40" dirty="0">
                <a:solidFill>
                  <a:srgbClr val="0000CC"/>
                </a:solidFill>
                <a:latin typeface="Constantia"/>
                <a:cs typeface="Constantia"/>
              </a:rPr>
              <a:t> </a:t>
            </a:r>
            <a:r>
              <a:rPr sz="2400" i="1" spc="-15" dirty="0">
                <a:solidFill>
                  <a:srgbClr val="0000CC"/>
                </a:solidFill>
                <a:latin typeface="Constantia"/>
                <a:cs typeface="Constantia"/>
              </a:rPr>
              <a:t>(data</a:t>
            </a:r>
            <a:r>
              <a:rPr sz="2400" i="1" dirty="0">
                <a:solidFill>
                  <a:srgbClr val="0000CC"/>
                </a:solidFill>
                <a:latin typeface="Constantia"/>
                <a:cs typeface="Constantia"/>
              </a:rPr>
              <a:t> </a:t>
            </a:r>
            <a:r>
              <a:rPr sz="2400" i="1" spc="-10" dirty="0">
                <a:solidFill>
                  <a:srgbClr val="0000CC"/>
                </a:solidFill>
                <a:latin typeface="Constantia"/>
                <a:cs typeface="Constantia"/>
              </a:rPr>
              <a:t>administration)</a:t>
            </a:r>
            <a:r>
              <a:rPr sz="2400" i="1" spc="55" dirty="0">
                <a:solidFill>
                  <a:srgbClr val="0000CC"/>
                </a:solidFill>
                <a:latin typeface="Constantia"/>
                <a:cs typeface="Constantia"/>
              </a:rPr>
              <a:t> </a:t>
            </a:r>
            <a:r>
              <a:rPr sz="2400" spc="-5" dirty="0">
                <a:latin typeface="Constantia"/>
                <a:cs typeface="Constantia"/>
              </a:rPr>
              <a:t>bertanggung </a:t>
            </a:r>
            <a:r>
              <a:rPr sz="2400" dirty="0">
                <a:latin typeface="Constantia"/>
                <a:cs typeface="Constantia"/>
              </a:rPr>
              <a:t> </a:t>
            </a:r>
            <a:r>
              <a:rPr sz="2400" spc="-15" dirty="0">
                <a:latin typeface="Constantia"/>
                <a:cs typeface="Constantia"/>
              </a:rPr>
              <a:t>jawab</a:t>
            </a:r>
            <a:r>
              <a:rPr sz="2400" spc="-145" dirty="0">
                <a:latin typeface="Constantia"/>
                <a:cs typeface="Constantia"/>
              </a:rPr>
              <a:t> </a:t>
            </a:r>
            <a:r>
              <a:rPr sz="2400" spc="-5" dirty="0">
                <a:latin typeface="Constantia"/>
                <a:cs typeface="Constantia"/>
              </a:rPr>
              <a:t>atas</a:t>
            </a:r>
            <a:r>
              <a:rPr sz="2400" spc="-40" dirty="0">
                <a:latin typeface="Constantia"/>
                <a:cs typeface="Constantia"/>
              </a:rPr>
              <a:t> </a:t>
            </a:r>
            <a:r>
              <a:rPr sz="2400" spc="-10" dirty="0">
                <a:latin typeface="Constantia"/>
                <a:cs typeface="Constantia"/>
              </a:rPr>
              <a:t>kebijakan</a:t>
            </a:r>
            <a:r>
              <a:rPr sz="2400" spc="-100" dirty="0">
                <a:latin typeface="Constantia"/>
                <a:cs typeface="Constantia"/>
              </a:rPr>
              <a:t> </a:t>
            </a:r>
            <a:r>
              <a:rPr sz="2400" spc="-5" dirty="0">
                <a:latin typeface="Constantia"/>
                <a:cs typeface="Constantia"/>
              </a:rPr>
              <a:t>dan</a:t>
            </a:r>
            <a:r>
              <a:rPr sz="2400" spc="-75" dirty="0">
                <a:latin typeface="Constantia"/>
                <a:cs typeface="Constantia"/>
              </a:rPr>
              <a:t> </a:t>
            </a:r>
            <a:r>
              <a:rPr sz="2400" spc="-10" dirty="0">
                <a:latin typeface="Constantia"/>
                <a:cs typeface="Constantia"/>
              </a:rPr>
              <a:t>prosedur</a:t>
            </a:r>
            <a:r>
              <a:rPr sz="2400" spc="-130" dirty="0">
                <a:latin typeface="Constantia"/>
                <a:cs typeface="Constantia"/>
              </a:rPr>
              <a:t> </a:t>
            </a:r>
            <a:r>
              <a:rPr sz="2400" spc="-10" dirty="0">
                <a:latin typeface="Constantia"/>
                <a:cs typeface="Constantia"/>
              </a:rPr>
              <a:t>yang</a:t>
            </a:r>
            <a:r>
              <a:rPr sz="2400" spc="5" dirty="0">
                <a:latin typeface="Constantia"/>
                <a:cs typeface="Constantia"/>
              </a:rPr>
              <a:t> </a:t>
            </a:r>
            <a:r>
              <a:rPr sz="2400" spc="-5" dirty="0">
                <a:latin typeface="Constantia"/>
                <a:cs typeface="Constantia"/>
              </a:rPr>
              <a:t>mengatur</a:t>
            </a:r>
            <a:r>
              <a:rPr sz="2400" spc="-125" dirty="0">
                <a:latin typeface="Constantia"/>
                <a:cs typeface="Constantia"/>
              </a:rPr>
              <a:t> </a:t>
            </a:r>
            <a:r>
              <a:rPr sz="2400" spc="-5" dirty="0">
                <a:latin typeface="Constantia"/>
                <a:cs typeface="Constantia"/>
              </a:rPr>
              <a:t>data </a:t>
            </a:r>
            <a:r>
              <a:rPr sz="2400" spc="-585" dirty="0">
                <a:latin typeface="Constantia"/>
                <a:cs typeface="Constantia"/>
              </a:rPr>
              <a:t> </a:t>
            </a:r>
            <a:r>
              <a:rPr sz="2400" spc="-15" dirty="0">
                <a:latin typeface="Constantia"/>
                <a:cs typeface="Constantia"/>
              </a:rPr>
              <a:t>s</a:t>
            </a:r>
            <a:r>
              <a:rPr sz="2400" dirty="0">
                <a:latin typeface="Constantia"/>
                <a:cs typeface="Constantia"/>
              </a:rPr>
              <a:t>e</a:t>
            </a:r>
            <a:r>
              <a:rPr sz="2400" spc="5" dirty="0">
                <a:latin typeface="Constantia"/>
                <a:cs typeface="Constantia"/>
              </a:rPr>
              <a:t>b</a:t>
            </a:r>
            <a:r>
              <a:rPr sz="2400" dirty="0">
                <a:latin typeface="Constantia"/>
                <a:cs typeface="Constantia"/>
              </a:rPr>
              <a:t>agai</a:t>
            </a:r>
            <a:r>
              <a:rPr sz="2400" spc="-80" dirty="0">
                <a:latin typeface="Constantia"/>
                <a:cs typeface="Constantia"/>
              </a:rPr>
              <a:t> </a:t>
            </a:r>
            <a:r>
              <a:rPr sz="2400" spc="-15" dirty="0">
                <a:latin typeface="Constantia"/>
                <a:cs typeface="Constantia"/>
              </a:rPr>
              <a:t>s</a:t>
            </a:r>
            <a:r>
              <a:rPr sz="2400" spc="-5" dirty="0">
                <a:latin typeface="Constantia"/>
                <a:cs typeface="Constantia"/>
              </a:rPr>
              <a:t>u</a:t>
            </a:r>
            <a:r>
              <a:rPr sz="2400" spc="5" dirty="0">
                <a:latin typeface="Constantia"/>
                <a:cs typeface="Constantia"/>
              </a:rPr>
              <a:t>m</a:t>
            </a:r>
            <a:r>
              <a:rPr sz="2400" dirty="0">
                <a:latin typeface="Constantia"/>
                <a:cs typeface="Constantia"/>
              </a:rPr>
              <a:t>ber</a:t>
            </a:r>
            <a:r>
              <a:rPr sz="2400" spc="-130" dirty="0">
                <a:latin typeface="Constantia"/>
                <a:cs typeface="Constantia"/>
              </a:rPr>
              <a:t> </a:t>
            </a:r>
            <a:r>
              <a:rPr sz="2400" dirty="0">
                <a:latin typeface="Constantia"/>
                <a:cs typeface="Constantia"/>
              </a:rPr>
              <a:t>d</a:t>
            </a:r>
            <a:r>
              <a:rPr sz="2400" spc="-50" dirty="0">
                <a:latin typeface="Constantia"/>
                <a:cs typeface="Constantia"/>
              </a:rPr>
              <a:t>a</a:t>
            </a:r>
            <a:r>
              <a:rPr sz="2400" spc="-30" dirty="0">
                <a:latin typeface="Constantia"/>
                <a:cs typeface="Constantia"/>
              </a:rPr>
              <a:t>y</a:t>
            </a:r>
            <a:r>
              <a:rPr sz="2400" dirty="0">
                <a:latin typeface="Constantia"/>
                <a:cs typeface="Constantia"/>
              </a:rPr>
              <a:t>a</a:t>
            </a:r>
            <a:r>
              <a:rPr sz="2400" spc="-150" dirty="0">
                <a:latin typeface="Constantia"/>
                <a:cs typeface="Constantia"/>
              </a:rPr>
              <a:t> </a:t>
            </a:r>
            <a:r>
              <a:rPr sz="2400" dirty="0">
                <a:latin typeface="Constantia"/>
                <a:cs typeface="Constantia"/>
              </a:rPr>
              <a:t>o</a:t>
            </a:r>
            <a:r>
              <a:rPr sz="2400" spc="-35" dirty="0">
                <a:latin typeface="Constantia"/>
                <a:cs typeface="Constantia"/>
              </a:rPr>
              <a:t>r</a:t>
            </a:r>
            <a:r>
              <a:rPr sz="2400" dirty="0">
                <a:latin typeface="Constantia"/>
                <a:cs typeface="Constantia"/>
              </a:rPr>
              <a:t>gan</a:t>
            </a:r>
            <a:r>
              <a:rPr sz="2400" spc="-10" dirty="0">
                <a:latin typeface="Constantia"/>
                <a:cs typeface="Constantia"/>
              </a:rPr>
              <a:t>i</a:t>
            </a:r>
            <a:r>
              <a:rPr sz="2400" spc="-15" dirty="0">
                <a:latin typeface="Constantia"/>
                <a:cs typeface="Constantia"/>
              </a:rPr>
              <a:t>s</a:t>
            </a:r>
            <a:r>
              <a:rPr sz="2400" dirty="0">
                <a:latin typeface="Constantia"/>
                <a:cs typeface="Constantia"/>
              </a:rPr>
              <a:t>a</a:t>
            </a:r>
            <a:r>
              <a:rPr sz="2400" spc="-15" dirty="0">
                <a:latin typeface="Constantia"/>
                <a:cs typeface="Constantia"/>
              </a:rPr>
              <a:t>s</a:t>
            </a:r>
            <a:r>
              <a:rPr sz="2400" dirty="0">
                <a:latin typeface="Constantia"/>
                <a:cs typeface="Constantia"/>
              </a:rPr>
              <a:t>i</a:t>
            </a:r>
            <a:endParaRPr sz="2400">
              <a:latin typeface="Constantia"/>
              <a:cs typeface="Constantia"/>
            </a:endParaRPr>
          </a:p>
          <a:p>
            <a:pPr marL="652780" marR="5080" lvl="1" indent="-247015">
              <a:lnSpc>
                <a:spcPct val="100000"/>
              </a:lnSpc>
              <a:spcBef>
                <a:spcPts val="580"/>
              </a:spcBef>
              <a:buClr>
                <a:srgbClr val="0E6EC5"/>
              </a:buClr>
              <a:buSzPct val="85416"/>
              <a:buFont typeface="Segoe UI Symbol"/>
              <a:buChar char="⚫"/>
              <a:tabLst>
                <a:tab pos="652780" algn="l"/>
              </a:tabLst>
            </a:pPr>
            <a:r>
              <a:rPr sz="2400" spc="-45" dirty="0">
                <a:solidFill>
                  <a:srgbClr val="0000CC"/>
                </a:solidFill>
                <a:latin typeface="Constantia"/>
                <a:cs typeface="Constantia"/>
              </a:rPr>
              <a:t>Tata </a:t>
            </a:r>
            <a:r>
              <a:rPr sz="2400" spc="-10" dirty="0">
                <a:solidFill>
                  <a:srgbClr val="0000CC"/>
                </a:solidFill>
                <a:latin typeface="Constantia"/>
                <a:cs typeface="Constantia"/>
              </a:rPr>
              <a:t>kelola </a:t>
            </a:r>
            <a:r>
              <a:rPr sz="2400" dirty="0">
                <a:solidFill>
                  <a:srgbClr val="0000CC"/>
                </a:solidFill>
                <a:latin typeface="Constantia"/>
                <a:cs typeface="Constantia"/>
              </a:rPr>
              <a:t>data </a:t>
            </a:r>
            <a:r>
              <a:rPr sz="2400" i="1" spc="-15" dirty="0">
                <a:solidFill>
                  <a:srgbClr val="0000CC"/>
                </a:solidFill>
                <a:latin typeface="Constantia"/>
                <a:cs typeface="Constantia"/>
              </a:rPr>
              <a:t>(data </a:t>
            </a:r>
            <a:r>
              <a:rPr sz="2400" i="1" spc="-10" dirty="0">
                <a:solidFill>
                  <a:srgbClr val="0000CC"/>
                </a:solidFill>
                <a:latin typeface="Constantia"/>
                <a:cs typeface="Constantia"/>
              </a:rPr>
              <a:t>governance) </a:t>
            </a:r>
            <a:r>
              <a:rPr sz="2400" spc="-5" dirty="0">
                <a:latin typeface="Constantia"/>
                <a:cs typeface="Constantia"/>
              </a:rPr>
              <a:t>berurusan </a:t>
            </a:r>
            <a:r>
              <a:rPr sz="2400" dirty="0">
                <a:latin typeface="Constantia"/>
                <a:cs typeface="Constantia"/>
              </a:rPr>
              <a:t>dengan </a:t>
            </a:r>
            <a:r>
              <a:rPr sz="2400" spc="5" dirty="0">
                <a:latin typeface="Constantia"/>
                <a:cs typeface="Constantia"/>
              </a:rPr>
              <a:t> </a:t>
            </a:r>
            <a:r>
              <a:rPr sz="2400" spc="-10" dirty="0">
                <a:latin typeface="Constantia"/>
                <a:cs typeface="Constantia"/>
              </a:rPr>
              <a:t>kebijakan </a:t>
            </a:r>
            <a:r>
              <a:rPr sz="2400" spc="-5" dirty="0">
                <a:latin typeface="Constantia"/>
                <a:cs typeface="Constantia"/>
              </a:rPr>
              <a:t>dan </a:t>
            </a:r>
            <a:r>
              <a:rPr sz="2400" spc="-10" dirty="0">
                <a:latin typeface="Constantia"/>
                <a:cs typeface="Constantia"/>
              </a:rPr>
              <a:t>proses mengelola ketersediaan, </a:t>
            </a:r>
            <a:r>
              <a:rPr sz="2400" spc="-20" dirty="0">
                <a:latin typeface="Constantia"/>
                <a:cs typeface="Constantia"/>
              </a:rPr>
              <a:t>daya </a:t>
            </a:r>
            <a:r>
              <a:rPr sz="2400" spc="-15" dirty="0">
                <a:latin typeface="Constantia"/>
                <a:cs typeface="Constantia"/>
              </a:rPr>
              <a:t> </a:t>
            </a:r>
            <a:r>
              <a:rPr sz="2400" spc="-5" dirty="0">
                <a:latin typeface="Constantia"/>
                <a:cs typeface="Constantia"/>
              </a:rPr>
              <a:t>guna,</a:t>
            </a:r>
            <a:r>
              <a:rPr sz="2400" spc="-35" dirty="0">
                <a:latin typeface="Constantia"/>
                <a:cs typeface="Constantia"/>
              </a:rPr>
              <a:t> </a:t>
            </a:r>
            <a:r>
              <a:rPr sz="2400" spc="-10" dirty="0">
                <a:latin typeface="Constantia"/>
                <a:cs typeface="Constantia"/>
              </a:rPr>
              <a:t>integritas</a:t>
            </a:r>
            <a:r>
              <a:rPr sz="2400" spc="-95" dirty="0">
                <a:latin typeface="Constantia"/>
                <a:cs typeface="Constantia"/>
              </a:rPr>
              <a:t> </a:t>
            </a:r>
            <a:r>
              <a:rPr sz="2400" dirty="0">
                <a:latin typeface="Constantia"/>
                <a:cs typeface="Constantia"/>
              </a:rPr>
              <a:t>dan</a:t>
            </a:r>
            <a:r>
              <a:rPr sz="2400" spc="-40" dirty="0">
                <a:latin typeface="Constantia"/>
                <a:cs typeface="Constantia"/>
              </a:rPr>
              <a:t> </a:t>
            </a:r>
            <a:r>
              <a:rPr sz="2400" spc="-10" dirty="0">
                <a:latin typeface="Constantia"/>
                <a:cs typeface="Constantia"/>
              </a:rPr>
              <a:t>keamanan</a:t>
            </a:r>
            <a:r>
              <a:rPr sz="2400" spc="-110" dirty="0">
                <a:latin typeface="Constantia"/>
                <a:cs typeface="Constantia"/>
              </a:rPr>
              <a:t> </a:t>
            </a:r>
            <a:r>
              <a:rPr sz="2400" dirty="0">
                <a:latin typeface="Constantia"/>
                <a:cs typeface="Constantia"/>
              </a:rPr>
              <a:t>data</a:t>
            </a:r>
            <a:r>
              <a:rPr sz="2400" spc="-135" dirty="0">
                <a:latin typeface="Constantia"/>
                <a:cs typeface="Constantia"/>
              </a:rPr>
              <a:t> </a:t>
            </a:r>
            <a:r>
              <a:rPr sz="2400" spc="-10" dirty="0">
                <a:latin typeface="Constantia"/>
                <a:cs typeface="Constantia"/>
              </a:rPr>
              <a:t>yang</a:t>
            </a:r>
            <a:r>
              <a:rPr sz="2400" spc="-60" dirty="0">
                <a:latin typeface="Constantia"/>
                <a:cs typeface="Constantia"/>
              </a:rPr>
              <a:t> </a:t>
            </a:r>
            <a:r>
              <a:rPr sz="2400" spc="-5" dirty="0">
                <a:latin typeface="Constantia"/>
                <a:cs typeface="Constantia"/>
              </a:rPr>
              <a:t>dipakai</a:t>
            </a:r>
            <a:r>
              <a:rPr sz="2400" spc="-90" dirty="0">
                <a:latin typeface="Constantia"/>
                <a:cs typeface="Constantia"/>
              </a:rPr>
              <a:t> </a:t>
            </a:r>
            <a:r>
              <a:rPr sz="2400" dirty="0">
                <a:latin typeface="Constantia"/>
                <a:cs typeface="Constantia"/>
              </a:rPr>
              <a:t>dalam </a:t>
            </a:r>
            <a:r>
              <a:rPr sz="2400" spc="-590" dirty="0">
                <a:latin typeface="Constantia"/>
                <a:cs typeface="Constantia"/>
              </a:rPr>
              <a:t> </a:t>
            </a:r>
            <a:r>
              <a:rPr sz="2400" spc="-5" dirty="0">
                <a:latin typeface="Constantia"/>
                <a:cs typeface="Constantia"/>
              </a:rPr>
              <a:t>perusahaan.</a:t>
            </a:r>
            <a:endParaRPr sz="2400">
              <a:latin typeface="Constantia"/>
              <a:cs typeface="Constant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a:spLocks noGrp="1"/>
          </p:cNvSpPr>
          <p:nvPr>
            <p:ph type="title"/>
          </p:nvPr>
        </p:nvSpPr>
        <p:spPr>
          <a:xfrm>
            <a:off x="444804" y="1033983"/>
            <a:ext cx="7687945" cy="786765"/>
          </a:xfrm>
          <a:prstGeom prst="rect">
            <a:avLst/>
          </a:prstGeom>
        </p:spPr>
        <p:txBody>
          <a:bodyPr vert="horz" wrap="square" lIns="0" tIns="12065" rIns="0" bIns="0" rtlCol="0">
            <a:spAutoFit/>
          </a:bodyPr>
          <a:lstStyle/>
          <a:p>
            <a:pPr marL="12700">
              <a:lnSpc>
                <a:spcPct val="100000"/>
              </a:lnSpc>
              <a:spcBef>
                <a:spcPts val="95"/>
              </a:spcBef>
            </a:pPr>
            <a:r>
              <a:rPr sz="5000" spc="-10" dirty="0">
                <a:solidFill>
                  <a:srgbClr val="04607A"/>
                </a:solidFill>
                <a:latin typeface="Calibri"/>
                <a:cs typeface="Calibri"/>
              </a:rPr>
              <a:t>MEMASTIKAN</a:t>
            </a:r>
            <a:r>
              <a:rPr sz="5000" spc="-15" dirty="0">
                <a:solidFill>
                  <a:srgbClr val="04607A"/>
                </a:solidFill>
                <a:latin typeface="Calibri"/>
                <a:cs typeface="Calibri"/>
              </a:rPr>
              <a:t> </a:t>
            </a:r>
            <a:r>
              <a:rPr sz="5000" spc="-85" dirty="0">
                <a:solidFill>
                  <a:srgbClr val="04607A"/>
                </a:solidFill>
                <a:latin typeface="Calibri"/>
                <a:cs typeface="Calibri"/>
              </a:rPr>
              <a:t>KUALITAS</a:t>
            </a:r>
            <a:r>
              <a:rPr sz="5000" spc="50" dirty="0">
                <a:solidFill>
                  <a:srgbClr val="04607A"/>
                </a:solidFill>
                <a:latin typeface="Calibri"/>
                <a:cs typeface="Calibri"/>
              </a:rPr>
              <a:t> </a:t>
            </a:r>
            <a:r>
              <a:rPr sz="5000" spc="-225" dirty="0">
                <a:solidFill>
                  <a:srgbClr val="04607A"/>
                </a:solidFill>
                <a:latin typeface="Calibri"/>
                <a:cs typeface="Calibri"/>
              </a:rPr>
              <a:t>DATA</a:t>
            </a:r>
            <a:endParaRPr sz="5000">
              <a:latin typeface="Calibri"/>
              <a:cs typeface="Calibri"/>
            </a:endParaRPr>
          </a:p>
        </p:txBody>
      </p:sp>
      <p:sp>
        <p:nvSpPr>
          <p:cNvPr id="9" name="object 9"/>
          <p:cNvSpPr txBox="1">
            <a:spLocks noGrp="1"/>
          </p:cNvSpPr>
          <p:nvPr>
            <p:ph type="body" idx="1"/>
          </p:nvPr>
        </p:nvSpPr>
        <p:spPr>
          <a:prstGeom prst="rect">
            <a:avLst/>
          </a:prstGeom>
        </p:spPr>
        <p:txBody>
          <a:bodyPr vert="horz" wrap="square" lIns="0" tIns="12700" rIns="0" bIns="0" rtlCol="0">
            <a:spAutoFit/>
          </a:bodyPr>
          <a:lstStyle/>
          <a:p>
            <a:pPr marL="286385" marR="5080" indent="-274320" algn="just">
              <a:lnSpc>
                <a:spcPct val="100000"/>
              </a:lnSpc>
              <a:spcBef>
                <a:spcPts val="100"/>
              </a:spcBef>
              <a:buClr>
                <a:srgbClr val="0AD0D9"/>
              </a:buClr>
              <a:buSzPct val="93750"/>
              <a:buFont typeface="Segoe UI Symbol"/>
              <a:buChar char="⚫"/>
              <a:tabLst>
                <a:tab pos="287020" algn="l"/>
              </a:tabLst>
            </a:pPr>
            <a:r>
              <a:rPr spc="-10" dirty="0">
                <a:solidFill>
                  <a:srgbClr val="0000CC"/>
                </a:solidFill>
              </a:rPr>
              <a:t>Audit kualitas </a:t>
            </a:r>
            <a:r>
              <a:rPr dirty="0">
                <a:solidFill>
                  <a:srgbClr val="0000CC"/>
                </a:solidFill>
              </a:rPr>
              <a:t>data </a:t>
            </a:r>
            <a:r>
              <a:rPr i="1" spc="-15" dirty="0">
                <a:solidFill>
                  <a:srgbClr val="0000CC"/>
                </a:solidFill>
                <a:latin typeface="Constantia"/>
                <a:cs typeface="Constantia"/>
              </a:rPr>
              <a:t>(data </a:t>
            </a:r>
            <a:r>
              <a:rPr i="1" spc="-5" dirty="0">
                <a:solidFill>
                  <a:srgbClr val="0000CC"/>
                </a:solidFill>
                <a:latin typeface="Constantia"/>
                <a:cs typeface="Constantia"/>
              </a:rPr>
              <a:t>quality audit) </a:t>
            </a:r>
            <a:r>
              <a:rPr spc="-10" dirty="0"/>
              <a:t>Merupakan survei </a:t>
            </a:r>
            <a:r>
              <a:rPr spc="-590" dirty="0"/>
              <a:t> </a:t>
            </a:r>
            <a:r>
              <a:rPr spc="-10" dirty="0"/>
              <a:t>terstruktur</a:t>
            </a:r>
            <a:r>
              <a:rPr spc="-125" dirty="0"/>
              <a:t> </a:t>
            </a:r>
            <a:r>
              <a:rPr spc="-5" dirty="0"/>
              <a:t>atas</a:t>
            </a:r>
            <a:r>
              <a:rPr spc="-95" dirty="0"/>
              <a:t> </a:t>
            </a:r>
            <a:r>
              <a:rPr spc="-15" dirty="0"/>
              <a:t>akurasi</a:t>
            </a:r>
            <a:r>
              <a:rPr spc="-45" dirty="0"/>
              <a:t> </a:t>
            </a:r>
            <a:r>
              <a:rPr dirty="0"/>
              <a:t>dan</a:t>
            </a:r>
            <a:r>
              <a:rPr spc="-65" dirty="0"/>
              <a:t> </a:t>
            </a:r>
            <a:r>
              <a:rPr spc="-10" dirty="0"/>
              <a:t>tingkat</a:t>
            </a:r>
            <a:r>
              <a:rPr spc="-50" dirty="0"/>
              <a:t> </a:t>
            </a:r>
            <a:r>
              <a:rPr spc="-10" dirty="0"/>
              <a:t>kelengkapan</a:t>
            </a:r>
            <a:r>
              <a:rPr spc="-70" dirty="0"/>
              <a:t> </a:t>
            </a:r>
            <a:r>
              <a:rPr dirty="0"/>
              <a:t>dari</a:t>
            </a:r>
            <a:r>
              <a:rPr spc="-70" dirty="0"/>
              <a:t> </a:t>
            </a:r>
            <a:r>
              <a:rPr dirty="0"/>
              <a:t>data </a:t>
            </a:r>
            <a:r>
              <a:rPr spc="-590" dirty="0"/>
              <a:t> </a:t>
            </a:r>
            <a:r>
              <a:rPr spc="-5" dirty="0"/>
              <a:t>dalam</a:t>
            </a:r>
            <a:r>
              <a:rPr spc="-125" dirty="0"/>
              <a:t> </a:t>
            </a:r>
            <a:r>
              <a:rPr spc="-5" dirty="0"/>
              <a:t>sebuah</a:t>
            </a:r>
            <a:r>
              <a:rPr spc="-105" dirty="0"/>
              <a:t> </a:t>
            </a:r>
            <a:r>
              <a:rPr spc="-15" dirty="0"/>
              <a:t>sistem </a:t>
            </a:r>
            <a:r>
              <a:rPr spc="-10" dirty="0"/>
              <a:t>informasi</a:t>
            </a:r>
          </a:p>
          <a:p>
            <a:pPr marL="286385" marR="176530" indent="-274320">
              <a:lnSpc>
                <a:spcPct val="100000"/>
              </a:lnSpc>
              <a:spcBef>
                <a:spcPts val="580"/>
              </a:spcBef>
              <a:buClr>
                <a:srgbClr val="0AD0D9"/>
              </a:buClr>
              <a:buSzPct val="93750"/>
              <a:buFont typeface="Segoe UI Symbol"/>
              <a:buChar char="⚫"/>
              <a:tabLst>
                <a:tab pos="287020" algn="l"/>
              </a:tabLst>
            </a:pPr>
            <a:r>
              <a:rPr spc="-10" dirty="0">
                <a:solidFill>
                  <a:srgbClr val="0000CC"/>
                </a:solidFill>
              </a:rPr>
              <a:t>Pembersihan </a:t>
            </a:r>
            <a:r>
              <a:rPr dirty="0">
                <a:solidFill>
                  <a:srgbClr val="0000CC"/>
                </a:solidFill>
              </a:rPr>
              <a:t>data </a:t>
            </a:r>
            <a:r>
              <a:rPr i="1" spc="-15" dirty="0">
                <a:solidFill>
                  <a:srgbClr val="0000CC"/>
                </a:solidFill>
                <a:latin typeface="Constantia"/>
                <a:cs typeface="Constantia"/>
              </a:rPr>
              <a:t>(data </a:t>
            </a:r>
            <a:r>
              <a:rPr i="1" spc="-5" dirty="0">
                <a:solidFill>
                  <a:srgbClr val="0000CC"/>
                </a:solidFill>
                <a:latin typeface="Constantia"/>
                <a:cs typeface="Constantia"/>
              </a:rPr>
              <a:t>cleansing) </a:t>
            </a:r>
            <a:r>
              <a:rPr spc="-10" dirty="0"/>
              <a:t>Merupakan Kegiatan </a:t>
            </a:r>
            <a:r>
              <a:rPr spc="-5" dirty="0"/>
              <a:t> mendeteksi</a:t>
            </a:r>
            <a:r>
              <a:rPr spc="-95" dirty="0"/>
              <a:t> </a:t>
            </a:r>
            <a:r>
              <a:rPr spc="-5" dirty="0"/>
              <a:t>dan</a:t>
            </a:r>
            <a:r>
              <a:rPr spc="-35" dirty="0"/>
              <a:t> </a:t>
            </a:r>
            <a:r>
              <a:rPr spc="-15" dirty="0"/>
              <a:t>mengkoreksi</a:t>
            </a:r>
            <a:r>
              <a:rPr spc="-40" dirty="0"/>
              <a:t> </a:t>
            </a:r>
            <a:r>
              <a:rPr spc="-5" dirty="0"/>
              <a:t>data</a:t>
            </a:r>
            <a:r>
              <a:rPr spc="-114" dirty="0"/>
              <a:t> </a:t>
            </a:r>
            <a:r>
              <a:rPr spc="-5" dirty="0"/>
              <a:t>dalam</a:t>
            </a:r>
            <a:r>
              <a:rPr spc="-75" dirty="0"/>
              <a:t> </a:t>
            </a:r>
            <a:r>
              <a:rPr spc="-5" dirty="0"/>
              <a:t>basis</a:t>
            </a:r>
            <a:r>
              <a:rPr spc="-95" dirty="0"/>
              <a:t> </a:t>
            </a:r>
            <a:r>
              <a:rPr spc="-5" dirty="0"/>
              <a:t>data</a:t>
            </a:r>
            <a:r>
              <a:rPr spc="-135" dirty="0"/>
              <a:t> </a:t>
            </a:r>
            <a:r>
              <a:rPr spc="-10" dirty="0"/>
              <a:t>yang </a:t>
            </a:r>
            <a:r>
              <a:rPr spc="-590" dirty="0"/>
              <a:t> </a:t>
            </a:r>
            <a:r>
              <a:rPr spc="-5" dirty="0"/>
              <a:t>tidak </a:t>
            </a:r>
            <a:r>
              <a:rPr spc="-40" dirty="0"/>
              <a:t>benar, </a:t>
            </a:r>
            <a:r>
              <a:rPr spc="-5" dirty="0"/>
              <a:t>tidak </a:t>
            </a:r>
            <a:r>
              <a:rPr spc="-15" dirty="0"/>
              <a:t>lengkap, formatnya </a:t>
            </a:r>
            <a:r>
              <a:rPr spc="-5" dirty="0"/>
              <a:t>tidak </a:t>
            </a:r>
            <a:r>
              <a:rPr spc="-10" dirty="0"/>
              <a:t>tepat </a:t>
            </a:r>
            <a:r>
              <a:rPr spc="-5" dirty="0"/>
              <a:t>atau </a:t>
            </a:r>
            <a:r>
              <a:rPr dirty="0"/>
              <a:t> </a:t>
            </a:r>
            <a:r>
              <a:rPr spc="-5" dirty="0"/>
              <a:t>berlebihan.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object 8"/>
          <p:cNvSpPr txBox="1">
            <a:spLocks noGrp="1"/>
          </p:cNvSpPr>
          <p:nvPr>
            <p:ph type="title"/>
          </p:nvPr>
        </p:nvSpPr>
        <p:spPr>
          <a:xfrm>
            <a:off x="-12700" y="0"/>
            <a:ext cx="6216015" cy="75755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4607A"/>
                </a:solidFill>
                <a:latin typeface="Calibri"/>
                <a:cs typeface="Calibri"/>
              </a:rPr>
              <a:t>TUGAS</a:t>
            </a:r>
            <a:r>
              <a:rPr sz="2400" spc="-70" dirty="0">
                <a:solidFill>
                  <a:srgbClr val="04607A"/>
                </a:solidFill>
                <a:latin typeface="Calibri"/>
                <a:cs typeface="Calibri"/>
              </a:rPr>
              <a:t> </a:t>
            </a:r>
            <a:r>
              <a:rPr sz="2400" dirty="0">
                <a:solidFill>
                  <a:srgbClr val="04607A"/>
                </a:solidFill>
                <a:latin typeface="Calibri"/>
                <a:cs typeface="Calibri"/>
              </a:rPr>
              <a:t>MANDIRI</a:t>
            </a:r>
            <a:endParaRPr sz="2400">
              <a:latin typeface="Calibri"/>
              <a:cs typeface="Calibri"/>
            </a:endParaRPr>
          </a:p>
          <a:p>
            <a:pPr marL="12700">
              <a:lnSpc>
                <a:spcPct val="100000"/>
              </a:lnSpc>
            </a:pPr>
            <a:r>
              <a:rPr sz="2400" spc="-40" dirty="0">
                <a:solidFill>
                  <a:srgbClr val="04607A"/>
                </a:solidFill>
                <a:latin typeface="Calibri"/>
                <a:cs typeface="Calibri"/>
              </a:rPr>
              <a:t>BUATLAH</a:t>
            </a:r>
            <a:r>
              <a:rPr sz="2400" spc="-25" dirty="0">
                <a:solidFill>
                  <a:srgbClr val="04607A"/>
                </a:solidFill>
                <a:latin typeface="Calibri"/>
                <a:cs typeface="Calibri"/>
              </a:rPr>
              <a:t> </a:t>
            </a:r>
            <a:r>
              <a:rPr sz="2400" spc="-5" dirty="0">
                <a:solidFill>
                  <a:srgbClr val="04607A"/>
                </a:solidFill>
                <a:latin typeface="Calibri"/>
                <a:cs typeface="Calibri"/>
              </a:rPr>
              <a:t>ERD</a:t>
            </a:r>
            <a:r>
              <a:rPr sz="2400" spc="-20" dirty="0">
                <a:solidFill>
                  <a:srgbClr val="04607A"/>
                </a:solidFill>
                <a:latin typeface="Calibri"/>
                <a:cs typeface="Calibri"/>
              </a:rPr>
              <a:t> </a:t>
            </a:r>
            <a:r>
              <a:rPr sz="2400" spc="-5" dirty="0">
                <a:solidFill>
                  <a:srgbClr val="04607A"/>
                </a:solidFill>
                <a:latin typeface="Calibri"/>
                <a:cs typeface="Calibri"/>
              </a:rPr>
              <a:t>DAN</a:t>
            </a:r>
            <a:r>
              <a:rPr sz="2400" spc="-30" dirty="0">
                <a:solidFill>
                  <a:srgbClr val="04607A"/>
                </a:solidFill>
                <a:latin typeface="Calibri"/>
                <a:cs typeface="Calibri"/>
              </a:rPr>
              <a:t> </a:t>
            </a:r>
            <a:r>
              <a:rPr sz="2400" spc="-15" dirty="0">
                <a:solidFill>
                  <a:srgbClr val="04607A"/>
                </a:solidFill>
                <a:latin typeface="Calibri"/>
                <a:cs typeface="Calibri"/>
              </a:rPr>
              <a:t>LRS</a:t>
            </a:r>
            <a:r>
              <a:rPr sz="2400" spc="-25" dirty="0">
                <a:solidFill>
                  <a:srgbClr val="04607A"/>
                </a:solidFill>
                <a:latin typeface="Calibri"/>
                <a:cs typeface="Calibri"/>
              </a:rPr>
              <a:t> </a:t>
            </a:r>
            <a:r>
              <a:rPr sz="2400" spc="-10" dirty="0">
                <a:solidFill>
                  <a:srgbClr val="04607A"/>
                </a:solidFill>
                <a:latin typeface="Calibri"/>
                <a:cs typeface="Calibri"/>
              </a:rPr>
              <a:t>DARI</a:t>
            </a:r>
            <a:r>
              <a:rPr sz="2400" spc="-45" dirty="0">
                <a:solidFill>
                  <a:srgbClr val="04607A"/>
                </a:solidFill>
                <a:latin typeface="Calibri"/>
                <a:cs typeface="Calibri"/>
              </a:rPr>
              <a:t> </a:t>
            </a:r>
            <a:r>
              <a:rPr sz="2400" spc="-5" dirty="0">
                <a:solidFill>
                  <a:srgbClr val="04607A"/>
                </a:solidFill>
                <a:latin typeface="Calibri"/>
                <a:cs typeface="Calibri"/>
              </a:rPr>
              <a:t>DOKUMEN</a:t>
            </a:r>
            <a:r>
              <a:rPr sz="2400" spc="-40" dirty="0">
                <a:solidFill>
                  <a:srgbClr val="04607A"/>
                </a:solidFill>
                <a:latin typeface="Calibri"/>
                <a:cs typeface="Calibri"/>
              </a:rPr>
              <a:t> </a:t>
            </a:r>
            <a:r>
              <a:rPr sz="2400" spc="-10" dirty="0">
                <a:solidFill>
                  <a:srgbClr val="04607A"/>
                </a:solidFill>
                <a:latin typeface="Calibri"/>
                <a:cs typeface="Calibri"/>
              </a:rPr>
              <a:t>BERIKUT</a:t>
            </a:r>
            <a:r>
              <a:rPr sz="2400" spc="-15" dirty="0">
                <a:solidFill>
                  <a:srgbClr val="04607A"/>
                </a:solidFill>
                <a:latin typeface="Calibri"/>
                <a:cs typeface="Calibri"/>
              </a:rPr>
              <a:t> </a:t>
            </a:r>
            <a:r>
              <a:rPr sz="2400" dirty="0">
                <a:solidFill>
                  <a:srgbClr val="04607A"/>
                </a:solidFill>
                <a:latin typeface="Calibri"/>
                <a:cs typeface="Calibri"/>
              </a:rPr>
              <a:t>:</a:t>
            </a:r>
            <a:endParaRPr sz="2400">
              <a:latin typeface="Calibri"/>
              <a:cs typeface="Calibri"/>
            </a:endParaRPr>
          </a:p>
        </p:txBody>
      </p:sp>
      <p:pic>
        <p:nvPicPr>
          <p:cNvPr id="9" name="object 9"/>
          <p:cNvPicPr/>
          <p:nvPr/>
        </p:nvPicPr>
        <p:blipFill>
          <a:blip r:embed="rId3" cstate="print"/>
          <a:stretch>
            <a:fillRect/>
          </a:stretch>
        </p:blipFill>
        <p:spPr>
          <a:xfrm>
            <a:off x="714375" y="1357375"/>
            <a:ext cx="7810500" cy="5214874"/>
          </a:xfrm>
          <a:prstGeom prst="rect">
            <a:avLst/>
          </a:prstGeom>
        </p:spPr>
      </p:pic>
      <p:sp>
        <p:nvSpPr>
          <p:cNvPr id="10" name="object 10"/>
          <p:cNvSpPr txBox="1"/>
          <p:nvPr/>
        </p:nvSpPr>
        <p:spPr>
          <a:xfrm>
            <a:off x="108915" y="719454"/>
            <a:ext cx="518159"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a:cs typeface="Times New Roman"/>
              </a:rPr>
              <a:t>B</a:t>
            </a:r>
            <a:r>
              <a:rPr sz="1200" b="1" spc="-5" dirty="0">
                <a:latin typeface="Times New Roman"/>
                <a:cs typeface="Times New Roman"/>
              </a:rPr>
              <a:t>U</a:t>
            </a:r>
            <a:r>
              <a:rPr sz="1200" b="1" spc="-110" dirty="0">
                <a:latin typeface="Times New Roman"/>
                <a:cs typeface="Times New Roman"/>
              </a:rPr>
              <a:t>A</a:t>
            </a:r>
            <a:r>
              <a:rPr sz="1200" b="1" dirty="0">
                <a:latin typeface="Times New Roman"/>
                <a:cs typeface="Times New Roman"/>
              </a:rPr>
              <a:t>T</a:t>
            </a:r>
            <a:r>
              <a:rPr sz="1200" b="1" spc="-70" dirty="0">
                <a:latin typeface="Times New Roman"/>
                <a:cs typeface="Times New Roman"/>
              </a:rPr>
              <a:t> </a:t>
            </a:r>
            <a:r>
              <a:rPr sz="1200" b="1" dirty="0">
                <a:latin typeface="Times New Roman"/>
                <a:cs typeface="Times New Roman"/>
              </a:rPr>
              <a:t>:</a:t>
            </a:r>
            <a:endParaRPr sz="1200">
              <a:latin typeface="Times New Roman"/>
              <a:cs typeface="Times New Roman"/>
            </a:endParaRPr>
          </a:p>
        </p:txBody>
      </p:sp>
      <p:sp>
        <p:nvSpPr>
          <p:cNvPr id="11" name="object 11"/>
          <p:cNvSpPr txBox="1"/>
          <p:nvPr/>
        </p:nvSpPr>
        <p:spPr>
          <a:xfrm>
            <a:off x="108915" y="902334"/>
            <a:ext cx="2491105" cy="574675"/>
          </a:xfrm>
          <a:prstGeom prst="rect">
            <a:avLst/>
          </a:prstGeom>
        </p:spPr>
        <p:txBody>
          <a:bodyPr vert="horz" wrap="square" lIns="0" tIns="12700" rIns="0" bIns="0" rtlCol="0">
            <a:spAutoFit/>
          </a:bodyPr>
          <a:lstStyle/>
          <a:p>
            <a:pPr marL="356870" indent="-344805">
              <a:lnSpc>
                <a:spcPct val="100000"/>
              </a:lnSpc>
              <a:spcBef>
                <a:spcPts val="100"/>
              </a:spcBef>
              <a:buChar char="-"/>
              <a:tabLst>
                <a:tab pos="356870" algn="l"/>
                <a:tab pos="357505" algn="l"/>
              </a:tabLst>
            </a:pPr>
            <a:r>
              <a:rPr sz="1200" dirty="0">
                <a:latin typeface="Times New Roman"/>
                <a:cs typeface="Times New Roman"/>
              </a:rPr>
              <a:t>ER-D</a:t>
            </a:r>
            <a:endParaRPr sz="1200">
              <a:latin typeface="Times New Roman"/>
              <a:cs typeface="Times New Roman"/>
            </a:endParaRPr>
          </a:p>
          <a:p>
            <a:pPr marL="356870" indent="-344805">
              <a:lnSpc>
                <a:spcPct val="100000"/>
              </a:lnSpc>
              <a:buChar char="-"/>
              <a:tabLst>
                <a:tab pos="356870" algn="l"/>
                <a:tab pos="357505" algn="l"/>
              </a:tabLst>
            </a:pPr>
            <a:r>
              <a:rPr sz="1200" spc="-10" dirty="0">
                <a:latin typeface="Times New Roman"/>
                <a:cs typeface="Times New Roman"/>
              </a:rPr>
              <a:t>TRANSFORMASI </a:t>
            </a:r>
            <a:r>
              <a:rPr sz="1200" dirty="0">
                <a:latin typeface="Times New Roman"/>
                <a:cs typeface="Times New Roman"/>
              </a:rPr>
              <a:t>ER-D</a:t>
            </a:r>
            <a:r>
              <a:rPr sz="1200" spc="-15" dirty="0">
                <a:latin typeface="Times New Roman"/>
                <a:cs typeface="Times New Roman"/>
              </a:rPr>
              <a:t> </a:t>
            </a:r>
            <a:r>
              <a:rPr sz="1200" spc="-20" dirty="0">
                <a:latin typeface="Times New Roman"/>
                <a:cs typeface="Times New Roman"/>
              </a:rPr>
              <a:t>KE</a:t>
            </a:r>
            <a:r>
              <a:rPr sz="1200" spc="-5" dirty="0">
                <a:latin typeface="Times New Roman"/>
                <a:cs typeface="Times New Roman"/>
              </a:rPr>
              <a:t> </a:t>
            </a:r>
            <a:r>
              <a:rPr sz="1200" spc="-10" dirty="0">
                <a:latin typeface="Times New Roman"/>
                <a:cs typeface="Times New Roman"/>
              </a:rPr>
              <a:t>LRS</a:t>
            </a:r>
            <a:endParaRPr sz="1200">
              <a:latin typeface="Times New Roman"/>
              <a:cs typeface="Times New Roman"/>
            </a:endParaRPr>
          </a:p>
          <a:p>
            <a:pPr marL="356870" indent="-344805">
              <a:lnSpc>
                <a:spcPct val="100000"/>
              </a:lnSpc>
              <a:buChar char="-"/>
              <a:tabLst>
                <a:tab pos="356870" algn="l"/>
                <a:tab pos="357505" algn="l"/>
              </a:tabLst>
            </a:pPr>
            <a:r>
              <a:rPr sz="1200" spc="-10" dirty="0">
                <a:latin typeface="Times New Roman"/>
                <a:cs typeface="Times New Roman"/>
              </a:rPr>
              <a:t>LRS</a:t>
            </a:r>
            <a:endParaRPr sz="1200">
              <a:latin typeface="Times New Roman"/>
              <a:cs typeface="Times New Roman"/>
            </a:endParaRPr>
          </a:p>
        </p:txBody>
      </p:sp>
      <p:sp>
        <p:nvSpPr>
          <p:cNvPr id="12" name="object 12"/>
          <p:cNvSpPr txBox="1"/>
          <p:nvPr/>
        </p:nvSpPr>
        <p:spPr>
          <a:xfrm>
            <a:off x="3361182" y="875157"/>
            <a:ext cx="5110480" cy="39116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a:cs typeface="Times New Roman"/>
              </a:rPr>
              <a:t>DIKUMPULKAN</a:t>
            </a:r>
            <a:r>
              <a:rPr sz="1200" b="1" spc="-80" dirty="0">
                <a:latin typeface="Times New Roman"/>
                <a:cs typeface="Times New Roman"/>
              </a:rPr>
              <a:t> </a:t>
            </a:r>
            <a:r>
              <a:rPr sz="1200" b="1" spc="-5" dirty="0">
                <a:latin typeface="Times New Roman"/>
                <a:cs typeface="Times New Roman"/>
              </a:rPr>
              <a:t>TERAKHIR</a:t>
            </a:r>
            <a:r>
              <a:rPr sz="1200" b="1" spc="-10" dirty="0">
                <a:latin typeface="Times New Roman"/>
                <a:cs typeface="Times New Roman"/>
              </a:rPr>
              <a:t> </a:t>
            </a:r>
            <a:r>
              <a:rPr sz="1200" b="1" spc="-20" dirty="0">
                <a:latin typeface="Times New Roman"/>
                <a:cs typeface="Times New Roman"/>
              </a:rPr>
              <a:t>TANGGAL</a:t>
            </a:r>
            <a:r>
              <a:rPr sz="1200" b="1" spc="-65" dirty="0">
                <a:latin typeface="Times New Roman"/>
                <a:cs typeface="Times New Roman"/>
              </a:rPr>
              <a:t> </a:t>
            </a:r>
            <a:r>
              <a:rPr sz="1200" b="1" dirty="0">
                <a:latin typeface="Times New Roman"/>
                <a:cs typeface="Times New Roman"/>
              </a:rPr>
              <a:t>8</a:t>
            </a:r>
            <a:r>
              <a:rPr sz="1200" b="1" spc="-55" dirty="0">
                <a:latin typeface="Times New Roman"/>
                <a:cs typeface="Times New Roman"/>
              </a:rPr>
              <a:t> </a:t>
            </a:r>
            <a:r>
              <a:rPr sz="1200" b="1" spc="-10" dirty="0">
                <a:latin typeface="Times New Roman"/>
                <a:cs typeface="Times New Roman"/>
              </a:rPr>
              <a:t>APRIL</a:t>
            </a:r>
            <a:r>
              <a:rPr sz="1200" b="1" spc="-40" dirty="0">
                <a:latin typeface="Times New Roman"/>
                <a:cs typeface="Times New Roman"/>
              </a:rPr>
              <a:t> </a:t>
            </a:r>
            <a:r>
              <a:rPr sz="1200" b="1" dirty="0">
                <a:latin typeface="Times New Roman"/>
                <a:cs typeface="Times New Roman"/>
              </a:rPr>
              <a:t>2012 PUKUL</a:t>
            </a:r>
            <a:r>
              <a:rPr sz="1200" b="1" spc="-65" dirty="0">
                <a:latin typeface="Times New Roman"/>
                <a:cs typeface="Times New Roman"/>
              </a:rPr>
              <a:t> </a:t>
            </a:r>
            <a:r>
              <a:rPr sz="1200" b="1" dirty="0">
                <a:latin typeface="Times New Roman"/>
                <a:cs typeface="Times New Roman"/>
              </a:rPr>
              <a:t>23.59</a:t>
            </a:r>
            <a:r>
              <a:rPr sz="1200" b="1" spc="-30" dirty="0">
                <a:latin typeface="Times New Roman"/>
                <a:cs typeface="Times New Roman"/>
              </a:rPr>
              <a:t> </a:t>
            </a:r>
            <a:r>
              <a:rPr sz="1200" b="1" spc="-5" dirty="0">
                <a:latin typeface="Times New Roman"/>
                <a:cs typeface="Times New Roman"/>
              </a:rPr>
              <a:t>WIB</a:t>
            </a:r>
            <a:endParaRPr sz="1200" dirty="0">
              <a:latin typeface="Times New Roman"/>
              <a:cs typeface="Times New Roman"/>
            </a:endParaRPr>
          </a:p>
          <a:p>
            <a:pPr marL="12700">
              <a:lnSpc>
                <a:spcPct val="100000"/>
              </a:lnSpc>
            </a:pPr>
            <a:r>
              <a:rPr sz="1200" b="1" dirty="0">
                <a:latin typeface="Times New Roman"/>
                <a:cs typeface="Times New Roman"/>
              </a:rPr>
              <a:t>KIRIM</a:t>
            </a:r>
            <a:r>
              <a:rPr sz="1200" b="1" spc="-40" dirty="0">
                <a:latin typeface="Times New Roman"/>
                <a:cs typeface="Times New Roman"/>
              </a:rPr>
              <a:t> </a:t>
            </a:r>
            <a:r>
              <a:rPr sz="1200" b="1" spc="10" dirty="0">
                <a:latin typeface="Times New Roman"/>
                <a:cs typeface="Times New Roman"/>
              </a:rPr>
              <a:t>KE</a:t>
            </a:r>
            <a:r>
              <a:rPr sz="1200" b="1" spc="-30" dirty="0">
                <a:latin typeface="Times New Roman"/>
                <a:cs typeface="Times New Roman"/>
              </a:rPr>
              <a:t> </a:t>
            </a:r>
            <a:r>
              <a:rPr lang="en-US" sz="1200" b="1" u="heavy" spc="-10" dirty="0" smtClean="0">
                <a:solidFill>
                  <a:srgbClr val="0070C0"/>
                </a:solidFill>
                <a:uFill>
                  <a:solidFill>
                    <a:srgbClr val="F49100"/>
                  </a:solidFill>
                </a:uFill>
                <a:latin typeface="Times New Roman"/>
                <a:cs typeface="Times New Roman"/>
              </a:rPr>
              <a:t>dosen01671@unpam.ac.id</a:t>
            </a:r>
            <a:r>
              <a:rPr sz="1200" b="1" spc="-10" dirty="0" smtClean="0">
                <a:latin typeface="Times New Roman"/>
                <a:cs typeface="Times New Roman"/>
              </a:rPr>
              <a:t>,</a:t>
            </a:r>
            <a:r>
              <a:rPr sz="1200" b="1" spc="95" dirty="0" smtClean="0">
                <a:latin typeface="Times New Roman"/>
                <a:cs typeface="Times New Roman"/>
              </a:rPr>
              <a:t> </a:t>
            </a:r>
            <a:r>
              <a:rPr sz="1200" b="1" dirty="0">
                <a:latin typeface="Times New Roman"/>
                <a:cs typeface="Times New Roman"/>
              </a:rPr>
              <a:t>cc</a:t>
            </a:r>
            <a:r>
              <a:rPr sz="1200" b="1" spc="10" dirty="0">
                <a:latin typeface="Times New Roman"/>
                <a:cs typeface="Times New Roman"/>
              </a:rPr>
              <a:t> </a:t>
            </a:r>
            <a:r>
              <a:rPr sz="1200" b="1" dirty="0">
                <a:latin typeface="Times New Roman"/>
                <a:cs typeface="Times New Roman"/>
              </a:rPr>
              <a:t>:</a:t>
            </a:r>
            <a:r>
              <a:rPr sz="1200" b="1" spc="15" dirty="0">
                <a:latin typeface="Times New Roman"/>
                <a:cs typeface="Times New Roman"/>
              </a:rPr>
              <a:t> </a:t>
            </a:r>
            <a:r>
              <a:rPr lang="en-US" sz="1200" b="1" dirty="0" smtClean="0">
                <a:solidFill>
                  <a:srgbClr val="0070C0"/>
                </a:solidFill>
                <a:latin typeface="Times New Roman"/>
                <a:cs typeface="Times New Roman"/>
              </a:rPr>
              <a:t>agungjawa1@gmail.com</a:t>
            </a:r>
            <a:endParaRPr sz="1200" dirty="0">
              <a:solidFill>
                <a:srgbClr val="0070C0"/>
              </a:solidFill>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27101" cy="6858000"/>
          </a:xfrm>
          <a:prstGeom prst="rect">
            <a:avLst/>
          </a:prstGeom>
        </p:spPr>
      </p:pic>
    </p:spTree>
    <p:extLst>
      <p:ext uri="{BB962C8B-B14F-4D97-AF65-F5344CB8AC3E}">
        <p14:creationId xmlns:p14="http://schemas.microsoft.com/office/powerpoint/2010/main" val="3940202713"/>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PPT TI50hal</Template>
  <TotalTime>6</TotalTime>
  <Words>1389</Words>
  <Application>Microsoft Office PowerPoint</Application>
  <PresentationFormat>On-screen Show (4:3)</PresentationFormat>
  <Paragraphs>589</Paragraphs>
  <Slides>40</Slides>
  <Notes>0</Notes>
  <HiddenSlides>0</HiddenSlides>
  <MMClips>0</MMClips>
  <ScaleCrop>false</ScaleCrop>
  <HeadingPairs>
    <vt:vector size="6" baseType="variant">
      <vt:variant>
        <vt:lpstr>Fonts Used</vt:lpstr>
      </vt:variant>
      <vt:variant>
        <vt:i4>10</vt:i4>
      </vt:variant>
      <vt:variant>
        <vt:lpstr>Theme</vt:lpstr>
      </vt:variant>
      <vt:variant>
        <vt:i4>8</vt:i4>
      </vt:variant>
      <vt:variant>
        <vt:lpstr>Slide Titles</vt:lpstr>
      </vt:variant>
      <vt:variant>
        <vt:i4>40</vt:i4>
      </vt:variant>
    </vt:vector>
  </HeadingPairs>
  <TitlesOfParts>
    <vt:vector size="58" baseType="lpstr">
      <vt:lpstr>Arial</vt:lpstr>
      <vt:lpstr>Arial MT</vt:lpstr>
      <vt:lpstr>Calibri</vt:lpstr>
      <vt:lpstr>Calibri Light</vt:lpstr>
      <vt:lpstr>Constantia</vt:lpstr>
      <vt:lpstr>Segoe UI Symbol</vt:lpstr>
      <vt:lpstr>Tahoma</vt:lpstr>
      <vt:lpstr>Times New Roman</vt:lpstr>
      <vt:lpstr>Verdana</vt:lpstr>
      <vt:lpstr>Wingdings</vt:lpstr>
      <vt:lpstr>6_Office Theme</vt:lpstr>
      <vt:lpstr>7_Office Theme</vt:lpstr>
      <vt:lpstr>4_Office Theme</vt:lpstr>
      <vt:lpstr>3_Office Theme</vt:lpstr>
      <vt:lpstr>2_Office Theme</vt:lpstr>
      <vt:lpstr>Office Theme</vt:lpstr>
      <vt:lpstr>5_Office Theme</vt:lpstr>
      <vt:lpstr>1_Office Theme</vt:lpstr>
      <vt:lpstr>PowerPoint Presentation</vt:lpstr>
      <vt:lpstr>PowerPoint Presentation</vt:lpstr>
      <vt:lpstr>MENGORGANISASIKAN DATA DALAM  LINGKUNGAN FILE TRADISIONAL</vt:lpstr>
      <vt:lpstr>HIRARKI DATA</vt:lpstr>
      <vt:lpstr>PEMROSESAN FILE TRADISIONAL Pada kebanyakan organisasi, file data dan sistem cenderung ber  tumbuh secara mandiri tanpa rencana menyeluruh untuk perusahaan.  Akuntansi, Keuangan, Manufaktur, SDM, juga penjualan dan  pemasaran, semua berkembang dengan sistem dan file datanya sendiri.</vt:lpstr>
      <vt:lpstr>MASALAH DENGAN LINGKUNGAN  FILE TRADISIONAL</vt:lpstr>
      <vt:lpstr>PENDEKATAN BASIS DATA  TERHADAP PENGELOLAAN DATA</vt:lpstr>
      <vt:lpstr>TABEL BASIS DATA RELASIONAL</vt:lpstr>
      <vt:lpstr>QUERI MS. ACCESS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TRANSFORMASI D-ER KE LRS</vt:lpstr>
      <vt:lpstr>PowerPoint Presentation</vt:lpstr>
      <vt:lpstr>TRANSFORMASI D-ER KE LRS</vt:lpstr>
      <vt:lpstr>PowerPoint Presentation</vt:lpstr>
      <vt:lpstr>PowerPoint Presentation</vt:lpstr>
      <vt:lpstr>PowerPoint Presentation</vt:lpstr>
      <vt:lpstr>PowerPoint Presentation</vt:lpstr>
      <vt:lpstr>PowerPoint Presentation</vt:lpstr>
      <vt:lpstr>TRANSFORMASI D-ER KE LRS</vt:lpstr>
      <vt:lpstr>TRANSFORMASI D-ER KE LRS</vt:lpstr>
      <vt:lpstr>PowerPoint Presentation</vt:lpstr>
      <vt:lpstr>PowerPoint Presentation</vt:lpstr>
      <vt:lpstr>TRANSFORMASI LRS KE RELASI</vt:lpstr>
      <vt:lpstr>PowerPoint Presentation</vt:lpstr>
      <vt:lpstr>SPESIFIKASI BASIS DATA</vt:lpstr>
      <vt:lpstr>Contoh :</vt:lpstr>
      <vt:lpstr>TAHAP MEMBUAT ERD</vt:lpstr>
      <vt:lpstr>MENGGUNAKAN BASIS DATA UNTUK MENINGKATKAN  KINERJA BISNIS DAN PROSES PENGAMBILAN KEPUTUSAN</vt:lpstr>
      <vt:lpstr>MENGELOLA SUMBER DATA</vt:lpstr>
      <vt:lpstr>MEMASTIKAN KUALITAS DATA</vt:lpstr>
      <vt:lpstr>TUGAS MANDIRI BUATLAH ERD DAN LRS DARI DOKUMEN BERIKUT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USULAN KURIKULUM  PROGRAM STUDI KOMPUTERISASI AKUNTANSI JENJANG STRATA 1</dc:title>
  <dc:creator>deni</dc:creator>
  <cp:lastModifiedBy>Windows User</cp:lastModifiedBy>
  <cp:revision>4</cp:revision>
  <dcterms:created xsi:type="dcterms:W3CDTF">2021-08-24T12:47:24Z</dcterms:created>
  <dcterms:modified xsi:type="dcterms:W3CDTF">2021-08-28T00:19:12Z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2016-09-18T00:00:00Z</vt:filetime>
  </property>
  <property fmtid="{D5CDD505-2E9C-101B-9397-08002B2CF9AE}" pid="3" name="Creator">
    <vt:lpwstr>Microsoft® Office PowerPoint® 2007</vt:lpwstr>
  </property>
  <property fmtid="{D5CDD505-2E9C-101B-9397-08002B2CF9AE}" pid="4" name="LastSaved">
    <vt:filetime>2021-08-24T00:00:00Z</vt:filetime>
  </property>
</Properties>
</file>