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theme/theme8.xml" ContentType="application/vnd.openxmlformats-officedocument.theme+xml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1" r:id="rId2"/>
    <p:sldMasterId id="2147483673" r:id="rId3"/>
    <p:sldMasterId id="2147483675" r:id="rId4"/>
    <p:sldMasterId id="2147483677" r:id="rId5"/>
    <p:sldMasterId id="2147483679" r:id="rId6"/>
    <p:sldMasterId id="2147483687" r:id="rId7"/>
    <p:sldMasterId id="2147483689" r:id="rId8"/>
  </p:sldMasterIdLst>
  <p:sldIdLst>
    <p:sldId id="280" r:id="rId9"/>
    <p:sldId id="281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82" r:id="rId3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0580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57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44" y="1402156"/>
            <a:ext cx="8223910" cy="4253230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792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41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405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44" y="1402156"/>
            <a:ext cx="8223910" cy="4253230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481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848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1866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47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0044" y="1402156"/>
            <a:ext cx="8223910" cy="4253230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556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2404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0686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9922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0761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9605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4501662" y="683288"/>
            <a:ext cx="464233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27546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9144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2144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9983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07752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1847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254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851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0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41" y="6422940"/>
            <a:ext cx="339764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" y="6419058"/>
            <a:ext cx="285368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InfoTI_unpam</a:t>
            </a:r>
            <a:endParaRPr lang="en-ID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informatika.unpam.ac.id</a:t>
            </a:r>
            <a:endParaRPr lang="en-ID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997" y="6412027"/>
            <a:ext cx="48627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692" y="6366986"/>
            <a:ext cx="384305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12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4" r:id="rId2"/>
    <p:sldLayoutId id="2147483695" r:id="rId3"/>
    <p:sldLayoutId id="2147483696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50" dirty="0"/>
              <a:t>TERIMA KASIH</a:t>
            </a:r>
            <a:endParaRPr lang="en-ID" sz="4050" dirty="0"/>
          </a:p>
        </p:txBody>
      </p:sp>
    </p:spTree>
    <p:extLst>
      <p:ext uri="{BB962C8B-B14F-4D97-AF65-F5344CB8AC3E}">
        <p14:creationId xmlns:p14="http://schemas.microsoft.com/office/powerpoint/2010/main" val="286831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1" r:id="rId2"/>
    <p:sldLayoutId id="2147483692" r:id="rId3"/>
    <p:sldLayoutId id="2147483693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344827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057400"/>
            <a:ext cx="36576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/>
              <a:t>TERIMA KASIH, MAHASISWA TEKNIK INFORMATIKA UNGGUL, ANDA SUDAH BELAJAR DENGAN LUAR BIASA</a:t>
            </a:r>
            <a:endParaRPr lang="en-ID" sz="1350" dirty="0"/>
          </a:p>
        </p:txBody>
      </p:sp>
    </p:spTree>
    <p:extLst>
      <p:ext uri="{BB962C8B-B14F-4D97-AF65-F5344CB8AC3E}">
        <p14:creationId xmlns:p14="http://schemas.microsoft.com/office/powerpoint/2010/main" val="172300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655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1" y="38925"/>
            <a:ext cx="83946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PROGRAM STUDI S1 TEKNIK INFORMATIKA</a:t>
            </a:r>
            <a:br>
              <a:rPr lang="en-US" sz="1800" dirty="0"/>
            </a:br>
            <a:r>
              <a:rPr lang="en-US" sz="1800" dirty="0"/>
              <a:t>UNIVERSITAS PAMULANG</a:t>
            </a:r>
            <a:endParaRPr lang="en-ID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264" y="0"/>
            <a:ext cx="1607736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338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/>
        </p:nvSpPr>
        <p:spPr>
          <a:xfrm rot="16200000">
            <a:off x="7421965" y="5135961"/>
            <a:ext cx="1884065" cy="1560008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Program </a:t>
            </a:r>
            <a:r>
              <a:rPr lang="en-US" sz="1500" dirty="0" err="1">
                <a:solidFill>
                  <a:schemeClr val="tx1"/>
                </a:solidFill>
              </a:rPr>
              <a:t>Studi</a:t>
            </a:r>
            <a:r>
              <a:rPr lang="en-US" sz="1500" dirty="0">
                <a:solidFill>
                  <a:schemeClr val="tx1"/>
                </a:solidFill>
              </a:rPr>
              <a:t> Teknik </a:t>
            </a:r>
            <a:r>
              <a:rPr lang="en-US" sz="1500" dirty="0" err="1">
                <a:solidFill>
                  <a:schemeClr val="tx1"/>
                </a:solidFill>
              </a:rPr>
              <a:t>Informatika</a:t>
            </a:r>
            <a:r>
              <a:rPr lang="en-US" sz="1500" dirty="0">
                <a:solidFill>
                  <a:schemeClr val="tx1"/>
                </a:solidFill>
              </a:rPr>
              <a:t>, Universitas </a:t>
            </a:r>
            <a:r>
              <a:rPr lang="en-US" sz="1500" dirty="0" err="1">
                <a:solidFill>
                  <a:schemeClr val="tx1"/>
                </a:solidFill>
              </a:rPr>
              <a:t>Pamulang</a:t>
            </a:r>
            <a:endParaRPr lang="en-US" sz="1500" dirty="0">
              <a:solidFill>
                <a:schemeClr val="tx1"/>
              </a:solidFill>
            </a:endParaRPr>
          </a:p>
          <a:p>
            <a:pPr algn="ctr"/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ID" sz="15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79" y="5725289"/>
            <a:ext cx="781941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6" y="5864994"/>
            <a:ext cx="1052616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57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38200" y="2540266"/>
            <a:ext cx="6802120" cy="148907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9525" algn="r">
              <a:lnSpc>
                <a:spcPct val="100000"/>
              </a:lnSpc>
              <a:spcBef>
                <a:spcPts val="100"/>
              </a:spcBef>
              <a:tabLst>
                <a:tab pos="2844165" algn="l"/>
              </a:tabLst>
            </a:pPr>
            <a:r>
              <a:rPr lang="en-US" sz="4800" spc="5">
                <a:latin typeface="Georgia"/>
                <a:cs typeface="Georgia"/>
              </a:rPr>
              <a:t>SISTEM	</a:t>
            </a:r>
            <a:r>
              <a:rPr lang="en-US" sz="4800" spc="-10">
                <a:latin typeface="Georgia"/>
                <a:cs typeface="Georgia"/>
              </a:rPr>
              <a:t>INFORMASI</a:t>
            </a:r>
            <a:endParaRPr lang="en-US" sz="4800">
              <a:latin typeface="Georgia"/>
              <a:cs typeface="Georgi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lang="en-US" sz="4800" spc="85">
                <a:latin typeface="Georgia"/>
                <a:cs typeface="Georgia"/>
              </a:rPr>
              <a:t>MANAJEMEN</a:t>
            </a:r>
            <a:endParaRPr lang="en-US" sz="4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02960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304800" y="2362200"/>
            <a:ext cx="6627495" cy="1488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 indent="2701290" algn="r">
              <a:lnSpc>
                <a:spcPct val="100000"/>
              </a:lnSpc>
              <a:spcBef>
                <a:spcPts val="90"/>
              </a:spcBef>
            </a:pPr>
            <a:r>
              <a:rPr lang="en-US" sz="3200" spc="-10" dirty="0"/>
              <a:t>E-Business</a:t>
            </a:r>
            <a:r>
              <a:rPr lang="en-US" sz="3200" spc="30" dirty="0"/>
              <a:t> </a:t>
            </a:r>
            <a:r>
              <a:rPr lang="en-US" sz="3200" spc="-10" dirty="0"/>
              <a:t>Global</a:t>
            </a:r>
            <a:r>
              <a:rPr lang="en-US" sz="3200" spc="-20" dirty="0"/>
              <a:t> </a:t>
            </a:r>
            <a:r>
              <a:rPr lang="en-US" sz="3200" spc="-5" dirty="0"/>
              <a:t>: </a:t>
            </a:r>
            <a:r>
              <a:rPr lang="en-US" sz="3200" spc="-925" dirty="0"/>
              <a:t> </a:t>
            </a:r>
            <a:r>
              <a:rPr lang="en-US" sz="3200" spc="-5" dirty="0" err="1"/>
              <a:t>Bagaimana</a:t>
            </a:r>
            <a:r>
              <a:rPr lang="en-US" sz="3200" spc="-40" dirty="0"/>
              <a:t> </a:t>
            </a:r>
            <a:r>
              <a:rPr lang="en-US" sz="3200" spc="-10" dirty="0" err="1"/>
              <a:t>Bisnis</a:t>
            </a:r>
            <a:r>
              <a:rPr lang="en-US" sz="3200" spc="30" dirty="0"/>
              <a:t> </a:t>
            </a:r>
            <a:r>
              <a:rPr lang="en-US" sz="3200" spc="-10" dirty="0" err="1"/>
              <a:t>Menggunakan</a:t>
            </a:r>
            <a:endParaRPr lang="en-US" sz="3200" dirty="0"/>
          </a:p>
          <a:p>
            <a:pPr marR="6350" algn="r">
              <a:lnSpc>
                <a:spcPct val="100000"/>
              </a:lnSpc>
              <a:spcBef>
                <a:spcPts val="5"/>
              </a:spcBef>
            </a:pPr>
            <a:r>
              <a:rPr lang="en-US" sz="3200" spc="-10" dirty="0" err="1"/>
              <a:t>Sistem</a:t>
            </a:r>
            <a:r>
              <a:rPr lang="en-US" sz="3200" spc="-40" dirty="0"/>
              <a:t> </a:t>
            </a:r>
            <a:r>
              <a:rPr lang="en-US" sz="3200" spc="-10" dirty="0" err="1"/>
              <a:t>Informasi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8758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1082819"/>
            <a:ext cx="750252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PROSES</a:t>
            </a:r>
            <a:r>
              <a:rPr spc="-70" dirty="0"/>
              <a:t> </a:t>
            </a:r>
            <a:r>
              <a:rPr dirty="0"/>
              <a:t>BISNIS</a:t>
            </a:r>
            <a:r>
              <a:rPr spc="-30" dirty="0"/>
              <a:t> </a:t>
            </a:r>
            <a:r>
              <a:rPr spc="5" dirty="0"/>
              <a:t>DAN</a:t>
            </a:r>
            <a:r>
              <a:rPr spc="-15" dirty="0"/>
              <a:t> </a:t>
            </a:r>
            <a:r>
              <a:rPr dirty="0"/>
              <a:t>SISTEM</a:t>
            </a:r>
            <a:r>
              <a:rPr spc="-40" dirty="0"/>
              <a:t> </a:t>
            </a:r>
            <a:r>
              <a:rPr dirty="0"/>
              <a:t>INFORMASI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309832"/>
            <a:ext cx="8095615" cy="427863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44"/>
              </a:spcBef>
              <a:buChar char="•"/>
              <a:tabLst>
                <a:tab pos="357505" algn="l"/>
              </a:tabLst>
            </a:pPr>
            <a:r>
              <a:rPr sz="3200" spc="-10" dirty="0">
                <a:latin typeface="Tahoma"/>
                <a:cs typeface="Tahoma"/>
              </a:rPr>
              <a:t>Proses</a:t>
            </a:r>
            <a:r>
              <a:rPr sz="3200" spc="-7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bisnis</a:t>
            </a:r>
            <a:endParaRPr sz="3200" dirty="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6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ahoma"/>
                <a:cs typeface="Tahoma"/>
              </a:rPr>
              <a:t>Mengacu kepada </a:t>
            </a:r>
            <a:r>
              <a:rPr sz="2800" spc="5" dirty="0">
                <a:latin typeface="Tahoma"/>
                <a:cs typeface="Tahoma"/>
              </a:rPr>
              <a:t>Metode </a:t>
            </a:r>
            <a:r>
              <a:rPr sz="2800" dirty="0">
                <a:latin typeface="Tahoma"/>
                <a:cs typeface="Tahoma"/>
              </a:rPr>
              <a:t>dimana pekerjaan 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dikelola, </a:t>
            </a:r>
            <a:r>
              <a:rPr sz="2800" spc="-5" dirty="0">
                <a:latin typeface="Tahoma"/>
                <a:cs typeface="Tahoma"/>
              </a:rPr>
              <a:t>dikoordinasikan </a:t>
            </a:r>
            <a:r>
              <a:rPr sz="2800" dirty="0">
                <a:latin typeface="Tahoma"/>
                <a:cs typeface="Tahoma"/>
              </a:rPr>
              <a:t>dan </a:t>
            </a:r>
            <a:r>
              <a:rPr sz="2800" spc="-5" dirty="0">
                <a:latin typeface="Tahoma"/>
                <a:cs typeface="Tahoma"/>
              </a:rPr>
              <a:t>difokuskan untuk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memproduksi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5" dirty="0">
                <a:latin typeface="Tahoma"/>
                <a:cs typeface="Tahoma"/>
              </a:rPr>
              <a:t>produk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atau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jasa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yang bernilai.</a:t>
            </a:r>
          </a:p>
          <a:p>
            <a:pPr marL="756285" marR="26860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ahoma"/>
                <a:cs typeface="Tahoma"/>
              </a:rPr>
              <a:t>Mengacu kepada </a:t>
            </a:r>
            <a:r>
              <a:rPr sz="2800" spc="-5" dirty="0">
                <a:latin typeface="Tahoma"/>
                <a:cs typeface="Tahoma"/>
              </a:rPr>
              <a:t>aliran kerja yang kongkret </a:t>
            </a:r>
            <a:r>
              <a:rPr sz="2800" dirty="0">
                <a:latin typeface="Tahoma"/>
                <a:cs typeface="Tahoma"/>
              </a:rPr>
              <a:t> dari </a:t>
            </a:r>
            <a:r>
              <a:rPr sz="2800" spc="-5" dirty="0">
                <a:latin typeface="Tahoma"/>
                <a:cs typeface="Tahoma"/>
              </a:rPr>
              <a:t>bahan baku, </a:t>
            </a:r>
            <a:r>
              <a:rPr sz="2800" dirty="0">
                <a:latin typeface="Tahoma"/>
                <a:cs typeface="Tahoma"/>
              </a:rPr>
              <a:t>informasi dan pengetahuan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seperangkat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aktivitas</a:t>
            </a:r>
            <a:endParaRPr sz="2800" dirty="0">
              <a:latin typeface="Tahoma"/>
              <a:cs typeface="Tahoma"/>
            </a:endParaRPr>
          </a:p>
          <a:p>
            <a:pPr marL="756285" marR="691515" lvl="1" indent="-287020">
              <a:lnSpc>
                <a:spcPct val="100000"/>
              </a:lnSpc>
              <a:spcBef>
                <a:spcPts val="68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Tahoma"/>
                <a:cs typeface="Tahoma"/>
              </a:rPr>
              <a:t>Menunjukan cara </a:t>
            </a:r>
            <a:r>
              <a:rPr sz="2800" dirty="0">
                <a:latin typeface="Tahoma"/>
                <a:cs typeface="Tahoma"/>
              </a:rPr>
              <a:t>yang unik dimana 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perusahaan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mengkoordinasikan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pekerjaan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044" y="1638935"/>
            <a:ext cx="8225790" cy="270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800" b="1" spc="5" dirty="0">
                <a:latin typeface="Tahoma"/>
                <a:cs typeface="Tahoma"/>
              </a:rPr>
              <a:t>2 </a:t>
            </a:r>
            <a:r>
              <a:rPr sz="2800" b="1" dirty="0">
                <a:latin typeface="Tahoma"/>
                <a:cs typeface="Tahoma"/>
              </a:rPr>
              <a:t>CARA </a:t>
            </a:r>
            <a:r>
              <a:rPr sz="2800" b="1" spc="-5" dirty="0">
                <a:latin typeface="Tahoma"/>
                <a:cs typeface="Tahoma"/>
              </a:rPr>
              <a:t>UTAMA </a:t>
            </a:r>
            <a:r>
              <a:rPr sz="2800" b="1" dirty="0">
                <a:latin typeface="Tahoma"/>
                <a:cs typeface="Tahoma"/>
              </a:rPr>
              <a:t>BAGAIMANA TEKNOLOGI </a:t>
            </a:r>
            <a:r>
              <a:rPr sz="2800" b="1" spc="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INFORMASI</a:t>
            </a:r>
            <a:r>
              <a:rPr sz="2800" b="1" spc="-8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MENINGKATKAN</a:t>
            </a:r>
            <a:r>
              <a:rPr sz="2800" b="1" spc="-6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PROSES</a:t>
            </a:r>
            <a:r>
              <a:rPr sz="2800" b="1" spc="-4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BISNIS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ahoma"/>
                <a:cs typeface="Tahoma"/>
              </a:rPr>
              <a:t>Meningkatkan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efisiensi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proses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yang</a:t>
            </a:r>
            <a:r>
              <a:rPr sz="2800" dirty="0">
                <a:latin typeface="Tahoma"/>
                <a:cs typeface="Tahoma"/>
              </a:rPr>
              <a:t> telah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ada</a:t>
            </a:r>
          </a:p>
          <a:p>
            <a:pPr marL="356870" marR="647700" indent="-344805">
              <a:lnSpc>
                <a:spcPct val="100000"/>
              </a:lnSpc>
              <a:spcBef>
                <a:spcPts val="67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ahoma"/>
                <a:cs typeface="Tahoma"/>
              </a:rPr>
              <a:t>Memungkinkan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keseluruhan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proses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baru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yang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memungkinkan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merubah proses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bisnis.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122" y="341108"/>
            <a:ext cx="62401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JENIS</a:t>
            </a:r>
            <a:r>
              <a:rPr spc="-60" dirty="0"/>
              <a:t> </a:t>
            </a:r>
            <a:r>
              <a:rPr dirty="0"/>
              <a:t>SISTEM</a:t>
            </a:r>
            <a:r>
              <a:rPr spc="-45" dirty="0"/>
              <a:t> </a:t>
            </a:r>
            <a:r>
              <a:rPr dirty="0"/>
              <a:t>INFORMASI</a:t>
            </a:r>
            <a:r>
              <a:rPr spc="-55" dirty="0"/>
              <a:t> </a:t>
            </a:r>
            <a:r>
              <a:rPr dirty="0"/>
              <a:t>BISNIS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594" y="795133"/>
            <a:ext cx="7806055" cy="519493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2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solidFill>
                  <a:srgbClr val="0000CC"/>
                </a:solidFill>
                <a:latin typeface="Tahoma"/>
                <a:cs typeface="Tahoma"/>
              </a:rPr>
              <a:t>PERSPEKTIF</a:t>
            </a:r>
            <a:r>
              <a:rPr sz="2200" spc="-10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Tahoma"/>
                <a:cs typeface="Tahoma"/>
              </a:rPr>
              <a:t>FUNGSIONAL</a:t>
            </a:r>
            <a:endParaRPr sz="2200" dirty="0">
              <a:latin typeface="Tahoma"/>
              <a:cs typeface="Tahoma"/>
            </a:endParaRPr>
          </a:p>
          <a:p>
            <a:pPr marL="384175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ahoma"/>
                <a:cs typeface="Tahoma"/>
              </a:rPr>
              <a:t>Mengenali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Sistem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berdasarkan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fungsi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bisnis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utama</a:t>
            </a:r>
            <a:endParaRPr sz="22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ahoma"/>
                <a:cs typeface="Tahoma"/>
              </a:rPr>
              <a:t>Sistem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Informasi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Penjualan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Dan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Pemasaran</a:t>
            </a:r>
            <a:endParaRPr sz="22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ahoma"/>
                <a:cs typeface="Tahoma"/>
              </a:rPr>
              <a:t>Sistem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Informasi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Manufaktur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Dan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Produksi</a:t>
            </a:r>
            <a:endParaRPr sz="22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ahoma"/>
                <a:cs typeface="Tahoma"/>
              </a:rPr>
              <a:t>Sistem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Informasi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Keuangan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Dan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Akuntansi</a:t>
            </a:r>
            <a:endParaRPr sz="22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ahoma"/>
                <a:cs typeface="Tahoma"/>
              </a:rPr>
              <a:t>Sistem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Informasi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Sumber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Daya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Manusia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solidFill>
                  <a:srgbClr val="0000CC"/>
                </a:solidFill>
                <a:latin typeface="Tahoma"/>
                <a:cs typeface="Tahoma"/>
              </a:rPr>
              <a:t>PERSPEKTIF</a:t>
            </a:r>
            <a:r>
              <a:rPr sz="2200" spc="-11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0000CC"/>
                </a:solidFill>
                <a:latin typeface="Tahoma"/>
                <a:cs typeface="Tahoma"/>
              </a:rPr>
              <a:t>KONSTITUEN</a:t>
            </a:r>
            <a:endParaRPr sz="2200" dirty="0">
              <a:latin typeface="Tahoma"/>
              <a:cs typeface="Tahoma"/>
            </a:endParaRPr>
          </a:p>
          <a:p>
            <a:pPr marL="375285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Tahoma"/>
                <a:cs typeface="Tahoma"/>
              </a:rPr>
              <a:t>Mengenali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Sistem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sebagai </a:t>
            </a:r>
            <a:r>
              <a:rPr sz="2200" dirty="0">
                <a:latin typeface="Tahoma"/>
                <a:cs typeface="Tahoma"/>
              </a:rPr>
              <a:t>Kelompok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Organisasi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Utama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yang</a:t>
            </a:r>
            <a:endParaRPr sz="2200" dirty="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</a:pPr>
            <a:r>
              <a:rPr sz="2200" spc="-5" dirty="0">
                <a:latin typeface="Tahoma"/>
                <a:cs typeface="Tahoma"/>
              </a:rPr>
              <a:t>dilayaninya.</a:t>
            </a:r>
            <a:endParaRPr sz="2200" dirty="0">
              <a:latin typeface="Tahoma"/>
              <a:cs typeface="Tahoma"/>
            </a:endParaRPr>
          </a:p>
          <a:p>
            <a:pPr marL="826769" lvl="1" indent="-357505">
              <a:lnSpc>
                <a:spcPct val="100000"/>
              </a:lnSpc>
              <a:spcBef>
                <a:spcPts val="430"/>
              </a:spcBef>
              <a:buChar char="–"/>
              <a:tabLst>
                <a:tab pos="826135" algn="l"/>
                <a:tab pos="827405" algn="l"/>
              </a:tabLst>
            </a:pPr>
            <a:r>
              <a:rPr sz="2200" spc="5" dirty="0">
                <a:latin typeface="Tahoma"/>
                <a:cs typeface="Tahoma"/>
              </a:rPr>
              <a:t>TPS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(Transaction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Processing</a:t>
            </a:r>
            <a:r>
              <a:rPr sz="2300" spc="-55" dirty="0">
                <a:latin typeface="Tahoma"/>
                <a:cs typeface="Tahoma"/>
              </a:rPr>
              <a:t> System)</a:t>
            </a:r>
            <a:endParaRPr sz="2300" dirty="0">
              <a:latin typeface="Tahoma"/>
              <a:cs typeface="Tahoma"/>
            </a:endParaRPr>
          </a:p>
          <a:p>
            <a:pPr marL="826769" lvl="1" indent="-357505">
              <a:lnSpc>
                <a:spcPct val="100000"/>
              </a:lnSpc>
              <a:spcBef>
                <a:spcPts val="409"/>
              </a:spcBef>
              <a:buChar char="–"/>
              <a:tabLst>
                <a:tab pos="826135" algn="l"/>
                <a:tab pos="827405" algn="l"/>
              </a:tabLst>
            </a:pPr>
            <a:r>
              <a:rPr sz="2200" dirty="0">
                <a:latin typeface="Tahoma"/>
                <a:cs typeface="Tahoma"/>
              </a:rPr>
              <a:t>MIS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300" spc="-60" dirty="0">
                <a:latin typeface="Tahoma"/>
                <a:cs typeface="Tahoma"/>
              </a:rPr>
              <a:t>(Management</a:t>
            </a:r>
            <a:r>
              <a:rPr sz="2300" spc="-50" dirty="0">
                <a:latin typeface="Tahoma"/>
                <a:cs typeface="Tahoma"/>
              </a:rPr>
              <a:t> Information</a:t>
            </a:r>
            <a:r>
              <a:rPr sz="2300" spc="-40" dirty="0">
                <a:latin typeface="Tahoma"/>
                <a:cs typeface="Tahoma"/>
              </a:rPr>
              <a:t> </a:t>
            </a:r>
            <a:r>
              <a:rPr sz="2300" spc="-55" dirty="0">
                <a:latin typeface="Tahoma"/>
                <a:cs typeface="Tahoma"/>
              </a:rPr>
              <a:t>System)</a:t>
            </a:r>
            <a:endParaRPr sz="2300" dirty="0">
              <a:latin typeface="Tahoma"/>
              <a:cs typeface="Tahoma"/>
            </a:endParaRPr>
          </a:p>
          <a:p>
            <a:pPr marL="826769" lvl="1" indent="-357505">
              <a:lnSpc>
                <a:spcPct val="100000"/>
              </a:lnSpc>
              <a:spcBef>
                <a:spcPts val="405"/>
              </a:spcBef>
              <a:buChar char="–"/>
              <a:tabLst>
                <a:tab pos="826135" algn="l"/>
                <a:tab pos="827405" algn="l"/>
              </a:tabLst>
            </a:pPr>
            <a:r>
              <a:rPr sz="2200" spc="-5" dirty="0">
                <a:latin typeface="Tahoma"/>
                <a:cs typeface="Tahoma"/>
              </a:rPr>
              <a:t>DSS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(Decision</a:t>
            </a:r>
            <a:r>
              <a:rPr sz="2300" spc="-4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Support</a:t>
            </a:r>
            <a:r>
              <a:rPr sz="2300" spc="-70" dirty="0">
                <a:latin typeface="Tahoma"/>
                <a:cs typeface="Tahoma"/>
              </a:rPr>
              <a:t> </a:t>
            </a:r>
            <a:r>
              <a:rPr sz="2300" spc="-55" dirty="0">
                <a:latin typeface="Tahoma"/>
                <a:cs typeface="Tahoma"/>
              </a:rPr>
              <a:t>System)</a:t>
            </a:r>
            <a:endParaRPr sz="2300" dirty="0">
              <a:latin typeface="Tahoma"/>
              <a:cs typeface="Tahoma"/>
            </a:endParaRPr>
          </a:p>
          <a:p>
            <a:pPr marL="826769" lvl="1" indent="-357505">
              <a:lnSpc>
                <a:spcPct val="100000"/>
              </a:lnSpc>
              <a:spcBef>
                <a:spcPts val="414"/>
              </a:spcBef>
              <a:buChar char="–"/>
              <a:tabLst>
                <a:tab pos="826135" algn="l"/>
                <a:tab pos="827405" algn="l"/>
                <a:tab pos="1466215" algn="l"/>
              </a:tabLst>
            </a:pPr>
            <a:r>
              <a:rPr sz="2200" dirty="0">
                <a:latin typeface="Tahoma"/>
                <a:cs typeface="Tahoma"/>
              </a:rPr>
              <a:t>ESS	</a:t>
            </a:r>
            <a:r>
              <a:rPr sz="2200" spc="-40" dirty="0">
                <a:latin typeface="Tahoma"/>
                <a:cs typeface="Tahoma"/>
              </a:rPr>
              <a:t>(</a:t>
            </a:r>
            <a:r>
              <a:rPr sz="2300" spc="-40" dirty="0">
                <a:latin typeface="Tahoma"/>
                <a:cs typeface="Tahoma"/>
              </a:rPr>
              <a:t>Executif</a:t>
            </a:r>
            <a:r>
              <a:rPr sz="2300" spc="-65" dirty="0">
                <a:latin typeface="Tahoma"/>
                <a:cs typeface="Tahoma"/>
              </a:rPr>
              <a:t> </a:t>
            </a:r>
            <a:r>
              <a:rPr sz="2300" spc="-50" dirty="0">
                <a:latin typeface="Tahoma"/>
                <a:cs typeface="Tahoma"/>
              </a:rPr>
              <a:t>Support</a:t>
            </a:r>
            <a:r>
              <a:rPr sz="2300" spc="-85" dirty="0">
                <a:latin typeface="Tahoma"/>
                <a:cs typeface="Tahoma"/>
              </a:rPr>
              <a:t> </a:t>
            </a:r>
            <a:r>
              <a:rPr sz="2300" spc="-55" dirty="0">
                <a:latin typeface="Tahoma"/>
                <a:cs typeface="Tahoma"/>
              </a:rPr>
              <a:t>System)</a:t>
            </a:r>
            <a:endParaRPr sz="2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990600"/>
            <a:ext cx="78867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SISTEM</a:t>
            </a:r>
            <a:r>
              <a:rPr spc="-80" dirty="0"/>
              <a:t> </a:t>
            </a:r>
            <a:r>
              <a:rPr dirty="0"/>
              <a:t>INFORMASI</a:t>
            </a:r>
            <a:r>
              <a:rPr spc="-55" dirty="0"/>
              <a:t> </a:t>
            </a:r>
            <a:r>
              <a:rPr dirty="0"/>
              <a:t>PENJUALAN</a:t>
            </a:r>
            <a:r>
              <a:rPr spc="-75" dirty="0"/>
              <a:t> </a:t>
            </a:r>
            <a:r>
              <a:rPr spc="5" dirty="0"/>
              <a:t>DAN </a:t>
            </a:r>
            <a:r>
              <a:rPr spc="-805" dirty="0"/>
              <a:t> </a:t>
            </a:r>
            <a:r>
              <a:rPr spc="-5" dirty="0"/>
              <a:t>PEMASARAN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178" y="2209800"/>
            <a:ext cx="7615555" cy="34651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5" dirty="0">
                <a:solidFill>
                  <a:srgbClr val="0000CC"/>
                </a:solidFill>
                <a:latin typeface="Tahoma"/>
                <a:cs typeface="Tahoma"/>
              </a:rPr>
              <a:t>Membantu</a:t>
            </a:r>
            <a:r>
              <a:rPr sz="2400" spc="-5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Tahoma"/>
                <a:cs typeface="Tahoma"/>
              </a:rPr>
              <a:t>perusahaan</a:t>
            </a:r>
            <a:r>
              <a:rPr sz="2400" spc="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Tahoma"/>
                <a:cs typeface="Tahoma"/>
              </a:rPr>
              <a:t>dalam</a:t>
            </a:r>
            <a:r>
              <a:rPr sz="2400" spc="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CC"/>
                </a:solidFill>
                <a:latin typeface="Tahoma"/>
                <a:cs typeface="Tahoma"/>
              </a:rPr>
              <a:t>:</a:t>
            </a:r>
            <a:endParaRPr sz="2400" dirty="0">
              <a:latin typeface="Tahoma"/>
              <a:cs typeface="Tahoma"/>
            </a:endParaRPr>
          </a:p>
          <a:p>
            <a:pPr marL="274955" indent="-262890">
              <a:lnSpc>
                <a:spcPct val="100000"/>
              </a:lnSpc>
              <a:spcBef>
                <a:spcPts val="580"/>
              </a:spcBef>
              <a:buChar char="•"/>
              <a:tabLst>
                <a:tab pos="275590" algn="l"/>
              </a:tabLst>
            </a:pPr>
            <a:r>
              <a:rPr sz="2400" dirty="0">
                <a:latin typeface="Tahoma"/>
                <a:cs typeface="Tahoma"/>
              </a:rPr>
              <a:t>Mengidentifikasi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pelanggan</a:t>
            </a:r>
            <a:endParaRPr sz="2400" dirty="0">
              <a:latin typeface="Tahoma"/>
              <a:cs typeface="Tahoma"/>
            </a:endParaRPr>
          </a:p>
          <a:p>
            <a:pPr marL="274955" indent="-262890">
              <a:lnSpc>
                <a:spcPct val="100000"/>
              </a:lnSpc>
              <a:spcBef>
                <a:spcPts val="575"/>
              </a:spcBef>
              <a:buChar char="•"/>
              <a:tabLst>
                <a:tab pos="275590" algn="l"/>
              </a:tabLst>
            </a:pPr>
            <a:r>
              <a:rPr sz="2400" spc="-5" dirty="0">
                <a:latin typeface="Tahoma"/>
                <a:cs typeface="Tahoma"/>
              </a:rPr>
              <a:t>Produk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jasa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perusahaan</a:t>
            </a:r>
            <a:endParaRPr sz="2400" dirty="0">
              <a:latin typeface="Tahoma"/>
              <a:cs typeface="Tahoma"/>
            </a:endParaRPr>
          </a:p>
          <a:p>
            <a:pPr marL="274955" marR="401955" indent="-262890">
              <a:lnSpc>
                <a:spcPct val="100000"/>
              </a:lnSpc>
              <a:spcBef>
                <a:spcPts val="580"/>
              </a:spcBef>
              <a:buChar char="•"/>
              <a:tabLst>
                <a:tab pos="275590" algn="l"/>
              </a:tabLst>
            </a:pPr>
            <a:r>
              <a:rPr sz="2400" dirty="0">
                <a:latin typeface="Tahoma"/>
                <a:cs typeface="Tahoma"/>
              </a:rPr>
              <a:t>Mengembangkan </a:t>
            </a:r>
            <a:r>
              <a:rPr sz="2400" spc="-5" dirty="0">
                <a:latin typeface="Tahoma"/>
                <a:cs typeface="Tahoma"/>
              </a:rPr>
              <a:t>produk dan jasa untuk </a:t>
            </a:r>
            <a:r>
              <a:rPr sz="2400" dirty="0">
                <a:latin typeface="Tahoma"/>
                <a:cs typeface="Tahoma"/>
              </a:rPr>
              <a:t>memenuhi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kebutuhan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pelanggan</a:t>
            </a:r>
            <a:endParaRPr sz="2400" dirty="0">
              <a:latin typeface="Tahoma"/>
              <a:cs typeface="Tahoma"/>
            </a:endParaRPr>
          </a:p>
          <a:p>
            <a:pPr marL="274955" indent="-262890">
              <a:lnSpc>
                <a:spcPct val="100000"/>
              </a:lnSpc>
              <a:spcBef>
                <a:spcPts val="575"/>
              </a:spcBef>
              <a:buChar char="•"/>
              <a:tabLst>
                <a:tab pos="275590" algn="l"/>
              </a:tabLst>
            </a:pPr>
            <a:r>
              <a:rPr sz="2400" dirty="0">
                <a:latin typeface="Tahoma"/>
                <a:cs typeface="Tahoma"/>
              </a:rPr>
              <a:t>Mempromosikan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produk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jasa</a:t>
            </a:r>
            <a:endParaRPr sz="2400" dirty="0">
              <a:latin typeface="Tahoma"/>
              <a:cs typeface="Tahoma"/>
            </a:endParaRPr>
          </a:p>
          <a:p>
            <a:pPr marL="274955" indent="-262890">
              <a:lnSpc>
                <a:spcPct val="100000"/>
              </a:lnSpc>
              <a:spcBef>
                <a:spcPts val="580"/>
              </a:spcBef>
              <a:buChar char="•"/>
              <a:tabLst>
                <a:tab pos="275590" algn="l"/>
              </a:tabLst>
            </a:pPr>
            <a:r>
              <a:rPr sz="2400" dirty="0">
                <a:latin typeface="Tahoma"/>
                <a:cs typeface="Tahoma"/>
              </a:rPr>
              <a:t>Menjual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produk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dan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jasa</a:t>
            </a:r>
            <a:endParaRPr sz="2400" dirty="0">
              <a:latin typeface="Tahoma"/>
              <a:cs typeface="Tahoma"/>
            </a:endParaRPr>
          </a:p>
          <a:p>
            <a:pPr marL="274955" indent="-262890">
              <a:lnSpc>
                <a:spcPct val="100000"/>
              </a:lnSpc>
              <a:spcBef>
                <a:spcPts val="580"/>
              </a:spcBef>
              <a:buChar char="•"/>
              <a:tabLst>
                <a:tab pos="275590" algn="l"/>
              </a:tabLst>
            </a:pPr>
            <a:r>
              <a:rPr sz="2400" dirty="0">
                <a:latin typeface="Tahoma"/>
                <a:cs typeface="Tahoma"/>
              </a:rPr>
              <a:t>Memberikan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dukungan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pelanggan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yang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berkelanjutan.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8867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CONTOH</a:t>
            </a:r>
            <a:r>
              <a:rPr spc="-75" dirty="0"/>
              <a:t> </a:t>
            </a:r>
            <a:r>
              <a:rPr dirty="0"/>
              <a:t>: SISTEM</a:t>
            </a:r>
            <a:r>
              <a:rPr spc="-45" dirty="0"/>
              <a:t> </a:t>
            </a:r>
            <a:r>
              <a:rPr dirty="0"/>
              <a:t>INFORMASI</a:t>
            </a:r>
            <a:r>
              <a:rPr spc="-55" dirty="0"/>
              <a:t> </a:t>
            </a:r>
            <a:r>
              <a:rPr dirty="0"/>
              <a:t>PENJUALAN </a:t>
            </a:r>
            <a:r>
              <a:rPr spc="-810" dirty="0"/>
              <a:t> </a:t>
            </a:r>
            <a:r>
              <a:rPr spc="5" dirty="0"/>
              <a:t>DAN</a:t>
            </a:r>
            <a:r>
              <a:rPr spc="-45" dirty="0"/>
              <a:t> </a:t>
            </a:r>
            <a:r>
              <a:rPr spc="-5" dirty="0"/>
              <a:t>PEMASARAN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1905000"/>
            <a:ext cx="51816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447800"/>
            <a:ext cx="7177405" cy="3852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Tahoma"/>
                <a:cs typeface="Tahoma"/>
              </a:rPr>
              <a:t>SISTEM</a:t>
            </a:r>
            <a:r>
              <a:rPr sz="2800" b="1" spc="-7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INFORMASI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MANUFAKTUR</a:t>
            </a:r>
            <a:r>
              <a:rPr sz="2800" b="1" spc="-35" dirty="0">
                <a:latin typeface="Tahoma"/>
                <a:cs typeface="Tahoma"/>
              </a:rPr>
              <a:t> </a:t>
            </a:r>
            <a:r>
              <a:rPr sz="2800" b="1" spc="5" dirty="0">
                <a:latin typeface="Tahoma"/>
                <a:cs typeface="Tahoma"/>
              </a:rPr>
              <a:t>DAN </a:t>
            </a:r>
            <a:r>
              <a:rPr sz="2800" b="1" spc="-80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PRODUKSI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ahoma"/>
                <a:cs typeface="Tahoma"/>
              </a:rPr>
              <a:t>Berhubungan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dengan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:</a:t>
            </a: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Tahoma"/>
                <a:cs typeface="Tahoma"/>
              </a:rPr>
              <a:t>Perencanaan</a:t>
            </a:r>
            <a:endParaRPr sz="2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ahoma"/>
                <a:cs typeface="Tahoma"/>
              </a:rPr>
              <a:t>Pengembangan</a:t>
            </a: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Tahoma"/>
                <a:cs typeface="Tahoma"/>
              </a:rPr>
              <a:t>Produksi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barang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dan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jasa</a:t>
            </a:r>
            <a:endParaRPr sz="28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dirty="0">
                <a:latin typeface="Tahoma"/>
                <a:cs typeface="Tahoma"/>
              </a:rPr>
              <a:t>Mengendalikan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aliran</a:t>
            </a:r>
            <a:r>
              <a:rPr sz="2800" dirty="0">
                <a:latin typeface="Tahoma"/>
                <a:cs typeface="Tahoma"/>
              </a:rPr>
              <a:t> produksi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CONTOH</a:t>
            </a:r>
            <a:r>
              <a:rPr spc="-6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dirty="0"/>
              <a:t>SISTEM</a:t>
            </a:r>
            <a:r>
              <a:rPr spc="-40" dirty="0"/>
              <a:t> </a:t>
            </a:r>
            <a:r>
              <a:rPr dirty="0"/>
              <a:t>INFORMASI</a:t>
            </a:r>
            <a:r>
              <a:rPr spc="-50" dirty="0"/>
              <a:t> </a:t>
            </a:r>
            <a:r>
              <a:rPr spc="-5" dirty="0"/>
              <a:t>MANUFAKTUR </a:t>
            </a:r>
            <a:r>
              <a:rPr spc="-805" dirty="0"/>
              <a:t> </a:t>
            </a:r>
            <a:r>
              <a:rPr spc="5" dirty="0"/>
              <a:t>DAN</a:t>
            </a:r>
            <a:r>
              <a:rPr spc="-45" dirty="0"/>
              <a:t> </a:t>
            </a:r>
            <a:r>
              <a:rPr spc="-5" dirty="0"/>
              <a:t>PRODUKSI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812" y="1500250"/>
            <a:ext cx="798664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0044" y="52781"/>
            <a:ext cx="6675120" cy="2813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Tahoma"/>
                <a:cs typeface="Tahoma"/>
              </a:rPr>
              <a:t>SISTEM</a:t>
            </a:r>
            <a:r>
              <a:rPr sz="2800" b="1" spc="-7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INFORMASI</a:t>
            </a:r>
            <a:r>
              <a:rPr sz="2800" b="1" spc="-5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KEUANGAN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spc="5" dirty="0">
                <a:latin typeface="Tahoma"/>
                <a:cs typeface="Tahoma"/>
              </a:rPr>
              <a:t>DAN </a:t>
            </a:r>
            <a:r>
              <a:rPr sz="2800" b="1" spc="-80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AKUNTANSI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 dirty="0">
              <a:latin typeface="Tahoma"/>
              <a:cs typeface="Tahoma"/>
            </a:endParaRPr>
          </a:p>
          <a:p>
            <a:pPr marL="404495" indent="-345440">
              <a:lnSpc>
                <a:spcPct val="100000"/>
              </a:lnSpc>
              <a:buChar char="•"/>
              <a:tabLst>
                <a:tab pos="404495" algn="l"/>
                <a:tab pos="405130" algn="l"/>
              </a:tabLst>
            </a:pPr>
            <a:r>
              <a:rPr sz="2800" spc="5" dirty="0">
                <a:latin typeface="Tahoma"/>
                <a:cs typeface="Tahoma"/>
              </a:rPr>
              <a:t>MENJAGA</a:t>
            </a:r>
            <a:endParaRPr sz="2800" dirty="0">
              <a:latin typeface="Tahoma"/>
              <a:cs typeface="Tahoma"/>
            </a:endParaRPr>
          </a:p>
          <a:p>
            <a:pPr marL="803910" lvl="1" indent="-287655">
              <a:lnSpc>
                <a:spcPct val="100000"/>
              </a:lnSpc>
              <a:spcBef>
                <a:spcPts val="675"/>
              </a:spcBef>
              <a:buChar char="–"/>
              <a:tabLst>
                <a:tab pos="804545" algn="l"/>
              </a:tabLst>
            </a:pPr>
            <a:r>
              <a:rPr sz="2800" spc="-5" dirty="0">
                <a:latin typeface="Tahoma"/>
                <a:cs typeface="Tahoma"/>
              </a:rPr>
              <a:t>DATA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ASET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5" dirty="0">
                <a:latin typeface="Tahoma"/>
                <a:cs typeface="Tahoma"/>
              </a:rPr>
              <a:t>KEUANGAN</a:t>
            </a:r>
            <a:endParaRPr sz="2800" dirty="0">
              <a:latin typeface="Tahoma"/>
              <a:cs typeface="Tahoma"/>
            </a:endParaRPr>
          </a:p>
          <a:p>
            <a:pPr marL="803910" lvl="1" indent="-287655">
              <a:lnSpc>
                <a:spcPct val="100000"/>
              </a:lnSpc>
              <a:spcBef>
                <a:spcPts val="670"/>
              </a:spcBef>
              <a:buChar char="–"/>
              <a:tabLst>
                <a:tab pos="804545" algn="l"/>
              </a:tabLst>
            </a:pPr>
            <a:r>
              <a:rPr sz="2800" dirty="0">
                <a:latin typeface="Tahoma"/>
                <a:cs typeface="Tahoma"/>
              </a:rPr>
              <a:t>ALIRAN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DANA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PERUSAHAAN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67056"/>
            <a:ext cx="8560435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CONTOH</a:t>
            </a:r>
            <a:r>
              <a:rPr spc="-65" dirty="0"/>
              <a:t> </a:t>
            </a:r>
            <a:r>
              <a:rPr dirty="0"/>
              <a:t>:</a:t>
            </a:r>
            <a:r>
              <a:rPr spc="10" dirty="0"/>
              <a:t> </a:t>
            </a:r>
            <a:r>
              <a:rPr dirty="0"/>
              <a:t>SISTEM</a:t>
            </a:r>
            <a:r>
              <a:rPr spc="-40" dirty="0"/>
              <a:t> </a:t>
            </a:r>
            <a:r>
              <a:rPr dirty="0"/>
              <a:t>INFORMASI</a:t>
            </a:r>
            <a:r>
              <a:rPr spc="-50" dirty="0"/>
              <a:t> </a:t>
            </a:r>
            <a:r>
              <a:rPr spc="-5" dirty="0"/>
              <a:t>KEUANGAN</a:t>
            </a:r>
            <a:r>
              <a:rPr spc="-10" dirty="0"/>
              <a:t> </a:t>
            </a:r>
            <a:r>
              <a:rPr spc="5" dirty="0"/>
              <a:t>DAN </a:t>
            </a:r>
            <a:r>
              <a:rPr spc="-805" dirty="0"/>
              <a:t> </a:t>
            </a:r>
            <a:r>
              <a:rPr dirty="0"/>
              <a:t>AKUNTANSI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875" y="1357312"/>
            <a:ext cx="6500749" cy="5073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524000"/>
            <a:ext cx="7694930" cy="36817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321435">
              <a:lnSpc>
                <a:spcPct val="100000"/>
              </a:lnSpc>
              <a:spcBef>
                <a:spcPts val="110"/>
              </a:spcBef>
            </a:pPr>
            <a:r>
              <a:rPr sz="2800" b="1" dirty="0">
                <a:latin typeface="Tahoma"/>
                <a:cs typeface="Tahoma"/>
              </a:rPr>
              <a:t>SISTEM</a:t>
            </a:r>
            <a:r>
              <a:rPr sz="2800" b="1" spc="-75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INFORMASI</a:t>
            </a:r>
            <a:r>
              <a:rPr sz="2800" b="1" spc="-5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SUMBER</a:t>
            </a:r>
            <a:r>
              <a:rPr sz="2800" b="1" spc="-10" dirty="0">
                <a:latin typeface="Tahoma"/>
                <a:cs typeface="Tahoma"/>
              </a:rPr>
              <a:t> </a:t>
            </a:r>
            <a:r>
              <a:rPr sz="2800" b="1" dirty="0">
                <a:latin typeface="Tahoma"/>
                <a:cs typeface="Tahoma"/>
              </a:rPr>
              <a:t>DAYA </a:t>
            </a:r>
            <a:r>
              <a:rPr sz="2800" b="1" spc="-80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MANUSIA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ahoma"/>
                <a:cs typeface="Tahoma"/>
              </a:rPr>
              <a:t>Menjaga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catatan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karyawan</a:t>
            </a:r>
            <a:endParaRPr sz="2800" dirty="0">
              <a:latin typeface="Tahoma"/>
              <a:cs typeface="Tahoma"/>
            </a:endParaRPr>
          </a:p>
          <a:p>
            <a:pPr marL="356870" marR="508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ahoma"/>
                <a:cs typeface="Tahoma"/>
              </a:rPr>
              <a:t>Menelusuri </a:t>
            </a:r>
            <a:r>
              <a:rPr sz="2800" spc="-5" dirty="0">
                <a:latin typeface="Tahoma"/>
                <a:cs typeface="Tahoma"/>
              </a:rPr>
              <a:t>kemampuan karyawan, kinerja </a:t>
            </a:r>
            <a:r>
              <a:rPr sz="2800" dirty="0">
                <a:latin typeface="Tahoma"/>
                <a:cs typeface="Tahoma"/>
              </a:rPr>
              <a:t>dan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pelatihan</a:t>
            </a:r>
          </a:p>
          <a:p>
            <a:pPr marL="356870" marR="728980" indent="-344805">
              <a:lnSpc>
                <a:spcPct val="100000"/>
              </a:lnSpc>
              <a:spcBef>
                <a:spcPts val="67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dirty="0">
                <a:latin typeface="Tahoma"/>
                <a:cs typeface="Tahoma"/>
              </a:rPr>
              <a:t>Mendukung </a:t>
            </a:r>
            <a:r>
              <a:rPr sz="2800" spc="-5" dirty="0">
                <a:latin typeface="Tahoma"/>
                <a:cs typeface="Tahoma"/>
              </a:rPr>
              <a:t>perencanaan </a:t>
            </a:r>
            <a:r>
              <a:rPr sz="2800" dirty="0">
                <a:latin typeface="Tahoma"/>
                <a:cs typeface="Tahoma"/>
              </a:rPr>
              <a:t>kompensasi </a:t>
            </a:r>
            <a:r>
              <a:rPr sz="2800" spc="5" dirty="0">
                <a:latin typeface="Tahoma"/>
                <a:cs typeface="Tahoma"/>
              </a:rPr>
              <a:t>dan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pengembangan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karir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karyawan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87" y="762000"/>
            <a:ext cx="7164070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CONTOH</a:t>
            </a:r>
            <a:r>
              <a:rPr spc="-70" dirty="0"/>
              <a:t> </a:t>
            </a:r>
            <a:r>
              <a:rPr dirty="0"/>
              <a:t>:</a:t>
            </a:r>
            <a:r>
              <a:rPr spc="5" dirty="0"/>
              <a:t> </a:t>
            </a:r>
            <a:r>
              <a:rPr dirty="0"/>
              <a:t>SISTEM</a:t>
            </a:r>
            <a:r>
              <a:rPr spc="-45" dirty="0"/>
              <a:t> </a:t>
            </a:r>
            <a:r>
              <a:rPr dirty="0"/>
              <a:t>INFORMASI</a:t>
            </a:r>
            <a:r>
              <a:rPr spc="-55" dirty="0"/>
              <a:t> </a:t>
            </a:r>
            <a:r>
              <a:rPr spc="-5" dirty="0"/>
              <a:t>SUMBER </a:t>
            </a:r>
            <a:r>
              <a:rPr spc="-805" dirty="0"/>
              <a:t> </a:t>
            </a:r>
            <a:r>
              <a:rPr dirty="0"/>
              <a:t>DAYA</a:t>
            </a:r>
            <a:r>
              <a:rPr spc="-60" dirty="0"/>
              <a:t> </a:t>
            </a:r>
            <a:r>
              <a:rPr spc="-5" dirty="0"/>
              <a:t>MANUSIA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187" y="1571561"/>
            <a:ext cx="8467725" cy="46435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319" y="990600"/>
            <a:ext cx="731265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SISTEM</a:t>
            </a:r>
            <a:r>
              <a:rPr spc="-90" dirty="0"/>
              <a:t> </a:t>
            </a:r>
            <a:r>
              <a:rPr dirty="0"/>
              <a:t>PEMROSESAN</a:t>
            </a:r>
            <a:r>
              <a:rPr spc="-55" dirty="0"/>
              <a:t> </a:t>
            </a:r>
            <a:r>
              <a:rPr dirty="0"/>
              <a:t>TRANSAKSI</a:t>
            </a:r>
            <a:r>
              <a:rPr spc="-45" dirty="0"/>
              <a:t> </a:t>
            </a:r>
            <a:r>
              <a:rPr dirty="0"/>
              <a:t>(TPS)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316482"/>
            <a:ext cx="8122284" cy="4928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7505" algn="l"/>
              </a:tabLst>
            </a:pPr>
            <a:r>
              <a:rPr sz="2400" dirty="0">
                <a:latin typeface="Tahoma"/>
                <a:cs typeface="Tahoma"/>
              </a:rPr>
              <a:t>Sistem </a:t>
            </a:r>
            <a:r>
              <a:rPr sz="2400" spc="-5" dirty="0">
                <a:latin typeface="Tahoma"/>
                <a:cs typeface="Tahoma"/>
              </a:rPr>
              <a:t>terkomputerisasi yang menjalankan </a:t>
            </a:r>
            <a:r>
              <a:rPr sz="2400" spc="-10" dirty="0">
                <a:latin typeface="Tahoma"/>
                <a:cs typeface="Tahoma"/>
              </a:rPr>
              <a:t>dan </a:t>
            </a:r>
            <a:r>
              <a:rPr sz="2400" spc="-5" dirty="0">
                <a:latin typeface="Tahoma"/>
                <a:cs typeface="Tahoma"/>
              </a:rPr>
              <a:t>mencatat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transaksi rutin </a:t>
            </a:r>
            <a:r>
              <a:rPr sz="2400" spc="-10" dirty="0">
                <a:latin typeface="Tahoma"/>
                <a:cs typeface="Tahoma"/>
              </a:rPr>
              <a:t>harian </a:t>
            </a:r>
            <a:r>
              <a:rPr sz="2400" spc="-5" dirty="0">
                <a:latin typeface="Tahoma"/>
                <a:cs typeface="Tahoma"/>
              </a:rPr>
              <a:t>yang diperlukan </a:t>
            </a:r>
            <a:r>
              <a:rPr sz="2400" dirty="0">
                <a:latin typeface="Tahoma"/>
                <a:cs typeface="Tahoma"/>
              </a:rPr>
              <a:t>untuk </a:t>
            </a:r>
            <a:r>
              <a:rPr sz="2400" spc="-5" dirty="0">
                <a:latin typeface="Tahoma"/>
                <a:cs typeface="Tahoma"/>
              </a:rPr>
              <a:t>menjalankan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bisnis.</a:t>
            </a:r>
          </a:p>
          <a:p>
            <a:pPr marL="356870" marR="1196340" indent="-344805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Manajer Operasional membutuhkan </a:t>
            </a:r>
            <a:r>
              <a:rPr sz="2400" dirty="0">
                <a:latin typeface="Tahoma"/>
                <a:cs typeface="Tahoma"/>
              </a:rPr>
              <a:t>sistem </a:t>
            </a:r>
            <a:r>
              <a:rPr sz="2400" spc="-5" dirty="0">
                <a:latin typeface="Tahoma"/>
                <a:cs typeface="Tahoma"/>
              </a:rPr>
              <a:t>yang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menyimpan </a:t>
            </a:r>
            <a:r>
              <a:rPr sz="2400" spc="-15" dirty="0">
                <a:latin typeface="Tahoma"/>
                <a:cs typeface="Tahoma"/>
              </a:rPr>
              <a:t>catatan </a:t>
            </a:r>
            <a:r>
              <a:rPr sz="2400" spc="-10" dirty="0">
                <a:latin typeface="Tahoma"/>
                <a:cs typeface="Tahoma"/>
              </a:rPr>
              <a:t>aktivitas dasar dan </a:t>
            </a:r>
            <a:r>
              <a:rPr sz="2400" spc="-5" dirty="0">
                <a:latin typeface="Tahoma"/>
                <a:cs typeface="Tahoma"/>
              </a:rPr>
              <a:t>transaksi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organisasi </a:t>
            </a:r>
            <a:r>
              <a:rPr sz="2400" dirty="0">
                <a:latin typeface="Tahoma"/>
                <a:cs typeface="Tahoma"/>
              </a:rPr>
              <a:t>seperti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Penjualan</a:t>
            </a:r>
            <a:endParaRPr sz="24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Penerimaan</a:t>
            </a:r>
            <a:endParaRPr sz="24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Penyimpanan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kas</a:t>
            </a:r>
            <a:endParaRPr sz="24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10" dirty="0">
                <a:latin typeface="Tahoma"/>
                <a:cs typeface="Tahoma"/>
              </a:rPr>
              <a:t>Penggajian</a:t>
            </a:r>
            <a:endParaRPr sz="2400" dirty="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Keputusan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kredit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Arus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bahan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baku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dipabrik.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1388110"/>
            <a:ext cx="718185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SISTEM</a:t>
            </a:r>
            <a:r>
              <a:rPr spc="-75" dirty="0"/>
              <a:t> </a:t>
            </a:r>
            <a:r>
              <a:rPr dirty="0"/>
              <a:t>INFORMASI</a:t>
            </a:r>
            <a:r>
              <a:rPr spc="-50" dirty="0"/>
              <a:t> </a:t>
            </a:r>
            <a:r>
              <a:rPr dirty="0"/>
              <a:t>MANAJEMEN</a:t>
            </a:r>
            <a:r>
              <a:rPr spc="-35" dirty="0"/>
              <a:t> </a:t>
            </a:r>
            <a:r>
              <a:rPr dirty="0"/>
              <a:t>(MIS)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2524125"/>
            <a:ext cx="8143240" cy="273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SIM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menyediakan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Laporan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kinerja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terbaru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perusahaan</a:t>
            </a:r>
            <a:endParaRPr sz="2400" dirty="0">
              <a:latin typeface="Tahoma"/>
              <a:cs typeface="Tahoma"/>
            </a:endParaRPr>
          </a:p>
          <a:p>
            <a:pPr marL="356870" algn="just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pada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manajemen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tingkat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menengah.</a:t>
            </a:r>
          </a:p>
          <a:p>
            <a:pPr marL="356870" indent="-344805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SIM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Merangkum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-5" dirty="0">
                <a:latin typeface="Tahoma"/>
                <a:cs typeface="Tahoma"/>
              </a:rPr>
              <a:t> melaporkan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operasi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dasar</a:t>
            </a:r>
            <a:endParaRPr sz="2400" dirty="0">
              <a:latin typeface="Tahoma"/>
              <a:cs typeface="Tahoma"/>
            </a:endParaRPr>
          </a:p>
          <a:p>
            <a:pPr marL="356870" algn="just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perusahaan menggunakan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data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yang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disediakan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oleh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TPS</a:t>
            </a:r>
            <a:endParaRPr sz="2400" dirty="0">
              <a:latin typeface="Tahoma"/>
              <a:cs typeface="Tahoma"/>
            </a:endParaRPr>
          </a:p>
          <a:p>
            <a:pPr marL="356870" marR="368935" indent="-344805" algn="just">
              <a:lnSpc>
                <a:spcPct val="100000"/>
              </a:lnSpc>
              <a:spcBef>
                <a:spcPts val="580"/>
              </a:spcBef>
              <a:buChar char="•"/>
              <a:tabLst>
                <a:tab pos="357505" algn="l"/>
              </a:tabLst>
            </a:pPr>
            <a:r>
              <a:rPr sz="2400" spc="-10" dirty="0">
                <a:latin typeface="Tahoma"/>
                <a:cs typeface="Tahoma"/>
              </a:rPr>
              <a:t>Data </a:t>
            </a:r>
            <a:r>
              <a:rPr sz="2400" spc="-5" dirty="0">
                <a:latin typeface="Tahoma"/>
                <a:cs typeface="Tahoma"/>
              </a:rPr>
              <a:t>transaksi </a:t>
            </a:r>
            <a:r>
              <a:rPr sz="2400" spc="-10" dirty="0">
                <a:latin typeface="Tahoma"/>
                <a:cs typeface="Tahoma"/>
              </a:rPr>
              <a:t>dasar dari TPS dipadatkan dan </a:t>
            </a:r>
            <a:r>
              <a:rPr sz="2400" spc="-5" dirty="0">
                <a:latin typeface="Tahoma"/>
                <a:cs typeface="Tahoma"/>
              </a:rPr>
              <a:t>biasanya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disajikan </a:t>
            </a:r>
            <a:r>
              <a:rPr sz="2400" spc="-10" dirty="0">
                <a:latin typeface="Tahoma"/>
                <a:cs typeface="Tahoma"/>
              </a:rPr>
              <a:t>pada laporan </a:t>
            </a:r>
            <a:r>
              <a:rPr sz="2400" spc="-5" dirty="0">
                <a:latin typeface="Tahoma"/>
                <a:cs typeface="Tahoma"/>
              </a:rPr>
              <a:t>yang dibuat </a:t>
            </a:r>
            <a:r>
              <a:rPr sz="2400" spc="-10" dirty="0">
                <a:latin typeface="Tahoma"/>
                <a:cs typeface="Tahoma"/>
              </a:rPr>
              <a:t>berdasarkan jadwal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yang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teratur.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(mingguan,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bulanan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atau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tahunan)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914400"/>
            <a:ext cx="78867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DECISION</a:t>
            </a:r>
            <a:r>
              <a:rPr spc="-100" dirty="0"/>
              <a:t> </a:t>
            </a:r>
            <a:r>
              <a:rPr dirty="0"/>
              <a:t>SUPPORT</a:t>
            </a:r>
            <a:r>
              <a:rPr spc="-60" dirty="0"/>
              <a:t> </a:t>
            </a:r>
            <a:r>
              <a:rPr dirty="0"/>
              <a:t>SYSTEM</a:t>
            </a:r>
            <a:r>
              <a:rPr spc="-20" dirty="0"/>
              <a:t> </a:t>
            </a:r>
            <a:r>
              <a:rPr dirty="0"/>
              <a:t>(DSS)</a:t>
            </a:r>
            <a:r>
              <a:rPr spc="-20" dirty="0"/>
              <a:t> </a:t>
            </a:r>
            <a:r>
              <a:rPr dirty="0"/>
              <a:t>ATAU </a:t>
            </a:r>
            <a:r>
              <a:rPr spc="-805" dirty="0"/>
              <a:t> </a:t>
            </a:r>
            <a:r>
              <a:rPr dirty="0"/>
              <a:t>BUSSINESS</a:t>
            </a:r>
            <a:r>
              <a:rPr spc="-40" dirty="0"/>
              <a:t> </a:t>
            </a:r>
            <a:r>
              <a:rPr dirty="0"/>
              <a:t>INTELLIGENCE</a:t>
            </a:r>
            <a:r>
              <a:rPr spc="-80" dirty="0"/>
              <a:t> </a:t>
            </a:r>
            <a:r>
              <a:rPr spc="-5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945" y="2057400"/>
            <a:ext cx="8246109" cy="4253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marR="95885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Membantu </a:t>
            </a:r>
            <a:r>
              <a:rPr sz="2200" spc="-5" dirty="0">
                <a:latin typeface="Tahoma"/>
                <a:cs typeface="Tahoma"/>
              </a:rPr>
              <a:t>manajemen </a:t>
            </a:r>
            <a:r>
              <a:rPr sz="2200" dirty="0">
                <a:latin typeface="Tahoma"/>
                <a:cs typeface="Tahoma"/>
              </a:rPr>
              <a:t>tingkat menengah membuat keputusan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yang tidak </a:t>
            </a:r>
            <a:r>
              <a:rPr sz="2200" spc="-5" dirty="0">
                <a:latin typeface="Tahoma"/>
                <a:cs typeface="Tahoma"/>
              </a:rPr>
              <a:t>rutin </a:t>
            </a:r>
            <a:r>
              <a:rPr sz="2200" dirty="0">
                <a:latin typeface="Tahoma"/>
                <a:cs typeface="Tahoma"/>
              </a:rPr>
              <a:t>yang berfokus </a:t>
            </a:r>
            <a:r>
              <a:rPr sz="2200" spc="5" dirty="0">
                <a:latin typeface="Tahoma"/>
                <a:cs typeface="Tahoma"/>
              </a:rPr>
              <a:t>pada </a:t>
            </a:r>
            <a:r>
              <a:rPr sz="2200" dirty="0">
                <a:latin typeface="Tahoma"/>
                <a:cs typeface="Tahoma"/>
              </a:rPr>
              <a:t>masalah yang </a:t>
            </a:r>
            <a:r>
              <a:rPr sz="2200" spc="-5" dirty="0">
                <a:latin typeface="Tahoma"/>
                <a:cs typeface="Tahoma"/>
              </a:rPr>
              <a:t>unik </a:t>
            </a:r>
            <a:r>
              <a:rPr sz="2200" spc="5" dirty="0">
                <a:latin typeface="Tahoma"/>
                <a:cs typeface="Tahoma"/>
              </a:rPr>
              <a:t>dan 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cepat </a:t>
            </a:r>
            <a:r>
              <a:rPr sz="2200" dirty="0">
                <a:latin typeface="Tahoma"/>
                <a:cs typeface="Tahoma"/>
              </a:rPr>
              <a:t>berubah, dimana prosedur </a:t>
            </a:r>
            <a:r>
              <a:rPr sz="2200" spc="-5" dirty="0">
                <a:latin typeface="Tahoma"/>
                <a:cs typeface="Tahoma"/>
              </a:rPr>
              <a:t>untuk </a:t>
            </a:r>
            <a:r>
              <a:rPr sz="2200" dirty="0">
                <a:latin typeface="Tahoma"/>
                <a:cs typeface="Tahoma"/>
              </a:rPr>
              <a:t>mendapatkan </a:t>
            </a:r>
            <a:r>
              <a:rPr sz="2200" spc="-5" dirty="0">
                <a:latin typeface="Tahoma"/>
                <a:cs typeface="Tahoma"/>
              </a:rPr>
              <a:t>solusi </a:t>
            </a:r>
            <a:r>
              <a:rPr sz="2200" dirty="0">
                <a:latin typeface="Tahoma"/>
                <a:cs typeface="Tahoma"/>
              </a:rPr>
              <a:t> belum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tentu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ditentukan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sebelumnya.</a:t>
            </a:r>
            <a:endParaRPr sz="2200" dirty="0">
              <a:latin typeface="Tahoma"/>
              <a:cs typeface="Tahoma"/>
            </a:endParaRPr>
          </a:p>
          <a:p>
            <a:pPr marL="356870" marR="5080" indent="-344805" algn="just">
              <a:lnSpc>
                <a:spcPct val="100000"/>
              </a:lnSpc>
              <a:spcBef>
                <a:spcPts val="535"/>
              </a:spcBef>
              <a:buChar char="•"/>
              <a:tabLst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DSS</a:t>
            </a:r>
            <a:r>
              <a:rPr sz="2200" dirty="0">
                <a:latin typeface="Tahoma"/>
                <a:cs typeface="Tahoma"/>
              </a:rPr>
              <a:t> memiliki model </a:t>
            </a:r>
            <a:r>
              <a:rPr sz="2200" spc="-5" dirty="0">
                <a:latin typeface="Tahoma"/>
                <a:cs typeface="Tahoma"/>
              </a:rPr>
              <a:t>analitis </a:t>
            </a:r>
            <a:r>
              <a:rPr sz="2200" dirty="0">
                <a:latin typeface="Tahoma"/>
                <a:cs typeface="Tahoma"/>
              </a:rPr>
              <a:t>dan kemampuan </a:t>
            </a:r>
            <a:r>
              <a:rPr sz="2200" spc="-5" dirty="0">
                <a:latin typeface="Tahoma"/>
                <a:cs typeface="Tahoma"/>
              </a:rPr>
              <a:t>analitis </a:t>
            </a:r>
            <a:r>
              <a:rPr sz="2200" spc="5" dirty="0">
                <a:latin typeface="Tahoma"/>
                <a:cs typeface="Tahoma"/>
              </a:rPr>
              <a:t>data </a:t>
            </a:r>
            <a:r>
              <a:rPr sz="2200" dirty="0">
                <a:latin typeface="Tahoma"/>
                <a:cs typeface="Tahoma"/>
              </a:rPr>
              <a:t>yang </a:t>
            </a:r>
            <a:r>
              <a:rPr sz="2200" spc="-68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lebih maju daripada </a:t>
            </a:r>
            <a:r>
              <a:rPr sz="2200" spc="-5" dirty="0">
                <a:latin typeface="Tahoma"/>
                <a:cs typeface="Tahoma"/>
              </a:rPr>
              <a:t>SIM </a:t>
            </a:r>
            <a:r>
              <a:rPr sz="2200" spc="5" dirty="0">
                <a:latin typeface="Tahoma"/>
                <a:cs typeface="Tahoma"/>
              </a:rPr>
              <a:t>dan </a:t>
            </a:r>
            <a:r>
              <a:rPr sz="2200" spc="-5" dirty="0">
                <a:latin typeface="Tahoma"/>
                <a:cs typeface="Tahoma"/>
              </a:rPr>
              <a:t>seringkali </a:t>
            </a:r>
            <a:r>
              <a:rPr sz="2200" dirty="0">
                <a:latin typeface="Tahoma"/>
                <a:cs typeface="Tahoma"/>
              </a:rPr>
              <a:t>menggunakan informasi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dari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sumber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Internal</a:t>
            </a:r>
            <a:r>
              <a:rPr sz="2200" spc="5" dirty="0">
                <a:latin typeface="Tahoma"/>
                <a:cs typeface="Tahoma"/>
              </a:rPr>
              <a:t> dan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eksternal.</a:t>
            </a:r>
            <a:endParaRPr sz="2200" dirty="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ahoma"/>
                <a:cs typeface="Tahoma"/>
              </a:rPr>
              <a:t>DSS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mencoba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menjawab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pertanyaan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seperti berikut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:</a:t>
            </a:r>
          </a:p>
          <a:p>
            <a:pPr marL="756285" marR="330200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ahoma"/>
                <a:cs typeface="Tahoma"/>
              </a:rPr>
              <a:t>Apa pengaruh pada jadwal produksi jika </a:t>
            </a:r>
            <a:r>
              <a:rPr sz="2200" spc="-5" dirty="0">
                <a:latin typeface="Tahoma"/>
                <a:cs typeface="Tahoma"/>
              </a:rPr>
              <a:t>perusahaan </a:t>
            </a:r>
            <a:r>
              <a:rPr sz="2200" dirty="0">
                <a:latin typeface="Tahoma"/>
                <a:cs typeface="Tahoma"/>
              </a:rPr>
              <a:t>akan </a:t>
            </a:r>
            <a:r>
              <a:rPr sz="2200" spc="-68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mengadakan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penjualan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pada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bulan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Desember</a:t>
            </a:r>
            <a:r>
              <a:rPr sz="2200" dirty="0">
                <a:latin typeface="Tahoma"/>
                <a:cs typeface="Tahoma"/>
              </a:rPr>
              <a:t> ?</a:t>
            </a:r>
          </a:p>
          <a:p>
            <a:pPr marL="756285" marR="575310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dirty="0">
                <a:latin typeface="Tahoma"/>
                <a:cs typeface="Tahoma"/>
              </a:rPr>
              <a:t>Apa yang akan </a:t>
            </a:r>
            <a:r>
              <a:rPr sz="2200" spc="-5" dirty="0">
                <a:latin typeface="Tahoma"/>
                <a:cs typeface="Tahoma"/>
              </a:rPr>
              <a:t>terjadi </a:t>
            </a:r>
            <a:r>
              <a:rPr sz="2200" dirty="0">
                <a:latin typeface="Tahoma"/>
                <a:cs typeface="Tahoma"/>
              </a:rPr>
              <a:t>pada pengembalian investasi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perusahaan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jika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jadwal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produksi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ditunda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untuk</a:t>
            </a:r>
            <a:r>
              <a:rPr sz="2200" spc="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6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bulan?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945856"/>
            <a:ext cx="649414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EKSEKUTIF</a:t>
            </a:r>
            <a:r>
              <a:rPr spc="-75" dirty="0"/>
              <a:t> </a:t>
            </a:r>
            <a:r>
              <a:rPr dirty="0"/>
              <a:t>SUPPORT</a:t>
            </a:r>
            <a:r>
              <a:rPr spc="-70" dirty="0"/>
              <a:t> </a:t>
            </a:r>
            <a:r>
              <a:rPr dirty="0"/>
              <a:t>SYSTEM</a:t>
            </a:r>
            <a:r>
              <a:rPr spc="-30" dirty="0"/>
              <a:t> </a:t>
            </a:r>
            <a:r>
              <a:rPr spc="-5" dirty="0"/>
              <a:t>(ESS)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402156"/>
            <a:ext cx="8118475" cy="51930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1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ESS Membantu </a:t>
            </a:r>
            <a:r>
              <a:rPr sz="2200" spc="-5" dirty="0">
                <a:latin typeface="Tahoma"/>
                <a:cs typeface="Tahoma"/>
              </a:rPr>
              <a:t>manajemen Senior menangani keputusan </a:t>
            </a:r>
            <a:r>
              <a:rPr sz="2200" dirty="0">
                <a:latin typeface="Tahoma"/>
                <a:cs typeface="Tahoma"/>
              </a:rPr>
              <a:t>tidak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rutin yang membutuhkan penilaian, evaluasi </a:t>
            </a:r>
            <a:r>
              <a:rPr sz="2200" dirty="0">
                <a:latin typeface="Tahoma"/>
                <a:cs typeface="Tahoma"/>
              </a:rPr>
              <a:t>dan pendekatan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karena </a:t>
            </a:r>
            <a:r>
              <a:rPr sz="2200" dirty="0">
                <a:latin typeface="Tahoma"/>
                <a:cs typeface="Tahoma"/>
              </a:rPr>
              <a:t>tidak </a:t>
            </a:r>
            <a:r>
              <a:rPr sz="2200" spc="-5" dirty="0">
                <a:latin typeface="Tahoma"/>
                <a:cs typeface="Tahoma"/>
              </a:rPr>
              <a:t>terdapat </a:t>
            </a:r>
            <a:r>
              <a:rPr sz="2200" dirty="0">
                <a:latin typeface="Tahoma"/>
                <a:cs typeface="Tahoma"/>
              </a:rPr>
              <a:t>prosedur </a:t>
            </a:r>
            <a:r>
              <a:rPr sz="2200" spc="-5" dirty="0">
                <a:latin typeface="Tahoma"/>
                <a:cs typeface="Tahoma"/>
              </a:rPr>
              <a:t>yang disetujui untuk mencapai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Solusi.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ESS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menyajikan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grafik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data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dari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banyak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sumber</a:t>
            </a:r>
            <a:r>
              <a:rPr sz="2200" dirty="0">
                <a:latin typeface="Tahoma"/>
                <a:cs typeface="Tahoma"/>
              </a:rPr>
              <a:t> .</a:t>
            </a:r>
          </a:p>
          <a:p>
            <a:pPr marL="356870" marR="2806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Informasi seringkali </a:t>
            </a:r>
            <a:r>
              <a:rPr sz="2200" dirty="0">
                <a:latin typeface="Tahoma"/>
                <a:cs typeface="Tahoma"/>
              </a:rPr>
              <a:t>diberikan </a:t>
            </a:r>
            <a:r>
              <a:rPr sz="2200" spc="-5" dirty="0">
                <a:latin typeface="Tahoma"/>
                <a:cs typeface="Tahoma"/>
              </a:rPr>
              <a:t>melalui </a:t>
            </a:r>
            <a:r>
              <a:rPr sz="2200" dirty="0">
                <a:latin typeface="Tahoma"/>
                <a:cs typeface="Tahoma"/>
              </a:rPr>
              <a:t>portal, </a:t>
            </a:r>
            <a:r>
              <a:rPr sz="2200" spc="-5" dirty="0">
                <a:latin typeface="Tahoma"/>
                <a:cs typeface="Tahoma"/>
              </a:rPr>
              <a:t>yang 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menggunakan batasan web </a:t>
            </a:r>
            <a:r>
              <a:rPr sz="2200" dirty="0">
                <a:latin typeface="Tahoma"/>
                <a:cs typeface="Tahoma"/>
              </a:rPr>
              <a:t>untuk </a:t>
            </a:r>
            <a:r>
              <a:rPr sz="2200" spc="-5" dirty="0">
                <a:latin typeface="Tahoma"/>
                <a:cs typeface="Tahoma"/>
              </a:rPr>
              <a:t>menyajikan </a:t>
            </a:r>
            <a:r>
              <a:rPr sz="2200" dirty="0">
                <a:latin typeface="Tahoma"/>
                <a:cs typeface="Tahoma"/>
              </a:rPr>
              <a:t>isi bisnis </a:t>
            </a:r>
            <a:r>
              <a:rPr sz="2200" spc="-5" dirty="0">
                <a:latin typeface="Tahoma"/>
                <a:cs typeface="Tahoma"/>
              </a:rPr>
              <a:t>yang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dipersonalisasi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terintegrasi.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ESS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mencoba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menjawab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pertanyaan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seperti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berikut </a:t>
            </a:r>
            <a:r>
              <a:rPr sz="2200" dirty="0">
                <a:latin typeface="Tahoma"/>
                <a:cs typeface="Tahoma"/>
              </a:rPr>
              <a:t>:</a:t>
            </a: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ahoma"/>
                <a:cs typeface="Tahoma"/>
              </a:rPr>
              <a:t>Bagaimana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tingkat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kepegawaian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dalam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5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tahun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?</a:t>
            </a: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ahoma"/>
                <a:cs typeface="Tahoma"/>
              </a:rPr>
              <a:t>Bagaimana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pergerakan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biaya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industri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jangka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panjang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ahoma"/>
                <a:cs typeface="Tahoma"/>
              </a:rPr>
              <a:t>dimana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perusahaan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berada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?</a:t>
            </a: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ahoma"/>
                <a:cs typeface="Tahoma"/>
              </a:rPr>
              <a:t>Produk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apa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yang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sebaiknya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dibuat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dalam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5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tahun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?</a:t>
            </a: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Tahoma"/>
                <a:cs typeface="Tahoma"/>
              </a:rPr>
              <a:t>Seberapa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baikkah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kinerja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pesaing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914400"/>
            <a:ext cx="757745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SISTEM</a:t>
            </a:r>
            <a:r>
              <a:rPr spc="-80" dirty="0"/>
              <a:t> </a:t>
            </a:r>
            <a:r>
              <a:rPr dirty="0"/>
              <a:t>YANG</a:t>
            </a:r>
            <a:r>
              <a:rPr spc="-20" dirty="0"/>
              <a:t> </a:t>
            </a:r>
            <a:r>
              <a:rPr dirty="0"/>
              <a:t>MELINGKUPI</a:t>
            </a:r>
            <a:r>
              <a:rPr spc="-25" dirty="0"/>
              <a:t> </a:t>
            </a:r>
            <a:r>
              <a:rPr spc="-5" dirty="0"/>
              <a:t>PERUSAHAAN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226938"/>
            <a:ext cx="7918450" cy="531304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dirty="0">
                <a:solidFill>
                  <a:srgbClr val="0000CC"/>
                </a:solidFill>
                <a:latin typeface="Tahoma"/>
                <a:cs typeface="Tahoma"/>
              </a:rPr>
              <a:t>APLIKASI</a:t>
            </a:r>
            <a:r>
              <a:rPr sz="2400" spc="-1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Tahoma"/>
                <a:cs typeface="Tahoma"/>
              </a:rPr>
              <a:t>PERUSAHAAN</a:t>
            </a:r>
            <a:r>
              <a:rPr sz="2400" spc="-3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0000CC"/>
                </a:solidFill>
                <a:latin typeface="Tahoma"/>
                <a:cs typeface="Tahoma"/>
              </a:rPr>
              <a:t>(ENTERPRISE</a:t>
            </a:r>
            <a:r>
              <a:rPr sz="2500" spc="-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2500" spc="-60" dirty="0">
                <a:solidFill>
                  <a:srgbClr val="0000CC"/>
                </a:solidFill>
                <a:latin typeface="Tahoma"/>
                <a:cs typeface="Tahoma"/>
              </a:rPr>
              <a:t>APLICATION)</a:t>
            </a:r>
            <a:endParaRPr sz="2500" dirty="0">
              <a:latin typeface="Tahoma"/>
              <a:cs typeface="Tahoma"/>
            </a:endParaRPr>
          </a:p>
          <a:p>
            <a:pPr marL="356870" marR="5080" indent="-344805">
              <a:lnSpc>
                <a:spcPct val="100000"/>
              </a:lnSpc>
              <a:spcBef>
                <a:spcPts val="52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Merupakan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sistem </a:t>
            </a:r>
            <a:r>
              <a:rPr sz="2200" dirty="0">
                <a:latin typeface="Tahoma"/>
                <a:cs typeface="Tahoma"/>
              </a:rPr>
              <a:t>yang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melingkupi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area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fungsional,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berfokus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pada </a:t>
            </a:r>
            <a:r>
              <a:rPr sz="2200" spc="-5" dirty="0">
                <a:latin typeface="Tahoma"/>
                <a:cs typeface="Tahoma"/>
              </a:rPr>
              <a:t>menjalankan </a:t>
            </a:r>
            <a:r>
              <a:rPr sz="2200" dirty="0">
                <a:latin typeface="Tahoma"/>
                <a:cs typeface="Tahoma"/>
              </a:rPr>
              <a:t>proses bisnis didalam </a:t>
            </a:r>
            <a:r>
              <a:rPr sz="2200" spc="-5" dirty="0">
                <a:latin typeface="Tahoma"/>
                <a:cs typeface="Tahoma"/>
              </a:rPr>
              <a:t>perusahaan </a:t>
            </a:r>
            <a:r>
              <a:rPr sz="2200" dirty="0">
                <a:latin typeface="Tahoma"/>
                <a:cs typeface="Tahoma"/>
              </a:rPr>
              <a:t>dan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termasuk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seluruh </a:t>
            </a:r>
            <a:r>
              <a:rPr sz="2200" dirty="0">
                <a:latin typeface="Tahoma"/>
                <a:cs typeface="Tahoma"/>
              </a:rPr>
              <a:t>tingkatan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manajemen.</a:t>
            </a:r>
            <a:endParaRPr sz="2200" dirty="0">
              <a:latin typeface="Tahoma"/>
              <a:cs typeface="Tahoma"/>
            </a:endParaRPr>
          </a:p>
          <a:p>
            <a:pPr marL="356870" marR="150495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Membantu </a:t>
            </a:r>
            <a:r>
              <a:rPr sz="2200" dirty="0">
                <a:latin typeface="Tahoma"/>
                <a:cs typeface="Tahoma"/>
              </a:rPr>
              <a:t>bisnis </a:t>
            </a:r>
            <a:r>
              <a:rPr sz="2200" spc="-5" dirty="0">
                <a:latin typeface="Tahoma"/>
                <a:cs typeface="Tahoma"/>
              </a:rPr>
              <a:t>untuk </a:t>
            </a:r>
            <a:r>
              <a:rPr sz="2200" dirty="0">
                <a:latin typeface="Tahoma"/>
                <a:cs typeface="Tahoma"/>
              </a:rPr>
              <a:t>lebih </a:t>
            </a:r>
            <a:r>
              <a:rPr sz="2200" spc="-5" dirty="0">
                <a:latin typeface="Tahoma"/>
                <a:cs typeface="Tahoma"/>
              </a:rPr>
              <a:t>fleksibel </a:t>
            </a:r>
            <a:r>
              <a:rPr sz="2200" dirty="0">
                <a:latin typeface="Tahoma"/>
                <a:cs typeface="Tahoma"/>
              </a:rPr>
              <a:t>dan produktif dengan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mengkoordinasikan proses bisnis dengan lebih dekat dan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mengintegrasikan </a:t>
            </a:r>
            <a:r>
              <a:rPr sz="2200" dirty="0">
                <a:latin typeface="Tahoma"/>
                <a:cs typeface="Tahoma"/>
              </a:rPr>
              <a:t>sekelompok proses agar </a:t>
            </a:r>
            <a:r>
              <a:rPr sz="2200" spc="-5" dirty="0">
                <a:latin typeface="Tahoma"/>
                <a:cs typeface="Tahoma"/>
              </a:rPr>
              <a:t>mereka berfokus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pada </a:t>
            </a:r>
            <a:r>
              <a:rPr sz="2200" spc="-5" dirty="0">
                <a:latin typeface="Tahoma"/>
                <a:cs typeface="Tahoma"/>
              </a:rPr>
              <a:t>pengelolaan </a:t>
            </a:r>
            <a:r>
              <a:rPr sz="2200" dirty="0">
                <a:latin typeface="Tahoma"/>
                <a:cs typeface="Tahoma"/>
              </a:rPr>
              <a:t>sumber daya </a:t>
            </a:r>
            <a:r>
              <a:rPr sz="2200" spc="-5" dirty="0">
                <a:latin typeface="Tahoma"/>
                <a:cs typeface="Tahoma"/>
              </a:rPr>
              <a:t>yang efisien </a:t>
            </a:r>
            <a:r>
              <a:rPr sz="2200" dirty="0">
                <a:latin typeface="Tahoma"/>
                <a:cs typeface="Tahoma"/>
              </a:rPr>
              <a:t>dan </a:t>
            </a:r>
            <a:r>
              <a:rPr sz="2200" spc="-5" dirty="0">
                <a:latin typeface="Tahoma"/>
                <a:cs typeface="Tahoma"/>
              </a:rPr>
              <a:t>pelayanan 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pelanggan.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Terdapat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4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aplikasi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perusahaan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:</a:t>
            </a:r>
          </a:p>
          <a:p>
            <a:pPr marL="722630" lvl="1" indent="-262890">
              <a:lnSpc>
                <a:spcPct val="100000"/>
              </a:lnSpc>
              <a:spcBef>
                <a:spcPts val="530"/>
              </a:spcBef>
              <a:buChar char="–"/>
              <a:tabLst>
                <a:tab pos="723265" algn="l"/>
              </a:tabLst>
            </a:pPr>
            <a:r>
              <a:rPr sz="2200" dirty="0">
                <a:latin typeface="Tahoma"/>
                <a:cs typeface="Tahoma"/>
              </a:rPr>
              <a:t>Enterprise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Systems/Enterprise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Resource</a:t>
            </a:r>
            <a:r>
              <a:rPr sz="2200" spc="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Planning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5" dirty="0">
                <a:latin typeface="Tahoma"/>
                <a:cs typeface="Tahoma"/>
              </a:rPr>
              <a:t>(ERP)</a:t>
            </a:r>
            <a:endParaRPr sz="2200" dirty="0">
              <a:latin typeface="Tahoma"/>
              <a:cs typeface="Tahoma"/>
            </a:endParaRPr>
          </a:p>
          <a:p>
            <a:pPr marL="722630" lvl="1" indent="-262890">
              <a:lnSpc>
                <a:spcPct val="100000"/>
              </a:lnSpc>
              <a:spcBef>
                <a:spcPts val="525"/>
              </a:spcBef>
              <a:buChar char="–"/>
              <a:tabLst>
                <a:tab pos="723265" algn="l"/>
              </a:tabLst>
            </a:pPr>
            <a:r>
              <a:rPr sz="2200" dirty="0">
                <a:latin typeface="Tahoma"/>
                <a:cs typeface="Tahoma"/>
              </a:rPr>
              <a:t>Supply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Chain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Management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Systems </a:t>
            </a:r>
            <a:r>
              <a:rPr sz="2200" dirty="0">
                <a:latin typeface="Tahoma"/>
                <a:cs typeface="Tahoma"/>
              </a:rPr>
              <a:t>(SCM)</a:t>
            </a:r>
          </a:p>
          <a:p>
            <a:pPr marL="722630" lvl="1" indent="-262890">
              <a:lnSpc>
                <a:spcPct val="100000"/>
              </a:lnSpc>
              <a:spcBef>
                <a:spcPts val="530"/>
              </a:spcBef>
              <a:buChar char="–"/>
              <a:tabLst>
                <a:tab pos="723265" algn="l"/>
              </a:tabLst>
            </a:pPr>
            <a:r>
              <a:rPr sz="2200" spc="-5" dirty="0">
                <a:latin typeface="Tahoma"/>
                <a:cs typeface="Tahoma"/>
              </a:rPr>
              <a:t>Customer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Relationship Management Systems</a:t>
            </a:r>
            <a:r>
              <a:rPr sz="2200" spc="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(CRM)</a:t>
            </a:r>
          </a:p>
          <a:p>
            <a:pPr marL="722630" lvl="1" indent="-262890">
              <a:lnSpc>
                <a:spcPct val="100000"/>
              </a:lnSpc>
              <a:spcBef>
                <a:spcPts val="530"/>
              </a:spcBef>
              <a:buChar char="–"/>
              <a:tabLst>
                <a:tab pos="723265" algn="l"/>
              </a:tabLst>
            </a:pPr>
            <a:r>
              <a:rPr sz="2200" dirty="0">
                <a:latin typeface="Tahoma"/>
                <a:cs typeface="Tahoma"/>
              </a:rPr>
              <a:t>Knowledge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Management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Systems </a:t>
            </a:r>
            <a:r>
              <a:rPr sz="2200" dirty="0">
                <a:latin typeface="Tahoma"/>
                <a:cs typeface="Tahoma"/>
              </a:rPr>
              <a:t>(KM)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266141"/>
            <a:ext cx="47885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ENTERPRISE</a:t>
            </a:r>
            <a:r>
              <a:rPr spc="-130" dirty="0"/>
              <a:t> </a:t>
            </a:r>
            <a:r>
              <a:rPr dirty="0"/>
              <a:t>SYSTEM/ERP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0044" y="1402156"/>
            <a:ext cx="8188959" cy="456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ahoma"/>
                <a:cs typeface="Tahoma"/>
              </a:rPr>
              <a:t>Menyelesaikan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masalah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dengan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mengumpulkan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data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dari </a:t>
            </a:r>
            <a:r>
              <a:rPr sz="2400" spc="-5" dirty="0">
                <a:latin typeface="Tahoma"/>
                <a:cs typeface="Tahoma"/>
              </a:rPr>
              <a:t> beragam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proses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bisnis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inti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pada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manufaktur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produksi,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keuangan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akuntansi,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penjualan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pemasaran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 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sumber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daya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manusia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menyimpan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data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pada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penyimpanan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data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terpusat.</a:t>
            </a:r>
            <a:endParaRPr sz="2400" dirty="0">
              <a:latin typeface="Tahoma"/>
              <a:cs typeface="Tahoma"/>
            </a:endParaRPr>
          </a:p>
          <a:p>
            <a:pPr marL="356870" marR="508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Tahoma"/>
                <a:cs typeface="Tahoma"/>
              </a:rPr>
              <a:t>Memungkinkan </a:t>
            </a:r>
            <a:r>
              <a:rPr sz="2400" spc="-5" dirty="0">
                <a:latin typeface="Tahoma"/>
                <a:cs typeface="Tahoma"/>
              </a:rPr>
              <a:t>informasi yang </a:t>
            </a:r>
            <a:r>
              <a:rPr sz="2400" dirty="0">
                <a:latin typeface="Tahoma"/>
                <a:cs typeface="Tahoma"/>
              </a:rPr>
              <a:t>sebelumnya </a:t>
            </a:r>
            <a:r>
              <a:rPr sz="2400" spc="-10" dirty="0">
                <a:latin typeface="Tahoma"/>
                <a:cs typeface="Tahoma"/>
              </a:rPr>
              <a:t>terpecah </a:t>
            </a:r>
            <a:r>
              <a:rPr sz="2400" spc="-5" dirty="0">
                <a:latin typeface="Tahoma"/>
                <a:cs typeface="Tahoma"/>
              </a:rPr>
              <a:t>pada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sistem-sistem </a:t>
            </a:r>
            <a:r>
              <a:rPr sz="2400" spc="-5" dirty="0">
                <a:latin typeface="Tahoma"/>
                <a:cs typeface="Tahoma"/>
              </a:rPr>
              <a:t>yang </a:t>
            </a:r>
            <a:r>
              <a:rPr sz="2400" dirty="0">
                <a:latin typeface="Tahoma"/>
                <a:cs typeface="Tahoma"/>
              </a:rPr>
              <a:t>berbeda </a:t>
            </a:r>
            <a:r>
              <a:rPr sz="2400" spc="-5" dirty="0">
                <a:latin typeface="Tahoma"/>
                <a:cs typeface="Tahoma"/>
              </a:rPr>
              <a:t>untuk dibagi </a:t>
            </a:r>
            <a:r>
              <a:rPr sz="2400" dirty="0">
                <a:latin typeface="Tahoma"/>
                <a:cs typeface="Tahoma"/>
              </a:rPr>
              <a:t>keseluruh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perusahaan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untuk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bagian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bisnis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yang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berbeda </a:t>
            </a:r>
            <a:r>
              <a:rPr sz="2400" dirty="0">
                <a:latin typeface="Tahoma"/>
                <a:cs typeface="Tahoma"/>
              </a:rPr>
              <a:t>untuk 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lebih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dekat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lagi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bekerja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bersama.</a:t>
            </a:r>
            <a:endParaRPr sz="2400" dirty="0">
              <a:latin typeface="Tahoma"/>
              <a:cs typeface="Tahoma"/>
            </a:endParaRPr>
          </a:p>
          <a:p>
            <a:pPr marL="356870" marR="180340" indent="-344805">
              <a:lnSpc>
                <a:spcPct val="100000"/>
              </a:lnSpc>
              <a:spcBef>
                <a:spcPts val="58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Mempercepat komunikasi informasi yang melalui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perusahaan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membuat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lebih</a:t>
            </a:r>
            <a:r>
              <a:rPr sz="2400" spc="-5" dirty="0">
                <a:latin typeface="Tahoma"/>
                <a:cs typeface="Tahoma"/>
              </a:rPr>
              <a:t> mudah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bagi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bisnis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untuk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mengkoordinasikan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operasi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hariannya.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1219200"/>
            <a:ext cx="7357745" cy="8845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285"/>
              </a:lnSpc>
              <a:spcBef>
                <a:spcPts val="110"/>
              </a:spcBef>
            </a:pPr>
            <a:r>
              <a:rPr dirty="0"/>
              <a:t>SISTEM</a:t>
            </a:r>
            <a:r>
              <a:rPr spc="-85" dirty="0"/>
              <a:t> </a:t>
            </a:r>
            <a:r>
              <a:rPr dirty="0"/>
              <a:t>MANAJEMEN</a:t>
            </a:r>
            <a:r>
              <a:rPr spc="-45" dirty="0"/>
              <a:t> </a:t>
            </a:r>
            <a:r>
              <a:rPr dirty="0"/>
              <a:t>RANTAI</a:t>
            </a:r>
            <a:r>
              <a:rPr spc="-30" dirty="0"/>
              <a:t> </a:t>
            </a:r>
            <a:r>
              <a:rPr dirty="0"/>
              <a:t>PASOKAN/</a:t>
            </a:r>
          </a:p>
          <a:p>
            <a:pPr marL="12700">
              <a:lnSpc>
                <a:spcPts val="3465"/>
              </a:lnSpc>
            </a:pPr>
            <a:r>
              <a:rPr sz="2950" i="1" spc="-305" dirty="0">
                <a:latin typeface="Verdana"/>
                <a:cs typeface="Verdana"/>
              </a:rPr>
              <a:t>S</a:t>
            </a:r>
            <a:r>
              <a:rPr sz="2950" i="1" spc="-360" dirty="0">
                <a:latin typeface="Verdana"/>
                <a:cs typeface="Verdana"/>
              </a:rPr>
              <a:t>U</a:t>
            </a:r>
            <a:r>
              <a:rPr sz="2950" i="1" spc="-305" dirty="0">
                <a:latin typeface="Verdana"/>
                <a:cs typeface="Verdana"/>
              </a:rPr>
              <a:t>PPL</a:t>
            </a:r>
            <a:r>
              <a:rPr sz="2950" i="1" spc="-315" dirty="0">
                <a:latin typeface="Verdana"/>
                <a:cs typeface="Verdana"/>
              </a:rPr>
              <a:t>Y</a:t>
            </a:r>
            <a:r>
              <a:rPr sz="2950" i="1" spc="-245" dirty="0">
                <a:latin typeface="Verdana"/>
                <a:cs typeface="Verdana"/>
              </a:rPr>
              <a:t> </a:t>
            </a:r>
            <a:r>
              <a:rPr sz="2950" i="1" spc="-280" dirty="0">
                <a:latin typeface="Verdana"/>
                <a:cs typeface="Verdana"/>
              </a:rPr>
              <a:t>C</a:t>
            </a:r>
            <a:r>
              <a:rPr sz="2950" i="1" spc="-330" dirty="0">
                <a:latin typeface="Verdana"/>
                <a:cs typeface="Verdana"/>
              </a:rPr>
              <a:t>H</a:t>
            </a:r>
            <a:r>
              <a:rPr sz="2950" i="1" spc="-320" dirty="0">
                <a:latin typeface="Verdana"/>
                <a:cs typeface="Verdana"/>
              </a:rPr>
              <a:t>AIN</a:t>
            </a:r>
            <a:r>
              <a:rPr sz="2950" i="1" spc="-185" dirty="0">
                <a:latin typeface="Verdana"/>
                <a:cs typeface="Verdana"/>
              </a:rPr>
              <a:t> </a:t>
            </a:r>
            <a:r>
              <a:rPr sz="2950" i="1" spc="-305" dirty="0">
                <a:latin typeface="Verdana"/>
                <a:cs typeface="Verdana"/>
              </a:rPr>
              <a:t>M</a:t>
            </a:r>
            <a:r>
              <a:rPr sz="2950" i="1" spc="-340" dirty="0">
                <a:latin typeface="Verdana"/>
                <a:cs typeface="Verdana"/>
              </a:rPr>
              <a:t>A</a:t>
            </a:r>
            <a:r>
              <a:rPr sz="2950" i="1" spc="-380" dirty="0">
                <a:latin typeface="Verdana"/>
                <a:cs typeface="Verdana"/>
              </a:rPr>
              <a:t>N</a:t>
            </a:r>
            <a:r>
              <a:rPr sz="2950" i="1" spc="-295" dirty="0">
                <a:latin typeface="Verdana"/>
                <a:cs typeface="Verdana"/>
              </a:rPr>
              <a:t>AGE</a:t>
            </a:r>
            <a:r>
              <a:rPr sz="2950" i="1" spc="-390" dirty="0">
                <a:latin typeface="Verdana"/>
                <a:cs typeface="Verdana"/>
              </a:rPr>
              <a:t>M</a:t>
            </a:r>
            <a:r>
              <a:rPr sz="2950" i="1" spc="-325" dirty="0">
                <a:latin typeface="Verdana"/>
                <a:cs typeface="Verdana"/>
              </a:rPr>
              <a:t>EN</a:t>
            </a:r>
            <a:r>
              <a:rPr sz="2950" i="1" spc="-285" dirty="0">
                <a:latin typeface="Verdana"/>
                <a:cs typeface="Verdana"/>
              </a:rPr>
              <a:t>T</a:t>
            </a:r>
            <a:r>
              <a:rPr sz="2950" i="1" spc="-215" dirty="0">
                <a:latin typeface="Verdana"/>
                <a:cs typeface="Verdana"/>
              </a:rPr>
              <a:t> </a:t>
            </a:r>
            <a:r>
              <a:rPr sz="2950" i="1" spc="-275" dirty="0">
                <a:latin typeface="Verdana"/>
                <a:cs typeface="Verdana"/>
              </a:rPr>
              <a:t>(SC</a:t>
            </a:r>
            <a:r>
              <a:rPr sz="2950" i="1" spc="-409" dirty="0">
                <a:latin typeface="Verdana"/>
                <a:cs typeface="Verdana"/>
              </a:rPr>
              <a:t>M</a:t>
            </a:r>
            <a:r>
              <a:rPr sz="2950" i="1" spc="-330" dirty="0">
                <a:latin typeface="Verdana"/>
                <a:cs typeface="Verdana"/>
              </a:rPr>
              <a:t>)</a:t>
            </a:r>
            <a:endParaRPr sz="295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6632" y="2209800"/>
            <a:ext cx="8023859" cy="419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Membantu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bisnis mengelola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hubungan dengan pemasok</a:t>
            </a:r>
            <a:endParaRPr sz="2400" dirty="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mereka.</a:t>
            </a:r>
            <a:endParaRPr sz="2400" dirty="0">
              <a:latin typeface="Tahoma"/>
              <a:cs typeface="Tahoma"/>
            </a:endParaRPr>
          </a:p>
          <a:p>
            <a:pPr marL="356870" marR="5080" indent="-344805">
              <a:lnSpc>
                <a:spcPct val="100000"/>
              </a:lnSpc>
              <a:spcBef>
                <a:spcPts val="580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Menyediakan informasi untuk membantu pemasok,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perusahaan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pembeli, distributor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perusahaan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logistik </a:t>
            </a:r>
            <a:r>
              <a:rPr sz="2400" dirty="0">
                <a:latin typeface="Tahoma"/>
                <a:cs typeface="Tahoma"/>
              </a:rPr>
              <a:t> untuk </a:t>
            </a:r>
            <a:r>
              <a:rPr sz="2400" spc="-10" dirty="0">
                <a:latin typeface="Tahoma"/>
                <a:cs typeface="Tahoma"/>
              </a:rPr>
              <a:t>berbagi </a:t>
            </a:r>
            <a:r>
              <a:rPr sz="2400" spc="-5" dirty="0">
                <a:latin typeface="Tahoma"/>
                <a:cs typeface="Tahoma"/>
              </a:rPr>
              <a:t>informasi </a:t>
            </a:r>
            <a:r>
              <a:rPr sz="2400" dirty="0">
                <a:latin typeface="Tahoma"/>
                <a:cs typeface="Tahoma"/>
              </a:rPr>
              <a:t>mengenai </a:t>
            </a:r>
            <a:r>
              <a:rPr sz="2400" spc="-5" dirty="0">
                <a:latin typeface="Tahoma"/>
                <a:cs typeface="Tahoma"/>
              </a:rPr>
              <a:t>pemesanan, produksi,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tingkat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persediaan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pengantaran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produk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-5" dirty="0">
                <a:latin typeface="Tahoma"/>
                <a:cs typeface="Tahoma"/>
              </a:rPr>
              <a:t> jasa </a:t>
            </a:r>
            <a:r>
              <a:rPr sz="2400" dirty="0">
                <a:latin typeface="Tahoma"/>
                <a:cs typeface="Tahoma"/>
              </a:rPr>
              <a:t> mereka </a:t>
            </a:r>
            <a:r>
              <a:rPr sz="2400" spc="-10" dirty="0">
                <a:latin typeface="Tahoma"/>
                <a:cs typeface="Tahoma"/>
              </a:rPr>
              <a:t>agar dapat </a:t>
            </a:r>
            <a:r>
              <a:rPr sz="2400" spc="-5" dirty="0">
                <a:latin typeface="Tahoma"/>
                <a:cs typeface="Tahoma"/>
              </a:rPr>
              <a:t>mencari </a:t>
            </a:r>
            <a:r>
              <a:rPr sz="2400" dirty="0">
                <a:latin typeface="Tahoma"/>
                <a:cs typeface="Tahoma"/>
              </a:rPr>
              <a:t>sumber, memproduksi </a:t>
            </a:r>
            <a:r>
              <a:rPr sz="2400" spc="-10" dirty="0">
                <a:latin typeface="Tahoma"/>
                <a:cs typeface="Tahoma"/>
              </a:rPr>
              <a:t>dan </a:t>
            </a:r>
            <a:r>
              <a:rPr sz="2400" spc="-5" dirty="0">
                <a:latin typeface="Tahoma"/>
                <a:cs typeface="Tahoma"/>
              </a:rPr>
              <a:t> mengirimkan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barang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jasa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dengan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efisien.</a:t>
            </a:r>
          </a:p>
          <a:p>
            <a:pPr marL="356870" marR="38735" indent="-344805">
              <a:lnSpc>
                <a:spcPct val="100000"/>
              </a:lnSpc>
              <a:spcBef>
                <a:spcPts val="58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Tahoma"/>
                <a:cs typeface="Tahoma"/>
              </a:rPr>
              <a:t>Tujuan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utama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untuk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mendapatkan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jumlah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produk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yang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tepat dari </a:t>
            </a:r>
            <a:r>
              <a:rPr sz="2400" dirty="0">
                <a:latin typeface="Tahoma"/>
                <a:cs typeface="Tahoma"/>
              </a:rPr>
              <a:t>sumber mereka menuju </a:t>
            </a:r>
            <a:r>
              <a:rPr sz="2400" spc="-10" dirty="0">
                <a:latin typeface="Tahoma"/>
                <a:cs typeface="Tahoma"/>
              </a:rPr>
              <a:t>titik </a:t>
            </a:r>
            <a:r>
              <a:rPr sz="2400" dirty="0">
                <a:latin typeface="Tahoma"/>
                <a:cs typeface="Tahoma"/>
              </a:rPr>
              <a:t>konsumsi </a:t>
            </a:r>
            <a:r>
              <a:rPr sz="2400" spc="-5" dirty="0">
                <a:latin typeface="Tahoma"/>
                <a:cs typeface="Tahoma"/>
              </a:rPr>
              <a:t>dengan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jumlah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waktu</a:t>
            </a:r>
            <a:r>
              <a:rPr sz="2400" spc="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tersingkat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dengan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biaya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terendah.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808" y="609600"/>
            <a:ext cx="78867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BAGAIMANA</a:t>
            </a:r>
            <a:r>
              <a:rPr spc="-75" dirty="0"/>
              <a:t> </a:t>
            </a:r>
            <a:r>
              <a:rPr dirty="0"/>
              <a:t>SISTEM</a:t>
            </a:r>
            <a:r>
              <a:rPr spc="-65" dirty="0"/>
              <a:t> </a:t>
            </a:r>
            <a:r>
              <a:rPr dirty="0"/>
              <a:t>INFORMASI </a:t>
            </a:r>
            <a:r>
              <a:rPr spc="-805" dirty="0"/>
              <a:t> </a:t>
            </a:r>
            <a:r>
              <a:rPr dirty="0"/>
              <a:t>MEMFASILITASI</a:t>
            </a:r>
            <a:r>
              <a:rPr spc="-125" dirty="0"/>
              <a:t> </a:t>
            </a:r>
            <a:r>
              <a:rPr dirty="0"/>
              <a:t>SCM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3671" y="1600200"/>
            <a:ext cx="8362950" cy="49898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spc="-5" dirty="0">
                <a:latin typeface="Tahoma"/>
                <a:cs typeface="Tahoma"/>
              </a:rPr>
              <a:t>INFORMASI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DARI </a:t>
            </a:r>
            <a:r>
              <a:rPr sz="2200" dirty="0">
                <a:latin typeface="Tahoma"/>
                <a:cs typeface="Tahoma"/>
              </a:rPr>
              <a:t>SISTEM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SCM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MEMBANTU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PERUSAHAAN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UNTUK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:</a:t>
            </a: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Memutuskan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kapan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apa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yang akan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diproduksi,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disimpan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ahoma"/>
                <a:cs typeface="Tahoma"/>
              </a:rPr>
              <a:t>dipindahkan</a:t>
            </a:r>
          </a:p>
          <a:p>
            <a:pPr marL="356870" indent="-344805">
              <a:lnSpc>
                <a:spcPct val="100000"/>
              </a:lnSpc>
              <a:spcBef>
                <a:spcPts val="52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Mengkomunikasikan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pesanan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dengan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cepat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Melacak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status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pesanan</a:t>
            </a:r>
            <a:endParaRPr sz="2200" dirty="0">
              <a:latin typeface="Tahoma"/>
              <a:cs typeface="Tahoma"/>
            </a:endParaRPr>
          </a:p>
          <a:p>
            <a:pPr marL="356870" marR="73533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Mengecek ketersediaan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persediaan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mengawasi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tingkat </a:t>
            </a:r>
            <a:r>
              <a:rPr sz="2200" spc="-67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persediaan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Mengurangi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biaya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persediaan, transportasi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 pergudangan</a:t>
            </a: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Melacak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pengiriman</a:t>
            </a: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Merencanakan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produksi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berdasarkan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permintaan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sebenarnya</a:t>
            </a:r>
            <a:endParaRPr sz="2200" dirty="0">
              <a:latin typeface="Tahoma"/>
              <a:cs typeface="Tahoma"/>
            </a:endParaRPr>
          </a:p>
          <a:p>
            <a:pPr marL="356870">
              <a:lnSpc>
                <a:spcPct val="100000"/>
              </a:lnSpc>
            </a:pPr>
            <a:r>
              <a:rPr sz="2200" dirty="0">
                <a:latin typeface="Tahoma"/>
                <a:cs typeface="Tahoma"/>
              </a:rPr>
              <a:t>pelaggan</a:t>
            </a: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Mengkomunikasikan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perubahan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pada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rancangan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produk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dengan</a:t>
            </a:r>
          </a:p>
          <a:p>
            <a:pPr marL="356870">
              <a:lnSpc>
                <a:spcPct val="100000"/>
              </a:lnSpc>
            </a:pPr>
            <a:r>
              <a:rPr sz="2200" dirty="0">
                <a:latin typeface="Tahoma"/>
                <a:cs typeface="Tahoma"/>
              </a:rPr>
              <a:t>cepat.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651" y="1159460"/>
            <a:ext cx="7571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SISTEM</a:t>
            </a:r>
            <a:r>
              <a:rPr sz="2400" dirty="0"/>
              <a:t> </a:t>
            </a:r>
            <a:r>
              <a:rPr sz="2400" spc="-5" dirty="0"/>
              <a:t>MANAJEMEN</a:t>
            </a:r>
            <a:r>
              <a:rPr sz="2400" spc="-15" dirty="0"/>
              <a:t> </a:t>
            </a:r>
            <a:r>
              <a:rPr sz="2400" dirty="0"/>
              <a:t>HUBUNGAN</a:t>
            </a:r>
            <a:r>
              <a:rPr sz="2400" spc="-25" dirty="0"/>
              <a:t> </a:t>
            </a:r>
            <a:r>
              <a:rPr sz="2400" spc="-5" dirty="0"/>
              <a:t>PELANGGAN/</a:t>
            </a:r>
            <a:endParaRPr sz="2400" dirty="0"/>
          </a:p>
          <a:p>
            <a:pPr marL="12700">
              <a:lnSpc>
                <a:spcPct val="100000"/>
              </a:lnSpc>
            </a:pPr>
            <a:r>
              <a:rPr sz="2400" spc="-5" dirty="0"/>
              <a:t>CUSTOMER</a:t>
            </a:r>
            <a:r>
              <a:rPr sz="2400" spc="-45" dirty="0"/>
              <a:t> </a:t>
            </a:r>
            <a:r>
              <a:rPr sz="2400" spc="-5" dirty="0"/>
              <a:t>RELATIONSHIP</a:t>
            </a:r>
            <a:r>
              <a:rPr sz="2400" spc="15" dirty="0"/>
              <a:t> </a:t>
            </a:r>
            <a:r>
              <a:rPr sz="2400" spc="-5" dirty="0"/>
              <a:t>MANAGEMENT</a:t>
            </a:r>
            <a:r>
              <a:rPr sz="2400" spc="-55" dirty="0"/>
              <a:t> </a:t>
            </a:r>
            <a:r>
              <a:rPr sz="2400" spc="-5" dirty="0"/>
              <a:t>(CRM)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2362200"/>
            <a:ext cx="8001000" cy="38506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0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Membantu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perusahaan</a:t>
            </a:r>
            <a:r>
              <a:rPr sz="2200" dirty="0">
                <a:latin typeface="Tahoma"/>
                <a:cs typeface="Tahoma"/>
              </a:rPr>
              <a:t> mengelola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hubungannya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dengan</a:t>
            </a:r>
          </a:p>
          <a:p>
            <a:pPr marL="35687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ahoma"/>
                <a:cs typeface="Tahoma"/>
              </a:rPr>
              <a:t>pelanggan</a:t>
            </a:r>
          </a:p>
          <a:p>
            <a:pPr marL="356870" marR="508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-5" dirty="0">
                <a:latin typeface="Tahoma"/>
                <a:cs typeface="Tahoma"/>
              </a:rPr>
              <a:t>Menyediakan informasi untuk </a:t>
            </a:r>
            <a:r>
              <a:rPr sz="2200" dirty="0">
                <a:latin typeface="Tahoma"/>
                <a:cs typeface="Tahoma"/>
              </a:rPr>
              <a:t>mengkoordinasikan </a:t>
            </a:r>
            <a:r>
              <a:rPr sz="2200" spc="-5" dirty="0">
                <a:latin typeface="Tahoma"/>
                <a:cs typeface="Tahoma"/>
              </a:rPr>
              <a:t>seluruh </a:t>
            </a:r>
            <a:r>
              <a:rPr sz="2200" dirty="0">
                <a:latin typeface="Tahoma"/>
                <a:cs typeface="Tahoma"/>
              </a:rPr>
              <a:t> proses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bisnis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yang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berhubungan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dengan pelanggan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dalam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hal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penjualan, pemasaran </a:t>
            </a:r>
            <a:r>
              <a:rPr sz="2200" dirty="0">
                <a:latin typeface="Tahoma"/>
                <a:cs typeface="Tahoma"/>
              </a:rPr>
              <a:t>dan </a:t>
            </a:r>
            <a:r>
              <a:rPr sz="2200" spc="-5" dirty="0">
                <a:latin typeface="Tahoma"/>
                <a:cs typeface="Tahoma"/>
              </a:rPr>
              <a:t>pelayanan untuk </a:t>
            </a:r>
            <a:r>
              <a:rPr sz="2200" dirty="0">
                <a:latin typeface="Tahoma"/>
                <a:cs typeface="Tahoma"/>
              </a:rPr>
              <a:t>mengoptimalkan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pendapatan, kepuasan </a:t>
            </a:r>
            <a:r>
              <a:rPr sz="2200" dirty="0">
                <a:latin typeface="Tahoma"/>
                <a:cs typeface="Tahoma"/>
              </a:rPr>
              <a:t>pelanggan dan </a:t>
            </a:r>
            <a:r>
              <a:rPr sz="2200" spc="-5" dirty="0">
                <a:latin typeface="Tahoma"/>
                <a:cs typeface="Tahoma"/>
              </a:rPr>
              <a:t>pemertahanan 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pelanggan.</a:t>
            </a:r>
            <a:endParaRPr sz="2200" dirty="0">
              <a:latin typeface="Tahoma"/>
              <a:cs typeface="Tahoma"/>
            </a:endParaRPr>
          </a:p>
          <a:p>
            <a:pPr marL="356870" marR="379730" indent="-344805">
              <a:lnSpc>
                <a:spcPct val="100000"/>
              </a:lnSpc>
              <a:spcBef>
                <a:spcPts val="535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Membantu </a:t>
            </a:r>
            <a:r>
              <a:rPr sz="2200" spc="-5" dirty="0">
                <a:latin typeface="Tahoma"/>
                <a:cs typeface="Tahoma"/>
              </a:rPr>
              <a:t>perusahaan mengenali, menarik </a:t>
            </a:r>
            <a:r>
              <a:rPr sz="2200" spc="5" dirty="0">
                <a:latin typeface="Tahoma"/>
                <a:cs typeface="Tahoma"/>
              </a:rPr>
              <a:t>dan </a:t>
            </a:r>
            <a:r>
              <a:rPr sz="2200" spc="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mempertahankan </a:t>
            </a:r>
            <a:r>
              <a:rPr sz="2200" dirty="0">
                <a:latin typeface="Tahoma"/>
                <a:cs typeface="Tahoma"/>
              </a:rPr>
              <a:t>pelanggan </a:t>
            </a:r>
            <a:r>
              <a:rPr sz="2200" spc="-5" dirty="0">
                <a:latin typeface="Tahoma"/>
                <a:cs typeface="Tahoma"/>
              </a:rPr>
              <a:t>yang </a:t>
            </a:r>
            <a:r>
              <a:rPr sz="2200" dirty="0">
                <a:latin typeface="Tahoma"/>
                <a:cs typeface="Tahoma"/>
              </a:rPr>
              <a:t>paling </a:t>
            </a:r>
            <a:r>
              <a:rPr sz="2200" spc="-5" dirty="0">
                <a:latin typeface="Tahoma"/>
                <a:cs typeface="Tahoma"/>
              </a:rPr>
              <a:t>menguntungkan,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menyediakan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pelayanan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yang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lebih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baik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kepada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pelanggan </a:t>
            </a:r>
            <a:r>
              <a:rPr sz="2200" spc="-67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yang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ada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diharapkan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meninggkatkan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penjualan.</a:t>
            </a:r>
            <a:endParaRPr sz="2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808037"/>
            <a:ext cx="78867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/>
              <a:t>SISTEM MANAJEMEN PENGETAHUAN/ </a:t>
            </a:r>
            <a:r>
              <a:rPr spc="5" dirty="0"/>
              <a:t> </a:t>
            </a:r>
            <a:r>
              <a:rPr dirty="0"/>
              <a:t>KNOWLEDGE</a:t>
            </a:r>
            <a:r>
              <a:rPr spc="-85" dirty="0"/>
              <a:t> </a:t>
            </a:r>
            <a:r>
              <a:rPr dirty="0"/>
              <a:t>MANAGEMENT</a:t>
            </a:r>
            <a:r>
              <a:rPr spc="-50" dirty="0"/>
              <a:t> </a:t>
            </a:r>
            <a:r>
              <a:rPr dirty="0"/>
              <a:t>SYSTEM</a:t>
            </a:r>
            <a:r>
              <a:rPr spc="-35" dirty="0"/>
              <a:t> </a:t>
            </a:r>
            <a:r>
              <a:rPr spc="-5" dirty="0"/>
              <a:t>(KMS)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280" y="1918970"/>
            <a:ext cx="8219440" cy="42532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1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Memungkinkan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organisasi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untuk</a:t>
            </a:r>
            <a:r>
              <a:rPr sz="2200" spc="-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lebih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baik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dalam</a:t>
            </a:r>
            <a:r>
              <a:rPr sz="2200" spc="-3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mengelola</a:t>
            </a:r>
          </a:p>
          <a:p>
            <a:pPr marL="356870">
              <a:lnSpc>
                <a:spcPct val="100000"/>
              </a:lnSpc>
            </a:pPr>
            <a:r>
              <a:rPr sz="2200" dirty="0">
                <a:latin typeface="Tahoma"/>
                <a:cs typeface="Tahoma"/>
              </a:rPr>
              <a:t>proses</a:t>
            </a:r>
            <a:r>
              <a:rPr sz="2200" spc="-1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pemerolehan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penerapan</a:t>
            </a:r>
            <a:r>
              <a:rPr sz="2200" spc="-2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pengetahuan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dan</a:t>
            </a:r>
            <a:r>
              <a:rPr sz="2200" spc="-1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keahlian</a:t>
            </a:r>
            <a:endParaRPr sz="2200" dirty="0">
              <a:latin typeface="Tahoma"/>
              <a:cs typeface="Tahoma"/>
            </a:endParaRPr>
          </a:p>
          <a:p>
            <a:pPr marL="356870" marR="167005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Mengumpulkan </a:t>
            </a:r>
            <a:r>
              <a:rPr sz="2200" spc="-5" dirty="0">
                <a:latin typeface="Tahoma"/>
                <a:cs typeface="Tahoma"/>
              </a:rPr>
              <a:t>seluruh pengetahuan </a:t>
            </a:r>
            <a:r>
              <a:rPr sz="2200" dirty="0">
                <a:latin typeface="Tahoma"/>
                <a:cs typeface="Tahoma"/>
              </a:rPr>
              <a:t>dan </a:t>
            </a:r>
            <a:r>
              <a:rPr sz="2200" spc="-5" dirty="0">
                <a:latin typeface="Tahoma"/>
                <a:cs typeface="Tahoma"/>
              </a:rPr>
              <a:t>pengalaman relevan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dalam </a:t>
            </a:r>
            <a:r>
              <a:rPr sz="2200" spc="-5" dirty="0">
                <a:latin typeface="Tahoma"/>
                <a:cs typeface="Tahoma"/>
              </a:rPr>
              <a:t>perusahaan </a:t>
            </a:r>
            <a:r>
              <a:rPr sz="2200" dirty="0">
                <a:latin typeface="Tahoma"/>
                <a:cs typeface="Tahoma"/>
              </a:rPr>
              <a:t>dan </a:t>
            </a:r>
            <a:r>
              <a:rPr sz="2200" spc="-5" dirty="0">
                <a:latin typeface="Tahoma"/>
                <a:cs typeface="Tahoma"/>
              </a:rPr>
              <a:t>membuatnya tersedia </a:t>
            </a:r>
            <a:r>
              <a:rPr sz="2200" dirty="0">
                <a:latin typeface="Tahoma"/>
                <a:cs typeface="Tahoma"/>
              </a:rPr>
              <a:t>dimanapun dan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kapan </a:t>
            </a:r>
            <a:r>
              <a:rPr sz="2200" dirty="0">
                <a:latin typeface="Tahoma"/>
                <a:cs typeface="Tahoma"/>
              </a:rPr>
              <a:t>pun dibutuhkan </a:t>
            </a:r>
            <a:r>
              <a:rPr sz="2200" spc="-5" dirty="0">
                <a:latin typeface="Tahoma"/>
                <a:cs typeface="Tahoma"/>
              </a:rPr>
              <a:t>untuk </a:t>
            </a:r>
            <a:r>
              <a:rPr sz="2200" dirty="0">
                <a:latin typeface="Tahoma"/>
                <a:cs typeface="Tahoma"/>
              </a:rPr>
              <a:t>meningkatkan proses bisnis dan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keputusan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manajemen.</a:t>
            </a:r>
            <a:endParaRPr sz="2200" dirty="0">
              <a:latin typeface="Tahoma"/>
              <a:cs typeface="Tahoma"/>
            </a:endParaRPr>
          </a:p>
          <a:p>
            <a:pPr marL="35687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dirty="0">
                <a:latin typeface="Tahoma"/>
                <a:cs typeface="Tahoma"/>
              </a:rPr>
              <a:t>Menghubungkan</a:t>
            </a:r>
            <a:r>
              <a:rPr sz="2200" spc="-8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kesumber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pengetahuan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eksternal.</a:t>
            </a:r>
            <a:endParaRPr sz="2200" dirty="0">
              <a:latin typeface="Tahoma"/>
              <a:cs typeface="Tahoma"/>
            </a:endParaRPr>
          </a:p>
          <a:p>
            <a:pPr marL="356870" marR="5080" indent="-344805">
              <a:lnSpc>
                <a:spcPct val="100000"/>
              </a:lnSpc>
              <a:spcBef>
                <a:spcPts val="530"/>
              </a:spcBef>
              <a:buChar char="•"/>
              <a:tabLst>
                <a:tab pos="356870" algn="l"/>
                <a:tab pos="357505" algn="l"/>
              </a:tabLst>
            </a:pPr>
            <a:r>
              <a:rPr sz="2200" spc="5" dirty="0">
                <a:latin typeface="Tahoma"/>
                <a:cs typeface="Tahoma"/>
              </a:rPr>
              <a:t>KMS </a:t>
            </a:r>
            <a:r>
              <a:rPr sz="2200" spc="-5" dirty="0">
                <a:latin typeface="Tahoma"/>
                <a:cs typeface="Tahoma"/>
              </a:rPr>
              <a:t>menunjang </a:t>
            </a:r>
            <a:r>
              <a:rPr sz="2200" dirty="0">
                <a:latin typeface="Tahoma"/>
                <a:cs typeface="Tahoma"/>
              </a:rPr>
              <a:t>proses </a:t>
            </a:r>
            <a:r>
              <a:rPr sz="2200" spc="-5" dirty="0">
                <a:latin typeface="Tahoma"/>
                <a:cs typeface="Tahoma"/>
              </a:rPr>
              <a:t>untuk memperoleh, meyimpan, </a:t>
            </a:r>
            <a:r>
              <a:rPr sz="2200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mendistribusikan </a:t>
            </a:r>
            <a:r>
              <a:rPr sz="2200" dirty="0">
                <a:latin typeface="Tahoma"/>
                <a:cs typeface="Tahoma"/>
              </a:rPr>
              <a:t>dokumen, gambar dan obyek </a:t>
            </a:r>
            <a:r>
              <a:rPr sz="2200" spc="-5" dirty="0">
                <a:latin typeface="Tahoma"/>
                <a:cs typeface="Tahoma"/>
              </a:rPr>
              <a:t>pengetahuan </a:t>
            </a:r>
            <a:r>
              <a:rPr sz="2200" dirty="0">
                <a:latin typeface="Tahoma"/>
                <a:cs typeface="Tahoma"/>
              </a:rPr>
              <a:t> digital </a:t>
            </a:r>
            <a:r>
              <a:rPr sz="2200" spc="-5" dirty="0">
                <a:latin typeface="Tahoma"/>
                <a:cs typeface="Tahoma"/>
              </a:rPr>
              <a:t>lainnya </a:t>
            </a:r>
            <a:r>
              <a:rPr sz="2200" dirty="0">
                <a:latin typeface="Tahoma"/>
                <a:cs typeface="Tahoma"/>
              </a:rPr>
              <a:t>dan </a:t>
            </a:r>
            <a:r>
              <a:rPr sz="2200" spc="-5" dirty="0">
                <a:latin typeface="Tahoma"/>
                <a:cs typeface="Tahoma"/>
              </a:rPr>
              <a:t>mengaplikasikan pengetahuan, sebagaimana </a:t>
            </a:r>
            <a:r>
              <a:rPr sz="2200" spc="-6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proses </a:t>
            </a:r>
            <a:r>
              <a:rPr sz="2200" spc="-5" dirty="0">
                <a:latin typeface="Tahoma"/>
                <a:cs typeface="Tahoma"/>
              </a:rPr>
              <a:t>untuk menciptakan pengetahuan </a:t>
            </a:r>
            <a:r>
              <a:rPr sz="2200" dirty="0">
                <a:latin typeface="Tahoma"/>
                <a:cs typeface="Tahoma"/>
              </a:rPr>
              <a:t>baru dan 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spc="-5" dirty="0">
                <a:latin typeface="Tahoma"/>
                <a:cs typeface="Tahoma"/>
              </a:rPr>
              <a:t>menyatukannya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ke </a:t>
            </a:r>
            <a:r>
              <a:rPr sz="2200" spc="-5" dirty="0">
                <a:latin typeface="Tahoma"/>
                <a:cs typeface="Tahoma"/>
              </a:rPr>
              <a:t>organisasi.</a:t>
            </a:r>
            <a:endParaRPr sz="2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2570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TI</Template>
  <TotalTime>30</TotalTime>
  <Words>1046</Words>
  <Application>Microsoft Office PowerPoint</Application>
  <PresentationFormat>Tampilan Layar (4:3)</PresentationFormat>
  <Paragraphs>131</Paragraphs>
  <Slides>24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6</vt:i4>
      </vt:variant>
      <vt:variant>
        <vt:lpstr>Tema</vt:lpstr>
      </vt:variant>
      <vt:variant>
        <vt:i4>8</vt:i4>
      </vt:variant>
      <vt:variant>
        <vt:lpstr>Judul Slide</vt:lpstr>
      </vt:variant>
      <vt:variant>
        <vt:i4>24</vt:i4>
      </vt:variant>
    </vt:vector>
  </HeadingPairs>
  <TitlesOfParts>
    <vt:vector size="38" baseType="lpstr">
      <vt:lpstr>Arial</vt:lpstr>
      <vt:lpstr>Calibri</vt:lpstr>
      <vt:lpstr>Calibri Light</vt:lpstr>
      <vt:lpstr>Georgia</vt:lpstr>
      <vt:lpstr>Tahoma</vt:lpstr>
      <vt:lpstr>Verdana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Presentasi PowerPoint</vt:lpstr>
      <vt:lpstr>Presentasi PowerPoint</vt:lpstr>
      <vt:lpstr>PROSES BISNIS DAN SISTEM INFORMASI</vt:lpstr>
      <vt:lpstr>Presentasi PowerPoint</vt:lpstr>
      <vt:lpstr>JENIS SISTEM INFORMASI BISNIS</vt:lpstr>
      <vt:lpstr>SISTEM INFORMASI PENJUALAN DAN  PEMASARAN</vt:lpstr>
      <vt:lpstr>CONTOH : SISTEM INFORMASI PENJUALAN  DAN PEMASARAN</vt:lpstr>
      <vt:lpstr>Presentasi PowerPoint</vt:lpstr>
      <vt:lpstr>CONTOH : SISTEM INFORMASI MANUFAKTUR  DAN PRODUKSI</vt:lpstr>
      <vt:lpstr>Presentasi PowerPoint</vt:lpstr>
      <vt:lpstr>CONTOH : SISTEM INFORMASI KEUANGAN DAN  AKUNTANSI</vt:lpstr>
      <vt:lpstr>Presentasi PowerPoint</vt:lpstr>
      <vt:lpstr>CONTOH : SISTEM INFORMASI SUMBER  DAYA MANUSIA</vt:lpstr>
      <vt:lpstr>SISTEM PEMROSESAN TRANSAKSI (TPS)</vt:lpstr>
      <vt:lpstr>SISTEM INFORMASI MANAJEMEN (MIS)</vt:lpstr>
      <vt:lpstr>DECISION SUPPORT SYSTEM (DSS) ATAU  BUSSINESS INTELLIGENCE SYSTEMS</vt:lpstr>
      <vt:lpstr>EKSEKUTIF SUPPORT SYSTEM (ESS)</vt:lpstr>
      <vt:lpstr>SISTEM YANG MELINGKUPI PERUSAHAAN</vt:lpstr>
      <vt:lpstr>ENTERPRISE SYSTEM/ERP</vt:lpstr>
      <vt:lpstr>SISTEM MANAJEMEN RANTAI PASOKAN/ SUPPLY CHAIN MANAGEMENT (SCM)</vt:lpstr>
      <vt:lpstr>BAGAIMANA SISTEM INFORMASI  MEMFASILITASI SCM</vt:lpstr>
      <vt:lpstr>SISTEM MANAJEMEN HUBUNGAN PELANGGAN/ CUSTOMER RELATIONSHIP MANAGEMENT (CRM)</vt:lpstr>
      <vt:lpstr>SISTEM MANAJEMEN PENGETAHUAN/  KNOWLEDGE MANAGEMENT SYSTEM (KMS)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USULAN KURIKULUM  PROGRAM STUDI KOMPUTERISASI AKUNTANSI JENJANG STRATA 1</dc:title>
  <dc:creator>deni</dc:creator>
  <cp:lastModifiedBy>Anindia Wulandari</cp:lastModifiedBy>
  <cp:revision>5</cp:revision>
  <dcterms:created xsi:type="dcterms:W3CDTF">2021-08-24T12:40:24Z</dcterms:created>
  <dcterms:modified xsi:type="dcterms:W3CDTF">2025-10-02T15:04:24Z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