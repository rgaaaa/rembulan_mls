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22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2997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579883" y="903223"/>
            <a:ext cx="4614545" cy="6388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56210">
              <a:lnSpc>
                <a:spcPct val="101200"/>
              </a:lnSpc>
              <a:spcBef>
                <a:spcPts val="70"/>
              </a:spcBef>
            </a:pPr>
            <a:r>
              <a:rPr sz="2000" spc="-5" dirty="0">
                <a:latin typeface="Verdana"/>
                <a:cs typeface="Verdana"/>
              </a:rPr>
              <a:t>SISTEM PENUNJANG KEPUTUSAN 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DECISION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SUPPORT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SYSTEM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(DSS)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1857247"/>
            <a:ext cx="5513705" cy="7042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41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PEMBUATAN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KEPUTUSAN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mengartikan</a:t>
            </a:r>
            <a:r>
              <a:rPr sz="1200" dirty="0">
                <a:latin typeface="Times New Roman"/>
                <a:cs typeface="Times New Roman"/>
              </a:rPr>
              <a:t> artian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pembuatan </a:t>
            </a:r>
            <a:r>
              <a:rPr sz="1200" dirty="0">
                <a:latin typeface="Times New Roman"/>
                <a:cs typeface="Times New Roman"/>
              </a:rPr>
              <a:t> Keputusan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 </a:t>
            </a:r>
            <a:r>
              <a:rPr sz="1200" i="1" spc="-5" dirty="0">
                <a:latin typeface="Times New Roman"/>
                <a:cs typeface="Times New Roman"/>
              </a:rPr>
              <a:t>Simon</a:t>
            </a:r>
            <a:r>
              <a:rPr sz="1200" i="1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 </a:t>
            </a:r>
            <a:r>
              <a:rPr sz="1200" i="1" spc="-5" dirty="0">
                <a:latin typeface="Times New Roman"/>
                <a:cs typeface="Times New Roman"/>
              </a:rPr>
              <a:t>Mintzberg</a:t>
            </a:r>
            <a:endParaRPr sz="1200">
              <a:latin typeface="Times New Roman"/>
              <a:cs typeface="Times New Roman"/>
            </a:endParaRPr>
          </a:p>
          <a:p>
            <a:pPr marL="279400" indent="-267335" algn="just">
              <a:lnSpc>
                <a:spcPts val="1315"/>
              </a:lnSpc>
              <a:buAutoNum type="arabicPeriod"/>
              <a:tabLst>
                <a:tab pos="280035" algn="l"/>
              </a:tabLst>
            </a:pP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menurut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Simon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bukunya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terbitan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Tahun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1977,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menguraikan</a:t>
            </a:r>
            <a:r>
              <a:rPr sz="1200" dirty="0">
                <a:latin typeface="Times New Roman"/>
                <a:cs typeface="Times New Roman"/>
              </a:rPr>
              <a:t> istilah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menjadi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terprogram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terprogram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Keputusan</a:t>
            </a:r>
            <a:r>
              <a:rPr sz="1200" i="1" spc="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terprogram</a:t>
            </a:r>
            <a:r>
              <a:rPr sz="1200" i="1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yaitu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bersifat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berulang-ulang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rutin.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pada</a:t>
            </a:r>
            <a:r>
              <a:rPr sz="1200" dirty="0">
                <a:latin typeface="Times New Roman"/>
                <a:cs typeface="Times New Roman"/>
              </a:rPr>
              <a:t> suatu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tingkat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tertentu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dan</a:t>
            </a:r>
            <a:r>
              <a:rPr sz="1200" dirty="0">
                <a:latin typeface="Times New Roman"/>
                <a:cs typeface="Times New Roman"/>
              </a:rPr>
              <a:t> prosedur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tetapkan untuk </a:t>
            </a:r>
            <a:r>
              <a:rPr sz="1200" spc="-5" dirty="0">
                <a:latin typeface="Times New Roman"/>
                <a:cs typeface="Times New Roman"/>
              </a:rPr>
              <a:t>menanganinya </a:t>
            </a:r>
            <a:r>
              <a:rPr sz="1200" dirty="0">
                <a:latin typeface="Times New Roman"/>
                <a:cs typeface="Times New Roman"/>
              </a:rPr>
              <a:t>sehingga ia </a:t>
            </a:r>
            <a:r>
              <a:rPr sz="1200" spc="-5" dirty="0">
                <a:latin typeface="Times New Roman"/>
                <a:cs typeface="Times New Roman"/>
              </a:rPr>
              <a:t>dianggap suatu denovo (yang baru) setiap kali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terjadi.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Keputusan</a:t>
            </a:r>
            <a:r>
              <a:rPr sz="1200" i="1" spc="9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tak</a:t>
            </a:r>
            <a:r>
              <a:rPr sz="1200" i="1" spc="95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terprogram</a:t>
            </a:r>
            <a:r>
              <a:rPr sz="1200" i="1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bersifat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terstruktur,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biasanya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urut.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Ia juga </a:t>
            </a:r>
            <a:r>
              <a:rPr sz="1200" spc="-5" dirty="0">
                <a:latin typeface="Times New Roman"/>
                <a:cs typeface="Times New Roman"/>
              </a:rPr>
              <a:t>menjelaskan </a:t>
            </a:r>
            <a:r>
              <a:rPr sz="1200" dirty="0">
                <a:latin typeface="Times New Roman"/>
                <a:cs typeface="Times New Roman"/>
              </a:rPr>
              <a:t>bahwa dua jenis </a:t>
            </a:r>
            <a:r>
              <a:rPr sz="1200" spc="-5" dirty="0">
                <a:latin typeface="Times New Roman"/>
                <a:cs typeface="Times New Roman"/>
              </a:rPr>
              <a:t>keputusan </a:t>
            </a:r>
            <a:r>
              <a:rPr sz="1200" dirty="0">
                <a:latin typeface="Times New Roman"/>
                <a:cs typeface="Times New Roman"/>
              </a:rPr>
              <a:t>tersebut </a:t>
            </a:r>
            <a:r>
              <a:rPr sz="1200" spc="-5" dirty="0">
                <a:latin typeface="Times New Roman"/>
                <a:cs typeface="Times New Roman"/>
              </a:rPr>
              <a:t>hanyalah kesatuan ujung yang </a:t>
            </a:r>
            <a:r>
              <a:rPr sz="1200" dirty="0">
                <a:latin typeface="Times New Roman"/>
                <a:cs typeface="Times New Roman"/>
              </a:rPr>
              <a:t> terangkai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hitam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putih,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sifatnya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begitu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kelabu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jelas,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namun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demikian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terprogram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terprogram</a:t>
            </a:r>
            <a:r>
              <a:rPr sz="1200" dirty="0">
                <a:latin typeface="Times New Roman"/>
                <a:cs typeface="Times New Roman"/>
              </a:rPr>
              <a:t> sangatlah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penting,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karna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masing-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masing memerlukan</a:t>
            </a:r>
            <a:r>
              <a:rPr sz="1200" dirty="0">
                <a:latin typeface="Times New Roman"/>
                <a:cs typeface="Times New Roman"/>
              </a:rPr>
              <a:t> teknik yang berbeda.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 marR="57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Kontribusi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penjelasan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mengenai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empat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jalani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Manajer dalam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menyelesaikan masalah,</a:t>
            </a:r>
            <a:r>
              <a:rPr sz="1200" dirty="0">
                <a:latin typeface="Times New Roman"/>
                <a:cs typeface="Times New Roman"/>
              </a:rPr>
              <a:t> fase tersebut adalah :</a:t>
            </a:r>
            <a:endParaRPr sz="1200">
              <a:latin typeface="Times New Roman"/>
              <a:cs typeface="Times New Roman"/>
            </a:endParaRPr>
          </a:p>
          <a:p>
            <a:pPr marL="12700" marR="5715">
              <a:lnSpc>
                <a:spcPts val="1380"/>
              </a:lnSpc>
            </a:pPr>
            <a:r>
              <a:rPr sz="1200" i="1" spc="-5" dirty="0">
                <a:latin typeface="Times New Roman"/>
                <a:cs typeface="Times New Roman"/>
              </a:rPr>
              <a:t>Aktivitas</a:t>
            </a:r>
            <a:r>
              <a:rPr sz="1200" i="1" spc="285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intelegensi</a:t>
            </a:r>
            <a:r>
              <a:rPr sz="1200" spc="-5" dirty="0">
                <a:latin typeface="Times New Roman"/>
                <a:cs typeface="Times New Roman"/>
              </a:rPr>
              <a:t>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mencari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kondisi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lingkungan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memerlukan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pemecahan</a:t>
            </a:r>
            <a:endParaRPr sz="1200">
              <a:latin typeface="Times New Roman"/>
              <a:cs typeface="Times New Roman"/>
            </a:endParaRPr>
          </a:p>
          <a:p>
            <a:pPr marL="12700" marR="6350">
              <a:lnSpc>
                <a:spcPts val="1380"/>
              </a:lnSpc>
            </a:pPr>
            <a:r>
              <a:rPr sz="1200" i="1" spc="-5" dirty="0">
                <a:latin typeface="Times New Roman"/>
                <a:cs typeface="Times New Roman"/>
              </a:rPr>
              <a:t>Aktivitas</a:t>
            </a:r>
            <a:r>
              <a:rPr sz="1200" i="1" spc="25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disain</a:t>
            </a:r>
            <a:r>
              <a:rPr sz="1200" spc="-5" dirty="0">
                <a:latin typeface="Times New Roman"/>
                <a:cs typeface="Times New Roman"/>
              </a:rPr>
              <a:t>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menemukan,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mengembangkan,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menganalisis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kemungkinan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tindakan</a:t>
            </a:r>
            <a:r>
              <a:rPr sz="1200" spc="-5" dirty="0">
                <a:latin typeface="Times New Roman"/>
                <a:cs typeface="Times New Roman"/>
              </a:rPr>
              <a:t> yang </a:t>
            </a:r>
            <a:r>
              <a:rPr sz="1200" dirty="0">
                <a:latin typeface="Times New Roman"/>
                <a:cs typeface="Times New Roman"/>
              </a:rPr>
              <a:t>akan </a:t>
            </a:r>
            <a:r>
              <a:rPr sz="1200" spc="-5" dirty="0">
                <a:latin typeface="Times New Roman"/>
                <a:cs typeface="Times New Roman"/>
              </a:rPr>
              <a:t>dilakukan.</a:t>
            </a:r>
            <a:endParaRPr sz="1200">
              <a:latin typeface="Times New Roman"/>
              <a:cs typeface="Times New Roman"/>
            </a:endParaRPr>
          </a:p>
          <a:p>
            <a:pPr marL="12700" marR="6985">
              <a:lnSpc>
                <a:spcPts val="1380"/>
              </a:lnSpc>
            </a:pPr>
            <a:r>
              <a:rPr sz="1200" i="1" spc="-5" dirty="0">
                <a:latin typeface="Times New Roman"/>
                <a:cs typeface="Times New Roman"/>
              </a:rPr>
              <a:t>Aktivitas</a:t>
            </a:r>
            <a:r>
              <a:rPr sz="1200" i="1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pemilihan</a:t>
            </a:r>
            <a:r>
              <a:rPr sz="1200" spc="-5" dirty="0">
                <a:latin typeface="Times New Roman"/>
                <a:cs typeface="Times New Roman"/>
              </a:rPr>
              <a:t>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menentukan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 tindakan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tertentu</a:t>
            </a:r>
            <a:r>
              <a:rPr sz="1200" dirty="0">
                <a:latin typeface="Times New Roman"/>
                <a:cs typeface="Times New Roman"/>
              </a:rPr>
              <a:t> dari beberapa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 yang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sudah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i="1" dirty="0">
                <a:latin typeface="Times New Roman"/>
                <a:cs typeface="Times New Roman"/>
              </a:rPr>
              <a:t>Aktivitas</a:t>
            </a:r>
            <a:r>
              <a:rPr sz="1200" i="1" spc="204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peninjauan</a:t>
            </a:r>
            <a:r>
              <a:rPr sz="1200" i="1" spc="200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kembali</a:t>
            </a:r>
            <a:r>
              <a:rPr sz="1200" spc="-5" dirty="0">
                <a:latin typeface="Times New Roman"/>
                <a:cs typeface="Times New Roman"/>
              </a:rPr>
              <a:t>,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yaitu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memberikan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penilaian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terhadap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pilihan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telah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dilakukan.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279400" indent="-267335" algn="just">
              <a:lnSpc>
                <a:spcPts val="1410"/>
              </a:lnSpc>
              <a:buAutoNum type="arabicPeriod" startAt="2"/>
              <a:tabLst>
                <a:tab pos="280035" algn="l"/>
              </a:tabLst>
            </a:pP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menurut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Mintzberg</a:t>
            </a:r>
            <a:endParaRPr sz="1200">
              <a:latin typeface="Times New Roman"/>
              <a:cs typeface="Times New Roman"/>
            </a:endParaRPr>
          </a:p>
          <a:p>
            <a:pPr marL="12700" marR="5080" indent="114300" algn="just">
              <a:lnSpc>
                <a:spcPct val="960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Mintzberg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terkenal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teorinya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mengenai</a:t>
            </a:r>
            <a:r>
              <a:rPr sz="1200" dirty="0">
                <a:latin typeface="Times New Roman"/>
                <a:cs typeface="Times New Roman"/>
              </a:rPr>
              <a:t> peranan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manajerial,</a:t>
            </a:r>
            <a:r>
              <a:rPr sz="1200" dirty="0">
                <a:latin typeface="Times New Roman"/>
                <a:cs typeface="Times New Roman"/>
              </a:rPr>
              <a:t> teori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mengemukakan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sepuluh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peranan</a:t>
            </a:r>
            <a:r>
              <a:rPr sz="1200" dirty="0">
                <a:latin typeface="Times New Roman"/>
                <a:cs typeface="Times New Roman"/>
              </a:rPr>
              <a:t> manajerial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terbagi</a:t>
            </a:r>
            <a:r>
              <a:rPr sz="1200" dirty="0">
                <a:latin typeface="Times New Roman"/>
                <a:cs typeface="Times New Roman"/>
              </a:rPr>
              <a:t> dalam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tiga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kategori,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yaitu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interpersonal, informasional, desisional.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ts val="138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Peranan </a:t>
            </a:r>
            <a:r>
              <a:rPr sz="1200" spc="-5" dirty="0">
                <a:latin typeface="Times New Roman"/>
                <a:cs typeface="Times New Roman"/>
              </a:rPr>
              <a:t>informasonal mengemukakan </a:t>
            </a:r>
            <a:r>
              <a:rPr sz="1200" dirty="0">
                <a:latin typeface="Times New Roman"/>
                <a:cs typeface="Times New Roman"/>
              </a:rPr>
              <a:t>bahwa </a:t>
            </a:r>
            <a:r>
              <a:rPr sz="1200" spc="-5" dirty="0">
                <a:latin typeface="Times New Roman"/>
                <a:cs typeface="Times New Roman"/>
              </a:rPr>
              <a:t>manajer mengumpulkan </a:t>
            </a:r>
            <a:r>
              <a:rPr sz="1200" dirty="0">
                <a:latin typeface="Times New Roman"/>
                <a:cs typeface="Times New Roman"/>
              </a:rPr>
              <a:t>dan </a:t>
            </a:r>
            <a:r>
              <a:rPr sz="1200" spc="-5" dirty="0">
                <a:latin typeface="Times New Roman"/>
                <a:cs typeface="Times New Roman"/>
              </a:rPr>
              <a:t>menyebarkan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informasi,</a:t>
            </a:r>
            <a:r>
              <a:rPr sz="1200" dirty="0">
                <a:latin typeface="Times New Roman"/>
                <a:cs typeface="Times New Roman"/>
              </a:rPr>
              <a:t> 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peranan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desisional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mengemukakan</a:t>
            </a:r>
            <a:r>
              <a:rPr sz="1200" dirty="0">
                <a:latin typeface="Times New Roman"/>
                <a:cs typeface="Times New Roman"/>
              </a:rPr>
              <a:t> bahwa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manajer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menggunakan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informasi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 berbagai jenis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15"/>
              </a:lnSpc>
            </a:pPr>
            <a:r>
              <a:rPr sz="1200" spc="-5" dirty="0">
                <a:latin typeface="Times New Roman"/>
                <a:cs typeface="Times New Roman"/>
              </a:rPr>
              <a:t>Ada empat</a:t>
            </a:r>
            <a:r>
              <a:rPr sz="1200" dirty="0">
                <a:latin typeface="Times New Roman"/>
                <a:cs typeface="Times New Roman"/>
              </a:rPr>
              <a:t> peranan desisional </a:t>
            </a:r>
            <a:r>
              <a:rPr sz="1200" spc="-5" dirty="0">
                <a:latin typeface="Times New Roman"/>
                <a:cs typeface="Times New Roman"/>
              </a:rPr>
              <a:t>menurut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mintzberg</a:t>
            </a:r>
            <a:r>
              <a:rPr sz="1200" dirty="0">
                <a:latin typeface="Times New Roman"/>
                <a:cs typeface="Times New Roman"/>
              </a:rPr>
              <a:t> :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ts val="1370"/>
              </a:lnSpc>
              <a:spcBef>
                <a:spcPts val="75"/>
              </a:spcBef>
            </a:pPr>
            <a:r>
              <a:rPr sz="1200" spc="630" dirty="0">
                <a:latin typeface="Times New Roman"/>
                <a:cs typeface="Times New Roman"/>
              </a:rPr>
              <a:t>         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Pengusaha,</a:t>
            </a:r>
            <a:r>
              <a:rPr sz="1200" i="1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ketika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manajer</a:t>
            </a:r>
            <a:r>
              <a:rPr sz="1200" dirty="0">
                <a:latin typeface="Times New Roman"/>
                <a:cs typeface="Times New Roman"/>
              </a:rPr>
              <a:t> berperan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pengusaha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(entrepreneur)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maka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peningkatan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hal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5" dirty="0">
                <a:latin typeface="Times New Roman"/>
                <a:cs typeface="Times New Roman"/>
              </a:rPr>
              <a:t> yang bersifat permanent </a:t>
            </a:r>
            <a:r>
              <a:rPr sz="1200" dirty="0">
                <a:latin typeface="Times New Roman"/>
                <a:cs typeface="Times New Roman"/>
              </a:rPr>
              <a:t>diabadikan sebagai organisasi.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  <a:spcBef>
                <a:spcPts val="5"/>
              </a:spcBef>
            </a:pPr>
            <a:r>
              <a:rPr sz="1200" spc="630" dirty="0">
                <a:latin typeface="Times New Roman"/>
                <a:cs typeface="Times New Roman"/>
              </a:rPr>
              <a:t>        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Orang </a:t>
            </a:r>
            <a:r>
              <a:rPr sz="1200" i="1" dirty="0">
                <a:latin typeface="Times New Roman"/>
                <a:cs typeface="Times New Roman"/>
              </a:rPr>
              <a:t>yang </a:t>
            </a:r>
            <a:r>
              <a:rPr sz="1200" i="1" spc="-5" dirty="0">
                <a:latin typeface="Times New Roman"/>
                <a:cs typeface="Times New Roman"/>
              </a:rPr>
              <a:t>menangani gangguan, </a:t>
            </a:r>
            <a:r>
              <a:rPr sz="1200" dirty="0">
                <a:latin typeface="Times New Roman"/>
                <a:cs typeface="Times New Roman"/>
              </a:rPr>
              <a:t>ketika </a:t>
            </a:r>
            <a:r>
              <a:rPr sz="1200" spc="-5" dirty="0">
                <a:latin typeface="Times New Roman"/>
                <a:cs typeface="Times New Roman"/>
              </a:rPr>
              <a:t>menajer </a:t>
            </a:r>
            <a:r>
              <a:rPr sz="1200" dirty="0">
                <a:latin typeface="Times New Roman"/>
                <a:cs typeface="Times New Roman"/>
              </a:rPr>
              <a:t>berperan sebagai orang yang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menangani</a:t>
            </a:r>
            <a:r>
              <a:rPr sz="1200" dirty="0">
                <a:latin typeface="Times New Roman"/>
                <a:cs typeface="Times New Roman"/>
              </a:rPr>
              <a:t> gangguan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(disturbace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handler),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maka</a:t>
            </a:r>
            <a:r>
              <a:rPr sz="1200" dirty="0">
                <a:latin typeface="Times New Roman"/>
                <a:cs typeface="Times New Roman"/>
              </a:rPr>
              <a:t> ia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memecahkan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dirty="0">
                <a:latin typeface="Times New Roman"/>
                <a:cs typeface="Times New Roman"/>
              </a:rPr>
              <a:t> yang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belum di antisipasi. Ia </a:t>
            </a:r>
            <a:r>
              <a:rPr sz="1200" spc="-5" dirty="0">
                <a:latin typeface="Times New Roman"/>
                <a:cs typeface="Times New Roman"/>
              </a:rPr>
              <a:t>membuat keputusan </a:t>
            </a:r>
            <a:r>
              <a:rPr sz="1200" dirty="0">
                <a:latin typeface="Times New Roman"/>
                <a:cs typeface="Times New Roman"/>
              </a:rPr>
              <a:t>untuk </a:t>
            </a:r>
            <a:r>
              <a:rPr sz="1200" spc="-5" dirty="0">
                <a:latin typeface="Times New Roman"/>
                <a:cs typeface="Times New Roman"/>
              </a:rPr>
              <a:t>merespon </a:t>
            </a:r>
            <a:r>
              <a:rPr sz="1200" dirty="0">
                <a:latin typeface="Times New Roman"/>
                <a:cs typeface="Times New Roman"/>
              </a:rPr>
              <a:t>gangguan yang </a:t>
            </a:r>
            <a:r>
              <a:rPr sz="1200" spc="-5" dirty="0">
                <a:latin typeface="Times New Roman"/>
                <a:cs typeface="Times New Roman"/>
              </a:rPr>
              <a:t>timbul </a:t>
            </a:r>
            <a:r>
              <a:rPr sz="1200" dirty="0">
                <a:latin typeface="Times New Roman"/>
                <a:cs typeface="Times New Roman"/>
              </a:rPr>
              <a:t>seperti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perubahan</a:t>
            </a:r>
            <a:r>
              <a:rPr sz="1200" spc="-5" dirty="0">
                <a:latin typeface="Times New Roman"/>
                <a:cs typeface="Times New Roman"/>
              </a:rPr>
              <a:t> ekonomi,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ancaman</a:t>
            </a:r>
            <a:r>
              <a:rPr sz="1200" dirty="0">
                <a:latin typeface="Times New Roman"/>
                <a:cs typeface="Times New Roman"/>
              </a:rPr>
              <a:t> dari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pesaing,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adanya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peraturan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pajak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2997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30300" y="889507"/>
            <a:ext cx="5514340" cy="80943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6985" algn="just">
              <a:lnSpc>
                <a:spcPts val="1380"/>
              </a:lnSpc>
              <a:spcBef>
                <a:spcPts val="195"/>
              </a:spcBef>
            </a:pPr>
            <a:r>
              <a:rPr sz="1200" spc="630" dirty="0">
                <a:latin typeface="Times New Roman"/>
                <a:cs typeface="Times New Roman"/>
              </a:rPr>
              <a:t>         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Pengalokasi</a:t>
            </a:r>
            <a:r>
              <a:rPr sz="1200" i="1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sumber,</a:t>
            </a:r>
            <a:r>
              <a:rPr sz="1200" i="1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dengan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peranan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sebagai</a:t>
            </a:r>
            <a:r>
              <a:rPr sz="1200" dirty="0">
                <a:latin typeface="Times New Roman"/>
                <a:cs typeface="Times New Roman"/>
              </a:rPr>
              <a:t> pengalokasi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sumber</a:t>
            </a:r>
            <a:r>
              <a:rPr sz="1200" dirty="0">
                <a:latin typeface="Times New Roman"/>
                <a:cs typeface="Times New Roman"/>
              </a:rPr>
              <a:t> (resorce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alocator), manajer diharapkan </a:t>
            </a:r>
            <a:r>
              <a:rPr sz="1200" spc="-5" dirty="0">
                <a:latin typeface="Times New Roman"/>
                <a:cs typeface="Times New Roman"/>
              </a:rPr>
              <a:t>mampu menentukan pembagian sumber </a:t>
            </a:r>
            <a:r>
              <a:rPr sz="1200" dirty="0">
                <a:latin typeface="Times New Roman"/>
                <a:cs typeface="Times New Roman"/>
              </a:rPr>
              <a:t>organisasi kepada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berbagai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misalnya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pembuatan</a:t>
            </a:r>
            <a:r>
              <a:rPr sz="1200" dirty="0">
                <a:latin typeface="Times New Roman"/>
                <a:cs typeface="Times New Roman"/>
              </a:rPr>
              <a:t> keputusan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menetapkan</a:t>
            </a:r>
            <a:r>
              <a:rPr sz="1200" dirty="0">
                <a:latin typeface="Times New Roman"/>
                <a:cs typeface="Times New Roman"/>
              </a:rPr>
              <a:t> anggaran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tahunan.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ts val="1380"/>
              </a:lnSpc>
            </a:pPr>
            <a:r>
              <a:rPr sz="1200" spc="630" dirty="0">
                <a:latin typeface="Times New Roman"/>
                <a:cs typeface="Times New Roman"/>
              </a:rPr>
              <a:t>         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Times New Roman"/>
                <a:cs typeface="Times New Roman"/>
              </a:rPr>
              <a:t>Negosiator,</a:t>
            </a:r>
            <a:r>
              <a:rPr sz="1200" i="1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negosiator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(negotiator),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mengatasi </a:t>
            </a:r>
            <a:r>
              <a:rPr sz="1200" dirty="0">
                <a:latin typeface="Times New Roman"/>
                <a:cs typeface="Times New Roman"/>
              </a:rPr>
              <a:t> perselisihan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muncul</a:t>
            </a:r>
            <a:r>
              <a:rPr sz="1200" dirty="0">
                <a:latin typeface="Times New Roman"/>
                <a:cs typeface="Times New Roman"/>
              </a:rPr>
              <a:t> dalam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perusahaan</a:t>
            </a:r>
            <a:r>
              <a:rPr sz="1200" dirty="0">
                <a:latin typeface="Times New Roman"/>
                <a:cs typeface="Times New Roman"/>
              </a:rPr>
              <a:t> 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perselisihan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terjadi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antara </a:t>
            </a:r>
            <a:r>
              <a:rPr sz="1200" dirty="0">
                <a:latin typeface="Times New Roman"/>
                <a:cs typeface="Times New Roman"/>
              </a:rPr>
              <a:t> perusahaan dan lingkungannya. Contohnya </a:t>
            </a:r>
            <a:r>
              <a:rPr sz="1200" spc="-5" dirty="0">
                <a:latin typeface="Times New Roman"/>
                <a:cs typeface="Times New Roman"/>
              </a:rPr>
              <a:t>melakukan </a:t>
            </a:r>
            <a:r>
              <a:rPr sz="1200" dirty="0">
                <a:latin typeface="Times New Roman"/>
                <a:cs typeface="Times New Roman"/>
              </a:rPr>
              <a:t>negosiasi kontrak baru dengan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serikat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pekerja.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ts val="1410"/>
              </a:lnSpc>
            </a:pPr>
            <a:r>
              <a:rPr sz="1200" spc="-5" dirty="0">
                <a:latin typeface="Times New Roman"/>
                <a:cs typeface="Times New Roman"/>
              </a:rPr>
              <a:t>DSS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(Decision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system)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  <a:spcBef>
                <a:spcPts val="65"/>
              </a:spcBef>
            </a:pPr>
            <a:r>
              <a:rPr sz="1200" spc="-5" dirty="0">
                <a:latin typeface="Times New Roman"/>
                <a:cs typeface="Times New Roman"/>
              </a:rPr>
              <a:t>Pengembanag DSS </a:t>
            </a:r>
            <a:r>
              <a:rPr sz="1200" dirty="0">
                <a:latin typeface="Times New Roman"/>
                <a:cs typeface="Times New Roman"/>
              </a:rPr>
              <a:t>berawal pada akhir tahun 1960-an dengan adanya pengguna computer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time-sharing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(berdasarkan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pembagian</a:t>
            </a:r>
            <a:r>
              <a:rPr sz="1200" dirty="0">
                <a:latin typeface="Times New Roman"/>
                <a:cs typeface="Times New Roman"/>
              </a:rPr>
              <a:t> waktu).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mulanya</a:t>
            </a:r>
            <a:r>
              <a:rPr sz="1200" dirty="0">
                <a:latin typeface="Times New Roman"/>
                <a:cs typeface="Times New Roman"/>
              </a:rPr>
              <a:t> seseorang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dapat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berinteraksi </a:t>
            </a:r>
            <a:r>
              <a:rPr sz="1200" dirty="0">
                <a:latin typeface="Times New Roman"/>
                <a:cs typeface="Times New Roman"/>
              </a:rPr>
              <a:t>langsung </a:t>
            </a:r>
            <a:r>
              <a:rPr sz="1200" spc="-5" dirty="0">
                <a:latin typeface="Times New Roman"/>
                <a:cs typeface="Times New Roman"/>
              </a:rPr>
              <a:t>dengan computer </a:t>
            </a:r>
            <a:r>
              <a:rPr sz="1200" dirty="0">
                <a:latin typeface="Times New Roman"/>
                <a:cs typeface="Times New Roman"/>
              </a:rPr>
              <a:t>tanpa </a:t>
            </a:r>
            <a:r>
              <a:rPr sz="1200" spc="-5" dirty="0">
                <a:latin typeface="Times New Roman"/>
                <a:cs typeface="Times New Roman"/>
              </a:rPr>
              <a:t>harus melalui spesialis informasi. Time- </a:t>
            </a:r>
            <a:r>
              <a:rPr sz="1200" dirty="0">
                <a:latin typeface="Times New Roman"/>
                <a:cs typeface="Times New Roman"/>
              </a:rPr>
              <a:t> sharing</a:t>
            </a:r>
            <a:r>
              <a:rPr sz="1200" spc="-5" dirty="0">
                <a:latin typeface="Times New Roman"/>
                <a:cs typeface="Times New Roman"/>
              </a:rPr>
              <a:t> membuka</a:t>
            </a:r>
            <a:r>
              <a:rPr sz="1200" dirty="0">
                <a:latin typeface="Times New Roman"/>
                <a:cs typeface="Times New Roman"/>
              </a:rPr>
              <a:t> peluang baru dalam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penggunaan </a:t>
            </a:r>
            <a:r>
              <a:rPr sz="1200" spc="-5" dirty="0">
                <a:latin typeface="Times New Roman"/>
                <a:cs typeface="Times New Roman"/>
              </a:rPr>
              <a:t>computer.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Tidak </a:t>
            </a:r>
            <a:r>
              <a:rPr sz="1200" spc="-5" dirty="0">
                <a:latin typeface="Times New Roman"/>
                <a:cs typeface="Times New Roman"/>
              </a:rPr>
              <a:t>sampai </a:t>
            </a:r>
            <a:r>
              <a:rPr sz="1200" dirty="0">
                <a:latin typeface="Times New Roman"/>
                <a:cs typeface="Times New Roman"/>
              </a:rPr>
              <a:t>tahun 1971, </a:t>
            </a:r>
            <a:r>
              <a:rPr sz="1200" spc="-5" dirty="0">
                <a:latin typeface="Times New Roman"/>
                <a:cs typeface="Times New Roman"/>
              </a:rPr>
              <a:t>ditemukan </a:t>
            </a:r>
            <a:r>
              <a:rPr sz="1200" dirty="0">
                <a:latin typeface="Times New Roman"/>
                <a:cs typeface="Times New Roman"/>
              </a:rPr>
              <a:t>istilah </a:t>
            </a:r>
            <a:r>
              <a:rPr sz="1200" spc="-5" dirty="0">
                <a:latin typeface="Times New Roman"/>
                <a:cs typeface="Times New Roman"/>
              </a:rPr>
              <a:t>DSS, G Anthony Gorry </a:t>
            </a:r>
            <a:r>
              <a:rPr sz="1200" dirty="0">
                <a:latin typeface="Times New Roman"/>
                <a:cs typeface="Times New Roman"/>
              </a:rPr>
              <a:t>dan </a:t>
            </a:r>
            <a:r>
              <a:rPr sz="1200" spc="-5" dirty="0">
                <a:latin typeface="Times New Roman"/>
                <a:cs typeface="Times New Roman"/>
              </a:rPr>
              <a:t>Michael S. Scott </a:t>
            </a:r>
            <a:r>
              <a:rPr sz="1200" dirty="0">
                <a:latin typeface="Times New Roman"/>
                <a:cs typeface="Times New Roman"/>
              </a:rPr>
              <a:t> Morton yang keduanya frofesor MIT, </a:t>
            </a:r>
            <a:r>
              <a:rPr sz="1200" spc="-5" dirty="0">
                <a:latin typeface="Times New Roman"/>
                <a:cs typeface="Times New Roman"/>
              </a:rPr>
              <a:t>bersama-sama </a:t>
            </a:r>
            <a:r>
              <a:rPr sz="1200" dirty="0">
                <a:latin typeface="Times New Roman"/>
                <a:cs typeface="Times New Roman"/>
              </a:rPr>
              <a:t>menulis artikel dalam jurnal yang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berjudul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“A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Framework</a:t>
            </a:r>
            <a:r>
              <a:rPr sz="1200" dirty="0">
                <a:latin typeface="Times New Roman"/>
                <a:cs typeface="Times New Roman"/>
              </a:rPr>
              <a:t> 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Management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System”</a:t>
            </a:r>
            <a:r>
              <a:rPr sz="1200" dirty="0">
                <a:latin typeface="Times New Roman"/>
                <a:cs typeface="Times New Roman"/>
              </a:rPr>
              <a:t> mereka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merasakan </a:t>
            </a:r>
            <a:r>
              <a:rPr sz="1200" dirty="0">
                <a:latin typeface="Times New Roman"/>
                <a:cs typeface="Times New Roman"/>
              </a:rPr>
              <a:t> perlunya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kerangka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menyalurkan</a:t>
            </a:r>
            <a:r>
              <a:rPr sz="1200" dirty="0">
                <a:latin typeface="Times New Roman"/>
                <a:cs typeface="Times New Roman"/>
              </a:rPr>
              <a:t> aplikasi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computer</a:t>
            </a:r>
            <a:r>
              <a:rPr sz="1200" dirty="0">
                <a:latin typeface="Times New Roman"/>
                <a:cs typeface="Times New Roman"/>
              </a:rPr>
              <a:t> terhadap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pembuatan </a:t>
            </a:r>
            <a:r>
              <a:rPr sz="1200" dirty="0">
                <a:latin typeface="Times New Roman"/>
                <a:cs typeface="Times New Roman"/>
              </a:rPr>
              <a:t> keputusan</a:t>
            </a:r>
            <a:r>
              <a:rPr sz="1200" spc="-5" dirty="0">
                <a:latin typeface="Times New Roman"/>
                <a:cs typeface="Times New Roman"/>
              </a:rPr>
              <a:t> manajemen.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Gorry dan Scott Morton </a:t>
            </a:r>
            <a:r>
              <a:rPr sz="1200" spc="-5" dirty="0">
                <a:latin typeface="Times New Roman"/>
                <a:cs typeface="Times New Roman"/>
              </a:rPr>
              <a:t>mendasarkan </a:t>
            </a:r>
            <a:r>
              <a:rPr sz="1200" dirty="0">
                <a:latin typeface="Times New Roman"/>
                <a:cs typeface="Times New Roman"/>
              </a:rPr>
              <a:t>kerangka kerjanya pada jenis keputusan </a:t>
            </a:r>
            <a:r>
              <a:rPr sz="1200" spc="-5" dirty="0">
                <a:latin typeface="Times New Roman"/>
                <a:cs typeface="Times New Roman"/>
              </a:rPr>
              <a:t>menurut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Simon </a:t>
            </a:r>
            <a:r>
              <a:rPr sz="1200" dirty="0">
                <a:latin typeface="Times New Roman"/>
                <a:cs typeface="Times New Roman"/>
              </a:rPr>
              <a:t>dan tingkat </a:t>
            </a:r>
            <a:r>
              <a:rPr sz="1200" spc="-5" dirty="0">
                <a:latin typeface="Times New Roman"/>
                <a:cs typeface="Times New Roman"/>
              </a:rPr>
              <a:t>manajemen </a:t>
            </a:r>
            <a:r>
              <a:rPr sz="1200" dirty="0">
                <a:latin typeface="Times New Roman"/>
                <a:cs typeface="Times New Roman"/>
              </a:rPr>
              <a:t>dari Robert N. Anthony. Anthony </a:t>
            </a:r>
            <a:r>
              <a:rPr sz="1200" spc="-5" dirty="0">
                <a:latin typeface="Times New Roman"/>
                <a:cs typeface="Times New Roman"/>
              </a:rPr>
              <a:t>menggunakan </a:t>
            </a:r>
            <a:r>
              <a:rPr sz="1200" dirty="0">
                <a:latin typeface="Times New Roman"/>
                <a:cs typeface="Times New Roman"/>
              </a:rPr>
              <a:t>istilah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Strategic palnning, </a:t>
            </a:r>
            <a:r>
              <a:rPr sz="1200" i="1" spc="-5" dirty="0">
                <a:latin typeface="Times New Roman"/>
                <a:cs typeface="Times New Roman"/>
              </a:rPr>
              <a:t>managemen </a:t>
            </a:r>
            <a:r>
              <a:rPr sz="1200" i="1" dirty="0">
                <a:latin typeface="Times New Roman"/>
                <a:cs typeface="Times New Roman"/>
              </a:rPr>
              <a:t>control </a:t>
            </a:r>
            <a:r>
              <a:rPr sz="1200" spc="-5" dirty="0">
                <a:latin typeface="Times New Roman"/>
                <a:cs typeface="Times New Roman"/>
              </a:rPr>
              <a:t>dan </a:t>
            </a:r>
            <a:r>
              <a:rPr sz="1200" i="1" spc="-5" dirty="0">
                <a:latin typeface="Times New Roman"/>
                <a:cs typeface="Times New Roman"/>
              </a:rPr>
              <a:t>operational </a:t>
            </a:r>
            <a:r>
              <a:rPr sz="1200" i="1" dirty="0">
                <a:latin typeface="Times New Roman"/>
                <a:cs typeface="Times New Roman"/>
              </a:rPr>
              <a:t>control </a:t>
            </a:r>
            <a:r>
              <a:rPr sz="1200" spc="-5" dirty="0">
                <a:latin typeface="Times New Roman"/>
                <a:cs typeface="Times New Roman"/>
              </a:rPr>
              <a:t>(perencanaan strategis, </a:t>
            </a:r>
            <a:r>
              <a:rPr sz="1200" dirty="0">
                <a:latin typeface="Times New Roman"/>
                <a:cs typeface="Times New Roman"/>
              </a:rPr>
              <a:t> control</a:t>
            </a:r>
            <a:r>
              <a:rPr sz="1200" spc="-5" dirty="0">
                <a:latin typeface="Times New Roman"/>
                <a:cs typeface="Times New Roman"/>
              </a:rPr>
              <a:t> manajemen,</a:t>
            </a:r>
            <a:r>
              <a:rPr sz="1200" dirty="0">
                <a:latin typeface="Times New Roman"/>
                <a:cs typeface="Times New Roman"/>
              </a:rPr>
              <a:t> dan control </a:t>
            </a:r>
            <a:r>
              <a:rPr sz="1200" spc="-5" dirty="0">
                <a:latin typeface="Times New Roman"/>
                <a:cs typeface="Times New Roman"/>
              </a:rPr>
              <a:t>manajemen).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JENI</a:t>
            </a:r>
            <a:r>
              <a:rPr sz="1200" spc="-5" dirty="0">
                <a:latin typeface="Times New Roman"/>
                <a:cs typeface="Times New Roman"/>
              </a:rPr>
              <a:t>S </a:t>
            </a:r>
            <a:r>
              <a:rPr sz="1200" spc="-10" dirty="0">
                <a:latin typeface="Times New Roman"/>
                <a:cs typeface="Times New Roman"/>
              </a:rPr>
              <a:t>DSS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ct val="95700"/>
              </a:lnSpc>
              <a:spcBef>
                <a:spcPts val="30"/>
              </a:spcBef>
            </a:pPr>
            <a:r>
              <a:rPr sz="1200" spc="-5" dirty="0">
                <a:latin typeface="Times New Roman"/>
                <a:cs typeface="Times New Roman"/>
              </a:rPr>
              <a:t>Usaha </a:t>
            </a:r>
            <a:r>
              <a:rPr sz="1200" dirty="0">
                <a:latin typeface="Times New Roman"/>
                <a:cs typeface="Times New Roman"/>
              </a:rPr>
              <a:t>berikutnya dalam </a:t>
            </a:r>
            <a:r>
              <a:rPr sz="1200" spc="-5" dirty="0">
                <a:latin typeface="Times New Roman"/>
                <a:cs typeface="Times New Roman"/>
              </a:rPr>
              <a:t>mendefinisikan </a:t>
            </a:r>
            <a:r>
              <a:rPr sz="1200" dirty="0">
                <a:latin typeface="Times New Roman"/>
                <a:cs typeface="Times New Roman"/>
              </a:rPr>
              <a:t>konsep </a:t>
            </a:r>
            <a:r>
              <a:rPr sz="1200" spc="-5" dirty="0">
                <a:latin typeface="Times New Roman"/>
                <a:cs typeface="Times New Roman"/>
              </a:rPr>
              <a:t>DSS </a:t>
            </a:r>
            <a:r>
              <a:rPr sz="1200" dirty="0">
                <a:latin typeface="Times New Roman"/>
                <a:cs typeface="Times New Roman"/>
              </a:rPr>
              <a:t>dilakuikan oleh Steven L. Alter.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Alter </a:t>
            </a:r>
            <a:r>
              <a:rPr sz="1200" spc="-5" dirty="0">
                <a:latin typeface="Times New Roman"/>
                <a:cs typeface="Times New Roman"/>
              </a:rPr>
              <a:t>melakukan </a:t>
            </a:r>
            <a:r>
              <a:rPr sz="1200" dirty="0">
                <a:latin typeface="Times New Roman"/>
                <a:cs typeface="Times New Roman"/>
              </a:rPr>
              <a:t>study </a:t>
            </a:r>
            <a:r>
              <a:rPr sz="1200" spc="-5" dirty="0">
                <a:latin typeface="Times New Roman"/>
                <a:cs typeface="Times New Roman"/>
              </a:rPr>
              <a:t>terhadap </a:t>
            </a:r>
            <a:r>
              <a:rPr sz="1200" dirty="0">
                <a:latin typeface="Times New Roman"/>
                <a:cs typeface="Times New Roman"/>
              </a:rPr>
              <a:t>56 </a:t>
            </a:r>
            <a:r>
              <a:rPr sz="1200" spc="-5" dirty="0">
                <a:latin typeface="Times New Roman"/>
                <a:cs typeface="Times New Roman"/>
              </a:rPr>
              <a:t>sistem </a:t>
            </a:r>
            <a:r>
              <a:rPr sz="1200" dirty="0">
                <a:latin typeface="Times New Roman"/>
                <a:cs typeface="Times New Roman"/>
              </a:rPr>
              <a:t>penunjang </a:t>
            </a:r>
            <a:r>
              <a:rPr sz="1200" spc="-5" dirty="0">
                <a:latin typeface="Times New Roman"/>
                <a:cs typeface="Times New Roman"/>
              </a:rPr>
              <a:t>keputusan yang digunakan pada </a:t>
            </a:r>
            <a:r>
              <a:rPr sz="1200" dirty="0">
                <a:latin typeface="Times New Roman"/>
                <a:cs typeface="Times New Roman"/>
              </a:rPr>
              <a:t> waktu itu, study tersebut </a:t>
            </a:r>
            <a:r>
              <a:rPr sz="1200" spc="-5" dirty="0">
                <a:latin typeface="Times New Roman"/>
                <a:cs typeface="Times New Roman"/>
              </a:rPr>
              <a:t>memberikan pengetahuan </a:t>
            </a:r>
            <a:r>
              <a:rPr sz="1200" dirty="0">
                <a:latin typeface="Times New Roman"/>
                <a:cs typeface="Times New Roman"/>
              </a:rPr>
              <a:t>dalam </a:t>
            </a:r>
            <a:r>
              <a:rPr sz="1200" spc="-5" dirty="0">
                <a:latin typeface="Times New Roman"/>
                <a:cs typeface="Times New Roman"/>
              </a:rPr>
              <a:t>mengidentifikasi </a:t>
            </a:r>
            <a:r>
              <a:rPr sz="1200" dirty="0">
                <a:latin typeface="Times New Roman"/>
                <a:cs typeface="Times New Roman"/>
              </a:rPr>
              <a:t>enam jenis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DSS,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yaitu </a:t>
            </a: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1839595">
              <a:lnSpc>
                <a:spcPts val="138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Retrive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element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(memanggil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eleman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informasi)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Analyze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entries</a:t>
            </a:r>
            <a:r>
              <a:rPr sz="1200" spc="-5" dirty="0">
                <a:latin typeface="Times New Roman"/>
                <a:cs typeface="Times New Roman"/>
              </a:rPr>
              <a:t> fles (menganali </a:t>
            </a:r>
            <a:r>
              <a:rPr sz="1200" dirty="0">
                <a:latin typeface="Times New Roman"/>
                <a:cs typeface="Times New Roman"/>
              </a:rPr>
              <a:t>semua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file)</a:t>
            </a:r>
            <a:endParaRPr sz="1200">
              <a:latin typeface="Times New Roman"/>
              <a:cs typeface="Times New Roman"/>
            </a:endParaRPr>
          </a:p>
          <a:p>
            <a:pPr marL="12700" marR="11055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Prepare </a:t>
            </a:r>
            <a:r>
              <a:rPr sz="1200" spc="-5" dirty="0">
                <a:latin typeface="Times New Roman"/>
                <a:cs typeface="Times New Roman"/>
              </a:rPr>
              <a:t>reports </a:t>
            </a:r>
            <a:r>
              <a:rPr sz="1200" dirty="0">
                <a:latin typeface="Times New Roman"/>
                <a:cs typeface="Times New Roman"/>
              </a:rPr>
              <a:t>form </a:t>
            </a:r>
            <a:r>
              <a:rPr sz="1200" spc="-5" dirty="0">
                <a:latin typeface="Times New Roman"/>
                <a:cs typeface="Times New Roman"/>
              </a:rPr>
              <a:t>multiple </a:t>
            </a:r>
            <a:r>
              <a:rPr sz="1200" dirty="0">
                <a:latin typeface="Times New Roman"/>
                <a:cs typeface="Times New Roman"/>
              </a:rPr>
              <a:t>files </a:t>
            </a:r>
            <a:r>
              <a:rPr sz="1200" spc="-5" dirty="0">
                <a:latin typeface="Times New Roman"/>
                <a:cs typeface="Times New Roman"/>
              </a:rPr>
              <a:t>(laporan </a:t>
            </a:r>
            <a:r>
              <a:rPr sz="1200" dirty="0">
                <a:latin typeface="Times New Roman"/>
                <a:cs typeface="Times New Roman"/>
              </a:rPr>
              <a:t>standart dari beberapa files)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Estimate </a:t>
            </a:r>
            <a:r>
              <a:rPr sz="1200" dirty="0">
                <a:latin typeface="Times New Roman"/>
                <a:cs typeface="Times New Roman"/>
              </a:rPr>
              <a:t>decisions qonsquences </a:t>
            </a:r>
            <a:r>
              <a:rPr sz="1200" spc="-5" dirty="0">
                <a:latin typeface="Times New Roman"/>
                <a:cs typeface="Times New Roman"/>
              </a:rPr>
              <a:t>(meramalkan </a:t>
            </a:r>
            <a:r>
              <a:rPr sz="1200" dirty="0">
                <a:latin typeface="Times New Roman"/>
                <a:cs typeface="Times New Roman"/>
              </a:rPr>
              <a:t>akibat dari keputusan)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 </a:t>
            </a:r>
            <a:r>
              <a:rPr sz="1200" spc="-5" dirty="0">
                <a:latin typeface="Times New Roman"/>
                <a:cs typeface="Times New Roman"/>
              </a:rPr>
              <a:t>(menawarkan</a:t>
            </a:r>
            <a:r>
              <a:rPr sz="1200" dirty="0">
                <a:latin typeface="Times New Roman"/>
                <a:cs typeface="Times New Roman"/>
              </a:rPr>
              <a:t> keputusan 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(membuat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-5" dirty="0">
                <a:latin typeface="Times New Roman"/>
                <a:cs typeface="Times New Roman"/>
              </a:rPr>
              <a:t>TUJUAN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DSS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DDS terdapat tiga </a:t>
            </a:r>
            <a:r>
              <a:rPr sz="1200" dirty="0">
                <a:latin typeface="Times New Roman"/>
                <a:cs typeface="Times New Roman"/>
              </a:rPr>
              <a:t>tujuan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 harus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8255">
              <a:lnSpc>
                <a:spcPts val="1380"/>
              </a:lnSpc>
              <a:spcBef>
                <a:spcPts val="65"/>
              </a:spcBef>
              <a:tabLst>
                <a:tab pos="438150" algn="l"/>
              </a:tabLst>
            </a:pPr>
            <a:r>
              <a:rPr sz="1200" spc="630" dirty="0">
                <a:latin typeface="Times New Roman"/>
                <a:cs typeface="Times New Roman"/>
              </a:rPr>
              <a:t> 	</a:t>
            </a:r>
            <a:r>
              <a:rPr sz="1200" dirty="0">
                <a:latin typeface="Times New Roman"/>
                <a:cs typeface="Times New Roman"/>
              </a:rPr>
              <a:t>Membantu </a:t>
            </a:r>
            <a:r>
              <a:rPr sz="1200" spc="-5" dirty="0">
                <a:latin typeface="Times New Roman"/>
                <a:cs typeface="Times New Roman"/>
              </a:rPr>
              <a:t>manajer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" dirty="0">
                <a:latin typeface="Times New Roman"/>
                <a:cs typeface="Times New Roman"/>
              </a:rPr>
              <a:t> pembuatan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memecahkan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semi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terstruktur</a:t>
            </a:r>
            <a:endParaRPr sz="1200">
              <a:latin typeface="Times New Roman"/>
              <a:cs typeface="Times New Roman"/>
            </a:endParaRPr>
          </a:p>
          <a:p>
            <a:pPr marL="12700" marR="8255">
              <a:lnSpc>
                <a:spcPts val="1380"/>
              </a:lnSpc>
              <a:tabLst>
                <a:tab pos="506730" algn="l"/>
              </a:tabLst>
            </a:pPr>
            <a:r>
              <a:rPr sz="1200" spc="630" dirty="0">
                <a:latin typeface="Times New Roman"/>
                <a:cs typeface="Times New Roman"/>
              </a:rPr>
              <a:t> 	</a:t>
            </a:r>
            <a:r>
              <a:rPr sz="1200" dirty="0">
                <a:latin typeface="Times New Roman"/>
                <a:cs typeface="Times New Roman"/>
              </a:rPr>
              <a:t>Mendukung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manajer,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bukannya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mengubah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mengganti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endParaRPr sz="1200">
              <a:latin typeface="Times New Roman"/>
              <a:cs typeface="Times New Roman"/>
            </a:endParaRPr>
          </a:p>
          <a:p>
            <a:pPr marL="12700" marR="6350">
              <a:lnSpc>
                <a:spcPts val="1380"/>
              </a:lnSpc>
              <a:tabLst>
                <a:tab pos="470534" algn="l"/>
              </a:tabLst>
            </a:pPr>
            <a:r>
              <a:rPr sz="1200" spc="630" dirty="0">
                <a:latin typeface="Times New Roman"/>
                <a:cs typeface="Times New Roman"/>
              </a:rPr>
              <a:t> 	</a:t>
            </a:r>
            <a:r>
              <a:rPr sz="1200" dirty="0">
                <a:latin typeface="Times New Roman"/>
                <a:cs typeface="Times New Roman"/>
              </a:rPr>
              <a:t>Meningkatkan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efektivitas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menajer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pembuatan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bukannya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peningkatan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efisiensi</a:t>
            </a:r>
            <a:endParaRPr sz="1200">
              <a:latin typeface="Times New Roman"/>
              <a:cs typeface="Times New Roman"/>
            </a:endParaRPr>
          </a:p>
          <a:p>
            <a:pPr marL="12700" marR="76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Tujuan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berkaitan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tiga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prinsip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dasar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konsep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DSS,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masalah,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dukungan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keputusan, dan efektivitas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2997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30300" y="1064768"/>
            <a:ext cx="5513070" cy="7743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ARTI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DSS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  <a:spcBef>
                <a:spcPts val="65"/>
              </a:spcBef>
            </a:pPr>
            <a:r>
              <a:rPr sz="1200" spc="-5" dirty="0">
                <a:latin typeface="Times New Roman"/>
                <a:cs typeface="Times New Roman"/>
              </a:rPr>
              <a:t>DSS </a:t>
            </a:r>
            <a:r>
              <a:rPr sz="1200" dirty="0">
                <a:latin typeface="Times New Roman"/>
                <a:cs typeface="Times New Roman"/>
              </a:rPr>
              <a:t>sebagai sebuah </a:t>
            </a:r>
            <a:r>
              <a:rPr sz="1200" spc="-5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5" dirty="0">
                <a:latin typeface="Times New Roman"/>
                <a:cs typeface="Times New Roman"/>
              </a:rPr>
              <a:t>memberikan </a:t>
            </a:r>
            <a:r>
              <a:rPr sz="1200" dirty="0">
                <a:latin typeface="Times New Roman"/>
                <a:cs typeface="Times New Roman"/>
              </a:rPr>
              <a:t>dukungan kepada seorang </a:t>
            </a:r>
            <a:r>
              <a:rPr sz="1200" spc="-5" dirty="0">
                <a:latin typeface="Times New Roman"/>
                <a:cs typeface="Times New Roman"/>
              </a:rPr>
              <a:t>manajer, </a:t>
            </a:r>
            <a:r>
              <a:rPr sz="1200" dirty="0">
                <a:latin typeface="Times New Roman"/>
                <a:cs typeface="Times New Roman"/>
              </a:rPr>
              <a:t>atau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kepada </a:t>
            </a:r>
            <a:r>
              <a:rPr sz="1200" spc="-5" dirty="0">
                <a:latin typeface="Times New Roman"/>
                <a:cs typeface="Times New Roman"/>
              </a:rPr>
              <a:t>sekelompok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manajer</a:t>
            </a:r>
            <a:r>
              <a:rPr sz="1200" dirty="0">
                <a:latin typeface="Times New Roman"/>
                <a:cs typeface="Times New Roman"/>
              </a:rPr>
              <a:t> yang relative kecil yang bekerja sebagai team pemecah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masalah,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memecahkan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semi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terstrukitur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dengan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memberikan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informasi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saran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mengenai</a:t>
            </a:r>
            <a:r>
              <a:rPr sz="1200" dirty="0">
                <a:latin typeface="Times New Roman"/>
                <a:cs typeface="Times New Roman"/>
              </a:rPr>
              <a:t> keputusan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tertentu.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Informasi</a:t>
            </a:r>
            <a:r>
              <a:rPr sz="1200" dirty="0">
                <a:latin typeface="Times New Roman"/>
                <a:cs typeface="Times New Roman"/>
              </a:rPr>
              <a:t> tersebut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diberikan</a:t>
            </a:r>
            <a:r>
              <a:rPr sz="1200" dirty="0">
                <a:latin typeface="Times New Roman"/>
                <a:cs typeface="Times New Roman"/>
              </a:rPr>
              <a:t> oleh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berkala,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khusus,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maupun</a:t>
            </a:r>
            <a:r>
              <a:rPr sz="1200" dirty="0">
                <a:latin typeface="Times New Roman"/>
                <a:cs typeface="Times New Roman"/>
              </a:rPr>
              <a:t> output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matematis.</a:t>
            </a:r>
            <a:r>
              <a:rPr sz="1200" dirty="0">
                <a:latin typeface="Times New Roman"/>
                <a:cs typeface="Times New Roman"/>
              </a:rPr>
              <a:t> 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mempunyai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kemampuan</a:t>
            </a:r>
            <a:r>
              <a:rPr sz="1200" dirty="0">
                <a:latin typeface="Times New Roman"/>
                <a:cs typeface="Times New Roman"/>
              </a:rPr>
              <a:t> untuk </a:t>
            </a:r>
            <a:r>
              <a:rPr sz="1200" spc="-5" dirty="0">
                <a:latin typeface="Times New Roman"/>
                <a:cs typeface="Times New Roman"/>
              </a:rPr>
              <a:t>memberikan</a:t>
            </a:r>
            <a:r>
              <a:rPr sz="1200" dirty="0">
                <a:latin typeface="Times New Roman"/>
                <a:cs typeface="Times New Roman"/>
              </a:rPr>
              <a:t> saran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tingkat yang bervariasi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-5" dirty="0">
                <a:latin typeface="Times New Roman"/>
                <a:cs typeface="Times New Roman"/>
              </a:rPr>
              <a:t>CARA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PENGGUNAAN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DSS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  <a:spcBef>
                <a:spcPts val="65"/>
              </a:spcBef>
            </a:pPr>
            <a:r>
              <a:rPr sz="1200" spc="-5" dirty="0">
                <a:latin typeface="Times New Roman"/>
                <a:cs typeface="Times New Roman"/>
              </a:rPr>
              <a:t>Pada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dasarnya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dua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pengguna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informasi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dari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DSS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oleh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manajer,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yaitu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mendefinisikan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dirty="0">
                <a:latin typeface="Times New Roman"/>
                <a:cs typeface="Times New Roman"/>
              </a:rPr>
              <a:t> 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memecahkan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tersebut.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Pendefinisian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 </a:t>
            </a:r>
            <a:r>
              <a:rPr sz="1200" dirty="0">
                <a:latin typeface="Times New Roman"/>
                <a:cs typeface="Times New Roman"/>
              </a:rPr>
              <a:t> adalah usaha definisi dari pendekatan </a:t>
            </a:r>
            <a:r>
              <a:rPr sz="1200" spc="-5" dirty="0">
                <a:latin typeface="Times New Roman"/>
                <a:cs typeface="Times New Roman"/>
              </a:rPr>
              <a:t>system. </a:t>
            </a:r>
            <a:r>
              <a:rPr sz="1200" dirty="0">
                <a:latin typeface="Times New Roman"/>
                <a:cs typeface="Times New Roman"/>
              </a:rPr>
              <a:t>Ia juga berkaitan dengan fase intelegensi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kemukakan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simon.</a:t>
            </a:r>
            <a:r>
              <a:rPr sz="1200" dirty="0">
                <a:latin typeface="Times New Roman"/>
                <a:cs typeface="Times New Roman"/>
              </a:rPr>
              <a:t> Selanjutnya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manjer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menggunakan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informasi</a:t>
            </a:r>
            <a:r>
              <a:rPr sz="1200" dirty="0">
                <a:latin typeface="Times New Roman"/>
                <a:cs typeface="Times New Roman"/>
              </a:rPr>
              <a:t> untuk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memecahkan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dirty="0">
                <a:latin typeface="Times New Roman"/>
                <a:cs typeface="Times New Roman"/>
              </a:rPr>
              <a:t> 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diidentifikasi.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ini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merupakan</a:t>
            </a:r>
            <a:r>
              <a:rPr sz="1200" dirty="0">
                <a:latin typeface="Times New Roman"/>
                <a:cs typeface="Times New Roman"/>
              </a:rPr>
              <a:t> usaha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pemecahan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menurut</a:t>
            </a:r>
            <a:r>
              <a:rPr sz="1200" dirty="0">
                <a:latin typeface="Times New Roman"/>
                <a:cs typeface="Times New Roman"/>
              </a:rPr>
              <a:t> poendekatan </a:t>
            </a:r>
            <a:r>
              <a:rPr sz="1200" spc="-5" dirty="0">
                <a:latin typeface="Times New Roman"/>
                <a:cs typeface="Times New Roman"/>
              </a:rPr>
              <a:t>sistim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 berkaitan </a:t>
            </a:r>
            <a:r>
              <a:rPr sz="1200" spc="-5" dirty="0">
                <a:latin typeface="Times New Roman"/>
                <a:cs typeface="Times New Roman"/>
              </a:rPr>
              <a:t>denga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fase</a:t>
            </a:r>
            <a:r>
              <a:rPr sz="1200" dirty="0">
                <a:latin typeface="Times New Roman"/>
                <a:cs typeface="Times New Roman"/>
              </a:rPr>
              <a:t> disain </a:t>
            </a:r>
            <a:r>
              <a:rPr sz="1200" spc="-5" dirty="0">
                <a:latin typeface="Times New Roman"/>
                <a:cs typeface="Times New Roman"/>
              </a:rPr>
              <a:t>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pemilihan.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Pada </a:t>
            </a:r>
            <a:r>
              <a:rPr sz="1200" spc="-5" dirty="0">
                <a:latin typeface="Times New Roman"/>
                <a:cs typeface="Times New Roman"/>
              </a:rPr>
              <a:t>umumnya, </a:t>
            </a:r>
            <a:r>
              <a:rPr sz="1200" dirty="0">
                <a:latin typeface="Times New Roman"/>
                <a:cs typeface="Times New Roman"/>
              </a:rPr>
              <a:t>lapaoran berkala dan khusus digunakan </a:t>
            </a:r>
            <a:r>
              <a:rPr sz="1200" spc="-5" dirty="0">
                <a:latin typeface="Times New Roman"/>
                <a:cs typeface="Times New Roman"/>
              </a:rPr>
              <a:t>terutama </a:t>
            </a:r>
            <a:r>
              <a:rPr sz="1200" dirty="0">
                <a:latin typeface="Times New Roman"/>
                <a:cs typeface="Times New Roman"/>
              </a:rPr>
              <a:t>dalam usaha definisi,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5" dirty="0">
                <a:latin typeface="Times New Roman"/>
                <a:cs typeface="Times New Roman"/>
              </a:rPr>
              <a:t> simulasi</a:t>
            </a:r>
            <a:r>
              <a:rPr sz="1200" dirty="0">
                <a:latin typeface="Times New Roman"/>
                <a:cs typeface="Times New Roman"/>
              </a:rPr>
              <a:t> dalam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usaha </a:t>
            </a:r>
            <a:r>
              <a:rPr sz="1200" spc="-5" dirty="0">
                <a:latin typeface="Times New Roman"/>
                <a:cs typeface="Times New Roman"/>
              </a:rPr>
              <a:t>pemecahan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berkala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rancang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menidentifikasi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dirty="0">
                <a:latin typeface="Times New Roman"/>
                <a:cs typeface="Times New Roman"/>
              </a:rPr>
              <a:t> atau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dirty="0">
                <a:latin typeface="Times New Roman"/>
                <a:cs typeface="Times New Roman"/>
              </a:rPr>
              <a:t> yang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kemungkinan </a:t>
            </a:r>
            <a:r>
              <a:rPr sz="1200" dirty="0">
                <a:latin typeface="Times New Roman"/>
                <a:cs typeface="Times New Roman"/>
              </a:rPr>
              <a:t>besar akan </a:t>
            </a:r>
            <a:r>
              <a:rPr sz="1200" spc="-5" dirty="0">
                <a:latin typeface="Times New Roman"/>
                <a:cs typeface="Times New Roman"/>
              </a:rPr>
              <a:t>muncul, manjer </a:t>
            </a:r>
            <a:r>
              <a:rPr sz="1200" dirty="0">
                <a:latin typeface="Times New Roman"/>
                <a:cs typeface="Times New Roman"/>
              </a:rPr>
              <a:t>juga </a:t>
            </a:r>
            <a:r>
              <a:rPr sz="1200" spc="-5" dirty="0">
                <a:latin typeface="Times New Roman"/>
                <a:cs typeface="Times New Roman"/>
              </a:rPr>
              <a:t>melakukan </a:t>
            </a:r>
            <a:r>
              <a:rPr sz="1200" dirty="0">
                <a:latin typeface="Times New Roman"/>
                <a:cs typeface="Times New Roman"/>
              </a:rPr>
              <a:t>query </a:t>
            </a:r>
            <a:r>
              <a:rPr sz="1200" spc="-5" dirty="0">
                <a:latin typeface="Times New Roman"/>
                <a:cs typeface="Times New Roman"/>
              </a:rPr>
              <a:t>terhadap database untuk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menemukan masalah </a:t>
            </a:r>
            <a:r>
              <a:rPr sz="1200" dirty="0">
                <a:latin typeface="Times New Roman"/>
                <a:cs typeface="Times New Roman"/>
              </a:rPr>
              <a:t>atau </a:t>
            </a:r>
            <a:r>
              <a:rPr sz="1200" spc="-5" dirty="0">
                <a:latin typeface="Times New Roman"/>
                <a:cs typeface="Times New Roman"/>
              </a:rPr>
              <a:t>mempelajari </a:t>
            </a:r>
            <a:r>
              <a:rPr sz="1200" dirty="0">
                <a:latin typeface="Times New Roman"/>
                <a:cs typeface="Times New Roman"/>
              </a:rPr>
              <a:t>lebih jauh lagi </a:t>
            </a:r>
            <a:r>
              <a:rPr sz="1200" spc="-5" dirty="0">
                <a:latin typeface="Times New Roman"/>
                <a:cs typeface="Times New Roman"/>
              </a:rPr>
              <a:t>mengenai masalah </a:t>
            </a:r>
            <a:r>
              <a:rPr sz="1200" dirty="0">
                <a:latin typeface="Times New Roman"/>
                <a:cs typeface="Times New Roman"/>
              </a:rPr>
              <a:t>yang telah di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identifikasi. </a:t>
            </a:r>
            <a:r>
              <a:rPr sz="1200" spc="-5" dirty="0">
                <a:latin typeface="Times New Roman"/>
                <a:cs typeface="Times New Roman"/>
              </a:rPr>
              <a:t>Simulasi </a:t>
            </a:r>
            <a:r>
              <a:rPr sz="1200" dirty="0">
                <a:latin typeface="Times New Roman"/>
                <a:cs typeface="Times New Roman"/>
              </a:rPr>
              <a:t>dapat juga </a:t>
            </a:r>
            <a:r>
              <a:rPr sz="1200" spc="-5" dirty="0">
                <a:latin typeface="Times New Roman"/>
                <a:cs typeface="Times New Roman"/>
              </a:rPr>
              <a:t>membuka masalah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5" dirty="0">
                <a:latin typeface="Times New Roman"/>
                <a:cs typeface="Times New Roman"/>
              </a:rPr>
              <a:t>tersembunyi, </a:t>
            </a:r>
            <a:r>
              <a:rPr sz="1200" dirty="0">
                <a:latin typeface="Times New Roman"/>
                <a:cs typeface="Times New Roman"/>
              </a:rPr>
              <a:t>karna </a:t>
            </a:r>
            <a:r>
              <a:rPr sz="1200" spc="-5" dirty="0">
                <a:latin typeface="Times New Roman"/>
                <a:cs typeface="Times New Roman"/>
              </a:rPr>
              <a:t>kelemahan </a:t>
            </a:r>
            <a:r>
              <a:rPr sz="1200" dirty="0">
                <a:latin typeface="Times New Roman"/>
                <a:cs typeface="Times New Roman"/>
              </a:rPr>
              <a:t> cenderung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 kelihatan </a:t>
            </a:r>
            <a:r>
              <a:rPr sz="1200" spc="-5" dirty="0">
                <a:latin typeface="Times New Roman"/>
                <a:cs typeface="Times New Roman"/>
              </a:rPr>
              <a:t>menonjol</a:t>
            </a:r>
            <a:r>
              <a:rPr sz="1200" dirty="0">
                <a:latin typeface="Times New Roman"/>
                <a:cs typeface="Times New Roman"/>
              </a:rPr>
              <a:t> ketika </a:t>
            </a:r>
            <a:r>
              <a:rPr sz="1200" spc="-5" dirty="0">
                <a:latin typeface="Times New Roman"/>
                <a:cs typeface="Times New Roman"/>
              </a:rPr>
              <a:t>operasi</a:t>
            </a:r>
            <a:r>
              <a:rPr sz="1200" dirty="0">
                <a:latin typeface="Times New Roman"/>
                <a:cs typeface="Times New Roman"/>
              </a:rPr>
              <a:t> perusahaan diubah secara </a:t>
            </a:r>
            <a:r>
              <a:rPr sz="1200" spc="-5" dirty="0">
                <a:latin typeface="Times New Roman"/>
                <a:cs typeface="Times New Roman"/>
              </a:rPr>
              <a:t>matematis.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Laporan berkala dan </a:t>
            </a:r>
            <a:r>
              <a:rPr sz="1200" spc="-5" dirty="0">
                <a:latin typeface="Times New Roman"/>
                <a:cs typeface="Times New Roman"/>
              </a:rPr>
              <a:t>khusus </a:t>
            </a:r>
            <a:r>
              <a:rPr sz="1200" dirty="0">
                <a:latin typeface="Times New Roman"/>
                <a:cs typeface="Times New Roman"/>
              </a:rPr>
              <a:t>dapat juga </a:t>
            </a:r>
            <a:r>
              <a:rPr sz="1200" spc="-5" dirty="0">
                <a:latin typeface="Times New Roman"/>
                <a:cs typeface="Times New Roman"/>
              </a:rPr>
              <a:t>membantu manajer </a:t>
            </a:r>
            <a:r>
              <a:rPr sz="1200" dirty="0">
                <a:latin typeface="Times New Roman"/>
                <a:cs typeface="Times New Roman"/>
              </a:rPr>
              <a:t>untuk </a:t>
            </a:r>
            <a:r>
              <a:rPr sz="1200" spc="-5" dirty="0">
                <a:latin typeface="Times New Roman"/>
                <a:cs typeface="Times New Roman"/>
              </a:rPr>
              <a:t>memecahkan masalah </a:t>
            </a:r>
            <a:r>
              <a:rPr sz="1200" dirty="0">
                <a:latin typeface="Times New Roman"/>
                <a:cs typeface="Times New Roman"/>
              </a:rPr>
              <a:t> dengan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cara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mengidentifikasi</a:t>
            </a:r>
            <a:r>
              <a:rPr sz="1200" dirty="0">
                <a:latin typeface="Times New Roman"/>
                <a:cs typeface="Times New Roman"/>
              </a:rPr>
              <a:t> keputusan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alternative,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mengevaluasi</a:t>
            </a:r>
            <a:r>
              <a:rPr sz="1200" dirty="0">
                <a:latin typeface="Times New Roman"/>
                <a:cs typeface="Times New Roman"/>
              </a:rPr>
              <a:t> dan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memilih </a:t>
            </a:r>
            <a:r>
              <a:rPr sz="1200" dirty="0">
                <a:latin typeface="Times New Roman"/>
                <a:cs typeface="Times New Roman"/>
              </a:rPr>
              <a:t> alternative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5" dirty="0">
                <a:latin typeface="Times New Roman"/>
                <a:cs typeface="Times New Roman"/>
              </a:rPr>
              <a:t> memberikan informasi </a:t>
            </a:r>
            <a:r>
              <a:rPr sz="1200" dirty="0">
                <a:latin typeface="Times New Roman"/>
                <a:cs typeface="Times New Roman"/>
              </a:rPr>
              <a:t>lanjutan.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LAPORAN</a:t>
            </a:r>
            <a:endParaRPr sz="1200">
              <a:latin typeface="Times New Roman"/>
              <a:cs typeface="Times New Roman"/>
            </a:endParaRPr>
          </a:p>
          <a:p>
            <a:pPr marL="165100" indent="-152400" algn="just">
              <a:lnSpc>
                <a:spcPts val="1380"/>
              </a:lnSpc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berkala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khusus</a:t>
            </a:r>
            <a:endParaRPr sz="1200">
              <a:latin typeface="Times New Roman"/>
              <a:cs typeface="Times New Roman"/>
            </a:endParaRPr>
          </a:p>
          <a:p>
            <a:pPr marL="12700" marR="6350" indent="457200" algn="just">
              <a:lnSpc>
                <a:spcPts val="1380"/>
              </a:lnSpc>
              <a:spcBef>
                <a:spcPts val="65"/>
              </a:spcBef>
            </a:pPr>
            <a:r>
              <a:rPr sz="1200" i="1" spc="-5" dirty="0">
                <a:latin typeface="Times New Roman"/>
                <a:cs typeface="Times New Roman"/>
              </a:rPr>
              <a:t>Laporan </a:t>
            </a:r>
            <a:r>
              <a:rPr sz="1200" i="1" dirty="0">
                <a:latin typeface="Times New Roman"/>
                <a:cs typeface="Times New Roman"/>
              </a:rPr>
              <a:t>berkala atau periodic report </a:t>
            </a:r>
            <a:r>
              <a:rPr sz="1200" dirty="0">
                <a:latin typeface="Times New Roman"/>
                <a:cs typeface="Times New Roman"/>
              </a:rPr>
              <a:t>yaitu laporan </a:t>
            </a:r>
            <a:r>
              <a:rPr sz="1200" spc="-5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dibuat </a:t>
            </a:r>
            <a:r>
              <a:rPr sz="1200" spc="-5" dirty="0">
                <a:latin typeface="Times New Roman"/>
                <a:cs typeface="Times New Roman"/>
              </a:rPr>
              <a:t>menurut </a:t>
            </a:r>
            <a:r>
              <a:rPr sz="1200" dirty="0">
                <a:latin typeface="Times New Roman"/>
                <a:cs typeface="Times New Roman"/>
              </a:rPr>
              <a:t>jadwal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tertentu contohnya adalah analis penjualan terhadap pelanggan perbulan </a:t>
            </a:r>
            <a:r>
              <a:rPr sz="1200" spc="-5" dirty="0">
                <a:latin typeface="Times New Roman"/>
                <a:cs typeface="Times New Roman"/>
              </a:rPr>
              <a:t>dan </a:t>
            </a:r>
            <a:r>
              <a:rPr sz="1200" i="1" spc="-5" dirty="0">
                <a:latin typeface="Times New Roman"/>
                <a:cs typeface="Times New Roman"/>
              </a:rPr>
              <a:t>laporan </a:t>
            </a:r>
            <a:r>
              <a:rPr sz="1200" i="1" dirty="0">
                <a:latin typeface="Times New Roman"/>
                <a:cs typeface="Times New Roman"/>
              </a:rPr>
              <a:t> khusus atau special report </a:t>
            </a:r>
            <a:r>
              <a:rPr sz="1200" dirty="0">
                <a:latin typeface="Times New Roman"/>
                <a:cs typeface="Times New Roman"/>
              </a:rPr>
              <a:t>yaitu laporan </a:t>
            </a:r>
            <a:r>
              <a:rPr sz="1200" spc="-5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di buat ketika laporan dibuat ketika sesuatu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yang</a:t>
            </a:r>
            <a:r>
              <a:rPr sz="1200" dirty="0">
                <a:latin typeface="Times New Roman"/>
                <a:cs typeface="Times New Roman"/>
              </a:rPr>
              <a:t> tidak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biasanya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terjadi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contohnya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laporan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mengenai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kecelakaan.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 </a:t>
            </a:r>
            <a:r>
              <a:rPr sz="1200" spc="-5" dirty="0">
                <a:latin typeface="Times New Roman"/>
                <a:cs typeface="Times New Roman"/>
              </a:rPr>
              <a:t> penggunaannya </a:t>
            </a: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berkala</a:t>
            </a:r>
            <a:r>
              <a:rPr sz="1200" spc="-5" dirty="0">
                <a:latin typeface="Times New Roman"/>
                <a:cs typeface="Times New Roman"/>
              </a:rPr>
              <a:t> dan khusus</a:t>
            </a:r>
            <a:r>
              <a:rPr sz="1200" dirty="0">
                <a:latin typeface="Times New Roman"/>
                <a:cs typeface="Times New Roman"/>
              </a:rPr>
              <a:t> bersifat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lengkap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ringkas.</a:t>
            </a:r>
            <a:endParaRPr sz="1200">
              <a:latin typeface="Times New Roman"/>
              <a:cs typeface="Times New Roman"/>
            </a:endParaRPr>
          </a:p>
          <a:p>
            <a:pPr marL="164465" indent="-152400" algn="just">
              <a:lnSpc>
                <a:spcPts val="1315"/>
              </a:lnSpc>
              <a:buAutoNum type="arabicPeriod" startAt="2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lengkap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ringkas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ts val="1380"/>
              </a:lnSpc>
              <a:spcBef>
                <a:spcPts val="65"/>
              </a:spcBef>
            </a:pPr>
            <a:r>
              <a:rPr sz="1200" i="1" dirty="0">
                <a:latin typeface="Times New Roman"/>
                <a:cs typeface="Times New Roman"/>
              </a:rPr>
              <a:t>laporan lengakap atau detail report </a:t>
            </a:r>
            <a:r>
              <a:rPr sz="1200" spc="-5" dirty="0">
                <a:latin typeface="Times New Roman"/>
                <a:cs typeface="Times New Roman"/>
              </a:rPr>
              <a:t>yaitu </a:t>
            </a:r>
            <a:r>
              <a:rPr sz="1200" dirty="0">
                <a:latin typeface="Times New Roman"/>
                <a:cs typeface="Times New Roman"/>
              </a:rPr>
              <a:t>laporan </a:t>
            </a:r>
            <a:r>
              <a:rPr sz="1200" spc="-5" dirty="0">
                <a:latin typeface="Times New Roman"/>
                <a:cs typeface="Times New Roman"/>
              </a:rPr>
              <a:t>yang memberikan spesifikasi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mengenai </a:t>
            </a:r>
            <a:r>
              <a:rPr sz="1200" dirty="0">
                <a:latin typeface="Times New Roman"/>
                <a:cs typeface="Times New Roman"/>
              </a:rPr>
              <a:t>setiap </a:t>
            </a:r>
            <a:r>
              <a:rPr sz="1200" spc="-5" dirty="0">
                <a:latin typeface="Times New Roman"/>
                <a:cs typeface="Times New Roman"/>
              </a:rPr>
              <a:t>tindakan </a:t>
            </a:r>
            <a:r>
              <a:rPr sz="1200" dirty="0">
                <a:latin typeface="Times New Roman"/>
                <a:cs typeface="Times New Roman"/>
              </a:rPr>
              <a:t>atau </a:t>
            </a:r>
            <a:r>
              <a:rPr sz="1200" spc="-5" dirty="0">
                <a:latin typeface="Times New Roman"/>
                <a:cs typeface="Times New Roman"/>
              </a:rPr>
              <a:t>transaksi </a:t>
            </a:r>
            <a:r>
              <a:rPr sz="1200" dirty="0">
                <a:latin typeface="Times New Roman"/>
                <a:cs typeface="Times New Roman"/>
              </a:rPr>
              <a:t>dan </a:t>
            </a:r>
            <a:r>
              <a:rPr sz="1200" spc="-5" dirty="0">
                <a:latin typeface="Times New Roman"/>
                <a:cs typeface="Times New Roman"/>
              </a:rPr>
              <a:t>baris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5" dirty="0">
                <a:latin typeface="Times New Roman"/>
                <a:cs typeface="Times New Roman"/>
              </a:rPr>
              <a:t>mewakili tindakan </a:t>
            </a:r>
            <a:r>
              <a:rPr sz="1200" dirty="0">
                <a:latin typeface="Times New Roman"/>
                <a:cs typeface="Times New Roman"/>
              </a:rPr>
              <a:t>atau </a:t>
            </a:r>
            <a:r>
              <a:rPr sz="1200" spc="-5" dirty="0">
                <a:latin typeface="Times New Roman"/>
                <a:cs typeface="Times New Roman"/>
              </a:rPr>
              <a:t>transaksi </a:t>
            </a:r>
            <a:r>
              <a:rPr sz="1200" dirty="0">
                <a:latin typeface="Times New Roman"/>
                <a:cs typeface="Times New Roman"/>
              </a:rPr>
              <a:t> disebut </a:t>
            </a:r>
            <a:r>
              <a:rPr sz="1200" i="1" spc="-5" dirty="0">
                <a:latin typeface="Times New Roman"/>
                <a:cs typeface="Times New Roman"/>
              </a:rPr>
              <a:t>baris </a:t>
            </a:r>
            <a:r>
              <a:rPr sz="1200" i="1" dirty="0">
                <a:latin typeface="Times New Roman"/>
                <a:cs typeface="Times New Roman"/>
              </a:rPr>
              <a:t>lengkap </a:t>
            </a:r>
            <a:r>
              <a:rPr sz="1200" i="1" spc="-5" dirty="0">
                <a:latin typeface="Times New Roman"/>
                <a:cs typeface="Times New Roman"/>
              </a:rPr>
              <a:t>atau detail lin</a:t>
            </a:r>
            <a:r>
              <a:rPr sz="1200" spc="-5" dirty="0">
                <a:latin typeface="Times New Roman"/>
                <a:cs typeface="Times New Roman"/>
              </a:rPr>
              <a:t>e sedangkan </a:t>
            </a:r>
            <a:r>
              <a:rPr sz="1200" i="1" dirty="0">
                <a:latin typeface="Times New Roman"/>
                <a:cs typeface="Times New Roman"/>
              </a:rPr>
              <a:t>laporan </a:t>
            </a:r>
            <a:r>
              <a:rPr sz="1200" i="1" spc="-5" dirty="0">
                <a:latin typeface="Times New Roman"/>
                <a:cs typeface="Times New Roman"/>
              </a:rPr>
              <a:t>ringkas atau summary </a:t>
            </a:r>
            <a:r>
              <a:rPr sz="1200" i="1" spc="-10" dirty="0">
                <a:latin typeface="Times New Roman"/>
                <a:cs typeface="Times New Roman"/>
              </a:rPr>
              <a:t>report 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" dirty="0">
                <a:latin typeface="Times New Roman"/>
                <a:cs typeface="Times New Roman"/>
              </a:rPr>
              <a:t> menyertakan</a:t>
            </a:r>
            <a:r>
              <a:rPr sz="1200" dirty="0">
                <a:latin typeface="Times New Roman"/>
                <a:cs typeface="Times New Roman"/>
              </a:rPr>
              <a:t> baris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" dirty="0">
                <a:latin typeface="Times New Roman"/>
                <a:cs typeface="Times New Roman"/>
              </a:rPr>
              <a:t> mewakili beberapa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tindakan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5" dirty="0">
                <a:latin typeface="Times New Roman"/>
                <a:cs typeface="Times New Roman"/>
              </a:rPr>
              <a:t> transaksi.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Baris laporan biasanya di cetak dalam </a:t>
            </a:r>
            <a:r>
              <a:rPr sz="1200" spc="-5" dirty="0">
                <a:latin typeface="Times New Roman"/>
                <a:cs typeface="Times New Roman"/>
              </a:rPr>
              <a:t>beberapa </a:t>
            </a:r>
            <a:r>
              <a:rPr sz="1200" dirty="0">
                <a:latin typeface="Times New Roman"/>
                <a:cs typeface="Times New Roman"/>
              </a:rPr>
              <a:t>ururtan tertentu, filed yang berada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mengurutkan </a:t>
            </a:r>
            <a:r>
              <a:rPr sz="1200" dirty="0">
                <a:latin typeface="Times New Roman"/>
                <a:cs typeface="Times New Roman"/>
              </a:rPr>
              <a:t>record sebelum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 tersebut dicetak.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</a:pPr>
            <a:r>
              <a:rPr sz="1200" spc="-5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paling sering digunakan </a:t>
            </a:r>
            <a:r>
              <a:rPr sz="1200" spc="-5" dirty="0">
                <a:latin typeface="Times New Roman"/>
                <a:cs typeface="Times New Roman"/>
              </a:rPr>
              <a:t>ialah </a:t>
            </a:r>
            <a:r>
              <a:rPr sz="1200" dirty="0">
                <a:latin typeface="Times New Roman"/>
                <a:cs typeface="Times New Roman"/>
              </a:rPr>
              <a:t>Ascending sequence (urutan naik) disini nilai filed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terendah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(no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pelanggan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0001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atau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nama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Aardbverk)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didaftar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pertama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kali,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tertinggi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(no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9999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5" dirty="0">
                <a:latin typeface="Times New Roman"/>
                <a:cs typeface="Times New Roman"/>
              </a:rPr>
              <a:t> zikmund)</a:t>
            </a:r>
            <a:r>
              <a:rPr sz="1200" dirty="0">
                <a:latin typeface="Times New Roman"/>
                <a:cs typeface="Times New Roman"/>
              </a:rPr>
              <a:t> di daftar</a:t>
            </a:r>
            <a:r>
              <a:rPr sz="1200" spc="-5" dirty="0">
                <a:latin typeface="Times New Roman"/>
                <a:cs typeface="Times New Roman"/>
              </a:rPr>
              <a:t> paling akhir.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2997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30300" y="889507"/>
            <a:ext cx="5514340" cy="739330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8255">
              <a:lnSpc>
                <a:spcPts val="1380"/>
              </a:lnSpc>
              <a:spcBef>
                <a:spcPts val="195"/>
              </a:spcBef>
              <a:tabLst>
                <a:tab pos="1478280" algn="l"/>
                <a:tab pos="2632075" algn="l"/>
                <a:tab pos="3472179" algn="l"/>
                <a:tab pos="4735830" algn="l"/>
              </a:tabLst>
            </a:pPr>
            <a:r>
              <a:rPr sz="1200" spc="-10" dirty="0">
                <a:latin typeface="Times New Roman"/>
                <a:cs typeface="Times New Roman"/>
              </a:rPr>
              <a:t>PENGGA</a:t>
            </a:r>
            <a:r>
              <a:rPr sz="1200" spc="-5" dirty="0">
                <a:latin typeface="Times New Roman"/>
                <a:cs typeface="Times New Roman"/>
              </a:rPr>
              <a:t>B</a:t>
            </a:r>
            <a:r>
              <a:rPr sz="1200" spc="-10" dirty="0">
                <a:latin typeface="Times New Roman"/>
                <a:cs typeface="Times New Roman"/>
              </a:rPr>
              <a:t>UNGA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MANAJE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DE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0" dirty="0">
                <a:latin typeface="Times New Roman"/>
                <a:cs typeface="Times New Roman"/>
              </a:rPr>
              <a:t>GA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NGE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UAL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K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DALAM  LAPORAN</a:t>
            </a:r>
            <a:endParaRPr sz="1200">
              <a:latin typeface="Times New Roman"/>
              <a:cs typeface="Times New Roman"/>
            </a:endParaRPr>
          </a:p>
          <a:p>
            <a:pPr marL="12700" marR="6350" indent="45720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Kegunaan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sebagai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alat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pemecah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dapat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ditingkatkan</a:t>
            </a:r>
            <a:r>
              <a:rPr sz="1200" dirty="0">
                <a:latin typeface="Times New Roman"/>
                <a:cs typeface="Times New Roman"/>
              </a:rPr>
              <a:t> dengan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menggabungkan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manajemen</a:t>
            </a:r>
            <a:r>
              <a:rPr sz="1200" dirty="0">
                <a:latin typeface="Times New Roman"/>
                <a:cs typeface="Times New Roman"/>
              </a:rPr>
              <a:t> dan pengecualian. </a:t>
            </a:r>
            <a:r>
              <a:rPr sz="1200" spc="-5" dirty="0">
                <a:latin typeface="Times New Roman"/>
                <a:cs typeface="Times New Roman"/>
              </a:rPr>
              <a:t>Hal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 dapat dilakukan dengan empat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184912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urutan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menyorot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pengecualian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Membuat </a:t>
            </a:r>
            <a:r>
              <a:rPr sz="1200" dirty="0">
                <a:latin typeface="Times New Roman"/>
                <a:cs typeface="Times New Roman"/>
              </a:rPr>
              <a:t>laporan hanya </a:t>
            </a:r>
            <a:r>
              <a:rPr sz="1200" spc="-5" dirty="0">
                <a:latin typeface="Times New Roman"/>
                <a:cs typeface="Times New Roman"/>
              </a:rPr>
              <a:t>jika </a:t>
            </a:r>
            <a:r>
              <a:rPr sz="1200" dirty="0">
                <a:latin typeface="Times New Roman"/>
                <a:cs typeface="Times New Roman"/>
              </a:rPr>
              <a:t>terjadi pengecualian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Mengelompokan </a:t>
            </a:r>
            <a:r>
              <a:rPr sz="1200" dirty="0">
                <a:latin typeface="Times New Roman"/>
                <a:cs typeface="Times New Roman"/>
              </a:rPr>
              <a:t>pengecualian </a:t>
            </a:r>
            <a:r>
              <a:rPr sz="1200" spc="-5" dirty="0">
                <a:latin typeface="Times New Roman"/>
                <a:cs typeface="Times New Roman"/>
              </a:rPr>
              <a:t>bersama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Menunjukan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norma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PEMODE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N </a:t>
            </a:r>
            <a:r>
              <a:rPr sz="1200" spc="-10" dirty="0">
                <a:latin typeface="Times New Roman"/>
                <a:cs typeface="Times New Roman"/>
              </a:rPr>
              <a:t>MAT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MATIS</a:t>
            </a:r>
            <a:endParaRPr sz="1200">
              <a:latin typeface="Times New Roman"/>
              <a:cs typeface="Times New Roman"/>
            </a:endParaRPr>
          </a:p>
          <a:p>
            <a:pPr marL="12700" marR="5715" indent="457200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Model </a:t>
            </a:r>
            <a:r>
              <a:rPr sz="1200" spc="-5" dirty="0">
                <a:latin typeface="Times New Roman"/>
                <a:cs typeface="Times New Roman"/>
              </a:rPr>
              <a:t>adalah </a:t>
            </a:r>
            <a:r>
              <a:rPr sz="1200" dirty="0">
                <a:latin typeface="Times New Roman"/>
                <a:cs typeface="Times New Roman"/>
              </a:rPr>
              <a:t>abstrak </a:t>
            </a:r>
            <a:r>
              <a:rPr sz="1200" spc="-5" dirty="0">
                <a:latin typeface="Times New Roman"/>
                <a:cs typeface="Times New Roman"/>
              </a:rPr>
              <a:t>dari sesuatu; </a:t>
            </a:r>
            <a:r>
              <a:rPr sz="1200" dirty="0">
                <a:latin typeface="Times New Roman"/>
                <a:cs typeface="Times New Roman"/>
              </a:rPr>
              <a:t>ia </a:t>
            </a:r>
            <a:r>
              <a:rPr sz="1200" spc="-5" dirty="0">
                <a:latin typeface="Times New Roman"/>
                <a:cs typeface="Times New Roman"/>
              </a:rPr>
              <a:t>mewakili </a:t>
            </a:r>
            <a:r>
              <a:rPr sz="1200" dirty="0">
                <a:latin typeface="Times New Roman"/>
                <a:cs typeface="Times New Roman"/>
              </a:rPr>
              <a:t>beberapa </a:t>
            </a:r>
            <a:r>
              <a:rPr sz="1200" spc="-5" dirty="0">
                <a:latin typeface="Times New Roman"/>
                <a:cs typeface="Times New Roman"/>
              </a:rPr>
              <a:t>fenomena, </a:t>
            </a:r>
            <a:r>
              <a:rPr sz="1200" dirty="0">
                <a:latin typeface="Times New Roman"/>
                <a:cs typeface="Times New Roman"/>
              </a:rPr>
              <a:t>yaitu objek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aktivitas.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Fenomena</a:t>
            </a:r>
            <a:r>
              <a:rPr sz="1200" dirty="0">
                <a:latin typeface="Times New Roman"/>
                <a:cs typeface="Times New Roman"/>
              </a:rPr>
              <a:t> itu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entity.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Contohnya</a:t>
            </a:r>
            <a:r>
              <a:rPr sz="1200" dirty="0">
                <a:latin typeface="Times New Roman"/>
                <a:cs typeface="Times New Roman"/>
              </a:rPr>
              <a:t> jika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mewakili </a:t>
            </a:r>
            <a:r>
              <a:rPr sz="1200" dirty="0">
                <a:latin typeface="Times New Roman"/>
                <a:cs typeface="Times New Roman"/>
              </a:rPr>
              <a:t> perusahaan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maka </a:t>
            </a:r>
            <a:r>
              <a:rPr sz="1200" dirty="0">
                <a:latin typeface="Times New Roman"/>
                <a:cs typeface="Times New Roman"/>
              </a:rPr>
              <a:t>perusahaan itu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disebut entity-nya.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Ststis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Dinamis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Model </a:t>
            </a:r>
            <a:r>
              <a:rPr sz="1200" spc="-5" dirty="0">
                <a:latin typeface="Times New Roman"/>
                <a:cs typeface="Times New Roman"/>
              </a:rPr>
              <a:t>ststis </a:t>
            </a:r>
            <a:r>
              <a:rPr sz="1200" dirty="0">
                <a:latin typeface="Times New Roman"/>
                <a:cs typeface="Times New Roman"/>
              </a:rPr>
              <a:t>islah </a:t>
            </a:r>
            <a:r>
              <a:rPr sz="1200" spc="-5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yang tidak </a:t>
            </a:r>
            <a:r>
              <a:rPr sz="1200" spc="-5" dirty="0">
                <a:latin typeface="Times New Roman"/>
                <a:cs typeface="Times New Roman"/>
              </a:rPr>
              <a:t>memasukkan </a:t>
            </a:r>
            <a:r>
              <a:rPr sz="1200" dirty="0">
                <a:latin typeface="Times New Roman"/>
                <a:cs typeface="Times New Roman"/>
              </a:rPr>
              <a:t>waktu sebagai variabelnya. Ia berkaitan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 </a:t>
            </a:r>
            <a:r>
              <a:rPr sz="1200" spc="-5" dirty="0">
                <a:latin typeface="Times New Roman"/>
                <a:cs typeface="Times New Roman"/>
              </a:rPr>
              <a:t>situasi </a:t>
            </a:r>
            <a:r>
              <a:rPr sz="1200" dirty="0">
                <a:latin typeface="Times New Roman"/>
                <a:cs typeface="Times New Roman"/>
              </a:rPr>
              <a:t>pada pada suatu saat </a:t>
            </a:r>
            <a:r>
              <a:rPr sz="1200" spc="-5" dirty="0">
                <a:latin typeface="Times New Roman"/>
                <a:cs typeface="Times New Roman"/>
              </a:rPr>
              <a:t>tertentu </a:t>
            </a:r>
            <a:r>
              <a:rPr sz="1200" dirty="0">
                <a:latin typeface="Times New Roman"/>
                <a:cs typeface="Times New Roman"/>
              </a:rPr>
              <a:t>sedangkan </a:t>
            </a:r>
            <a:r>
              <a:rPr sz="1200" spc="-5" dirty="0">
                <a:latin typeface="Times New Roman"/>
                <a:cs typeface="Times New Roman"/>
              </a:rPr>
              <a:t>model dinamis </a:t>
            </a:r>
            <a:r>
              <a:rPr sz="1200" dirty="0">
                <a:latin typeface="Times New Roman"/>
                <a:cs typeface="Times New Roman"/>
              </a:rPr>
              <a:t>ialah </a:t>
            </a:r>
            <a:r>
              <a:rPr sz="1200" spc="-5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memasukan </a:t>
            </a:r>
            <a:r>
              <a:rPr sz="1200" dirty="0">
                <a:latin typeface="Times New Roman"/>
                <a:cs typeface="Times New Roman"/>
              </a:rPr>
              <a:t>waktu sebagai variabel, </a:t>
            </a:r>
            <a:r>
              <a:rPr sz="1200" spc="-5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ini </a:t>
            </a:r>
            <a:r>
              <a:rPr sz="1200" spc="-5" dirty="0">
                <a:latin typeface="Times New Roman"/>
                <a:cs typeface="Times New Roman"/>
              </a:rPr>
              <a:t>mewakili </a:t>
            </a:r>
            <a:r>
              <a:rPr sz="1200" dirty="0">
                <a:latin typeface="Times New Roman"/>
                <a:cs typeface="Times New Roman"/>
              </a:rPr>
              <a:t>tingkah laku entity </a:t>
            </a:r>
            <a:r>
              <a:rPr sz="1200" spc="-5" dirty="0">
                <a:latin typeface="Times New Roman"/>
                <a:cs typeface="Times New Roman"/>
              </a:rPr>
              <a:t>sepanjang </a:t>
            </a:r>
            <a:r>
              <a:rPr sz="1200" dirty="0">
                <a:latin typeface="Times New Roman"/>
                <a:cs typeface="Times New Roman"/>
              </a:rPr>
              <a:t> waktu.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5" dirty="0">
                <a:latin typeface="Times New Roman"/>
                <a:cs typeface="Times New Roman"/>
              </a:rPr>
              <a:t> Probabilitik dan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Deterministik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Model pobabilitas adalah </a:t>
            </a:r>
            <a:r>
              <a:rPr sz="1200" spc="-5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tentang adanya peluang akan terjadi sesuatu. Pobabilitas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mempunyai </a:t>
            </a:r>
            <a:r>
              <a:rPr sz="1200" dirty="0">
                <a:latin typeface="Times New Roman"/>
                <a:cs typeface="Times New Roman"/>
              </a:rPr>
              <a:t>jangkauan 0,00 (untuk sesuatu yang tidak punya peluang) dan 1,00 (untuk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sesuatu yang nyata-nyata terjadi) sedangkan model deterministic ialah kebalikan dari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pobabilitas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10"/>
              </a:lnSpc>
            </a:pP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5" dirty="0">
                <a:latin typeface="Times New Roman"/>
                <a:cs typeface="Times New Roman"/>
              </a:rPr>
              <a:t> Optimisasi</a:t>
            </a:r>
            <a:r>
              <a:rPr sz="1200" dirty="0">
                <a:latin typeface="Times New Roman"/>
                <a:cs typeface="Times New Roman"/>
              </a:rPr>
              <a:t> dan </a:t>
            </a:r>
            <a:r>
              <a:rPr sz="1200" spc="-5" dirty="0">
                <a:latin typeface="Times New Roman"/>
                <a:cs typeface="Times New Roman"/>
              </a:rPr>
              <a:t>Suboptimisasi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Model </a:t>
            </a:r>
            <a:r>
              <a:rPr sz="1200" spc="-5" dirty="0">
                <a:latin typeface="Times New Roman"/>
                <a:cs typeface="Times New Roman"/>
              </a:rPr>
              <a:t>optimisasi </a:t>
            </a:r>
            <a:r>
              <a:rPr sz="1200" dirty="0">
                <a:latin typeface="Times New Roman"/>
                <a:cs typeface="Times New Roman"/>
              </a:rPr>
              <a:t>adalah </a:t>
            </a:r>
            <a:r>
              <a:rPr sz="1200" spc="-5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5" dirty="0">
                <a:latin typeface="Times New Roman"/>
                <a:cs typeface="Times New Roman"/>
              </a:rPr>
              <a:t>menentukan pemecahan </a:t>
            </a:r>
            <a:r>
              <a:rPr sz="1200" dirty="0">
                <a:latin typeface="Times New Roman"/>
                <a:cs typeface="Times New Roman"/>
              </a:rPr>
              <a:t>terbaik </a:t>
            </a:r>
            <a:r>
              <a:rPr sz="1200" spc="-5" dirty="0">
                <a:latin typeface="Times New Roman"/>
                <a:cs typeface="Times New Roman"/>
              </a:rPr>
              <a:t>diantara altermatif </a:t>
            </a:r>
            <a:r>
              <a:rPr sz="1200" dirty="0">
                <a:latin typeface="Times New Roman"/>
                <a:cs typeface="Times New Roman"/>
              </a:rPr>
              <a:t> yang ada. </a:t>
            </a:r>
            <a:r>
              <a:rPr sz="1200" spc="-5" dirty="0">
                <a:latin typeface="Times New Roman"/>
                <a:cs typeface="Times New Roman"/>
              </a:rPr>
              <a:t>Agar </a:t>
            </a:r>
            <a:r>
              <a:rPr sz="1200" dirty="0">
                <a:latin typeface="Times New Roman"/>
                <a:cs typeface="Times New Roman"/>
              </a:rPr>
              <a:t>supaya model tersebut dapat melakukan hal ini, </a:t>
            </a:r>
            <a:r>
              <a:rPr sz="1200" spc="-5" dirty="0">
                <a:latin typeface="Times New Roman"/>
                <a:cs typeface="Times New Roman"/>
              </a:rPr>
              <a:t>masalah </a:t>
            </a:r>
            <a:r>
              <a:rPr sz="1200" dirty="0">
                <a:latin typeface="Times New Roman"/>
                <a:cs typeface="Times New Roman"/>
              </a:rPr>
              <a:t>harus terstruktur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 baik. Sedangkan </a:t>
            </a:r>
            <a:r>
              <a:rPr sz="1200" spc="-5" dirty="0">
                <a:latin typeface="Times New Roman"/>
                <a:cs typeface="Times New Roman"/>
              </a:rPr>
              <a:t>model suboptimisasi </a:t>
            </a:r>
            <a:r>
              <a:rPr sz="1200" dirty="0">
                <a:latin typeface="Times New Roman"/>
                <a:cs typeface="Times New Roman"/>
              </a:rPr>
              <a:t>yang seringkali disebut satisficing model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ialah </a:t>
            </a:r>
            <a:r>
              <a:rPr sz="1200" spc="-5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5" dirty="0">
                <a:latin typeface="Times New Roman"/>
                <a:cs typeface="Times New Roman"/>
              </a:rPr>
              <a:t>memungkinkan </a:t>
            </a:r>
            <a:r>
              <a:rPr sz="1200" dirty="0">
                <a:latin typeface="Times New Roman"/>
                <a:cs typeface="Times New Roman"/>
              </a:rPr>
              <a:t>manajer </a:t>
            </a:r>
            <a:r>
              <a:rPr sz="1200" spc="-5" dirty="0">
                <a:latin typeface="Times New Roman"/>
                <a:cs typeface="Times New Roman"/>
              </a:rPr>
              <a:t>untuk melakukan </a:t>
            </a:r>
            <a:r>
              <a:rPr sz="1200" dirty="0">
                <a:latin typeface="Times New Roman"/>
                <a:cs typeface="Times New Roman"/>
              </a:rPr>
              <a:t>serangkaian keputusan, dan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 tersebut akan </a:t>
            </a:r>
            <a:r>
              <a:rPr sz="1200" spc="-5" dirty="0">
                <a:latin typeface="Times New Roman"/>
                <a:cs typeface="Times New Roman"/>
              </a:rPr>
              <a:t>memproyeksikan penyelesaian. </a:t>
            </a:r>
            <a:r>
              <a:rPr sz="1200" dirty="0">
                <a:latin typeface="Times New Roman"/>
                <a:cs typeface="Times New Roman"/>
              </a:rPr>
              <a:t>Model ini tidak </a:t>
            </a:r>
            <a:r>
              <a:rPr sz="1200" spc="-5" dirty="0">
                <a:latin typeface="Times New Roman"/>
                <a:cs typeface="Times New Roman"/>
              </a:rPr>
              <a:t>mengidentifikasikan </a:t>
            </a:r>
            <a:r>
              <a:rPr sz="1200" dirty="0">
                <a:latin typeface="Times New Roman"/>
                <a:cs typeface="Times New Roman"/>
              </a:rPr>
              <a:t> keputusan yang akan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mennghasilkan </a:t>
            </a:r>
            <a:r>
              <a:rPr sz="1200" dirty="0">
                <a:latin typeface="Times New Roman"/>
                <a:cs typeface="Times New Roman"/>
              </a:rPr>
              <a:t>penyelesaian yang terbaik, namun </a:t>
            </a:r>
            <a:r>
              <a:rPr sz="1200" spc="-5" dirty="0">
                <a:latin typeface="Times New Roman"/>
                <a:cs typeface="Times New Roman"/>
              </a:rPr>
              <a:t>menyerahkan </a:t>
            </a:r>
            <a:r>
              <a:rPr sz="1200" dirty="0">
                <a:latin typeface="Times New Roman"/>
                <a:cs typeface="Times New Roman"/>
              </a:rPr>
              <a:t> tugas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 kepada </a:t>
            </a:r>
            <a:r>
              <a:rPr sz="1200" spc="-5" dirty="0">
                <a:latin typeface="Times New Roman"/>
                <a:cs typeface="Times New Roman"/>
              </a:rPr>
              <a:t>manajer.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SIMULASI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380"/>
              </a:lnSpc>
            </a:pPr>
            <a:r>
              <a:rPr sz="1200" spc="-5" dirty="0">
                <a:latin typeface="Times New Roman"/>
                <a:cs typeface="Times New Roman"/>
              </a:rPr>
              <a:t>Simulasi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pemodelan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ialah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proses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model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yang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mewakili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entity-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nya.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Skenario,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 untuk </a:t>
            </a:r>
            <a:r>
              <a:rPr sz="1200" spc="-5" dirty="0">
                <a:latin typeface="Times New Roman"/>
                <a:cs typeface="Times New Roman"/>
              </a:rPr>
              <a:t>menjelaskan</a:t>
            </a:r>
            <a:r>
              <a:rPr sz="1200" dirty="0">
                <a:latin typeface="Times New Roman"/>
                <a:cs typeface="Times New Roman"/>
              </a:rPr>
              <a:t> setting </a:t>
            </a:r>
            <a:r>
              <a:rPr sz="1200" spc="-5" dirty="0">
                <a:latin typeface="Times New Roman"/>
                <a:cs typeface="Times New Roman"/>
              </a:rPr>
              <a:t>tempat</a:t>
            </a:r>
            <a:r>
              <a:rPr sz="1200" dirty="0">
                <a:latin typeface="Times New Roman"/>
                <a:cs typeface="Times New Roman"/>
              </a:rPr>
              <a:t> terjadinya </a:t>
            </a:r>
            <a:r>
              <a:rPr sz="1200" spc="-5" dirty="0">
                <a:latin typeface="Times New Roman"/>
                <a:cs typeface="Times New Roman"/>
              </a:rPr>
              <a:t>simulasi.</a:t>
            </a:r>
            <a:endParaRPr sz="1200">
              <a:latin typeface="Times New Roman"/>
              <a:cs typeface="Times New Roman"/>
            </a:endParaRPr>
          </a:p>
          <a:p>
            <a:pPr marL="12700" marR="6985">
              <a:lnSpc>
                <a:spcPts val="1380"/>
              </a:lnSpc>
              <a:spcBef>
                <a:spcPts val="65"/>
              </a:spcBef>
            </a:pPr>
            <a:r>
              <a:rPr sz="1200" spc="-5" dirty="0">
                <a:latin typeface="Times New Roman"/>
                <a:cs typeface="Times New Roman"/>
              </a:rPr>
              <a:t>Variable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keputusan,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nilai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dimasukan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manajer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mengukur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dampak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terhadap </a:t>
            </a:r>
            <a:r>
              <a:rPr sz="1200" dirty="0">
                <a:latin typeface="Times New Roman"/>
                <a:cs typeface="Times New Roman"/>
              </a:rPr>
              <a:t>entity.</a:t>
            </a:r>
            <a:endParaRPr sz="1200">
              <a:latin typeface="Times New Roman"/>
              <a:cs typeface="Times New Roman"/>
            </a:endParaRPr>
          </a:p>
          <a:p>
            <a:pPr marL="12700" marR="404114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Teknik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simulasi.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Format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simulasi.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2997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30300" y="889507"/>
            <a:ext cx="5514340" cy="336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KEUNTUNGAN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KERUGIAN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PEMODELAN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Manajer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menggunakan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model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matematis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memperoleh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keuntungan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 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spc="-5" dirty="0">
                <a:latin typeface="Times New Roman"/>
                <a:cs typeface="Times New Roman"/>
              </a:rPr>
              <a:t>Proses pemodelan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menjadi</a:t>
            </a:r>
            <a:r>
              <a:rPr sz="1200" dirty="0">
                <a:latin typeface="Times New Roman"/>
                <a:cs typeface="Times New Roman"/>
              </a:rPr>
              <a:t> pengalaman belajar</a:t>
            </a:r>
            <a:endParaRPr sz="1200">
              <a:latin typeface="Times New Roman"/>
              <a:cs typeface="Times New Roman"/>
            </a:endParaRPr>
          </a:p>
          <a:p>
            <a:pPr marL="12700" marR="635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Kecepatan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simulasi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memberikan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kemampuan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bagi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untuk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mengevaluasi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dampak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jangka waktu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 singkat.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5" dirty="0">
                <a:latin typeface="Times New Roman"/>
                <a:cs typeface="Times New Roman"/>
              </a:rPr>
              <a:t> memberikan </a:t>
            </a:r>
            <a:r>
              <a:rPr sz="1200" dirty="0">
                <a:latin typeface="Times New Roman"/>
                <a:cs typeface="Times New Roman"/>
              </a:rPr>
              <a:t>daya</a:t>
            </a:r>
            <a:r>
              <a:rPr sz="1200" spc="-5" dirty="0">
                <a:latin typeface="Times New Roman"/>
                <a:cs typeface="Times New Roman"/>
              </a:rPr>
              <a:t> peramalan</a:t>
            </a:r>
            <a:endParaRPr sz="1200">
              <a:latin typeface="Times New Roman"/>
              <a:cs typeface="Times New Roman"/>
            </a:endParaRPr>
          </a:p>
          <a:p>
            <a:pPr marL="12700" marR="64643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Model </a:t>
            </a:r>
            <a:r>
              <a:rPr sz="1200" spc="-5" dirty="0">
                <a:latin typeface="Times New Roman"/>
                <a:cs typeface="Times New Roman"/>
              </a:rPr>
              <a:t>membutuhkan </a:t>
            </a:r>
            <a:r>
              <a:rPr sz="1200" dirty="0">
                <a:latin typeface="Times New Roman"/>
                <a:cs typeface="Times New Roman"/>
              </a:rPr>
              <a:t>biyaya yang lebih </a:t>
            </a:r>
            <a:r>
              <a:rPr sz="1200" spc="-5" dirty="0">
                <a:latin typeface="Times New Roman"/>
                <a:cs typeface="Times New Roman"/>
              </a:rPr>
              <a:t>murah </a:t>
            </a:r>
            <a:r>
              <a:rPr sz="1200" dirty="0">
                <a:latin typeface="Times New Roman"/>
                <a:cs typeface="Times New Roman"/>
              </a:rPr>
              <a:t>daripada </a:t>
            </a:r>
            <a:r>
              <a:rPr sz="1200" spc="-5" dirty="0">
                <a:latin typeface="Times New Roman"/>
                <a:cs typeface="Times New Roman"/>
              </a:rPr>
              <a:t>metode </a:t>
            </a:r>
            <a:r>
              <a:rPr sz="1200" dirty="0">
                <a:latin typeface="Times New Roman"/>
                <a:cs typeface="Times New Roman"/>
              </a:rPr>
              <a:t>trial-and-error.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Sedangkan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kerugian </a:t>
            </a:r>
            <a:r>
              <a:rPr sz="1200" spc="-5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adalah sebagai berikut:</a:t>
            </a:r>
            <a:endParaRPr sz="1200">
              <a:latin typeface="Times New Roman"/>
              <a:cs typeface="Times New Roman"/>
            </a:endParaRPr>
          </a:p>
          <a:p>
            <a:pPr marL="12700" marR="635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Sulitnay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pemodelan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bisnis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akan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menghasilkan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model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menangkap semua</a:t>
            </a:r>
            <a:r>
              <a:rPr sz="1200" dirty="0">
                <a:latin typeface="Times New Roman"/>
                <a:cs typeface="Times New Roman"/>
              </a:rPr>
              <a:t> pengaruh pada </a:t>
            </a:r>
            <a:r>
              <a:rPr sz="1200" spc="-5" dirty="0">
                <a:latin typeface="Times New Roman"/>
                <a:cs typeface="Times New Roman"/>
              </a:rPr>
              <a:t>entity.</a:t>
            </a:r>
            <a:endParaRPr sz="1200">
              <a:latin typeface="Times New Roman"/>
              <a:cs typeface="Times New Roman"/>
            </a:endParaRPr>
          </a:p>
          <a:p>
            <a:pPr marL="12700" marR="571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Dibutuhkan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keterampilan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matematika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tinggi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menggembangkan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model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lebih</a:t>
            </a:r>
            <a:r>
              <a:rPr sz="1200" spc="-5" dirty="0">
                <a:latin typeface="Times New Roman"/>
                <a:cs typeface="Times New Roman"/>
              </a:rPr>
              <a:t> kompleks</a:t>
            </a:r>
            <a:r>
              <a:rPr sz="1200" dirty="0">
                <a:latin typeface="Times New Roman"/>
                <a:cs typeface="Times New Roman"/>
              </a:rPr>
              <a:t> secara pribadi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GRAF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5" dirty="0">
                <a:latin typeface="Times New Roman"/>
                <a:cs typeface="Times New Roman"/>
              </a:rPr>
              <a:t>K </a:t>
            </a:r>
            <a:r>
              <a:rPr sz="1200" spc="-10" dirty="0">
                <a:latin typeface="Times New Roman"/>
                <a:cs typeface="Times New Roman"/>
              </a:rPr>
              <a:t>KOMPUT</a:t>
            </a:r>
            <a:r>
              <a:rPr sz="1200" dirty="0">
                <a:latin typeface="Times New Roman"/>
                <a:cs typeface="Times New Roman"/>
              </a:rPr>
              <a:t>ER</a:t>
            </a:r>
            <a:endParaRPr sz="1200">
              <a:latin typeface="Times New Roman"/>
              <a:cs typeface="Times New Roman"/>
            </a:endParaRPr>
          </a:p>
          <a:p>
            <a:pPr marL="12700" marR="6350" indent="457200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Setiap </a:t>
            </a:r>
            <a:r>
              <a:rPr sz="1200" spc="-5" dirty="0">
                <a:latin typeface="Times New Roman"/>
                <a:cs typeface="Times New Roman"/>
              </a:rPr>
              <a:t>manjer </a:t>
            </a:r>
            <a:r>
              <a:rPr sz="1200" dirty="0">
                <a:latin typeface="Times New Roman"/>
                <a:cs typeface="Times New Roman"/>
              </a:rPr>
              <a:t>pada </a:t>
            </a:r>
            <a:r>
              <a:rPr sz="1200" spc="-5" dirty="0">
                <a:latin typeface="Times New Roman"/>
                <a:cs typeface="Times New Roman"/>
              </a:rPr>
              <a:t>umumnya </a:t>
            </a:r>
            <a:r>
              <a:rPr sz="1200" dirty="0">
                <a:latin typeface="Times New Roman"/>
                <a:cs typeface="Times New Roman"/>
              </a:rPr>
              <a:t>harus </a:t>
            </a:r>
            <a:r>
              <a:rPr sz="1200" spc="-5" dirty="0">
                <a:latin typeface="Times New Roman"/>
                <a:cs typeface="Times New Roman"/>
              </a:rPr>
              <a:t>mempunyai kemampuan membuat </a:t>
            </a:r>
            <a:r>
              <a:rPr sz="1200" dirty="0">
                <a:latin typeface="Times New Roman"/>
                <a:cs typeface="Times New Roman"/>
              </a:rPr>
              <a:t>grafik.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Namun </a:t>
            </a:r>
            <a:r>
              <a:rPr sz="1200" dirty="0">
                <a:latin typeface="Times New Roman"/>
                <a:cs typeface="Times New Roman"/>
              </a:rPr>
              <a:t>demikian, pada kenyatannya, riset </a:t>
            </a:r>
            <a:r>
              <a:rPr sz="1200" spc="-5" dirty="0">
                <a:latin typeface="Times New Roman"/>
                <a:cs typeface="Times New Roman"/>
              </a:rPr>
              <a:t>menyatakan bahwa penggunan grafik </a:t>
            </a:r>
            <a:r>
              <a:rPr sz="1200" dirty="0">
                <a:latin typeface="Times New Roman"/>
                <a:cs typeface="Times New Roman"/>
              </a:rPr>
              <a:t>ternyata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 selalu lebih baik dari pada pengguna table. Grafik </a:t>
            </a:r>
            <a:r>
              <a:rPr sz="1200" spc="-5" dirty="0">
                <a:latin typeface="Times New Roman"/>
                <a:cs typeface="Times New Roman"/>
              </a:rPr>
              <a:t>nampaknya </a:t>
            </a:r>
            <a:r>
              <a:rPr sz="1200" dirty="0">
                <a:latin typeface="Times New Roman"/>
                <a:cs typeface="Times New Roman"/>
              </a:rPr>
              <a:t>lebih baik dalam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situasi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tertentu, seperti </a:t>
            </a: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4219447"/>
            <a:ext cx="14414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spc="630" dirty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630" dirty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630" dirty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630" dirty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630" dirty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2981" y="4219447"/>
            <a:ext cx="4825365" cy="90931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267843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Mencari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ringkasan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cepat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Mendeteksi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trand</a:t>
            </a:r>
            <a:r>
              <a:rPr sz="1200" spc="-5" dirty="0">
                <a:latin typeface="Times New Roman"/>
                <a:cs typeface="Times New Roman"/>
              </a:rPr>
              <a:t> masa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lalu</a:t>
            </a:r>
            <a:endParaRPr sz="1200">
              <a:latin typeface="Times New Roman"/>
              <a:cs typeface="Times New Roman"/>
            </a:endParaRPr>
          </a:p>
          <a:p>
            <a:pPr marL="13970" marR="1477010" indent="-190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Membandingkan point </a:t>
            </a:r>
            <a:r>
              <a:rPr sz="1200" spc="-5" dirty="0">
                <a:latin typeface="Times New Roman"/>
                <a:cs typeface="Times New Roman"/>
              </a:rPr>
              <a:t>dan pola variable yang berbeda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Meramal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aktivitas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mendatang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Mencari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kesan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 relative</a:t>
            </a:r>
            <a:r>
              <a:rPr sz="1200" spc="-5" dirty="0">
                <a:latin typeface="Times New Roman"/>
                <a:cs typeface="Times New Roman"/>
              </a:rPr>
              <a:t> sederhan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adari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sejumlah</a:t>
            </a:r>
            <a:r>
              <a:rPr sz="1200" dirty="0">
                <a:latin typeface="Times New Roman"/>
                <a:cs typeface="Times New Roman"/>
              </a:rPr>
              <a:t> besar </a:t>
            </a:r>
            <a:r>
              <a:rPr sz="1200" spc="-5" dirty="0">
                <a:latin typeface="Times New Roman"/>
                <a:cs typeface="Times New Roman"/>
              </a:rPr>
              <a:t>informasi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5" dirty="0">
                <a:latin typeface="Times New Roman"/>
                <a:cs typeface="Times New Roman"/>
              </a:rPr>
              <a:t>ada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300" y="5620765"/>
            <a:ext cx="5513070" cy="336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41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BAHASA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GENERASI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KEEMPAT</a:t>
            </a:r>
            <a:endParaRPr sz="120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ts val="1380"/>
              </a:lnSpc>
              <a:spcBef>
                <a:spcPts val="65"/>
              </a:spcBef>
            </a:pPr>
            <a:r>
              <a:rPr sz="1200" spc="-5" dirty="0">
                <a:latin typeface="Times New Roman"/>
                <a:cs typeface="Times New Roman"/>
              </a:rPr>
              <a:t>Sofware dimasukan </a:t>
            </a:r>
            <a:r>
              <a:rPr sz="1200" dirty="0">
                <a:latin typeface="Times New Roman"/>
                <a:cs typeface="Times New Roman"/>
              </a:rPr>
              <a:t>kedalam </a:t>
            </a:r>
            <a:r>
              <a:rPr sz="1200" spc="-5" dirty="0">
                <a:latin typeface="Times New Roman"/>
                <a:cs typeface="Times New Roman"/>
              </a:rPr>
              <a:t>perpustakaan software DSS untuk menghasilkan tiga </a:t>
            </a:r>
            <a:r>
              <a:rPr sz="1200" dirty="0">
                <a:latin typeface="Times New Roman"/>
                <a:cs typeface="Times New Roman"/>
              </a:rPr>
              <a:t> jenis output. Pada </a:t>
            </a:r>
            <a:r>
              <a:rPr sz="1200" spc="-5" dirty="0">
                <a:latin typeface="Times New Roman"/>
                <a:cs typeface="Times New Roman"/>
              </a:rPr>
              <a:t>mulanya, </a:t>
            </a:r>
            <a:r>
              <a:rPr sz="1200" dirty="0">
                <a:latin typeface="Times New Roman"/>
                <a:cs typeface="Times New Roman"/>
              </a:rPr>
              <a:t>satu-satunya cara ialah dengan </a:t>
            </a:r>
            <a:r>
              <a:rPr sz="1200" spc="-5" dirty="0">
                <a:latin typeface="Times New Roman"/>
                <a:cs typeface="Times New Roman"/>
              </a:rPr>
              <a:t>mengkode </a:t>
            </a:r>
            <a:r>
              <a:rPr sz="1200" dirty="0">
                <a:latin typeface="Times New Roman"/>
                <a:cs typeface="Times New Roman"/>
              </a:rPr>
              <a:t>program dengan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5" dirty="0">
                <a:latin typeface="Times New Roman"/>
                <a:cs typeface="Times New Roman"/>
              </a:rPr>
              <a:t> pemograman.</a:t>
            </a:r>
            <a:endParaRPr sz="1200">
              <a:latin typeface="Times New Roman"/>
              <a:cs typeface="Times New Roman"/>
            </a:endParaRPr>
          </a:p>
          <a:p>
            <a:pPr marL="12700" marR="5715" indent="45720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Dengan </a:t>
            </a:r>
            <a:r>
              <a:rPr sz="1200" spc="-5" dirty="0">
                <a:latin typeface="Times New Roman"/>
                <a:cs typeface="Times New Roman"/>
              </a:rPr>
              <a:t>munculnya </a:t>
            </a:r>
            <a:r>
              <a:rPr sz="1200" dirty="0">
                <a:latin typeface="Times New Roman"/>
                <a:cs typeface="Times New Roman"/>
              </a:rPr>
              <a:t>trend end-user </a:t>
            </a:r>
            <a:r>
              <a:rPr sz="1200" spc="-5" dirty="0">
                <a:latin typeface="Times New Roman"/>
                <a:cs typeface="Times New Roman"/>
              </a:rPr>
              <a:t>computing, maka </a:t>
            </a:r>
            <a:r>
              <a:rPr sz="1200" dirty="0">
                <a:latin typeface="Times New Roman"/>
                <a:cs typeface="Times New Roman"/>
              </a:rPr>
              <a:t>lahirlah bahasa yang baru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dinamakan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fourth-generatioan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 (bahasa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generasi</a:t>
            </a:r>
            <a:r>
              <a:rPr sz="1200" spc="-5" dirty="0">
                <a:latin typeface="Times New Roman"/>
                <a:cs typeface="Times New Roman"/>
              </a:rPr>
              <a:t> keempat)</a:t>
            </a:r>
            <a:r>
              <a:rPr sz="1200" dirty="0">
                <a:latin typeface="Times New Roman"/>
                <a:cs typeface="Times New Roman"/>
              </a:rPr>
              <a:t> atau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4GL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279400" indent="-267335" algn="just">
              <a:lnSpc>
                <a:spcPts val="1410"/>
              </a:lnSpc>
              <a:buAutoNum type="arabicPeriod"/>
              <a:tabLst>
                <a:tab pos="280035" algn="l"/>
              </a:tabLst>
            </a:pP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Pemodelan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Bahasa pemodelan atau </a:t>
            </a:r>
            <a:r>
              <a:rPr sz="1200" spc="-5" dirty="0">
                <a:latin typeface="Times New Roman"/>
                <a:cs typeface="Times New Roman"/>
              </a:rPr>
              <a:t>maodeling </a:t>
            </a:r>
            <a:r>
              <a:rPr sz="1200" dirty="0">
                <a:latin typeface="Times New Roman"/>
                <a:cs typeface="Times New Roman"/>
              </a:rPr>
              <a:t>language dibuat untuk </a:t>
            </a:r>
            <a:r>
              <a:rPr sz="1200" spc="-5" dirty="0">
                <a:latin typeface="Times New Roman"/>
                <a:cs typeface="Times New Roman"/>
              </a:rPr>
              <a:t>membuat </a:t>
            </a:r>
            <a:r>
              <a:rPr sz="1200" dirty="0">
                <a:latin typeface="Times New Roman"/>
                <a:cs typeface="Times New Roman"/>
              </a:rPr>
              <a:t>tugas </a:t>
            </a:r>
            <a:r>
              <a:rPr sz="1200" spc="-5" dirty="0">
                <a:latin typeface="Times New Roman"/>
                <a:cs typeface="Times New Roman"/>
              </a:rPr>
              <a:t>pembentukan </a:t>
            </a:r>
            <a:r>
              <a:rPr sz="1200" dirty="0">
                <a:latin typeface="Times New Roman"/>
                <a:cs typeface="Times New Roman"/>
              </a:rPr>
              <a:t> 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menjadi</a:t>
            </a:r>
            <a:r>
              <a:rPr sz="1200" dirty="0">
                <a:latin typeface="Times New Roman"/>
                <a:cs typeface="Times New Roman"/>
              </a:rPr>
              <a:t> lebih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mudah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menggunakan</a:t>
            </a:r>
            <a:r>
              <a:rPr sz="1200" dirty="0">
                <a:latin typeface="Times New Roman"/>
                <a:cs typeface="Times New Roman"/>
              </a:rPr>
              <a:t> bahasa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berorientasi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salah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 </a:t>
            </a:r>
            <a:r>
              <a:rPr sz="1200" spc="-5" dirty="0">
                <a:latin typeface="Times New Roman"/>
                <a:cs typeface="Times New Roman"/>
              </a:rPr>
              <a:t>pemodelan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5" dirty="0">
                <a:latin typeface="Times New Roman"/>
                <a:cs typeface="Times New Roman"/>
              </a:rPr>
              <a:t>pertama </a:t>
            </a:r>
            <a:r>
              <a:rPr sz="1200" dirty="0">
                <a:latin typeface="Times New Roman"/>
                <a:cs typeface="Times New Roman"/>
              </a:rPr>
              <a:t>adalah </a:t>
            </a:r>
            <a:r>
              <a:rPr sz="1200" spc="-5" dirty="0">
                <a:latin typeface="Times New Roman"/>
                <a:cs typeface="Times New Roman"/>
              </a:rPr>
              <a:t>GPSS </a:t>
            </a:r>
            <a:r>
              <a:rPr sz="1200" dirty="0">
                <a:latin typeface="Times New Roman"/>
                <a:cs typeface="Times New Roman"/>
              </a:rPr>
              <a:t>(General Purpose </a:t>
            </a:r>
            <a:r>
              <a:rPr sz="1200" spc="-5" dirty="0">
                <a:latin typeface="Times New Roman"/>
                <a:cs typeface="Times New Roman"/>
              </a:rPr>
              <a:t>simulation system)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dikembangkan </a:t>
            </a:r>
            <a:r>
              <a:rPr sz="1200" dirty="0">
                <a:latin typeface="Times New Roman"/>
                <a:cs typeface="Times New Roman"/>
              </a:rPr>
              <a:t>IBM pada awal tahun 1960-an</a:t>
            </a:r>
            <a:endParaRPr sz="1200">
              <a:latin typeface="Times New Roman"/>
              <a:cs typeface="Times New Roman"/>
            </a:endParaRPr>
          </a:p>
          <a:p>
            <a:pPr marL="279400" indent="-267335" algn="just">
              <a:lnSpc>
                <a:spcPts val="1315"/>
              </a:lnSpc>
              <a:buAutoNum type="arabicPeriod" startAt="2"/>
              <a:tabLst>
                <a:tab pos="280035" algn="l"/>
              </a:tabLst>
            </a:pP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Tingkat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Sangat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Tinggi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ts val="1380"/>
              </a:lnSpc>
              <a:spcBef>
                <a:spcPts val="65"/>
              </a:spcBef>
            </a:pPr>
            <a:r>
              <a:rPr sz="1200" spc="-5" dirty="0">
                <a:latin typeface="Times New Roman"/>
                <a:cs typeface="Times New Roman"/>
              </a:rPr>
              <a:t>Very </a:t>
            </a:r>
            <a:r>
              <a:rPr sz="1200" dirty="0">
                <a:latin typeface="Times New Roman"/>
                <a:cs typeface="Times New Roman"/>
              </a:rPr>
              <a:t>high level language atau bahasa </a:t>
            </a:r>
            <a:r>
              <a:rPr sz="1200" spc="-5" dirty="0">
                <a:latin typeface="Times New Roman"/>
                <a:cs typeface="Times New Roman"/>
              </a:rPr>
              <a:t>tingkat </a:t>
            </a:r>
            <a:r>
              <a:rPr sz="1200" dirty="0">
                <a:latin typeface="Times New Roman"/>
                <a:cs typeface="Times New Roman"/>
              </a:rPr>
              <a:t>sangat tinggi </a:t>
            </a:r>
            <a:r>
              <a:rPr sz="1200" spc="-5" dirty="0">
                <a:latin typeface="Times New Roman"/>
                <a:cs typeface="Times New Roman"/>
              </a:rPr>
              <a:t>biasanya </a:t>
            </a:r>
            <a:r>
              <a:rPr sz="1200" dirty="0">
                <a:latin typeface="Times New Roman"/>
                <a:cs typeface="Times New Roman"/>
              </a:rPr>
              <a:t>digunakan untuk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menjelaskan </a:t>
            </a:r>
            <a:r>
              <a:rPr sz="1200" dirty="0">
                <a:latin typeface="Times New Roman"/>
                <a:cs typeface="Times New Roman"/>
              </a:rPr>
              <a:t>bahasa </a:t>
            </a:r>
            <a:r>
              <a:rPr sz="1200" spc="-5" dirty="0">
                <a:latin typeface="Times New Roman"/>
                <a:cs typeface="Times New Roman"/>
              </a:rPr>
              <a:t>pemograman, </a:t>
            </a:r>
            <a:r>
              <a:rPr sz="1200" dirty="0">
                <a:latin typeface="Times New Roman"/>
                <a:cs typeface="Times New Roman"/>
              </a:rPr>
              <a:t>seperti </a:t>
            </a:r>
            <a:r>
              <a:rPr sz="1200" spc="-5" dirty="0">
                <a:latin typeface="Times New Roman"/>
                <a:cs typeface="Times New Roman"/>
              </a:rPr>
              <a:t>APL, </a:t>
            </a:r>
            <a:r>
              <a:rPr sz="1200" dirty="0">
                <a:latin typeface="Times New Roman"/>
                <a:cs typeface="Times New Roman"/>
              </a:rPr>
              <a:t>yang </a:t>
            </a:r>
            <a:r>
              <a:rPr sz="1200" spc="-5" dirty="0">
                <a:latin typeface="Times New Roman"/>
                <a:cs typeface="Times New Roman"/>
              </a:rPr>
              <a:t>menawarkan </a:t>
            </a:r>
            <a:r>
              <a:rPr sz="1200" dirty="0">
                <a:latin typeface="Times New Roman"/>
                <a:cs typeface="Times New Roman"/>
              </a:rPr>
              <a:t>kesingkatan dan daya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melebihi </a:t>
            </a:r>
            <a:r>
              <a:rPr sz="1200" dirty="0">
                <a:latin typeface="Times New Roman"/>
                <a:cs typeface="Times New Roman"/>
              </a:rPr>
              <a:t>apa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dilakukan oleh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bahasa konversional.</a:t>
            </a:r>
            <a:endParaRPr sz="1200">
              <a:latin typeface="Times New Roman"/>
              <a:cs typeface="Times New Roman"/>
            </a:endParaRPr>
          </a:p>
          <a:p>
            <a:pPr marL="279400" indent="-267335" algn="just">
              <a:lnSpc>
                <a:spcPts val="1315"/>
              </a:lnSpc>
              <a:buAutoNum type="arabicPeriod" startAt="3"/>
              <a:tabLst>
                <a:tab pos="280035" algn="l"/>
              </a:tabLst>
            </a:pPr>
            <a:r>
              <a:rPr sz="1200" dirty="0">
                <a:latin typeface="Times New Roman"/>
                <a:cs typeface="Times New Roman"/>
              </a:rPr>
              <a:t>Generator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menghasilkan</a:t>
            </a:r>
            <a:r>
              <a:rPr sz="1200" dirty="0">
                <a:latin typeface="Times New Roman"/>
                <a:cs typeface="Times New Roman"/>
              </a:rPr>
              <a:t> program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inventarisasi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 penggajian tanpa </a:t>
            </a:r>
            <a:r>
              <a:rPr sz="1200" spc="-5" dirty="0">
                <a:latin typeface="Times New Roman"/>
                <a:cs typeface="Times New Roman"/>
              </a:rPr>
              <a:t>pemograman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2997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30300" y="889507"/>
            <a:ext cx="5513070" cy="248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7335">
              <a:lnSpc>
                <a:spcPts val="1410"/>
              </a:lnSpc>
              <a:spcBef>
                <a:spcPts val="100"/>
              </a:spcBef>
              <a:buAutoNum type="arabicPeriod" startAt="4"/>
              <a:tabLst>
                <a:tab pos="279400" algn="l"/>
                <a:tab pos="280035" algn="l"/>
              </a:tabLst>
            </a:pP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dirancang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khusus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membuat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laporan</a:t>
            </a:r>
            <a:endParaRPr sz="1200">
              <a:latin typeface="Times New Roman"/>
              <a:cs typeface="Times New Roman"/>
            </a:endParaRPr>
          </a:p>
          <a:p>
            <a:pPr marL="279400" indent="-267335">
              <a:lnSpc>
                <a:spcPts val="1380"/>
              </a:lnSpc>
              <a:buAutoNum type="arabicPeriod" startAt="5"/>
              <a:tabLst>
                <a:tab pos="279400" algn="l"/>
                <a:tab pos="280035" algn="l"/>
              </a:tabLst>
            </a:pPr>
            <a:r>
              <a:rPr sz="1200" dirty="0">
                <a:latin typeface="Times New Roman"/>
                <a:cs typeface="Times New Roman"/>
              </a:rPr>
              <a:t>Generator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Grafik</a:t>
            </a:r>
            <a:endParaRPr sz="1200">
              <a:latin typeface="Times New Roman"/>
              <a:cs typeface="Times New Roman"/>
            </a:endParaRPr>
          </a:p>
          <a:p>
            <a:pPr marL="12700" marR="571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Graph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generator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generator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grafik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disebut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graphics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5" dirty="0">
                <a:latin typeface="Times New Roman"/>
                <a:cs typeface="Times New Roman"/>
              </a:rPr>
              <a:t> menampilkan</a:t>
            </a:r>
            <a:r>
              <a:rPr sz="1200" dirty="0">
                <a:latin typeface="Times New Roman"/>
                <a:cs typeface="Times New Roman"/>
              </a:rPr>
              <a:t> atau </a:t>
            </a:r>
            <a:r>
              <a:rPr sz="1200" spc="-5" dirty="0">
                <a:latin typeface="Times New Roman"/>
                <a:cs typeface="Times New Roman"/>
              </a:rPr>
              <a:t>mencetak</a:t>
            </a:r>
            <a:r>
              <a:rPr sz="1200" dirty="0">
                <a:latin typeface="Times New Roman"/>
                <a:cs typeface="Times New Roman"/>
              </a:rPr>
              <a:t> data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berbagai </a:t>
            </a:r>
            <a:r>
              <a:rPr sz="1200" spc="-5" dirty="0">
                <a:latin typeface="Times New Roman"/>
                <a:cs typeface="Times New Roman"/>
              </a:rPr>
              <a:t>macam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 grafik.</a:t>
            </a:r>
            <a:endParaRPr sz="1200">
              <a:latin typeface="Times New Roman"/>
              <a:cs typeface="Times New Roman"/>
            </a:endParaRPr>
          </a:p>
          <a:p>
            <a:pPr marL="279400" indent="-267335">
              <a:lnSpc>
                <a:spcPts val="1315"/>
              </a:lnSpc>
              <a:buAutoNum type="arabicPeriod" startAt="6"/>
              <a:tabLst>
                <a:tab pos="278765" algn="l"/>
                <a:tab pos="280035" algn="l"/>
              </a:tabLst>
            </a:pP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bahasa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memungkinkan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kita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menampilkan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berbagai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bentuk Kriteria.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-5" dirty="0">
                <a:latin typeface="Times New Roman"/>
                <a:cs typeface="Times New Roman"/>
              </a:rPr>
              <a:t>SISTEM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PENUNJANG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KEPUTUSAN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KELOMPOK</a:t>
            </a:r>
            <a:endParaRPr sz="1200">
              <a:latin typeface="Times New Roman"/>
              <a:cs typeface="Times New Roman"/>
            </a:endParaRPr>
          </a:p>
          <a:p>
            <a:pPr marL="12700" marR="5080" algn="r">
              <a:lnSpc>
                <a:spcPts val="1380"/>
              </a:lnSpc>
              <a:spcBef>
                <a:spcPts val="65"/>
              </a:spcBef>
            </a:pPr>
            <a:r>
              <a:rPr sz="1200" spc="-5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penunjang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kelompok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(GDSS)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ialah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kombinasi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Komputer,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komunikasi,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teknologi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keputusan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 </a:t>
            </a:r>
            <a:r>
              <a:rPr sz="1200" spc="-5" dirty="0">
                <a:latin typeface="Times New Roman"/>
                <a:cs typeface="Times New Roman"/>
              </a:rPr>
              <a:t>menemukan,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merumuskan,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memecahkan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masalah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pertemuan kelompok.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Tujuan</a:t>
            </a:r>
            <a:r>
              <a:rPr sz="1200" spc="-5" dirty="0">
                <a:latin typeface="Times New Roman"/>
                <a:cs typeface="Times New Roman"/>
              </a:rPr>
              <a:t> GDSS</a:t>
            </a:r>
            <a:r>
              <a:rPr sz="1200" dirty="0">
                <a:latin typeface="Times New Roman"/>
                <a:cs typeface="Times New Roman"/>
              </a:rPr>
              <a:t> adalah untuk pertukaran ide,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opini,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5" dirty="0">
                <a:latin typeface="Times New Roman"/>
                <a:cs typeface="Times New Roman"/>
              </a:rPr>
              <a:t> preferensi</a:t>
            </a:r>
            <a:r>
              <a:rPr sz="1200" dirty="0">
                <a:latin typeface="Times New Roman"/>
                <a:cs typeface="Times New Roman"/>
              </a:rPr>
              <a:t> dalam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kelompok.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6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1519</Words>
  <Application>Microsoft Office PowerPoint</Application>
  <PresentationFormat>Custom</PresentationFormat>
  <Paragraphs>114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spk.doc</dc:title>
  <dc:creator>yohanes ari</dc:creator>
  <cp:lastModifiedBy>Windows User</cp:lastModifiedBy>
  <cp:revision>2</cp:revision>
  <dcterms:created xsi:type="dcterms:W3CDTF">2021-08-24T12:48:14Z</dcterms:created>
  <dcterms:modified xsi:type="dcterms:W3CDTF">2021-08-27T23:19:14Z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2007-04-02T00:00:00Z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2021-08-24T00:00:00Z</vt:filetime>
  </property>
</Properties>
</file>