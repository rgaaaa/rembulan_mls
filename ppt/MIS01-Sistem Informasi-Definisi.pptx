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3" r:id="rId5"/>
    <p:sldMasterId id="2147483655" r:id="rId6"/>
    <p:sldMasterId id="2147483657" r:id="rId7"/>
    <p:sldMasterId id="2147483659" r:id="rId8"/>
    <p:sldMasterId id="2147483661" r:id="rId9"/>
    <p:sldMasterId id="2147483669" r:id="rId10"/>
    <p:sldMasterId id="2147483671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y="6858000" cx="9144000"/>
  <p:notesSz cx="9144000" cy="6858000"/>
  <p:embeddedFontLst>
    <p:embeddedFont>
      <p:font typeface="Tahoma"/>
      <p:regular r:id="rId30"/>
      <p:bold r:id="rId31"/>
    </p:embeddedFont>
    <p:embeddedFont>
      <p:font typeface="Noto Sans Symbols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gn9BAsQ0dxr9LLxT2F1qKXLn8r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1" Type="http://schemas.openxmlformats.org/officeDocument/2006/relationships/theme" Target="theme/theme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7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Master" Target="slideMasters/slideMaster8.xml"/><Relationship Id="rId33" Type="http://schemas.openxmlformats.org/officeDocument/2006/relationships/font" Target="fonts/NotoSansSymbols-bold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NotoSansSymbols-regular.fntdata"/><Relationship Id="rId1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34" Type="http://customschemas.google.com/relationships/presentationmetadata" Target="metadata"/><Relationship Id="rId15" Type="http://schemas.openxmlformats.org/officeDocument/2006/relationships/slide" Target="slides/slide3.xml"/><Relationship Id="rId14" Type="http://schemas.openxmlformats.org/officeDocument/2006/relationships/slide" Target="slides/slide2.xml"/><Relationship Id="rId17" Type="http://schemas.openxmlformats.org/officeDocument/2006/relationships/slide" Target="slides/slide5.xml"/><Relationship Id="rId16" Type="http://schemas.openxmlformats.org/officeDocument/2006/relationships/slide" Target="slides/slide4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ahoma"/>
              <a:buNone/>
              <a:defRPr b="1" i="0" sz="6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ahoma"/>
              <a:buNone/>
              <a:defRPr b="1" i="0" sz="6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334111" y="1838325"/>
            <a:ext cx="8475776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1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33"/>
          <p:cNvCxnSpPr/>
          <p:nvPr/>
        </p:nvCxnSpPr>
        <p:spPr>
          <a:xfrm>
            <a:off x="0" y="683288"/>
            <a:ext cx="464233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34"/>
          <p:cNvCxnSpPr/>
          <p:nvPr/>
        </p:nvCxnSpPr>
        <p:spPr>
          <a:xfrm>
            <a:off x="4501662" y="683288"/>
            <a:ext cx="464233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" name="Google Shape;88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35"/>
          <p:cNvCxnSpPr/>
          <p:nvPr/>
        </p:nvCxnSpPr>
        <p:spPr>
          <a:xfrm>
            <a:off x="0" y="683288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3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6"/>
          <p:cNvSpPr/>
          <p:nvPr/>
        </p:nvSpPr>
        <p:spPr>
          <a:xfrm>
            <a:off x="0" y="0"/>
            <a:ext cx="9144000" cy="1085222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7"/>
          <p:cNvSpPr/>
          <p:nvPr/>
        </p:nvSpPr>
        <p:spPr>
          <a:xfrm>
            <a:off x="0" y="80391"/>
            <a:ext cx="9144000" cy="63304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8"/>
          <p:cNvSpPr/>
          <p:nvPr/>
        </p:nvSpPr>
        <p:spPr>
          <a:xfrm>
            <a:off x="0" y="60293"/>
            <a:ext cx="9144000" cy="45719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0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10" Type="http://schemas.openxmlformats.org/officeDocument/2006/relationships/theme" Target="../theme/theme7.xml"/><Relationship Id="rId9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6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2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9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6.xml"/><Relationship Id="rId4" Type="http://schemas.openxmlformats.org/officeDocument/2006/relationships/theme" Target="../theme/theme5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22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7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4731" y="38925"/>
            <a:ext cx="83946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8"/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6264" y="0"/>
            <a:ext cx="1607736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8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5441" y="6422940"/>
            <a:ext cx="339764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32" y="6419058"/>
            <a:ext cx="285368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8"/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82997" y="6412027"/>
            <a:ext cx="486272" cy="4587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/>
          <p:nvPr/>
        </p:nvSpPr>
        <p:spPr>
          <a:xfrm rot="-5400000">
            <a:off x="7421965" y="5135961"/>
            <a:ext cx="1884065" cy="1560008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2"/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2"/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24379" y="5725289"/>
            <a:ext cx="781941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0436" y="5864994"/>
            <a:ext cx="1052616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2"/>
          <p:cNvSpPr txBox="1"/>
          <p:nvPr/>
        </p:nvSpPr>
        <p:spPr>
          <a:xfrm>
            <a:off x="2924071" y="2622620"/>
            <a:ext cx="3896249" cy="715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sz="4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" name="Google Shape;45;p25"/>
          <p:cNvSpPr/>
          <p:nvPr/>
        </p:nvSpPr>
        <p:spPr>
          <a:xfrm>
            <a:off x="0" y="6360608"/>
            <a:ext cx="9144000" cy="497393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535441" y="6422940"/>
            <a:ext cx="339764" cy="439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732" y="6419058"/>
            <a:ext cx="285368" cy="38049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5"/>
          <p:cNvSpPr txBox="1"/>
          <p:nvPr/>
        </p:nvSpPr>
        <p:spPr>
          <a:xfrm>
            <a:off x="360100" y="6412026"/>
            <a:ext cx="1345223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InfoTI_unpam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5"/>
          <p:cNvSpPr txBox="1"/>
          <p:nvPr/>
        </p:nvSpPr>
        <p:spPr>
          <a:xfrm>
            <a:off x="1895542" y="6412026"/>
            <a:ext cx="202331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informatika.unpam.ac.id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2997" y="6412027"/>
            <a:ext cx="486272" cy="4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8692" y="6366986"/>
            <a:ext cx="384305" cy="4973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/>
          <p:nvPr/>
        </p:nvSpPr>
        <p:spPr>
          <a:xfrm rot="-5400000">
            <a:off x="7421965" y="5135961"/>
            <a:ext cx="1884065" cy="1560008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7"/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7"/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24379" y="5725289"/>
            <a:ext cx="781941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0436" y="5864994"/>
            <a:ext cx="1052616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7"/>
          <p:cNvSpPr/>
          <p:nvPr/>
        </p:nvSpPr>
        <p:spPr>
          <a:xfrm>
            <a:off x="0" y="2582427"/>
            <a:ext cx="9144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743200" y="2057400"/>
            <a:ext cx="36576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9"/>
          <p:cNvSpPr/>
          <p:nvPr/>
        </p:nvSpPr>
        <p:spPr>
          <a:xfrm rot="-5400000">
            <a:off x="7421965" y="5135961"/>
            <a:ext cx="1884065" cy="1560008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9"/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9"/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4379" y="5725289"/>
            <a:ext cx="781941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436" y="5864994"/>
            <a:ext cx="1052616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9"/>
          <p:cNvSpPr/>
          <p:nvPr/>
        </p:nvSpPr>
        <p:spPr>
          <a:xfrm>
            <a:off x="0" y="1"/>
            <a:ext cx="9144000" cy="646385"/>
          </a:xfrm>
          <a:prstGeom prst="flowChartProcess">
            <a:avLst/>
          </a:prstGeom>
          <a:solidFill>
            <a:schemeClr val="accent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TERIMA KASIH, MAHASISWA TEKNIK INFORMATIKA UNGGUL, ANDA SUDAH BELAJAR DENGAN LUAR BIASA</a:t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1"/>
          <p:cNvSpPr/>
          <p:nvPr/>
        </p:nvSpPr>
        <p:spPr>
          <a:xfrm rot="-5400000">
            <a:off x="7421965" y="5135961"/>
            <a:ext cx="1884065" cy="1560008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1"/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1"/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24379" y="5725289"/>
            <a:ext cx="781941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90436" y="5864994"/>
            <a:ext cx="1052616" cy="993004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3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9"/>
          <p:cNvSpPr/>
          <p:nvPr/>
        </p:nvSpPr>
        <p:spPr>
          <a:xfrm>
            <a:off x="0" y="1"/>
            <a:ext cx="9144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3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4731" y="38925"/>
            <a:ext cx="839462" cy="10864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9"/>
          <p:cNvSpPr txBox="1"/>
          <p:nvPr/>
        </p:nvSpPr>
        <p:spPr>
          <a:xfrm>
            <a:off x="914194" y="166671"/>
            <a:ext cx="441457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S1 TEKNIK INFORMATIKA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UNIVERSITAS PAMULANG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6264" y="0"/>
            <a:ext cx="1607736" cy="120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9"/>
          <p:cNvSpPr txBox="1"/>
          <p:nvPr>
            <p:ph type="title"/>
          </p:nvPr>
        </p:nvSpPr>
        <p:spPr>
          <a:xfrm>
            <a:off x="628650" y="1204467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7" name="Google Shape;107;p39"/>
          <p:cNvSpPr txBox="1"/>
          <p:nvPr>
            <p:ph idx="1" type="body"/>
          </p:nvPr>
        </p:nvSpPr>
        <p:spPr>
          <a:xfrm>
            <a:off x="628650" y="2329881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1"/>
          <p:cNvSpPr/>
          <p:nvPr/>
        </p:nvSpPr>
        <p:spPr>
          <a:xfrm rot="-5400000">
            <a:off x="7421965" y="5135961"/>
            <a:ext cx="1884065" cy="1560008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1"/>
          <p:cNvSpPr/>
          <p:nvPr/>
        </p:nvSpPr>
        <p:spPr>
          <a:xfrm>
            <a:off x="0" y="6211615"/>
            <a:ext cx="9144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Studi Teknik Informatika, Universitas Pamulang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1"/>
          <p:cNvSpPr/>
          <p:nvPr/>
        </p:nvSpPr>
        <p:spPr>
          <a:xfrm>
            <a:off x="0" y="5074416"/>
            <a:ext cx="1198266" cy="1783584"/>
          </a:xfrm>
          <a:prstGeom prst="rtTriangle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24379" y="5725289"/>
            <a:ext cx="781941" cy="10120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0436" y="5864994"/>
            <a:ext cx="1052616" cy="99300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18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Relationship Id="rId4" Type="http://schemas.openxmlformats.org/officeDocument/2006/relationships/image" Target="../media/image2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"/>
          <p:cNvSpPr txBox="1"/>
          <p:nvPr>
            <p:ph type="title"/>
          </p:nvPr>
        </p:nvSpPr>
        <p:spPr>
          <a:xfrm>
            <a:off x="1172845" y="2684461"/>
            <a:ext cx="6798309" cy="148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-1119505" lvl="0" marL="113157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Georgia"/>
              <a:buNone/>
            </a:pPr>
            <a:r>
              <a:rPr lang="en-US" sz="4800">
                <a:latin typeface="Georgia"/>
                <a:ea typeface="Georgia"/>
                <a:cs typeface="Georgia"/>
                <a:sym typeface="Georgia"/>
              </a:rPr>
              <a:t>SISTEM	INFORMASI  MANAJEMEN</a:t>
            </a:r>
            <a:endParaRPr sz="48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title"/>
          </p:nvPr>
        </p:nvSpPr>
        <p:spPr>
          <a:xfrm>
            <a:off x="460044" y="1927160"/>
            <a:ext cx="2341880" cy="512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lang="en-US" sz="3200"/>
              <a:t>PENILAIAN</a:t>
            </a:r>
            <a:endParaRPr sz="3200"/>
          </a:p>
        </p:txBody>
      </p:sp>
      <p:sp>
        <p:nvSpPr>
          <p:cNvPr id="130" name="Google Shape;130;p2"/>
          <p:cNvSpPr txBox="1"/>
          <p:nvPr/>
        </p:nvSpPr>
        <p:spPr>
          <a:xfrm>
            <a:off x="474065" y="2954020"/>
            <a:ext cx="1463040" cy="2075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ABSEN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TUGAS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UTS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UAS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2303779" y="2789569"/>
            <a:ext cx="4418965" cy="2075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10 %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5080" rtl="0" algn="l">
              <a:lnSpc>
                <a:spcPct val="143892"/>
              </a:lnSpc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20% (Individu &amp; Kelompok)  30%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40%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 txBox="1"/>
          <p:nvPr>
            <p:ph type="title"/>
          </p:nvPr>
        </p:nvSpPr>
        <p:spPr>
          <a:xfrm>
            <a:off x="460044" y="1316100"/>
            <a:ext cx="3201035" cy="45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BUKU REFERENSI</a:t>
            </a:r>
            <a:endParaRPr sz="2800"/>
          </a:p>
        </p:txBody>
      </p:sp>
      <p:sp>
        <p:nvSpPr>
          <p:cNvPr id="137" name="Google Shape;137;p3"/>
          <p:cNvSpPr txBox="1"/>
          <p:nvPr>
            <p:ph idx="1" type="body"/>
          </p:nvPr>
        </p:nvSpPr>
        <p:spPr>
          <a:xfrm>
            <a:off x="334111" y="2849880"/>
            <a:ext cx="8475776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225">
            <a:spAutoFit/>
          </a:bodyPr>
          <a:lstStyle/>
          <a:p>
            <a:pPr indent="-609600" lvl="0" marL="688975" marR="169545" rtl="0" algn="l">
              <a:lnSpc>
                <a:spcPct val="974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/>
              <a:t>Laudon, Kenneth C. dan Jane P. Laudon.,  </a:t>
            </a:r>
            <a:r>
              <a:rPr i="1" lang="en-US" sz="2500">
                <a:latin typeface="Verdana"/>
                <a:ea typeface="Verdana"/>
                <a:cs typeface="Verdana"/>
                <a:sym typeface="Verdana"/>
              </a:rPr>
              <a:t>Management Information Systems: Managing the  Digital Firm., </a:t>
            </a:r>
            <a:r>
              <a:rPr lang="en-US"/>
              <a:t>ed 11, Pearson Prentice Hall, New  Jersey, 2008.</a:t>
            </a:r>
            <a:endParaRPr sz="2500">
              <a:latin typeface="Verdana"/>
              <a:ea typeface="Verdana"/>
              <a:cs typeface="Verdana"/>
              <a:sym typeface="Verdana"/>
            </a:endParaRPr>
          </a:p>
          <a:p>
            <a:pPr indent="0" lvl="0" marL="66675" rt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Tahoma"/>
              <a:buNone/>
            </a:pPr>
            <a:r>
              <a:t/>
            </a:r>
            <a:endParaRPr sz="2900"/>
          </a:p>
          <a:p>
            <a:pPr indent="-609600" lvl="0" marL="688975" marR="5080" rtl="0" algn="l">
              <a:lnSpc>
                <a:spcPct val="115200"/>
              </a:lnSpc>
              <a:spcBef>
                <a:spcPts val="17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/>
              <a:t>O’Brien, James A dan George M. Marakas,  </a:t>
            </a:r>
            <a:r>
              <a:rPr i="1" lang="en-US" sz="2500">
                <a:latin typeface="Verdana"/>
                <a:ea typeface="Verdana"/>
                <a:cs typeface="Verdana"/>
                <a:sym typeface="Verdana"/>
              </a:rPr>
              <a:t>Management Information Systems., </a:t>
            </a:r>
            <a:r>
              <a:rPr lang="en-US"/>
              <a:t>ed. 8, McGraw  Hill/Irwin, New York, 2009.</a:t>
            </a:r>
            <a:endParaRPr sz="25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"/>
          <p:cNvSpPr txBox="1"/>
          <p:nvPr>
            <p:ph type="title"/>
          </p:nvPr>
        </p:nvSpPr>
        <p:spPr>
          <a:xfrm>
            <a:off x="1354582" y="642950"/>
            <a:ext cx="755205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050">
            <a:spAutoFit/>
          </a:bodyPr>
          <a:lstStyle/>
          <a:p>
            <a:pPr indent="181419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lang="en-US" sz="3200"/>
              <a:t>SISTEM INFORMASI DALAM  KEGIATAN BISNIS GLOBAL SAAT INI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460044" y="1066800"/>
            <a:ext cx="8500745" cy="39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lang="en-US" sz="2400"/>
              <a:t>BAGAIMANA SISTEM INFORMASI MENGUBAH BISNIS ?</a:t>
            </a:r>
            <a:endParaRPr/>
          </a:p>
        </p:txBody>
      </p:sp>
      <p:sp>
        <p:nvSpPr>
          <p:cNvPr id="148" name="Google Shape;148;p5"/>
          <p:cNvSpPr txBox="1"/>
          <p:nvPr/>
        </p:nvSpPr>
        <p:spPr>
          <a:xfrm>
            <a:off x="460044" y="1336866"/>
            <a:ext cx="8189595" cy="500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Fakta :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99568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Lihat perubahan cara Perusahaan mengelola bisnis  sekarang.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13455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Semakin banyak data telepon seluler VS telepon  konvensional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Perangkat HP, Blackberry, Smart phone, email, Blog,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teleconference menjadi sangat penting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Tahun 2005 -&gt; 40 Juta memiliki situs Internet terintegrasi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13017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 Juta Orang Amerika membeli sesuatu di Internet setiap  hari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 Juta orang melakukan riset produk di internet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E-commerce dan Iklan via internet mengalami ledakan.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/>
        </p:nvSpPr>
        <p:spPr>
          <a:xfrm>
            <a:off x="304800" y="1143000"/>
            <a:ext cx="8263890" cy="496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20853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Mengapa Sistem Informasi Sangat  penting saat ini ?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2127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Sistem Informasi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merupakan dasar bagi jalannya  bisnis saat ini</a:t>
            </a:r>
            <a:endParaRPr/>
          </a:p>
          <a:p>
            <a:pPr indent="-344805" lvl="0" marL="356870" marR="435609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Sistem informasi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menjadi sangat penting dalam  membantu perusahan dalam </a:t>
            </a: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Ekonomi Global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Organisasi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mengubah dirinya menjadi </a:t>
            </a: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perusahaan  digital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yang menggunakan Teknologi digital dalam  hal proses bisnis Inti, hubungan pelanggan,  pemasok dan karyawan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 txBox="1"/>
          <p:nvPr/>
        </p:nvSpPr>
        <p:spPr>
          <a:xfrm>
            <a:off x="460044" y="52781"/>
            <a:ext cx="7389495" cy="4364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88201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TUJUAN BISNIS STRATEGIS SISTEM  INFORMASI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Keunggulan Operasional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Produk, Jasa dan Model Bisnis Baru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Hubungan Pelanggan dan Pemasok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Pengambilan Keputusan yang Semakin Baik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Keunggulan Kompetitif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15619" lvl="0" marL="527685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AutoNum type="arabicPeriod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Kelangsungan Usaha dari hari ke hari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/>
        </p:nvSpPr>
        <p:spPr>
          <a:xfrm>
            <a:off x="304800" y="2082723"/>
            <a:ext cx="8740775" cy="1301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marR="5080" rtl="0" algn="just">
              <a:lnSpc>
                <a:spcPct val="99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3399"/>
                </a:solidFill>
                <a:latin typeface="Tahoma"/>
                <a:ea typeface="Tahoma"/>
                <a:cs typeface="Tahoma"/>
                <a:sym typeface="Tahoma"/>
              </a:rPr>
              <a:t>S.I. menjadi andalan dalam mempertahankan  keberlangsungan perusahaan dan pencapaian tujuan-  tujuan strategis </a:t>
            </a:r>
            <a:r>
              <a:rPr lang="en-US" sz="2800">
                <a:solidFill>
                  <a:srgbClr val="003399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800">
                <a:solidFill>
                  <a:srgbClr val="0033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003399"/>
                </a:solidFill>
                <a:latin typeface="Tahoma"/>
                <a:ea typeface="Tahoma"/>
                <a:cs typeface="Tahoma"/>
                <a:sym typeface="Tahoma"/>
              </a:rPr>
              <a:t>ada ketergantungan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377952" y="1219200"/>
            <a:ext cx="6123940" cy="574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PERAN S.I. DALAM BISNIS</a:t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type="title"/>
          </p:nvPr>
        </p:nvSpPr>
        <p:spPr>
          <a:xfrm>
            <a:off x="413840" y="1058989"/>
            <a:ext cx="5538470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APAKAH SISTEM INFORMASI ?</a:t>
            </a:r>
            <a:endParaRPr sz="2800"/>
          </a:p>
        </p:txBody>
      </p:sp>
      <p:grpSp>
        <p:nvGrpSpPr>
          <p:cNvPr id="170" name="Google Shape;170;p9"/>
          <p:cNvGrpSpPr/>
          <p:nvPr/>
        </p:nvGrpSpPr>
        <p:grpSpPr>
          <a:xfrm>
            <a:off x="1428750" y="4000500"/>
            <a:ext cx="6294882" cy="1863852"/>
            <a:chOff x="1428750" y="4000500"/>
            <a:chExt cx="6294882" cy="1863852"/>
          </a:xfrm>
        </p:grpSpPr>
        <p:pic>
          <p:nvPicPr>
            <p:cNvPr id="171" name="Google Shape;171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502664" y="4075176"/>
              <a:ext cx="6220968" cy="1789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8384" y="4175760"/>
              <a:ext cx="6129527" cy="1301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9"/>
            <p:cNvSpPr/>
            <p:nvPr/>
          </p:nvSpPr>
          <p:spPr>
            <a:xfrm>
              <a:off x="1428750" y="4000500"/>
              <a:ext cx="6215380" cy="1786255"/>
            </a:xfrm>
            <a:custGeom>
              <a:rect b="b" l="l" r="r" t="t"/>
              <a:pathLst>
                <a:path extrusionOk="0" h="1786254" w="6215380">
                  <a:moveTo>
                    <a:pt x="5917438" y="0"/>
                  </a:moveTo>
                  <a:lnTo>
                    <a:pt x="297688" y="0"/>
                  </a:lnTo>
                  <a:lnTo>
                    <a:pt x="249387" y="3894"/>
                  </a:lnTo>
                  <a:lnTo>
                    <a:pt x="203573" y="15170"/>
                  </a:lnTo>
                  <a:lnTo>
                    <a:pt x="160858" y="33216"/>
                  </a:lnTo>
                  <a:lnTo>
                    <a:pt x="121852" y="57420"/>
                  </a:lnTo>
                  <a:lnTo>
                    <a:pt x="87169" y="87169"/>
                  </a:lnTo>
                  <a:lnTo>
                    <a:pt x="57420" y="121852"/>
                  </a:lnTo>
                  <a:lnTo>
                    <a:pt x="33216" y="160858"/>
                  </a:lnTo>
                  <a:lnTo>
                    <a:pt x="15170" y="203573"/>
                  </a:lnTo>
                  <a:lnTo>
                    <a:pt x="3894" y="249387"/>
                  </a:lnTo>
                  <a:lnTo>
                    <a:pt x="0" y="297688"/>
                  </a:lnTo>
                  <a:lnTo>
                    <a:pt x="0" y="1488313"/>
                  </a:lnTo>
                  <a:lnTo>
                    <a:pt x="3894" y="1536583"/>
                  </a:lnTo>
                  <a:lnTo>
                    <a:pt x="15170" y="1582376"/>
                  </a:lnTo>
                  <a:lnTo>
                    <a:pt x="33216" y="1625078"/>
                  </a:lnTo>
                  <a:lnTo>
                    <a:pt x="57420" y="1664076"/>
                  </a:lnTo>
                  <a:lnTo>
                    <a:pt x="87169" y="1698756"/>
                  </a:lnTo>
                  <a:lnTo>
                    <a:pt x="121852" y="1728506"/>
                  </a:lnTo>
                  <a:lnTo>
                    <a:pt x="160858" y="1752712"/>
                  </a:lnTo>
                  <a:lnTo>
                    <a:pt x="203573" y="1770762"/>
                  </a:lnTo>
                  <a:lnTo>
                    <a:pt x="249387" y="1782041"/>
                  </a:lnTo>
                  <a:lnTo>
                    <a:pt x="297688" y="1785937"/>
                  </a:lnTo>
                  <a:lnTo>
                    <a:pt x="5917438" y="1785937"/>
                  </a:lnTo>
                  <a:lnTo>
                    <a:pt x="5965703" y="1782041"/>
                  </a:lnTo>
                  <a:lnTo>
                    <a:pt x="6011490" y="1770762"/>
                  </a:lnTo>
                  <a:lnTo>
                    <a:pt x="6054184" y="1752712"/>
                  </a:lnTo>
                  <a:lnTo>
                    <a:pt x="6093173" y="1728506"/>
                  </a:lnTo>
                  <a:lnTo>
                    <a:pt x="6127845" y="1698756"/>
                  </a:lnTo>
                  <a:lnTo>
                    <a:pt x="6157586" y="1664076"/>
                  </a:lnTo>
                  <a:lnTo>
                    <a:pt x="6181785" y="1625078"/>
                  </a:lnTo>
                  <a:lnTo>
                    <a:pt x="6199829" y="1582376"/>
                  </a:lnTo>
                  <a:lnTo>
                    <a:pt x="6211104" y="1536583"/>
                  </a:lnTo>
                  <a:lnTo>
                    <a:pt x="6214999" y="1488313"/>
                  </a:lnTo>
                  <a:lnTo>
                    <a:pt x="6214999" y="297688"/>
                  </a:lnTo>
                  <a:lnTo>
                    <a:pt x="6211104" y="249387"/>
                  </a:lnTo>
                  <a:lnTo>
                    <a:pt x="6199829" y="203573"/>
                  </a:lnTo>
                  <a:lnTo>
                    <a:pt x="6181785" y="160858"/>
                  </a:lnTo>
                  <a:lnTo>
                    <a:pt x="6157586" y="121852"/>
                  </a:lnTo>
                  <a:lnTo>
                    <a:pt x="6127845" y="87169"/>
                  </a:lnTo>
                  <a:lnTo>
                    <a:pt x="6093173" y="57420"/>
                  </a:lnTo>
                  <a:lnTo>
                    <a:pt x="6054184" y="33216"/>
                  </a:lnTo>
                  <a:lnTo>
                    <a:pt x="6011490" y="15170"/>
                  </a:lnTo>
                  <a:lnTo>
                    <a:pt x="5965703" y="3894"/>
                  </a:lnTo>
                  <a:lnTo>
                    <a:pt x="5917438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9"/>
          <p:cNvSpPr txBox="1"/>
          <p:nvPr/>
        </p:nvSpPr>
        <p:spPr>
          <a:xfrm>
            <a:off x="1614042" y="4168216"/>
            <a:ext cx="5845810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539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rPr>
              <a:t>Sistem Informasi </a:t>
            </a:r>
            <a:r>
              <a:rPr b="1"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– Kumpulan Hardware,  software, data, Orang,	dan	prosedur	yang  berkerja secara bersama untuk menghasilkan  informasi yang berkualitas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5" name="Google Shape;175;p9"/>
          <p:cNvGrpSpPr/>
          <p:nvPr/>
        </p:nvGrpSpPr>
        <p:grpSpPr>
          <a:xfrm>
            <a:off x="428625" y="1571625"/>
            <a:ext cx="3826382" cy="1832989"/>
            <a:chOff x="428625" y="1571625"/>
            <a:chExt cx="3826382" cy="1832989"/>
          </a:xfrm>
        </p:grpSpPr>
        <p:pic>
          <p:nvPicPr>
            <p:cNvPr id="176" name="Google Shape;176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02919" y="1645919"/>
              <a:ext cx="3752088" cy="17586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97991" y="1837943"/>
              <a:ext cx="3444240" cy="13014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9"/>
            <p:cNvSpPr/>
            <p:nvPr/>
          </p:nvSpPr>
          <p:spPr>
            <a:xfrm>
              <a:off x="428625" y="1571625"/>
              <a:ext cx="3748404" cy="1752600"/>
            </a:xfrm>
            <a:custGeom>
              <a:rect b="b" l="l" r="r" t="t"/>
              <a:pathLst>
                <a:path extrusionOk="0" h="1752600" w="3748404">
                  <a:moveTo>
                    <a:pt x="3455924" y="0"/>
                  </a:moveTo>
                  <a:lnTo>
                    <a:pt x="292100" y="0"/>
                  </a:lnTo>
                  <a:lnTo>
                    <a:pt x="244721" y="3823"/>
                  </a:lnTo>
                  <a:lnTo>
                    <a:pt x="199776" y="14894"/>
                  </a:lnTo>
                  <a:lnTo>
                    <a:pt x="157866" y="32609"/>
                  </a:lnTo>
                  <a:lnTo>
                    <a:pt x="119592" y="56367"/>
                  </a:lnTo>
                  <a:lnTo>
                    <a:pt x="85556" y="85566"/>
                  </a:lnTo>
                  <a:lnTo>
                    <a:pt x="56360" y="119603"/>
                  </a:lnTo>
                  <a:lnTo>
                    <a:pt x="32604" y="157877"/>
                  </a:lnTo>
                  <a:lnTo>
                    <a:pt x="14892" y="199786"/>
                  </a:lnTo>
                  <a:lnTo>
                    <a:pt x="3823" y="244727"/>
                  </a:lnTo>
                  <a:lnTo>
                    <a:pt x="0" y="292100"/>
                  </a:lnTo>
                  <a:lnTo>
                    <a:pt x="0" y="1460500"/>
                  </a:lnTo>
                  <a:lnTo>
                    <a:pt x="3823" y="1507872"/>
                  </a:lnTo>
                  <a:lnTo>
                    <a:pt x="14892" y="1552813"/>
                  </a:lnTo>
                  <a:lnTo>
                    <a:pt x="32604" y="1594722"/>
                  </a:lnTo>
                  <a:lnTo>
                    <a:pt x="56360" y="1632996"/>
                  </a:lnTo>
                  <a:lnTo>
                    <a:pt x="85556" y="1667033"/>
                  </a:lnTo>
                  <a:lnTo>
                    <a:pt x="119592" y="1696232"/>
                  </a:lnTo>
                  <a:lnTo>
                    <a:pt x="157866" y="1719990"/>
                  </a:lnTo>
                  <a:lnTo>
                    <a:pt x="199776" y="1737705"/>
                  </a:lnTo>
                  <a:lnTo>
                    <a:pt x="244721" y="1748776"/>
                  </a:lnTo>
                  <a:lnTo>
                    <a:pt x="292100" y="1752600"/>
                  </a:lnTo>
                  <a:lnTo>
                    <a:pt x="3455924" y="1752600"/>
                  </a:lnTo>
                  <a:lnTo>
                    <a:pt x="3503330" y="1748776"/>
                  </a:lnTo>
                  <a:lnTo>
                    <a:pt x="3548299" y="1737705"/>
                  </a:lnTo>
                  <a:lnTo>
                    <a:pt x="3590229" y="1719990"/>
                  </a:lnTo>
                  <a:lnTo>
                    <a:pt x="3628520" y="1696232"/>
                  </a:lnTo>
                  <a:lnTo>
                    <a:pt x="3662568" y="1667033"/>
                  </a:lnTo>
                  <a:lnTo>
                    <a:pt x="3691775" y="1632996"/>
                  </a:lnTo>
                  <a:lnTo>
                    <a:pt x="3715537" y="1594722"/>
                  </a:lnTo>
                  <a:lnTo>
                    <a:pt x="3733255" y="1552813"/>
                  </a:lnTo>
                  <a:lnTo>
                    <a:pt x="3744326" y="1507872"/>
                  </a:lnTo>
                  <a:lnTo>
                    <a:pt x="3748151" y="1460500"/>
                  </a:lnTo>
                  <a:lnTo>
                    <a:pt x="3748024" y="292100"/>
                  </a:lnTo>
                  <a:lnTo>
                    <a:pt x="3744234" y="244727"/>
                  </a:lnTo>
                  <a:lnTo>
                    <a:pt x="3733190" y="199786"/>
                  </a:lnTo>
                  <a:lnTo>
                    <a:pt x="3715494" y="157877"/>
                  </a:lnTo>
                  <a:lnTo>
                    <a:pt x="3691747" y="119603"/>
                  </a:lnTo>
                  <a:lnTo>
                    <a:pt x="3662553" y="85566"/>
                  </a:lnTo>
                  <a:lnTo>
                    <a:pt x="3628511" y="56367"/>
                  </a:lnTo>
                  <a:lnTo>
                    <a:pt x="3590226" y="32609"/>
                  </a:lnTo>
                  <a:lnTo>
                    <a:pt x="3548298" y="14894"/>
                  </a:lnTo>
                  <a:lnTo>
                    <a:pt x="3503330" y="3823"/>
                  </a:lnTo>
                  <a:lnTo>
                    <a:pt x="3455924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9"/>
          <p:cNvSpPr txBox="1"/>
          <p:nvPr/>
        </p:nvSpPr>
        <p:spPr>
          <a:xfrm>
            <a:off x="763930" y="1828292"/>
            <a:ext cx="3078480" cy="1243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-1904" lvl="0" marL="12065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92E23"/>
                </a:solidFill>
                <a:latin typeface="Tahoma"/>
                <a:ea typeface="Tahoma"/>
                <a:cs typeface="Tahoma"/>
                <a:sym typeface="Tahoma"/>
              </a:rPr>
              <a:t>Sistem </a:t>
            </a:r>
            <a:r>
              <a:rPr b="1"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—Kumpulan  komponen-komponen  yang saling berinteraksi  untuk mencapai tujuan.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0" name="Google Shape;180;p9"/>
          <p:cNvGrpSpPr/>
          <p:nvPr/>
        </p:nvGrpSpPr>
        <p:grpSpPr>
          <a:xfrm>
            <a:off x="4857750" y="1643126"/>
            <a:ext cx="3826002" cy="2078481"/>
            <a:chOff x="4857750" y="1643126"/>
            <a:chExt cx="3826002" cy="2078481"/>
          </a:xfrm>
        </p:grpSpPr>
        <p:pic>
          <p:nvPicPr>
            <p:cNvPr id="181" name="Google Shape;181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931664" y="1716024"/>
              <a:ext cx="3752088" cy="2005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120640" y="1920240"/>
              <a:ext cx="3398519" cy="16062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" name="Google Shape;183;p9"/>
            <p:cNvSpPr/>
            <p:nvPr/>
          </p:nvSpPr>
          <p:spPr>
            <a:xfrm>
              <a:off x="4857750" y="1643126"/>
              <a:ext cx="3748404" cy="2000250"/>
            </a:xfrm>
            <a:custGeom>
              <a:rect b="b" l="l" r="r" t="t"/>
              <a:pathLst>
                <a:path extrusionOk="0" h="2000250" w="3748404">
                  <a:moveTo>
                    <a:pt x="3414649" y="0"/>
                  </a:moveTo>
                  <a:lnTo>
                    <a:pt x="333375" y="0"/>
                  </a:lnTo>
                  <a:lnTo>
                    <a:pt x="284104" y="3613"/>
                  </a:lnTo>
                  <a:lnTo>
                    <a:pt x="237080" y="14112"/>
                  </a:lnTo>
                  <a:lnTo>
                    <a:pt x="192818" y="30979"/>
                  </a:lnTo>
                  <a:lnTo>
                    <a:pt x="151834" y="53700"/>
                  </a:lnTo>
                  <a:lnTo>
                    <a:pt x="114643" y="81760"/>
                  </a:lnTo>
                  <a:lnTo>
                    <a:pt x="81760" y="114643"/>
                  </a:lnTo>
                  <a:lnTo>
                    <a:pt x="53700" y="151834"/>
                  </a:lnTo>
                  <a:lnTo>
                    <a:pt x="30979" y="192818"/>
                  </a:lnTo>
                  <a:lnTo>
                    <a:pt x="14112" y="237080"/>
                  </a:lnTo>
                  <a:lnTo>
                    <a:pt x="3613" y="284104"/>
                  </a:lnTo>
                  <a:lnTo>
                    <a:pt x="0" y="333375"/>
                  </a:lnTo>
                  <a:lnTo>
                    <a:pt x="0" y="1666748"/>
                  </a:lnTo>
                  <a:lnTo>
                    <a:pt x="3613" y="1716021"/>
                  </a:lnTo>
                  <a:lnTo>
                    <a:pt x="14112" y="1763053"/>
                  </a:lnTo>
                  <a:lnTo>
                    <a:pt x="30979" y="1807327"/>
                  </a:lnTo>
                  <a:lnTo>
                    <a:pt x="53700" y="1848326"/>
                  </a:lnTo>
                  <a:lnTo>
                    <a:pt x="81760" y="1885534"/>
                  </a:lnTo>
                  <a:lnTo>
                    <a:pt x="114643" y="1918434"/>
                  </a:lnTo>
                  <a:lnTo>
                    <a:pt x="151834" y="1946511"/>
                  </a:lnTo>
                  <a:lnTo>
                    <a:pt x="192818" y="1969247"/>
                  </a:lnTo>
                  <a:lnTo>
                    <a:pt x="237080" y="1986126"/>
                  </a:lnTo>
                  <a:lnTo>
                    <a:pt x="284104" y="1996633"/>
                  </a:lnTo>
                  <a:lnTo>
                    <a:pt x="333375" y="2000250"/>
                  </a:lnTo>
                  <a:lnTo>
                    <a:pt x="3414649" y="2000250"/>
                  </a:lnTo>
                  <a:lnTo>
                    <a:pt x="3463922" y="1996633"/>
                  </a:lnTo>
                  <a:lnTo>
                    <a:pt x="3510954" y="1986126"/>
                  </a:lnTo>
                  <a:lnTo>
                    <a:pt x="3555228" y="1969247"/>
                  </a:lnTo>
                  <a:lnTo>
                    <a:pt x="3596227" y="1946511"/>
                  </a:lnTo>
                  <a:lnTo>
                    <a:pt x="3633435" y="1918434"/>
                  </a:lnTo>
                  <a:lnTo>
                    <a:pt x="3666335" y="1885534"/>
                  </a:lnTo>
                  <a:lnTo>
                    <a:pt x="3694412" y="1848326"/>
                  </a:lnTo>
                  <a:lnTo>
                    <a:pt x="3717148" y="1807327"/>
                  </a:lnTo>
                  <a:lnTo>
                    <a:pt x="3734027" y="1763053"/>
                  </a:lnTo>
                  <a:lnTo>
                    <a:pt x="3744534" y="1716021"/>
                  </a:lnTo>
                  <a:lnTo>
                    <a:pt x="3748151" y="1666748"/>
                  </a:lnTo>
                  <a:lnTo>
                    <a:pt x="3748024" y="333375"/>
                  </a:lnTo>
                  <a:lnTo>
                    <a:pt x="3744438" y="284104"/>
                  </a:lnTo>
                  <a:lnTo>
                    <a:pt x="3733958" y="237080"/>
                  </a:lnTo>
                  <a:lnTo>
                    <a:pt x="3717099" y="192818"/>
                  </a:lnTo>
                  <a:lnTo>
                    <a:pt x="3694379" y="151834"/>
                  </a:lnTo>
                  <a:lnTo>
                    <a:pt x="3666315" y="114643"/>
                  </a:lnTo>
                  <a:lnTo>
                    <a:pt x="3633423" y="81760"/>
                  </a:lnTo>
                  <a:lnTo>
                    <a:pt x="3596221" y="53700"/>
                  </a:lnTo>
                  <a:lnTo>
                    <a:pt x="3555225" y="30979"/>
                  </a:lnTo>
                  <a:lnTo>
                    <a:pt x="3510954" y="14112"/>
                  </a:lnTo>
                  <a:lnTo>
                    <a:pt x="3463922" y="3613"/>
                  </a:lnTo>
                  <a:lnTo>
                    <a:pt x="3414649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9"/>
          <p:cNvSpPr txBox="1"/>
          <p:nvPr/>
        </p:nvSpPr>
        <p:spPr>
          <a:xfrm>
            <a:off x="5188965" y="1911857"/>
            <a:ext cx="3085465" cy="154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634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92E23"/>
                </a:solidFill>
                <a:latin typeface="Tahoma"/>
                <a:ea typeface="Tahoma"/>
                <a:cs typeface="Tahoma"/>
                <a:sym typeface="Tahoma"/>
              </a:rPr>
              <a:t>Informasi </a:t>
            </a:r>
            <a:r>
              <a:rPr b="1"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—Data yang  telah diolah sehingga  memiliki arti dan dapat  digunakan untuk  pengambilan keputusan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 txBox="1"/>
          <p:nvPr>
            <p:ph type="title"/>
          </p:nvPr>
        </p:nvSpPr>
        <p:spPr>
          <a:xfrm>
            <a:off x="304800" y="990600"/>
            <a:ext cx="7371080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PERSPEKTIF DALAM SISTEM INFORMASI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460044" y="1328992"/>
            <a:ext cx="8374380" cy="51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PERSPEKTIF TEKNIS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135255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 Informasi mengumpulkan, meyimpan dan  menyebarkan informasi dari lingkungan organisasi dan  operasi internal untuk menunjang fungsi organisasi dan  pengambilan keputusan, komunikasi, koordinasi,  pengawasan, analisis dan penggambaran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508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Sistem Informasi mengubah data menjadi informasi  yang berguna melalui tiga kegiatan dasar : input, proses  dan output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PERSPEKTIF BISNIS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16383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Sistem informasi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memberikan solusi atas permasalahan  atau tantangan yang dihadapi oleh perusahaan dan  memberikan nilai ekonomis nyata bagi perusahaan.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 txBox="1"/>
          <p:nvPr>
            <p:ph type="title"/>
          </p:nvPr>
        </p:nvSpPr>
        <p:spPr>
          <a:xfrm>
            <a:off x="556019" y="823785"/>
            <a:ext cx="6405880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TIGA DIMENSI SISTEM INFORMASI</a:t>
            </a:r>
            <a:endParaRPr/>
          </a:p>
        </p:txBody>
      </p:sp>
      <p:grpSp>
        <p:nvGrpSpPr>
          <p:cNvPr id="196" name="Google Shape;196;p11"/>
          <p:cNvGrpSpPr/>
          <p:nvPr/>
        </p:nvGrpSpPr>
        <p:grpSpPr>
          <a:xfrm>
            <a:off x="500062" y="1285875"/>
            <a:ext cx="6910387" cy="4572000"/>
            <a:chOff x="500062" y="1285875"/>
            <a:chExt cx="6910387" cy="4572000"/>
          </a:xfrm>
        </p:grpSpPr>
        <p:pic>
          <p:nvPicPr>
            <p:cNvPr id="197" name="Google Shape;19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86000" y="1285875"/>
              <a:ext cx="5624449" cy="45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11"/>
            <p:cNvSpPr/>
            <p:nvPr/>
          </p:nvSpPr>
          <p:spPr>
            <a:xfrm>
              <a:off x="500062" y="1643125"/>
              <a:ext cx="2858135" cy="1571625"/>
            </a:xfrm>
            <a:custGeom>
              <a:rect b="b" l="l" r="r" t="t"/>
              <a:pathLst>
                <a:path extrusionOk="0" h="1571625" w="2858135">
                  <a:moveTo>
                    <a:pt x="1856676" y="0"/>
                  </a:moveTo>
                  <a:lnTo>
                    <a:pt x="0" y="0"/>
                  </a:lnTo>
                  <a:lnTo>
                    <a:pt x="0" y="1571498"/>
                  </a:lnTo>
                  <a:lnTo>
                    <a:pt x="1856676" y="1571498"/>
                  </a:lnTo>
                  <a:lnTo>
                    <a:pt x="1856676" y="982218"/>
                  </a:lnTo>
                  <a:lnTo>
                    <a:pt x="2464625" y="982218"/>
                  </a:lnTo>
                  <a:lnTo>
                    <a:pt x="2464625" y="1178687"/>
                  </a:lnTo>
                  <a:lnTo>
                    <a:pt x="2857563" y="785749"/>
                  </a:lnTo>
                  <a:lnTo>
                    <a:pt x="2464625" y="392811"/>
                  </a:lnTo>
                  <a:lnTo>
                    <a:pt x="2464625" y="589279"/>
                  </a:lnTo>
                  <a:lnTo>
                    <a:pt x="1856676" y="589279"/>
                  </a:lnTo>
                  <a:lnTo>
                    <a:pt x="1856676" y="0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500062" y="1643125"/>
              <a:ext cx="2858135" cy="1571625"/>
            </a:xfrm>
            <a:custGeom>
              <a:rect b="b" l="l" r="r" t="t"/>
              <a:pathLst>
                <a:path extrusionOk="0" h="1571625" w="2858135">
                  <a:moveTo>
                    <a:pt x="0" y="0"/>
                  </a:moveTo>
                  <a:lnTo>
                    <a:pt x="1856676" y="0"/>
                  </a:lnTo>
                  <a:lnTo>
                    <a:pt x="1856676" y="589279"/>
                  </a:lnTo>
                  <a:lnTo>
                    <a:pt x="2464625" y="589279"/>
                  </a:lnTo>
                  <a:lnTo>
                    <a:pt x="2464625" y="392811"/>
                  </a:lnTo>
                  <a:lnTo>
                    <a:pt x="2857563" y="785749"/>
                  </a:lnTo>
                  <a:lnTo>
                    <a:pt x="2464625" y="1178687"/>
                  </a:lnTo>
                  <a:lnTo>
                    <a:pt x="2464625" y="982218"/>
                  </a:lnTo>
                  <a:lnTo>
                    <a:pt x="1856676" y="982218"/>
                  </a:lnTo>
                  <a:lnTo>
                    <a:pt x="1856676" y="1571498"/>
                  </a:lnTo>
                  <a:lnTo>
                    <a:pt x="0" y="157149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0094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1"/>
          <p:cNvSpPr txBox="1"/>
          <p:nvPr/>
        </p:nvSpPr>
        <p:spPr>
          <a:xfrm>
            <a:off x="507593" y="1733168"/>
            <a:ext cx="1697355" cy="1246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Hirarki Organisasi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Keahlian fungsional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Proses bisnis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Budaya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Kelompok politis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1" name="Google Shape;201;p11"/>
          <p:cNvGrpSpPr/>
          <p:nvPr/>
        </p:nvGrpSpPr>
        <p:grpSpPr>
          <a:xfrm>
            <a:off x="5929376" y="1643126"/>
            <a:ext cx="2714625" cy="1428750"/>
            <a:chOff x="5929376" y="1643126"/>
            <a:chExt cx="2714625" cy="1428750"/>
          </a:xfrm>
        </p:grpSpPr>
        <p:sp>
          <p:nvSpPr>
            <p:cNvPr id="202" name="Google Shape;202;p11"/>
            <p:cNvSpPr/>
            <p:nvPr/>
          </p:nvSpPr>
          <p:spPr>
            <a:xfrm>
              <a:off x="5929376" y="1643126"/>
              <a:ext cx="2714625" cy="1428750"/>
            </a:xfrm>
            <a:custGeom>
              <a:rect b="b" l="l" r="r" t="t"/>
              <a:pathLst>
                <a:path extrusionOk="0" h="1428750" w="2714625">
                  <a:moveTo>
                    <a:pt x="2714625" y="0"/>
                  </a:moveTo>
                  <a:lnTo>
                    <a:pt x="950722" y="0"/>
                  </a:lnTo>
                  <a:lnTo>
                    <a:pt x="950722" y="535686"/>
                  </a:lnTo>
                  <a:lnTo>
                    <a:pt x="357124" y="535686"/>
                  </a:lnTo>
                  <a:lnTo>
                    <a:pt x="357124" y="357124"/>
                  </a:lnTo>
                  <a:lnTo>
                    <a:pt x="0" y="714375"/>
                  </a:lnTo>
                  <a:lnTo>
                    <a:pt x="357124" y="1071499"/>
                  </a:lnTo>
                  <a:lnTo>
                    <a:pt x="357124" y="892937"/>
                  </a:lnTo>
                  <a:lnTo>
                    <a:pt x="950722" y="892937"/>
                  </a:lnTo>
                  <a:lnTo>
                    <a:pt x="950722" y="1428623"/>
                  </a:lnTo>
                  <a:lnTo>
                    <a:pt x="2714625" y="1428623"/>
                  </a:lnTo>
                  <a:lnTo>
                    <a:pt x="2714625" y="0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1"/>
            <p:cNvSpPr/>
            <p:nvPr/>
          </p:nvSpPr>
          <p:spPr>
            <a:xfrm>
              <a:off x="5929376" y="1643126"/>
              <a:ext cx="2714625" cy="1428750"/>
            </a:xfrm>
            <a:custGeom>
              <a:rect b="b" l="l" r="r" t="t"/>
              <a:pathLst>
                <a:path extrusionOk="0" h="1428750" w="2714625">
                  <a:moveTo>
                    <a:pt x="0" y="714375"/>
                  </a:moveTo>
                  <a:lnTo>
                    <a:pt x="357124" y="357124"/>
                  </a:lnTo>
                  <a:lnTo>
                    <a:pt x="357124" y="535686"/>
                  </a:lnTo>
                  <a:lnTo>
                    <a:pt x="950722" y="535686"/>
                  </a:lnTo>
                  <a:lnTo>
                    <a:pt x="950722" y="0"/>
                  </a:lnTo>
                  <a:lnTo>
                    <a:pt x="2714625" y="0"/>
                  </a:lnTo>
                  <a:lnTo>
                    <a:pt x="2714625" y="1428623"/>
                  </a:lnTo>
                  <a:lnTo>
                    <a:pt x="950722" y="1428623"/>
                  </a:lnTo>
                  <a:lnTo>
                    <a:pt x="950722" y="892937"/>
                  </a:lnTo>
                  <a:lnTo>
                    <a:pt x="357124" y="892937"/>
                  </a:lnTo>
                  <a:lnTo>
                    <a:pt x="357124" y="1071499"/>
                  </a:lnTo>
                  <a:lnTo>
                    <a:pt x="0" y="714375"/>
                  </a:lnTo>
                  <a:close/>
                </a:path>
              </a:pathLst>
            </a:custGeom>
            <a:noFill/>
            <a:ln cap="flat" cmpd="sng" w="25400">
              <a:solidFill>
                <a:srgbClr val="0094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1"/>
          <p:cNvSpPr txBox="1"/>
          <p:nvPr/>
        </p:nvSpPr>
        <p:spPr>
          <a:xfrm>
            <a:off x="6939153" y="1733168"/>
            <a:ext cx="1513840" cy="1246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Manajemen Data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Jaringan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3030" lvl="0" marL="12509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Telekomunikasi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5" name="Google Shape;205;p11"/>
          <p:cNvGrpSpPr/>
          <p:nvPr/>
        </p:nvGrpSpPr>
        <p:grpSpPr>
          <a:xfrm>
            <a:off x="3500501" y="5143500"/>
            <a:ext cx="2078355" cy="1428750"/>
            <a:chOff x="3500501" y="5143500"/>
            <a:chExt cx="2078355" cy="1428750"/>
          </a:xfrm>
        </p:grpSpPr>
        <p:sp>
          <p:nvSpPr>
            <p:cNvPr id="206" name="Google Shape;206;p11"/>
            <p:cNvSpPr/>
            <p:nvPr/>
          </p:nvSpPr>
          <p:spPr>
            <a:xfrm>
              <a:off x="3500501" y="5143500"/>
              <a:ext cx="2078355" cy="1428750"/>
            </a:xfrm>
            <a:custGeom>
              <a:rect b="b" l="l" r="r" t="t"/>
              <a:pathLst>
                <a:path extrusionOk="0" h="1428750" w="2078354">
                  <a:moveTo>
                    <a:pt x="1038987" y="0"/>
                  </a:moveTo>
                  <a:lnTo>
                    <a:pt x="681736" y="357250"/>
                  </a:lnTo>
                  <a:lnTo>
                    <a:pt x="860425" y="357250"/>
                  </a:lnTo>
                  <a:lnTo>
                    <a:pt x="860425" y="500392"/>
                  </a:lnTo>
                  <a:lnTo>
                    <a:pt x="0" y="500392"/>
                  </a:lnTo>
                  <a:lnTo>
                    <a:pt x="0" y="1428750"/>
                  </a:lnTo>
                  <a:lnTo>
                    <a:pt x="2077974" y="1428750"/>
                  </a:lnTo>
                  <a:lnTo>
                    <a:pt x="2077974" y="500392"/>
                  </a:lnTo>
                  <a:lnTo>
                    <a:pt x="1217549" y="500392"/>
                  </a:lnTo>
                  <a:lnTo>
                    <a:pt x="1217549" y="357250"/>
                  </a:lnTo>
                  <a:lnTo>
                    <a:pt x="1396111" y="357250"/>
                  </a:lnTo>
                  <a:lnTo>
                    <a:pt x="1038987" y="0"/>
                  </a:lnTo>
                  <a:close/>
                </a:path>
              </a:pathLst>
            </a:custGeom>
            <a:solidFill>
              <a:srgbClr val="00CC9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1"/>
            <p:cNvSpPr/>
            <p:nvPr/>
          </p:nvSpPr>
          <p:spPr>
            <a:xfrm>
              <a:off x="3500501" y="5143500"/>
              <a:ext cx="2078355" cy="1428750"/>
            </a:xfrm>
            <a:custGeom>
              <a:rect b="b" l="l" r="r" t="t"/>
              <a:pathLst>
                <a:path extrusionOk="0" h="1428750" w="2078354">
                  <a:moveTo>
                    <a:pt x="0" y="500392"/>
                  </a:moveTo>
                  <a:lnTo>
                    <a:pt x="860425" y="500392"/>
                  </a:lnTo>
                  <a:lnTo>
                    <a:pt x="860425" y="357250"/>
                  </a:lnTo>
                  <a:lnTo>
                    <a:pt x="681736" y="357250"/>
                  </a:lnTo>
                  <a:lnTo>
                    <a:pt x="1038987" y="0"/>
                  </a:lnTo>
                  <a:lnTo>
                    <a:pt x="1396111" y="357250"/>
                  </a:lnTo>
                  <a:lnTo>
                    <a:pt x="1217549" y="357250"/>
                  </a:lnTo>
                  <a:lnTo>
                    <a:pt x="1217549" y="500392"/>
                  </a:lnTo>
                  <a:lnTo>
                    <a:pt x="2077974" y="500392"/>
                  </a:lnTo>
                  <a:lnTo>
                    <a:pt x="2077974" y="1428750"/>
                  </a:lnTo>
                  <a:lnTo>
                    <a:pt x="0" y="1428750"/>
                  </a:lnTo>
                  <a:lnTo>
                    <a:pt x="0" y="500392"/>
                  </a:lnTo>
                  <a:close/>
                </a:path>
              </a:pathLst>
            </a:custGeom>
            <a:noFill/>
            <a:ln cap="flat" cmpd="sng" w="25400">
              <a:solidFill>
                <a:srgbClr val="0094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1"/>
          <p:cNvSpPr txBox="1"/>
          <p:nvPr/>
        </p:nvSpPr>
        <p:spPr>
          <a:xfrm>
            <a:off x="3580257" y="5761735"/>
            <a:ext cx="1798320" cy="7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Kepemimpinan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8445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Perilaku Manajemen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/>
          <p:nvPr>
            <p:ph type="title"/>
          </p:nvPr>
        </p:nvSpPr>
        <p:spPr>
          <a:xfrm>
            <a:off x="460044" y="1090981"/>
            <a:ext cx="4235450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FUNGSI BISNIS UTAMA</a:t>
            </a:r>
            <a:endParaRPr sz="2800"/>
          </a:p>
        </p:txBody>
      </p:sp>
      <p:sp>
        <p:nvSpPr>
          <p:cNvPr id="214" name="Google Shape;214;p12"/>
          <p:cNvSpPr txBox="1"/>
          <p:nvPr/>
        </p:nvSpPr>
        <p:spPr>
          <a:xfrm>
            <a:off x="460044" y="1317994"/>
            <a:ext cx="8128634" cy="456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PENJUALAN DAN PEMASARAN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Menjual produk dan jasa perusahaan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MANUFAKTUR DAN PRODUKSI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Memproduksi Produk dan Jasa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AKUNTANSI DAN KEUANGAN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583565" rtl="0" algn="l">
              <a:lnSpc>
                <a:spcPct val="100000"/>
              </a:lnSpc>
              <a:spcBef>
                <a:spcPts val="57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Mengelola Aset Keuangan dan Menyimpan catatan  Keuangan Organisasi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0000CC"/>
              </a:buClr>
              <a:buSzPts val="2800"/>
              <a:buFont typeface="Tahoma"/>
              <a:buChar char="•"/>
            </a:pPr>
            <a:r>
              <a:rPr lang="en-US" sz="28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SUMBER DAYA MANUSIA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5080" rtl="0" algn="l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Mencari, Mengembangkan dan Mengelola tenaga kerja  perusahaan, Menyimpan catatan karyawan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799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3"/>
          <p:cNvSpPr txBox="1"/>
          <p:nvPr>
            <p:ph type="title"/>
          </p:nvPr>
        </p:nvSpPr>
        <p:spPr>
          <a:xfrm>
            <a:off x="460044" y="266141"/>
            <a:ext cx="614108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TINGKATAN DALAM PERUSAHAAN</a:t>
            </a:r>
            <a:endParaRPr sz="2800"/>
          </a:p>
        </p:txBody>
      </p:sp>
      <p:pic>
        <p:nvPicPr>
          <p:cNvPr id="221" name="Google Shape;2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1428686"/>
            <a:ext cx="6259449" cy="4500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/>
        </p:nvSpPr>
        <p:spPr>
          <a:xfrm>
            <a:off x="460044" y="2336165"/>
            <a:ext cx="8211820" cy="414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150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MANAJEMEN TINGKAT SENIOR </a:t>
            </a:r>
            <a:r>
              <a:rPr lang="en-US" sz="25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(Senior Management)</a:t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508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Membuat keputusan strategis jangka panjang tentang  produk dan jasa serta memastikan kinerja finansial dari  perusahaan.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MANAJEMEN TINGKAT MENENGAH </a:t>
            </a:r>
            <a:r>
              <a:rPr lang="en-US" sz="25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(Middle Management)</a:t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Menjalankan rencana program dari manajemen senior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948055" rtl="0" algn="l">
              <a:lnSpc>
                <a:spcPct val="115200"/>
              </a:lnSpc>
              <a:spcBef>
                <a:spcPts val="675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MANAJEMEN TINGKAT OPERASIONAL </a:t>
            </a:r>
            <a:r>
              <a:rPr lang="en-US" sz="25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(Operasional  Management)</a:t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196215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Bertanggung jawab untuk mengawasi kegiatan harian  bisnis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14"/>
          <p:cNvSpPr txBox="1"/>
          <p:nvPr>
            <p:ph type="title"/>
          </p:nvPr>
        </p:nvSpPr>
        <p:spPr>
          <a:xfrm>
            <a:off x="460044" y="1076930"/>
            <a:ext cx="6141085" cy="880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TINGKATAN DALAM PERUSAHAAN</a:t>
            </a:r>
            <a:endParaRPr sz="28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(Lanjutan)</a:t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/>
          <p:nvPr>
            <p:ph type="title"/>
          </p:nvPr>
        </p:nvSpPr>
        <p:spPr>
          <a:xfrm>
            <a:off x="460044" y="52781"/>
            <a:ext cx="6141085" cy="880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TINGKATAN DALAM PERUSAHAAN</a:t>
            </a:r>
            <a:endParaRPr sz="28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(Lanjutan)</a:t>
            </a:r>
            <a:endParaRPr sz="2800"/>
          </a:p>
        </p:txBody>
      </p:sp>
      <p:sp>
        <p:nvSpPr>
          <p:cNvPr id="233" name="Google Shape;233;p15"/>
          <p:cNvSpPr txBox="1"/>
          <p:nvPr/>
        </p:nvSpPr>
        <p:spPr>
          <a:xfrm>
            <a:off x="460044" y="1312016"/>
            <a:ext cx="7765415" cy="5165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150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TENAGA AHLI </a:t>
            </a:r>
            <a:r>
              <a:rPr lang="en-US" sz="25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(Knowledge Worker)</a:t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86995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Merancang produk dan jasa dan menciptakan  pengetahuan baru bagi perusahan.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Seperti Insinyur, Ilmuan atau Arsitek, System Analis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PEKERJA DATA </a:t>
            </a:r>
            <a:r>
              <a:rPr lang="en-US" sz="25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(Data Worker)</a:t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Membantu pekerjaan surat menyurat dan laporan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disemua tingkatan perusahaan.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Seperti : Sekretaris atau juru ketik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PEKERJA PRODUKSI </a:t>
            </a:r>
            <a:r>
              <a:rPr lang="en-US" sz="25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(Production worker)</a:t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Memproduksi produk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ahoma"/>
              <a:buChar char="•"/>
            </a:pPr>
            <a:r>
              <a:rPr lang="en-US" sz="24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PEKERJA JASA </a:t>
            </a:r>
            <a:r>
              <a:rPr lang="en-US" sz="25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(Service Worker)</a:t>
            </a:r>
            <a:endParaRPr sz="25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Menghasilkan Jasa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"/>
          <p:cNvSpPr txBox="1"/>
          <p:nvPr>
            <p:ph type="title"/>
          </p:nvPr>
        </p:nvSpPr>
        <p:spPr>
          <a:xfrm>
            <a:off x="460044" y="1006065"/>
            <a:ext cx="6309995" cy="454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/>
              <a:t>PERAN SI/TI DALAM PERUSAHAAN</a:t>
            </a:r>
            <a:endParaRPr sz="2800"/>
          </a:p>
        </p:txBody>
      </p:sp>
      <p:sp>
        <p:nvSpPr>
          <p:cNvPr id="239" name="Google Shape;239;p16"/>
          <p:cNvSpPr txBox="1"/>
          <p:nvPr/>
        </p:nvSpPr>
        <p:spPr>
          <a:xfrm>
            <a:off x="460044" y="1271700"/>
            <a:ext cx="8012430" cy="49047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650">
            <a:spAutoFit/>
          </a:bodyPr>
          <a:lstStyle/>
          <a:p>
            <a:pPr indent="-344805" lvl="0" marL="3568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Tahoma"/>
              <a:buChar char="•"/>
            </a:pPr>
            <a:r>
              <a:rPr lang="en-US" sz="20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AKUNTANSI &amp; KEUANGAN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Mengumpulkan transaksi, mengorganisasi data dan melakukan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7562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analisis finasial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Tahoma"/>
              <a:buChar char="•"/>
            </a:pPr>
            <a:r>
              <a:rPr lang="en-US" sz="20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SUMBER DAYA MANUSIA ATAU MANAJEMEN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6385" lvl="1" marL="286385" marR="612775" rtl="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Berkomunikasi dengan karyawan, menyimpan dokumentasi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58991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karyawan dan mengkoordinasikan kegiatan kerja karyawaN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Tahoma"/>
              <a:buChar char="•"/>
            </a:pPr>
            <a:r>
              <a:rPr lang="en-US" sz="20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SISTEM INFORMASI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150495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Bekerjasama dengan manajemen dan profesional bisnis lainnya  untuk mengembangkan dan menunjang sistem baru untuk  kebutuhan bisnis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Tahoma"/>
              <a:buChar char="•"/>
            </a:pPr>
            <a:r>
              <a:rPr lang="en-US" sz="20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PRODUKSI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Merencanakan, meramalkan dan mengawasi produksi dan jasa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4805" lvl="0" marL="35687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CC"/>
              </a:buClr>
              <a:buSzPts val="2000"/>
              <a:buFont typeface="Tahoma"/>
              <a:buChar char="•"/>
            </a:pPr>
            <a:r>
              <a:rPr lang="en-US" sz="2000">
                <a:solidFill>
                  <a:srgbClr val="0000CC"/>
                </a:solidFill>
                <a:latin typeface="Tahoma"/>
                <a:ea typeface="Tahoma"/>
                <a:cs typeface="Tahoma"/>
                <a:sym typeface="Tahoma"/>
              </a:rPr>
              <a:t>PEMASARAN DAN PENJUALAN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7019" lvl="1" marL="756285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Strategi menetapkan merek, promosi, memproses pesanan serta</a:t>
            </a:r>
            <a:endParaRPr b="0" i="0" sz="20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0" name="Google Shape;240;p16"/>
          <p:cNvSpPr txBox="1"/>
          <p:nvPr/>
        </p:nvSpPr>
        <p:spPr>
          <a:xfrm>
            <a:off x="1203756" y="6151879"/>
            <a:ext cx="3865879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memberikan pelayanan pelanggan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7501001" y="6215062"/>
            <a:ext cx="1428750" cy="571500"/>
          </a:xfrm>
          <a:prstGeom prst="rect">
            <a:avLst/>
          </a:prstGeom>
          <a:solidFill>
            <a:srgbClr val="00CC99"/>
          </a:solidFill>
          <a:ln cap="flat" cmpd="sng" w="25400">
            <a:solidFill>
              <a:srgbClr val="009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02850">
            <a:spAutoFit/>
          </a:bodyPr>
          <a:lstStyle/>
          <a:p>
            <a:pPr indent="0" lvl="0" marL="1155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CCCCFF"/>
                </a:solidFill>
                <a:latin typeface="Tahoma"/>
                <a:ea typeface="Tahoma"/>
                <a:cs typeface="Tahoma"/>
                <a:sym typeface="Tahoma"/>
              </a:rPr>
              <a:t>CONTOH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7" name="Google Shape;2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365126"/>
            <a:ext cx="9144000" cy="649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7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2021-08-24T12:37:05Z</dcterms:created>
  <dc:creator>deni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2021-08-24T00:00:00Z</vt:filetime>
  </property>
</Properties>
</file>