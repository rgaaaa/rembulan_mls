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51" r:id="rId5"/>
    <p:sldMasterId id="2147483654" r:id="rId6"/>
    <p:sldMasterId id="2147483656" r:id="rId7"/>
    <p:sldMasterId id="2147483659" r:id="rId8"/>
    <p:sldMasterId id="2147483662"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Lst>
  <p:sldSz cy="10693400" cx="7556500"/>
  <p:notesSz cx="7556500" cy="10693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1" roundtripDataSignature="AMtx7mjc0dxkZiOatjwOR6YF+3+H5xiS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0.xml"/><Relationship Id="rId11" Type="http://schemas.openxmlformats.org/officeDocument/2006/relationships/slide" Target="slides/slide1.xml"/><Relationship Id="rId10" Type="http://schemas.openxmlformats.org/officeDocument/2006/relationships/notesMaster" Target="notesMasters/notesMaster1.xml"/><Relationship Id="rId21" Type="http://customschemas.google.com/relationships/presentationmetadata" Target="metadata"/><Relationship Id="rId13" Type="http://schemas.openxmlformats.org/officeDocument/2006/relationships/slide" Target="slides/slide3.xml"/><Relationship Id="rId12" Type="http://schemas.openxmlformats.org/officeDocument/2006/relationships/slide" Target="slides/slide2.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5" Type="http://schemas.openxmlformats.org/officeDocument/2006/relationships/slide" Target="slides/slide5.xml"/><Relationship Id="rId14" Type="http://schemas.openxmlformats.org/officeDocument/2006/relationships/slide" Target="slides/slide4.xml"/><Relationship Id="rId17" Type="http://schemas.openxmlformats.org/officeDocument/2006/relationships/slide" Target="slides/slide7.xml"/><Relationship Id="rId16" Type="http://schemas.openxmlformats.org/officeDocument/2006/relationships/slide" Target="slides/slide6.xml"/><Relationship Id="rId5" Type="http://schemas.openxmlformats.org/officeDocument/2006/relationships/slideMaster" Target="slideMasters/slideMaster2.xml"/><Relationship Id="rId19" Type="http://schemas.openxmlformats.org/officeDocument/2006/relationships/slide" Target="slides/slide9.xml"/><Relationship Id="rId6" Type="http://schemas.openxmlformats.org/officeDocument/2006/relationships/slideMaster" Target="slideMasters/slideMaster3.xml"/><Relationship Id="rId18" Type="http://schemas.openxmlformats.org/officeDocument/2006/relationships/slide" Target="slides/slide8.xml"/><Relationship Id="rId7" Type="http://schemas.openxmlformats.org/officeDocument/2006/relationships/slideMaster" Target="slideMasters/slideMaster4.xml"/><Relationship Id="rId8" Type="http://schemas.openxmlformats.org/officeDocument/2006/relationships/slideMaster" Target="slideMasters/slideMaster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59650" y="802000"/>
            <a:ext cx="5037900" cy="4010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55650" y="5079350"/>
            <a:ext cx="6045200" cy="48120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txBox="1"/>
          <p:nvPr>
            <p:ph idx="1" type="body"/>
          </p:nvPr>
        </p:nvSpPr>
        <p:spPr>
          <a:xfrm>
            <a:off x="755650" y="5079350"/>
            <a:ext cx="6045200" cy="48120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notes"/>
          <p:cNvSpPr/>
          <p:nvPr>
            <p:ph idx="2" type="sldImg"/>
          </p:nvPr>
        </p:nvSpPr>
        <p:spPr>
          <a:xfrm>
            <a:off x="1259650" y="802000"/>
            <a:ext cx="5037900" cy="40100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755650" y="5079350"/>
            <a:ext cx="6045200" cy="48120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259650" y="802000"/>
            <a:ext cx="5037900" cy="40100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755650" y="5079350"/>
            <a:ext cx="6045200" cy="48120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1259650" y="802000"/>
            <a:ext cx="5037900" cy="40100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755650" y="5079350"/>
            <a:ext cx="6045200" cy="48120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1259650" y="802000"/>
            <a:ext cx="5037900" cy="40100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755650" y="5079350"/>
            <a:ext cx="6045200" cy="48120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1259650" y="802000"/>
            <a:ext cx="5037900" cy="40100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755650" y="5079350"/>
            <a:ext cx="6045200" cy="48120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1259650" y="802000"/>
            <a:ext cx="5037900" cy="40100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755650" y="5079350"/>
            <a:ext cx="6045200" cy="48120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notes"/>
          <p:cNvSpPr/>
          <p:nvPr>
            <p:ph idx="2" type="sldImg"/>
          </p:nvPr>
        </p:nvSpPr>
        <p:spPr>
          <a:xfrm>
            <a:off x="1259650" y="802000"/>
            <a:ext cx="5037900" cy="40100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txBox="1"/>
          <p:nvPr>
            <p:ph idx="1" type="body"/>
          </p:nvPr>
        </p:nvSpPr>
        <p:spPr>
          <a:xfrm>
            <a:off x="755650" y="5079350"/>
            <a:ext cx="6045200" cy="48120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notes"/>
          <p:cNvSpPr/>
          <p:nvPr>
            <p:ph idx="2" type="sldImg"/>
          </p:nvPr>
        </p:nvSpPr>
        <p:spPr>
          <a:xfrm>
            <a:off x="1259650" y="802000"/>
            <a:ext cx="5037900" cy="40100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txBox="1"/>
          <p:nvPr>
            <p:ph idx="1" type="body"/>
          </p:nvPr>
        </p:nvSpPr>
        <p:spPr>
          <a:xfrm>
            <a:off x="755650" y="5079350"/>
            <a:ext cx="6045200" cy="48120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9:notes"/>
          <p:cNvSpPr/>
          <p:nvPr>
            <p:ph idx="2" type="sldImg"/>
          </p:nvPr>
        </p:nvSpPr>
        <p:spPr>
          <a:xfrm>
            <a:off x="1259650" y="802000"/>
            <a:ext cx="5037900" cy="40100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0:notes"/>
          <p:cNvSpPr txBox="1"/>
          <p:nvPr>
            <p:ph idx="1" type="body"/>
          </p:nvPr>
        </p:nvSpPr>
        <p:spPr>
          <a:xfrm>
            <a:off x="755650" y="5079350"/>
            <a:ext cx="6045200" cy="48120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0:notes"/>
          <p:cNvSpPr/>
          <p:nvPr>
            <p:ph idx="2" type="sldImg"/>
          </p:nvPr>
        </p:nvSpPr>
        <p:spPr>
          <a:xfrm>
            <a:off x="1259650" y="802000"/>
            <a:ext cx="5037900" cy="40100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2" name="Shape 12"/>
        <p:cNvGrpSpPr/>
        <p:nvPr/>
      </p:nvGrpSpPr>
      <p:grpSpPr>
        <a:xfrm>
          <a:off x="0" y="0"/>
          <a:ext cx="0" cy="0"/>
          <a:chOff x="0" y="0"/>
          <a:chExt cx="0" cy="0"/>
        </a:xfrm>
      </p:grpSpPr>
      <p:sp>
        <p:nvSpPr>
          <p:cNvPr id="13" name="Google Shape;13;p12"/>
          <p:cNvSpPr txBox="1"/>
          <p:nvPr>
            <p:ph idx="11" type="ftr"/>
          </p:nvPr>
        </p:nvSpPr>
        <p:spPr>
          <a:xfrm>
            <a:off x="2571369" y="9944862"/>
            <a:ext cx="2420112" cy="534670"/>
          </a:xfrm>
          <a:prstGeom prst="rect">
            <a:avLst/>
          </a:prstGeom>
          <a:noFill/>
          <a:ln>
            <a:noFill/>
          </a:ln>
        </p:spPr>
        <p:txBody>
          <a:bodyPr anchorCtr="0" anchor="t" bIns="0" lIns="0" spcFirstLastPara="1" rIns="0" wrap="square" tIns="0">
            <a:no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ph idx="10" type="dt"/>
          </p:nvPr>
        </p:nvSpPr>
        <p:spPr>
          <a:xfrm>
            <a:off x="378142" y="9944862"/>
            <a:ext cx="1739455" cy="53467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2"/>
          <p:cNvSpPr txBox="1"/>
          <p:nvPr>
            <p:ph idx="12" type="sldNum"/>
          </p:nvPr>
        </p:nvSpPr>
        <p:spPr>
          <a:xfrm>
            <a:off x="6277736" y="9937495"/>
            <a:ext cx="408940" cy="165734"/>
          </a:xfrm>
          <a:prstGeom prst="rect">
            <a:avLst/>
          </a:prstGeom>
          <a:noFill/>
          <a:ln>
            <a:noFill/>
          </a:ln>
        </p:spPr>
        <p:txBody>
          <a:bodyPr anchorCtr="0" anchor="t" bIns="0" lIns="0" spcFirstLastPara="1" rIns="0" wrap="square" tIns="0">
            <a:noAutofit/>
          </a:bodyPr>
          <a:lstStyle>
            <a:lvl1pPr indent="0" lvl="0" marL="12700" marR="0" rtl="0" algn="l">
              <a:lnSpc>
                <a:spcPct val="104545"/>
              </a:lnSpc>
              <a:spcBef>
                <a:spcPts val="0"/>
              </a:spcBef>
              <a:buNone/>
              <a:defRPr b="0" i="0" sz="1100">
                <a:solidFill>
                  <a:schemeClr val="dk1"/>
                </a:solidFill>
                <a:latin typeface="Calibri"/>
                <a:ea typeface="Calibri"/>
                <a:cs typeface="Calibri"/>
                <a:sym typeface="Calibri"/>
              </a:defRPr>
            </a:lvl1pPr>
            <a:lvl2pPr indent="0" lvl="1" marL="12700" marR="0" rtl="0" algn="l">
              <a:lnSpc>
                <a:spcPct val="104545"/>
              </a:lnSpc>
              <a:spcBef>
                <a:spcPts val="0"/>
              </a:spcBef>
              <a:buNone/>
              <a:defRPr b="0" i="0" sz="1100">
                <a:solidFill>
                  <a:schemeClr val="dk1"/>
                </a:solidFill>
                <a:latin typeface="Calibri"/>
                <a:ea typeface="Calibri"/>
                <a:cs typeface="Calibri"/>
                <a:sym typeface="Calibri"/>
              </a:defRPr>
            </a:lvl2pPr>
            <a:lvl3pPr indent="0" lvl="2" marL="12700" marR="0" rtl="0" algn="l">
              <a:lnSpc>
                <a:spcPct val="104545"/>
              </a:lnSpc>
              <a:spcBef>
                <a:spcPts val="0"/>
              </a:spcBef>
              <a:buNone/>
              <a:defRPr b="0" i="0" sz="1100">
                <a:solidFill>
                  <a:schemeClr val="dk1"/>
                </a:solidFill>
                <a:latin typeface="Calibri"/>
                <a:ea typeface="Calibri"/>
                <a:cs typeface="Calibri"/>
                <a:sym typeface="Calibri"/>
              </a:defRPr>
            </a:lvl3pPr>
            <a:lvl4pPr indent="0" lvl="3" marL="12700" marR="0" rtl="0" algn="l">
              <a:lnSpc>
                <a:spcPct val="104545"/>
              </a:lnSpc>
              <a:spcBef>
                <a:spcPts val="0"/>
              </a:spcBef>
              <a:buNone/>
              <a:defRPr b="0" i="0" sz="1100">
                <a:solidFill>
                  <a:schemeClr val="dk1"/>
                </a:solidFill>
                <a:latin typeface="Calibri"/>
                <a:ea typeface="Calibri"/>
                <a:cs typeface="Calibri"/>
                <a:sym typeface="Calibri"/>
              </a:defRPr>
            </a:lvl4pPr>
            <a:lvl5pPr indent="0" lvl="4" marL="12700" marR="0" rtl="0" algn="l">
              <a:lnSpc>
                <a:spcPct val="104545"/>
              </a:lnSpc>
              <a:spcBef>
                <a:spcPts val="0"/>
              </a:spcBef>
              <a:buNone/>
              <a:defRPr b="0" i="0" sz="1100">
                <a:solidFill>
                  <a:schemeClr val="dk1"/>
                </a:solidFill>
                <a:latin typeface="Calibri"/>
                <a:ea typeface="Calibri"/>
                <a:cs typeface="Calibri"/>
                <a:sym typeface="Calibri"/>
              </a:defRPr>
            </a:lvl5pPr>
            <a:lvl6pPr indent="0" lvl="5" marL="12700" marR="0" rtl="0" algn="l">
              <a:lnSpc>
                <a:spcPct val="104545"/>
              </a:lnSpc>
              <a:spcBef>
                <a:spcPts val="0"/>
              </a:spcBef>
              <a:buNone/>
              <a:defRPr b="0" i="0" sz="1100">
                <a:solidFill>
                  <a:schemeClr val="dk1"/>
                </a:solidFill>
                <a:latin typeface="Calibri"/>
                <a:ea typeface="Calibri"/>
                <a:cs typeface="Calibri"/>
                <a:sym typeface="Calibri"/>
              </a:defRPr>
            </a:lvl6pPr>
            <a:lvl7pPr indent="0" lvl="6" marL="12700" marR="0" rtl="0" algn="l">
              <a:lnSpc>
                <a:spcPct val="104545"/>
              </a:lnSpc>
              <a:spcBef>
                <a:spcPts val="0"/>
              </a:spcBef>
              <a:buNone/>
              <a:defRPr b="0" i="0" sz="1100">
                <a:solidFill>
                  <a:schemeClr val="dk1"/>
                </a:solidFill>
                <a:latin typeface="Calibri"/>
                <a:ea typeface="Calibri"/>
                <a:cs typeface="Calibri"/>
                <a:sym typeface="Calibri"/>
              </a:defRPr>
            </a:lvl7pPr>
            <a:lvl8pPr indent="0" lvl="7" marL="12700" marR="0" rtl="0" algn="l">
              <a:lnSpc>
                <a:spcPct val="104545"/>
              </a:lnSpc>
              <a:spcBef>
                <a:spcPts val="0"/>
              </a:spcBef>
              <a:buNone/>
              <a:defRPr b="0" i="0" sz="1100">
                <a:solidFill>
                  <a:schemeClr val="dk1"/>
                </a:solidFill>
                <a:latin typeface="Calibri"/>
                <a:ea typeface="Calibri"/>
                <a:cs typeface="Calibri"/>
                <a:sym typeface="Calibri"/>
              </a:defRPr>
            </a:lvl8pPr>
            <a:lvl9pPr indent="0" lvl="8" marL="12700" marR="0" rtl="0" algn="l">
              <a:lnSpc>
                <a:spcPct val="104545"/>
              </a:lnSpc>
              <a:spcBef>
                <a:spcPts val="0"/>
              </a:spcBef>
              <a:buNone/>
              <a:defRPr b="0" i="0" sz="1100">
                <a:solidFill>
                  <a:schemeClr val="dk1"/>
                </a:solidFill>
                <a:latin typeface="Calibri"/>
                <a:ea typeface="Calibri"/>
                <a:cs typeface="Calibri"/>
                <a:sym typeface="Calibri"/>
              </a:defRPr>
            </a:lvl9pPr>
          </a:lstStyle>
          <a:p>
            <a:pPr indent="0" lvl="0" marL="12700" rtl="0" algn="l">
              <a:spcBef>
                <a:spcPts val="0"/>
              </a:spcBef>
              <a:spcAft>
                <a:spcPts val="0"/>
              </a:spcAft>
              <a:buNone/>
            </a:pPr>
            <a:r>
              <a:rPr lang="en-US"/>
              <a:t>Hal :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6" name="Shape 16"/>
        <p:cNvGrpSpPr/>
        <p:nvPr/>
      </p:nvGrpSpPr>
      <p:grpSpPr>
        <a:xfrm>
          <a:off x="0" y="0"/>
          <a:ext cx="0" cy="0"/>
          <a:chOff x="0" y="0"/>
          <a:chExt cx="0" cy="0"/>
        </a:xfrm>
      </p:grpSpPr>
      <p:sp>
        <p:nvSpPr>
          <p:cNvPr id="17" name="Google Shape;17;p13"/>
          <p:cNvSpPr txBox="1"/>
          <p:nvPr>
            <p:ph type="title"/>
          </p:nvPr>
        </p:nvSpPr>
        <p:spPr>
          <a:xfrm>
            <a:off x="519510" y="569326"/>
            <a:ext cx="6517481" cy="206689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2727"/>
              <a:buFont typeface="Calibri"/>
              <a:buNone/>
              <a:defRPr b="0" i="0" sz="2727"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7" name="Shape 27"/>
        <p:cNvGrpSpPr/>
        <p:nvPr/>
      </p:nvGrpSpPr>
      <p:grpSpPr>
        <a:xfrm>
          <a:off x="0" y="0"/>
          <a:ext cx="0" cy="0"/>
          <a:chOff x="0" y="0"/>
          <a:chExt cx="0" cy="0"/>
        </a:xfrm>
      </p:grpSpPr>
      <p:sp>
        <p:nvSpPr>
          <p:cNvPr id="28" name="Google Shape;28;p15"/>
          <p:cNvSpPr txBox="1"/>
          <p:nvPr>
            <p:ph type="title"/>
          </p:nvPr>
        </p:nvSpPr>
        <p:spPr>
          <a:xfrm>
            <a:off x="519510" y="1878077"/>
            <a:ext cx="6517481" cy="206689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29" name="Shape 29"/>
        <p:cNvGrpSpPr/>
        <p:nvPr/>
      </p:nvGrpSpPr>
      <p:grpSpPr>
        <a:xfrm>
          <a:off x="0" y="0"/>
          <a:ext cx="0" cy="0"/>
          <a:chOff x="0" y="0"/>
          <a:chExt cx="0" cy="0"/>
        </a:xfrm>
      </p:grpSpPr>
      <p:sp>
        <p:nvSpPr>
          <p:cNvPr id="30" name="Google Shape;30;p16"/>
          <p:cNvSpPr txBox="1"/>
          <p:nvPr>
            <p:ph idx="11" type="ftr"/>
          </p:nvPr>
        </p:nvSpPr>
        <p:spPr>
          <a:xfrm>
            <a:off x="2571369" y="9944862"/>
            <a:ext cx="2420112" cy="534670"/>
          </a:xfrm>
          <a:prstGeom prst="rect">
            <a:avLst/>
          </a:prstGeom>
          <a:noFill/>
          <a:ln>
            <a:noFill/>
          </a:ln>
        </p:spPr>
        <p:txBody>
          <a:bodyPr anchorCtr="0" anchor="t" bIns="0" lIns="0" spcFirstLastPara="1" rIns="0" wrap="square" tIns="0">
            <a:no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16"/>
          <p:cNvSpPr txBox="1"/>
          <p:nvPr>
            <p:ph idx="10" type="dt"/>
          </p:nvPr>
        </p:nvSpPr>
        <p:spPr>
          <a:xfrm>
            <a:off x="378142" y="9944862"/>
            <a:ext cx="1739455" cy="53467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16"/>
          <p:cNvSpPr txBox="1"/>
          <p:nvPr>
            <p:ph idx="12" type="sldNum"/>
          </p:nvPr>
        </p:nvSpPr>
        <p:spPr>
          <a:xfrm>
            <a:off x="6277736" y="9937495"/>
            <a:ext cx="408940" cy="165734"/>
          </a:xfrm>
          <a:prstGeom prst="rect">
            <a:avLst/>
          </a:prstGeom>
          <a:noFill/>
          <a:ln>
            <a:noFill/>
          </a:ln>
        </p:spPr>
        <p:txBody>
          <a:bodyPr anchorCtr="0" anchor="t" bIns="0" lIns="0" spcFirstLastPara="1" rIns="0" wrap="square" tIns="0">
            <a:noAutofit/>
          </a:bodyPr>
          <a:lstStyle>
            <a:lvl1pPr indent="0" lvl="0" marL="12700" marR="0" rtl="0" algn="l">
              <a:lnSpc>
                <a:spcPct val="104545"/>
              </a:lnSpc>
              <a:spcBef>
                <a:spcPts val="0"/>
              </a:spcBef>
              <a:buNone/>
              <a:defRPr b="0" i="0" sz="1100">
                <a:solidFill>
                  <a:schemeClr val="dk1"/>
                </a:solidFill>
                <a:latin typeface="Calibri"/>
                <a:ea typeface="Calibri"/>
                <a:cs typeface="Calibri"/>
                <a:sym typeface="Calibri"/>
              </a:defRPr>
            </a:lvl1pPr>
            <a:lvl2pPr indent="0" lvl="1" marL="12700" marR="0" rtl="0" algn="l">
              <a:lnSpc>
                <a:spcPct val="104545"/>
              </a:lnSpc>
              <a:spcBef>
                <a:spcPts val="0"/>
              </a:spcBef>
              <a:buNone/>
              <a:defRPr b="0" i="0" sz="1100">
                <a:solidFill>
                  <a:schemeClr val="dk1"/>
                </a:solidFill>
                <a:latin typeface="Calibri"/>
                <a:ea typeface="Calibri"/>
                <a:cs typeface="Calibri"/>
                <a:sym typeface="Calibri"/>
              </a:defRPr>
            </a:lvl2pPr>
            <a:lvl3pPr indent="0" lvl="2" marL="12700" marR="0" rtl="0" algn="l">
              <a:lnSpc>
                <a:spcPct val="104545"/>
              </a:lnSpc>
              <a:spcBef>
                <a:spcPts val="0"/>
              </a:spcBef>
              <a:buNone/>
              <a:defRPr b="0" i="0" sz="1100">
                <a:solidFill>
                  <a:schemeClr val="dk1"/>
                </a:solidFill>
                <a:latin typeface="Calibri"/>
                <a:ea typeface="Calibri"/>
                <a:cs typeface="Calibri"/>
                <a:sym typeface="Calibri"/>
              </a:defRPr>
            </a:lvl3pPr>
            <a:lvl4pPr indent="0" lvl="3" marL="12700" marR="0" rtl="0" algn="l">
              <a:lnSpc>
                <a:spcPct val="104545"/>
              </a:lnSpc>
              <a:spcBef>
                <a:spcPts val="0"/>
              </a:spcBef>
              <a:buNone/>
              <a:defRPr b="0" i="0" sz="1100">
                <a:solidFill>
                  <a:schemeClr val="dk1"/>
                </a:solidFill>
                <a:latin typeface="Calibri"/>
                <a:ea typeface="Calibri"/>
                <a:cs typeface="Calibri"/>
                <a:sym typeface="Calibri"/>
              </a:defRPr>
            </a:lvl4pPr>
            <a:lvl5pPr indent="0" lvl="4" marL="12700" marR="0" rtl="0" algn="l">
              <a:lnSpc>
                <a:spcPct val="104545"/>
              </a:lnSpc>
              <a:spcBef>
                <a:spcPts val="0"/>
              </a:spcBef>
              <a:buNone/>
              <a:defRPr b="0" i="0" sz="1100">
                <a:solidFill>
                  <a:schemeClr val="dk1"/>
                </a:solidFill>
                <a:latin typeface="Calibri"/>
                <a:ea typeface="Calibri"/>
                <a:cs typeface="Calibri"/>
                <a:sym typeface="Calibri"/>
              </a:defRPr>
            </a:lvl5pPr>
            <a:lvl6pPr indent="0" lvl="5" marL="12700" marR="0" rtl="0" algn="l">
              <a:lnSpc>
                <a:spcPct val="104545"/>
              </a:lnSpc>
              <a:spcBef>
                <a:spcPts val="0"/>
              </a:spcBef>
              <a:buNone/>
              <a:defRPr b="0" i="0" sz="1100">
                <a:solidFill>
                  <a:schemeClr val="dk1"/>
                </a:solidFill>
                <a:latin typeface="Calibri"/>
                <a:ea typeface="Calibri"/>
                <a:cs typeface="Calibri"/>
                <a:sym typeface="Calibri"/>
              </a:defRPr>
            </a:lvl6pPr>
            <a:lvl7pPr indent="0" lvl="6" marL="12700" marR="0" rtl="0" algn="l">
              <a:lnSpc>
                <a:spcPct val="104545"/>
              </a:lnSpc>
              <a:spcBef>
                <a:spcPts val="0"/>
              </a:spcBef>
              <a:buNone/>
              <a:defRPr b="0" i="0" sz="1100">
                <a:solidFill>
                  <a:schemeClr val="dk1"/>
                </a:solidFill>
                <a:latin typeface="Calibri"/>
                <a:ea typeface="Calibri"/>
                <a:cs typeface="Calibri"/>
                <a:sym typeface="Calibri"/>
              </a:defRPr>
            </a:lvl7pPr>
            <a:lvl8pPr indent="0" lvl="7" marL="12700" marR="0" rtl="0" algn="l">
              <a:lnSpc>
                <a:spcPct val="104545"/>
              </a:lnSpc>
              <a:spcBef>
                <a:spcPts val="0"/>
              </a:spcBef>
              <a:buNone/>
              <a:defRPr b="0" i="0" sz="1100">
                <a:solidFill>
                  <a:schemeClr val="dk1"/>
                </a:solidFill>
                <a:latin typeface="Calibri"/>
                <a:ea typeface="Calibri"/>
                <a:cs typeface="Calibri"/>
                <a:sym typeface="Calibri"/>
              </a:defRPr>
            </a:lvl8pPr>
            <a:lvl9pPr indent="0" lvl="8" marL="12700" marR="0" rtl="0" algn="l">
              <a:lnSpc>
                <a:spcPct val="104545"/>
              </a:lnSpc>
              <a:spcBef>
                <a:spcPts val="0"/>
              </a:spcBef>
              <a:buNone/>
              <a:defRPr b="0" i="0" sz="1100">
                <a:solidFill>
                  <a:schemeClr val="dk1"/>
                </a:solidFill>
                <a:latin typeface="Calibri"/>
                <a:ea typeface="Calibri"/>
                <a:cs typeface="Calibri"/>
                <a:sym typeface="Calibri"/>
              </a:defRPr>
            </a:lvl9pPr>
          </a:lstStyle>
          <a:p>
            <a:pPr indent="0" lvl="0" marL="12700" rtl="0" algn="l">
              <a:spcBef>
                <a:spcPts val="0"/>
              </a:spcBef>
              <a:spcAft>
                <a:spcPts val="0"/>
              </a:spcAft>
              <a:buNone/>
            </a:pPr>
            <a:r>
              <a:rPr lang="en-US"/>
              <a:t>Hal :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0" name="Shape 40"/>
        <p:cNvGrpSpPr/>
        <p:nvPr/>
      </p:nvGrpSpPr>
      <p:grpSpPr>
        <a:xfrm>
          <a:off x="0" y="0"/>
          <a:ext cx="0" cy="0"/>
          <a:chOff x="0" y="0"/>
          <a:chExt cx="0" cy="0"/>
        </a:xfrm>
      </p:grpSpPr>
      <p:sp>
        <p:nvSpPr>
          <p:cNvPr id="41" name="Google Shape;41;p18"/>
          <p:cNvSpPr txBox="1"/>
          <p:nvPr>
            <p:ph type="title"/>
          </p:nvPr>
        </p:nvSpPr>
        <p:spPr>
          <a:xfrm>
            <a:off x="519510" y="569326"/>
            <a:ext cx="6517481" cy="206689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2727"/>
              <a:buFont typeface="Calibri"/>
              <a:buNone/>
              <a:defRPr b="0" i="0" sz="2727"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50" name="Shape 50"/>
        <p:cNvGrpSpPr/>
        <p:nvPr/>
      </p:nvGrpSpPr>
      <p:grpSpPr>
        <a:xfrm>
          <a:off x="0" y="0"/>
          <a:ext cx="0" cy="0"/>
          <a:chOff x="0" y="0"/>
          <a:chExt cx="0" cy="0"/>
        </a:xfrm>
      </p:grpSpPr>
      <p:sp>
        <p:nvSpPr>
          <p:cNvPr id="51" name="Google Shape;51;p20"/>
          <p:cNvSpPr txBox="1"/>
          <p:nvPr>
            <p:ph type="title"/>
          </p:nvPr>
        </p:nvSpPr>
        <p:spPr>
          <a:xfrm>
            <a:off x="519510" y="569326"/>
            <a:ext cx="6517481" cy="206689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2727"/>
              <a:buFont typeface="Calibri"/>
              <a:buNone/>
              <a:defRPr b="0" i="0" sz="2727"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52" name="Shape 52"/>
        <p:cNvGrpSpPr/>
        <p:nvPr/>
      </p:nvGrpSpPr>
      <p:grpSpPr>
        <a:xfrm>
          <a:off x="0" y="0"/>
          <a:ext cx="0" cy="0"/>
          <a:chOff x="0" y="0"/>
          <a:chExt cx="0" cy="0"/>
        </a:xfrm>
      </p:grpSpPr>
      <p:sp>
        <p:nvSpPr>
          <p:cNvPr id="53" name="Google Shape;53;p21"/>
          <p:cNvSpPr txBox="1"/>
          <p:nvPr>
            <p:ph idx="11" type="ftr"/>
          </p:nvPr>
        </p:nvSpPr>
        <p:spPr>
          <a:xfrm>
            <a:off x="2571369" y="9944862"/>
            <a:ext cx="2420112" cy="534670"/>
          </a:xfrm>
          <a:prstGeom prst="rect">
            <a:avLst/>
          </a:prstGeom>
          <a:noFill/>
          <a:ln>
            <a:noFill/>
          </a:ln>
        </p:spPr>
        <p:txBody>
          <a:bodyPr anchorCtr="0" anchor="t" bIns="0" lIns="0" spcFirstLastPara="1" rIns="0" wrap="square" tIns="0">
            <a:no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21"/>
          <p:cNvSpPr txBox="1"/>
          <p:nvPr>
            <p:ph idx="10" type="dt"/>
          </p:nvPr>
        </p:nvSpPr>
        <p:spPr>
          <a:xfrm>
            <a:off x="378142" y="9944862"/>
            <a:ext cx="1739455" cy="53467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21"/>
          <p:cNvSpPr txBox="1"/>
          <p:nvPr>
            <p:ph idx="12" type="sldNum"/>
          </p:nvPr>
        </p:nvSpPr>
        <p:spPr>
          <a:xfrm>
            <a:off x="6277736" y="9937495"/>
            <a:ext cx="408940" cy="165734"/>
          </a:xfrm>
          <a:prstGeom prst="rect">
            <a:avLst/>
          </a:prstGeom>
          <a:noFill/>
          <a:ln>
            <a:noFill/>
          </a:ln>
        </p:spPr>
        <p:txBody>
          <a:bodyPr anchorCtr="0" anchor="t" bIns="0" lIns="0" spcFirstLastPara="1" rIns="0" wrap="square" tIns="0">
            <a:noAutofit/>
          </a:bodyPr>
          <a:lstStyle>
            <a:lvl1pPr indent="0" lvl="0" marL="12700" marR="0" rtl="0" algn="l">
              <a:lnSpc>
                <a:spcPct val="104545"/>
              </a:lnSpc>
              <a:spcBef>
                <a:spcPts val="0"/>
              </a:spcBef>
              <a:buNone/>
              <a:defRPr b="0" i="0" sz="1100">
                <a:solidFill>
                  <a:schemeClr val="dk1"/>
                </a:solidFill>
                <a:latin typeface="Calibri"/>
                <a:ea typeface="Calibri"/>
                <a:cs typeface="Calibri"/>
                <a:sym typeface="Calibri"/>
              </a:defRPr>
            </a:lvl1pPr>
            <a:lvl2pPr indent="0" lvl="1" marL="12700" marR="0" rtl="0" algn="l">
              <a:lnSpc>
                <a:spcPct val="104545"/>
              </a:lnSpc>
              <a:spcBef>
                <a:spcPts val="0"/>
              </a:spcBef>
              <a:buNone/>
              <a:defRPr b="0" i="0" sz="1100">
                <a:solidFill>
                  <a:schemeClr val="dk1"/>
                </a:solidFill>
                <a:latin typeface="Calibri"/>
                <a:ea typeface="Calibri"/>
                <a:cs typeface="Calibri"/>
                <a:sym typeface="Calibri"/>
              </a:defRPr>
            </a:lvl2pPr>
            <a:lvl3pPr indent="0" lvl="2" marL="12700" marR="0" rtl="0" algn="l">
              <a:lnSpc>
                <a:spcPct val="104545"/>
              </a:lnSpc>
              <a:spcBef>
                <a:spcPts val="0"/>
              </a:spcBef>
              <a:buNone/>
              <a:defRPr b="0" i="0" sz="1100">
                <a:solidFill>
                  <a:schemeClr val="dk1"/>
                </a:solidFill>
                <a:latin typeface="Calibri"/>
                <a:ea typeface="Calibri"/>
                <a:cs typeface="Calibri"/>
                <a:sym typeface="Calibri"/>
              </a:defRPr>
            </a:lvl3pPr>
            <a:lvl4pPr indent="0" lvl="3" marL="12700" marR="0" rtl="0" algn="l">
              <a:lnSpc>
                <a:spcPct val="104545"/>
              </a:lnSpc>
              <a:spcBef>
                <a:spcPts val="0"/>
              </a:spcBef>
              <a:buNone/>
              <a:defRPr b="0" i="0" sz="1100">
                <a:solidFill>
                  <a:schemeClr val="dk1"/>
                </a:solidFill>
                <a:latin typeface="Calibri"/>
                <a:ea typeface="Calibri"/>
                <a:cs typeface="Calibri"/>
                <a:sym typeface="Calibri"/>
              </a:defRPr>
            </a:lvl4pPr>
            <a:lvl5pPr indent="0" lvl="4" marL="12700" marR="0" rtl="0" algn="l">
              <a:lnSpc>
                <a:spcPct val="104545"/>
              </a:lnSpc>
              <a:spcBef>
                <a:spcPts val="0"/>
              </a:spcBef>
              <a:buNone/>
              <a:defRPr b="0" i="0" sz="1100">
                <a:solidFill>
                  <a:schemeClr val="dk1"/>
                </a:solidFill>
                <a:latin typeface="Calibri"/>
                <a:ea typeface="Calibri"/>
                <a:cs typeface="Calibri"/>
                <a:sym typeface="Calibri"/>
              </a:defRPr>
            </a:lvl5pPr>
            <a:lvl6pPr indent="0" lvl="5" marL="12700" marR="0" rtl="0" algn="l">
              <a:lnSpc>
                <a:spcPct val="104545"/>
              </a:lnSpc>
              <a:spcBef>
                <a:spcPts val="0"/>
              </a:spcBef>
              <a:buNone/>
              <a:defRPr b="0" i="0" sz="1100">
                <a:solidFill>
                  <a:schemeClr val="dk1"/>
                </a:solidFill>
                <a:latin typeface="Calibri"/>
                <a:ea typeface="Calibri"/>
                <a:cs typeface="Calibri"/>
                <a:sym typeface="Calibri"/>
              </a:defRPr>
            </a:lvl6pPr>
            <a:lvl7pPr indent="0" lvl="6" marL="12700" marR="0" rtl="0" algn="l">
              <a:lnSpc>
                <a:spcPct val="104545"/>
              </a:lnSpc>
              <a:spcBef>
                <a:spcPts val="0"/>
              </a:spcBef>
              <a:buNone/>
              <a:defRPr b="0" i="0" sz="1100">
                <a:solidFill>
                  <a:schemeClr val="dk1"/>
                </a:solidFill>
                <a:latin typeface="Calibri"/>
                <a:ea typeface="Calibri"/>
                <a:cs typeface="Calibri"/>
                <a:sym typeface="Calibri"/>
              </a:defRPr>
            </a:lvl7pPr>
            <a:lvl8pPr indent="0" lvl="7" marL="12700" marR="0" rtl="0" algn="l">
              <a:lnSpc>
                <a:spcPct val="104545"/>
              </a:lnSpc>
              <a:spcBef>
                <a:spcPts val="0"/>
              </a:spcBef>
              <a:buNone/>
              <a:defRPr b="0" i="0" sz="1100">
                <a:solidFill>
                  <a:schemeClr val="dk1"/>
                </a:solidFill>
                <a:latin typeface="Calibri"/>
                <a:ea typeface="Calibri"/>
                <a:cs typeface="Calibri"/>
                <a:sym typeface="Calibri"/>
              </a:defRPr>
            </a:lvl8pPr>
            <a:lvl9pPr indent="0" lvl="8" marL="12700" marR="0" rtl="0" algn="l">
              <a:lnSpc>
                <a:spcPct val="104545"/>
              </a:lnSpc>
              <a:spcBef>
                <a:spcPts val="0"/>
              </a:spcBef>
              <a:buNone/>
              <a:defRPr b="0" i="0" sz="1100">
                <a:solidFill>
                  <a:schemeClr val="dk1"/>
                </a:solidFill>
                <a:latin typeface="Calibri"/>
                <a:ea typeface="Calibri"/>
                <a:cs typeface="Calibri"/>
                <a:sym typeface="Calibri"/>
              </a:defRPr>
            </a:lvl9pPr>
          </a:lstStyle>
          <a:p>
            <a:pPr indent="0" lvl="0" marL="12700" rtl="0" algn="l">
              <a:spcBef>
                <a:spcPts val="0"/>
              </a:spcBef>
              <a:spcAft>
                <a:spcPts val="0"/>
              </a:spcAft>
              <a:buNone/>
            </a:pPr>
            <a:r>
              <a:rPr lang="en-US"/>
              <a:t>Hal :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63" name="Shape 63"/>
        <p:cNvGrpSpPr/>
        <p:nvPr/>
      </p:nvGrpSpPr>
      <p:grpSpPr>
        <a:xfrm>
          <a:off x="0" y="0"/>
          <a:ext cx="0" cy="0"/>
          <a:chOff x="0" y="0"/>
          <a:chExt cx="0" cy="0"/>
        </a:xfrm>
      </p:grpSpPr>
      <p:sp>
        <p:nvSpPr>
          <p:cNvPr id="64" name="Google Shape;64;p23"/>
          <p:cNvSpPr txBox="1"/>
          <p:nvPr>
            <p:ph type="title"/>
          </p:nvPr>
        </p:nvSpPr>
        <p:spPr>
          <a:xfrm>
            <a:off x="519510" y="1878077"/>
            <a:ext cx="6517481" cy="206689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65" name="Shape 65"/>
        <p:cNvGrpSpPr/>
        <p:nvPr/>
      </p:nvGrpSpPr>
      <p:grpSpPr>
        <a:xfrm>
          <a:off x="0" y="0"/>
          <a:ext cx="0" cy="0"/>
          <a:chOff x="0" y="0"/>
          <a:chExt cx="0" cy="0"/>
        </a:xfrm>
      </p:grpSpPr>
      <p:sp>
        <p:nvSpPr>
          <p:cNvPr id="66" name="Google Shape;66;p24"/>
          <p:cNvSpPr txBox="1"/>
          <p:nvPr>
            <p:ph idx="11" type="ftr"/>
          </p:nvPr>
        </p:nvSpPr>
        <p:spPr>
          <a:xfrm>
            <a:off x="2571369" y="9944862"/>
            <a:ext cx="2420112" cy="534670"/>
          </a:xfrm>
          <a:prstGeom prst="rect">
            <a:avLst/>
          </a:prstGeom>
          <a:noFill/>
          <a:ln>
            <a:noFill/>
          </a:ln>
        </p:spPr>
        <p:txBody>
          <a:bodyPr anchorCtr="0" anchor="t" bIns="0" lIns="0" spcFirstLastPara="1" rIns="0" wrap="square" tIns="0">
            <a:no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p24"/>
          <p:cNvSpPr txBox="1"/>
          <p:nvPr>
            <p:ph idx="10" type="dt"/>
          </p:nvPr>
        </p:nvSpPr>
        <p:spPr>
          <a:xfrm>
            <a:off x="378142" y="9944862"/>
            <a:ext cx="1739455" cy="53467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24"/>
          <p:cNvSpPr txBox="1"/>
          <p:nvPr>
            <p:ph idx="12" type="sldNum"/>
          </p:nvPr>
        </p:nvSpPr>
        <p:spPr>
          <a:xfrm>
            <a:off x="6277736" y="9937495"/>
            <a:ext cx="408940" cy="165734"/>
          </a:xfrm>
          <a:prstGeom prst="rect">
            <a:avLst/>
          </a:prstGeom>
          <a:noFill/>
          <a:ln>
            <a:noFill/>
          </a:ln>
        </p:spPr>
        <p:txBody>
          <a:bodyPr anchorCtr="0" anchor="t" bIns="0" lIns="0" spcFirstLastPara="1" rIns="0" wrap="square" tIns="0">
            <a:noAutofit/>
          </a:bodyPr>
          <a:lstStyle>
            <a:lvl1pPr indent="0" lvl="0" marL="12700" marR="0" rtl="0" algn="l">
              <a:lnSpc>
                <a:spcPct val="104545"/>
              </a:lnSpc>
              <a:spcBef>
                <a:spcPts val="0"/>
              </a:spcBef>
              <a:buNone/>
              <a:defRPr b="0" i="0" sz="1100">
                <a:solidFill>
                  <a:schemeClr val="dk1"/>
                </a:solidFill>
                <a:latin typeface="Calibri"/>
                <a:ea typeface="Calibri"/>
                <a:cs typeface="Calibri"/>
                <a:sym typeface="Calibri"/>
              </a:defRPr>
            </a:lvl1pPr>
            <a:lvl2pPr indent="0" lvl="1" marL="12700" marR="0" rtl="0" algn="l">
              <a:lnSpc>
                <a:spcPct val="104545"/>
              </a:lnSpc>
              <a:spcBef>
                <a:spcPts val="0"/>
              </a:spcBef>
              <a:buNone/>
              <a:defRPr b="0" i="0" sz="1100">
                <a:solidFill>
                  <a:schemeClr val="dk1"/>
                </a:solidFill>
                <a:latin typeface="Calibri"/>
                <a:ea typeface="Calibri"/>
                <a:cs typeface="Calibri"/>
                <a:sym typeface="Calibri"/>
              </a:defRPr>
            </a:lvl2pPr>
            <a:lvl3pPr indent="0" lvl="2" marL="12700" marR="0" rtl="0" algn="l">
              <a:lnSpc>
                <a:spcPct val="104545"/>
              </a:lnSpc>
              <a:spcBef>
                <a:spcPts val="0"/>
              </a:spcBef>
              <a:buNone/>
              <a:defRPr b="0" i="0" sz="1100">
                <a:solidFill>
                  <a:schemeClr val="dk1"/>
                </a:solidFill>
                <a:latin typeface="Calibri"/>
                <a:ea typeface="Calibri"/>
                <a:cs typeface="Calibri"/>
                <a:sym typeface="Calibri"/>
              </a:defRPr>
            </a:lvl3pPr>
            <a:lvl4pPr indent="0" lvl="3" marL="12700" marR="0" rtl="0" algn="l">
              <a:lnSpc>
                <a:spcPct val="104545"/>
              </a:lnSpc>
              <a:spcBef>
                <a:spcPts val="0"/>
              </a:spcBef>
              <a:buNone/>
              <a:defRPr b="0" i="0" sz="1100">
                <a:solidFill>
                  <a:schemeClr val="dk1"/>
                </a:solidFill>
                <a:latin typeface="Calibri"/>
                <a:ea typeface="Calibri"/>
                <a:cs typeface="Calibri"/>
                <a:sym typeface="Calibri"/>
              </a:defRPr>
            </a:lvl4pPr>
            <a:lvl5pPr indent="0" lvl="4" marL="12700" marR="0" rtl="0" algn="l">
              <a:lnSpc>
                <a:spcPct val="104545"/>
              </a:lnSpc>
              <a:spcBef>
                <a:spcPts val="0"/>
              </a:spcBef>
              <a:buNone/>
              <a:defRPr b="0" i="0" sz="1100">
                <a:solidFill>
                  <a:schemeClr val="dk1"/>
                </a:solidFill>
                <a:latin typeface="Calibri"/>
                <a:ea typeface="Calibri"/>
                <a:cs typeface="Calibri"/>
                <a:sym typeface="Calibri"/>
              </a:defRPr>
            </a:lvl5pPr>
            <a:lvl6pPr indent="0" lvl="5" marL="12700" marR="0" rtl="0" algn="l">
              <a:lnSpc>
                <a:spcPct val="104545"/>
              </a:lnSpc>
              <a:spcBef>
                <a:spcPts val="0"/>
              </a:spcBef>
              <a:buNone/>
              <a:defRPr b="0" i="0" sz="1100">
                <a:solidFill>
                  <a:schemeClr val="dk1"/>
                </a:solidFill>
                <a:latin typeface="Calibri"/>
                <a:ea typeface="Calibri"/>
                <a:cs typeface="Calibri"/>
                <a:sym typeface="Calibri"/>
              </a:defRPr>
            </a:lvl6pPr>
            <a:lvl7pPr indent="0" lvl="6" marL="12700" marR="0" rtl="0" algn="l">
              <a:lnSpc>
                <a:spcPct val="104545"/>
              </a:lnSpc>
              <a:spcBef>
                <a:spcPts val="0"/>
              </a:spcBef>
              <a:buNone/>
              <a:defRPr b="0" i="0" sz="1100">
                <a:solidFill>
                  <a:schemeClr val="dk1"/>
                </a:solidFill>
                <a:latin typeface="Calibri"/>
                <a:ea typeface="Calibri"/>
                <a:cs typeface="Calibri"/>
                <a:sym typeface="Calibri"/>
              </a:defRPr>
            </a:lvl7pPr>
            <a:lvl8pPr indent="0" lvl="7" marL="12700" marR="0" rtl="0" algn="l">
              <a:lnSpc>
                <a:spcPct val="104545"/>
              </a:lnSpc>
              <a:spcBef>
                <a:spcPts val="0"/>
              </a:spcBef>
              <a:buNone/>
              <a:defRPr b="0" i="0" sz="1100">
                <a:solidFill>
                  <a:schemeClr val="dk1"/>
                </a:solidFill>
                <a:latin typeface="Calibri"/>
                <a:ea typeface="Calibri"/>
                <a:cs typeface="Calibri"/>
                <a:sym typeface="Calibri"/>
              </a:defRPr>
            </a:lvl8pPr>
            <a:lvl9pPr indent="0" lvl="8" marL="12700" marR="0" rtl="0" algn="l">
              <a:lnSpc>
                <a:spcPct val="104545"/>
              </a:lnSpc>
              <a:spcBef>
                <a:spcPts val="0"/>
              </a:spcBef>
              <a:buNone/>
              <a:defRPr b="0" i="0" sz="1100">
                <a:solidFill>
                  <a:schemeClr val="dk1"/>
                </a:solidFill>
                <a:latin typeface="Calibri"/>
                <a:ea typeface="Calibri"/>
                <a:cs typeface="Calibri"/>
                <a:sym typeface="Calibri"/>
              </a:defRPr>
            </a:lvl9pPr>
          </a:lstStyle>
          <a:p>
            <a:pPr indent="0" lvl="0" marL="12700" rtl="0" algn="l">
              <a:spcBef>
                <a:spcPts val="0"/>
              </a:spcBef>
              <a:spcAft>
                <a:spcPts val="0"/>
              </a:spcAft>
              <a:buNone/>
            </a:pPr>
            <a:r>
              <a:rPr lang="en-US"/>
              <a:t>Hal :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76" name="Shape 76"/>
        <p:cNvGrpSpPr/>
        <p:nvPr/>
      </p:nvGrpSpPr>
      <p:grpSpPr>
        <a:xfrm>
          <a:off x="0" y="0"/>
          <a:ext cx="0" cy="0"/>
          <a:chOff x="0" y="0"/>
          <a:chExt cx="0" cy="0"/>
        </a:xfrm>
      </p:grpSpPr>
      <p:sp>
        <p:nvSpPr>
          <p:cNvPr id="77" name="Google Shape;77;p26"/>
          <p:cNvSpPr txBox="1"/>
          <p:nvPr>
            <p:ph type="title"/>
          </p:nvPr>
        </p:nvSpPr>
        <p:spPr>
          <a:xfrm>
            <a:off x="519510" y="569326"/>
            <a:ext cx="6517481" cy="206689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2727"/>
              <a:buFont typeface="Calibri"/>
              <a:buNone/>
              <a:defRPr b="0" i="0" sz="2727"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5.png"/><Relationship Id="rId3" Type="http://schemas.openxmlformats.org/officeDocument/2006/relationships/slideLayout" Target="../slideLayouts/slideLayout5.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theme" Target="../theme/theme2.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1.png"/><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theme" Target="../theme/theme7.xml"/></Relationships>
</file>

<file path=ppt/slideMasters/_rels/slideMaster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slideLayout" Target="../slideLayouts/slideLayout10.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p:nvPr/>
        </p:nvSpPr>
        <p:spPr>
          <a:xfrm rot="-5400000">
            <a:off x="5443042" y="8579937"/>
            <a:ext cx="2937746" cy="1289173"/>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116" u="none" cap="none" strike="noStrike">
              <a:solidFill>
                <a:schemeClr val="lt1"/>
              </a:solidFill>
              <a:latin typeface="Calibri"/>
              <a:ea typeface="Calibri"/>
              <a:cs typeface="Calibri"/>
              <a:sym typeface="Calibri"/>
            </a:endParaRPr>
          </a:p>
        </p:txBody>
      </p:sp>
      <p:sp>
        <p:nvSpPr>
          <p:cNvPr id="7" name="Google Shape;7;p11"/>
          <p:cNvSpPr/>
          <p:nvPr/>
        </p:nvSpPr>
        <p:spPr>
          <a:xfrm>
            <a:off x="0" y="9685517"/>
            <a:ext cx="7556500" cy="1007882"/>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4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0" i="0" lang="en-US" sz="1240" u="none" cap="none" strike="noStrike">
                <a:solidFill>
                  <a:schemeClr val="dk1"/>
                </a:solidFill>
                <a:latin typeface="Calibri"/>
                <a:ea typeface="Calibri"/>
                <a:cs typeface="Calibri"/>
                <a:sym typeface="Calibri"/>
              </a:rPr>
              <a:t>Program Studi Teknik Informatika, Universitas Pamulang</a:t>
            </a:r>
            <a:endParaRPr b="0" i="0" sz="124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0" i="0" lang="en-US" sz="1240" u="none" cap="none" strike="noStrike">
                <a:solidFill>
                  <a:schemeClr val="dk1"/>
                </a:solidFill>
                <a:latin typeface="Calibri"/>
                <a:ea typeface="Calibri"/>
                <a:cs typeface="Calibri"/>
                <a:sym typeface="Calibri"/>
              </a:rPr>
              <a:t> </a:t>
            </a:r>
            <a:endParaRPr b="0" i="0" sz="1240" u="none" cap="none" strike="noStrike">
              <a:solidFill>
                <a:schemeClr val="dk1"/>
              </a:solidFill>
              <a:latin typeface="Calibri"/>
              <a:ea typeface="Calibri"/>
              <a:cs typeface="Calibri"/>
              <a:sym typeface="Calibri"/>
            </a:endParaRPr>
          </a:p>
        </p:txBody>
      </p:sp>
      <p:sp>
        <p:nvSpPr>
          <p:cNvPr id="8" name="Google Shape;8;p11"/>
          <p:cNvSpPr/>
          <p:nvPr/>
        </p:nvSpPr>
        <p:spPr>
          <a:xfrm>
            <a:off x="0" y="7912330"/>
            <a:ext cx="990234" cy="2781070"/>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116" u="none" cap="none" strike="noStrike">
              <a:solidFill>
                <a:schemeClr val="lt1"/>
              </a:solidFill>
              <a:latin typeface="Calibri"/>
              <a:ea typeface="Calibri"/>
              <a:cs typeface="Calibri"/>
              <a:sym typeface="Calibri"/>
            </a:endParaRPr>
          </a:p>
        </p:txBody>
      </p:sp>
      <p:pic>
        <p:nvPicPr>
          <p:cNvPr id="9" name="Google Shape;9;p11"/>
          <p:cNvPicPr preferRelativeResize="0"/>
          <p:nvPr/>
        </p:nvPicPr>
        <p:blipFill rotWithShape="1">
          <a:blip r:embed="rId1">
            <a:alphaModFix/>
          </a:blip>
          <a:srcRect b="0" l="0" r="0" t="0"/>
          <a:stretch/>
        </p:blipFill>
        <p:spPr>
          <a:xfrm>
            <a:off x="6879174" y="8927210"/>
            <a:ext cx="646187" cy="1578039"/>
          </a:xfrm>
          <a:prstGeom prst="rect">
            <a:avLst/>
          </a:prstGeom>
          <a:noFill/>
          <a:ln>
            <a:noFill/>
          </a:ln>
        </p:spPr>
      </p:pic>
      <p:pic>
        <p:nvPicPr>
          <p:cNvPr id="10" name="Google Shape;10;p11"/>
          <p:cNvPicPr preferRelativeResize="0"/>
          <p:nvPr/>
        </p:nvPicPr>
        <p:blipFill rotWithShape="1">
          <a:blip r:embed="rId2">
            <a:alphaModFix/>
          </a:blip>
          <a:srcRect b="0" l="0" r="0" t="0"/>
          <a:stretch/>
        </p:blipFill>
        <p:spPr>
          <a:xfrm>
            <a:off x="-74735" y="9145046"/>
            <a:ext cx="869870" cy="1548351"/>
          </a:xfrm>
          <a:prstGeom prst="rect">
            <a:avLst/>
          </a:prstGeom>
          <a:noFill/>
          <a:ln>
            <a:noFill/>
          </a:ln>
        </p:spPr>
      </p:pic>
      <p:sp>
        <p:nvSpPr>
          <p:cNvPr id="11" name="Google Shape;11;p11"/>
          <p:cNvSpPr txBox="1"/>
          <p:nvPr/>
        </p:nvSpPr>
        <p:spPr>
          <a:xfrm>
            <a:off x="2416419" y="4089343"/>
            <a:ext cx="3219817" cy="6074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347" u="none" cap="none" strike="noStrike">
                <a:solidFill>
                  <a:schemeClr val="dk1"/>
                </a:solidFill>
                <a:latin typeface="Calibri"/>
                <a:ea typeface="Calibri"/>
                <a:cs typeface="Calibri"/>
                <a:sym typeface="Calibri"/>
              </a:rPr>
              <a:t>TERIMA KASIH</a:t>
            </a:r>
            <a:endParaRPr sz="3347">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14"/>
          <p:cNvSpPr txBox="1"/>
          <p:nvPr>
            <p:ph type="title"/>
          </p:nvPr>
        </p:nvSpPr>
        <p:spPr>
          <a:xfrm>
            <a:off x="519510" y="1878077"/>
            <a:ext cx="6517481" cy="2066896"/>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2727"/>
              <a:buFont typeface="Calibri"/>
              <a:buNone/>
              <a:defRPr b="0" i="0" sz="2727"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 name="Google Shape;20;p14"/>
          <p:cNvSpPr/>
          <p:nvPr/>
        </p:nvSpPr>
        <p:spPr>
          <a:xfrm>
            <a:off x="0" y="9917836"/>
            <a:ext cx="7556500" cy="775565"/>
          </a:xfrm>
          <a:prstGeom prst="flowChartProcess">
            <a:avLst/>
          </a:prstGeom>
          <a:solidFill>
            <a:schemeClr val="accent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16">
              <a:solidFill>
                <a:schemeClr val="lt1"/>
              </a:solidFill>
              <a:latin typeface="Calibri"/>
              <a:ea typeface="Calibri"/>
              <a:cs typeface="Calibri"/>
              <a:sym typeface="Calibri"/>
            </a:endParaRPr>
          </a:p>
        </p:txBody>
      </p:sp>
      <p:pic>
        <p:nvPicPr>
          <p:cNvPr id="21" name="Google Shape;21;p14"/>
          <p:cNvPicPr preferRelativeResize="0"/>
          <p:nvPr/>
        </p:nvPicPr>
        <p:blipFill rotWithShape="1">
          <a:blip r:embed="rId1">
            <a:alphaModFix/>
          </a:blip>
          <a:srcRect b="0" l="0" r="0" t="0"/>
          <a:stretch/>
        </p:blipFill>
        <p:spPr>
          <a:xfrm>
            <a:off x="1268871" y="10015029"/>
            <a:ext cx="280777" cy="684686"/>
          </a:xfrm>
          <a:prstGeom prst="rect">
            <a:avLst/>
          </a:prstGeom>
          <a:noFill/>
          <a:ln>
            <a:noFill/>
          </a:ln>
        </p:spPr>
      </p:pic>
      <p:pic>
        <p:nvPicPr>
          <p:cNvPr id="22" name="Google Shape;22;p14"/>
          <p:cNvPicPr preferRelativeResize="0"/>
          <p:nvPr/>
        </p:nvPicPr>
        <p:blipFill rotWithShape="1">
          <a:blip r:embed="rId2">
            <a:alphaModFix/>
          </a:blip>
          <a:srcRect b="0" l="0" r="0" t="0"/>
          <a:stretch/>
        </p:blipFill>
        <p:spPr>
          <a:xfrm>
            <a:off x="61758" y="10008975"/>
            <a:ext cx="235825" cy="593284"/>
          </a:xfrm>
          <a:prstGeom prst="rect">
            <a:avLst/>
          </a:prstGeom>
          <a:noFill/>
          <a:ln>
            <a:noFill/>
          </a:ln>
        </p:spPr>
      </p:pic>
      <p:sp>
        <p:nvSpPr>
          <p:cNvPr id="23" name="Google Shape;23;p14"/>
          <p:cNvSpPr txBox="1"/>
          <p:nvPr/>
        </p:nvSpPr>
        <p:spPr>
          <a:xfrm>
            <a:off x="297583" y="9998012"/>
            <a:ext cx="1111678" cy="2640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16">
                <a:solidFill>
                  <a:schemeClr val="dk1"/>
                </a:solidFill>
                <a:latin typeface="Calibri"/>
                <a:ea typeface="Calibri"/>
                <a:cs typeface="Calibri"/>
                <a:sym typeface="Calibri"/>
              </a:rPr>
              <a:t>InfoTI_unpam</a:t>
            </a:r>
            <a:endParaRPr sz="1116">
              <a:solidFill>
                <a:schemeClr val="dk1"/>
              </a:solidFill>
              <a:latin typeface="Calibri"/>
              <a:ea typeface="Calibri"/>
              <a:cs typeface="Calibri"/>
              <a:sym typeface="Calibri"/>
            </a:endParaRPr>
          </a:p>
        </p:txBody>
      </p:sp>
      <p:sp>
        <p:nvSpPr>
          <p:cNvPr id="24" name="Google Shape;24;p14"/>
          <p:cNvSpPr txBox="1"/>
          <p:nvPr/>
        </p:nvSpPr>
        <p:spPr>
          <a:xfrm>
            <a:off x="1566454" y="9998012"/>
            <a:ext cx="1672046" cy="2640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16">
                <a:solidFill>
                  <a:schemeClr val="dk1"/>
                </a:solidFill>
                <a:latin typeface="Calibri"/>
                <a:ea typeface="Calibri"/>
                <a:cs typeface="Calibri"/>
                <a:sym typeface="Calibri"/>
              </a:rPr>
              <a:t>informatika.unpam.ac.id</a:t>
            </a:r>
            <a:endParaRPr sz="1116">
              <a:solidFill>
                <a:schemeClr val="dk1"/>
              </a:solidFill>
              <a:latin typeface="Calibri"/>
              <a:ea typeface="Calibri"/>
              <a:cs typeface="Calibri"/>
              <a:sym typeface="Calibri"/>
            </a:endParaRPr>
          </a:p>
        </p:txBody>
      </p:sp>
      <p:pic>
        <p:nvPicPr>
          <p:cNvPr id="25" name="Google Shape;25;p14"/>
          <p:cNvPicPr preferRelativeResize="0"/>
          <p:nvPr/>
        </p:nvPicPr>
        <p:blipFill rotWithShape="1">
          <a:blip r:embed="rId3">
            <a:alphaModFix/>
          </a:blip>
          <a:srcRect b="0" l="0" r="0" t="0"/>
          <a:stretch/>
        </p:blipFill>
        <p:spPr>
          <a:xfrm>
            <a:off x="7092894" y="9998012"/>
            <a:ext cx="401849" cy="715284"/>
          </a:xfrm>
          <a:prstGeom prst="rect">
            <a:avLst/>
          </a:prstGeom>
          <a:noFill/>
          <a:ln>
            <a:noFill/>
          </a:ln>
        </p:spPr>
      </p:pic>
      <p:pic>
        <p:nvPicPr>
          <p:cNvPr id="26" name="Google Shape;26;p14"/>
          <p:cNvPicPr preferRelativeResize="0"/>
          <p:nvPr/>
        </p:nvPicPr>
        <p:blipFill rotWithShape="1">
          <a:blip r:embed="rId4">
            <a:alphaModFix/>
          </a:blip>
          <a:srcRect b="0" l="0" r="0" t="0"/>
          <a:stretch/>
        </p:blipFill>
        <p:spPr>
          <a:xfrm>
            <a:off x="6775308" y="9927782"/>
            <a:ext cx="317585" cy="77556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 name="Shape 33"/>
        <p:cNvGrpSpPr/>
        <p:nvPr/>
      </p:nvGrpSpPr>
      <p:grpSpPr>
        <a:xfrm>
          <a:off x="0" y="0"/>
          <a:ext cx="0" cy="0"/>
          <a:chOff x="0" y="0"/>
          <a:chExt cx="0" cy="0"/>
        </a:xfrm>
      </p:grpSpPr>
      <p:sp>
        <p:nvSpPr>
          <p:cNvPr id="34" name="Google Shape;34;p17"/>
          <p:cNvSpPr/>
          <p:nvPr/>
        </p:nvSpPr>
        <p:spPr>
          <a:xfrm rot="-5400000">
            <a:off x="5443042" y="8579937"/>
            <a:ext cx="2937746" cy="1289173"/>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16">
              <a:solidFill>
                <a:schemeClr val="lt1"/>
              </a:solidFill>
              <a:latin typeface="Calibri"/>
              <a:ea typeface="Calibri"/>
              <a:cs typeface="Calibri"/>
              <a:sym typeface="Calibri"/>
            </a:endParaRPr>
          </a:p>
        </p:txBody>
      </p:sp>
      <p:sp>
        <p:nvSpPr>
          <p:cNvPr id="35" name="Google Shape;35;p17"/>
          <p:cNvSpPr/>
          <p:nvPr/>
        </p:nvSpPr>
        <p:spPr>
          <a:xfrm>
            <a:off x="0" y="9685517"/>
            <a:ext cx="7556500" cy="1007882"/>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40">
              <a:solidFill>
                <a:schemeClr val="dk1"/>
              </a:solidFill>
              <a:latin typeface="Calibri"/>
              <a:ea typeface="Calibri"/>
              <a:cs typeface="Calibri"/>
              <a:sym typeface="Calibri"/>
            </a:endParaRPr>
          </a:p>
          <a:p>
            <a:pPr indent="0" lvl="0" marL="0" marR="0" rtl="0" algn="ctr">
              <a:spcBef>
                <a:spcPts val="0"/>
              </a:spcBef>
              <a:spcAft>
                <a:spcPts val="0"/>
              </a:spcAft>
              <a:buNone/>
            </a:pPr>
            <a:r>
              <a:rPr lang="en-US" sz="1240">
                <a:solidFill>
                  <a:schemeClr val="dk1"/>
                </a:solidFill>
                <a:latin typeface="Calibri"/>
                <a:ea typeface="Calibri"/>
                <a:cs typeface="Calibri"/>
                <a:sym typeface="Calibri"/>
              </a:rPr>
              <a:t>Program Studi Teknik Informatika, Universitas Pamulang</a:t>
            </a:r>
            <a:endParaRPr sz="1240">
              <a:solidFill>
                <a:schemeClr val="dk1"/>
              </a:solidFill>
              <a:latin typeface="Calibri"/>
              <a:ea typeface="Calibri"/>
              <a:cs typeface="Calibri"/>
              <a:sym typeface="Calibri"/>
            </a:endParaRPr>
          </a:p>
          <a:p>
            <a:pPr indent="0" lvl="0" marL="0" marR="0" rtl="0" algn="ctr">
              <a:spcBef>
                <a:spcPts val="0"/>
              </a:spcBef>
              <a:spcAft>
                <a:spcPts val="0"/>
              </a:spcAft>
              <a:buNone/>
            </a:pPr>
            <a:r>
              <a:rPr lang="en-US" sz="1240">
                <a:solidFill>
                  <a:schemeClr val="dk1"/>
                </a:solidFill>
                <a:latin typeface="Calibri"/>
                <a:ea typeface="Calibri"/>
                <a:cs typeface="Calibri"/>
                <a:sym typeface="Calibri"/>
              </a:rPr>
              <a:t> </a:t>
            </a:r>
            <a:endParaRPr sz="1240">
              <a:solidFill>
                <a:schemeClr val="dk1"/>
              </a:solidFill>
              <a:latin typeface="Calibri"/>
              <a:ea typeface="Calibri"/>
              <a:cs typeface="Calibri"/>
              <a:sym typeface="Calibri"/>
            </a:endParaRPr>
          </a:p>
        </p:txBody>
      </p:sp>
      <p:sp>
        <p:nvSpPr>
          <p:cNvPr id="36" name="Google Shape;36;p17"/>
          <p:cNvSpPr/>
          <p:nvPr/>
        </p:nvSpPr>
        <p:spPr>
          <a:xfrm>
            <a:off x="0" y="7912330"/>
            <a:ext cx="990234" cy="2781070"/>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16">
              <a:solidFill>
                <a:schemeClr val="lt1"/>
              </a:solidFill>
              <a:latin typeface="Calibri"/>
              <a:ea typeface="Calibri"/>
              <a:cs typeface="Calibri"/>
              <a:sym typeface="Calibri"/>
            </a:endParaRPr>
          </a:p>
        </p:txBody>
      </p:sp>
      <p:pic>
        <p:nvPicPr>
          <p:cNvPr id="37" name="Google Shape;37;p17"/>
          <p:cNvPicPr preferRelativeResize="0"/>
          <p:nvPr/>
        </p:nvPicPr>
        <p:blipFill rotWithShape="1">
          <a:blip r:embed="rId1">
            <a:alphaModFix/>
          </a:blip>
          <a:srcRect b="0" l="0" r="0" t="0"/>
          <a:stretch/>
        </p:blipFill>
        <p:spPr>
          <a:xfrm>
            <a:off x="6879174" y="8927210"/>
            <a:ext cx="646187" cy="1578039"/>
          </a:xfrm>
          <a:prstGeom prst="rect">
            <a:avLst/>
          </a:prstGeom>
          <a:noFill/>
          <a:ln>
            <a:noFill/>
          </a:ln>
        </p:spPr>
      </p:pic>
      <p:pic>
        <p:nvPicPr>
          <p:cNvPr id="38" name="Google Shape;38;p17"/>
          <p:cNvPicPr preferRelativeResize="0"/>
          <p:nvPr/>
        </p:nvPicPr>
        <p:blipFill rotWithShape="1">
          <a:blip r:embed="rId2">
            <a:alphaModFix/>
          </a:blip>
          <a:srcRect b="0" l="0" r="0" t="0"/>
          <a:stretch/>
        </p:blipFill>
        <p:spPr>
          <a:xfrm>
            <a:off x="-74735" y="9145046"/>
            <a:ext cx="869870" cy="1548351"/>
          </a:xfrm>
          <a:prstGeom prst="rect">
            <a:avLst/>
          </a:prstGeom>
          <a:noFill/>
          <a:ln>
            <a:noFill/>
          </a:ln>
        </p:spPr>
      </p:pic>
      <p:sp>
        <p:nvSpPr>
          <p:cNvPr id="39" name="Google Shape;39;p17"/>
          <p:cNvSpPr/>
          <p:nvPr/>
        </p:nvSpPr>
        <p:spPr>
          <a:xfrm>
            <a:off x="0" y="4026672"/>
            <a:ext cx="7556500" cy="1007882"/>
          </a:xfrm>
          <a:prstGeom prst="flowChartProcess">
            <a:avLst/>
          </a:prstGeom>
          <a:solidFill>
            <a:schemeClr val="accent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16">
                <a:solidFill>
                  <a:schemeClr val="lt1"/>
                </a:solidFill>
                <a:latin typeface="Calibri"/>
                <a:ea typeface="Calibri"/>
                <a:cs typeface="Calibri"/>
                <a:sym typeface="Calibri"/>
              </a:rPr>
              <a:t>TERIMA KASIH, MAHASISWA TEKNIK INFORMATIKA UNGGUL, ANDA SUDAH BELAJAR DENGAN LUAR BIASA</a:t>
            </a:r>
            <a:endParaRPr sz="1116">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55"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 name="Shape 42"/>
        <p:cNvGrpSpPr/>
        <p:nvPr/>
      </p:nvGrpSpPr>
      <p:grpSpPr>
        <a:xfrm>
          <a:off x="0" y="0"/>
          <a:ext cx="0" cy="0"/>
          <a:chOff x="0" y="0"/>
          <a:chExt cx="0" cy="0"/>
        </a:xfrm>
      </p:grpSpPr>
      <p:pic>
        <p:nvPicPr>
          <p:cNvPr id="43" name="Google Shape;43;p19"/>
          <p:cNvPicPr preferRelativeResize="0"/>
          <p:nvPr/>
        </p:nvPicPr>
        <p:blipFill rotWithShape="1">
          <a:blip r:embed="rId1">
            <a:alphaModFix/>
          </a:blip>
          <a:srcRect b="0" l="0" r="0" t="0"/>
          <a:stretch/>
        </p:blipFill>
        <p:spPr>
          <a:xfrm>
            <a:off x="2266950" y="3208020"/>
            <a:ext cx="3022600" cy="4277360"/>
          </a:xfrm>
          <a:prstGeom prst="rect">
            <a:avLst/>
          </a:prstGeom>
          <a:noFill/>
          <a:ln>
            <a:noFill/>
          </a:ln>
        </p:spPr>
      </p:pic>
      <p:sp>
        <p:nvSpPr>
          <p:cNvPr id="44" name="Google Shape;44;p19"/>
          <p:cNvSpPr/>
          <p:nvPr/>
        </p:nvSpPr>
        <p:spPr>
          <a:xfrm rot="-5400000">
            <a:off x="5443042" y="8579937"/>
            <a:ext cx="2937746" cy="1289173"/>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16">
              <a:solidFill>
                <a:schemeClr val="lt1"/>
              </a:solidFill>
              <a:latin typeface="Calibri"/>
              <a:ea typeface="Calibri"/>
              <a:cs typeface="Calibri"/>
              <a:sym typeface="Calibri"/>
            </a:endParaRPr>
          </a:p>
        </p:txBody>
      </p:sp>
      <p:sp>
        <p:nvSpPr>
          <p:cNvPr id="45" name="Google Shape;45;p19"/>
          <p:cNvSpPr/>
          <p:nvPr/>
        </p:nvSpPr>
        <p:spPr>
          <a:xfrm>
            <a:off x="0" y="9685517"/>
            <a:ext cx="7556500" cy="1007882"/>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40">
              <a:solidFill>
                <a:schemeClr val="dk1"/>
              </a:solidFill>
              <a:latin typeface="Calibri"/>
              <a:ea typeface="Calibri"/>
              <a:cs typeface="Calibri"/>
              <a:sym typeface="Calibri"/>
            </a:endParaRPr>
          </a:p>
          <a:p>
            <a:pPr indent="0" lvl="0" marL="0" marR="0" rtl="0" algn="ctr">
              <a:spcBef>
                <a:spcPts val="0"/>
              </a:spcBef>
              <a:spcAft>
                <a:spcPts val="0"/>
              </a:spcAft>
              <a:buNone/>
            </a:pPr>
            <a:r>
              <a:rPr lang="en-US" sz="1240">
                <a:solidFill>
                  <a:schemeClr val="dk1"/>
                </a:solidFill>
                <a:latin typeface="Calibri"/>
                <a:ea typeface="Calibri"/>
                <a:cs typeface="Calibri"/>
                <a:sym typeface="Calibri"/>
              </a:rPr>
              <a:t>Program Studi Teknik Informatika, Universitas Pamulang</a:t>
            </a:r>
            <a:endParaRPr sz="1240">
              <a:solidFill>
                <a:schemeClr val="dk1"/>
              </a:solidFill>
              <a:latin typeface="Calibri"/>
              <a:ea typeface="Calibri"/>
              <a:cs typeface="Calibri"/>
              <a:sym typeface="Calibri"/>
            </a:endParaRPr>
          </a:p>
          <a:p>
            <a:pPr indent="0" lvl="0" marL="0" marR="0" rtl="0" algn="ctr">
              <a:spcBef>
                <a:spcPts val="0"/>
              </a:spcBef>
              <a:spcAft>
                <a:spcPts val="0"/>
              </a:spcAft>
              <a:buNone/>
            </a:pPr>
            <a:r>
              <a:rPr lang="en-US" sz="1240">
                <a:solidFill>
                  <a:schemeClr val="dk1"/>
                </a:solidFill>
                <a:latin typeface="Calibri"/>
                <a:ea typeface="Calibri"/>
                <a:cs typeface="Calibri"/>
                <a:sym typeface="Calibri"/>
              </a:rPr>
              <a:t> </a:t>
            </a:r>
            <a:endParaRPr sz="1240">
              <a:solidFill>
                <a:schemeClr val="dk1"/>
              </a:solidFill>
              <a:latin typeface="Calibri"/>
              <a:ea typeface="Calibri"/>
              <a:cs typeface="Calibri"/>
              <a:sym typeface="Calibri"/>
            </a:endParaRPr>
          </a:p>
        </p:txBody>
      </p:sp>
      <p:sp>
        <p:nvSpPr>
          <p:cNvPr id="46" name="Google Shape;46;p19"/>
          <p:cNvSpPr/>
          <p:nvPr/>
        </p:nvSpPr>
        <p:spPr>
          <a:xfrm>
            <a:off x="0" y="7912330"/>
            <a:ext cx="990234" cy="2781070"/>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16">
              <a:solidFill>
                <a:schemeClr val="lt1"/>
              </a:solidFill>
              <a:latin typeface="Calibri"/>
              <a:ea typeface="Calibri"/>
              <a:cs typeface="Calibri"/>
              <a:sym typeface="Calibri"/>
            </a:endParaRPr>
          </a:p>
        </p:txBody>
      </p:sp>
      <p:pic>
        <p:nvPicPr>
          <p:cNvPr id="47" name="Google Shape;47;p19"/>
          <p:cNvPicPr preferRelativeResize="0"/>
          <p:nvPr/>
        </p:nvPicPr>
        <p:blipFill rotWithShape="1">
          <a:blip r:embed="rId2">
            <a:alphaModFix/>
          </a:blip>
          <a:srcRect b="0" l="0" r="0" t="0"/>
          <a:stretch/>
        </p:blipFill>
        <p:spPr>
          <a:xfrm>
            <a:off x="6879174" y="8927210"/>
            <a:ext cx="646187" cy="1578039"/>
          </a:xfrm>
          <a:prstGeom prst="rect">
            <a:avLst/>
          </a:prstGeom>
          <a:noFill/>
          <a:ln>
            <a:noFill/>
          </a:ln>
        </p:spPr>
      </p:pic>
      <p:pic>
        <p:nvPicPr>
          <p:cNvPr id="48" name="Google Shape;48;p19"/>
          <p:cNvPicPr preferRelativeResize="0"/>
          <p:nvPr/>
        </p:nvPicPr>
        <p:blipFill rotWithShape="1">
          <a:blip r:embed="rId3">
            <a:alphaModFix/>
          </a:blip>
          <a:srcRect b="0" l="0" r="0" t="0"/>
          <a:stretch/>
        </p:blipFill>
        <p:spPr>
          <a:xfrm>
            <a:off x="-74735" y="9145046"/>
            <a:ext cx="869870" cy="1548351"/>
          </a:xfrm>
          <a:prstGeom prst="rect">
            <a:avLst/>
          </a:prstGeom>
          <a:noFill/>
          <a:ln>
            <a:noFill/>
          </a:ln>
        </p:spPr>
      </p:pic>
      <p:sp>
        <p:nvSpPr>
          <p:cNvPr id="49" name="Google Shape;49;p19"/>
          <p:cNvSpPr/>
          <p:nvPr/>
        </p:nvSpPr>
        <p:spPr>
          <a:xfrm>
            <a:off x="0" y="1"/>
            <a:ext cx="7556500" cy="1007882"/>
          </a:xfrm>
          <a:prstGeom prst="flowChartProcess">
            <a:avLst/>
          </a:prstGeom>
          <a:solidFill>
            <a:schemeClr val="accent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16">
                <a:solidFill>
                  <a:schemeClr val="lt1"/>
                </a:solidFill>
                <a:latin typeface="Calibri"/>
                <a:ea typeface="Calibri"/>
                <a:cs typeface="Calibri"/>
                <a:sym typeface="Calibri"/>
              </a:rPr>
              <a:t>TERIMA KASIH, MAHASISWA TEKNIK INFORMATIKA UNGGUL, ANDA SUDAH BELAJAR DENGAN LUAR BIASA</a:t>
            </a:r>
            <a:endParaRPr sz="1116">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57" r:id="rId4"/>
    <p:sldLayoutId id="2147483658"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sp>
        <p:nvSpPr>
          <p:cNvPr id="57" name="Google Shape;57;p22"/>
          <p:cNvSpPr/>
          <p:nvPr/>
        </p:nvSpPr>
        <p:spPr>
          <a:xfrm>
            <a:off x="0" y="1"/>
            <a:ext cx="7556500" cy="1878075"/>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40">
              <a:solidFill>
                <a:schemeClr val="dk1"/>
              </a:solidFill>
              <a:latin typeface="Calibri"/>
              <a:ea typeface="Calibri"/>
              <a:cs typeface="Calibri"/>
              <a:sym typeface="Calibri"/>
            </a:endParaRPr>
          </a:p>
          <a:p>
            <a:pPr indent="0" lvl="0" marL="0" marR="0" rtl="0" algn="ctr">
              <a:spcBef>
                <a:spcPts val="0"/>
              </a:spcBef>
              <a:spcAft>
                <a:spcPts val="0"/>
              </a:spcAft>
              <a:buNone/>
            </a:pPr>
            <a:r>
              <a:rPr lang="en-US" sz="1240">
                <a:solidFill>
                  <a:schemeClr val="dk1"/>
                </a:solidFill>
                <a:latin typeface="Calibri"/>
                <a:ea typeface="Calibri"/>
                <a:cs typeface="Calibri"/>
                <a:sym typeface="Calibri"/>
              </a:rPr>
              <a:t> </a:t>
            </a:r>
            <a:endParaRPr sz="1240">
              <a:solidFill>
                <a:schemeClr val="dk1"/>
              </a:solidFill>
              <a:latin typeface="Calibri"/>
              <a:ea typeface="Calibri"/>
              <a:cs typeface="Calibri"/>
              <a:sym typeface="Calibri"/>
            </a:endParaRPr>
          </a:p>
        </p:txBody>
      </p:sp>
      <p:pic>
        <p:nvPicPr>
          <p:cNvPr id="58" name="Google Shape;58;p22"/>
          <p:cNvPicPr preferRelativeResize="0"/>
          <p:nvPr/>
        </p:nvPicPr>
        <p:blipFill rotWithShape="1">
          <a:blip r:embed="rId1">
            <a:alphaModFix/>
          </a:blip>
          <a:srcRect b="0" l="0" r="0" t="0"/>
          <a:stretch/>
        </p:blipFill>
        <p:spPr>
          <a:xfrm>
            <a:off x="61757" y="60693"/>
            <a:ext cx="693722" cy="1694121"/>
          </a:xfrm>
          <a:prstGeom prst="rect">
            <a:avLst/>
          </a:prstGeom>
          <a:noFill/>
          <a:ln>
            <a:noFill/>
          </a:ln>
        </p:spPr>
      </p:pic>
      <p:sp>
        <p:nvSpPr>
          <p:cNvPr id="59" name="Google Shape;59;p22"/>
          <p:cNvSpPr txBox="1"/>
          <p:nvPr/>
        </p:nvSpPr>
        <p:spPr>
          <a:xfrm>
            <a:off x="755479" y="259882"/>
            <a:ext cx="3648158" cy="55027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88">
                <a:solidFill>
                  <a:schemeClr val="dk1"/>
                </a:solidFill>
                <a:latin typeface="Calibri"/>
                <a:ea typeface="Calibri"/>
                <a:cs typeface="Calibri"/>
                <a:sym typeface="Calibri"/>
              </a:rPr>
              <a:t>PROGRAM STUDI S1 TEKNIK INFORMATIKA</a:t>
            </a:r>
            <a:br>
              <a:rPr lang="en-US" sz="1488">
                <a:solidFill>
                  <a:schemeClr val="dk1"/>
                </a:solidFill>
                <a:latin typeface="Calibri"/>
                <a:ea typeface="Calibri"/>
                <a:cs typeface="Calibri"/>
                <a:sym typeface="Calibri"/>
              </a:rPr>
            </a:br>
            <a:r>
              <a:rPr lang="en-US" sz="1488">
                <a:solidFill>
                  <a:schemeClr val="dk1"/>
                </a:solidFill>
                <a:latin typeface="Calibri"/>
                <a:ea typeface="Calibri"/>
                <a:cs typeface="Calibri"/>
                <a:sym typeface="Calibri"/>
              </a:rPr>
              <a:t>UNIVERSITAS PAMULANG</a:t>
            </a:r>
            <a:endParaRPr sz="1488">
              <a:solidFill>
                <a:schemeClr val="dk1"/>
              </a:solidFill>
              <a:latin typeface="Calibri"/>
              <a:ea typeface="Calibri"/>
              <a:cs typeface="Calibri"/>
              <a:sym typeface="Calibri"/>
            </a:endParaRPr>
          </a:p>
        </p:txBody>
      </p:sp>
      <p:pic>
        <p:nvPicPr>
          <p:cNvPr id="60" name="Google Shape;60;p22"/>
          <p:cNvPicPr preferRelativeResize="0"/>
          <p:nvPr/>
        </p:nvPicPr>
        <p:blipFill rotWithShape="1">
          <a:blip r:embed="rId2">
            <a:alphaModFix/>
          </a:blip>
          <a:srcRect b="0" l="0" r="0" t="0"/>
          <a:stretch/>
        </p:blipFill>
        <p:spPr>
          <a:xfrm>
            <a:off x="6227885" y="0"/>
            <a:ext cx="1328615" cy="1880158"/>
          </a:xfrm>
          <a:prstGeom prst="rect">
            <a:avLst/>
          </a:prstGeom>
          <a:noFill/>
          <a:ln>
            <a:noFill/>
          </a:ln>
        </p:spPr>
      </p:pic>
      <p:sp>
        <p:nvSpPr>
          <p:cNvPr id="61" name="Google Shape;61;p22"/>
          <p:cNvSpPr txBox="1"/>
          <p:nvPr>
            <p:ph type="title"/>
          </p:nvPr>
        </p:nvSpPr>
        <p:spPr>
          <a:xfrm>
            <a:off x="519510" y="1878077"/>
            <a:ext cx="6517481" cy="2066896"/>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2727"/>
              <a:buFont typeface="Calibri"/>
              <a:buNone/>
              <a:defRPr b="0" i="0" sz="2727"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22"/>
          <p:cNvSpPr txBox="1"/>
          <p:nvPr>
            <p:ph idx="1" type="body"/>
          </p:nvPr>
        </p:nvSpPr>
        <p:spPr>
          <a:xfrm>
            <a:off x="519510" y="3632889"/>
            <a:ext cx="6517481" cy="6784864"/>
          </a:xfrm>
          <a:prstGeom prst="rect">
            <a:avLst/>
          </a:prstGeom>
          <a:noFill/>
          <a:ln>
            <a:noFill/>
          </a:ln>
        </p:spPr>
        <p:txBody>
          <a:bodyPr anchorCtr="0" anchor="t" bIns="45700" lIns="91425" spcFirstLastPara="1" rIns="91425" wrap="square" tIns="45700">
            <a:normAutofit/>
          </a:bodyPr>
          <a:lstStyle>
            <a:lvl1pPr indent="-338772" lvl="0" marL="457200" marR="0" rtl="0" algn="l">
              <a:lnSpc>
                <a:spcPct val="90000"/>
              </a:lnSpc>
              <a:spcBef>
                <a:spcPts val="620"/>
              </a:spcBef>
              <a:spcAft>
                <a:spcPts val="0"/>
              </a:spcAft>
              <a:buClr>
                <a:schemeClr val="dk1"/>
              </a:buClr>
              <a:buSzPts val="1735"/>
              <a:buFont typeface="Arial"/>
              <a:buChar char="•"/>
              <a:defRPr b="0" i="0" sz="1735" u="none" cap="none" strike="noStrike">
                <a:solidFill>
                  <a:schemeClr val="dk1"/>
                </a:solidFill>
                <a:latin typeface="Calibri"/>
                <a:ea typeface="Calibri"/>
                <a:cs typeface="Calibri"/>
                <a:sym typeface="Calibri"/>
              </a:defRPr>
            </a:lvl1pPr>
            <a:lvl2pPr indent="-323087" lvl="1" marL="914400" marR="0" rtl="0" algn="l">
              <a:lnSpc>
                <a:spcPct val="90000"/>
              </a:lnSpc>
              <a:spcBef>
                <a:spcPts val="310"/>
              </a:spcBef>
              <a:spcAft>
                <a:spcPts val="0"/>
              </a:spcAft>
              <a:buClr>
                <a:schemeClr val="dk1"/>
              </a:buClr>
              <a:buSzPts val="1488"/>
              <a:buFont typeface="Arial"/>
              <a:buChar char="•"/>
              <a:defRPr b="0" i="0" sz="1488" u="none" cap="none" strike="noStrike">
                <a:solidFill>
                  <a:schemeClr val="dk1"/>
                </a:solidFill>
                <a:latin typeface="Calibri"/>
                <a:ea typeface="Calibri"/>
                <a:cs typeface="Calibri"/>
                <a:sym typeface="Calibri"/>
              </a:defRPr>
            </a:lvl2pPr>
            <a:lvl3pPr indent="-307339" lvl="2" marL="1371600" marR="0" rtl="0" algn="l">
              <a:lnSpc>
                <a:spcPct val="90000"/>
              </a:lnSpc>
              <a:spcBef>
                <a:spcPts val="310"/>
              </a:spcBef>
              <a:spcAft>
                <a:spcPts val="0"/>
              </a:spcAft>
              <a:buClr>
                <a:schemeClr val="dk1"/>
              </a:buClr>
              <a:buSzPts val="1240"/>
              <a:buFont typeface="Arial"/>
              <a:buChar char="•"/>
              <a:defRPr b="0" i="0" sz="1240" u="none" cap="none" strike="noStrike">
                <a:solidFill>
                  <a:schemeClr val="dk1"/>
                </a:solidFill>
                <a:latin typeface="Calibri"/>
                <a:ea typeface="Calibri"/>
                <a:cs typeface="Calibri"/>
                <a:sym typeface="Calibri"/>
              </a:defRPr>
            </a:lvl3pPr>
            <a:lvl4pPr indent="-299466" lvl="3" marL="1828800" marR="0" rtl="0" algn="l">
              <a:lnSpc>
                <a:spcPct val="90000"/>
              </a:lnSpc>
              <a:spcBef>
                <a:spcPts val="310"/>
              </a:spcBef>
              <a:spcAft>
                <a:spcPts val="0"/>
              </a:spcAft>
              <a:buClr>
                <a:schemeClr val="dk1"/>
              </a:buClr>
              <a:buSzPts val="1116"/>
              <a:buFont typeface="Arial"/>
              <a:buChar char="•"/>
              <a:defRPr b="0" i="0" sz="1116" u="none" cap="none" strike="noStrike">
                <a:solidFill>
                  <a:schemeClr val="dk1"/>
                </a:solidFill>
                <a:latin typeface="Calibri"/>
                <a:ea typeface="Calibri"/>
                <a:cs typeface="Calibri"/>
                <a:sym typeface="Calibri"/>
              </a:defRPr>
            </a:lvl4pPr>
            <a:lvl5pPr indent="-299466" lvl="4" marL="2286000" marR="0" rtl="0" algn="l">
              <a:lnSpc>
                <a:spcPct val="90000"/>
              </a:lnSpc>
              <a:spcBef>
                <a:spcPts val="310"/>
              </a:spcBef>
              <a:spcAft>
                <a:spcPts val="0"/>
              </a:spcAft>
              <a:buClr>
                <a:schemeClr val="dk1"/>
              </a:buClr>
              <a:buSzPts val="1116"/>
              <a:buFont typeface="Arial"/>
              <a:buChar char="•"/>
              <a:defRPr b="0" i="0" sz="1116" u="none" cap="none" strike="noStrike">
                <a:solidFill>
                  <a:schemeClr val="dk1"/>
                </a:solidFill>
                <a:latin typeface="Calibri"/>
                <a:ea typeface="Calibri"/>
                <a:cs typeface="Calibri"/>
                <a:sym typeface="Calibri"/>
              </a:defRPr>
            </a:lvl5pPr>
            <a:lvl6pPr indent="-299466" lvl="5" marL="2743200" marR="0" rtl="0" algn="l">
              <a:lnSpc>
                <a:spcPct val="90000"/>
              </a:lnSpc>
              <a:spcBef>
                <a:spcPts val="310"/>
              </a:spcBef>
              <a:spcAft>
                <a:spcPts val="0"/>
              </a:spcAft>
              <a:buClr>
                <a:schemeClr val="dk1"/>
              </a:buClr>
              <a:buSzPts val="1116"/>
              <a:buFont typeface="Arial"/>
              <a:buChar char="•"/>
              <a:defRPr b="0" i="0" sz="1116" u="none" cap="none" strike="noStrike">
                <a:solidFill>
                  <a:schemeClr val="dk1"/>
                </a:solidFill>
                <a:latin typeface="Calibri"/>
                <a:ea typeface="Calibri"/>
                <a:cs typeface="Calibri"/>
                <a:sym typeface="Calibri"/>
              </a:defRPr>
            </a:lvl6pPr>
            <a:lvl7pPr indent="-299466" lvl="6" marL="3200400" marR="0" rtl="0" algn="l">
              <a:lnSpc>
                <a:spcPct val="90000"/>
              </a:lnSpc>
              <a:spcBef>
                <a:spcPts val="310"/>
              </a:spcBef>
              <a:spcAft>
                <a:spcPts val="0"/>
              </a:spcAft>
              <a:buClr>
                <a:schemeClr val="dk1"/>
              </a:buClr>
              <a:buSzPts val="1116"/>
              <a:buFont typeface="Arial"/>
              <a:buChar char="•"/>
              <a:defRPr b="0" i="0" sz="1116" u="none" cap="none" strike="noStrike">
                <a:solidFill>
                  <a:schemeClr val="dk1"/>
                </a:solidFill>
                <a:latin typeface="Calibri"/>
                <a:ea typeface="Calibri"/>
                <a:cs typeface="Calibri"/>
                <a:sym typeface="Calibri"/>
              </a:defRPr>
            </a:lvl7pPr>
            <a:lvl8pPr indent="-299465" lvl="7" marL="3657600" marR="0" rtl="0" algn="l">
              <a:lnSpc>
                <a:spcPct val="90000"/>
              </a:lnSpc>
              <a:spcBef>
                <a:spcPts val="310"/>
              </a:spcBef>
              <a:spcAft>
                <a:spcPts val="0"/>
              </a:spcAft>
              <a:buClr>
                <a:schemeClr val="dk1"/>
              </a:buClr>
              <a:buSzPts val="1116"/>
              <a:buFont typeface="Arial"/>
              <a:buChar char="•"/>
              <a:defRPr b="0" i="0" sz="1116" u="none" cap="none" strike="noStrike">
                <a:solidFill>
                  <a:schemeClr val="dk1"/>
                </a:solidFill>
                <a:latin typeface="Calibri"/>
                <a:ea typeface="Calibri"/>
                <a:cs typeface="Calibri"/>
                <a:sym typeface="Calibri"/>
              </a:defRPr>
            </a:lvl8pPr>
            <a:lvl9pPr indent="-299465" lvl="8" marL="4114800" marR="0" rtl="0" algn="l">
              <a:lnSpc>
                <a:spcPct val="90000"/>
              </a:lnSpc>
              <a:spcBef>
                <a:spcPts val="310"/>
              </a:spcBef>
              <a:spcAft>
                <a:spcPts val="0"/>
              </a:spcAft>
              <a:buClr>
                <a:schemeClr val="dk1"/>
              </a:buClr>
              <a:buSzPts val="1116"/>
              <a:buFont typeface="Arial"/>
              <a:buChar char="•"/>
              <a:defRPr b="0" i="0" sz="1116"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60" r:id="rId3"/>
    <p:sldLayoutId id="214748366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 name="Shape 69"/>
        <p:cNvGrpSpPr/>
        <p:nvPr/>
      </p:nvGrpSpPr>
      <p:grpSpPr>
        <a:xfrm>
          <a:off x="0" y="0"/>
          <a:ext cx="0" cy="0"/>
          <a:chOff x="0" y="0"/>
          <a:chExt cx="0" cy="0"/>
        </a:xfrm>
      </p:grpSpPr>
      <p:pic>
        <p:nvPicPr>
          <p:cNvPr id="70" name="Google Shape;70;p25"/>
          <p:cNvPicPr preferRelativeResize="0"/>
          <p:nvPr/>
        </p:nvPicPr>
        <p:blipFill rotWithShape="1">
          <a:blip r:embed="rId1">
            <a:alphaModFix/>
          </a:blip>
          <a:srcRect b="0" l="0" r="0" t="0"/>
          <a:stretch/>
        </p:blipFill>
        <p:spPr>
          <a:xfrm>
            <a:off x="0" y="0"/>
            <a:ext cx="7556500" cy="10693400"/>
          </a:xfrm>
          <a:prstGeom prst="rect">
            <a:avLst/>
          </a:prstGeom>
          <a:noFill/>
          <a:ln>
            <a:noFill/>
          </a:ln>
        </p:spPr>
      </p:pic>
      <p:sp>
        <p:nvSpPr>
          <p:cNvPr id="71" name="Google Shape;71;p25"/>
          <p:cNvSpPr/>
          <p:nvPr/>
        </p:nvSpPr>
        <p:spPr>
          <a:xfrm rot="-5400000">
            <a:off x="5443042" y="8579937"/>
            <a:ext cx="2937746" cy="1289173"/>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16">
              <a:solidFill>
                <a:schemeClr val="lt1"/>
              </a:solidFill>
              <a:latin typeface="Calibri"/>
              <a:ea typeface="Calibri"/>
              <a:cs typeface="Calibri"/>
              <a:sym typeface="Calibri"/>
            </a:endParaRPr>
          </a:p>
        </p:txBody>
      </p:sp>
      <p:sp>
        <p:nvSpPr>
          <p:cNvPr id="72" name="Google Shape;72;p25"/>
          <p:cNvSpPr/>
          <p:nvPr/>
        </p:nvSpPr>
        <p:spPr>
          <a:xfrm>
            <a:off x="0" y="9685517"/>
            <a:ext cx="7556500" cy="1007882"/>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40">
              <a:solidFill>
                <a:schemeClr val="dk1"/>
              </a:solidFill>
              <a:latin typeface="Calibri"/>
              <a:ea typeface="Calibri"/>
              <a:cs typeface="Calibri"/>
              <a:sym typeface="Calibri"/>
            </a:endParaRPr>
          </a:p>
          <a:p>
            <a:pPr indent="0" lvl="0" marL="0" marR="0" rtl="0" algn="ctr">
              <a:spcBef>
                <a:spcPts val="0"/>
              </a:spcBef>
              <a:spcAft>
                <a:spcPts val="0"/>
              </a:spcAft>
              <a:buNone/>
            </a:pPr>
            <a:r>
              <a:rPr lang="en-US" sz="1240">
                <a:solidFill>
                  <a:schemeClr val="dk1"/>
                </a:solidFill>
                <a:latin typeface="Calibri"/>
                <a:ea typeface="Calibri"/>
                <a:cs typeface="Calibri"/>
                <a:sym typeface="Calibri"/>
              </a:rPr>
              <a:t>Program Studi Teknik Informatika, Universitas Pamulang</a:t>
            </a:r>
            <a:endParaRPr sz="1240">
              <a:solidFill>
                <a:schemeClr val="dk1"/>
              </a:solidFill>
              <a:latin typeface="Calibri"/>
              <a:ea typeface="Calibri"/>
              <a:cs typeface="Calibri"/>
              <a:sym typeface="Calibri"/>
            </a:endParaRPr>
          </a:p>
          <a:p>
            <a:pPr indent="0" lvl="0" marL="0" marR="0" rtl="0" algn="ctr">
              <a:spcBef>
                <a:spcPts val="0"/>
              </a:spcBef>
              <a:spcAft>
                <a:spcPts val="0"/>
              </a:spcAft>
              <a:buNone/>
            </a:pPr>
            <a:r>
              <a:rPr lang="en-US" sz="1240">
                <a:solidFill>
                  <a:schemeClr val="dk1"/>
                </a:solidFill>
                <a:latin typeface="Calibri"/>
                <a:ea typeface="Calibri"/>
                <a:cs typeface="Calibri"/>
                <a:sym typeface="Calibri"/>
              </a:rPr>
              <a:t> </a:t>
            </a:r>
            <a:endParaRPr sz="1240">
              <a:solidFill>
                <a:schemeClr val="dk1"/>
              </a:solidFill>
              <a:latin typeface="Calibri"/>
              <a:ea typeface="Calibri"/>
              <a:cs typeface="Calibri"/>
              <a:sym typeface="Calibri"/>
            </a:endParaRPr>
          </a:p>
        </p:txBody>
      </p:sp>
      <p:sp>
        <p:nvSpPr>
          <p:cNvPr id="73" name="Google Shape;73;p25"/>
          <p:cNvSpPr/>
          <p:nvPr/>
        </p:nvSpPr>
        <p:spPr>
          <a:xfrm>
            <a:off x="0" y="7912330"/>
            <a:ext cx="990234" cy="2781070"/>
          </a:xfrm>
          <a:prstGeom prst="rtTriangle">
            <a:avLst/>
          </a:prstGeom>
          <a:solidFill>
            <a:srgbClr val="A8D0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16">
              <a:solidFill>
                <a:schemeClr val="lt1"/>
              </a:solidFill>
              <a:latin typeface="Calibri"/>
              <a:ea typeface="Calibri"/>
              <a:cs typeface="Calibri"/>
              <a:sym typeface="Calibri"/>
            </a:endParaRPr>
          </a:p>
        </p:txBody>
      </p:sp>
      <p:pic>
        <p:nvPicPr>
          <p:cNvPr id="74" name="Google Shape;74;p25"/>
          <p:cNvPicPr preferRelativeResize="0"/>
          <p:nvPr/>
        </p:nvPicPr>
        <p:blipFill rotWithShape="1">
          <a:blip r:embed="rId2">
            <a:alphaModFix/>
          </a:blip>
          <a:srcRect b="0" l="0" r="0" t="0"/>
          <a:stretch/>
        </p:blipFill>
        <p:spPr>
          <a:xfrm>
            <a:off x="6879174" y="8927210"/>
            <a:ext cx="646187" cy="1578039"/>
          </a:xfrm>
          <a:prstGeom prst="rect">
            <a:avLst/>
          </a:prstGeom>
          <a:noFill/>
          <a:ln>
            <a:noFill/>
          </a:ln>
        </p:spPr>
      </p:pic>
      <p:pic>
        <p:nvPicPr>
          <p:cNvPr id="75" name="Google Shape;75;p25"/>
          <p:cNvPicPr preferRelativeResize="0"/>
          <p:nvPr/>
        </p:nvPicPr>
        <p:blipFill rotWithShape="1">
          <a:blip r:embed="rId3">
            <a:alphaModFix/>
          </a:blip>
          <a:srcRect b="0" l="0" r="0" t="0"/>
          <a:stretch/>
        </p:blipFill>
        <p:spPr>
          <a:xfrm>
            <a:off x="-74735" y="9145046"/>
            <a:ext cx="869870" cy="15483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3"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1" name="Shape 81"/>
        <p:cNvGrpSpPr/>
        <p:nvPr/>
      </p:nvGrpSpPr>
      <p:grpSpPr>
        <a:xfrm>
          <a:off x="0" y="0"/>
          <a:ext cx="0" cy="0"/>
          <a:chOff x="0" y="0"/>
          <a:chExt cx="0" cy="0"/>
        </a:xfrm>
      </p:grpSpPr>
      <p:pic>
        <p:nvPicPr>
          <p:cNvPr id="82" name="Google Shape;82;p1"/>
          <p:cNvPicPr preferRelativeResize="0"/>
          <p:nvPr/>
        </p:nvPicPr>
        <p:blipFill rotWithShape="1">
          <a:blip r:embed="rId3">
            <a:alphaModFix/>
          </a:blip>
          <a:srcRect b="0" l="0" r="0" t="0"/>
          <a:stretch/>
        </p:blipFill>
        <p:spPr>
          <a:xfrm>
            <a:off x="0" y="0"/>
            <a:ext cx="7556500" cy="10693400"/>
          </a:xfrm>
          <a:prstGeom prst="rect">
            <a:avLst/>
          </a:prstGeom>
          <a:noFill/>
          <a:ln>
            <a:noFill/>
          </a:ln>
        </p:spPr>
      </p:pic>
      <p:sp>
        <p:nvSpPr>
          <p:cNvPr id="83" name="Google Shape;83;p1"/>
          <p:cNvSpPr txBox="1"/>
          <p:nvPr/>
        </p:nvSpPr>
        <p:spPr>
          <a:xfrm>
            <a:off x="4975605" y="429513"/>
            <a:ext cx="1685925"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Calibri"/>
                <a:ea typeface="Calibri"/>
                <a:cs typeface="Calibri"/>
                <a:sym typeface="Calibri"/>
              </a:rPr>
              <a:t>Dasar Sistem Informasi Bisnis</a:t>
            </a:r>
            <a:endParaRPr sz="1100">
              <a:solidFill>
                <a:schemeClr val="dk1"/>
              </a:solidFill>
              <a:latin typeface="Calibri"/>
              <a:ea typeface="Calibri"/>
              <a:cs typeface="Calibri"/>
              <a:sym typeface="Calibri"/>
            </a:endParaRPr>
          </a:p>
        </p:txBody>
      </p:sp>
      <p:sp>
        <p:nvSpPr>
          <p:cNvPr id="84" name="Google Shape;84;p1"/>
          <p:cNvSpPr txBox="1"/>
          <p:nvPr/>
        </p:nvSpPr>
        <p:spPr>
          <a:xfrm>
            <a:off x="1130604" y="1301241"/>
            <a:ext cx="4102100" cy="685800"/>
          </a:xfrm>
          <a:prstGeom prst="rect">
            <a:avLst/>
          </a:prstGeom>
          <a:noFill/>
          <a:ln>
            <a:noFill/>
          </a:ln>
        </p:spPr>
        <p:txBody>
          <a:bodyPr anchorCtr="0" anchor="t" bIns="0" lIns="0" spcFirstLastPara="1" rIns="0" wrap="square" tIns="13325">
            <a:spAutoFit/>
          </a:bodyPr>
          <a:lstStyle/>
          <a:p>
            <a:pPr indent="0" lvl="0" marL="1210945" marR="0" rtl="0" algn="l">
              <a:lnSpc>
                <a:spcPct val="100000"/>
              </a:lnSpc>
              <a:spcBef>
                <a:spcPts val="0"/>
              </a:spcBef>
              <a:spcAft>
                <a:spcPts val="0"/>
              </a:spcAft>
              <a:buNone/>
            </a:pPr>
            <a:r>
              <a:rPr b="1" lang="en-US" sz="1600">
                <a:solidFill>
                  <a:schemeClr val="dk1"/>
                </a:solidFill>
                <a:latin typeface="Calibri"/>
                <a:ea typeface="Calibri"/>
                <a:cs typeface="Calibri"/>
                <a:sym typeface="Calibri"/>
              </a:rPr>
              <a:t>DASAR SISTEM INFORMASI BISNIS</a:t>
            </a:r>
            <a:endParaRPr sz="1600">
              <a:solidFill>
                <a:schemeClr val="dk1"/>
              </a:solidFill>
              <a:latin typeface="Calibri"/>
              <a:ea typeface="Calibri"/>
              <a:cs typeface="Calibri"/>
              <a:sym typeface="Calibri"/>
            </a:endParaRPr>
          </a:p>
          <a:p>
            <a:pPr indent="0" lvl="0" marL="12700" marR="0" rtl="0" algn="l">
              <a:lnSpc>
                <a:spcPct val="100000"/>
              </a:lnSpc>
              <a:spcBef>
                <a:spcPts val="1350"/>
              </a:spcBef>
              <a:spcAft>
                <a:spcPts val="0"/>
              </a:spcAft>
              <a:buNone/>
            </a:pPr>
            <a:r>
              <a:rPr b="1" lang="en-US" sz="1600">
                <a:solidFill>
                  <a:schemeClr val="dk1"/>
                </a:solidFill>
                <a:latin typeface="Calibri"/>
                <a:ea typeface="Calibri"/>
                <a:cs typeface="Calibri"/>
                <a:sym typeface="Calibri"/>
              </a:rPr>
              <a:t>1. Konsep dasar sistem informasi bisnis</a:t>
            </a:r>
            <a:endParaRPr sz="1600">
              <a:solidFill>
                <a:schemeClr val="dk1"/>
              </a:solidFill>
              <a:latin typeface="Calibri"/>
              <a:ea typeface="Calibri"/>
              <a:cs typeface="Calibri"/>
              <a:sym typeface="Calibri"/>
            </a:endParaRPr>
          </a:p>
        </p:txBody>
      </p:sp>
      <p:pic>
        <p:nvPicPr>
          <p:cNvPr id="85" name="Google Shape;85;p1"/>
          <p:cNvPicPr preferRelativeResize="0"/>
          <p:nvPr/>
        </p:nvPicPr>
        <p:blipFill rotWithShape="1">
          <a:blip r:embed="rId4">
            <a:alphaModFix/>
          </a:blip>
          <a:srcRect b="0" l="0" r="0" t="0"/>
          <a:stretch/>
        </p:blipFill>
        <p:spPr>
          <a:xfrm>
            <a:off x="2451589" y="2269120"/>
            <a:ext cx="2650602" cy="1982012"/>
          </a:xfrm>
          <a:prstGeom prst="rect">
            <a:avLst/>
          </a:prstGeom>
          <a:noFill/>
          <a:ln>
            <a:noFill/>
          </a:ln>
        </p:spPr>
      </p:pic>
      <p:sp>
        <p:nvSpPr>
          <p:cNvPr id="86" name="Google Shape;86;p1"/>
          <p:cNvSpPr txBox="1"/>
          <p:nvPr/>
        </p:nvSpPr>
        <p:spPr>
          <a:xfrm>
            <a:off x="902004" y="4557521"/>
            <a:ext cx="5761355" cy="4977130"/>
          </a:xfrm>
          <a:prstGeom prst="rect">
            <a:avLst/>
          </a:prstGeom>
          <a:noFill/>
          <a:ln>
            <a:noFill/>
          </a:ln>
        </p:spPr>
        <p:txBody>
          <a:bodyPr anchorCtr="0" anchor="t" bIns="0" lIns="0" spcFirstLastPara="1" rIns="0" wrap="square" tIns="11425">
            <a:spAutoFit/>
          </a:bodyPr>
          <a:lstStyle/>
          <a:p>
            <a:pPr indent="-268605" lvl="1" marL="280670" marR="0" rtl="0" algn="l">
              <a:lnSpc>
                <a:spcPct val="100000"/>
              </a:lnSpc>
              <a:spcBef>
                <a:spcPts val="0"/>
              </a:spcBef>
              <a:spcAft>
                <a:spcPts val="0"/>
              </a:spcAft>
              <a:buClr>
                <a:schemeClr val="dk1"/>
              </a:buClr>
              <a:buSzPts val="1400"/>
              <a:buFont typeface="Calibri"/>
              <a:buAutoNum type="arabicPeriod"/>
            </a:pPr>
            <a:r>
              <a:rPr b="0" i="0" lang="en-US" sz="1400" u="none" cap="none" strike="noStrike">
                <a:solidFill>
                  <a:schemeClr val="dk1"/>
                </a:solidFill>
                <a:latin typeface="Calibri"/>
                <a:ea typeface="Calibri"/>
                <a:cs typeface="Calibri"/>
                <a:sym typeface="Calibri"/>
              </a:rPr>
              <a:t>Teknologi informasi</a:t>
            </a:r>
            <a:endParaRPr b="0" i="0" sz="1400" u="none" cap="none" strike="noStrike">
              <a:solidFill>
                <a:schemeClr val="dk1"/>
              </a:solidFill>
              <a:latin typeface="Calibri"/>
              <a:ea typeface="Calibri"/>
              <a:cs typeface="Calibri"/>
              <a:sym typeface="Calibri"/>
            </a:endParaRPr>
          </a:p>
          <a:p>
            <a:pPr indent="0" lvl="1" marL="457200" marR="0" rtl="0" algn="l">
              <a:lnSpc>
                <a:spcPct val="100000"/>
              </a:lnSpc>
              <a:spcBef>
                <a:spcPts val="25"/>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267970" lvl="0" marL="12700" marR="5080" rtl="0" algn="just">
              <a:lnSpc>
                <a:spcPct val="101699"/>
              </a:lnSpc>
              <a:spcBef>
                <a:spcPts val="0"/>
              </a:spcBef>
              <a:spcAft>
                <a:spcPts val="0"/>
              </a:spcAft>
              <a:buNone/>
            </a:pPr>
            <a:r>
              <a:rPr lang="en-US" sz="1200">
                <a:solidFill>
                  <a:schemeClr val="dk1"/>
                </a:solidFill>
                <a:latin typeface="Calibri"/>
                <a:ea typeface="Calibri"/>
                <a:cs typeface="Calibri"/>
                <a:sym typeface="Calibri"/>
              </a:rPr>
              <a:t>Istilah TI ( Teknologi Informasi ) atau IT ( Information Technology ) yang populer saat ini  adalah bagian dari mata rantai panjang dari perkembangan istilah dalam dunia SI ( Sistem  Informasi ) atau IS ( Information System ). Istilah TI memang lebih merujuk pada </a:t>
            </a:r>
            <a:r>
              <a:rPr i="1" lang="en-US" sz="1200">
                <a:solidFill>
                  <a:schemeClr val="dk1"/>
                </a:solidFill>
                <a:latin typeface="Calibri"/>
                <a:ea typeface="Calibri"/>
                <a:cs typeface="Calibri"/>
                <a:sym typeface="Calibri"/>
              </a:rPr>
              <a:t>teknologi  </a:t>
            </a:r>
            <a:r>
              <a:rPr lang="en-US" sz="1200">
                <a:solidFill>
                  <a:schemeClr val="dk1"/>
                </a:solidFill>
                <a:latin typeface="Calibri"/>
                <a:ea typeface="Calibri"/>
                <a:cs typeface="Calibri"/>
                <a:sym typeface="Calibri"/>
              </a:rPr>
              <a:t>yang digunakan dalam menyampaikan maupun mengolah informasi, namun pada dasarnya  masih merupakan bagian dari sebuah sistem informasi itu sendiri.</a:t>
            </a:r>
            <a:endParaRPr sz="1200">
              <a:solidFill>
                <a:schemeClr val="dk1"/>
              </a:solidFill>
              <a:latin typeface="Calibri"/>
              <a:ea typeface="Calibri"/>
              <a:cs typeface="Calibri"/>
              <a:sym typeface="Calibri"/>
            </a:endParaRPr>
          </a:p>
          <a:p>
            <a:pPr indent="301625" lvl="0" marL="12700" marR="9525" rtl="0" algn="just">
              <a:lnSpc>
                <a:spcPct val="101699"/>
              </a:lnSpc>
              <a:spcBef>
                <a:spcPts val="0"/>
              </a:spcBef>
              <a:spcAft>
                <a:spcPts val="0"/>
              </a:spcAft>
              <a:buNone/>
            </a:pPr>
            <a:r>
              <a:rPr lang="en-US" sz="1200">
                <a:solidFill>
                  <a:schemeClr val="dk1"/>
                </a:solidFill>
                <a:latin typeface="Calibri"/>
                <a:ea typeface="Calibri"/>
                <a:cs typeface="Calibri"/>
                <a:sym typeface="Calibri"/>
              </a:rPr>
              <a:t>TI memang secara </a:t>
            </a:r>
            <a:r>
              <a:rPr i="1" lang="en-US" sz="1200">
                <a:solidFill>
                  <a:schemeClr val="dk1"/>
                </a:solidFill>
                <a:latin typeface="Calibri"/>
                <a:ea typeface="Calibri"/>
                <a:cs typeface="Calibri"/>
                <a:sym typeface="Calibri"/>
              </a:rPr>
              <a:t>nota bene </a:t>
            </a:r>
            <a:r>
              <a:rPr lang="en-US" sz="1200">
                <a:solidFill>
                  <a:schemeClr val="dk1"/>
                </a:solidFill>
                <a:latin typeface="Calibri"/>
                <a:ea typeface="Calibri"/>
                <a:cs typeface="Calibri"/>
                <a:sym typeface="Calibri"/>
              </a:rPr>
              <a:t>lebih mudah dipahami secara umum sebagai pengolahan  informasi yang berbasis pada </a:t>
            </a:r>
            <a:r>
              <a:rPr i="1" lang="en-US" sz="1200">
                <a:solidFill>
                  <a:schemeClr val="dk1"/>
                </a:solidFill>
                <a:latin typeface="Calibri"/>
                <a:ea typeface="Calibri"/>
                <a:cs typeface="Calibri"/>
                <a:sym typeface="Calibri"/>
              </a:rPr>
              <a:t>teknologi </a:t>
            </a:r>
            <a:r>
              <a:rPr lang="en-US" sz="1200">
                <a:solidFill>
                  <a:schemeClr val="dk1"/>
                </a:solidFill>
                <a:latin typeface="Calibri"/>
                <a:ea typeface="Calibri"/>
                <a:cs typeface="Calibri"/>
                <a:sym typeface="Calibri"/>
              </a:rPr>
              <a:t>komputer yang tengah terus berkembang pesat.  Sebuah Sistem TI atau selanjutnya akan disebut STI, pada dasarnya dibangun di atas lima  tingkatan dalam sebuah piramida STI. Berurutan dari dasar adalah : konsep dasar, teknologi,  aplikasi, pengembangan dan</a:t>
            </a:r>
            <a:endParaRPr sz="1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200">
                <a:solidFill>
                  <a:schemeClr val="dk1"/>
                </a:solidFill>
                <a:latin typeface="Calibri"/>
                <a:ea typeface="Calibri"/>
                <a:cs typeface="Calibri"/>
                <a:sym typeface="Calibri"/>
              </a:rPr>
              <a:t>pengelolaan.</a:t>
            </a:r>
            <a:endParaRPr sz="12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None/>
            </a:pPr>
            <a:r>
              <a:t/>
            </a:r>
            <a:endParaRPr sz="950">
              <a:solidFill>
                <a:schemeClr val="dk1"/>
              </a:solidFill>
              <a:latin typeface="Calibri"/>
              <a:ea typeface="Calibri"/>
              <a:cs typeface="Calibri"/>
              <a:sym typeface="Calibri"/>
            </a:endParaRPr>
          </a:p>
          <a:p>
            <a:pPr indent="-268605" lvl="1" marL="280670" marR="0" rtl="0" algn="l">
              <a:lnSpc>
                <a:spcPct val="100000"/>
              </a:lnSpc>
              <a:spcBef>
                <a:spcPts val="5"/>
              </a:spcBef>
              <a:spcAft>
                <a:spcPts val="0"/>
              </a:spcAft>
              <a:buClr>
                <a:schemeClr val="dk1"/>
              </a:buClr>
              <a:buSzPts val="1400"/>
              <a:buFont typeface="Calibri"/>
              <a:buAutoNum type="arabicPeriod"/>
            </a:pPr>
            <a:r>
              <a:rPr b="0" i="0" lang="en-US" sz="1400" u="none" cap="none" strike="noStrike">
                <a:solidFill>
                  <a:schemeClr val="dk1"/>
                </a:solidFill>
                <a:latin typeface="Calibri"/>
                <a:ea typeface="Calibri"/>
                <a:cs typeface="Calibri"/>
                <a:sym typeface="Calibri"/>
              </a:rPr>
              <a:t>Aturan dasar SI pada Bisnis</a:t>
            </a:r>
            <a:endParaRPr b="0" i="0" sz="1400" u="none" cap="none" strike="noStrike">
              <a:solidFill>
                <a:schemeClr val="dk1"/>
              </a:solidFill>
              <a:latin typeface="Calibri"/>
              <a:ea typeface="Calibri"/>
              <a:cs typeface="Calibri"/>
              <a:sym typeface="Calibri"/>
            </a:endParaRPr>
          </a:p>
          <a:p>
            <a:pPr indent="0" lvl="1" marL="457200" marR="0" rtl="0" algn="l">
              <a:lnSpc>
                <a:spcPct val="100000"/>
              </a:lnSpc>
              <a:spcBef>
                <a:spcPts val="45"/>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280670" marR="0" rtl="0" algn="l">
              <a:lnSpc>
                <a:spcPct val="100000"/>
              </a:lnSpc>
              <a:spcBef>
                <a:spcPts val="0"/>
              </a:spcBef>
              <a:spcAft>
                <a:spcPts val="0"/>
              </a:spcAft>
              <a:buNone/>
            </a:pPr>
            <a:r>
              <a:rPr lang="en-US" sz="1200">
                <a:solidFill>
                  <a:schemeClr val="dk1"/>
                </a:solidFill>
                <a:latin typeface="Calibri"/>
                <a:ea typeface="Calibri"/>
                <a:cs typeface="Calibri"/>
                <a:sym typeface="Calibri"/>
              </a:rPr>
              <a:t>Ada tiga aturan vital agar sistem informasi untuk perusahaan bisnis, yaitu:</a:t>
            </a:r>
            <a:endParaRPr sz="1200">
              <a:solidFill>
                <a:schemeClr val="dk1"/>
              </a:solidFill>
              <a:latin typeface="Calibri"/>
              <a:ea typeface="Calibri"/>
              <a:cs typeface="Calibri"/>
              <a:sym typeface="Calibri"/>
            </a:endParaRPr>
          </a:p>
          <a:p>
            <a:pPr indent="-229234" lvl="2" marL="927100" marR="0" rtl="0" algn="l">
              <a:lnSpc>
                <a:spcPct val="100000"/>
              </a:lnSpc>
              <a:spcBef>
                <a:spcPts val="815"/>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Dukungan terhadap proses dan operasi bisnis.</a:t>
            </a:r>
            <a:endParaRPr b="0" i="0" sz="1200" u="none" cap="none" strike="noStrike">
              <a:solidFill>
                <a:schemeClr val="dk1"/>
              </a:solidFill>
              <a:latin typeface="Calibri"/>
              <a:ea typeface="Calibri"/>
              <a:cs typeface="Calibri"/>
              <a:sym typeface="Calibri"/>
            </a:endParaRPr>
          </a:p>
          <a:p>
            <a:pPr indent="-229234" lvl="2" marL="927100" marR="0" rtl="0" algn="l">
              <a:lnSpc>
                <a:spcPct val="100000"/>
              </a:lnSpc>
              <a:spcBef>
                <a:spcPts val="84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Dukungan terhadap pengambilan keputusan oleh pegawai dan manajer.</a:t>
            </a:r>
            <a:endParaRPr b="0" i="0" sz="1200" u="none" cap="none" strike="noStrike">
              <a:solidFill>
                <a:schemeClr val="dk1"/>
              </a:solidFill>
              <a:latin typeface="Calibri"/>
              <a:ea typeface="Calibri"/>
              <a:cs typeface="Calibri"/>
              <a:sym typeface="Calibri"/>
            </a:endParaRPr>
          </a:p>
          <a:p>
            <a:pPr indent="-229234" lvl="2" marL="927100" marR="0" rtl="0" algn="l">
              <a:lnSpc>
                <a:spcPct val="100000"/>
              </a:lnSpc>
              <a:spcBef>
                <a:spcPts val="920"/>
              </a:spcBef>
              <a:spcAft>
                <a:spcPts val="0"/>
              </a:spcAft>
              <a:buClr>
                <a:schemeClr val="dk1"/>
              </a:buClr>
              <a:buSzPts val="1200"/>
              <a:buFont typeface="Noto Sans Symbols"/>
              <a:buChar char="∙"/>
            </a:pPr>
            <a:r>
              <a:rPr b="0" i="0" lang="en-US" sz="1100" u="none" cap="none" strike="noStrike">
                <a:solidFill>
                  <a:schemeClr val="dk1"/>
                </a:solidFill>
                <a:latin typeface="Calibri"/>
                <a:ea typeface="Calibri"/>
                <a:cs typeface="Calibri"/>
                <a:sym typeface="Calibri"/>
              </a:rPr>
              <a:t>Dukungan strategi untuk keunggulan bersaing</a:t>
            </a:r>
            <a:endParaRPr b="0" i="0" sz="1100" u="none" cap="none" strike="noStrike">
              <a:solidFill>
                <a:schemeClr val="dk1"/>
              </a:solidFill>
              <a:latin typeface="Calibri"/>
              <a:ea typeface="Calibri"/>
              <a:cs typeface="Calibri"/>
              <a:sym typeface="Calibri"/>
            </a:endParaRPr>
          </a:p>
          <a:p>
            <a:pPr indent="-268605" lvl="1" marL="280670" marR="0" rtl="0" algn="l">
              <a:lnSpc>
                <a:spcPct val="100000"/>
              </a:lnSpc>
              <a:spcBef>
                <a:spcPts val="635"/>
              </a:spcBef>
              <a:spcAft>
                <a:spcPts val="0"/>
              </a:spcAft>
              <a:buClr>
                <a:schemeClr val="dk1"/>
              </a:buClr>
              <a:buSzPts val="1400"/>
              <a:buFont typeface="Calibri"/>
              <a:buAutoNum type="arabicPeriod"/>
            </a:pPr>
            <a:r>
              <a:rPr b="0" i="0" lang="en-US" sz="1400" u="none" cap="none" strike="noStrike">
                <a:solidFill>
                  <a:schemeClr val="dk1"/>
                </a:solidFill>
                <a:latin typeface="Calibri"/>
                <a:ea typeface="Calibri"/>
                <a:cs typeface="Calibri"/>
                <a:sym typeface="Calibri"/>
              </a:rPr>
              <a:t>Trend Sistem Informasi</a:t>
            </a:r>
            <a:endParaRPr b="0" i="0" sz="1400" u="none" cap="none" strike="noStrike">
              <a:solidFill>
                <a:schemeClr val="dk1"/>
              </a:solidFill>
              <a:latin typeface="Calibri"/>
              <a:ea typeface="Calibri"/>
              <a:cs typeface="Calibri"/>
              <a:sym typeface="Calibri"/>
            </a:endParaRPr>
          </a:p>
          <a:p>
            <a:pPr indent="-229234" lvl="0" marL="463550" marR="0" rtl="0" algn="l">
              <a:lnSpc>
                <a:spcPct val="100000"/>
              </a:lnSpc>
              <a:spcBef>
                <a:spcPts val="345"/>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Trend yang dominan dalam Sistem Informasi</a:t>
            </a:r>
            <a:endParaRPr sz="1200">
              <a:solidFill>
                <a:schemeClr val="dk1"/>
              </a:solidFill>
              <a:latin typeface="Calibri"/>
              <a:ea typeface="Calibri"/>
              <a:cs typeface="Calibri"/>
              <a:sym typeface="Calibri"/>
            </a:endParaRPr>
          </a:p>
          <a:p>
            <a:pPr indent="-228600" lvl="1" marL="732155" marR="8255" rtl="0" algn="l">
              <a:lnSpc>
                <a:spcPct val="141666"/>
              </a:lnSpc>
              <a:spcBef>
                <a:spcPts val="8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Inisiatif dan penanggung jawab tidak lagi dilakukan hanya oleh CIO (Chief  Information Officer) sendiri, tapi juga oleh Executive Board;</a:t>
            </a:r>
            <a:endParaRPr b="0" i="0" sz="1200" u="none" cap="none" strike="noStrike">
              <a:solidFill>
                <a:schemeClr val="dk1"/>
              </a:solidFill>
              <a:latin typeface="Calibri"/>
              <a:ea typeface="Calibri"/>
              <a:cs typeface="Calibri"/>
              <a:sym typeface="Calibri"/>
            </a:endParaRPr>
          </a:p>
        </p:txBody>
      </p:sp>
      <p:sp>
        <p:nvSpPr>
          <p:cNvPr id="87" name="Google Shape;87;p1"/>
          <p:cNvSpPr txBox="1"/>
          <p:nvPr>
            <p:ph idx="12" type="sldNum"/>
          </p:nvPr>
        </p:nvSpPr>
        <p:spPr>
          <a:xfrm>
            <a:off x="6277736" y="9937495"/>
            <a:ext cx="408940" cy="165734"/>
          </a:xfrm>
          <a:prstGeom prst="rect">
            <a:avLst/>
          </a:prstGeom>
          <a:noFill/>
          <a:ln>
            <a:noFill/>
          </a:ln>
        </p:spPr>
        <p:txBody>
          <a:bodyPr anchorCtr="0" anchor="t" bIns="0" lIns="0" spcFirstLastPara="1" rIns="0" wrap="square" tIns="0">
            <a:spAutoFit/>
          </a:bodyPr>
          <a:lstStyle/>
          <a:p>
            <a:pPr indent="0" lvl="0" marL="12700" rtl="0" algn="l">
              <a:lnSpc>
                <a:spcPct val="104545"/>
              </a:lnSpc>
              <a:spcBef>
                <a:spcPts val="0"/>
              </a:spcBef>
              <a:spcAft>
                <a:spcPts val="0"/>
              </a:spcAft>
              <a:buNone/>
            </a:pPr>
            <a:r>
              <a:rPr lang="en-US"/>
              <a:t>Hal : </a:t>
            </a: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1" name="Shape 91"/>
        <p:cNvGrpSpPr/>
        <p:nvPr/>
      </p:nvGrpSpPr>
      <p:grpSpPr>
        <a:xfrm>
          <a:off x="0" y="0"/>
          <a:ext cx="0" cy="0"/>
          <a:chOff x="0" y="0"/>
          <a:chExt cx="0" cy="0"/>
        </a:xfrm>
      </p:grpSpPr>
      <p:pic>
        <p:nvPicPr>
          <p:cNvPr id="92" name="Google Shape;92;p2"/>
          <p:cNvPicPr preferRelativeResize="0"/>
          <p:nvPr/>
        </p:nvPicPr>
        <p:blipFill rotWithShape="1">
          <a:blip r:embed="rId3">
            <a:alphaModFix/>
          </a:blip>
          <a:srcRect b="0" l="0" r="0" t="0"/>
          <a:stretch/>
        </p:blipFill>
        <p:spPr>
          <a:xfrm>
            <a:off x="0" y="0"/>
            <a:ext cx="7556500" cy="10693400"/>
          </a:xfrm>
          <a:prstGeom prst="rect">
            <a:avLst/>
          </a:prstGeom>
          <a:noFill/>
          <a:ln>
            <a:noFill/>
          </a:ln>
        </p:spPr>
      </p:pic>
      <p:sp>
        <p:nvSpPr>
          <p:cNvPr id="93" name="Google Shape;93;p2"/>
          <p:cNvSpPr txBox="1"/>
          <p:nvPr>
            <p:ph idx="12" type="sldNum"/>
          </p:nvPr>
        </p:nvSpPr>
        <p:spPr>
          <a:xfrm>
            <a:off x="6277736" y="9937495"/>
            <a:ext cx="408940" cy="165734"/>
          </a:xfrm>
          <a:prstGeom prst="rect">
            <a:avLst/>
          </a:prstGeom>
          <a:noFill/>
          <a:ln>
            <a:noFill/>
          </a:ln>
        </p:spPr>
        <p:txBody>
          <a:bodyPr anchorCtr="0" anchor="t" bIns="0" lIns="0" spcFirstLastPara="1" rIns="0" wrap="square" tIns="0">
            <a:spAutoFit/>
          </a:bodyPr>
          <a:lstStyle/>
          <a:p>
            <a:pPr indent="0" lvl="0" marL="12700" rtl="0" algn="l">
              <a:lnSpc>
                <a:spcPct val="104545"/>
              </a:lnSpc>
              <a:spcBef>
                <a:spcPts val="0"/>
              </a:spcBef>
              <a:spcAft>
                <a:spcPts val="0"/>
              </a:spcAft>
              <a:buNone/>
            </a:pPr>
            <a:r>
              <a:rPr lang="en-US"/>
              <a:t>Hal : </a:t>
            </a:r>
            <a:fld id="{00000000-1234-1234-1234-123412341234}" type="slidenum">
              <a:rPr lang="en-US"/>
              <a:t>‹#›</a:t>
            </a:fld>
            <a:endParaRPr/>
          </a:p>
        </p:txBody>
      </p:sp>
      <p:sp>
        <p:nvSpPr>
          <p:cNvPr id="94" name="Google Shape;94;p2"/>
          <p:cNvSpPr txBox="1"/>
          <p:nvPr/>
        </p:nvSpPr>
        <p:spPr>
          <a:xfrm>
            <a:off x="902004" y="429513"/>
            <a:ext cx="5759450" cy="90932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n-US" sz="1100">
                <a:solidFill>
                  <a:schemeClr val="dk1"/>
                </a:solidFill>
                <a:latin typeface="Calibri"/>
                <a:ea typeface="Calibri"/>
                <a:cs typeface="Calibri"/>
                <a:sym typeface="Calibri"/>
              </a:rPr>
              <a:t>Dasar Sistem Informasi Bisnis</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100">
              <a:solidFill>
                <a:schemeClr val="dk1"/>
              </a:solidFill>
              <a:latin typeface="Calibri"/>
              <a:ea typeface="Calibri"/>
              <a:cs typeface="Calibri"/>
              <a:sym typeface="Calibri"/>
            </a:endParaRPr>
          </a:p>
          <a:p>
            <a:pPr indent="-228600" lvl="0" marL="732155" marR="12065" rtl="0" algn="l">
              <a:lnSpc>
                <a:spcPct val="116700"/>
              </a:lnSpc>
              <a:spcBef>
                <a:spcPts val="765"/>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Pergeseran peran IS Department dari sebagai Application delivery menjadi  System integration dan pengembang infrastruktur;</a:t>
            </a:r>
            <a:endParaRPr sz="1200">
              <a:solidFill>
                <a:schemeClr val="dk1"/>
              </a:solidFill>
              <a:latin typeface="Calibri"/>
              <a:ea typeface="Calibri"/>
              <a:cs typeface="Calibri"/>
              <a:sym typeface="Calibri"/>
            </a:endParaRPr>
          </a:p>
          <a:p>
            <a:pPr indent="-228600" lvl="0" marL="732155" marR="6350" rtl="0" algn="l">
              <a:lnSpc>
                <a:spcPct val="142500"/>
              </a:lnSpc>
              <a:spcBef>
                <a:spcPts val="75"/>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Perkembangan internet dan intranet menghasilkan world wide connectivity dan  memungkinkan adanya common user interface untuk semua system.</a:t>
            </a:r>
            <a:endParaRPr sz="1200">
              <a:solidFill>
                <a:schemeClr val="dk1"/>
              </a:solidFill>
              <a:latin typeface="Calibri"/>
              <a:ea typeface="Calibri"/>
              <a:cs typeface="Calibri"/>
              <a:sym typeface="Calibri"/>
            </a:endParaRPr>
          </a:p>
          <a:p>
            <a:pPr indent="0" lvl="0" marL="0" marR="0" rtl="0" algn="l">
              <a:lnSpc>
                <a:spcPct val="100000"/>
              </a:lnSpc>
              <a:spcBef>
                <a:spcPts val="45"/>
              </a:spcBef>
              <a:spcAft>
                <a:spcPts val="0"/>
              </a:spcAft>
              <a:buNone/>
            </a:pPr>
            <a:r>
              <a:t/>
            </a:r>
            <a:endParaRPr sz="1450">
              <a:solidFill>
                <a:schemeClr val="dk1"/>
              </a:solidFill>
              <a:latin typeface="Calibri"/>
              <a:ea typeface="Calibri"/>
              <a:cs typeface="Calibri"/>
              <a:sym typeface="Calibri"/>
            </a:endParaRPr>
          </a:p>
          <a:p>
            <a:pPr indent="-229234" lvl="0" marL="469900" marR="0" rtl="0" algn="l">
              <a:lnSpc>
                <a:spcPct val="100000"/>
              </a:lnSpc>
              <a:spcBef>
                <a:spcPts val="0"/>
              </a:spcBef>
              <a:spcAft>
                <a:spcPts val="0"/>
              </a:spcAft>
              <a:buClr>
                <a:schemeClr val="dk1"/>
              </a:buClr>
              <a:buSzPts val="1200"/>
              <a:buFont typeface="Noto Sans Symbols"/>
              <a:buChar char="⮚"/>
            </a:pPr>
            <a:r>
              <a:rPr lang="en-US" sz="1200">
                <a:solidFill>
                  <a:schemeClr val="dk1"/>
                </a:solidFill>
                <a:latin typeface="Calibri"/>
                <a:ea typeface="Calibri"/>
                <a:cs typeface="Calibri"/>
                <a:sym typeface="Calibri"/>
              </a:rPr>
              <a:t>Perlunya System Integration</a:t>
            </a:r>
            <a:endParaRPr sz="1200">
              <a:solidFill>
                <a:schemeClr val="dk1"/>
              </a:solidFill>
              <a:latin typeface="Calibri"/>
              <a:ea typeface="Calibri"/>
              <a:cs typeface="Calibri"/>
              <a:sym typeface="Calibri"/>
            </a:endParaRPr>
          </a:p>
          <a:p>
            <a:pPr indent="-228600" lvl="1" marL="732155" marR="7620" rtl="0" algn="l">
              <a:lnSpc>
                <a:spcPct val="1167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Perkembangan komputerisasi dalam suatu organisasi yang tidak bersamaan dan  terpisah-pisah (scattered);</a:t>
            </a:r>
            <a:endParaRPr b="0" i="0" sz="1200" u="none" cap="none" strike="noStrike">
              <a:solidFill>
                <a:schemeClr val="dk1"/>
              </a:solidFill>
              <a:latin typeface="Calibri"/>
              <a:ea typeface="Calibri"/>
              <a:cs typeface="Calibri"/>
              <a:sym typeface="Calibri"/>
            </a:endParaRPr>
          </a:p>
          <a:p>
            <a:pPr indent="-228600" lvl="1" marL="732155" marR="9525" rtl="0" algn="l">
              <a:lnSpc>
                <a:spcPct val="116700"/>
              </a:lnSpc>
              <a:spcBef>
                <a:spcPts val="25"/>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Hambatan teknologi yang dapat diatasi oleh berbagai alat bantu (tools) yang  dapat dijumpai dengan mudah oleh pemakai.</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1500">
              <a:solidFill>
                <a:schemeClr val="dk1"/>
              </a:solidFill>
              <a:latin typeface="Calibri"/>
              <a:ea typeface="Calibri"/>
              <a:cs typeface="Calibri"/>
              <a:sym typeface="Calibri"/>
            </a:endParaRPr>
          </a:p>
          <a:p>
            <a:pPr indent="-268605" lvl="1" marL="280670" marR="0" rtl="0" algn="l">
              <a:lnSpc>
                <a:spcPct val="100000"/>
              </a:lnSpc>
              <a:spcBef>
                <a:spcPts val="0"/>
              </a:spcBef>
              <a:spcAft>
                <a:spcPts val="0"/>
              </a:spcAft>
              <a:buClr>
                <a:schemeClr val="dk1"/>
              </a:buClr>
              <a:buSzPts val="1400"/>
              <a:buFont typeface="Calibri"/>
              <a:buAutoNum type="arabicPeriod" startAt="4"/>
            </a:pPr>
            <a:r>
              <a:rPr b="0" i="0" lang="en-US" sz="1400" u="none" cap="none" strike="noStrike">
                <a:solidFill>
                  <a:schemeClr val="dk1"/>
                </a:solidFill>
                <a:latin typeface="Calibri"/>
                <a:ea typeface="Calibri"/>
                <a:cs typeface="Calibri"/>
                <a:sym typeface="Calibri"/>
              </a:rPr>
              <a:t>Aturan E-Business pada Bisnis</a:t>
            </a:r>
            <a:endParaRPr b="0" i="0" sz="1400" u="none" cap="none" strike="noStrike">
              <a:solidFill>
                <a:schemeClr val="dk1"/>
              </a:solidFill>
              <a:latin typeface="Calibri"/>
              <a:ea typeface="Calibri"/>
              <a:cs typeface="Calibri"/>
              <a:sym typeface="Calibri"/>
            </a:endParaRPr>
          </a:p>
          <a:p>
            <a:pPr indent="0" lvl="1" marL="457200" marR="0" rtl="0" algn="l">
              <a:lnSpc>
                <a:spcPct val="100000"/>
              </a:lnSpc>
              <a:spcBef>
                <a:spcPts val="60"/>
              </a:spcBef>
              <a:spcAft>
                <a:spcPts val="0"/>
              </a:spcAft>
              <a:buClr>
                <a:schemeClr val="dk1"/>
              </a:buClr>
              <a:buSzPts val="1850"/>
              <a:buFont typeface="Calibri"/>
              <a:buNone/>
            </a:pPr>
            <a:r>
              <a:t/>
            </a:r>
            <a:endParaRPr b="0" i="0" sz="1850" u="none" cap="none" strike="noStrike">
              <a:solidFill>
                <a:schemeClr val="dk1"/>
              </a:solidFill>
              <a:latin typeface="Calibri"/>
              <a:ea typeface="Calibri"/>
              <a:cs typeface="Calibri"/>
              <a:sym typeface="Calibri"/>
            </a:endParaRPr>
          </a:p>
          <a:p>
            <a:pPr indent="-229234" lvl="2" marL="463550" marR="0" rtl="0" algn="just">
              <a:lnSpc>
                <a:spcPct val="100000"/>
              </a:lnSpc>
              <a:spcBef>
                <a:spcPts val="0"/>
              </a:spcBef>
              <a:spcAft>
                <a:spcPts val="0"/>
              </a:spcAft>
              <a:buClr>
                <a:schemeClr val="dk1"/>
              </a:buClr>
              <a:buSzPts val="1200"/>
              <a:buFont typeface="Calibri"/>
              <a:buAutoNum type="arabicPeriod"/>
            </a:pPr>
            <a:r>
              <a:rPr b="0" i="0" lang="en-US" sz="1200" u="none" cap="none" strike="noStrike">
                <a:solidFill>
                  <a:schemeClr val="dk1"/>
                </a:solidFill>
                <a:latin typeface="Calibri"/>
                <a:ea typeface="Calibri"/>
                <a:cs typeface="Calibri"/>
                <a:sym typeface="Calibri"/>
              </a:rPr>
              <a:t>Komunikasi</a:t>
            </a:r>
            <a:endParaRPr b="0" i="0" sz="1200" u="none" cap="none" strike="noStrike">
              <a:solidFill>
                <a:schemeClr val="dk1"/>
              </a:solidFill>
              <a:latin typeface="Calibri"/>
              <a:ea typeface="Calibri"/>
              <a:cs typeface="Calibri"/>
              <a:sym typeface="Calibri"/>
            </a:endParaRPr>
          </a:p>
          <a:p>
            <a:pPr indent="186055" lvl="0" marL="283845" marR="8890" rtl="0" algn="just">
              <a:lnSpc>
                <a:spcPct val="116700"/>
              </a:lnSpc>
              <a:spcBef>
                <a:spcPts val="0"/>
              </a:spcBef>
              <a:spcAft>
                <a:spcPts val="0"/>
              </a:spcAft>
              <a:buNone/>
            </a:pPr>
            <a:r>
              <a:rPr lang="en-US" sz="1200">
                <a:solidFill>
                  <a:schemeClr val="dk1"/>
                </a:solidFill>
                <a:latin typeface="Calibri"/>
                <a:ea typeface="Calibri"/>
                <a:cs typeface="Calibri"/>
                <a:sym typeface="Calibri"/>
              </a:rPr>
              <a:t>Yang dimaksud dengan komunikasi adalah adanya fasilitas atau media yang  memungkinkan terjadinya pertukaran informasi, layanan, transaksi elektronik  (pemesanan dan pembayaran secara elektronik) dan perpindahan barang dari penjual</a:t>
            </a:r>
            <a:endParaRPr sz="1200">
              <a:solidFill>
                <a:schemeClr val="dk1"/>
              </a:solidFill>
              <a:latin typeface="Calibri"/>
              <a:ea typeface="Calibri"/>
              <a:cs typeface="Calibri"/>
              <a:sym typeface="Calibri"/>
            </a:endParaRPr>
          </a:p>
          <a:p>
            <a:pPr indent="0" lvl="0" marL="283845" marR="5080" rtl="0" algn="just">
              <a:lnSpc>
                <a:spcPct val="116700"/>
              </a:lnSpc>
              <a:spcBef>
                <a:spcPts val="25"/>
              </a:spcBef>
              <a:spcAft>
                <a:spcPts val="0"/>
              </a:spcAft>
              <a:buNone/>
            </a:pPr>
            <a:r>
              <a:rPr lang="en-US" sz="1200">
                <a:solidFill>
                  <a:schemeClr val="dk1"/>
                </a:solidFill>
                <a:latin typeface="Calibri"/>
                <a:ea typeface="Calibri"/>
                <a:cs typeface="Calibri"/>
                <a:sym typeface="Calibri"/>
              </a:rPr>
              <a:t>ke pembeli. Media komunikasi yang memadai yang bisa mempertemukan pelaku e-  Business menjadi syarat utama terselenggaranya.</a:t>
            </a:r>
            <a:endParaRPr sz="1200">
              <a:solidFill>
                <a:schemeClr val="dk1"/>
              </a:solidFill>
              <a:latin typeface="Calibri"/>
              <a:ea typeface="Calibri"/>
              <a:cs typeface="Calibri"/>
              <a:sym typeface="Calibri"/>
            </a:endParaRPr>
          </a:p>
          <a:p>
            <a:pPr indent="0" lvl="0" marL="0" marR="0" rtl="0" algn="l">
              <a:lnSpc>
                <a:spcPct val="100000"/>
              </a:lnSpc>
              <a:spcBef>
                <a:spcPts val="25"/>
              </a:spcBef>
              <a:spcAft>
                <a:spcPts val="0"/>
              </a:spcAft>
              <a:buNone/>
            </a:pPr>
            <a:r>
              <a:t/>
            </a:r>
            <a:endParaRPr sz="1550">
              <a:solidFill>
                <a:schemeClr val="dk1"/>
              </a:solidFill>
              <a:latin typeface="Calibri"/>
              <a:ea typeface="Calibri"/>
              <a:cs typeface="Calibri"/>
              <a:sym typeface="Calibri"/>
            </a:endParaRPr>
          </a:p>
          <a:p>
            <a:pPr indent="-229234" lvl="2" marL="463550" marR="0" rtl="0" algn="just">
              <a:lnSpc>
                <a:spcPct val="100000"/>
              </a:lnSpc>
              <a:spcBef>
                <a:spcPts val="0"/>
              </a:spcBef>
              <a:spcAft>
                <a:spcPts val="0"/>
              </a:spcAft>
              <a:buClr>
                <a:schemeClr val="dk1"/>
              </a:buClr>
              <a:buSzPts val="1200"/>
              <a:buFont typeface="Calibri"/>
              <a:buAutoNum type="arabicPeriod"/>
            </a:pPr>
            <a:r>
              <a:rPr b="0" i="0" lang="en-US" sz="1200" u="none" cap="none" strike="noStrike">
                <a:solidFill>
                  <a:schemeClr val="dk1"/>
                </a:solidFill>
                <a:latin typeface="Calibri"/>
                <a:ea typeface="Calibri"/>
                <a:cs typeface="Calibri"/>
                <a:sym typeface="Calibri"/>
              </a:rPr>
              <a:t>Komersial (Perdagangan)</a:t>
            </a:r>
            <a:endParaRPr b="0" i="0" sz="1200" u="none" cap="none" strike="noStrike">
              <a:solidFill>
                <a:schemeClr val="dk1"/>
              </a:solidFill>
              <a:latin typeface="Calibri"/>
              <a:ea typeface="Calibri"/>
              <a:cs typeface="Calibri"/>
              <a:sym typeface="Calibri"/>
            </a:endParaRPr>
          </a:p>
          <a:p>
            <a:pPr indent="186055" lvl="0" marL="283845" marR="0" rtl="0" algn="just">
              <a:lnSpc>
                <a:spcPct val="100000"/>
              </a:lnSpc>
              <a:spcBef>
                <a:spcPts val="240"/>
              </a:spcBef>
              <a:spcAft>
                <a:spcPts val="0"/>
              </a:spcAft>
              <a:buNone/>
            </a:pPr>
            <a:r>
              <a:rPr lang="en-US" sz="1200">
                <a:solidFill>
                  <a:schemeClr val="dk1"/>
                </a:solidFill>
                <a:latin typeface="Calibri"/>
                <a:ea typeface="Calibri"/>
                <a:cs typeface="Calibri"/>
                <a:sym typeface="Calibri"/>
              </a:rPr>
              <a:t>Sisi komersial yang disyaratkan pada e-Business adalah adanya sistem untuk</a:t>
            </a:r>
            <a:endParaRPr sz="1200">
              <a:solidFill>
                <a:schemeClr val="dk1"/>
              </a:solidFill>
              <a:latin typeface="Calibri"/>
              <a:ea typeface="Calibri"/>
              <a:cs typeface="Calibri"/>
              <a:sym typeface="Calibri"/>
            </a:endParaRPr>
          </a:p>
          <a:p>
            <a:pPr indent="0" lvl="0" marL="283845" marR="5715" rtl="0" algn="just">
              <a:lnSpc>
                <a:spcPct val="116900"/>
              </a:lnSpc>
              <a:spcBef>
                <a:spcPts val="25"/>
              </a:spcBef>
              <a:spcAft>
                <a:spcPts val="0"/>
              </a:spcAft>
              <a:buNone/>
            </a:pPr>
            <a:r>
              <a:rPr lang="en-US" sz="1200">
                <a:solidFill>
                  <a:schemeClr val="dk1"/>
                </a:solidFill>
                <a:latin typeface="Calibri"/>
                <a:ea typeface="Calibri"/>
                <a:cs typeface="Calibri"/>
                <a:sym typeface="Calibri"/>
              </a:rPr>
              <a:t>melakukan transaksi online mulai dari promosi barang, pemesanan barang, pembayaran  dan pengiriman barang. Pembeli barang memesan barang tidak memerlukan melihat  barang secara langsung tetapi melalui gambar atau spesifikasi yang tercantum dalam  website. Sedangkan untuk pemesanan, sistem shopping online terhubung dengan  sistem inventory untuk mengetahui stock barang sehingga barang yang dibeli memang  ada. Untuk pembayaran, sistem shopping online harus terhubung dengan otoritas  pembayaran misalnya bank atau penyedia kartu kredit agar nilai yang dibayarkan oleh  pembeli berasal dari alat pembayaran yang sah dan memiliki nilai yang cukup.</a:t>
            </a:r>
            <a:endParaRPr sz="1200">
              <a:solidFill>
                <a:schemeClr val="dk1"/>
              </a:solidFill>
              <a:latin typeface="Calibri"/>
              <a:ea typeface="Calibri"/>
              <a:cs typeface="Calibri"/>
              <a:sym typeface="Calibri"/>
            </a:endParaRPr>
          </a:p>
          <a:p>
            <a:pPr indent="0" lvl="0" marL="0" marR="0" rtl="0" algn="l">
              <a:lnSpc>
                <a:spcPct val="100000"/>
              </a:lnSpc>
              <a:spcBef>
                <a:spcPts val="25"/>
              </a:spcBef>
              <a:spcAft>
                <a:spcPts val="0"/>
              </a:spcAft>
              <a:buNone/>
            </a:pPr>
            <a:r>
              <a:t/>
            </a:r>
            <a:endParaRPr sz="1550">
              <a:solidFill>
                <a:schemeClr val="dk1"/>
              </a:solidFill>
              <a:latin typeface="Calibri"/>
              <a:ea typeface="Calibri"/>
              <a:cs typeface="Calibri"/>
              <a:sym typeface="Calibri"/>
            </a:endParaRPr>
          </a:p>
          <a:p>
            <a:pPr indent="-229234" lvl="2" marL="463550" marR="0" rtl="0" algn="just">
              <a:lnSpc>
                <a:spcPct val="100000"/>
              </a:lnSpc>
              <a:spcBef>
                <a:spcPts val="0"/>
              </a:spcBef>
              <a:spcAft>
                <a:spcPts val="0"/>
              </a:spcAft>
              <a:buClr>
                <a:schemeClr val="dk1"/>
              </a:buClr>
              <a:buSzPts val="1200"/>
              <a:buFont typeface="Calibri"/>
              <a:buAutoNum type="arabicPeriod"/>
            </a:pPr>
            <a:r>
              <a:rPr b="0" i="0" lang="en-US" sz="1200" u="none" cap="none" strike="noStrike">
                <a:solidFill>
                  <a:schemeClr val="dk1"/>
                </a:solidFill>
                <a:latin typeface="Calibri"/>
                <a:ea typeface="Calibri"/>
                <a:cs typeface="Calibri"/>
                <a:sym typeface="Calibri"/>
              </a:rPr>
              <a:t>Proses Bisnis</a:t>
            </a:r>
            <a:endParaRPr b="0" i="0" sz="1200" u="none" cap="none" strike="noStrike">
              <a:solidFill>
                <a:schemeClr val="dk1"/>
              </a:solidFill>
              <a:latin typeface="Calibri"/>
              <a:ea typeface="Calibri"/>
              <a:cs typeface="Calibri"/>
              <a:sym typeface="Calibri"/>
            </a:endParaRPr>
          </a:p>
          <a:p>
            <a:pPr indent="186055" lvl="0" marL="283845" marR="0" rtl="0" algn="just">
              <a:lnSpc>
                <a:spcPct val="100000"/>
              </a:lnSpc>
              <a:spcBef>
                <a:spcPts val="245"/>
              </a:spcBef>
              <a:spcAft>
                <a:spcPts val="0"/>
              </a:spcAft>
              <a:buNone/>
            </a:pPr>
            <a:r>
              <a:rPr lang="en-US" sz="1200">
                <a:solidFill>
                  <a:schemeClr val="dk1"/>
                </a:solidFill>
                <a:latin typeface="Calibri"/>
                <a:ea typeface="Calibri"/>
                <a:cs typeface="Calibri"/>
                <a:sym typeface="Calibri"/>
              </a:rPr>
              <a:t>Setiap pelaku e-Business yang ingin melalukan transaksi elektronik dan mendapatkan</a:t>
            </a:r>
            <a:endParaRPr sz="1200">
              <a:solidFill>
                <a:schemeClr val="dk1"/>
              </a:solidFill>
              <a:latin typeface="Calibri"/>
              <a:ea typeface="Calibri"/>
              <a:cs typeface="Calibri"/>
              <a:sym typeface="Calibri"/>
            </a:endParaRPr>
          </a:p>
          <a:p>
            <a:pPr indent="0" lvl="0" marL="283845" marR="5080" rtl="0" algn="just">
              <a:lnSpc>
                <a:spcPct val="116700"/>
              </a:lnSpc>
              <a:spcBef>
                <a:spcPts val="25"/>
              </a:spcBef>
              <a:spcAft>
                <a:spcPts val="0"/>
              </a:spcAft>
              <a:buNone/>
            </a:pPr>
            <a:r>
              <a:rPr lang="en-US" sz="1200">
                <a:solidFill>
                  <a:schemeClr val="dk1"/>
                </a:solidFill>
                <a:latin typeface="Calibri"/>
                <a:ea typeface="Calibri"/>
                <a:cs typeface="Calibri"/>
                <a:sym typeface="Calibri"/>
              </a:rPr>
              <a:t>manfaat semaksimal mungkin dari e-Business harus melakukan optimalisasi proses  bisnis internal dengan memanfaatkan teknologi informasi agar aliran informasi,  transaksi, maupun lama pengiriman barang menjadi dipersingkat, biaya transaksi  menjadi lebih ekonomis jika dibandingkan dengan perdagangan yang dilakukan secara  tradisional.</a:t>
            </a:r>
            <a:endParaRPr sz="1200">
              <a:solidFill>
                <a:schemeClr val="dk1"/>
              </a:solidFill>
              <a:latin typeface="Calibri"/>
              <a:ea typeface="Calibri"/>
              <a:cs typeface="Calibri"/>
              <a:sym typeface="Calibri"/>
            </a:endParaRPr>
          </a:p>
          <a:p>
            <a:pPr indent="0" lvl="0" marL="0" marR="0" rtl="0" algn="l">
              <a:lnSpc>
                <a:spcPct val="100000"/>
              </a:lnSpc>
              <a:spcBef>
                <a:spcPts val="50"/>
              </a:spcBef>
              <a:spcAft>
                <a:spcPts val="0"/>
              </a:spcAft>
              <a:buNone/>
            </a:pPr>
            <a:r>
              <a:t/>
            </a:r>
            <a:endParaRPr sz="1550">
              <a:solidFill>
                <a:schemeClr val="dk1"/>
              </a:solidFill>
              <a:latin typeface="Calibri"/>
              <a:ea typeface="Calibri"/>
              <a:cs typeface="Calibri"/>
              <a:sym typeface="Calibri"/>
            </a:endParaRPr>
          </a:p>
          <a:p>
            <a:pPr indent="-229234" lvl="2" marL="463550" marR="0" rtl="0" algn="just">
              <a:lnSpc>
                <a:spcPct val="100000"/>
              </a:lnSpc>
              <a:spcBef>
                <a:spcPts val="0"/>
              </a:spcBef>
              <a:spcAft>
                <a:spcPts val="0"/>
              </a:spcAft>
              <a:buClr>
                <a:schemeClr val="dk1"/>
              </a:buClr>
              <a:buSzPts val="1200"/>
              <a:buFont typeface="Calibri"/>
              <a:buAutoNum type="arabicPeriod"/>
            </a:pPr>
            <a:r>
              <a:rPr b="0" i="0" lang="en-US" sz="1200" u="none" cap="none" strike="noStrike">
                <a:solidFill>
                  <a:schemeClr val="dk1"/>
                </a:solidFill>
                <a:latin typeface="Calibri"/>
                <a:ea typeface="Calibri"/>
                <a:cs typeface="Calibri"/>
                <a:sym typeface="Calibri"/>
              </a:rPr>
              <a:t>Layanan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8" name="Shape 98"/>
        <p:cNvGrpSpPr/>
        <p:nvPr/>
      </p:nvGrpSpPr>
      <p:grpSpPr>
        <a:xfrm>
          <a:off x="0" y="0"/>
          <a:ext cx="0" cy="0"/>
          <a:chOff x="0" y="0"/>
          <a:chExt cx="0" cy="0"/>
        </a:xfrm>
      </p:grpSpPr>
      <p:pic>
        <p:nvPicPr>
          <p:cNvPr id="99" name="Google Shape;99;p3"/>
          <p:cNvPicPr preferRelativeResize="0"/>
          <p:nvPr/>
        </p:nvPicPr>
        <p:blipFill rotWithShape="1">
          <a:blip r:embed="rId3">
            <a:alphaModFix/>
          </a:blip>
          <a:srcRect b="0" l="0" r="0" t="0"/>
          <a:stretch/>
        </p:blipFill>
        <p:spPr>
          <a:xfrm>
            <a:off x="0" y="0"/>
            <a:ext cx="7556500" cy="10693400"/>
          </a:xfrm>
          <a:prstGeom prst="rect">
            <a:avLst/>
          </a:prstGeom>
          <a:noFill/>
          <a:ln>
            <a:noFill/>
          </a:ln>
        </p:spPr>
      </p:pic>
      <p:sp>
        <p:nvSpPr>
          <p:cNvPr id="100" name="Google Shape;100;p3"/>
          <p:cNvSpPr txBox="1"/>
          <p:nvPr>
            <p:ph idx="12" type="sldNum"/>
          </p:nvPr>
        </p:nvSpPr>
        <p:spPr>
          <a:xfrm>
            <a:off x="6277736" y="9937495"/>
            <a:ext cx="408940" cy="165734"/>
          </a:xfrm>
          <a:prstGeom prst="rect">
            <a:avLst/>
          </a:prstGeom>
          <a:noFill/>
          <a:ln>
            <a:noFill/>
          </a:ln>
        </p:spPr>
        <p:txBody>
          <a:bodyPr anchorCtr="0" anchor="t" bIns="0" lIns="0" spcFirstLastPara="1" rIns="0" wrap="square" tIns="0">
            <a:spAutoFit/>
          </a:bodyPr>
          <a:lstStyle/>
          <a:p>
            <a:pPr indent="0" lvl="0" marL="12700" rtl="0" algn="l">
              <a:lnSpc>
                <a:spcPct val="104545"/>
              </a:lnSpc>
              <a:spcBef>
                <a:spcPts val="0"/>
              </a:spcBef>
              <a:spcAft>
                <a:spcPts val="0"/>
              </a:spcAft>
              <a:buNone/>
            </a:pPr>
            <a:r>
              <a:rPr lang="en-US"/>
              <a:t>Hal : </a:t>
            </a:r>
            <a:fld id="{00000000-1234-1234-1234-123412341234}" type="slidenum">
              <a:rPr lang="en-US"/>
              <a:t>‹#›</a:t>
            </a:fld>
            <a:endParaRPr/>
          </a:p>
        </p:txBody>
      </p:sp>
      <p:sp>
        <p:nvSpPr>
          <p:cNvPr id="101" name="Google Shape;101;p3"/>
          <p:cNvSpPr txBox="1"/>
          <p:nvPr/>
        </p:nvSpPr>
        <p:spPr>
          <a:xfrm>
            <a:off x="1124508" y="429513"/>
            <a:ext cx="5538470" cy="9236075"/>
          </a:xfrm>
          <a:prstGeom prst="rect">
            <a:avLst/>
          </a:prstGeom>
          <a:noFill/>
          <a:ln>
            <a:noFill/>
          </a:ln>
        </p:spPr>
        <p:txBody>
          <a:bodyPr anchorCtr="0" anchor="t" bIns="0" lIns="0" spcFirstLastPara="1" rIns="0" wrap="square" tIns="12700">
            <a:spAutoFit/>
          </a:bodyPr>
          <a:lstStyle/>
          <a:p>
            <a:pPr indent="0" lvl="0" marL="0" marR="6350" rtl="0" algn="r">
              <a:lnSpc>
                <a:spcPct val="100000"/>
              </a:lnSpc>
              <a:spcBef>
                <a:spcPts val="0"/>
              </a:spcBef>
              <a:spcAft>
                <a:spcPts val="0"/>
              </a:spcAft>
              <a:buNone/>
            </a:pPr>
            <a:r>
              <a:rPr lang="en-US" sz="1100">
                <a:solidFill>
                  <a:schemeClr val="dk1"/>
                </a:solidFill>
                <a:latin typeface="Calibri"/>
                <a:ea typeface="Calibri"/>
                <a:cs typeface="Calibri"/>
                <a:sym typeface="Calibri"/>
              </a:rPr>
              <a:t>Dasar Sistem Informasi Bisnis</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100">
              <a:solidFill>
                <a:schemeClr val="dk1"/>
              </a:solidFill>
              <a:latin typeface="Calibri"/>
              <a:ea typeface="Calibri"/>
              <a:cs typeface="Calibri"/>
              <a:sym typeface="Calibri"/>
            </a:endParaRPr>
          </a:p>
          <a:p>
            <a:pPr indent="186055" lvl="0" marL="60960" marR="5080" rtl="0" algn="just">
              <a:lnSpc>
                <a:spcPct val="116900"/>
              </a:lnSpc>
              <a:spcBef>
                <a:spcPts val="765"/>
              </a:spcBef>
              <a:spcAft>
                <a:spcPts val="0"/>
              </a:spcAft>
              <a:buNone/>
            </a:pPr>
            <a:r>
              <a:rPr lang="en-US" sz="1200">
                <a:solidFill>
                  <a:schemeClr val="dk1"/>
                </a:solidFill>
                <a:latin typeface="Calibri"/>
                <a:ea typeface="Calibri"/>
                <a:cs typeface="Calibri"/>
                <a:sym typeface="Calibri"/>
              </a:rPr>
              <a:t>Bagi setiap institusi yang menjadi pelaku e-Business, penggunaan teknologi informasi  dan internet seharusnya menjadikan layanan ke customer menjadi lebih baik, lebih  ekonomis, dan lebih terjangkau. Misalnya, dimensi barang yang ditawarkan beserta  spesifikasinya bisa diperiksa lebih seksama sebelum dibeli (diakses melalui website),  tidak diperlukan toko secara fisik, dan bisa diakses dari mana saja dengan menggunakan  internet. Bahkan dengan sistem informasi, customer bisat dilayani secara khusus dan  personal karena data-data aktifitas customer direkam dan bisa dilakukan analisis untuk  meningkatkan pelayanan.</a:t>
            </a:r>
            <a:endParaRPr sz="1200">
              <a:solidFill>
                <a:schemeClr val="dk1"/>
              </a:solidFill>
              <a:latin typeface="Calibri"/>
              <a:ea typeface="Calibri"/>
              <a:cs typeface="Calibri"/>
              <a:sym typeface="Calibri"/>
            </a:endParaRPr>
          </a:p>
          <a:p>
            <a:pPr indent="0" lvl="0" marL="0" marR="0" rtl="0" algn="l">
              <a:lnSpc>
                <a:spcPct val="100000"/>
              </a:lnSpc>
              <a:spcBef>
                <a:spcPts val="50"/>
              </a:spcBef>
              <a:spcAft>
                <a:spcPts val="0"/>
              </a:spcAft>
              <a:buNone/>
            </a:pPr>
            <a:r>
              <a:t/>
            </a:r>
            <a:endParaRPr sz="1550">
              <a:solidFill>
                <a:schemeClr val="dk1"/>
              </a:solidFill>
              <a:latin typeface="Calibri"/>
              <a:ea typeface="Calibri"/>
              <a:cs typeface="Calibri"/>
              <a:sym typeface="Calibri"/>
            </a:endParaRPr>
          </a:p>
          <a:p>
            <a:pPr indent="-229234" lvl="0" marL="241300" marR="0" rtl="0" algn="just">
              <a:lnSpc>
                <a:spcPct val="100000"/>
              </a:lnSpc>
              <a:spcBef>
                <a:spcPts val="5"/>
              </a:spcBef>
              <a:spcAft>
                <a:spcPts val="0"/>
              </a:spcAft>
              <a:buClr>
                <a:schemeClr val="dk1"/>
              </a:buClr>
              <a:buSzPts val="1200"/>
              <a:buFont typeface="Calibri"/>
              <a:buAutoNum type="arabicPeriod" startAt="5"/>
            </a:pPr>
            <a:r>
              <a:rPr lang="en-US" sz="1200">
                <a:solidFill>
                  <a:schemeClr val="dk1"/>
                </a:solidFill>
                <a:latin typeface="Calibri"/>
                <a:ea typeface="Calibri"/>
                <a:cs typeface="Calibri"/>
                <a:sym typeface="Calibri"/>
              </a:rPr>
              <a:t>Learning</a:t>
            </a:r>
            <a:endParaRPr sz="1200">
              <a:solidFill>
                <a:schemeClr val="dk1"/>
              </a:solidFill>
              <a:latin typeface="Calibri"/>
              <a:ea typeface="Calibri"/>
              <a:cs typeface="Calibri"/>
              <a:sym typeface="Calibri"/>
            </a:endParaRPr>
          </a:p>
          <a:p>
            <a:pPr indent="186055" lvl="0" marL="60960" marR="6985" rtl="0" algn="just">
              <a:lnSpc>
                <a:spcPct val="116700"/>
              </a:lnSpc>
              <a:spcBef>
                <a:spcPts val="0"/>
              </a:spcBef>
              <a:spcAft>
                <a:spcPts val="0"/>
              </a:spcAft>
              <a:buNone/>
            </a:pPr>
            <a:r>
              <a:rPr lang="en-US" sz="1200">
                <a:solidFill>
                  <a:schemeClr val="dk1"/>
                </a:solidFill>
                <a:latin typeface="Calibri"/>
                <a:ea typeface="Calibri"/>
                <a:cs typeface="Calibri"/>
                <a:sym typeface="Calibri"/>
              </a:rPr>
              <a:t>Untuk meningkatkan ”awareness” baik diantara pengguna maupun pelaku e-  Business, proses edukasi sangat penting agar semakin banyak anggota masyarakat yang  menyadari manfaat dan kelebihan dari transaksi online. Perbedaan dengan transaksi  tradisional adalah pembeli dan penjual tidak perlu belajar sebelum melakukan transaksi</a:t>
            </a:r>
            <a:endParaRPr sz="1200">
              <a:solidFill>
                <a:schemeClr val="dk1"/>
              </a:solidFill>
              <a:latin typeface="Calibri"/>
              <a:ea typeface="Calibri"/>
              <a:cs typeface="Calibri"/>
              <a:sym typeface="Calibri"/>
            </a:endParaRPr>
          </a:p>
          <a:p>
            <a:pPr indent="0" lvl="0" marL="60960" marR="10160" rtl="0" algn="just">
              <a:lnSpc>
                <a:spcPct val="116700"/>
              </a:lnSpc>
              <a:spcBef>
                <a:spcPts val="20"/>
              </a:spcBef>
              <a:spcAft>
                <a:spcPts val="0"/>
              </a:spcAft>
              <a:buNone/>
            </a:pPr>
            <a:r>
              <a:rPr lang="en-US" sz="1200">
                <a:solidFill>
                  <a:schemeClr val="dk1"/>
                </a:solidFill>
                <a:latin typeface="Calibri"/>
                <a:ea typeface="Calibri"/>
                <a:cs typeface="Calibri"/>
                <a:sym typeface="Calibri"/>
              </a:rPr>
              <a:t>sedangkan transaksi online karena pengguna maupun pelaku tidak berhadapan dengan  manusia tetapi dengan mesin komputer maka diperlukan proses edukasi agar mereka  bisa menggunakan fasilitas atau media transaksi dengan lancar.</a:t>
            </a:r>
            <a:endParaRPr sz="1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1550">
              <a:solidFill>
                <a:schemeClr val="dk1"/>
              </a:solidFill>
              <a:latin typeface="Calibri"/>
              <a:ea typeface="Calibri"/>
              <a:cs typeface="Calibri"/>
              <a:sym typeface="Calibri"/>
            </a:endParaRPr>
          </a:p>
          <a:p>
            <a:pPr indent="-229234" lvl="0" marL="241300" marR="0" rtl="0" algn="just">
              <a:lnSpc>
                <a:spcPct val="100000"/>
              </a:lnSpc>
              <a:spcBef>
                <a:spcPts val="0"/>
              </a:spcBef>
              <a:spcAft>
                <a:spcPts val="0"/>
              </a:spcAft>
              <a:buClr>
                <a:schemeClr val="dk1"/>
              </a:buClr>
              <a:buSzPts val="1200"/>
              <a:buFont typeface="Calibri"/>
              <a:buAutoNum type="arabicPeriod" startAt="6"/>
            </a:pPr>
            <a:r>
              <a:rPr lang="en-US" sz="1200">
                <a:solidFill>
                  <a:schemeClr val="dk1"/>
                </a:solidFill>
                <a:latin typeface="Calibri"/>
                <a:ea typeface="Calibri"/>
                <a:cs typeface="Calibri"/>
                <a:sym typeface="Calibri"/>
              </a:rPr>
              <a:t>Kolaborasi</a:t>
            </a:r>
            <a:endParaRPr sz="1200">
              <a:solidFill>
                <a:schemeClr val="dk1"/>
              </a:solidFill>
              <a:latin typeface="Calibri"/>
              <a:ea typeface="Calibri"/>
              <a:cs typeface="Calibri"/>
              <a:sym typeface="Calibri"/>
            </a:endParaRPr>
          </a:p>
          <a:p>
            <a:pPr indent="186055" lvl="0" marL="60960" marR="9525" rtl="0" algn="just">
              <a:lnSpc>
                <a:spcPct val="116900"/>
              </a:lnSpc>
              <a:spcBef>
                <a:spcPts val="20"/>
              </a:spcBef>
              <a:spcAft>
                <a:spcPts val="0"/>
              </a:spcAft>
              <a:buNone/>
            </a:pPr>
            <a:r>
              <a:rPr lang="en-US" sz="1200">
                <a:solidFill>
                  <a:schemeClr val="dk1"/>
                </a:solidFill>
                <a:latin typeface="Calibri"/>
                <a:ea typeface="Calibri"/>
                <a:cs typeface="Calibri"/>
                <a:sym typeface="Calibri"/>
              </a:rPr>
              <a:t>Satu siklus transaksi online antara penjual dan pembeli melibatkan stakeholder lain  yang harus berkolaborasi untuk menyelesaikan transaksi tersebut. Pada saat  pembayaran maka akan terjadi kolaborasi antara penyedia shopping online dengan  bank atau penyedia kartu kredit untuk menyelesaikan proses pembayaran. Setelah  dibayar maka terjadi kolaborasi antara penyedia shopping online dengan gudang, dan  jasa pengiriman barang untuk mengantarkan barang sampai ke pembeli. Pihak lain yang  juga terlibat adalah pihak asuransi untuk melakukan penjaminan transaksi maupun atas  barang yang dikirim. Kolaborasi yang terjadi dalam e-Business.</a:t>
            </a:r>
            <a:endParaRPr sz="1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1550">
              <a:solidFill>
                <a:schemeClr val="dk1"/>
              </a:solidFill>
              <a:latin typeface="Calibri"/>
              <a:ea typeface="Calibri"/>
              <a:cs typeface="Calibri"/>
              <a:sym typeface="Calibri"/>
            </a:endParaRPr>
          </a:p>
          <a:p>
            <a:pPr indent="-229234" lvl="0" marL="241300" marR="0" rtl="0" algn="just">
              <a:lnSpc>
                <a:spcPct val="100000"/>
              </a:lnSpc>
              <a:spcBef>
                <a:spcPts val="5"/>
              </a:spcBef>
              <a:spcAft>
                <a:spcPts val="0"/>
              </a:spcAft>
              <a:buClr>
                <a:schemeClr val="dk1"/>
              </a:buClr>
              <a:buSzPts val="1200"/>
              <a:buFont typeface="Calibri"/>
              <a:buAutoNum type="arabicPeriod" startAt="7"/>
            </a:pPr>
            <a:r>
              <a:rPr lang="en-US" sz="1200">
                <a:solidFill>
                  <a:schemeClr val="dk1"/>
                </a:solidFill>
                <a:latin typeface="Calibri"/>
                <a:ea typeface="Calibri"/>
                <a:cs typeface="Calibri"/>
                <a:sym typeface="Calibri"/>
              </a:rPr>
              <a:t>Komunitas</a:t>
            </a:r>
            <a:endParaRPr sz="1200">
              <a:solidFill>
                <a:schemeClr val="dk1"/>
              </a:solidFill>
              <a:latin typeface="Calibri"/>
              <a:ea typeface="Calibri"/>
              <a:cs typeface="Calibri"/>
              <a:sym typeface="Calibri"/>
            </a:endParaRPr>
          </a:p>
          <a:p>
            <a:pPr indent="186055" lvl="0" marL="60960" marR="13334" rtl="0" algn="just">
              <a:lnSpc>
                <a:spcPct val="116700"/>
              </a:lnSpc>
              <a:spcBef>
                <a:spcPts val="20"/>
              </a:spcBef>
              <a:spcAft>
                <a:spcPts val="0"/>
              </a:spcAft>
              <a:buNone/>
            </a:pPr>
            <a:r>
              <a:rPr lang="en-US" sz="1200">
                <a:solidFill>
                  <a:schemeClr val="dk1"/>
                </a:solidFill>
                <a:latin typeface="Calibri"/>
                <a:ea typeface="Calibri"/>
                <a:cs typeface="Calibri"/>
                <a:sym typeface="Calibri"/>
              </a:rPr>
              <a:t>Dalam dunia maya (world wide web) komunitas merupakan salah satu indikator  untuk mengukur aktifitas pengguna. Dalam e-Business, komunitas merupakan media  yang cukup penting untuk belajar dan memperbaiki diri secara terus menerus baik dari  sisi pelaku maupun pengguna dalam hal produk, layanan, maupun mekanisme  transaksi.</a:t>
            </a:r>
            <a:endParaRPr sz="12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None/>
            </a:pPr>
            <a:r>
              <a:t/>
            </a:r>
            <a:endParaRPr sz="1350">
              <a:solidFill>
                <a:schemeClr val="dk1"/>
              </a:solidFill>
              <a:latin typeface="Calibri"/>
              <a:ea typeface="Calibri"/>
              <a:cs typeface="Calibri"/>
              <a:sym typeface="Calibri"/>
            </a:endParaRPr>
          </a:p>
          <a:p>
            <a:pPr indent="186055" lvl="0" marL="60960" marR="9525" rtl="0" algn="just">
              <a:lnSpc>
                <a:spcPct val="116700"/>
              </a:lnSpc>
              <a:spcBef>
                <a:spcPts val="0"/>
              </a:spcBef>
              <a:spcAft>
                <a:spcPts val="0"/>
              </a:spcAft>
              <a:buNone/>
            </a:pPr>
            <a:r>
              <a:rPr lang="en-US" sz="1200">
                <a:solidFill>
                  <a:schemeClr val="dk1"/>
                </a:solidFill>
                <a:latin typeface="Calibri"/>
                <a:ea typeface="Calibri"/>
                <a:cs typeface="Calibri"/>
                <a:sym typeface="Calibri"/>
              </a:rPr>
              <a:t>Perspektif diatas merupakan dasar dari konsep e-Business yang bisa dikembangkan  secara kontemporer dengan mempertimbangkan kondisi saat ini untuk pengembangan  di masa depan.</a:t>
            </a:r>
            <a:endParaRPr sz="12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None/>
            </a:pPr>
            <a:r>
              <a:t/>
            </a:r>
            <a:endParaRPr sz="1350">
              <a:solidFill>
                <a:schemeClr val="dk1"/>
              </a:solidFill>
              <a:latin typeface="Calibri"/>
              <a:ea typeface="Calibri"/>
              <a:cs typeface="Calibri"/>
              <a:sym typeface="Calibri"/>
            </a:endParaRPr>
          </a:p>
          <a:p>
            <a:pPr indent="186055" lvl="0" marL="60960" marR="9525" rtl="0" algn="just">
              <a:lnSpc>
                <a:spcPct val="118300"/>
              </a:lnSpc>
              <a:spcBef>
                <a:spcPts val="5"/>
              </a:spcBef>
              <a:spcAft>
                <a:spcPts val="0"/>
              </a:spcAft>
              <a:buNone/>
            </a:pPr>
            <a:r>
              <a:rPr lang="en-US" sz="1200">
                <a:solidFill>
                  <a:schemeClr val="dk1"/>
                </a:solidFill>
                <a:latin typeface="Calibri"/>
                <a:ea typeface="Calibri"/>
                <a:cs typeface="Calibri"/>
                <a:sym typeface="Calibri"/>
              </a:rPr>
              <a:t>Keuntungan dalam menyiapkan kebijakan e-Business saat ini adalah kita bisa belajar  dari kesalahan model bisnis yang terjadi di era tahun 2000 dimana banyak perusahaan</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5" name="Shape 105"/>
        <p:cNvGrpSpPr/>
        <p:nvPr/>
      </p:nvGrpSpPr>
      <p:grpSpPr>
        <a:xfrm>
          <a:off x="0" y="0"/>
          <a:ext cx="0" cy="0"/>
          <a:chOff x="0" y="0"/>
          <a:chExt cx="0" cy="0"/>
        </a:xfrm>
      </p:grpSpPr>
      <p:pic>
        <p:nvPicPr>
          <p:cNvPr id="106" name="Google Shape;106;p4"/>
          <p:cNvPicPr preferRelativeResize="0"/>
          <p:nvPr/>
        </p:nvPicPr>
        <p:blipFill rotWithShape="1">
          <a:blip r:embed="rId3">
            <a:alphaModFix/>
          </a:blip>
          <a:srcRect b="0" l="0" r="0" t="0"/>
          <a:stretch/>
        </p:blipFill>
        <p:spPr>
          <a:xfrm>
            <a:off x="0" y="0"/>
            <a:ext cx="7556500" cy="10693400"/>
          </a:xfrm>
          <a:prstGeom prst="rect">
            <a:avLst/>
          </a:prstGeom>
          <a:noFill/>
          <a:ln>
            <a:noFill/>
          </a:ln>
        </p:spPr>
      </p:pic>
      <p:sp>
        <p:nvSpPr>
          <p:cNvPr id="107" name="Google Shape;107;p4"/>
          <p:cNvSpPr txBox="1"/>
          <p:nvPr>
            <p:ph idx="12" type="sldNum"/>
          </p:nvPr>
        </p:nvSpPr>
        <p:spPr>
          <a:xfrm>
            <a:off x="6277736" y="9937495"/>
            <a:ext cx="408940" cy="165734"/>
          </a:xfrm>
          <a:prstGeom prst="rect">
            <a:avLst/>
          </a:prstGeom>
          <a:noFill/>
          <a:ln>
            <a:noFill/>
          </a:ln>
        </p:spPr>
        <p:txBody>
          <a:bodyPr anchorCtr="0" anchor="t" bIns="0" lIns="0" spcFirstLastPara="1" rIns="0" wrap="square" tIns="0">
            <a:spAutoFit/>
          </a:bodyPr>
          <a:lstStyle/>
          <a:p>
            <a:pPr indent="0" lvl="0" marL="12700" rtl="0" algn="l">
              <a:lnSpc>
                <a:spcPct val="104545"/>
              </a:lnSpc>
              <a:spcBef>
                <a:spcPts val="0"/>
              </a:spcBef>
              <a:spcAft>
                <a:spcPts val="0"/>
              </a:spcAft>
              <a:buNone/>
            </a:pPr>
            <a:r>
              <a:rPr lang="en-US"/>
              <a:t>Hal : </a:t>
            </a:r>
            <a:fld id="{00000000-1234-1234-1234-123412341234}" type="slidenum">
              <a:rPr lang="en-US"/>
              <a:t>‹#›</a:t>
            </a:fld>
            <a:endParaRPr/>
          </a:p>
        </p:txBody>
      </p:sp>
      <p:sp>
        <p:nvSpPr>
          <p:cNvPr id="108" name="Google Shape;108;p4"/>
          <p:cNvSpPr txBox="1"/>
          <p:nvPr/>
        </p:nvSpPr>
        <p:spPr>
          <a:xfrm>
            <a:off x="1124508" y="429513"/>
            <a:ext cx="5536565" cy="880618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n-US" sz="1100">
                <a:solidFill>
                  <a:schemeClr val="dk1"/>
                </a:solidFill>
                <a:latin typeface="Calibri"/>
                <a:ea typeface="Calibri"/>
                <a:cs typeface="Calibri"/>
                <a:sym typeface="Calibri"/>
              </a:rPr>
              <a:t>Dasar Sistem Informasi Bisnis</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100">
              <a:solidFill>
                <a:schemeClr val="dk1"/>
              </a:solidFill>
              <a:latin typeface="Calibri"/>
              <a:ea typeface="Calibri"/>
              <a:cs typeface="Calibri"/>
              <a:sym typeface="Calibri"/>
            </a:endParaRPr>
          </a:p>
          <a:p>
            <a:pPr indent="0" lvl="0" marL="60960" marR="12065" rtl="0" algn="just">
              <a:lnSpc>
                <a:spcPct val="116700"/>
              </a:lnSpc>
              <a:spcBef>
                <a:spcPts val="765"/>
              </a:spcBef>
              <a:spcAft>
                <a:spcPts val="0"/>
              </a:spcAft>
              <a:buNone/>
            </a:pPr>
            <a:r>
              <a:rPr lang="en-US" sz="1200">
                <a:solidFill>
                  <a:schemeClr val="dk1"/>
                </a:solidFill>
                <a:latin typeface="Calibri"/>
                <a:ea typeface="Calibri"/>
                <a:cs typeface="Calibri"/>
                <a:sym typeface="Calibri"/>
              </a:rPr>
              <a:t>dotcom mengalami kebangkrutan sehingga berdampak pada menurunnya ekonomi  global pada saat itu.</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400">
              <a:solidFill>
                <a:schemeClr val="dk1"/>
              </a:solidFill>
              <a:latin typeface="Calibri"/>
              <a:ea typeface="Calibri"/>
              <a:cs typeface="Calibri"/>
              <a:sym typeface="Calibri"/>
            </a:endParaRPr>
          </a:p>
          <a:p>
            <a:pPr indent="186055" lvl="0" marL="60960" marR="8255" rtl="0" algn="just">
              <a:lnSpc>
                <a:spcPct val="116700"/>
              </a:lnSpc>
              <a:spcBef>
                <a:spcPts val="0"/>
              </a:spcBef>
              <a:spcAft>
                <a:spcPts val="0"/>
              </a:spcAft>
              <a:buNone/>
            </a:pPr>
            <a:r>
              <a:rPr lang="en-US" sz="1200">
                <a:solidFill>
                  <a:schemeClr val="dk1"/>
                </a:solidFill>
                <a:latin typeface="Calibri"/>
                <a:ea typeface="Calibri"/>
                <a:cs typeface="Calibri"/>
                <a:sym typeface="Calibri"/>
              </a:rPr>
              <a:t>Untuk meningkatkan kemungkinan sukses dalam e-Business dan mengurangi resiko  kegagalan maka langkah pertama yang perlu dilakukan adalah melakukan identifikasi  faktor sukses. Dari pengalaman sebelumnya, sukses faktor paling menentukan adalah  kombinasi dari faktor-faktor berikut:</a:t>
            </a:r>
            <a:endParaRPr sz="12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None/>
            </a:pPr>
            <a:r>
              <a:t/>
            </a:r>
            <a:endParaRPr sz="1550">
              <a:solidFill>
                <a:schemeClr val="dk1"/>
              </a:solidFill>
              <a:latin typeface="Calibri"/>
              <a:ea typeface="Calibri"/>
              <a:cs typeface="Calibri"/>
              <a:sym typeface="Calibri"/>
            </a:endParaRPr>
          </a:p>
          <a:p>
            <a:pPr indent="-229234" lvl="0" marL="241300" marR="0" rtl="0" algn="just">
              <a:lnSpc>
                <a:spcPct val="100000"/>
              </a:lnSpc>
              <a:spcBef>
                <a:spcPts val="0"/>
              </a:spcBef>
              <a:spcAft>
                <a:spcPts val="0"/>
              </a:spcAft>
              <a:buClr>
                <a:schemeClr val="dk1"/>
              </a:buClr>
              <a:buSzPts val="1200"/>
              <a:buFont typeface="Calibri"/>
              <a:buAutoNum type="alphaLcPeriod"/>
            </a:pPr>
            <a:r>
              <a:rPr lang="en-US" sz="1200">
                <a:solidFill>
                  <a:schemeClr val="dk1"/>
                </a:solidFill>
                <a:latin typeface="Calibri"/>
                <a:ea typeface="Calibri"/>
                <a:cs typeface="Calibri"/>
                <a:sym typeface="Calibri"/>
              </a:rPr>
              <a:t>Biaya (cost)</a:t>
            </a:r>
            <a:endParaRPr sz="1200">
              <a:solidFill>
                <a:schemeClr val="dk1"/>
              </a:solidFill>
              <a:latin typeface="Calibri"/>
              <a:ea typeface="Calibri"/>
              <a:cs typeface="Calibri"/>
              <a:sym typeface="Calibri"/>
            </a:endParaRPr>
          </a:p>
          <a:p>
            <a:pPr indent="186055" lvl="0" marL="60960" marR="5715" rtl="0" algn="just">
              <a:lnSpc>
                <a:spcPct val="116700"/>
              </a:lnSpc>
              <a:spcBef>
                <a:spcPts val="0"/>
              </a:spcBef>
              <a:spcAft>
                <a:spcPts val="0"/>
              </a:spcAft>
              <a:buNone/>
            </a:pPr>
            <a:r>
              <a:rPr lang="en-US" sz="1200">
                <a:solidFill>
                  <a:schemeClr val="dk1"/>
                </a:solidFill>
                <a:latin typeface="Calibri"/>
                <a:ea typeface="Calibri"/>
                <a:cs typeface="Calibri"/>
                <a:sym typeface="Calibri"/>
              </a:rPr>
              <a:t>E-Business perlu menjamin terjadinya ’cost efficiency’ melalui efisiensi waktu atau  volume penjualan yang lebih besar dengan melakukan optimasi pada proses logistik  langsung dari warehouse ke pembeli.</a:t>
            </a:r>
            <a:endParaRPr sz="1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1550">
              <a:solidFill>
                <a:schemeClr val="dk1"/>
              </a:solidFill>
              <a:latin typeface="Calibri"/>
              <a:ea typeface="Calibri"/>
              <a:cs typeface="Calibri"/>
              <a:sym typeface="Calibri"/>
            </a:endParaRPr>
          </a:p>
          <a:p>
            <a:pPr indent="-229234" lvl="0" marL="241300" marR="0" rtl="0" algn="just">
              <a:lnSpc>
                <a:spcPct val="100000"/>
              </a:lnSpc>
              <a:spcBef>
                <a:spcPts val="0"/>
              </a:spcBef>
              <a:spcAft>
                <a:spcPts val="0"/>
              </a:spcAft>
              <a:buClr>
                <a:schemeClr val="dk1"/>
              </a:buClr>
              <a:buSzPts val="1200"/>
              <a:buFont typeface="Calibri"/>
              <a:buAutoNum type="alphaLcPeriod" startAt="2"/>
            </a:pPr>
            <a:r>
              <a:rPr lang="en-US" sz="1200">
                <a:solidFill>
                  <a:schemeClr val="dk1"/>
                </a:solidFill>
                <a:latin typeface="Calibri"/>
                <a:ea typeface="Calibri"/>
                <a:cs typeface="Calibri"/>
                <a:sym typeface="Calibri"/>
              </a:rPr>
              <a:t>Komersial (commerce)</a:t>
            </a:r>
            <a:endParaRPr sz="1200">
              <a:solidFill>
                <a:schemeClr val="dk1"/>
              </a:solidFill>
              <a:latin typeface="Calibri"/>
              <a:ea typeface="Calibri"/>
              <a:cs typeface="Calibri"/>
              <a:sym typeface="Calibri"/>
            </a:endParaRPr>
          </a:p>
          <a:p>
            <a:pPr indent="186055" lvl="0" marL="60960" marR="8890" rtl="0" algn="just">
              <a:lnSpc>
                <a:spcPct val="116700"/>
              </a:lnSpc>
              <a:spcBef>
                <a:spcPts val="25"/>
              </a:spcBef>
              <a:spcAft>
                <a:spcPts val="0"/>
              </a:spcAft>
              <a:buNone/>
            </a:pPr>
            <a:r>
              <a:rPr lang="en-US" sz="1200">
                <a:solidFill>
                  <a:schemeClr val="dk1"/>
                </a:solidFill>
                <a:latin typeface="Calibri"/>
                <a:ea typeface="Calibri"/>
                <a:cs typeface="Calibri"/>
                <a:sym typeface="Calibri"/>
              </a:rPr>
              <a:t>Memaksimalkan keuntungan (profitabilitas) dilakukan dengan melakukan  reengineering seluruh proses bisnis sehingga selain menurunkan biaya operasional juga  meningkatkan kepuasan pelanggan dan pada akhirnya menaikkan volume penjualan.</a:t>
            </a:r>
            <a:endParaRPr sz="1200">
              <a:solidFill>
                <a:schemeClr val="dk1"/>
              </a:solidFill>
              <a:latin typeface="Calibri"/>
              <a:ea typeface="Calibri"/>
              <a:cs typeface="Calibri"/>
              <a:sym typeface="Calibri"/>
            </a:endParaRPr>
          </a:p>
          <a:p>
            <a:pPr indent="0" lvl="0" marL="0" marR="0" rtl="0" algn="l">
              <a:lnSpc>
                <a:spcPct val="100000"/>
              </a:lnSpc>
              <a:spcBef>
                <a:spcPts val="25"/>
              </a:spcBef>
              <a:spcAft>
                <a:spcPts val="0"/>
              </a:spcAft>
              <a:buNone/>
            </a:pPr>
            <a:r>
              <a:t/>
            </a:r>
            <a:endParaRPr sz="1550">
              <a:solidFill>
                <a:schemeClr val="dk1"/>
              </a:solidFill>
              <a:latin typeface="Calibri"/>
              <a:ea typeface="Calibri"/>
              <a:cs typeface="Calibri"/>
              <a:sym typeface="Calibri"/>
            </a:endParaRPr>
          </a:p>
          <a:p>
            <a:pPr indent="-229234" lvl="0" marL="241300" marR="0" rtl="0" algn="just">
              <a:lnSpc>
                <a:spcPct val="100000"/>
              </a:lnSpc>
              <a:spcBef>
                <a:spcPts val="5"/>
              </a:spcBef>
              <a:spcAft>
                <a:spcPts val="0"/>
              </a:spcAft>
              <a:buClr>
                <a:schemeClr val="dk1"/>
              </a:buClr>
              <a:buSzPts val="1200"/>
              <a:buFont typeface="Calibri"/>
              <a:buAutoNum type="alphaLcPeriod" startAt="3"/>
            </a:pPr>
            <a:r>
              <a:rPr lang="en-US" sz="1200">
                <a:solidFill>
                  <a:schemeClr val="dk1"/>
                </a:solidFill>
                <a:latin typeface="Calibri"/>
                <a:ea typeface="Calibri"/>
                <a:cs typeface="Calibri"/>
                <a:sym typeface="Calibri"/>
              </a:rPr>
              <a:t>Konten (content)</a:t>
            </a:r>
            <a:endParaRPr sz="1200">
              <a:solidFill>
                <a:schemeClr val="dk1"/>
              </a:solidFill>
              <a:latin typeface="Calibri"/>
              <a:ea typeface="Calibri"/>
              <a:cs typeface="Calibri"/>
              <a:sym typeface="Calibri"/>
            </a:endParaRPr>
          </a:p>
          <a:p>
            <a:pPr indent="186055" lvl="0" marL="60960" marR="11430" rtl="0" algn="just">
              <a:lnSpc>
                <a:spcPct val="116700"/>
              </a:lnSpc>
              <a:spcBef>
                <a:spcPts val="20"/>
              </a:spcBef>
              <a:spcAft>
                <a:spcPts val="0"/>
              </a:spcAft>
              <a:buNone/>
            </a:pPr>
            <a:r>
              <a:rPr lang="en-US" sz="1200">
                <a:solidFill>
                  <a:schemeClr val="dk1"/>
                </a:solidFill>
                <a:latin typeface="Calibri"/>
                <a:ea typeface="Calibri"/>
                <a:cs typeface="Calibri"/>
                <a:sym typeface="Calibri"/>
              </a:rPr>
              <a:t>Informasi tentang produk atau layanan, berita yang selalu up to date, informasi yang  berguna misalnya tip, advice, variasi produk atau layanan pendukung yang dibarengi  dengan kualitas produk dan layanan yang prima sehingga pelanggan merasa dilayani  secara personal merupakan kunci sukses utama.</a:t>
            </a:r>
            <a:endParaRPr sz="12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None/>
            </a:pPr>
            <a:r>
              <a:t/>
            </a:r>
            <a:endParaRPr sz="1550">
              <a:solidFill>
                <a:schemeClr val="dk1"/>
              </a:solidFill>
              <a:latin typeface="Calibri"/>
              <a:ea typeface="Calibri"/>
              <a:cs typeface="Calibri"/>
              <a:sym typeface="Calibri"/>
            </a:endParaRPr>
          </a:p>
          <a:p>
            <a:pPr indent="-229234" lvl="0" marL="241300" marR="0" rtl="0" algn="just">
              <a:lnSpc>
                <a:spcPct val="100000"/>
              </a:lnSpc>
              <a:spcBef>
                <a:spcPts val="0"/>
              </a:spcBef>
              <a:spcAft>
                <a:spcPts val="0"/>
              </a:spcAft>
              <a:buClr>
                <a:schemeClr val="dk1"/>
              </a:buClr>
              <a:buSzPts val="1200"/>
              <a:buFont typeface="Calibri"/>
              <a:buAutoNum type="alphaLcPeriod" startAt="4"/>
            </a:pPr>
            <a:r>
              <a:rPr lang="en-US" sz="1200">
                <a:solidFill>
                  <a:schemeClr val="dk1"/>
                </a:solidFill>
                <a:latin typeface="Calibri"/>
                <a:ea typeface="Calibri"/>
                <a:cs typeface="Calibri"/>
                <a:sym typeface="Calibri"/>
              </a:rPr>
              <a:t>Komunitas (community)</a:t>
            </a:r>
            <a:endParaRPr sz="1200">
              <a:solidFill>
                <a:schemeClr val="dk1"/>
              </a:solidFill>
              <a:latin typeface="Calibri"/>
              <a:ea typeface="Calibri"/>
              <a:cs typeface="Calibri"/>
              <a:sym typeface="Calibri"/>
            </a:endParaRPr>
          </a:p>
          <a:p>
            <a:pPr indent="186055" lvl="0" marL="60960" marR="7620" rtl="0" algn="just">
              <a:lnSpc>
                <a:spcPct val="116700"/>
              </a:lnSpc>
              <a:spcBef>
                <a:spcPts val="0"/>
              </a:spcBef>
              <a:spcAft>
                <a:spcPts val="0"/>
              </a:spcAft>
              <a:buNone/>
            </a:pPr>
            <a:r>
              <a:rPr lang="en-US" sz="1200">
                <a:solidFill>
                  <a:schemeClr val="dk1"/>
                </a:solidFill>
                <a:latin typeface="Calibri"/>
                <a:ea typeface="Calibri"/>
                <a:cs typeface="Calibri"/>
                <a:sym typeface="Calibri"/>
              </a:rPr>
              <a:t>Komunitas merupakan media tempat pertukaran pengalaman, membentuk interest  group sehingga menjadi sarana yang efektif untuk membentuk opini pelanggan,  membangun permintaan (generate demand) dan melindungi kepentingan pengguna  maupun pelaku. Komunitas merupakan cara yang efektif untuk meningkatkan retensi</a:t>
            </a:r>
            <a:endParaRPr sz="1200">
              <a:solidFill>
                <a:schemeClr val="dk1"/>
              </a:solidFill>
              <a:latin typeface="Calibri"/>
              <a:ea typeface="Calibri"/>
              <a:cs typeface="Calibri"/>
              <a:sym typeface="Calibri"/>
            </a:endParaRPr>
          </a:p>
          <a:p>
            <a:pPr indent="0" lvl="0" marL="60960" marR="0" rtl="0" algn="just">
              <a:lnSpc>
                <a:spcPct val="100000"/>
              </a:lnSpc>
              <a:spcBef>
                <a:spcPts val="265"/>
              </a:spcBef>
              <a:spcAft>
                <a:spcPts val="0"/>
              </a:spcAft>
              <a:buNone/>
            </a:pPr>
            <a:r>
              <a:rPr lang="en-US" sz="1200">
                <a:solidFill>
                  <a:schemeClr val="dk1"/>
                </a:solidFill>
                <a:latin typeface="Calibri"/>
                <a:ea typeface="Calibri"/>
                <a:cs typeface="Calibri"/>
                <a:sym typeface="Calibri"/>
              </a:rPr>
              <a:t>pelanggan sehingga biaya untuk mendapatkan pelanggan baru menjadi minimal.</a:t>
            </a:r>
            <a:endParaRPr sz="1200">
              <a:solidFill>
                <a:schemeClr val="dk1"/>
              </a:solidFill>
              <a:latin typeface="Calibri"/>
              <a:ea typeface="Calibri"/>
              <a:cs typeface="Calibri"/>
              <a:sym typeface="Calibri"/>
            </a:endParaRPr>
          </a:p>
          <a:p>
            <a:pPr indent="0" lvl="0" marL="0" marR="0" rtl="0" algn="l">
              <a:lnSpc>
                <a:spcPct val="100000"/>
              </a:lnSpc>
              <a:spcBef>
                <a:spcPts val="25"/>
              </a:spcBef>
              <a:spcAft>
                <a:spcPts val="0"/>
              </a:spcAft>
              <a:buNone/>
            </a:pPr>
            <a:r>
              <a:t/>
            </a:r>
            <a:endParaRPr sz="1550">
              <a:solidFill>
                <a:schemeClr val="dk1"/>
              </a:solidFill>
              <a:latin typeface="Calibri"/>
              <a:ea typeface="Calibri"/>
              <a:cs typeface="Calibri"/>
              <a:sym typeface="Calibri"/>
            </a:endParaRPr>
          </a:p>
          <a:p>
            <a:pPr indent="-229234" lvl="0" marL="241300" marR="0" rtl="0" algn="just">
              <a:lnSpc>
                <a:spcPct val="100000"/>
              </a:lnSpc>
              <a:spcBef>
                <a:spcPts val="0"/>
              </a:spcBef>
              <a:spcAft>
                <a:spcPts val="0"/>
              </a:spcAft>
              <a:buClr>
                <a:schemeClr val="dk1"/>
              </a:buClr>
              <a:buSzPts val="1200"/>
              <a:buFont typeface="Calibri"/>
              <a:buAutoNum type="alphaLcPeriod" startAt="5"/>
            </a:pPr>
            <a:r>
              <a:rPr lang="en-US" sz="1200">
                <a:solidFill>
                  <a:schemeClr val="dk1"/>
                </a:solidFill>
                <a:latin typeface="Calibri"/>
                <a:ea typeface="Calibri"/>
                <a:cs typeface="Calibri"/>
                <a:sym typeface="Calibri"/>
              </a:rPr>
              <a:t>Kenyamanan (convenience)</a:t>
            </a:r>
            <a:endParaRPr sz="1200">
              <a:solidFill>
                <a:schemeClr val="dk1"/>
              </a:solidFill>
              <a:latin typeface="Calibri"/>
              <a:ea typeface="Calibri"/>
              <a:cs typeface="Calibri"/>
              <a:sym typeface="Calibri"/>
            </a:endParaRPr>
          </a:p>
          <a:p>
            <a:pPr indent="186055" lvl="0" marL="60960" marR="10160" rtl="0" algn="just">
              <a:lnSpc>
                <a:spcPct val="116700"/>
              </a:lnSpc>
              <a:spcBef>
                <a:spcPts val="0"/>
              </a:spcBef>
              <a:spcAft>
                <a:spcPts val="0"/>
              </a:spcAft>
              <a:buNone/>
            </a:pPr>
            <a:r>
              <a:rPr lang="en-US" sz="1200">
                <a:solidFill>
                  <a:schemeClr val="dk1"/>
                </a:solidFill>
                <a:latin typeface="Calibri"/>
                <a:ea typeface="Calibri"/>
                <a:cs typeface="Calibri"/>
                <a:sym typeface="Calibri"/>
              </a:rPr>
              <a:t>Kenyamanan dalam melakukan transaksi online merupakan salah satu kunci sukses.  Navigasi yang mudah, cepat, dan informatif akan membuat pengguna menyukai cara  bertransaksi online. Sedangkan kerumitan nagivasi yang memerlukan beberapa kali clik</a:t>
            </a:r>
            <a:endParaRPr sz="1200">
              <a:solidFill>
                <a:schemeClr val="dk1"/>
              </a:solidFill>
              <a:latin typeface="Calibri"/>
              <a:ea typeface="Calibri"/>
              <a:cs typeface="Calibri"/>
              <a:sym typeface="Calibri"/>
            </a:endParaRPr>
          </a:p>
          <a:p>
            <a:pPr indent="0" lvl="0" marL="60960" marR="12065" rtl="0" algn="just">
              <a:lnSpc>
                <a:spcPct val="116700"/>
              </a:lnSpc>
              <a:spcBef>
                <a:spcPts val="25"/>
              </a:spcBef>
              <a:spcAft>
                <a:spcPts val="0"/>
              </a:spcAft>
              <a:buNone/>
            </a:pPr>
            <a:r>
              <a:rPr lang="en-US" sz="1200">
                <a:solidFill>
                  <a:schemeClr val="dk1"/>
                </a:solidFill>
                <a:latin typeface="Calibri"/>
                <a:ea typeface="Calibri"/>
                <a:cs typeface="Calibri"/>
                <a:sym typeface="Calibri"/>
              </a:rPr>
              <a:t>dan tidak memberikan petunjuk yang mudah dan cepat bisa menyesatkan pengguna  dan membuat pengguna tidak kembali lagi.</a:t>
            </a:r>
            <a:endParaRPr sz="1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1550">
              <a:solidFill>
                <a:schemeClr val="dk1"/>
              </a:solidFill>
              <a:latin typeface="Calibri"/>
              <a:ea typeface="Calibri"/>
              <a:cs typeface="Calibri"/>
              <a:sym typeface="Calibri"/>
            </a:endParaRPr>
          </a:p>
          <a:p>
            <a:pPr indent="-229234" lvl="0" marL="241300" marR="0" rtl="0" algn="just">
              <a:lnSpc>
                <a:spcPct val="100000"/>
              </a:lnSpc>
              <a:spcBef>
                <a:spcPts val="0"/>
              </a:spcBef>
              <a:spcAft>
                <a:spcPts val="0"/>
              </a:spcAft>
              <a:buClr>
                <a:schemeClr val="dk1"/>
              </a:buClr>
              <a:buSzPts val="1200"/>
              <a:buFont typeface="Calibri"/>
              <a:buAutoNum type="alphaLcPeriod" startAt="6"/>
            </a:pPr>
            <a:r>
              <a:rPr lang="en-US" sz="1200">
                <a:solidFill>
                  <a:schemeClr val="dk1"/>
                </a:solidFill>
                <a:latin typeface="Calibri"/>
                <a:ea typeface="Calibri"/>
                <a:cs typeface="Calibri"/>
                <a:sym typeface="Calibri"/>
              </a:rPr>
              <a:t>Konektifitas (connectivity)</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2" name="Shape 112"/>
        <p:cNvGrpSpPr/>
        <p:nvPr/>
      </p:nvGrpSpPr>
      <p:grpSpPr>
        <a:xfrm>
          <a:off x="0" y="0"/>
          <a:ext cx="0" cy="0"/>
          <a:chOff x="0" y="0"/>
          <a:chExt cx="0" cy="0"/>
        </a:xfrm>
      </p:grpSpPr>
      <p:pic>
        <p:nvPicPr>
          <p:cNvPr id="113" name="Google Shape;113;p5"/>
          <p:cNvPicPr preferRelativeResize="0"/>
          <p:nvPr/>
        </p:nvPicPr>
        <p:blipFill rotWithShape="1">
          <a:blip r:embed="rId3">
            <a:alphaModFix/>
          </a:blip>
          <a:srcRect b="0" l="0" r="0" t="0"/>
          <a:stretch/>
        </p:blipFill>
        <p:spPr>
          <a:xfrm>
            <a:off x="0" y="0"/>
            <a:ext cx="7556500" cy="10693400"/>
          </a:xfrm>
          <a:prstGeom prst="rect">
            <a:avLst/>
          </a:prstGeom>
          <a:noFill/>
          <a:ln>
            <a:noFill/>
          </a:ln>
        </p:spPr>
      </p:pic>
      <p:sp>
        <p:nvSpPr>
          <p:cNvPr id="114" name="Google Shape;114;p5"/>
          <p:cNvSpPr txBox="1"/>
          <p:nvPr>
            <p:ph idx="12" type="sldNum"/>
          </p:nvPr>
        </p:nvSpPr>
        <p:spPr>
          <a:xfrm>
            <a:off x="6277736" y="9937495"/>
            <a:ext cx="408940" cy="165734"/>
          </a:xfrm>
          <a:prstGeom prst="rect">
            <a:avLst/>
          </a:prstGeom>
          <a:noFill/>
          <a:ln>
            <a:noFill/>
          </a:ln>
        </p:spPr>
        <p:txBody>
          <a:bodyPr anchorCtr="0" anchor="t" bIns="0" lIns="0" spcFirstLastPara="1" rIns="0" wrap="square" tIns="0">
            <a:spAutoFit/>
          </a:bodyPr>
          <a:lstStyle/>
          <a:p>
            <a:pPr indent="0" lvl="0" marL="12700" rtl="0" algn="l">
              <a:lnSpc>
                <a:spcPct val="104545"/>
              </a:lnSpc>
              <a:spcBef>
                <a:spcPts val="0"/>
              </a:spcBef>
              <a:spcAft>
                <a:spcPts val="0"/>
              </a:spcAft>
              <a:buNone/>
            </a:pPr>
            <a:r>
              <a:rPr lang="en-US"/>
              <a:t>Hal : </a:t>
            </a:r>
            <a:fld id="{00000000-1234-1234-1234-123412341234}" type="slidenum">
              <a:rPr lang="en-US"/>
              <a:t>‹#›</a:t>
            </a:fld>
            <a:endParaRPr/>
          </a:p>
        </p:txBody>
      </p:sp>
      <p:sp>
        <p:nvSpPr>
          <p:cNvPr id="115" name="Google Shape;115;p5"/>
          <p:cNvSpPr txBox="1"/>
          <p:nvPr/>
        </p:nvSpPr>
        <p:spPr>
          <a:xfrm>
            <a:off x="1173276" y="429513"/>
            <a:ext cx="5487670" cy="666623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n-US" sz="1100">
                <a:solidFill>
                  <a:schemeClr val="dk1"/>
                </a:solidFill>
                <a:latin typeface="Calibri"/>
                <a:ea typeface="Calibri"/>
                <a:cs typeface="Calibri"/>
                <a:sym typeface="Calibri"/>
              </a:rPr>
              <a:t>Dasar Sistem Informasi Bisnis</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100">
              <a:solidFill>
                <a:schemeClr val="dk1"/>
              </a:solidFill>
              <a:latin typeface="Calibri"/>
              <a:ea typeface="Calibri"/>
              <a:cs typeface="Calibri"/>
              <a:sym typeface="Calibri"/>
            </a:endParaRPr>
          </a:p>
          <a:p>
            <a:pPr indent="186055" lvl="0" marL="12700" marR="5715" rtl="0" algn="just">
              <a:lnSpc>
                <a:spcPct val="116700"/>
              </a:lnSpc>
              <a:spcBef>
                <a:spcPts val="765"/>
              </a:spcBef>
              <a:spcAft>
                <a:spcPts val="0"/>
              </a:spcAft>
              <a:buNone/>
            </a:pPr>
            <a:r>
              <a:rPr lang="en-US" sz="1200">
                <a:solidFill>
                  <a:schemeClr val="dk1"/>
                </a:solidFill>
                <a:latin typeface="Calibri"/>
                <a:ea typeface="Calibri"/>
                <a:cs typeface="Calibri"/>
                <a:sym typeface="Calibri"/>
              </a:rPr>
              <a:t>Ketersediaan koneksi yang cepat juga merupakan faktor penentu kesuksesan  transaksi online. Respon yang cepat dan tidak terputus akan membuat pengguna  merasakan manfaat yang nyata dari e-Business.</a:t>
            </a:r>
            <a:endParaRPr sz="12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None/>
            </a:pPr>
            <a:r>
              <a:t/>
            </a:r>
            <a:endParaRPr sz="1350">
              <a:solidFill>
                <a:schemeClr val="dk1"/>
              </a:solidFill>
              <a:latin typeface="Calibri"/>
              <a:ea typeface="Calibri"/>
              <a:cs typeface="Calibri"/>
              <a:sym typeface="Calibri"/>
            </a:endParaRPr>
          </a:p>
          <a:p>
            <a:pPr indent="186055" lvl="0" marL="12700" marR="6350" rtl="0" algn="just">
              <a:lnSpc>
                <a:spcPct val="117000"/>
              </a:lnSpc>
              <a:spcBef>
                <a:spcPts val="0"/>
              </a:spcBef>
              <a:spcAft>
                <a:spcPts val="0"/>
              </a:spcAft>
              <a:buNone/>
            </a:pPr>
            <a:r>
              <a:rPr lang="en-US" sz="1200">
                <a:solidFill>
                  <a:schemeClr val="dk1"/>
                </a:solidFill>
                <a:latin typeface="Calibri"/>
                <a:ea typeface="Calibri"/>
                <a:cs typeface="Calibri"/>
                <a:sym typeface="Calibri"/>
              </a:rPr>
              <a:t>Dengan ke enam faktor sukses tersebut diharapkan pelaku e-Business bisa  mempersiapkan diri dengan secara lebih komprehensif. Untuk mengetahui tingkat  kesuksesan pelaku e-Business ukuran yang bisa digunakan adalah penerimaan  pengguna (customer acceptance) yang direpresentasikan dengan jumlah customer  online, patuh aturan (legal authorities compliance), dukungan dari third parties (supply  chain support) dan indikator finansial. Dibawah ini adalah model untuk mengetahui  kesuksesan e-Business.</a:t>
            </a:r>
            <a:endParaRPr sz="1200">
              <a:solidFill>
                <a:schemeClr val="dk1"/>
              </a:solidFill>
              <a:latin typeface="Calibri"/>
              <a:ea typeface="Calibri"/>
              <a:cs typeface="Calibri"/>
              <a:sym typeface="Calibri"/>
            </a:endParaRPr>
          </a:p>
          <a:p>
            <a:pPr indent="0" lvl="0" marL="0" marR="0" rtl="0" algn="l">
              <a:lnSpc>
                <a:spcPct val="100000"/>
              </a:lnSpc>
              <a:spcBef>
                <a:spcPts val="25"/>
              </a:spcBef>
              <a:spcAft>
                <a:spcPts val="0"/>
              </a:spcAft>
              <a:buNone/>
            </a:pPr>
            <a:r>
              <a:t/>
            </a:r>
            <a:endParaRPr sz="1350">
              <a:solidFill>
                <a:schemeClr val="dk1"/>
              </a:solidFill>
              <a:latin typeface="Calibri"/>
              <a:ea typeface="Calibri"/>
              <a:cs typeface="Calibri"/>
              <a:sym typeface="Calibri"/>
            </a:endParaRPr>
          </a:p>
          <a:p>
            <a:pPr indent="186055" lvl="0" marL="12700" marR="6985" rtl="0" algn="just">
              <a:lnSpc>
                <a:spcPct val="117100"/>
              </a:lnSpc>
              <a:spcBef>
                <a:spcPts val="0"/>
              </a:spcBef>
              <a:spcAft>
                <a:spcPts val="0"/>
              </a:spcAft>
              <a:buNone/>
            </a:pPr>
            <a:r>
              <a:rPr lang="en-US" sz="1200">
                <a:solidFill>
                  <a:schemeClr val="dk1"/>
                </a:solidFill>
                <a:latin typeface="Calibri"/>
                <a:ea typeface="Calibri"/>
                <a:cs typeface="Calibri"/>
                <a:sym typeface="Calibri"/>
              </a:rPr>
              <a:t>Kebijakan E-Business yang perlu dibuatkan aturan main dan rambu-rambu agar para  pelaku e-Business (stakeholders) bermain dalam arena (playing field) yang fair dan  semua pihak dilindungi hak dan kewajibannya tanpa mengurangi kemampuannya dalam  mengimplementasikan strategi e-Business masing-masing mencakup kebijakan antara  lain:</a:t>
            </a:r>
            <a:endParaRPr sz="1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1550">
              <a:solidFill>
                <a:schemeClr val="dk1"/>
              </a:solidFill>
              <a:latin typeface="Calibri"/>
              <a:ea typeface="Calibri"/>
              <a:cs typeface="Calibri"/>
              <a:sym typeface="Calibri"/>
            </a:endParaRPr>
          </a:p>
          <a:p>
            <a:pPr indent="-284480" lvl="0" marL="655955" marR="0" rtl="0" algn="l">
              <a:lnSpc>
                <a:spcPct val="100000"/>
              </a:lnSpc>
              <a:spcBef>
                <a:spcPts val="0"/>
              </a:spcBef>
              <a:spcAft>
                <a:spcPts val="0"/>
              </a:spcAft>
              <a:buClr>
                <a:schemeClr val="dk1"/>
              </a:buClr>
              <a:buSzPts val="1200"/>
              <a:buFont typeface="Calibri"/>
              <a:buAutoNum type="romanLcPeriod"/>
            </a:pPr>
            <a:r>
              <a:rPr lang="en-US" sz="1200">
                <a:solidFill>
                  <a:schemeClr val="dk1"/>
                </a:solidFill>
                <a:latin typeface="Calibri"/>
                <a:ea typeface="Calibri"/>
                <a:cs typeface="Calibri"/>
                <a:sym typeface="Calibri"/>
              </a:rPr>
              <a:t>Internal : manajemen dan staf</a:t>
            </a:r>
            <a:endParaRPr sz="1200">
              <a:solidFill>
                <a:schemeClr val="dk1"/>
              </a:solidFill>
              <a:latin typeface="Calibri"/>
              <a:ea typeface="Calibri"/>
              <a:cs typeface="Calibri"/>
              <a:sym typeface="Calibri"/>
            </a:endParaRPr>
          </a:p>
          <a:p>
            <a:pPr indent="-284480" lvl="0" marL="655955" marR="0" rtl="0" algn="l">
              <a:lnSpc>
                <a:spcPct val="100000"/>
              </a:lnSpc>
              <a:spcBef>
                <a:spcPts val="265"/>
              </a:spcBef>
              <a:spcAft>
                <a:spcPts val="0"/>
              </a:spcAft>
              <a:buClr>
                <a:schemeClr val="dk1"/>
              </a:buClr>
              <a:buSzPts val="1200"/>
              <a:buFont typeface="Calibri"/>
              <a:buAutoNum type="romanLcPeriod"/>
            </a:pPr>
            <a:r>
              <a:rPr lang="en-US" sz="1200">
                <a:solidFill>
                  <a:schemeClr val="dk1"/>
                </a:solidFill>
                <a:latin typeface="Calibri"/>
                <a:ea typeface="Calibri"/>
                <a:cs typeface="Calibri"/>
                <a:sym typeface="Calibri"/>
              </a:rPr>
              <a:t>Pemasok dan manufaktur</a:t>
            </a:r>
            <a:endParaRPr sz="1200">
              <a:solidFill>
                <a:schemeClr val="dk1"/>
              </a:solidFill>
              <a:latin typeface="Calibri"/>
              <a:ea typeface="Calibri"/>
              <a:cs typeface="Calibri"/>
              <a:sym typeface="Calibri"/>
            </a:endParaRPr>
          </a:p>
          <a:p>
            <a:pPr indent="-284480" lvl="0" marL="655955" marR="0" rtl="0" algn="l">
              <a:lnSpc>
                <a:spcPct val="100000"/>
              </a:lnSpc>
              <a:spcBef>
                <a:spcPts val="240"/>
              </a:spcBef>
              <a:spcAft>
                <a:spcPts val="0"/>
              </a:spcAft>
              <a:buClr>
                <a:schemeClr val="dk1"/>
              </a:buClr>
              <a:buSzPts val="1200"/>
              <a:buFont typeface="Calibri"/>
              <a:buAutoNum type="romanLcPeriod"/>
            </a:pPr>
            <a:r>
              <a:rPr lang="en-US" sz="1200">
                <a:solidFill>
                  <a:schemeClr val="dk1"/>
                </a:solidFill>
                <a:latin typeface="Calibri"/>
                <a:ea typeface="Calibri"/>
                <a:cs typeface="Calibri"/>
                <a:sym typeface="Calibri"/>
              </a:rPr>
              <a:t>Pelanggan (customer)</a:t>
            </a:r>
            <a:endParaRPr sz="1200">
              <a:solidFill>
                <a:schemeClr val="dk1"/>
              </a:solidFill>
              <a:latin typeface="Calibri"/>
              <a:ea typeface="Calibri"/>
              <a:cs typeface="Calibri"/>
              <a:sym typeface="Calibri"/>
            </a:endParaRPr>
          </a:p>
          <a:p>
            <a:pPr indent="-284480" lvl="0" marL="640715" marR="0" rtl="0" algn="l">
              <a:lnSpc>
                <a:spcPct val="100000"/>
              </a:lnSpc>
              <a:spcBef>
                <a:spcPts val="240"/>
              </a:spcBef>
              <a:spcAft>
                <a:spcPts val="0"/>
              </a:spcAft>
              <a:buClr>
                <a:schemeClr val="dk1"/>
              </a:buClr>
              <a:buSzPts val="1200"/>
              <a:buFont typeface="Calibri"/>
              <a:buAutoNum type="romanLcPeriod"/>
            </a:pPr>
            <a:r>
              <a:rPr lang="en-US" sz="1200">
                <a:solidFill>
                  <a:schemeClr val="dk1"/>
                </a:solidFill>
                <a:latin typeface="Calibri"/>
                <a:ea typeface="Calibri"/>
                <a:cs typeface="Calibri"/>
                <a:sym typeface="Calibri"/>
              </a:rPr>
              <a:t>Perantara (intermediaries)</a:t>
            </a:r>
            <a:endParaRPr sz="1200">
              <a:solidFill>
                <a:schemeClr val="dk1"/>
              </a:solidFill>
              <a:latin typeface="Calibri"/>
              <a:ea typeface="Calibri"/>
              <a:cs typeface="Calibri"/>
              <a:sym typeface="Calibri"/>
            </a:endParaRPr>
          </a:p>
          <a:p>
            <a:pPr indent="-284480" lvl="0" marL="640715" marR="0" rtl="0" algn="l">
              <a:lnSpc>
                <a:spcPct val="100000"/>
              </a:lnSpc>
              <a:spcBef>
                <a:spcPts val="240"/>
              </a:spcBef>
              <a:spcAft>
                <a:spcPts val="0"/>
              </a:spcAft>
              <a:buClr>
                <a:schemeClr val="dk1"/>
              </a:buClr>
              <a:buSzPts val="1200"/>
              <a:buFont typeface="Calibri"/>
              <a:buAutoNum type="romanLcPeriod"/>
            </a:pPr>
            <a:r>
              <a:rPr lang="en-US" sz="1200">
                <a:solidFill>
                  <a:schemeClr val="dk1"/>
                </a:solidFill>
                <a:latin typeface="Calibri"/>
                <a:ea typeface="Calibri"/>
                <a:cs typeface="Calibri"/>
                <a:sym typeface="Calibri"/>
              </a:rPr>
              <a:t>Lembaga Keuangan</a:t>
            </a:r>
            <a:endParaRPr sz="1200">
              <a:solidFill>
                <a:schemeClr val="dk1"/>
              </a:solidFill>
              <a:latin typeface="Calibri"/>
              <a:ea typeface="Calibri"/>
              <a:cs typeface="Calibri"/>
              <a:sym typeface="Calibri"/>
            </a:endParaRPr>
          </a:p>
          <a:p>
            <a:pPr indent="-284480" lvl="0" marL="640715" marR="0" rtl="0" algn="l">
              <a:lnSpc>
                <a:spcPct val="100000"/>
              </a:lnSpc>
              <a:spcBef>
                <a:spcPts val="244"/>
              </a:spcBef>
              <a:spcAft>
                <a:spcPts val="0"/>
              </a:spcAft>
              <a:buClr>
                <a:schemeClr val="dk1"/>
              </a:buClr>
              <a:buSzPts val="1200"/>
              <a:buFont typeface="Calibri"/>
              <a:buAutoNum type="romanLcPeriod"/>
            </a:pPr>
            <a:r>
              <a:rPr lang="en-US" sz="1200">
                <a:solidFill>
                  <a:schemeClr val="dk1"/>
                </a:solidFill>
                <a:latin typeface="Calibri"/>
                <a:ea typeface="Calibri"/>
                <a:cs typeface="Calibri"/>
                <a:sym typeface="Calibri"/>
              </a:rPr>
              <a:t>Pemilik Web (Web service provider)</a:t>
            </a:r>
            <a:endParaRPr sz="1200">
              <a:solidFill>
                <a:schemeClr val="dk1"/>
              </a:solidFill>
              <a:latin typeface="Calibri"/>
              <a:ea typeface="Calibri"/>
              <a:cs typeface="Calibri"/>
              <a:sym typeface="Calibri"/>
            </a:endParaRPr>
          </a:p>
          <a:p>
            <a:pPr indent="-284480" lvl="0" marL="640715" marR="0" rtl="0" algn="l">
              <a:lnSpc>
                <a:spcPct val="100000"/>
              </a:lnSpc>
              <a:spcBef>
                <a:spcPts val="260"/>
              </a:spcBef>
              <a:spcAft>
                <a:spcPts val="0"/>
              </a:spcAft>
              <a:buClr>
                <a:schemeClr val="dk1"/>
              </a:buClr>
              <a:buSzPts val="1200"/>
              <a:buFont typeface="Calibri"/>
              <a:buAutoNum type="romanLcPeriod"/>
            </a:pPr>
            <a:r>
              <a:rPr lang="en-US" sz="1200">
                <a:solidFill>
                  <a:schemeClr val="dk1"/>
                </a:solidFill>
                <a:latin typeface="Calibri"/>
                <a:ea typeface="Calibri"/>
                <a:cs typeface="Calibri"/>
                <a:sym typeface="Calibri"/>
              </a:rPr>
              <a:t>Asosiasi</a:t>
            </a:r>
            <a:endParaRPr sz="1200">
              <a:solidFill>
                <a:schemeClr val="dk1"/>
              </a:solidFill>
              <a:latin typeface="Calibri"/>
              <a:ea typeface="Calibri"/>
              <a:cs typeface="Calibri"/>
              <a:sym typeface="Calibri"/>
            </a:endParaRPr>
          </a:p>
          <a:p>
            <a:pPr indent="-284480" lvl="0" marL="640715" marR="0" rtl="0" algn="l">
              <a:lnSpc>
                <a:spcPct val="100000"/>
              </a:lnSpc>
              <a:spcBef>
                <a:spcPts val="240"/>
              </a:spcBef>
              <a:spcAft>
                <a:spcPts val="0"/>
              </a:spcAft>
              <a:buClr>
                <a:schemeClr val="dk1"/>
              </a:buClr>
              <a:buSzPts val="1200"/>
              <a:buFont typeface="Calibri"/>
              <a:buAutoNum type="romanLcPeriod"/>
            </a:pPr>
            <a:r>
              <a:rPr lang="en-US" sz="1200">
                <a:solidFill>
                  <a:schemeClr val="dk1"/>
                </a:solidFill>
                <a:latin typeface="Calibri"/>
                <a:ea typeface="Calibri"/>
                <a:cs typeface="Calibri"/>
                <a:sym typeface="Calibri"/>
              </a:rPr>
              <a:t>Komunitas Web</a:t>
            </a:r>
            <a:endParaRPr sz="1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1350">
              <a:solidFill>
                <a:schemeClr val="dk1"/>
              </a:solidFill>
              <a:latin typeface="Calibri"/>
              <a:ea typeface="Calibri"/>
              <a:cs typeface="Calibri"/>
              <a:sym typeface="Calibri"/>
            </a:endParaRPr>
          </a:p>
          <a:p>
            <a:pPr indent="170815" lvl="0" marL="12700" marR="5080" rtl="0" algn="just">
              <a:lnSpc>
                <a:spcPct val="116900"/>
              </a:lnSpc>
              <a:spcBef>
                <a:spcPts val="0"/>
              </a:spcBef>
              <a:spcAft>
                <a:spcPts val="0"/>
              </a:spcAft>
              <a:buNone/>
            </a:pPr>
            <a:r>
              <a:rPr lang="en-US" sz="1200">
                <a:solidFill>
                  <a:schemeClr val="dk1"/>
                </a:solidFill>
                <a:latin typeface="Calibri"/>
                <a:ea typeface="Calibri"/>
                <a:cs typeface="Calibri"/>
                <a:sym typeface="Calibri"/>
              </a:rPr>
              <a:t>Kebijakan e-Business tidak hanya mengatur/memfasilitasi tindakan pra-transaksi  tetapi juga post-transaksi dimana ada 3 hal penting yang harus ditangani antara lain:</a:t>
            </a:r>
            <a:endParaRPr sz="1200">
              <a:solidFill>
                <a:schemeClr val="dk1"/>
              </a:solidFill>
              <a:latin typeface="Calibri"/>
              <a:ea typeface="Calibri"/>
              <a:cs typeface="Calibri"/>
              <a:sym typeface="Calibri"/>
            </a:endParaRPr>
          </a:p>
        </p:txBody>
      </p:sp>
      <p:sp>
        <p:nvSpPr>
          <p:cNvPr id="116" name="Google Shape;116;p5"/>
          <p:cNvSpPr txBox="1"/>
          <p:nvPr/>
        </p:nvSpPr>
        <p:spPr>
          <a:xfrm>
            <a:off x="1533271" y="8600313"/>
            <a:ext cx="16319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Calibri"/>
                <a:ea typeface="Calibri"/>
                <a:cs typeface="Calibri"/>
                <a:sym typeface="Calibri"/>
              </a:rPr>
              <a:t>iii.</a:t>
            </a:r>
            <a:endParaRPr sz="1200">
              <a:solidFill>
                <a:schemeClr val="dk1"/>
              </a:solidFill>
              <a:latin typeface="Calibri"/>
              <a:ea typeface="Calibri"/>
              <a:cs typeface="Calibri"/>
              <a:sym typeface="Calibri"/>
            </a:endParaRPr>
          </a:p>
        </p:txBody>
      </p:sp>
      <p:sp>
        <p:nvSpPr>
          <p:cNvPr id="117" name="Google Shape;117;p5"/>
          <p:cNvSpPr txBox="1"/>
          <p:nvPr/>
        </p:nvSpPr>
        <p:spPr>
          <a:xfrm>
            <a:off x="1533271" y="7286370"/>
            <a:ext cx="5126355" cy="1736089"/>
          </a:xfrm>
          <a:prstGeom prst="rect">
            <a:avLst/>
          </a:prstGeom>
          <a:noFill/>
          <a:ln>
            <a:noFill/>
          </a:ln>
        </p:spPr>
        <p:txBody>
          <a:bodyPr anchorCtr="0" anchor="t" bIns="0" lIns="0" spcFirstLastPara="1" rIns="0" wrap="square" tIns="12700">
            <a:spAutoFit/>
          </a:bodyPr>
          <a:lstStyle/>
          <a:p>
            <a:pPr indent="-283844" lvl="0" marL="295910" marR="8890" rtl="0" algn="just">
              <a:lnSpc>
                <a:spcPct val="116700"/>
              </a:lnSpc>
              <a:spcBef>
                <a:spcPts val="0"/>
              </a:spcBef>
              <a:spcAft>
                <a:spcPts val="0"/>
              </a:spcAft>
              <a:buClr>
                <a:schemeClr val="dk1"/>
              </a:buClr>
              <a:buSzPts val="1200"/>
              <a:buFont typeface="Calibri"/>
              <a:buAutoNum type="romanLcPeriod"/>
            </a:pPr>
            <a:r>
              <a:rPr lang="en-US" sz="1200">
                <a:solidFill>
                  <a:schemeClr val="dk1"/>
                </a:solidFill>
                <a:latin typeface="Calibri"/>
                <a:ea typeface="Calibri"/>
                <a:cs typeface="Calibri"/>
                <a:sym typeface="Calibri"/>
              </a:rPr>
              <a:t>Keabsahan transaksi dimana ada pemegang otoritas yang melakukan  settlement bahwa transaksi sudah selesai dan diterima oleh penjual dan  pembeli</a:t>
            </a:r>
            <a:endParaRPr sz="1200">
              <a:solidFill>
                <a:schemeClr val="dk1"/>
              </a:solidFill>
              <a:latin typeface="Calibri"/>
              <a:ea typeface="Calibri"/>
              <a:cs typeface="Calibri"/>
              <a:sym typeface="Calibri"/>
            </a:endParaRPr>
          </a:p>
          <a:p>
            <a:pPr indent="-283844" lvl="0" marL="295910" marR="5080" rtl="0" algn="just">
              <a:lnSpc>
                <a:spcPct val="116700"/>
              </a:lnSpc>
              <a:spcBef>
                <a:spcPts val="0"/>
              </a:spcBef>
              <a:spcAft>
                <a:spcPts val="0"/>
              </a:spcAft>
              <a:buClr>
                <a:schemeClr val="dk1"/>
              </a:buClr>
              <a:buSzPts val="1200"/>
              <a:buFont typeface="Calibri"/>
              <a:buAutoNum type="romanLcPeriod"/>
            </a:pPr>
            <a:r>
              <a:rPr lang="en-US" sz="1200">
                <a:solidFill>
                  <a:schemeClr val="dk1"/>
                </a:solidFill>
                <a:latin typeface="Calibri"/>
                <a:ea typeface="Calibri"/>
                <a:cs typeface="Calibri"/>
                <a:sym typeface="Calibri"/>
              </a:rPr>
              <a:t>Masalah legal misalnya pelanggaran hak cipta. Diperlukan proses hukum  dengan mengacu pada undang-undang yang mengatur hak cipta untuk</a:t>
            </a:r>
            <a:endParaRPr sz="1200">
              <a:solidFill>
                <a:schemeClr val="dk1"/>
              </a:solidFill>
              <a:latin typeface="Calibri"/>
              <a:ea typeface="Calibri"/>
              <a:cs typeface="Calibri"/>
              <a:sym typeface="Calibri"/>
            </a:endParaRPr>
          </a:p>
          <a:p>
            <a:pPr indent="0" lvl="0" marL="295910" marR="0" rtl="0" algn="just">
              <a:lnSpc>
                <a:spcPct val="100000"/>
              </a:lnSpc>
              <a:spcBef>
                <a:spcPts val="265"/>
              </a:spcBef>
              <a:spcAft>
                <a:spcPts val="0"/>
              </a:spcAft>
              <a:buNone/>
            </a:pPr>
            <a:r>
              <a:rPr lang="en-US" sz="1200">
                <a:solidFill>
                  <a:schemeClr val="dk1"/>
                </a:solidFill>
                <a:latin typeface="Calibri"/>
                <a:ea typeface="Calibri"/>
                <a:cs typeface="Calibri"/>
                <a:sym typeface="Calibri"/>
              </a:rPr>
              <a:t>barang yang diperdagangkan secara elektronis</a:t>
            </a:r>
            <a:endParaRPr sz="1200">
              <a:solidFill>
                <a:schemeClr val="dk1"/>
              </a:solidFill>
              <a:latin typeface="Calibri"/>
              <a:ea typeface="Calibri"/>
              <a:cs typeface="Calibri"/>
              <a:sym typeface="Calibri"/>
            </a:endParaRPr>
          </a:p>
          <a:p>
            <a:pPr indent="0" lvl="0" marL="295910" marR="11430" rtl="0" algn="just">
              <a:lnSpc>
                <a:spcPct val="116700"/>
              </a:lnSpc>
              <a:spcBef>
                <a:spcPts val="0"/>
              </a:spcBef>
              <a:spcAft>
                <a:spcPts val="0"/>
              </a:spcAft>
              <a:buNone/>
            </a:pPr>
            <a:r>
              <a:rPr lang="en-US" sz="1200">
                <a:solidFill>
                  <a:schemeClr val="dk1"/>
                </a:solidFill>
                <a:latin typeface="Calibri"/>
                <a:ea typeface="Calibri"/>
                <a:cs typeface="Calibri"/>
                <a:sym typeface="Calibri"/>
              </a:rPr>
              <a:t>Gangguan keamanan pada transaksi online misalnya pencurian nomor kartu  kredit, fraud, penyalahgunaan user id dan password, dll.</a:t>
            </a:r>
            <a:endParaRPr sz="1200">
              <a:solidFill>
                <a:schemeClr val="dk1"/>
              </a:solidFill>
              <a:latin typeface="Calibri"/>
              <a:ea typeface="Calibri"/>
              <a:cs typeface="Calibri"/>
              <a:sym typeface="Calibri"/>
            </a:endParaRPr>
          </a:p>
        </p:txBody>
      </p:sp>
      <p:sp>
        <p:nvSpPr>
          <p:cNvPr id="118" name="Google Shape;118;p5"/>
          <p:cNvSpPr txBox="1"/>
          <p:nvPr/>
        </p:nvSpPr>
        <p:spPr>
          <a:xfrm>
            <a:off x="902004" y="9271203"/>
            <a:ext cx="1887855" cy="23812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lang="en-US" sz="1400">
                <a:solidFill>
                  <a:schemeClr val="dk1"/>
                </a:solidFill>
                <a:latin typeface="Calibri"/>
                <a:ea typeface="Calibri"/>
                <a:cs typeface="Calibri"/>
                <a:sym typeface="Calibri"/>
              </a:rPr>
              <a:t>1.5 </a:t>
            </a:r>
            <a:r>
              <a:rPr lang="en-US" sz="1400">
                <a:solidFill>
                  <a:srgbClr val="212121"/>
                </a:solidFill>
                <a:latin typeface="Calibri"/>
                <a:ea typeface="Calibri"/>
                <a:cs typeface="Calibri"/>
                <a:sym typeface="Calibri"/>
              </a:rPr>
              <a:t>Tipe Sistem Informasi</a:t>
            </a:r>
            <a:endParaRPr sz="14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2" name="Shape 122"/>
        <p:cNvGrpSpPr/>
        <p:nvPr/>
      </p:nvGrpSpPr>
      <p:grpSpPr>
        <a:xfrm>
          <a:off x="0" y="0"/>
          <a:ext cx="0" cy="0"/>
          <a:chOff x="0" y="0"/>
          <a:chExt cx="0" cy="0"/>
        </a:xfrm>
      </p:grpSpPr>
      <p:pic>
        <p:nvPicPr>
          <p:cNvPr id="123" name="Google Shape;123;p6"/>
          <p:cNvPicPr preferRelativeResize="0"/>
          <p:nvPr/>
        </p:nvPicPr>
        <p:blipFill rotWithShape="1">
          <a:blip r:embed="rId3">
            <a:alphaModFix/>
          </a:blip>
          <a:srcRect b="0" l="0" r="0" t="0"/>
          <a:stretch/>
        </p:blipFill>
        <p:spPr>
          <a:xfrm>
            <a:off x="0" y="0"/>
            <a:ext cx="7556500" cy="10693400"/>
          </a:xfrm>
          <a:prstGeom prst="rect">
            <a:avLst/>
          </a:prstGeom>
          <a:noFill/>
          <a:ln>
            <a:noFill/>
          </a:ln>
        </p:spPr>
      </p:pic>
      <p:sp>
        <p:nvSpPr>
          <p:cNvPr id="124" name="Google Shape;124;p6"/>
          <p:cNvSpPr txBox="1"/>
          <p:nvPr/>
        </p:nvSpPr>
        <p:spPr>
          <a:xfrm>
            <a:off x="4975605" y="429513"/>
            <a:ext cx="1685925"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Calibri"/>
                <a:ea typeface="Calibri"/>
                <a:cs typeface="Calibri"/>
                <a:sym typeface="Calibri"/>
              </a:rPr>
              <a:t>Dasar Sistem Informasi Bisnis</a:t>
            </a:r>
            <a:endParaRPr sz="1100">
              <a:solidFill>
                <a:schemeClr val="dk1"/>
              </a:solidFill>
              <a:latin typeface="Calibri"/>
              <a:ea typeface="Calibri"/>
              <a:cs typeface="Calibri"/>
              <a:sym typeface="Calibri"/>
            </a:endParaRPr>
          </a:p>
        </p:txBody>
      </p:sp>
      <p:pic>
        <p:nvPicPr>
          <p:cNvPr id="125" name="Google Shape;125;p6"/>
          <p:cNvPicPr preferRelativeResize="0"/>
          <p:nvPr/>
        </p:nvPicPr>
        <p:blipFill rotWithShape="1">
          <a:blip r:embed="rId4">
            <a:alphaModFix/>
          </a:blip>
          <a:srcRect b="0" l="0" r="0" t="0"/>
          <a:stretch/>
        </p:blipFill>
        <p:spPr>
          <a:xfrm>
            <a:off x="1319439" y="987396"/>
            <a:ext cx="4869394" cy="2695622"/>
          </a:xfrm>
          <a:prstGeom prst="rect">
            <a:avLst/>
          </a:prstGeom>
          <a:noFill/>
          <a:ln>
            <a:noFill/>
          </a:ln>
        </p:spPr>
      </p:pic>
      <p:sp>
        <p:nvSpPr>
          <p:cNvPr id="126" name="Google Shape;126;p6"/>
          <p:cNvSpPr txBox="1"/>
          <p:nvPr/>
        </p:nvSpPr>
        <p:spPr>
          <a:xfrm>
            <a:off x="1170228" y="3966210"/>
            <a:ext cx="5490845" cy="5806440"/>
          </a:xfrm>
          <a:prstGeom prst="rect">
            <a:avLst/>
          </a:prstGeom>
          <a:noFill/>
          <a:ln>
            <a:noFill/>
          </a:ln>
        </p:spPr>
        <p:txBody>
          <a:bodyPr anchorCtr="0" anchor="t" bIns="0" lIns="0" spcFirstLastPara="1" rIns="0" wrap="square" tIns="12700">
            <a:spAutoFit/>
          </a:bodyPr>
          <a:lstStyle/>
          <a:p>
            <a:pPr indent="189230" lvl="0" marL="12700" marR="6985" rtl="0" algn="l">
              <a:lnSpc>
                <a:spcPct val="118300"/>
              </a:lnSpc>
              <a:spcBef>
                <a:spcPts val="0"/>
              </a:spcBef>
              <a:spcAft>
                <a:spcPts val="0"/>
              </a:spcAft>
              <a:buNone/>
            </a:pPr>
            <a:r>
              <a:rPr lang="en-US" sz="1200">
                <a:solidFill>
                  <a:srgbClr val="212121"/>
                </a:solidFill>
                <a:latin typeface="Calibri"/>
                <a:ea typeface="Calibri"/>
                <a:cs typeface="Calibri"/>
                <a:sym typeface="Calibri"/>
              </a:rPr>
              <a:t>Dalam bagian ini kita akan menjelaskan kategori-kategori spesifik dari sistem yang  melayani tiap level organisasi. Ada 6 tipe sistem informasi yaitu :</a:t>
            </a:r>
            <a:endParaRPr sz="1200">
              <a:solidFill>
                <a:schemeClr val="dk1"/>
              </a:solidFill>
              <a:latin typeface="Calibri"/>
              <a:ea typeface="Calibri"/>
              <a:cs typeface="Calibri"/>
              <a:sym typeface="Calibri"/>
            </a:endParaRPr>
          </a:p>
          <a:p>
            <a:pPr indent="0" lvl="0" marL="0" marR="0" rtl="0" algn="l">
              <a:lnSpc>
                <a:spcPct val="100000"/>
              </a:lnSpc>
              <a:spcBef>
                <a:spcPts val="25"/>
              </a:spcBef>
              <a:spcAft>
                <a:spcPts val="0"/>
              </a:spcAft>
              <a:buNone/>
            </a:pPr>
            <a:r>
              <a:t/>
            </a:r>
            <a:endParaRPr sz="1350">
              <a:solidFill>
                <a:schemeClr val="dk1"/>
              </a:solidFill>
              <a:latin typeface="Calibri"/>
              <a:ea typeface="Calibri"/>
              <a:cs typeface="Calibri"/>
              <a:sym typeface="Calibri"/>
            </a:endParaRPr>
          </a:p>
          <a:p>
            <a:pPr indent="-228600" lvl="0" marL="659130" marR="9525" rtl="0" algn="just">
              <a:lnSpc>
                <a:spcPct val="117000"/>
              </a:lnSpc>
              <a:spcBef>
                <a:spcPts val="5"/>
              </a:spcBef>
              <a:spcAft>
                <a:spcPts val="0"/>
              </a:spcAft>
              <a:buClr>
                <a:srgbClr val="212121"/>
              </a:buClr>
              <a:buSzPts val="1200"/>
              <a:buFont typeface="Calibri"/>
              <a:buAutoNum type="arabicPeriod"/>
            </a:pPr>
            <a:r>
              <a:rPr lang="en-US" sz="1200">
                <a:solidFill>
                  <a:srgbClr val="212121"/>
                </a:solidFill>
                <a:latin typeface="Calibri"/>
                <a:ea typeface="Calibri"/>
                <a:cs typeface="Calibri"/>
                <a:sym typeface="Calibri"/>
              </a:rPr>
              <a:t>Transaction processing systems (TPS) adalah sistem terkomputerisasi yang  menjalankan dan menyimpan transaksi rutin sehari-hari untuk menjalankan  bisnis. Sistem ini bekerja pada level operasional. Input pada level ini adalah  transaksi dan kejadian. Proses dalam sistem ini meliputi pengurutan data,  melihat data, memperbaharui data. Sedangkan outputnya adalah laporan  yang detail, daftar lengkap dan ringkasan.</a:t>
            </a:r>
            <a:endParaRPr sz="1200">
              <a:solidFill>
                <a:schemeClr val="dk1"/>
              </a:solidFill>
              <a:latin typeface="Calibri"/>
              <a:ea typeface="Calibri"/>
              <a:cs typeface="Calibri"/>
              <a:sym typeface="Calibri"/>
            </a:endParaRPr>
          </a:p>
          <a:p>
            <a:pPr indent="0" lvl="0" marL="0" marR="0" rtl="0" algn="l">
              <a:lnSpc>
                <a:spcPct val="100000"/>
              </a:lnSpc>
              <a:spcBef>
                <a:spcPts val="5"/>
              </a:spcBef>
              <a:spcAft>
                <a:spcPts val="0"/>
              </a:spcAft>
              <a:buClr>
                <a:schemeClr val="dk1"/>
              </a:buClr>
              <a:buSzPts val="1350"/>
              <a:buFont typeface="Calibri"/>
              <a:buNone/>
            </a:pPr>
            <a:r>
              <a:t/>
            </a:r>
            <a:endParaRPr sz="1350">
              <a:solidFill>
                <a:schemeClr val="dk1"/>
              </a:solidFill>
              <a:latin typeface="Calibri"/>
              <a:ea typeface="Calibri"/>
              <a:cs typeface="Calibri"/>
              <a:sym typeface="Calibri"/>
            </a:endParaRPr>
          </a:p>
          <a:p>
            <a:pPr indent="-228600" lvl="0" marL="659130" marR="13970" rtl="0" algn="just">
              <a:lnSpc>
                <a:spcPct val="118300"/>
              </a:lnSpc>
              <a:spcBef>
                <a:spcPts val="0"/>
              </a:spcBef>
              <a:spcAft>
                <a:spcPts val="0"/>
              </a:spcAft>
              <a:buClr>
                <a:srgbClr val="212121"/>
              </a:buClr>
              <a:buSzPts val="1200"/>
              <a:buFont typeface="Calibri"/>
              <a:buAutoNum type="arabicPeriod"/>
            </a:pPr>
            <a:r>
              <a:rPr lang="en-US" sz="1200">
                <a:solidFill>
                  <a:srgbClr val="212121"/>
                </a:solidFill>
                <a:latin typeface="Calibri"/>
                <a:ea typeface="Calibri"/>
                <a:cs typeface="Calibri"/>
                <a:sym typeface="Calibri"/>
              </a:rPr>
              <a:t>Knowledge work systems (KWS) adalah sistem informasi yang membuat dan  mengintegrasikan pengetahuan baru ke organisasi.</a:t>
            </a:r>
            <a:endParaRPr sz="1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Clr>
                <a:schemeClr val="dk1"/>
              </a:buClr>
              <a:buSzPts val="1350"/>
              <a:buFont typeface="Calibri"/>
              <a:buNone/>
            </a:pPr>
            <a:r>
              <a:t/>
            </a:r>
            <a:endParaRPr sz="1350">
              <a:solidFill>
                <a:schemeClr val="dk1"/>
              </a:solidFill>
              <a:latin typeface="Calibri"/>
              <a:ea typeface="Calibri"/>
              <a:cs typeface="Calibri"/>
              <a:sym typeface="Calibri"/>
            </a:endParaRPr>
          </a:p>
          <a:p>
            <a:pPr indent="-228600" lvl="0" marL="659130" marR="7620" rtl="0" algn="just">
              <a:lnSpc>
                <a:spcPct val="117200"/>
              </a:lnSpc>
              <a:spcBef>
                <a:spcPts val="0"/>
              </a:spcBef>
              <a:spcAft>
                <a:spcPts val="0"/>
              </a:spcAft>
              <a:buClr>
                <a:srgbClr val="212121"/>
              </a:buClr>
              <a:buSzPts val="1200"/>
              <a:buFont typeface="Calibri"/>
              <a:buAutoNum type="arabicPeriod"/>
            </a:pPr>
            <a:r>
              <a:rPr lang="en-US" sz="1200">
                <a:solidFill>
                  <a:srgbClr val="212121"/>
                </a:solidFill>
                <a:latin typeface="Calibri"/>
                <a:ea typeface="Calibri"/>
                <a:cs typeface="Calibri"/>
                <a:sym typeface="Calibri"/>
              </a:rPr>
              <a:t>Office Automation Systems (OAS) adalah sistem komputer seperti pengolah  kata, e-mail, dan sistem penjadwalan, yang didesain untuk meningkatkan  produktifitas dari data workers di organisasi. Nomor 2 dan 3 melayani  knowledge level.</a:t>
            </a:r>
            <a:endParaRPr sz="1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Clr>
                <a:schemeClr val="dk1"/>
              </a:buClr>
              <a:buSzPts val="1350"/>
              <a:buFont typeface="Calibri"/>
              <a:buNone/>
            </a:pPr>
            <a:r>
              <a:t/>
            </a:r>
            <a:endParaRPr sz="1350">
              <a:solidFill>
                <a:schemeClr val="dk1"/>
              </a:solidFill>
              <a:latin typeface="Calibri"/>
              <a:ea typeface="Calibri"/>
              <a:cs typeface="Calibri"/>
              <a:sym typeface="Calibri"/>
            </a:endParaRPr>
          </a:p>
          <a:p>
            <a:pPr indent="-228600" lvl="0" marL="659130" marR="5080" rtl="0" algn="just">
              <a:lnSpc>
                <a:spcPct val="116700"/>
              </a:lnSpc>
              <a:spcBef>
                <a:spcPts val="5"/>
              </a:spcBef>
              <a:spcAft>
                <a:spcPts val="0"/>
              </a:spcAft>
              <a:buClr>
                <a:srgbClr val="212121"/>
              </a:buClr>
              <a:buSzPts val="1200"/>
              <a:buFont typeface="Calibri"/>
              <a:buAutoNum type="arabicPeriod"/>
            </a:pPr>
            <a:r>
              <a:rPr lang="en-US" sz="1200">
                <a:solidFill>
                  <a:srgbClr val="212121"/>
                </a:solidFill>
                <a:latin typeface="Calibri"/>
                <a:ea typeface="Calibri"/>
                <a:cs typeface="Calibri"/>
                <a:sym typeface="Calibri"/>
              </a:rPr>
              <a:t>Management Information Systems adalah sistem informasi pada  management-level sebuah organisasi yang melayani fungsi-fungsi  perencanaan, pengendalian dan pengambilan keputusan yang dibuat dengan  menyediakan ringkasan rutin dan laporan periodik.</a:t>
            </a:r>
            <a:endParaRPr sz="12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Clr>
                <a:schemeClr val="dk1"/>
              </a:buClr>
              <a:buSzPts val="1350"/>
              <a:buFont typeface="Calibri"/>
              <a:buNone/>
            </a:pPr>
            <a:r>
              <a:t/>
            </a:r>
            <a:endParaRPr sz="1350">
              <a:solidFill>
                <a:schemeClr val="dk1"/>
              </a:solidFill>
              <a:latin typeface="Calibri"/>
              <a:ea typeface="Calibri"/>
              <a:cs typeface="Calibri"/>
              <a:sym typeface="Calibri"/>
            </a:endParaRPr>
          </a:p>
          <a:p>
            <a:pPr indent="-228600" lvl="0" marL="659130" marR="7620" rtl="0" algn="just">
              <a:lnSpc>
                <a:spcPct val="116700"/>
              </a:lnSpc>
              <a:spcBef>
                <a:spcPts val="0"/>
              </a:spcBef>
              <a:spcAft>
                <a:spcPts val="0"/>
              </a:spcAft>
              <a:buClr>
                <a:srgbClr val="000000"/>
              </a:buClr>
              <a:buSzPts val="1100"/>
              <a:buFont typeface="Calibri"/>
              <a:buAutoNum type="arabicPeriod"/>
            </a:pPr>
            <a:r>
              <a:rPr lang="en-US" sz="1200">
                <a:solidFill>
                  <a:srgbClr val="212121"/>
                </a:solidFill>
                <a:latin typeface="Calibri"/>
                <a:ea typeface="Calibri"/>
                <a:cs typeface="Calibri"/>
                <a:sym typeface="Calibri"/>
              </a:rPr>
              <a:t>Decision-support systems (DSS) adalah sistem informasi di management-level  sebuah organisasi yang mengkombinasikan data dan model analitis yang  rumit untuk mendukung pengambilan keputusan yang terstruktur dan semi  terstruktur.</a:t>
            </a:r>
            <a:endParaRPr sz="1200">
              <a:solidFill>
                <a:schemeClr val="dk1"/>
              </a:solidFill>
              <a:latin typeface="Calibri"/>
              <a:ea typeface="Calibri"/>
              <a:cs typeface="Calibri"/>
              <a:sym typeface="Calibri"/>
            </a:endParaRPr>
          </a:p>
        </p:txBody>
      </p:sp>
      <p:sp>
        <p:nvSpPr>
          <p:cNvPr id="127" name="Google Shape;127;p6"/>
          <p:cNvSpPr txBox="1"/>
          <p:nvPr>
            <p:ph idx="12" type="sldNum"/>
          </p:nvPr>
        </p:nvSpPr>
        <p:spPr>
          <a:xfrm>
            <a:off x="6277736" y="9937495"/>
            <a:ext cx="408940" cy="165734"/>
          </a:xfrm>
          <a:prstGeom prst="rect">
            <a:avLst/>
          </a:prstGeom>
          <a:noFill/>
          <a:ln>
            <a:noFill/>
          </a:ln>
        </p:spPr>
        <p:txBody>
          <a:bodyPr anchorCtr="0" anchor="t" bIns="0" lIns="0" spcFirstLastPara="1" rIns="0" wrap="square" tIns="0">
            <a:spAutoFit/>
          </a:bodyPr>
          <a:lstStyle/>
          <a:p>
            <a:pPr indent="0" lvl="0" marL="12700" rtl="0" algn="l">
              <a:lnSpc>
                <a:spcPct val="104545"/>
              </a:lnSpc>
              <a:spcBef>
                <a:spcPts val="0"/>
              </a:spcBef>
              <a:spcAft>
                <a:spcPts val="0"/>
              </a:spcAft>
              <a:buNone/>
            </a:pPr>
            <a:r>
              <a:rPr lang="en-US"/>
              <a:t>Hal : </a:t>
            </a: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1" name="Shape 131"/>
        <p:cNvGrpSpPr/>
        <p:nvPr/>
      </p:nvGrpSpPr>
      <p:grpSpPr>
        <a:xfrm>
          <a:off x="0" y="0"/>
          <a:ext cx="0" cy="0"/>
          <a:chOff x="0" y="0"/>
          <a:chExt cx="0" cy="0"/>
        </a:xfrm>
      </p:grpSpPr>
      <p:pic>
        <p:nvPicPr>
          <p:cNvPr id="132" name="Google Shape;132;p7"/>
          <p:cNvPicPr preferRelativeResize="0"/>
          <p:nvPr/>
        </p:nvPicPr>
        <p:blipFill rotWithShape="1">
          <a:blip r:embed="rId3">
            <a:alphaModFix/>
          </a:blip>
          <a:srcRect b="0" l="0" r="0" t="0"/>
          <a:stretch/>
        </p:blipFill>
        <p:spPr>
          <a:xfrm>
            <a:off x="0" y="0"/>
            <a:ext cx="7556500" cy="10693400"/>
          </a:xfrm>
          <a:prstGeom prst="rect">
            <a:avLst/>
          </a:prstGeom>
          <a:noFill/>
          <a:ln>
            <a:noFill/>
          </a:ln>
        </p:spPr>
      </p:pic>
      <p:sp>
        <p:nvSpPr>
          <p:cNvPr id="133" name="Google Shape;133;p7"/>
          <p:cNvSpPr txBox="1"/>
          <p:nvPr>
            <p:ph idx="12" type="sldNum"/>
          </p:nvPr>
        </p:nvSpPr>
        <p:spPr>
          <a:xfrm>
            <a:off x="6277736" y="9937495"/>
            <a:ext cx="408940" cy="165734"/>
          </a:xfrm>
          <a:prstGeom prst="rect">
            <a:avLst/>
          </a:prstGeom>
          <a:noFill/>
          <a:ln>
            <a:noFill/>
          </a:ln>
        </p:spPr>
        <p:txBody>
          <a:bodyPr anchorCtr="0" anchor="t" bIns="0" lIns="0" spcFirstLastPara="1" rIns="0" wrap="square" tIns="0">
            <a:spAutoFit/>
          </a:bodyPr>
          <a:lstStyle/>
          <a:p>
            <a:pPr indent="0" lvl="0" marL="12700" rtl="0" algn="l">
              <a:lnSpc>
                <a:spcPct val="104545"/>
              </a:lnSpc>
              <a:spcBef>
                <a:spcPts val="0"/>
              </a:spcBef>
              <a:spcAft>
                <a:spcPts val="0"/>
              </a:spcAft>
              <a:buNone/>
            </a:pPr>
            <a:r>
              <a:rPr lang="en-US"/>
              <a:t>Hal : </a:t>
            </a:r>
            <a:fld id="{00000000-1234-1234-1234-123412341234}" type="slidenum">
              <a:rPr lang="en-US"/>
              <a:t>‹#›</a:t>
            </a:fld>
            <a:endParaRPr/>
          </a:p>
        </p:txBody>
      </p:sp>
      <p:sp>
        <p:nvSpPr>
          <p:cNvPr id="134" name="Google Shape;134;p7"/>
          <p:cNvSpPr txBox="1"/>
          <p:nvPr/>
        </p:nvSpPr>
        <p:spPr>
          <a:xfrm>
            <a:off x="4975605" y="429513"/>
            <a:ext cx="1685925"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Calibri"/>
                <a:ea typeface="Calibri"/>
                <a:cs typeface="Calibri"/>
                <a:sym typeface="Calibri"/>
              </a:rPr>
              <a:t>Dasar Sistem Informasi Bisnis</a:t>
            </a:r>
            <a:endParaRPr sz="1100">
              <a:solidFill>
                <a:schemeClr val="dk1"/>
              </a:solidFill>
              <a:latin typeface="Calibri"/>
              <a:ea typeface="Calibri"/>
              <a:cs typeface="Calibri"/>
              <a:sym typeface="Calibri"/>
            </a:endParaRPr>
          </a:p>
        </p:txBody>
      </p:sp>
      <p:sp>
        <p:nvSpPr>
          <p:cNvPr id="135" name="Google Shape;135;p7"/>
          <p:cNvSpPr txBox="1"/>
          <p:nvPr/>
        </p:nvSpPr>
        <p:spPr>
          <a:xfrm>
            <a:off x="902004" y="1078737"/>
            <a:ext cx="5761990" cy="8321675"/>
          </a:xfrm>
          <a:prstGeom prst="rect">
            <a:avLst/>
          </a:prstGeom>
          <a:noFill/>
          <a:ln>
            <a:noFill/>
          </a:ln>
        </p:spPr>
        <p:txBody>
          <a:bodyPr anchorCtr="0" anchor="t" bIns="0" lIns="0" spcFirstLastPara="1" rIns="0" wrap="square" tIns="10775">
            <a:spAutoFit/>
          </a:bodyPr>
          <a:lstStyle/>
          <a:p>
            <a:pPr indent="-228600" lvl="0" marL="927100" marR="8890" rtl="0" algn="just">
              <a:lnSpc>
                <a:spcPct val="117600"/>
              </a:lnSpc>
              <a:spcBef>
                <a:spcPts val="0"/>
              </a:spcBef>
              <a:spcAft>
                <a:spcPts val="0"/>
              </a:spcAft>
              <a:buNone/>
            </a:pPr>
            <a:r>
              <a:rPr lang="en-US" sz="1100">
                <a:solidFill>
                  <a:schemeClr val="dk1"/>
                </a:solidFill>
                <a:latin typeface="Calibri"/>
                <a:ea typeface="Calibri"/>
                <a:cs typeface="Calibri"/>
                <a:sym typeface="Calibri"/>
              </a:rPr>
              <a:t>6. </a:t>
            </a:r>
            <a:r>
              <a:rPr lang="en-US" sz="1200">
                <a:solidFill>
                  <a:srgbClr val="212121"/>
                </a:solidFill>
                <a:latin typeface="Calibri"/>
                <a:ea typeface="Calibri"/>
                <a:cs typeface="Calibri"/>
                <a:sym typeface="Calibri"/>
              </a:rPr>
              <a:t>Executive support systems (ESS) adalah sistem informasi pada strategic-level  sebuah organisasi yang dirancang untuk tujuan pengambilan keputusan yang  tidak terstruktur.</a:t>
            </a:r>
            <a:endParaRPr sz="1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1500">
              <a:solidFill>
                <a:schemeClr val="dk1"/>
              </a:solidFill>
              <a:latin typeface="Calibri"/>
              <a:ea typeface="Calibri"/>
              <a:cs typeface="Calibri"/>
              <a:sym typeface="Calibri"/>
            </a:endParaRPr>
          </a:p>
          <a:p>
            <a:pPr indent="0" lvl="0" marL="12700" marR="0" rtl="0" algn="just">
              <a:lnSpc>
                <a:spcPct val="100000"/>
              </a:lnSpc>
              <a:spcBef>
                <a:spcPts val="5"/>
              </a:spcBef>
              <a:spcAft>
                <a:spcPts val="0"/>
              </a:spcAft>
              <a:buNone/>
            </a:pPr>
            <a:r>
              <a:rPr lang="en-US" sz="1400">
                <a:solidFill>
                  <a:schemeClr val="dk1"/>
                </a:solidFill>
                <a:latin typeface="Calibri"/>
                <a:ea typeface="Calibri"/>
                <a:cs typeface="Calibri"/>
                <a:sym typeface="Calibri"/>
              </a:rPr>
              <a:t>1.6 Tantangan manajerial</a:t>
            </a:r>
            <a:endParaRPr sz="14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None/>
            </a:pPr>
            <a:r>
              <a:t/>
            </a:r>
            <a:endParaRPr sz="1650">
              <a:solidFill>
                <a:schemeClr val="dk1"/>
              </a:solidFill>
              <a:latin typeface="Calibri"/>
              <a:ea typeface="Calibri"/>
              <a:cs typeface="Calibri"/>
              <a:sym typeface="Calibri"/>
            </a:endParaRPr>
          </a:p>
          <a:p>
            <a:pPr indent="189230" lvl="0" marL="280670" marR="5080" rtl="0" algn="just">
              <a:lnSpc>
                <a:spcPct val="116700"/>
              </a:lnSpc>
              <a:spcBef>
                <a:spcPts val="0"/>
              </a:spcBef>
              <a:spcAft>
                <a:spcPts val="0"/>
              </a:spcAft>
              <a:buNone/>
            </a:pPr>
            <a:r>
              <a:rPr lang="en-US" sz="1200">
                <a:solidFill>
                  <a:schemeClr val="dk1"/>
                </a:solidFill>
                <a:latin typeface="Calibri"/>
                <a:ea typeface="Calibri"/>
                <a:cs typeface="Calibri"/>
                <a:sym typeface="Calibri"/>
              </a:rPr>
              <a:t>Bagaimana mengefektifkan dan mengatur dengan baik fungsi dari sumber daya IS  dan IT untuk mencapai puncak hasil dan nilai bisnis dalam mendukung strategi-strategi  bisnis dari perusahaan. sehingga dalam pencapaiannya dapat dirasa maksimal</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lnSpc>
                <a:spcPct val="100000"/>
              </a:lnSpc>
              <a:spcBef>
                <a:spcPts val="20"/>
              </a:spcBef>
              <a:spcAft>
                <a:spcPts val="0"/>
              </a:spcAft>
              <a:buNone/>
            </a:pPr>
            <a:r>
              <a:t/>
            </a:r>
            <a:endParaRPr sz="1150">
              <a:solidFill>
                <a:schemeClr val="dk1"/>
              </a:solidFill>
              <a:latin typeface="Calibri"/>
              <a:ea typeface="Calibri"/>
              <a:cs typeface="Calibri"/>
              <a:sym typeface="Calibri"/>
            </a:endParaRPr>
          </a:p>
          <a:p>
            <a:pPr indent="-204469" lvl="0" marL="216534" marR="0" rtl="0" algn="just">
              <a:lnSpc>
                <a:spcPct val="100000"/>
              </a:lnSpc>
              <a:spcBef>
                <a:spcPts val="0"/>
              </a:spcBef>
              <a:spcAft>
                <a:spcPts val="0"/>
              </a:spcAft>
              <a:buClr>
                <a:schemeClr val="dk1"/>
              </a:buClr>
              <a:buSzPts val="1600"/>
              <a:buFont typeface="Calibri"/>
              <a:buAutoNum type="arabicPeriod" startAt="2"/>
            </a:pPr>
            <a:r>
              <a:rPr b="1" lang="en-US" sz="1600">
                <a:solidFill>
                  <a:schemeClr val="dk1"/>
                </a:solidFill>
                <a:latin typeface="Calibri"/>
                <a:ea typeface="Calibri"/>
                <a:cs typeface="Calibri"/>
                <a:sym typeface="Calibri"/>
              </a:rPr>
              <a:t>Konsep dasar sistem komponen sistem informasi</a:t>
            </a:r>
            <a:endParaRPr sz="1600">
              <a:solidFill>
                <a:schemeClr val="dk1"/>
              </a:solidFill>
              <a:latin typeface="Calibri"/>
              <a:ea typeface="Calibri"/>
              <a:cs typeface="Calibri"/>
              <a:sym typeface="Calibri"/>
            </a:endParaRPr>
          </a:p>
          <a:p>
            <a:pPr indent="-265430" lvl="1" marL="277495" marR="0" rtl="0" algn="just">
              <a:lnSpc>
                <a:spcPct val="100000"/>
              </a:lnSpc>
              <a:spcBef>
                <a:spcPts val="1305"/>
              </a:spcBef>
              <a:spcAft>
                <a:spcPts val="0"/>
              </a:spcAft>
              <a:buClr>
                <a:schemeClr val="dk1"/>
              </a:buClr>
              <a:buSzPts val="1400"/>
              <a:buFont typeface="Calibri"/>
              <a:buAutoNum type="arabicPeriod"/>
            </a:pPr>
            <a:r>
              <a:rPr b="0" i="0" lang="en-US" sz="1400" u="none" cap="none" strike="noStrike">
                <a:solidFill>
                  <a:schemeClr val="dk1"/>
                </a:solidFill>
                <a:latin typeface="Calibri"/>
                <a:ea typeface="Calibri"/>
                <a:cs typeface="Calibri"/>
                <a:sym typeface="Calibri"/>
              </a:rPr>
              <a:t>komponen pada sebuah sistem informasi</a:t>
            </a:r>
            <a:endParaRPr b="0" i="0" sz="1400" u="none" cap="none" strike="noStrike">
              <a:solidFill>
                <a:schemeClr val="dk1"/>
              </a:solidFill>
              <a:latin typeface="Calibri"/>
              <a:ea typeface="Calibri"/>
              <a:cs typeface="Calibri"/>
              <a:sym typeface="Calibri"/>
            </a:endParaRPr>
          </a:p>
          <a:p>
            <a:pPr indent="0" lvl="1" marL="457200" marR="0" rtl="0" algn="l">
              <a:lnSpc>
                <a:spcPct val="100000"/>
              </a:lnSpc>
              <a:spcBef>
                <a:spcPts val="1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12700" marR="0" rtl="0" algn="just">
              <a:lnSpc>
                <a:spcPct val="100000"/>
              </a:lnSpc>
              <a:spcBef>
                <a:spcPts val="0"/>
              </a:spcBef>
              <a:spcAft>
                <a:spcPts val="0"/>
              </a:spcAft>
              <a:buNone/>
            </a:pPr>
            <a:r>
              <a:rPr lang="en-US" sz="1200">
                <a:solidFill>
                  <a:schemeClr val="dk1"/>
                </a:solidFill>
                <a:latin typeface="Calibri"/>
                <a:ea typeface="Calibri"/>
                <a:cs typeface="Calibri"/>
                <a:sym typeface="Calibri"/>
              </a:rPr>
              <a:t>Konsep sistem dapat membantu memahami:</a:t>
            </a:r>
            <a:endParaRPr sz="1200">
              <a:solidFill>
                <a:schemeClr val="dk1"/>
              </a:solidFill>
              <a:latin typeface="Calibri"/>
              <a:ea typeface="Calibri"/>
              <a:cs typeface="Calibri"/>
              <a:sym typeface="Calibri"/>
            </a:endParaRPr>
          </a:p>
          <a:p>
            <a:pPr indent="-229234" lvl="2" marL="469900" marR="8255" rtl="0" algn="just">
              <a:lnSpc>
                <a:spcPct val="102600"/>
              </a:lnSpc>
              <a:spcBef>
                <a:spcPts val="35"/>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Teknologi,Jaringan komputer adalah sistem dari berbagai komponen pemrosesan  informasi yang menggunakan berbagai jenis hardware, software, manajemen data  dan teknologi jaringan telekomunikasi.</a:t>
            </a:r>
            <a:endParaRPr b="0" i="0" sz="1200" u="none" cap="none" strike="noStrike">
              <a:solidFill>
                <a:schemeClr val="dk1"/>
              </a:solidFill>
              <a:latin typeface="Calibri"/>
              <a:ea typeface="Calibri"/>
              <a:cs typeface="Calibri"/>
              <a:sym typeface="Calibri"/>
            </a:endParaRPr>
          </a:p>
          <a:p>
            <a:pPr indent="-229234" lvl="2" marL="469900" marR="16510" rtl="0" algn="just">
              <a:lnSpc>
                <a:spcPct val="101699"/>
              </a:lnSpc>
              <a:spcBef>
                <a:spcPts val="5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Aplikasi, Aplikasi bisnis dan perdagangan elektronik melibatkan sistem informasi  bisnis yang saling berhubungan satu sama lain.</a:t>
            </a:r>
            <a:endParaRPr b="0" i="0" sz="1200" u="none" cap="none" strike="noStrike">
              <a:solidFill>
                <a:schemeClr val="dk1"/>
              </a:solidFill>
              <a:latin typeface="Calibri"/>
              <a:ea typeface="Calibri"/>
              <a:cs typeface="Calibri"/>
              <a:sym typeface="Calibri"/>
            </a:endParaRPr>
          </a:p>
          <a:p>
            <a:pPr indent="-229234" lvl="2" marL="469900" marR="10795" rtl="0" algn="just">
              <a:lnSpc>
                <a:spcPct val="101699"/>
              </a:lnSpc>
              <a:spcBef>
                <a:spcPts val="7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Pengembangan,Mengembangkan berbagai cara untuk menggunakan teknologi  informasi dalam bisnis meliputi pendesainan komponen – komponen dasar sistem  informasi.</a:t>
            </a:r>
            <a:endParaRPr b="0" i="0" sz="1200" u="none" cap="none" strike="noStrike">
              <a:solidFill>
                <a:schemeClr val="dk1"/>
              </a:solidFill>
              <a:latin typeface="Calibri"/>
              <a:ea typeface="Calibri"/>
              <a:cs typeface="Calibri"/>
              <a:sym typeface="Calibri"/>
            </a:endParaRPr>
          </a:p>
          <a:p>
            <a:pPr indent="-229234" lvl="2" marL="469900" marR="15240" rtl="0" algn="just">
              <a:lnSpc>
                <a:spcPct val="103299"/>
              </a:lnSpc>
              <a:spcBef>
                <a:spcPts val="25"/>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Manajemen,Mengelola teknologi informasi memiliki penekanan pada kualitas, nilai  bisnis yang strategis, dan keamanan sistem informasi organisasi.</a:t>
            </a:r>
            <a:endParaRPr b="0" i="0" sz="1200" u="none" cap="none" strike="noStrike">
              <a:solidFill>
                <a:schemeClr val="dk1"/>
              </a:solidFill>
              <a:latin typeface="Calibri"/>
              <a:ea typeface="Calibri"/>
              <a:cs typeface="Calibri"/>
              <a:sym typeface="Calibri"/>
            </a:endParaRPr>
          </a:p>
          <a:p>
            <a:pPr indent="0" lvl="2" marL="914400" marR="0" rtl="0" algn="l">
              <a:lnSpc>
                <a:spcPct val="100000"/>
              </a:lnSpc>
              <a:spcBef>
                <a:spcPts val="45"/>
              </a:spcBef>
              <a:spcAft>
                <a:spcPts val="0"/>
              </a:spcAft>
              <a:buClr>
                <a:schemeClr val="dk1"/>
              </a:buClr>
              <a:buSzPts val="1350"/>
              <a:buFont typeface="Noto Sans Symbols"/>
              <a:buNone/>
            </a:pPr>
            <a:r>
              <a:t/>
            </a:r>
            <a:endParaRPr b="0" i="0" sz="1350" u="none" cap="none" strike="noStrike">
              <a:solidFill>
                <a:schemeClr val="dk1"/>
              </a:solidFill>
              <a:latin typeface="Calibri"/>
              <a:ea typeface="Calibri"/>
              <a:cs typeface="Calibri"/>
              <a:sym typeface="Calibri"/>
            </a:endParaRPr>
          </a:p>
          <a:p>
            <a:pPr indent="-262890" lvl="1" marL="274955" marR="0" rtl="0" algn="just">
              <a:lnSpc>
                <a:spcPct val="100000"/>
              </a:lnSpc>
              <a:spcBef>
                <a:spcPts val="0"/>
              </a:spcBef>
              <a:spcAft>
                <a:spcPts val="0"/>
              </a:spcAft>
              <a:buClr>
                <a:schemeClr val="dk1"/>
              </a:buClr>
              <a:buSzPts val="1400"/>
              <a:buFont typeface="Calibri"/>
              <a:buAutoNum type="arabicPeriod"/>
            </a:pPr>
            <a:r>
              <a:rPr b="0" i="0" lang="en-US" sz="1400" u="none" cap="none" strike="noStrike">
                <a:solidFill>
                  <a:schemeClr val="dk1"/>
                </a:solidFill>
                <a:latin typeface="Calibri"/>
                <a:ea typeface="Calibri"/>
                <a:cs typeface="Calibri"/>
                <a:sym typeface="Calibri"/>
              </a:rPr>
              <a:t>Sumber Daya Sistem Informasi</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25"/>
              </a:spcBef>
              <a:spcAft>
                <a:spcPts val="0"/>
              </a:spcAft>
              <a:buNone/>
            </a:pPr>
            <a:r>
              <a:t/>
            </a:r>
            <a:endParaRPr sz="1200">
              <a:solidFill>
                <a:schemeClr val="dk1"/>
              </a:solidFill>
              <a:latin typeface="Calibri"/>
              <a:ea typeface="Calibri"/>
              <a:cs typeface="Calibri"/>
              <a:sym typeface="Calibri"/>
            </a:endParaRPr>
          </a:p>
          <a:p>
            <a:pPr indent="457200" lvl="0" marL="12700" marR="13334" rtl="0" algn="just">
              <a:lnSpc>
                <a:spcPct val="102499"/>
              </a:lnSpc>
              <a:spcBef>
                <a:spcPts val="0"/>
              </a:spcBef>
              <a:spcAft>
                <a:spcPts val="0"/>
              </a:spcAft>
              <a:buNone/>
            </a:pPr>
            <a:r>
              <a:rPr lang="en-US" sz="1200">
                <a:solidFill>
                  <a:schemeClr val="dk1"/>
                </a:solidFill>
                <a:latin typeface="Calibri"/>
                <a:ea typeface="Calibri"/>
                <a:cs typeface="Calibri"/>
                <a:sym typeface="Calibri"/>
              </a:rPr>
              <a:t>Sistem informasi terdiri dari 5 sumber daya dasar, yaitu: Manusia, Hardware,  Software, Data dan Jaringan. Dibawah ini merupakan contoh Sumber daya sistem informasi  dan produknya, meliputi:</a:t>
            </a:r>
            <a:endParaRPr sz="1200">
              <a:solidFill>
                <a:schemeClr val="dk1"/>
              </a:solidFill>
              <a:latin typeface="Calibri"/>
              <a:ea typeface="Calibri"/>
              <a:cs typeface="Calibri"/>
              <a:sym typeface="Calibri"/>
            </a:endParaRPr>
          </a:p>
          <a:p>
            <a:pPr indent="0" lvl="0" marL="0" marR="0" rtl="0" algn="l">
              <a:lnSpc>
                <a:spcPct val="100000"/>
              </a:lnSpc>
              <a:spcBef>
                <a:spcPts val="20"/>
              </a:spcBef>
              <a:spcAft>
                <a:spcPts val="0"/>
              </a:spcAft>
              <a:buNone/>
            </a:pPr>
            <a:r>
              <a:t/>
            </a:r>
            <a:endParaRPr sz="1200">
              <a:solidFill>
                <a:schemeClr val="dk1"/>
              </a:solidFill>
              <a:latin typeface="Calibri"/>
              <a:ea typeface="Calibri"/>
              <a:cs typeface="Calibri"/>
              <a:sym typeface="Calibri"/>
            </a:endParaRPr>
          </a:p>
          <a:p>
            <a:pPr indent="-229234" lvl="0" marL="283845" marR="0" rtl="0" algn="just">
              <a:lnSpc>
                <a:spcPct val="100000"/>
              </a:lnSpc>
              <a:spcBef>
                <a:spcPts val="0"/>
              </a:spcBef>
              <a:spcAft>
                <a:spcPts val="0"/>
              </a:spcAft>
              <a:buClr>
                <a:schemeClr val="dk1"/>
              </a:buClr>
              <a:buSzPts val="1200"/>
              <a:buFont typeface="Calibri"/>
              <a:buAutoNum type="arabicPeriod"/>
            </a:pPr>
            <a:r>
              <a:rPr lang="en-US" sz="1200">
                <a:solidFill>
                  <a:schemeClr val="dk1"/>
                </a:solidFill>
                <a:latin typeface="Calibri"/>
                <a:ea typeface="Calibri"/>
                <a:cs typeface="Calibri"/>
                <a:sym typeface="Calibri"/>
              </a:rPr>
              <a:t>Sumber daya manusia</a:t>
            </a:r>
            <a:endParaRPr sz="1200">
              <a:solidFill>
                <a:schemeClr val="dk1"/>
              </a:solidFill>
              <a:latin typeface="Calibri"/>
              <a:ea typeface="Calibri"/>
              <a:cs typeface="Calibri"/>
              <a:sym typeface="Calibri"/>
            </a:endParaRPr>
          </a:p>
          <a:p>
            <a:pPr indent="-229234" lvl="1" marL="469900" marR="10795" rtl="0" algn="just">
              <a:lnSpc>
                <a:spcPct val="101699"/>
              </a:lnSpc>
              <a:spcBef>
                <a:spcPts val="5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Pemakai akhir merupakan orang – orang yang menggunakan sistem informasi atau  informasi yang dihasilkan sistem tersebut. Mereka berupa pelanggan, tenaga  penjualan, teknisi, staff administrasi, akuntan dan para manajer.</a:t>
            </a:r>
            <a:endParaRPr b="0" i="0" sz="1200" u="none" cap="none" strike="noStrike">
              <a:solidFill>
                <a:schemeClr val="dk1"/>
              </a:solidFill>
              <a:latin typeface="Calibri"/>
              <a:ea typeface="Calibri"/>
              <a:cs typeface="Calibri"/>
              <a:sym typeface="Calibri"/>
            </a:endParaRPr>
          </a:p>
          <a:p>
            <a:pPr indent="-229234" lvl="1" marL="469900" marR="10795" rtl="0" algn="just">
              <a:lnSpc>
                <a:spcPct val="103299"/>
              </a:lnSpc>
              <a:spcBef>
                <a:spcPts val="25"/>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Para pakar merupakan orang – orang yang mengembangkan dan mengoperasikan  sistem informasi. Mereka meliputi sistem analis, pembuat software, operator sistem.</a:t>
            </a:r>
            <a:endParaRPr b="0" i="0" sz="1200" u="none" cap="none" strike="noStrike">
              <a:solidFill>
                <a:schemeClr val="dk1"/>
              </a:solidFill>
              <a:latin typeface="Calibri"/>
              <a:ea typeface="Calibri"/>
              <a:cs typeface="Calibri"/>
              <a:sym typeface="Calibri"/>
            </a:endParaRPr>
          </a:p>
          <a:p>
            <a:pPr indent="0" lvl="1" marL="457200" marR="0" rtl="0" algn="l">
              <a:lnSpc>
                <a:spcPct val="100000"/>
              </a:lnSpc>
              <a:spcBef>
                <a:spcPts val="25"/>
              </a:spcBef>
              <a:spcAft>
                <a:spcPts val="0"/>
              </a:spcAft>
              <a:buClr>
                <a:schemeClr val="dk1"/>
              </a:buClr>
              <a:buSzPts val="1200"/>
              <a:buFont typeface="Noto Sans Symbols"/>
              <a:buNone/>
            </a:pPr>
            <a:r>
              <a:t/>
            </a:r>
            <a:endParaRPr b="0" i="0" sz="1200" u="none" cap="none" strike="noStrike">
              <a:solidFill>
                <a:schemeClr val="dk1"/>
              </a:solidFill>
              <a:latin typeface="Calibri"/>
              <a:ea typeface="Calibri"/>
              <a:cs typeface="Calibri"/>
              <a:sym typeface="Calibri"/>
            </a:endParaRPr>
          </a:p>
          <a:p>
            <a:pPr indent="-229234" lvl="0" marL="283845" marR="0" rtl="0" algn="just">
              <a:lnSpc>
                <a:spcPct val="100000"/>
              </a:lnSpc>
              <a:spcBef>
                <a:spcPts val="5"/>
              </a:spcBef>
              <a:spcAft>
                <a:spcPts val="0"/>
              </a:spcAft>
              <a:buClr>
                <a:schemeClr val="dk1"/>
              </a:buClr>
              <a:buSzPts val="1200"/>
              <a:buFont typeface="Calibri"/>
              <a:buAutoNum type="arabicPeriod"/>
            </a:pPr>
            <a:r>
              <a:rPr lang="en-US" sz="1200">
                <a:solidFill>
                  <a:schemeClr val="dk1"/>
                </a:solidFill>
                <a:latin typeface="Calibri"/>
                <a:ea typeface="Calibri"/>
                <a:cs typeface="Calibri"/>
                <a:sym typeface="Calibri"/>
              </a:rPr>
              <a:t>Sumber daya hardware</a:t>
            </a:r>
            <a:endParaRPr sz="1200">
              <a:solidFill>
                <a:schemeClr val="dk1"/>
              </a:solidFill>
              <a:latin typeface="Calibri"/>
              <a:ea typeface="Calibri"/>
              <a:cs typeface="Calibri"/>
              <a:sym typeface="Calibri"/>
            </a:endParaRPr>
          </a:p>
          <a:p>
            <a:pPr indent="-229234" lvl="1" marL="469900" marR="0" rtl="0" algn="l">
              <a:lnSpc>
                <a:spcPct val="100000"/>
              </a:lnSpc>
              <a:spcBef>
                <a:spcPts val="7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Dapat digolongkan menjadi: Mesin dan Media.</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9" name="Shape 139"/>
        <p:cNvGrpSpPr/>
        <p:nvPr/>
      </p:nvGrpSpPr>
      <p:grpSpPr>
        <a:xfrm>
          <a:off x="0" y="0"/>
          <a:ext cx="0" cy="0"/>
          <a:chOff x="0" y="0"/>
          <a:chExt cx="0" cy="0"/>
        </a:xfrm>
      </p:grpSpPr>
      <p:pic>
        <p:nvPicPr>
          <p:cNvPr id="140" name="Google Shape;140;p8"/>
          <p:cNvPicPr preferRelativeResize="0"/>
          <p:nvPr/>
        </p:nvPicPr>
        <p:blipFill rotWithShape="1">
          <a:blip r:embed="rId3">
            <a:alphaModFix/>
          </a:blip>
          <a:srcRect b="0" l="0" r="0" t="0"/>
          <a:stretch/>
        </p:blipFill>
        <p:spPr>
          <a:xfrm>
            <a:off x="0" y="0"/>
            <a:ext cx="7556500" cy="10693400"/>
          </a:xfrm>
          <a:prstGeom prst="rect">
            <a:avLst/>
          </a:prstGeom>
          <a:noFill/>
          <a:ln>
            <a:noFill/>
          </a:ln>
        </p:spPr>
      </p:pic>
      <p:sp>
        <p:nvSpPr>
          <p:cNvPr id="141" name="Google Shape;141;p8"/>
          <p:cNvSpPr txBox="1"/>
          <p:nvPr>
            <p:ph idx="12" type="sldNum"/>
          </p:nvPr>
        </p:nvSpPr>
        <p:spPr>
          <a:xfrm>
            <a:off x="6277736" y="9937495"/>
            <a:ext cx="408940" cy="165734"/>
          </a:xfrm>
          <a:prstGeom prst="rect">
            <a:avLst/>
          </a:prstGeom>
          <a:noFill/>
          <a:ln>
            <a:noFill/>
          </a:ln>
        </p:spPr>
        <p:txBody>
          <a:bodyPr anchorCtr="0" anchor="t" bIns="0" lIns="0" spcFirstLastPara="1" rIns="0" wrap="square" tIns="0">
            <a:spAutoFit/>
          </a:bodyPr>
          <a:lstStyle/>
          <a:p>
            <a:pPr indent="0" lvl="0" marL="12700" rtl="0" algn="l">
              <a:lnSpc>
                <a:spcPct val="104545"/>
              </a:lnSpc>
              <a:spcBef>
                <a:spcPts val="0"/>
              </a:spcBef>
              <a:spcAft>
                <a:spcPts val="0"/>
              </a:spcAft>
              <a:buNone/>
            </a:pPr>
            <a:r>
              <a:rPr lang="en-US"/>
              <a:t>Hal : </a:t>
            </a:r>
            <a:fld id="{00000000-1234-1234-1234-123412341234}" type="slidenum">
              <a:rPr lang="en-US"/>
              <a:t>‹#›</a:t>
            </a:fld>
            <a:endParaRPr/>
          </a:p>
        </p:txBody>
      </p:sp>
      <p:sp>
        <p:nvSpPr>
          <p:cNvPr id="142" name="Google Shape;142;p8"/>
          <p:cNvSpPr txBox="1"/>
          <p:nvPr/>
        </p:nvSpPr>
        <p:spPr>
          <a:xfrm>
            <a:off x="4975605" y="429513"/>
            <a:ext cx="1685925"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Calibri"/>
                <a:ea typeface="Calibri"/>
                <a:cs typeface="Calibri"/>
                <a:sym typeface="Calibri"/>
              </a:rPr>
              <a:t>Dasar Sistem Informasi Bisnis</a:t>
            </a:r>
            <a:endParaRPr sz="1100">
              <a:solidFill>
                <a:schemeClr val="dk1"/>
              </a:solidFill>
              <a:latin typeface="Calibri"/>
              <a:ea typeface="Calibri"/>
              <a:cs typeface="Calibri"/>
              <a:sym typeface="Calibri"/>
            </a:endParaRPr>
          </a:p>
        </p:txBody>
      </p:sp>
      <p:sp>
        <p:nvSpPr>
          <p:cNvPr id="143" name="Google Shape;143;p8"/>
          <p:cNvSpPr txBox="1"/>
          <p:nvPr/>
        </p:nvSpPr>
        <p:spPr>
          <a:xfrm>
            <a:off x="902004" y="1081785"/>
            <a:ext cx="5757545" cy="8186420"/>
          </a:xfrm>
          <a:prstGeom prst="rect">
            <a:avLst/>
          </a:prstGeom>
          <a:noFill/>
          <a:ln>
            <a:noFill/>
          </a:ln>
        </p:spPr>
        <p:txBody>
          <a:bodyPr anchorCtr="0" anchor="t" bIns="0" lIns="0" spcFirstLastPara="1" rIns="0" wrap="square" tIns="12700">
            <a:spAutoFit/>
          </a:bodyPr>
          <a:lstStyle/>
          <a:p>
            <a:pPr indent="-229234" lvl="0" marL="283845" marR="0" rtl="0" algn="just">
              <a:lnSpc>
                <a:spcPct val="100000"/>
              </a:lnSpc>
              <a:spcBef>
                <a:spcPts val="0"/>
              </a:spcBef>
              <a:spcAft>
                <a:spcPts val="0"/>
              </a:spcAft>
              <a:buClr>
                <a:schemeClr val="dk1"/>
              </a:buClr>
              <a:buSzPts val="1200"/>
              <a:buFont typeface="Calibri"/>
              <a:buAutoNum type="arabicPeriod" startAt="3"/>
            </a:pPr>
            <a:r>
              <a:rPr lang="en-US" sz="1200">
                <a:solidFill>
                  <a:schemeClr val="dk1"/>
                </a:solidFill>
                <a:latin typeface="Calibri"/>
                <a:ea typeface="Calibri"/>
                <a:cs typeface="Calibri"/>
                <a:sym typeface="Calibri"/>
              </a:rPr>
              <a:t>Sumber daya software</a:t>
            </a:r>
            <a:endParaRPr sz="1200">
              <a:solidFill>
                <a:schemeClr val="dk1"/>
              </a:solidFill>
              <a:latin typeface="Calibri"/>
              <a:ea typeface="Calibri"/>
              <a:cs typeface="Calibri"/>
              <a:sym typeface="Calibri"/>
            </a:endParaRPr>
          </a:p>
          <a:p>
            <a:pPr indent="-229234" lvl="1" marL="469900" marR="11430" rtl="0" algn="just">
              <a:lnSpc>
                <a:spcPct val="103499"/>
              </a:lnSpc>
              <a:spcBef>
                <a:spcPts val="2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Software sistem, seperti program sistem operasi, yang mengendalikan serta  mendukung operasi sistem computer.</a:t>
            </a:r>
            <a:endParaRPr b="0" i="0" sz="1200" u="none" cap="none" strike="noStrike">
              <a:solidFill>
                <a:schemeClr val="dk1"/>
              </a:solidFill>
              <a:latin typeface="Calibri"/>
              <a:ea typeface="Calibri"/>
              <a:cs typeface="Calibri"/>
              <a:sym typeface="Calibri"/>
            </a:endParaRPr>
          </a:p>
          <a:p>
            <a:pPr indent="-229234" lvl="1" marL="469900" marR="10795" rtl="0" algn="just">
              <a:lnSpc>
                <a:spcPct val="102499"/>
              </a:lnSpc>
              <a:spcBef>
                <a:spcPts val="35"/>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Software aplikasi, yang memprogram pemrosesan langsung bagi penggunaan  tertentu komputer oleh pemakai akhir. Contohnya, program analisis penjualan,  program pengolahan kata dan program penggajian.</a:t>
            </a:r>
            <a:endParaRPr b="0" i="0" sz="1200" u="none" cap="none" strike="noStrike">
              <a:solidFill>
                <a:schemeClr val="dk1"/>
              </a:solidFill>
              <a:latin typeface="Calibri"/>
              <a:ea typeface="Calibri"/>
              <a:cs typeface="Calibri"/>
              <a:sym typeface="Calibri"/>
            </a:endParaRPr>
          </a:p>
          <a:p>
            <a:pPr indent="-229234" lvl="1" marL="469900" marR="5080" rtl="0" algn="just">
              <a:lnSpc>
                <a:spcPct val="101699"/>
              </a:lnSpc>
              <a:spcBef>
                <a:spcPts val="5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Prosedur, yang mengoperasikan perintah bagi orang – orang yang akan  menggunakan sistem informasi. Contohnya, prosedur entri data, prosedur untuk  memperbaiki kesalahan, prosedur pendistribusian cek gaji.</a:t>
            </a:r>
            <a:endParaRPr b="0" i="0" sz="1200" u="none" cap="none" strike="noStrike">
              <a:solidFill>
                <a:schemeClr val="dk1"/>
              </a:solidFill>
              <a:latin typeface="Calibri"/>
              <a:ea typeface="Calibri"/>
              <a:cs typeface="Calibri"/>
              <a:sym typeface="Calibri"/>
            </a:endParaRPr>
          </a:p>
          <a:p>
            <a:pPr indent="0" lvl="1" marL="457200" marR="0" rtl="0" algn="l">
              <a:lnSpc>
                <a:spcPct val="100000"/>
              </a:lnSpc>
              <a:spcBef>
                <a:spcPts val="20"/>
              </a:spcBef>
              <a:spcAft>
                <a:spcPts val="0"/>
              </a:spcAft>
              <a:buClr>
                <a:schemeClr val="dk1"/>
              </a:buClr>
              <a:buSzPts val="1200"/>
              <a:buFont typeface="Noto Sans Symbols"/>
              <a:buNone/>
            </a:pPr>
            <a:r>
              <a:t/>
            </a:r>
            <a:endParaRPr b="0" i="0" sz="1200" u="none" cap="none" strike="noStrike">
              <a:solidFill>
                <a:schemeClr val="dk1"/>
              </a:solidFill>
              <a:latin typeface="Calibri"/>
              <a:ea typeface="Calibri"/>
              <a:cs typeface="Calibri"/>
              <a:sym typeface="Calibri"/>
            </a:endParaRPr>
          </a:p>
          <a:p>
            <a:pPr indent="-229234" lvl="0" marL="283845" marR="0" rtl="0" algn="just">
              <a:lnSpc>
                <a:spcPct val="100000"/>
              </a:lnSpc>
              <a:spcBef>
                <a:spcPts val="0"/>
              </a:spcBef>
              <a:spcAft>
                <a:spcPts val="0"/>
              </a:spcAft>
              <a:buClr>
                <a:schemeClr val="dk1"/>
              </a:buClr>
              <a:buSzPts val="1200"/>
              <a:buFont typeface="Calibri"/>
              <a:buAutoNum type="arabicPeriod" startAt="3"/>
            </a:pPr>
            <a:r>
              <a:rPr lang="en-US" sz="1200">
                <a:solidFill>
                  <a:schemeClr val="dk1"/>
                </a:solidFill>
                <a:latin typeface="Calibri"/>
                <a:ea typeface="Calibri"/>
                <a:cs typeface="Calibri"/>
                <a:sym typeface="Calibri"/>
              </a:rPr>
              <a:t>Sumber daya data</a:t>
            </a:r>
            <a:endParaRPr sz="1200">
              <a:solidFill>
                <a:schemeClr val="dk1"/>
              </a:solidFill>
              <a:latin typeface="Calibri"/>
              <a:ea typeface="Calibri"/>
              <a:cs typeface="Calibri"/>
              <a:sym typeface="Calibri"/>
            </a:endParaRPr>
          </a:p>
          <a:p>
            <a:pPr indent="-229234" lvl="1" marL="469900" marR="10160" rtl="0" algn="just">
              <a:lnSpc>
                <a:spcPct val="103299"/>
              </a:lnSpc>
              <a:spcBef>
                <a:spcPts val="25"/>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Termasuk deskripsi produk, catatan pelanggan, file kepegawaian, database  persediaan.</a:t>
            </a:r>
            <a:endParaRPr b="0" i="0" sz="1200" u="none" cap="none" strike="noStrike">
              <a:solidFill>
                <a:schemeClr val="dk1"/>
              </a:solidFill>
              <a:latin typeface="Calibri"/>
              <a:ea typeface="Calibri"/>
              <a:cs typeface="Calibri"/>
              <a:sym typeface="Calibri"/>
            </a:endParaRPr>
          </a:p>
          <a:p>
            <a:pPr indent="0" lvl="1" marL="457200" marR="0" rtl="0" algn="l">
              <a:lnSpc>
                <a:spcPct val="100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Calibri"/>
              <a:ea typeface="Calibri"/>
              <a:cs typeface="Calibri"/>
              <a:sym typeface="Calibri"/>
            </a:endParaRPr>
          </a:p>
          <a:p>
            <a:pPr indent="-228600" lvl="0" marL="283845" marR="10795" rtl="0" algn="l">
              <a:lnSpc>
                <a:spcPct val="101699"/>
              </a:lnSpc>
              <a:spcBef>
                <a:spcPts val="5"/>
              </a:spcBef>
              <a:spcAft>
                <a:spcPts val="0"/>
              </a:spcAft>
              <a:buClr>
                <a:schemeClr val="dk1"/>
              </a:buClr>
              <a:buSzPts val="1200"/>
              <a:buFont typeface="Calibri"/>
              <a:buAutoNum type="arabicPeriod" startAt="3"/>
            </a:pPr>
            <a:r>
              <a:rPr lang="en-US" sz="1200">
                <a:solidFill>
                  <a:schemeClr val="dk1"/>
                </a:solidFill>
                <a:latin typeface="Calibri"/>
                <a:ea typeface="Calibri"/>
                <a:cs typeface="Calibri"/>
                <a:sym typeface="Calibri"/>
              </a:rPr>
              <a:t>Sumber daya jaringan meliputi Media komunikasi, pemproses komunikasi, software  untuk akses dan pengendalian jaringan.</a:t>
            </a:r>
            <a:endParaRPr sz="1200">
              <a:solidFill>
                <a:schemeClr val="dk1"/>
              </a:solidFill>
              <a:latin typeface="Calibri"/>
              <a:ea typeface="Calibri"/>
              <a:cs typeface="Calibri"/>
              <a:sym typeface="Calibri"/>
            </a:endParaRPr>
          </a:p>
          <a:p>
            <a:pPr indent="0" lvl="0" marL="0" marR="0" rtl="0" algn="l">
              <a:lnSpc>
                <a:spcPct val="100000"/>
              </a:lnSpc>
              <a:spcBef>
                <a:spcPts val="50"/>
              </a:spcBef>
              <a:spcAft>
                <a:spcPts val="0"/>
              </a:spcAft>
              <a:buNone/>
            </a:pPr>
            <a:r>
              <a:t/>
            </a:r>
            <a:endParaRPr sz="1150">
              <a:solidFill>
                <a:schemeClr val="dk1"/>
              </a:solidFill>
              <a:latin typeface="Calibri"/>
              <a:ea typeface="Calibri"/>
              <a:cs typeface="Calibri"/>
              <a:sym typeface="Calibri"/>
            </a:endParaRPr>
          </a:p>
          <a:p>
            <a:pPr indent="-302260" lvl="1" marL="314325" marR="0" rtl="0" algn="l">
              <a:lnSpc>
                <a:spcPct val="100000"/>
              </a:lnSpc>
              <a:spcBef>
                <a:spcPts val="0"/>
              </a:spcBef>
              <a:spcAft>
                <a:spcPts val="0"/>
              </a:spcAft>
              <a:buClr>
                <a:schemeClr val="dk1"/>
              </a:buClr>
              <a:buSzPts val="1400"/>
              <a:buFont typeface="Calibri"/>
              <a:buAutoNum type="arabicPeriod" startAt="3"/>
            </a:pPr>
            <a:r>
              <a:rPr b="0" i="0" lang="en-US" sz="1400" u="none" cap="none" strike="noStrike">
                <a:solidFill>
                  <a:schemeClr val="dk1"/>
                </a:solidFill>
                <a:latin typeface="Calibri"/>
                <a:ea typeface="Calibri"/>
                <a:cs typeface="Calibri"/>
                <a:sym typeface="Calibri"/>
              </a:rPr>
              <a:t>Aktivitas sistem informasi</a:t>
            </a:r>
            <a:endParaRPr b="0" i="0" sz="1400" u="none" cap="none" strike="noStrike">
              <a:solidFill>
                <a:schemeClr val="dk1"/>
              </a:solidFill>
              <a:latin typeface="Calibri"/>
              <a:ea typeface="Calibri"/>
              <a:cs typeface="Calibri"/>
              <a:sym typeface="Calibri"/>
            </a:endParaRPr>
          </a:p>
          <a:p>
            <a:pPr indent="0" lvl="1" marL="45720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229234" lvl="2" marL="469900" marR="0" rtl="0" algn="l">
              <a:lnSpc>
                <a:spcPct val="100000"/>
              </a:lnSpc>
              <a:spcBef>
                <a:spcPts val="5"/>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Input sumber daya data</a:t>
            </a:r>
            <a:endParaRPr b="0" i="0" sz="1200" u="none" cap="none" strike="noStrike">
              <a:solidFill>
                <a:schemeClr val="dk1"/>
              </a:solidFill>
              <a:latin typeface="Calibri"/>
              <a:ea typeface="Calibri"/>
              <a:cs typeface="Calibri"/>
              <a:sym typeface="Calibri"/>
            </a:endParaRPr>
          </a:p>
          <a:p>
            <a:pPr indent="0" lvl="0" marL="469900" marR="7620" rtl="0" algn="just">
              <a:lnSpc>
                <a:spcPct val="101699"/>
              </a:lnSpc>
              <a:spcBef>
                <a:spcPts val="0"/>
              </a:spcBef>
              <a:spcAft>
                <a:spcPts val="0"/>
              </a:spcAft>
              <a:buNone/>
            </a:pPr>
            <a:r>
              <a:rPr lang="en-US" sz="1200">
                <a:solidFill>
                  <a:schemeClr val="dk1"/>
                </a:solidFill>
                <a:latin typeface="Calibri"/>
                <a:ea typeface="Calibri"/>
                <a:cs typeface="Calibri"/>
                <a:sym typeface="Calibri"/>
              </a:rPr>
              <a:t>Memindai secara optikal barang – barang dengan pengenal yang menggunakan kode  garis.</a:t>
            </a:r>
            <a:endParaRPr sz="1200">
              <a:solidFill>
                <a:schemeClr val="dk1"/>
              </a:solidFill>
              <a:latin typeface="Calibri"/>
              <a:ea typeface="Calibri"/>
              <a:cs typeface="Calibri"/>
              <a:sym typeface="Calibri"/>
            </a:endParaRPr>
          </a:p>
          <a:p>
            <a:pPr indent="-229234" lvl="2" marL="469900" marR="0" rtl="0" algn="l">
              <a:lnSpc>
                <a:spcPct val="100000"/>
              </a:lnSpc>
              <a:spcBef>
                <a:spcPts val="7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Pemrosesan data menjadi informasi</a:t>
            </a:r>
            <a:endParaRPr b="0" i="0" sz="1200" u="none" cap="none" strike="noStrike">
              <a:solidFill>
                <a:schemeClr val="dk1"/>
              </a:solidFill>
              <a:latin typeface="Calibri"/>
              <a:ea typeface="Calibri"/>
              <a:cs typeface="Calibri"/>
              <a:sym typeface="Calibri"/>
            </a:endParaRPr>
          </a:p>
          <a:p>
            <a:pPr indent="0" lvl="0" marL="469900" marR="0" rtl="0" algn="just">
              <a:lnSpc>
                <a:spcPct val="100000"/>
              </a:lnSpc>
              <a:spcBef>
                <a:spcPts val="50"/>
              </a:spcBef>
              <a:spcAft>
                <a:spcPts val="0"/>
              </a:spcAft>
              <a:buNone/>
            </a:pPr>
            <a:r>
              <a:rPr lang="en-US" sz="1200">
                <a:solidFill>
                  <a:schemeClr val="dk1"/>
                </a:solidFill>
                <a:latin typeface="Calibri"/>
                <a:ea typeface="Calibri"/>
                <a:cs typeface="Calibri"/>
                <a:sym typeface="Calibri"/>
              </a:rPr>
              <a:t>Seperti menghitung pembayaran karyawan, pajak dan potongan gaji lainnya.</a:t>
            </a:r>
            <a:endParaRPr sz="1200">
              <a:solidFill>
                <a:schemeClr val="dk1"/>
              </a:solidFill>
              <a:latin typeface="Calibri"/>
              <a:ea typeface="Calibri"/>
              <a:cs typeface="Calibri"/>
              <a:sym typeface="Calibri"/>
            </a:endParaRPr>
          </a:p>
          <a:p>
            <a:pPr indent="-229234" lvl="2" marL="469900" marR="0" rtl="0" algn="l">
              <a:lnSpc>
                <a:spcPct val="100000"/>
              </a:lnSpc>
              <a:spcBef>
                <a:spcPts val="7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Output produk informasi</a:t>
            </a:r>
            <a:endParaRPr b="0" i="0" sz="1200" u="none" cap="none" strike="noStrike">
              <a:solidFill>
                <a:schemeClr val="dk1"/>
              </a:solidFill>
              <a:latin typeface="Calibri"/>
              <a:ea typeface="Calibri"/>
              <a:cs typeface="Calibri"/>
              <a:sym typeface="Calibri"/>
            </a:endParaRPr>
          </a:p>
          <a:p>
            <a:pPr indent="0" lvl="0" marL="469900" marR="6350" rtl="0" algn="just">
              <a:lnSpc>
                <a:spcPct val="101699"/>
              </a:lnSpc>
              <a:spcBef>
                <a:spcPts val="25"/>
              </a:spcBef>
              <a:spcAft>
                <a:spcPts val="0"/>
              </a:spcAft>
              <a:buNone/>
            </a:pPr>
            <a:r>
              <a:rPr lang="en-US" sz="1200">
                <a:solidFill>
                  <a:schemeClr val="dk1"/>
                </a:solidFill>
                <a:latin typeface="Calibri"/>
                <a:ea typeface="Calibri"/>
                <a:cs typeface="Calibri"/>
                <a:sym typeface="Calibri"/>
              </a:rPr>
              <a:t>Menghasilkan laporan dan tampilan mengenai kinerja penjualan.Contohnya, seorang  manajer penjualan dapat melihat tampilan video untuk memeriksa kinerja seorang  tenaga kerja penjualan, menerima pesan suara yang dihasilkan komputer melalui  telepon, menerima cetakan dari hasil penjualan bulanan.</a:t>
            </a:r>
            <a:endParaRPr sz="12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None/>
            </a:pPr>
            <a:r>
              <a:t/>
            </a:r>
            <a:endParaRPr sz="1250">
              <a:solidFill>
                <a:schemeClr val="dk1"/>
              </a:solidFill>
              <a:latin typeface="Calibri"/>
              <a:ea typeface="Calibri"/>
              <a:cs typeface="Calibri"/>
              <a:sym typeface="Calibri"/>
            </a:endParaRPr>
          </a:p>
          <a:p>
            <a:pPr indent="-229234" lvl="2" marL="469900" marR="0" rtl="0" algn="l">
              <a:lnSpc>
                <a:spcPct val="100000"/>
              </a:lnSpc>
              <a:spcBef>
                <a:spcPts val="5"/>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Penyimpanan sumber daya data</a:t>
            </a:r>
            <a:endParaRPr b="0" i="0" sz="1200" u="none" cap="none" strike="noStrike">
              <a:solidFill>
                <a:schemeClr val="dk1"/>
              </a:solidFill>
              <a:latin typeface="Calibri"/>
              <a:ea typeface="Calibri"/>
              <a:cs typeface="Calibri"/>
              <a:sym typeface="Calibri"/>
            </a:endParaRPr>
          </a:p>
          <a:p>
            <a:pPr indent="0" lvl="0" marL="469900" marR="11430" rtl="0" algn="just">
              <a:lnSpc>
                <a:spcPct val="101699"/>
              </a:lnSpc>
              <a:spcBef>
                <a:spcPts val="20"/>
              </a:spcBef>
              <a:spcAft>
                <a:spcPts val="0"/>
              </a:spcAft>
              <a:buNone/>
            </a:pPr>
            <a:r>
              <a:rPr lang="en-US" sz="1200">
                <a:solidFill>
                  <a:schemeClr val="dk1"/>
                </a:solidFill>
                <a:latin typeface="Calibri"/>
                <a:ea typeface="Calibri"/>
                <a:cs typeface="Calibri"/>
                <a:sym typeface="Calibri"/>
              </a:rPr>
              <a:t>Penyimpanan adalah komponen sistem dasar sistem informasi. Penyimpanan adalah  aktivitas sistem informasi tempat data dan informasi disimpan secara teratur untuk  digunakan kemudian.</a:t>
            </a:r>
            <a:endParaRPr sz="1200">
              <a:solidFill>
                <a:schemeClr val="dk1"/>
              </a:solidFill>
              <a:latin typeface="Calibri"/>
              <a:ea typeface="Calibri"/>
              <a:cs typeface="Calibri"/>
              <a:sym typeface="Calibri"/>
            </a:endParaRPr>
          </a:p>
          <a:p>
            <a:pPr indent="-229234" lvl="2" marL="469900" marR="0" rtl="0" algn="l">
              <a:lnSpc>
                <a:spcPct val="100000"/>
              </a:lnSpc>
              <a:spcBef>
                <a:spcPts val="75"/>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Pengendalian kinerja sistem</a:t>
            </a:r>
            <a:endParaRPr b="0" i="0" sz="1200" u="none" cap="none" strike="noStrike">
              <a:solidFill>
                <a:schemeClr val="dk1"/>
              </a:solidFill>
              <a:latin typeface="Calibri"/>
              <a:ea typeface="Calibri"/>
              <a:cs typeface="Calibri"/>
              <a:sym typeface="Calibri"/>
            </a:endParaRPr>
          </a:p>
          <a:p>
            <a:pPr indent="0" lvl="0" marL="469900" marR="5080" rtl="0" algn="just">
              <a:lnSpc>
                <a:spcPct val="101699"/>
              </a:lnSpc>
              <a:spcBef>
                <a:spcPts val="20"/>
              </a:spcBef>
              <a:spcAft>
                <a:spcPts val="0"/>
              </a:spcAft>
              <a:buNone/>
            </a:pPr>
            <a:r>
              <a:rPr lang="en-US" sz="1200">
                <a:solidFill>
                  <a:schemeClr val="dk1"/>
                </a:solidFill>
                <a:latin typeface="Calibri"/>
                <a:ea typeface="Calibri"/>
                <a:cs typeface="Calibri"/>
                <a:sym typeface="Calibri"/>
              </a:rPr>
              <a:t>Aktivitas sistem informasi yang penting adalah pengendalian kinerja sistem. Sistem  informasi harus menghasilkan umpan balik mengenai aktivitas input, pemrosesan,  output, dan penyimpanan. Umpan balik ini harus diawasi dan dievaluasi untuk  menetapkan apakah sistem dapat memenuhi standar kinerja yang telah ditetapkan.  Kemudian, aktivitas sistem yang tepat harus disesuaikan agar produk informasi yang  tepat dihasilkan bagi para pemakai akhir.</a:t>
            </a:r>
            <a:endParaRPr sz="12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None/>
            </a:pPr>
            <a:r>
              <a:t/>
            </a:r>
            <a:endParaRPr sz="1150">
              <a:solidFill>
                <a:schemeClr val="dk1"/>
              </a:solidFill>
              <a:latin typeface="Calibri"/>
              <a:ea typeface="Calibri"/>
              <a:cs typeface="Calibri"/>
              <a:sym typeface="Calibri"/>
            </a:endParaRPr>
          </a:p>
          <a:p>
            <a:pPr indent="-302260" lvl="1" marL="314325" marR="0" rtl="0" algn="l">
              <a:lnSpc>
                <a:spcPct val="100000"/>
              </a:lnSpc>
              <a:spcBef>
                <a:spcPts val="0"/>
              </a:spcBef>
              <a:spcAft>
                <a:spcPts val="0"/>
              </a:spcAft>
              <a:buClr>
                <a:schemeClr val="dk1"/>
              </a:buClr>
              <a:buSzPts val="1400"/>
              <a:buFont typeface="Calibri"/>
              <a:buAutoNum type="arabicPeriod" startAt="3"/>
            </a:pPr>
            <a:r>
              <a:rPr b="0" i="0" lang="en-US" sz="1400" u="none" cap="none" strike="noStrike">
                <a:solidFill>
                  <a:schemeClr val="dk1"/>
                </a:solidFill>
                <a:latin typeface="Calibri"/>
                <a:ea typeface="Calibri"/>
                <a:cs typeface="Calibri"/>
                <a:sym typeface="Calibri"/>
              </a:rPr>
              <a:t>Mengenali sistem informasi</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7" name="Shape 147"/>
        <p:cNvGrpSpPr/>
        <p:nvPr/>
      </p:nvGrpSpPr>
      <p:grpSpPr>
        <a:xfrm>
          <a:off x="0" y="0"/>
          <a:ext cx="0" cy="0"/>
          <a:chOff x="0" y="0"/>
          <a:chExt cx="0" cy="0"/>
        </a:xfrm>
      </p:grpSpPr>
      <p:pic>
        <p:nvPicPr>
          <p:cNvPr id="148" name="Google Shape;148;p9"/>
          <p:cNvPicPr preferRelativeResize="0"/>
          <p:nvPr/>
        </p:nvPicPr>
        <p:blipFill rotWithShape="1">
          <a:blip r:embed="rId3">
            <a:alphaModFix/>
          </a:blip>
          <a:srcRect b="0" l="0" r="0" t="0"/>
          <a:stretch/>
        </p:blipFill>
        <p:spPr>
          <a:xfrm>
            <a:off x="0" y="0"/>
            <a:ext cx="7556500" cy="10693400"/>
          </a:xfrm>
          <a:prstGeom prst="rect">
            <a:avLst/>
          </a:prstGeom>
          <a:noFill/>
          <a:ln>
            <a:noFill/>
          </a:ln>
        </p:spPr>
      </p:pic>
      <p:sp>
        <p:nvSpPr>
          <p:cNvPr id="149" name="Google Shape;149;p9"/>
          <p:cNvSpPr txBox="1"/>
          <p:nvPr>
            <p:ph idx="12" type="sldNum"/>
          </p:nvPr>
        </p:nvSpPr>
        <p:spPr>
          <a:xfrm>
            <a:off x="6277736" y="9937495"/>
            <a:ext cx="408940" cy="165734"/>
          </a:xfrm>
          <a:prstGeom prst="rect">
            <a:avLst/>
          </a:prstGeom>
          <a:noFill/>
          <a:ln>
            <a:noFill/>
          </a:ln>
        </p:spPr>
        <p:txBody>
          <a:bodyPr anchorCtr="0" anchor="t" bIns="0" lIns="0" spcFirstLastPara="1" rIns="0" wrap="square" tIns="0">
            <a:spAutoFit/>
          </a:bodyPr>
          <a:lstStyle/>
          <a:p>
            <a:pPr indent="0" lvl="0" marL="12700" rtl="0" algn="l">
              <a:lnSpc>
                <a:spcPct val="104545"/>
              </a:lnSpc>
              <a:spcBef>
                <a:spcPts val="0"/>
              </a:spcBef>
              <a:spcAft>
                <a:spcPts val="0"/>
              </a:spcAft>
              <a:buNone/>
            </a:pPr>
            <a:r>
              <a:rPr lang="en-US"/>
              <a:t>Hal : </a:t>
            </a:r>
            <a:fld id="{00000000-1234-1234-1234-123412341234}" type="slidenum">
              <a:rPr lang="en-US"/>
              <a:t>‹#›</a:t>
            </a:fld>
            <a:endParaRPr/>
          </a:p>
        </p:txBody>
      </p:sp>
      <p:sp>
        <p:nvSpPr>
          <p:cNvPr id="150" name="Google Shape;150;p9"/>
          <p:cNvSpPr txBox="1"/>
          <p:nvPr/>
        </p:nvSpPr>
        <p:spPr>
          <a:xfrm>
            <a:off x="902004" y="429513"/>
            <a:ext cx="5759450" cy="3687445"/>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n-US" sz="1100">
                <a:solidFill>
                  <a:schemeClr val="dk1"/>
                </a:solidFill>
                <a:latin typeface="Calibri"/>
                <a:ea typeface="Calibri"/>
                <a:cs typeface="Calibri"/>
                <a:sym typeface="Calibri"/>
              </a:rPr>
              <a:t>Dasar Sistem Informasi Bisnis</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800">
              <a:solidFill>
                <a:schemeClr val="dk1"/>
              </a:solidFill>
              <a:latin typeface="Calibri"/>
              <a:ea typeface="Calibri"/>
              <a:cs typeface="Calibri"/>
              <a:sym typeface="Calibri"/>
            </a:endParaRPr>
          </a:p>
          <a:p>
            <a:pPr indent="0" lvl="0" marL="469900" marR="0" rtl="0" algn="l">
              <a:lnSpc>
                <a:spcPct val="100000"/>
              </a:lnSpc>
              <a:spcBef>
                <a:spcPts val="0"/>
              </a:spcBef>
              <a:spcAft>
                <a:spcPts val="0"/>
              </a:spcAft>
              <a:buNone/>
            </a:pPr>
            <a:r>
              <a:rPr lang="en-US" sz="1200">
                <a:solidFill>
                  <a:schemeClr val="dk1"/>
                </a:solidFill>
                <a:latin typeface="Calibri"/>
                <a:ea typeface="Calibri"/>
                <a:cs typeface="Calibri"/>
                <a:sym typeface="Calibri"/>
              </a:rPr>
              <a:t>Sebagai praktisi bisnis, harus mampu mengenali komponen dasar sistem informasi.</a:t>
            </a:r>
            <a:endParaRPr sz="1200">
              <a:solidFill>
                <a:schemeClr val="dk1"/>
              </a:solidFill>
              <a:latin typeface="Calibri"/>
              <a:ea typeface="Calibri"/>
              <a:cs typeface="Calibri"/>
              <a:sym typeface="Calibri"/>
            </a:endParaRPr>
          </a:p>
          <a:p>
            <a:pPr indent="0" lvl="0" marL="12700" marR="0" rtl="0" algn="l">
              <a:lnSpc>
                <a:spcPct val="100000"/>
              </a:lnSpc>
              <a:spcBef>
                <a:spcPts val="25"/>
              </a:spcBef>
              <a:spcAft>
                <a:spcPts val="0"/>
              </a:spcAft>
              <a:buNone/>
            </a:pPr>
            <a:r>
              <a:rPr lang="en-US" sz="1200">
                <a:solidFill>
                  <a:schemeClr val="dk1"/>
                </a:solidFill>
                <a:latin typeface="Calibri"/>
                <a:ea typeface="Calibri"/>
                <a:cs typeface="Calibri"/>
                <a:sym typeface="Calibri"/>
              </a:rPr>
              <a:t>Hal ini berarti harus mampu mengidentifikasi:</a:t>
            </a:r>
            <a:endParaRPr sz="1200">
              <a:solidFill>
                <a:schemeClr val="dk1"/>
              </a:solidFill>
              <a:latin typeface="Calibri"/>
              <a:ea typeface="Calibri"/>
              <a:cs typeface="Calibri"/>
              <a:sym typeface="Calibri"/>
            </a:endParaRPr>
          </a:p>
          <a:p>
            <a:pPr indent="-229234" lvl="0" marL="283845" marR="0" rtl="0" algn="l">
              <a:lnSpc>
                <a:spcPct val="100000"/>
              </a:lnSpc>
              <a:spcBef>
                <a:spcPts val="25"/>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Sumber daya manusia, hardware, software, data dan jaringan yang digunakan.</a:t>
            </a:r>
            <a:endParaRPr sz="1200">
              <a:solidFill>
                <a:schemeClr val="dk1"/>
              </a:solidFill>
              <a:latin typeface="Calibri"/>
              <a:ea typeface="Calibri"/>
              <a:cs typeface="Calibri"/>
              <a:sym typeface="Calibri"/>
            </a:endParaRPr>
          </a:p>
          <a:p>
            <a:pPr indent="-229234" lvl="0" marL="283845" marR="0" rtl="0" algn="l">
              <a:lnSpc>
                <a:spcPct val="100000"/>
              </a:lnSpc>
              <a:spcBef>
                <a:spcPts val="25"/>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Jenis produk informasi yang dihasilkan</a:t>
            </a:r>
            <a:endParaRPr sz="1200">
              <a:solidFill>
                <a:schemeClr val="dk1"/>
              </a:solidFill>
              <a:latin typeface="Calibri"/>
              <a:ea typeface="Calibri"/>
              <a:cs typeface="Calibri"/>
              <a:sym typeface="Calibri"/>
            </a:endParaRPr>
          </a:p>
          <a:p>
            <a:pPr indent="-229234" lvl="0" marL="283845" marR="0" rtl="0" algn="l">
              <a:lnSpc>
                <a:spcPct val="100000"/>
              </a:lnSpc>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Cara melakukan aktivitas input, output, penyimpanan, dan pengendalian.</a:t>
            </a:r>
            <a:endParaRPr sz="1200">
              <a:solidFill>
                <a:schemeClr val="dk1"/>
              </a:solidFill>
              <a:latin typeface="Calibri"/>
              <a:ea typeface="Calibri"/>
              <a:cs typeface="Calibri"/>
              <a:sym typeface="Calibri"/>
            </a:endParaRPr>
          </a:p>
          <a:p>
            <a:pPr indent="457200" lvl="0" marL="12700" marR="14604" rtl="0" algn="just">
              <a:lnSpc>
                <a:spcPct val="115799"/>
              </a:lnSpc>
              <a:spcBef>
                <a:spcPts val="1045"/>
              </a:spcBef>
              <a:spcAft>
                <a:spcPts val="0"/>
              </a:spcAft>
              <a:buNone/>
            </a:pPr>
            <a:r>
              <a:rPr lang="en-US" sz="1200">
                <a:solidFill>
                  <a:schemeClr val="dk1"/>
                </a:solidFill>
                <a:latin typeface="Calibri"/>
                <a:ea typeface="Calibri"/>
                <a:cs typeface="Calibri"/>
                <a:sym typeface="Calibri"/>
              </a:rPr>
              <a:t>Sesungguhnya yang dimaksud dengan sistem informasi tidak harus melibatkan  komputer. Sistem informasi yang menggunakan komputer biasa disebut sistem informasi  berbasis komputer ( </a:t>
            </a:r>
            <a:r>
              <a:rPr i="1" lang="en-US" sz="1200">
                <a:solidFill>
                  <a:schemeClr val="dk1"/>
                </a:solidFill>
                <a:latin typeface="Calibri"/>
                <a:ea typeface="Calibri"/>
                <a:cs typeface="Calibri"/>
                <a:sym typeface="Calibri"/>
              </a:rPr>
              <a:t>Computer-Based Information Systems </a:t>
            </a:r>
            <a:r>
              <a:rPr lang="en-US" sz="1200">
                <a:solidFill>
                  <a:schemeClr val="dk1"/>
                </a:solidFill>
                <a:latin typeface="Calibri"/>
                <a:ea typeface="Calibri"/>
                <a:cs typeface="Calibri"/>
                <a:sym typeface="Calibri"/>
              </a:rPr>
              <a:t>atau </a:t>
            </a:r>
            <a:r>
              <a:rPr b="1" i="1" lang="en-US" sz="1200">
                <a:solidFill>
                  <a:schemeClr val="dk1"/>
                </a:solidFill>
                <a:latin typeface="Calibri"/>
                <a:ea typeface="Calibri"/>
                <a:cs typeface="Calibri"/>
                <a:sym typeface="Calibri"/>
              </a:rPr>
              <a:t>CBIS </a:t>
            </a: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1300">
              <a:solidFill>
                <a:schemeClr val="dk1"/>
              </a:solidFill>
              <a:latin typeface="Calibri"/>
              <a:ea typeface="Calibri"/>
              <a:cs typeface="Calibri"/>
              <a:sym typeface="Calibri"/>
            </a:endParaRPr>
          </a:p>
          <a:p>
            <a:pPr indent="457200" lvl="0" marL="12700" marR="7620" rtl="0" algn="just">
              <a:lnSpc>
                <a:spcPct val="102200"/>
              </a:lnSpc>
              <a:spcBef>
                <a:spcPts val="0"/>
              </a:spcBef>
              <a:spcAft>
                <a:spcPts val="0"/>
              </a:spcAft>
              <a:buNone/>
            </a:pPr>
            <a:r>
              <a:rPr lang="en-US" sz="1200">
                <a:solidFill>
                  <a:schemeClr val="dk1"/>
                </a:solidFill>
                <a:latin typeface="Calibri"/>
                <a:ea typeface="Calibri"/>
                <a:cs typeface="Calibri"/>
                <a:sym typeface="Calibri"/>
              </a:rPr>
              <a:t>Dalam prakteknya, istilah sistem informasi lebih sering dipakai tanpa embel-embel  berbasis komputer walaupun dalam kenyataannya komputer merupakan bagian yang  penting. Sistem Informassi (SI) atau </a:t>
            </a:r>
            <a:r>
              <a:rPr i="1" lang="en-US" sz="1200">
                <a:solidFill>
                  <a:schemeClr val="dk1"/>
                </a:solidFill>
                <a:latin typeface="Calibri"/>
                <a:ea typeface="Calibri"/>
                <a:cs typeface="Calibri"/>
                <a:sym typeface="Calibri"/>
              </a:rPr>
              <a:t>Information System </a:t>
            </a:r>
            <a:r>
              <a:rPr lang="en-US" sz="1200">
                <a:solidFill>
                  <a:schemeClr val="dk1"/>
                </a:solidFill>
                <a:latin typeface="Calibri"/>
                <a:ea typeface="Calibri"/>
                <a:cs typeface="Calibri"/>
                <a:sym typeface="Calibri"/>
              </a:rPr>
              <a:t>(IS) yang menunjukan sistem dapat  menghasilkan informasi yang berguna.</a:t>
            </a:r>
            <a:endParaRPr sz="1200">
              <a:solidFill>
                <a:schemeClr val="dk1"/>
              </a:solidFill>
              <a:latin typeface="Calibri"/>
              <a:ea typeface="Calibri"/>
              <a:cs typeface="Calibri"/>
              <a:sym typeface="Calibri"/>
            </a:endParaRPr>
          </a:p>
          <a:p>
            <a:pPr indent="0" lvl="0" marL="0" marR="0" rtl="0" algn="l">
              <a:lnSpc>
                <a:spcPct val="100000"/>
              </a:lnSpc>
              <a:spcBef>
                <a:spcPts val="50"/>
              </a:spcBef>
              <a:spcAft>
                <a:spcPts val="0"/>
              </a:spcAft>
              <a:buNone/>
            </a:pPr>
            <a:r>
              <a:t/>
            </a:r>
            <a:endParaRPr sz="1100">
              <a:solidFill>
                <a:schemeClr val="dk1"/>
              </a:solidFill>
              <a:latin typeface="Calibri"/>
              <a:ea typeface="Calibri"/>
              <a:cs typeface="Calibri"/>
              <a:sym typeface="Calibri"/>
            </a:endParaRPr>
          </a:p>
          <a:p>
            <a:pPr indent="0" lvl="0" marL="12700" marR="15240" rtl="0" algn="l">
              <a:lnSpc>
                <a:spcPct val="101699"/>
              </a:lnSpc>
              <a:spcBef>
                <a:spcPts val="0"/>
              </a:spcBef>
              <a:spcAft>
                <a:spcPts val="0"/>
              </a:spcAft>
              <a:buNone/>
            </a:pPr>
            <a:r>
              <a:rPr lang="en-US" sz="1200">
                <a:solidFill>
                  <a:schemeClr val="dk1"/>
                </a:solidFill>
                <a:latin typeface="Calibri"/>
                <a:ea typeface="Calibri"/>
                <a:cs typeface="Calibri"/>
                <a:sym typeface="Calibri"/>
              </a:rPr>
              <a:t>Sim dalam bentuk yang lebih kompleks akan melibatkan banyak pemakai dan memerlukan  sarana jaringan yg memungkinkan pemakai tersebar berjauhan dapat berbagi informasi</a:t>
            </a:r>
            <a:endParaRPr sz="1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10"/>
          <p:cNvPicPr preferRelativeResize="0"/>
          <p:nvPr/>
        </p:nvPicPr>
        <p:blipFill rotWithShape="1">
          <a:blip r:embed="rId3">
            <a:alphaModFix/>
          </a:blip>
          <a:srcRect b="0" l="0" r="0" t="0"/>
          <a:stretch/>
        </p:blipFill>
        <p:spPr>
          <a:xfrm>
            <a:off x="-1" y="0"/>
            <a:ext cx="7521407" cy="10693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3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7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5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2021-08-24T12:47:50Z</dcterms:created>
  <dc:creator>tunkey_15</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2016-09-18T00:00:00Z</vt:filetime>
  </property>
  <property fmtid="{D5CDD505-2E9C-101B-9397-08002B2CF9AE}" pid="3" name="Creator">
    <vt:lpwstr>Microsoft® Office Word 2007</vt:lpwstr>
  </property>
  <property fmtid="{D5CDD505-2E9C-101B-9397-08002B2CF9AE}" pid="4" name="LastSaved">
    <vt:filetime>2021-08-24T00:00:00Z</vt:filetime>
  </property>
</Properties>
</file>