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6.xml" ContentType="application/vnd.openxmlformats-officedocument.theme+xml"/>
  <Override PartName="/ppt/slideLayouts/slideLayout16.xml" ContentType="application/vnd.openxmlformats-officedocument.presentationml.slideLayout+xml"/>
  <Override PartName="/ppt/theme/theme7.xml" ContentType="application/vnd.openxmlformats-officedocument.theme+xml"/>
  <Override PartName="/ppt/slideLayouts/slideLayout17.xml" ContentType="application/vnd.openxmlformats-officedocument.presentationml.slideLayout+xml"/>
  <Override PartName="/ppt/theme/theme8.xml" ContentType="application/vnd.openxmlformats-officedocument.theme+xml"/>
  <Override PartName="/ppt/media/image26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671" r:id="rId2"/>
    <p:sldMasterId id="2147483673" r:id="rId3"/>
    <p:sldMasterId id="2147483675" r:id="rId4"/>
    <p:sldMasterId id="2147483677" r:id="rId5"/>
    <p:sldMasterId id="2147483679" r:id="rId6"/>
    <p:sldMasterId id="2147483687" r:id="rId7"/>
    <p:sldMasterId id="2147483689" r:id="rId8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61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70131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2544" y="1442466"/>
            <a:ext cx="6518910" cy="453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112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998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2094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8184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093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32270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1180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xmlns="" id="{198065A5-1218-4E69-9EF0-90C3C2E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0298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464233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1FFC4A87-0CB1-45CE-9554-8F044AA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261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4501662" y="683288"/>
            <a:ext cx="464233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2A5D29-0C74-4DB5-80AC-205E298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3441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2A08D90C-70B8-457C-95AE-141C49C3A3FB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9144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xmlns="" id="{ABE849F3-B6DF-4217-B464-9130928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3321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33BEC2E1-0AD8-452E-87EC-4D9066322202}"/>
              </a:ext>
            </a:extLst>
          </p:cNvPr>
          <p:cNvSpPr/>
          <p:nvPr userDrawn="1"/>
        </p:nvSpPr>
        <p:spPr>
          <a:xfrm>
            <a:off x="0" y="0"/>
            <a:ext cx="9144000" cy="10852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2CC0ADF-8FA4-4472-9031-72E465C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72298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EBE2D0A-6E5C-4A94-8EF1-D947C32EBE56}"/>
              </a:ext>
            </a:extLst>
          </p:cNvPr>
          <p:cNvSpPr/>
          <p:nvPr userDrawn="1"/>
        </p:nvSpPr>
        <p:spPr>
          <a:xfrm>
            <a:off x="0" y="80391"/>
            <a:ext cx="9144000" cy="63304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4898FCA4-6365-4601-85C8-B9BFB43B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133963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570B6C2-5A8A-40C2-AE98-493677E13A21}"/>
              </a:ext>
            </a:extLst>
          </p:cNvPr>
          <p:cNvSpPr/>
          <p:nvPr userDrawn="1"/>
        </p:nvSpPr>
        <p:spPr>
          <a:xfrm>
            <a:off x="0" y="60293"/>
            <a:ext cx="9144000" cy="45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10892BB0-7181-4898-96B3-7ABD57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8586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131694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1837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/>
        </p:nvSpPr>
        <p:spPr>
          <a:xfrm>
            <a:off x="0" y="1"/>
            <a:ext cx="9144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1" y="38925"/>
            <a:ext cx="83946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456D31B-DA89-4FCC-A0CF-973CBA8BD493}"/>
              </a:ext>
            </a:extLst>
          </p:cNvPr>
          <p:cNvSpPr txBox="1"/>
          <p:nvPr/>
        </p:nvSpPr>
        <p:spPr>
          <a:xfrm>
            <a:off x="914194" y="166671"/>
            <a:ext cx="4414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PROGRAM STUDI S1 TEKNIK INFORMATIKA</a:t>
            </a:r>
            <a:br>
              <a:rPr lang="en-US" sz="1800" dirty="0"/>
            </a:br>
            <a:r>
              <a:rPr lang="en-US" sz="1800" dirty="0"/>
              <a:t>UNIVERSITAS PAMULANG</a:t>
            </a:r>
            <a:endParaRPr lang="en-ID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960A43D-3921-41B8-B4DC-C239EAEA84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264" y="0"/>
            <a:ext cx="1607736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xmlns="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xmlns="" id="{59788E57-52DB-4E2B-A81F-D18E71DA02CB}"/>
              </a:ext>
            </a:extLst>
          </p:cNvPr>
          <p:cNvSpPr/>
          <p:nvPr/>
        </p:nvSpPr>
        <p:spPr>
          <a:xfrm>
            <a:off x="0" y="6360608"/>
            <a:ext cx="9144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E8BF5A5-79AC-4428-A4CF-F44278AA4D6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41" y="6422940"/>
            <a:ext cx="339764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F13C787-49DC-45B2-99DA-FD9DF4541EF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2" y="6419058"/>
            <a:ext cx="285368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C0EC3BD-0F33-4AAF-A3A2-953764A0D99A}"/>
              </a:ext>
            </a:extLst>
          </p:cNvPr>
          <p:cNvSpPr txBox="1"/>
          <p:nvPr/>
        </p:nvSpPr>
        <p:spPr>
          <a:xfrm>
            <a:off x="360100" y="6412026"/>
            <a:ext cx="134522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err="1"/>
              <a:t>InfoTI_unpam</a:t>
            </a:r>
            <a:endParaRPr lang="en-ID" sz="13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0CFA357-EB7B-4C90-B08D-FF68109B966A}"/>
              </a:ext>
            </a:extLst>
          </p:cNvPr>
          <p:cNvSpPr txBox="1"/>
          <p:nvPr/>
        </p:nvSpPr>
        <p:spPr>
          <a:xfrm>
            <a:off x="1895542" y="6412026"/>
            <a:ext cx="20233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informatika.unpam.ac.id</a:t>
            </a:r>
            <a:endParaRPr lang="en-ID" sz="13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C10FF8DC-21DB-400A-A27F-9751868D2AF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997" y="6412027"/>
            <a:ext cx="48627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10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xmlns="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xmlns="" id="{59788E57-52DB-4E2B-A81F-D18E71DA02CB}"/>
              </a:ext>
            </a:extLst>
          </p:cNvPr>
          <p:cNvSpPr/>
          <p:nvPr/>
        </p:nvSpPr>
        <p:spPr>
          <a:xfrm>
            <a:off x="0" y="6360608"/>
            <a:ext cx="9144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E8BF5A5-79AC-4428-A4CF-F44278AA4D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41" y="6422940"/>
            <a:ext cx="339764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F13C787-49DC-45B2-99DA-FD9DF4541E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2" y="6419058"/>
            <a:ext cx="285368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C0EC3BD-0F33-4AAF-A3A2-953764A0D99A}"/>
              </a:ext>
            </a:extLst>
          </p:cNvPr>
          <p:cNvSpPr txBox="1"/>
          <p:nvPr/>
        </p:nvSpPr>
        <p:spPr>
          <a:xfrm>
            <a:off x="360100" y="6412026"/>
            <a:ext cx="134522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err="1"/>
              <a:t>InfoTI_unpam</a:t>
            </a:r>
            <a:endParaRPr lang="en-ID" sz="13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0CFA357-EB7B-4C90-B08D-FF68109B966A}"/>
              </a:ext>
            </a:extLst>
          </p:cNvPr>
          <p:cNvSpPr txBox="1"/>
          <p:nvPr/>
        </p:nvSpPr>
        <p:spPr>
          <a:xfrm>
            <a:off x="1895542" y="6412026"/>
            <a:ext cx="20233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informatika.unpam.ac.id</a:t>
            </a:r>
            <a:endParaRPr lang="en-ID" sz="13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C10FF8DC-21DB-400A-A27F-9751868D2A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997" y="6412027"/>
            <a:ext cx="48627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70E9772E-AF4F-4C17-B477-D78352308CB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692" y="6366986"/>
            <a:ext cx="384305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95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7710A05-4BC0-4640-9166-A8A038BAD88C}"/>
              </a:ext>
            </a:extLst>
          </p:cNvPr>
          <p:cNvSpPr txBox="1"/>
          <p:nvPr/>
        </p:nvSpPr>
        <p:spPr>
          <a:xfrm>
            <a:off x="2924071" y="2622620"/>
            <a:ext cx="3896249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dirty="0"/>
              <a:t>TERIMA KASIH</a:t>
            </a:r>
            <a:endParaRPr lang="en-ID" sz="4050" dirty="0"/>
          </a:p>
        </p:txBody>
      </p:sp>
    </p:spTree>
    <p:extLst>
      <p:ext uri="{BB962C8B-B14F-4D97-AF65-F5344CB8AC3E}">
        <p14:creationId xmlns:p14="http://schemas.microsoft.com/office/powerpoint/2010/main" val="380173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xmlns="" id="{38F377F8-55ED-4437-98B9-2D2AA5DD3B4A}"/>
              </a:ext>
            </a:extLst>
          </p:cNvPr>
          <p:cNvSpPr/>
          <p:nvPr/>
        </p:nvSpPr>
        <p:spPr>
          <a:xfrm>
            <a:off x="0" y="2582427"/>
            <a:ext cx="9144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TERIMA KASIH, MAHASISWA TEKNIK INFORMATIKA UNGGUL, ANDA SUDAH BELAJAR DENGAN LUAR BIASA</a:t>
            </a:r>
            <a:endParaRPr lang="en-ID" sz="1350" dirty="0"/>
          </a:p>
        </p:txBody>
      </p:sp>
    </p:spTree>
    <p:extLst>
      <p:ext uri="{BB962C8B-B14F-4D97-AF65-F5344CB8AC3E}">
        <p14:creationId xmlns:p14="http://schemas.microsoft.com/office/powerpoint/2010/main" val="107653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65A30DD-8BE8-42A1-85CC-D069AF516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057400"/>
            <a:ext cx="36576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xmlns="" id="{38F377F8-55ED-4437-98B9-2D2AA5DD3B4A}"/>
              </a:ext>
            </a:extLst>
          </p:cNvPr>
          <p:cNvSpPr/>
          <p:nvPr/>
        </p:nvSpPr>
        <p:spPr>
          <a:xfrm>
            <a:off x="0" y="1"/>
            <a:ext cx="9144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TERIMA KASIH, MAHASISWA TEKNIK INFORMATIKA UNGGUL, ANDA SUDAH BELAJAR DENGAN LUAR BIASA</a:t>
            </a:r>
            <a:endParaRPr lang="en-ID" sz="1350" dirty="0"/>
          </a:p>
        </p:txBody>
      </p:sp>
    </p:spTree>
    <p:extLst>
      <p:ext uri="{BB962C8B-B14F-4D97-AF65-F5344CB8AC3E}">
        <p14:creationId xmlns:p14="http://schemas.microsoft.com/office/powerpoint/2010/main" val="1999139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xmlns="" id="{73922ECC-A830-4C03-9B45-AEB8C3D2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D" dirty="0"/>
          </a:p>
        </p:txBody>
      </p:sp>
      <p:sp>
        <p:nvSpPr>
          <p:cNvPr id="35" name="Title Placeholder 34">
            <a:extLst>
              <a:ext uri="{FF2B5EF4-FFF2-40B4-BE49-F238E27FC236}">
                <a16:creationId xmlns:a16="http://schemas.microsoft.com/office/drawing/2014/main" xmlns="" id="{862CBB9D-7640-4DCE-8E7A-C98B9F67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58209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/>
        </p:nvSpPr>
        <p:spPr>
          <a:xfrm>
            <a:off x="0" y="1"/>
            <a:ext cx="9144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1" y="38925"/>
            <a:ext cx="83946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456D31B-DA89-4FCC-A0CF-973CBA8BD493}"/>
              </a:ext>
            </a:extLst>
          </p:cNvPr>
          <p:cNvSpPr txBox="1"/>
          <p:nvPr/>
        </p:nvSpPr>
        <p:spPr>
          <a:xfrm>
            <a:off x="914194" y="166671"/>
            <a:ext cx="4414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PROGRAM STUDI S1 TEKNIK INFORMATIKA</a:t>
            </a:r>
            <a:br>
              <a:rPr lang="en-US" sz="1800" dirty="0"/>
            </a:br>
            <a:r>
              <a:rPr lang="en-US" sz="1800" dirty="0"/>
              <a:t>UNIVERSITAS PAMULANG</a:t>
            </a:r>
            <a:endParaRPr lang="en-ID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960A43D-3921-41B8-B4DC-C239EAEA84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264" y="0"/>
            <a:ext cx="1607736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xmlns="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232988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4060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67122B0-D188-4F1B-9170-48FB515F7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646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254048" y="2658236"/>
            <a:ext cx="62947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b="1" spc="-15" dirty="0">
                <a:solidFill>
                  <a:srgbClr val="FFCC66"/>
                </a:solidFill>
                <a:latin typeface="Arial"/>
                <a:cs typeface="Arial"/>
              </a:rPr>
              <a:t>PEMANFAATAN</a:t>
            </a:r>
            <a:r>
              <a:rPr sz="3600" b="1" spc="15" dirty="0">
                <a:solidFill>
                  <a:srgbClr val="FFCC66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CC66"/>
                </a:solidFill>
                <a:latin typeface="Arial"/>
                <a:cs typeface="Arial"/>
              </a:rPr>
              <a:t>KOMPUTER </a:t>
            </a:r>
            <a:r>
              <a:rPr sz="3600" b="1" spc="-985" dirty="0">
                <a:solidFill>
                  <a:srgbClr val="FFCC66"/>
                </a:solidFill>
                <a:latin typeface="Arial"/>
                <a:cs typeface="Arial"/>
              </a:rPr>
              <a:t> </a:t>
            </a:r>
            <a:r>
              <a:rPr sz="3600" b="1" spc="-25" dirty="0">
                <a:solidFill>
                  <a:srgbClr val="FFCC66"/>
                </a:solidFill>
                <a:latin typeface="Arial"/>
                <a:cs typeface="Arial"/>
              </a:rPr>
              <a:t>DALAM</a:t>
            </a:r>
            <a:r>
              <a:rPr sz="3600" b="1" spc="50" dirty="0">
                <a:solidFill>
                  <a:srgbClr val="FFCC66"/>
                </a:solidFill>
                <a:latin typeface="Arial"/>
                <a:cs typeface="Arial"/>
              </a:rPr>
              <a:t> </a:t>
            </a:r>
            <a:r>
              <a:rPr sz="3600" b="1" spc="-15" dirty="0">
                <a:solidFill>
                  <a:srgbClr val="FFCC66"/>
                </a:solidFill>
                <a:latin typeface="Arial"/>
                <a:cs typeface="Arial"/>
              </a:rPr>
              <a:t>BERBAGAI</a:t>
            </a:r>
            <a:r>
              <a:rPr sz="3600" b="1" spc="55" dirty="0">
                <a:solidFill>
                  <a:srgbClr val="FFCC66"/>
                </a:solidFill>
                <a:latin typeface="Arial"/>
                <a:cs typeface="Arial"/>
              </a:rPr>
              <a:t> </a:t>
            </a:r>
            <a:r>
              <a:rPr sz="3600" b="1" spc="-15" dirty="0">
                <a:solidFill>
                  <a:srgbClr val="FFCC66"/>
                </a:solidFill>
                <a:latin typeface="Arial"/>
                <a:cs typeface="Arial"/>
              </a:rPr>
              <a:t>BIDANG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2544" y="1442466"/>
            <a:ext cx="129222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MT"/>
                <a:cs typeface="Arial MT"/>
              </a:rPr>
              <a:t>Modul</a:t>
            </a:r>
            <a:r>
              <a:rPr sz="2800" u="heavy" spc="-9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MT"/>
                <a:cs typeface="Arial MT"/>
              </a:rPr>
              <a:t> </a:t>
            </a:r>
            <a:r>
              <a:rPr sz="2800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MT"/>
                <a:cs typeface="Arial MT"/>
              </a:rPr>
              <a:t>3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77646" y="1343990"/>
            <a:ext cx="240347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5" dirty="0"/>
              <a:t>AGEN</a:t>
            </a:r>
            <a:r>
              <a:rPr spc="15" dirty="0"/>
              <a:t>D</a:t>
            </a:r>
            <a:r>
              <a:rPr spc="5" dirty="0"/>
              <a:t>A: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4846" y="2690733"/>
            <a:ext cx="7211695" cy="178181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591820" indent="-579755">
              <a:lnSpc>
                <a:spcPct val="100000"/>
              </a:lnSpc>
              <a:spcBef>
                <a:spcPts val="869"/>
              </a:spcBef>
              <a:buClr>
                <a:srgbClr val="99FFCC"/>
              </a:buClr>
              <a:buFont typeface="Wingdings"/>
              <a:buChar char=""/>
              <a:tabLst>
                <a:tab pos="591820" algn="l"/>
                <a:tab pos="592455" algn="l"/>
              </a:tabLst>
            </a:pPr>
            <a:r>
              <a:rPr sz="3200" spc="-10" dirty="0">
                <a:solidFill>
                  <a:srgbClr val="FFCC66"/>
                </a:solidFill>
                <a:latin typeface="Arial MT"/>
                <a:cs typeface="Arial MT"/>
              </a:rPr>
              <a:t>KOMPUTER</a:t>
            </a:r>
            <a:r>
              <a:rPr sz="3200" spc="5" dirty="0">
                <a:solidFill>
                  <a:srgbClr val="FFCC66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CC66"/>
                </a:solidFill>
                <a:latin typeface="Arial MT"/>
                <a:cs typeface="Arial MT"/>
              </a:rPr>
              <a:t>DAN</a:t>
            </a:r>
            <a:r>
              <a:rPr sz="3200" spc="-15" dirty="0">
                <a:solidFill>
                  <a:srgbClr val="FFCC66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CC66"/>
                </a:solidFill>
                <a:latin typeface="Arial MT"/>
                <a:cs typeface="Arial MT"/>
              </a:rPr>
              <a:t>PENDIDIKAN</a:t>
            </a:r>
            <a:endParaRPr sz="3200">
              <a:latin typeface="Arial MT"/>
              <a:cs typeface="Arial MT"/>
            </a:endParaRPr>
          </a:p>
          <a:p>
            <a:pPr marL="591820" indent="-579755">
              <a:lnSpc>
                <a:spcPct val="100000"/>
              </a:lnSpc>
              <a:spcBef>
                <a:spcPts val="770"/>
              </a:spcBef>
              <a:buClr>
                <a:srgbClr val="99FFCC"/>
              </a:buClr>
              <a:buFont typeface="Wingdings"/>
              <a:buChar char=""/>
              <a:tabLst>
                <a:tab pos="591820" algn="l"/>
                <a:tab pos="592455" algn="l"/>
              </a:tabLst>
            </a:pPr>
            <a:r>
              <a:rPr sz="3200" spc="-10" dirty="0">
                <a:solidFill>
                  <a:srgbClr val="FFCC66"/>
                </a:solidFill>
                <a:latin typeface="Arial MT"/>
                <a:cs typeface="Arial MT"/>
              </a:rPr>
              <a:t>KOMPUTER</a:t>
            </a:r>
            <a:r>
              <a:rPr sz="3200" spc="5" dirty="0">
                <a:solidFill>
                  <a:srgbClr val="FFCC66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CC66"/>
                </a:solidFill>
                <a:latin typeface="Arial MT"/>
                <a:cs typeface="Arial MT"/>
              </a:rPr>
              <a:t>DAN</a:t>
            </a:r>
            <a:r>
              <a:rPr sz="3200" spc="-15" dirty="0">
                <a:solidFill>
                  <a:srgbClr val="FFCC66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CC66"/>
                </a:solidFill>
                <a:latin typeface="Arial MT"/>
                <a:cs typeface="Arial MT"/>
              </a:rPr>
              <a:t>DUNIA</a:t>
            </a:r>
            <a:r>
              <a:rPr sz="3200" spc="30" dirty="0">
                <a:solidFill>
                  <a:srgbClr val="FFCC66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CC66"/>
                </a:solidFill>
                <a:latin typeface="Arial MT"/>
                <a:cs typeface="Arial MT"/>
              </a:rPr>
              <a:t>USAHA</a:t>
            </a:r>
            <a:endParaRPr sz="3200">
              <a:latin typeface="Arial MT"/>
              <a:cs typeface="Arial MT"/>
            </a:endParaRPr>
          </a:p>
          <a:p>
            <a:pPr marL="591820" indent="-579755">
              <a:lnSpc>
                <a:spcPct val="100000"/>
              </a:lnSpc>
              <a:spcBef>
                <a:spcPts val="770"/>
              </a:spcBef>
              <a:buClr>
                <a:srgbClr val="99FFCC"/>
              </a:buClr>
              <a:buFont typeface="Wingdings"/>
              <a:buChar char=""/>
              <a:tabLst>
                <a:tab pos="591820" algn="l"/>
                <a:tab pos="592455" algn="l"/>
              </a:tabLst>
            </a:pPr>
            <a:r>
              <a:rPr sz="3200" spc="-10" dirty="0">
                <a:solidFill>
                  <a:srgbClr val="FFCC66"/>
                </a:solidFill>
                <a:latin typeface="Arial MT"/>
                <a:cs typeface="Arial MT"/>
              </a:rPr>
              <a:t>KOMPUTER</a:t>
            </a:r>
            <a:r>
              <a:rPr sz="3200" spc="5" dirty="0">
                <a:solidFill>
                  <a:srgbClr val="FFCC66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CC66"/>
                </a:solidFill>
                <a:latin typeface="Arial MT"/>
                <a:cs typeface="Arial MT"/>
              </a:rPr>
              <a:t>DAN</a:t>
            </a:r>
            <a:r>
              <a:rPr sz="3200" spc="-25" dirty="0">
                <a:solidFill>
                  <a:srgbClr val="FFCC66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CC66"/>
                </a:solidFill>
                <a:latin typeface="Arial MT"/>
                <a:cs typeface="Arial MT"/>
              </a:rPr>
              <a:t>PEMERINTAHAN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023619" y="1057783"/>
            <a:ext cx="6304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" dirty="0"/>
              <a:t>APA</a:t>
            </a:r>
            <a:r>
              <a:rPr sz="3600" spc="25" dirty="0"/>
              <a:t> </a:t>
            </a:r>
            <a:r>
              <a:rPr sz="3600" spc="-25" dirty="0"/>
              <a:t>YANG</a:t>
            </a:r>
            <a:r>
              <a:rPr sz="3600" spc="85" dirty="0"/>
              <a:t> </a:t>
            </a:r>
            <a:r>
              <a:rPr sz="3600" spc="-30" dirty="0"/>
              <a:t>ANDA</a:t>
            </a:r>
            <a:r>
              <a:rPr sz="3600" spc="55" dirty="0"/>
              <a:t> </a:t>
            </a:r>
            <a:r>
              <a:rPr sz="3600" spc="-15" dirty="0"/>
              <a:t>KETAHUI?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012647" y="2076997"/>
            <a:ext cx="7362825" cy="244602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3600" spc="-10" dirty="0">
                <a:latin typeface="Arial MT"/>
                <a:cs typeface="Arial MT"/>
              </a:rPr>
              <a:t>Bagaimana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komputer</a:t>
            </a:r>
            <a:r>
              <a:rPr sz="3600" spc="1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diterapkan</a:t>
            </a:r>
            <a:r>
              <a:rPr sz="3600" spc="1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di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:</a:t>
            </a:r>
          </a:p>
          <a:p>
            <a:pPr marL="704215" indent="-576580">
              <a:lnSpc>
                <a:spcPct val="100000"/>
              </a:lnSpc>
              <a:spcBef>
                <a:spcPts val="785"/>
              </a:spcBef>
              <a:buAutoNum type="arabicPeriod"/>
              <a:tabLst>
                <a:tab pos="704215" algn="l"/>
                <a:tab pos="704850" algn="l"/>
              </a:tabLst>
            </a:pPr>
            <a:r>
              <a:rPr sz="3200" spc="-5" dirty="0">
                <a:latin typeface="Arial MT"/>
                <a:cs typeface="Arial MT"/>
              </a:rPr>
              <a:t>dunia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pendidikan</a:t>
            </a:r>
            <a:endParaRPr sz="3200" dirty="0">
              <a:latin typeface="Arial MT"/>
              <a:cs typeface="Arial MT"/>
            </a:endParaRPr>
          </a:p>
          <a:p>
            <a:pPr marL="704215" indent="-57658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704215" algn="l"/>
                <a:tab pos="704850" algn="l"/>
              </a:tabLst>
            </a:pPr>
            <a:r>
              <a:rPr sz="3200" spc="-5" dirty="0">
                <a:latin typeface="Arial MT"/>
                <a:cs typeface="Arial MT"/>
              </a:rPr>
              <a:t>dunia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Bisnis</a:t>
            </a:r>
          </a:p>
          <a:p>
            <a:pPr marL="704215" indent="-57658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704215" algn="l"/>
                <a:tab pos="704850" algn="l"/>
              </a:tabLst>
            </a:pPr>
            <a:r>
              <a:rPr sz="3200" spc="-5" dirty="0">
                <a:latin typeface="Arial MT"/>
                <a:cs typeface="Arial MT"/>
              </a:rPr>
              <a:t>pemerintahan</a:t>
            </a:r>
            <a:endParaRPr sz="3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0398" y="2185049"/>
            <a:ext cx="4942205" cy="1490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pc="5" dirty="0"/>
              <a:t>KOMPUTER </a:t>
            </a:r>
            <a:r>
              <a:rPr spc="10" dirty="0"/>
              <a:t>DAN </a:t>
            </a:r>
            <a:r>
              <a:rPr spc="15" dirty="0"/>
              <a:t> </a:t>
            </a:r>
            <a:r>
              <a:rPr spc="5" dirty="0"/>
              <a:t>DUNIA</a:t>
            </a:r>
            <a:r>
              <a:rPr spc="-150" dirty="0"/>
              <a:t> </a:t>
            </a:r>
            <a:r>
              <a:rPr spc="5" dirty="0"/>
              <a:t>PENDIDIKAN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0811" y="228600"/>
            <a:ext cx="7886700" cy="13255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Aplikasi</a:t>
            </a:r>
            <a:r>
              <a:rPr spc="-95" dirty="0"/>
              <a:t> </a:t>
            </a:r>
            <a:r>
              <a:rPr spc="5" dirty="0"/>
              <a:t>Non</a:t>
            </a:r>
            <a:r>
              <a:rPr spc="-50" dirty="0"/>
              <a:t> </a:t>
            </a:r>
            <a:r>
              <a:rPr dirty="0"/>
              <a:t>Pengajaran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4941" y="1383003"/>
            <a:ext cx="7862570" cy="500824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800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800" b="1" spc="-5" dirty="0">
                <a:latin typeface="Arial"/>
                <a:cs typeface="Arial"/>
              </a:rPr>
              <a:t>CBE</a:t>
            </a:r>
            <a:r>
              <a:rPr sz="2800" b="1" spc="-3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(Computer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Based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Education)</a:t>
            </a:r>
            <a:endParaRPr sz="2800" dirty="0">
              <a:latin typeface="Arial"/>
              <a:cs typeface="Arial"/>
            </a:endParaRPr>
          </a:p>
          <a:p>
            <a:pPr marL="759460" marR="5080" lvl="1" indent="-289560" algn="just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760095" algn="l"/>
              </a:tabLst>
            </a:pPr>
            <a:r>
              <a:rPr sz="2400" dirty="0">
                <a:latin typeface="Arial MT"/>
                <a:cs typeface="Arial MT"/>
              </a:rPr>
              <a:t>Bersifat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menyeluruh,</a:t>
            </a:r>
            <a:r>
              <a:rPr sz="2400" dirty="0">
                <a:latin typeface="Arial MT"/>
                <a:cs typeface="Arial MT"/>
              </a:rPr>
              <a:t> semua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aplikasi</a:t>
            </a:r>
            <a:r>
              <a:rPr sz="2400" spc="67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komputer </a:t>
            </a:r>
            <a:r>
              <a:rPr sz="2400" dirty="0">
                <a:latin typeface="Arial MT"/>
                <a:cs typeface="Arial MT"/>
              </a:rPr>
              <a:t> dalam pendidikan </a:t>
            </a:r>
            <a:r>
              <a:rPr sz="2400" spc="-5" dirty="0">
                <a:latin typeface="Arial MT"/>
                <a:cs typeface="Arial MT"/>
              </a:rPr>
              <a:t>dapat </a:t>
            </a:r>
            <a:r>
              <a:rPr sz="2400" dirty="0">
                <a:latin typeface="Arial MT"/>
                <a:cs typeface="Arial MT"/>
              </a:rPr>
              <a:t>dikategorikan </a:t>
            </a:r>
            <a:r>
              <a:rPr sz="2400" spc="-5" dirty="0">
                <a:latin typeface="Arial MT"/>
                <a:cs typeface="Arial MT"/>
              </a:rPr>
              <a:t>dalam bidang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ini.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CBE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juga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digunakan</a:t>
            </a:r>
            <a:r>
              <a:rPr sz="2400" dirty="0">
                <a:latin typeface="Arial MT"/>
                <a:cs typeface="Arial MT"/>
              </a:rPr>
              <a:t> untuk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aplikasi-aplikasi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b="1" i="1" dirty="0">
                <a:latin typeface="Arial"/>
                <a:cs typeface="Arial"/>
              </a:rPr>
              <a:t>bukan</a:t>
            </a:r>
            <a:r>
              <a:rPr sz="2400" b="1" i="1" spc="5" dirty="0">
                <a:latin typeface="Arial"/>
                <a:cs typeface="Arial"/>
              </a:rPr>
              <a:t> </a:t>
            </a:r>
            <a:r>
              <a:rPr sz="2400" b="1" i="1" spc="-5" dirty="0">
                <a:latin typeface="Arial"/>
                <a:cs typeface="Arial"/>
              </a:rPr>
              <a:t>pengajaran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yang</a:t>
            </a:r>
            <a:r>
              <a:rPr sz="2400" dirty="0">
                <a:latin typeface="Arial MT"/>
                <a:cs typeface="Arial MT"/>
              </a:rPr>
              <a:t> menunjang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pendidikan,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seperti: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mengolah</a:t>
            </a:r>
            <a:r>
              <a:rPr sz="2400" dirty="0">
                <a:latin typeface="Arial MT"/>
                <a:cs typeface="Arial MT"/>
              </a:rPr>
              <a:t> data,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mencatat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kehadiran </a:t>
            </a:r>
            <a:r>
              <a:rPr sz="2400" dirty="0">
                <a:latin typeface="Arial MT"/>
                <a:cs typeface="Arial MT"/>
              </a:rPr>
              <a:t> pengajar </a:t>
            </a:r>
            <a:r>
              <a:rPr sz="2400" spc="5" dirty="0">
                <a:latin typeface="Arial MT"/>
                <a:cs typeface="Arial MT"/>
              </a:rPr>
              <a:t>dan </a:t>
            </a:r>
            <a:r>
              <a:rPr sz="2400" spc="-5" dirty="0">
                <a:latin typeface="Arial MT"/>
                <a:cs typeface="Arial MT"/>
              </a:rPr>
              <a:t>siswa, </a:t>
            </a:r>
            <a:r>
              <a:rPr sz="2400" dirty="0">
                <a:latin typeface="Arial MT"/>
                <a:cs typeface="Arial MT"/>
              </a:rPr>
              <a:t>menyimpan </a:t>
            </a:r>
            <a:r>
              <a:rPr sz="2400" spc="-5" dirty="0">
                <a:latin typeface="Arial MT"/>
                <a:cs typeface="Arial MT"/>
              </a:rPr>
              <a:t>arsip data </a:t>
            </a:r>
            <a:r>
              <a:rPr sz="2400" dirty="0">
                <a:latin typeface="Arial MT"/>
                <a:cs typeface="Arial MT"/>
              </a:rPr>
              <a:t>pribadi,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dll.</a:t>
            </a:r>
            <a:endParaRPr sz="2400" dirty="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665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800" b="1" spc="-30" dirty="0">
                <a:latin typeface="Arial"/>
                <a:cs typeface="Arial"/>
              </a:rPr>
              <a:t>CAT</a:t>
            </a:r>
            <a:r>
              <a:rPr sz="2800" b="1" spc="2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(Computer</a:t>
            </a:r>
            <a:r>
              <a:rPr sz="2800" b="1" spc="-5" dirty="0">
                <a:latin typeface="Arial"/>
                <a:cs typeface="Arial"/>
              </a:rPr>
              <a:t> Assisted</a:t>
            </a:r>
            <a:r>
              <a:rPr sz="2800" b="1" spc="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Testing)</a:t>
            </a:r>
            <a:endParaRPr sz="2800" dirty="0">
              <a:latin typeface="Arial"/>
              <a:cs typeface="Arial"/>
            </a:endParaRPr>
          </a:p>
          <a:p>
            <a:pPr marL="759460" lvl="1" indent="-290195">
              <a:lnSpc>
                <a:spcPct val="100000"/>
              </a:lnSpc>
              <a:spcBef>
                <a:spcPts val="590"/>
              </a:spcBef>
              <a:buFont typeface="Wingdings"/>
              <a:buChar char=""/>
              <a:tabLst>
                <a:tab pos="759460" algn="l"/>
                <a:tab pos="760095" algn="l"/>
              </a:tabLst>
            </a:pPr>
            <a:r>
              <a:rPr sz="2400" spc="-5" dirty="0">
                <a:latin typeface="Arial MT"/>
                <a:cs typeface="Arial MT"/>
              </a:rPr>
              <a:t>Ujian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berbantuan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komputer</a:t>
            </a:r>
            <a:endParaRPr sz="2400" dirty="0">
              <a:latin typeface="Arial MT"/>
              <a:cs typeface="Arial MT"/>
            </a:endParaRPr>
          </a:p>
          <a:p>
            <a:pPr marL="759460" lvl="1" indent="-29019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759460" algn="l"/>
                <a:tab pos="760095" algn="l"/>
              </a:tabLst>
            </a:pPr>
            <a:r>
              <a:rPr sz="2400" dirty="0">
                <a:latin typeface="Arial MT"/>
                <a:cs typeface="Arial MT"/>
              </a:rPr>
              <a:t>Sebagai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pengganti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kertas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ujian</a:t>
            </a:r>
            <a:endParaRPr sz="2400" dirty="0">
              <a:latin typeface="Arial MT"/>
              <a:cs typeface="Arial MT"/>
            </a:endParaRPr>
          </a:p>
          <a:p>
            <a:pPr marL="759460" lvl="1" indent="-29019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759460" algn="l"/>
                <a:tab pos="760095" algn="l"/>
              </a:tabLst>
            </a:pPr>
            <a:r>
              <a:rPr sz="2400" dirty="0">
                <a:latin typeface="Arial MT"/>
                <a:cs typeface="Arial MT"/>
              </a:rPr>
              <a:t>Tanya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jawab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interaktif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2000" y="929425"/>
            <a:ext cx="648335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10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800" b="1" spc="-30" dirty="0">
                <a:latin typeface="Arial"/>
                <a:cs typeface="Arial"/>
              </a:rPr>
              <a:t>CAG</a:t>
            </a:r>
            <a:r>
              <a:rPr sz="2800" b="1" spc="4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(Computer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Assisted</a:t>
            </a:r>
            <a:r>
              <a:rPr sz="2800" b="1" spc="3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Guidance)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06920" y="1974037"/>
            <a:ext cx="95694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s</a:t>
            </a:r>
            <a:r>
              <a:rPr sz="2400" spc="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r</a:t>
            </a:r>
            <a:r>
              <a:rPr sz="2400" spc="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4399" y="1974037"/>
            <a:ext cx="17005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60045" algn="l"/>
                <a:tab pos="360680" algn="l"/>
              </a:tabLst>
            </a:pPr>
            <a:r>
              <a:rPr sz="2400" dirty="0">
                <a:latin typeface="Arial MT"/>
                <a:cs typeface="Arial MT"/>
              </a:rPr>
              <a:t>Komputer</a:t>
            </a:r>
          </a:p>
          <a:p>
            <a:pPr marL="360045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mencari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280409" y="1974037"/>
            <a:ext cx="30048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  <a:tabLst>
                <a:tab pos="1920875" algn="l"/>
              </a:tabLst>
            </a:pPr>
            <a:r>
              <a:rPr sz="2400" spc="5" dirty="0">
                <a:latin typeface="Arial MT"/>
                <a:cs typeface="Arial MT"/>
              </a:rPr>
              <a:t>d</a:t>
            </a:r>
            <a:r>
              <a:rPr sz="2400" dirty="0">
                <a:latin typeface="Arial MT"/>
                <a:cs typeface="Arial MT"/>
              </a:rPr>
              <a:t>i</a:t>
            </a:r>
            <a:r>
              <a:rPr sz="2400" spc="-20" dirty="0">
                <a:latin typeface="Arial MT"/>
                <a:cs typeface="Arial MT"/>
              </a:rPr>
              <a:t>g</a:t>
            </a:r>
            <a:r>
              <a:rPr sz="2400" spc="5" dirty="0">
                <a:latin typeface="Arial MT"/>
                <a:cs typeface="Arial MT"/>
              </a:rPr>
              <a:t>una</a:t>
            </a:r>
            <a:r>
              <a:rPr sz="2400" dirty="0">
                <a:latin typeface="Arial MT"/>
                <a:cs typeface="Arial MT"/>
              </a:rPr>
              <a:t>k</a:t>
            </a:r>
            <a:r>
              <a:rPr sz="2400" spc="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n	s</a:t>
            </a:r>
            <a:r>
              <a:rPr sz="2400" spc="5" dirty="0">
                <a:latin typeface="Arial MT"/>
                <a:cs typeface="Arial MT"/>
              </a:rPr>
              <a:t>eba</a:t>
            </a:r>
            <a:r>
              <a:rPr sz="2400" spc="-15" dirty="0">
                <a:latin typeface="Arial MT"/>
                <a:cs typeface="Arial MT"/>
              </a:rPr>
              <a:t>g</a:t>
            </a:r>
            <a:r>
              <a:rPr sz="2400" spc="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i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1683385" algn="l"/>
              </a:tabLst>
            </a:pPr>
            <a:r>
              <a:rPr sz="2400" spc="-5" dirty="0">
                <a:latin typeface="Arial MT"/>
                <a:cs typeface="Arial MT"/>
              </a:rPr>
              <a:t>informasi	yang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42786" y="2340102"/>
            <a:ext cx="1435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d</a:t>
            </a:r>
            <a:r>
              <a:rPr sz="2400" spc="-5" dirty="0">
                <a:latin typeface="Arial MT"/>
                <a:cs typeface="Arial MT"/>
              </a:rPr>
              <a:t>ip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-5" dirty="0">
                <a:latin typeface="Arial MT"/>
                <a:cs typeface="Arial MT"/>
              </a:rPr>
              <a:t>r</a:t>
            </a:r>
            <a:r>
              <a:rPr sz="2400" spc="-20" dirty="0">
                <a:latin typeface="Arial MT"/>
                <a:cs typeface="Arial MT"/>
              </a:rPr>
              <a:t>l</a:t>
            </a:r>
            <a:r>
              <a:rPr sz="2400" dirty="0">
                <a:latin typeface="Arial MT"/>
                <a:cs typeface="Arial MT"/>
              </a:rPr>
              <a:t>u</a:t>
            </a:r>
            <a:r>
              <a:rPr sz="2400" spc="-5" dirty="0">
                <a:latin typeface="Arial MT"/>
                <a:cs typeface="Arial MT"/>
              </a:rPr>
              <a:t>k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81366" y="1974037"/>
            <a:ext cx="7727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latin typeface="Arial MT"/>
                <a:cs typeface="Arial MT"/>
              </a:rPr>
              <a:t>un</a:t>
            </a:r>
            <a:r>
              <a:rPr sz="2400" dirty="0">
                <a:latin typeface="Arial MT"/>
                <a:cs typeface="Arial MT"/>
              </a:rPr>
              <a:t>t</a:t>
            </a:r>
            <a:r>
              <a:rPr sz="2400" spc="-10" dirty="0">
                <a:latin typeface="Arial MT"/>
                <a:cs typeface="Arial MT"/>
              </a:rPr>
              <a:t>u</a:t>
            </a:r>
            <a:r>
              <a:rPr sz="2400" dirty="0">
                <a:latin typeface="Arial MT"/>
                <a:cs typeface="Arial MT"/>
              </a:rPr>
              <a:t>k</a:t>
            </a:r>
            <a:endParaRPr sz="2400">
              <a:latin typeface="Arial MT"/>
              <a:cs typeface="Arial MT"/>
            </a:endParaRPr>
          </a:p>
          <a:p>
            <a:pPr marL="1524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u</a:t>
            </a:r>
            <a:r>
              <a:rPr sz="2400" spc="-20" dirty="0">
                <a:latin typeface="Arial MT"/>
                <a:cs typeface="Arial MT"/>
              </a:rPr>
              <a:t>n</a:t>
            </a:r>
            <a:r>
              <a:rPr sz="2400" dirty="0">
                <a:latin typeface="Arial MT"/>
                <a:cs typeface="Arial MT"/>
              </a:rPr>
              <a:t>t</a:t>
            </a:r>
            <a:r>
              <a:rPr sz="2400" spc="-10" dirty="0">
                <a:latin typeface="Arial MT"/>
                <a:cs typeface="Arial MT"/>
              </a:rPr>
              <a:t>u</a:t>
            </a:r>
            <a:r>
              <a:rPr sz="2400" dirty="0">
                <a:latin typeface="Arial MT"/>
                <a:cs typeface="Arial MT"/>
              </a:rPr>
              <a:t>k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1606600"/>
            <a:ext cx="788670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Aplikasi</a:t>
            </a:r>
            <a:r>
              <a:rPr spc="-85" dirty="0"/>
              <a:t> </a:t>
            </a:r>
            <a:r>
              <a:rPr spc="5" dirty="0"/>
              <a:t>Non</a:t>
            </a:r>
            <a:r>
              <a:rPr spc="-35" dirty="0"/>
              <a:t> </a:t>
            </a:r>
            <a:r>
              <a:rPr dirty="0"/>
              <a:t>Pengajaran</a:t>
            </a:r>
            <a:r>
              <a:rPr spc="-65" dirty="0"/>
              <a:t> </a:t>
            </a:r>
            <a:r>
              <a:rPr dirty="0"/>
              <a:t>(2)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56868" y="2632646"/>
            <a:ext cx="7697470" cy="368490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817244" algn="just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latin typeface="Arial MT"/>
                <a:cs typeface="Arial MT"/>
              </a:rPr>
              <a:t>memberikan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pengarahan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kepada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pemakai.</a:t>
            </a:r>
          </a:p>
          <a:p>
            <a:pPr marL="817244" marR="5080" indent="-347980" algn="just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817880" algn="l"/>
              </a:tabLst>
            </a:pPr>
            <a:r>
              <a:rPr sz="2400" dirty="0">
                <a:latin typeface="Arial MT"/>
                <a:cs typeface="Arial MT"/>
              </a:rPr>
              <a:t>Informasi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yang</a:t>
            </a:r>
            <a:r>
              <a:rPr sz="2400" dirty="0">
                <a:latin typeface="Arial MT"/>
                <a:cs typeface="Arial MT"/>
              </a:rPr>
              <a:t> diperoleh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tidak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meningkatkan </a:t>
            </a:r>
            <a:r>
              <a:rPr sz="2400" dirty="0">
                <a:latin typeface="Arial MT"/>
                <a:cs typeface="Arial MT"/>
              </a:rPr>
              <a:t> keahlian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pemakai </a:t>
            </a:r>
            <a:r>
              <a:rPr sz="2400" spc="-5" dirty="0">
                <a:latin typeface="Arial MT"/>
                <a:cs typeface="Arial MT"/>
              </a:rPr>
              <a:t>secara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langsung,</a:t>
            </a:r>
            <a:r>
              <a:rPr sz="2400" dirty="0">
                <a:latin typeface="Arial MT"/>
                <a:cs typeface="Arial MT"/>
              </a:rPr>
              <a:t> tetapi </a:t>
            </a:r>
            <a:r>
              <a:rPr sz="2400" spc="-5" dirty="0">
                <a:latin typeface="Arial MT"/>
                <a:cs typeface="Arial MT"/>
              </a:rPr>
              <a:t>dapat </a:t>
            </a:r>
            <a:r>
              <a:rPr sz="2400" dirty="0">
                <a:latin typeface="Arial MT"/>
                <a:cs typeface="Arial MT"/>
              </a:rPr>
              <a:t> membantu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pemakai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dalam</a:t>
            </a:r>
            <a:r>
              <a:rPr sz="2400" dirty="0">
                <a:latin typeface="Arial MT"/>
                <a:cs typeface="Arial MT"/>
              </a:rPr>
              <a:t> mengambil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keputusan-keputusan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tertentu.</a:t>
            </a:r>
          </a:p>
          <a:p>
            <a:pPr marL="356870" indent="-344805">
              <a:lnSpc>
                <a:spcPct val="100000"/>
              </a:lnSpc>
              <a:spcBef>
                <a:spcPts val="660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800" b="1" spc="10" dirty="0">
                <a:latin typeface="Arial"/>
                <a:cs typeface="Arial"/>
              </a:rPr>
              <a:t>CMI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(Computer</a:t>
            </a:r>
            <a:r>
              <a:rPr sz="2800" b="1" spc="10" dirty="0">
                <a:latin typeface="Arial"/>
                <a:cs typeface="Arial"/>
              </a:rPr>
              <a:t> </a:t>
            </a:r>
            <a:r>
              <a:rPr sz="2800" b="1" spc="5" dirty="0">
                <a:latin typeface="Arial"/>
                <a:cs typeface="Arial"/>
              </a:rPr>
              <a:t>Managed</a:t>
            </a:r>
            <a:r>
              <a:rPr sz="2800" b="1" spc="-3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Instruction)</a:t>
            </a:r>
            <a:endParaRPr sz="2800" dirty="0">
              <a:latin typeface="Arial"/>
              <a:cs typeface="Arial"/>
            </a:endParaRPr>
          </a:p>
          <a:p>
            <a:pPr marL="817244" marR="5080" lvl="1" indent="-347980" algn="just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817880" algn="l"/>
              </a:tabLst>
            </a:pPr>
            <a:r>
              <a:rPr sz="2400" dirty="0">
                <a:latin typeface="Arial MT"/>
                <a:cs typeface="Arial MT"/>
              </a:rPr>
              <a:t>Komputer digunakan untuk merencanakan </a:t>
            </a:r>
            <a:r>
              <a:rPr sz="2400" spc="-5" dirty="0">
                <a:latin typeface="Arial MT"/>
                <a:cs typeface="Arial MT"/>
              </a:rPr>
              <a:t>kuliah,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dan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dapat</a:t>
            </a:r>
            <a:r>
              <a:rPr sz="2400" dirty="0">
                <a:latin typeface="Arial MT"/>
                <a:cs typeface="Arial MT"/>
              </a:rPr>
              <a:t> digunakan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untuk</a:t>
            </a:r>
            <a:r>
              <a:rPr sz="2400" dirty="0">
                <a:latin typeface="Arial MT"/>
                <a:cs typeface="Arial MT"/>
              </a:rPr>
              <a:t> memantau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prestasi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siswa</a:t>
            </a:r>
            <a:r>
              <a:rPr sz="2400" spc="5" dirty="0">
                <a:latin typeface="Arial MT"/>
                <a:cs typeface="Arial MT"/>
              </a:rPr>
              <a:t> dan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membuat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laporan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secara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teratur</a:t>
            </a:r>
            <a:r>
              <a:rPr sz="2000" dirty="0">
                <a:latin typeface="Arial MT"/>
                <a:cs typeface="Arial MT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699" y="762000"/>
            <a:ext cx="788670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Aplikasi</a:t>
            </a:r>
            <a:r>
              <a:rPr spc="-100" dirty="0"/>
              <a:t> </a:t>
            </a:r>
            <a:r>
              <a:rPr dirty="0"/>
              <a:t>Pengajaran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8699" y="1371600"/>
            <a:ext cx="8035925" cy="481520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44170" marR="1511935" indent="-344170" algn="r">
              <a:lnSpc>
                <a:spcPct val="100000"/>
              </a:lnSpc>
              <a:spcBef>
                <a:spcPts val="459"/>
              </a:spcBef>
              <a:buFont typeface="Wingdings"/>
              <a:buChar char=""/>
              <a:tabLst>
                <a:tab pos="344170" algn="l"/>
                <a:tab pos="344805" algn="l"/>
              </a:tabLst>
            </a:pPr>
            <a:r>
              <a:rPr sz="2800" b="1" spc="-30" dirty="0">
                <a:latin typeface="Arial"/>
                <a:cs typeface="Arial"/>
              </a:rPr>
              <a:t>CAI</a:t>
            </a:r>
            <a:r>
              <a:rPr sz="2800" b="1" spc="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(Computer</a:t>
            </a:r>
            <a:r>
              <a:rPr sz="2800" b="1" spc="4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Assisted</a:t>
            </a:r>
            <a:r>
              <a:rPr sz="2800" b="1" spc="9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Instruction)</a:t>
            </a:r>
            <a:endParaRPr sz="2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2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600" spc="-5" dirty="0">
                <a:latin typeface="Arial MT"/>
                <a:cs typeface="Arial MT"/>
              </a:rPr>
              <a:t>Jenis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Aplikasi</a:t>
            </a:r>
            <a:r>
              <a:rPr sz="2600" spc="3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CAI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:</a:t>
            </a:r>
            <a:endParaRPr sz="2600" dirty="0">
              <a:latin typeface="Arial MT"/>
              <a:cs typeface="Arial MT"/>
            </a:endParaRPr>
          </a:p>
          <a:p>
            <a:pPr marL="347345" marR="1487170" lvl="2" indent="-347345" algn="r">
              <a:lnSpc>
                <a:spcPct val="100000"/>
              </a:lnSpc>
              <a:spcBef>
                <a:spcPts val="295"/>
              </a:spcBef>
              <a:buFont typeface="Wingdings"/>
              <a:buChar char=""/>
              <a:tabLst>
                <a:tab pos="347345" algn="l"/>
                <a:tab pos="347980" algn="l"/>
              </a:tabLst>
            </a:pPr>
            <a:r>
              <a:rPr sz="2400" b="1" dirty="0">
                <a:latin typeface="Arial"/>
                <a:cs typeface="Arial"/>
              </a:rPr>
              <a:t>Latih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dan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Praktek </a:t>
            </a:r>
            <a:r>
              <a:rPr sz="2400" b="1" spc="-5" dirty="0">
                <a:latin typeface="Arial"/>
                <a:cs typeface="Arial"/>
              </a:rPr>
              <a:t>(Drill</a:t>
            </a:r>
            <a:r>
              <a:rPr sz="2400" b="1" dirty="0">
                <a:latin typeface="Arial"/>
                <a:cs typeface="Arial"/>
              </a:rPr>
              <a:t> and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Practice)</a:t>
            </a:r>
            <a:endParaRPr sz="2400" dirty="0">
              <a:latin typeface="Arial"/>
              <a:cs typeface="Arial"/>
            </a:endParaRPr>
          </a:p>
          <a:p>
            <a:pPr marL="121666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Arial MT"/>
                <a:cs typeface="Arial MT"/>
              </a:rPr>
              <a:t>Menguji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tingkat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pengetahuan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siswa.</a:t>
            </a:r>
            <a:endParaRPr sz="2400" dirty="0">
              <a:latin typeface="Arial MT"/>
              <a:cs typeface="Arial MT"/>
            </a:endParaRPr>
          </a:p>
          <a:p>
            <a:pPr marL="1216660" lvl="2" indent="-347980">
              <a:lnSpc>
                <a:spcPct val="100000"/>
              </a:lnSpc>
              <a:spcBef>
                <a:spcPts val="285"/>
              </a:spcBef>
              <a:buFont typeface="Wingdings"/>
              <a:buChar char=""/>
              <a:tabLst>
                <a:tab pos="1216660" algn="l"/>
                <a:tab pos="1217295" algn="l"/>
              </a:tabLst>
            </a:pPr>
            <a:r>
              <a:rPr sz="2400" b="1" dirty="0">
                <a:latin typeface="Arial"/>
                <a:cs typeface="Arial"/>
              </a:rPr>
              <a:t>Penjelasan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(tutorial)</a:t>
            </a:r>
            <a:endParaRPr sz="2400" dirty="0">
              <a:latin typeface="Arial"/>
              <a:cs typeface="Arial"/>
            </a:endParaRPr>
          </a:p>
          <a:p>
            <a:pPr marL="1216660" marR="5080">
              <a:lnSpc>
                <a:spcPts val="2590"/>
              </a:lnSpc>
              <a:spcBef>
                <a:spcPts val="620"/>
              </a:spcBef>
            </a:pPr>
            <a:r>
              <a:rPr sz="2400" dirty="0">
                <a:latin typeface="Arial MT"/>
                <a:cs typeface="Arial MT"/>
              </a:rPr>
              <a:t>Untuk </a:t>
            </a:r>
            <a:r>
              <a:rPr sz="2400" spc="5" dirty="0">
                <a:latin typeface="Arial MT"/>
                <a:cs typeface="Arial MT"/>
              </a:rPr>
              <a:t>materi </a:t>
            </a:r>
            <a:r>
              <a:rPr sz="2400" dirty="0">
                <a:latin typeface="Arial MT"/>
                <a:cs typeface="Arial MT"/>
              </a:rPr>
              <a:t>ajaran baru, </a:t>
            </a:r>
            <a:r>
              <a:rPr sz="2400" spc="-10" dirty="0">
                <a:latin typeface="Arial MT"/>
                <a:cs typeface="Arial MT"/>
              </a:rPr>
              <a:t>siswa </a:t>
            </a:r>
            <a:r>
              <a:rPr sz="2400" dirty="0">
                <a:latin typeface="Arial MT"/>
                <a:cs typeface="Arial MT"/>
              </a:rPr>
              <a:t>dapat berinteraksi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dengan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komputer.</a:t>
            </a:r>
            <a:endParaRPr sz="2400" dirty="0">
              <a:latin typeface="Arial MT"/>
              <a:cs typeface="Arial MT"/>
            </a:endParaRPr>
          </a:p>
          <a:p>
            <a:pPr marL="1216660" lvl="2" indent="-347980">
              <a:lnSpc>
                <a:spcPct val="100000"/>
              </a:lnSpc>
              <a:spcBef>
                <a:spcPts val="254"/>
              </a:spcBef>
              <a:buFont typeface="Wingdings"/>
              <a:buChar char=""/>
              <a:tabLst>
                <a:tab pos="1216660" algn="l"/>
                <a:tab pos="1217295" algn="l"/>
              </a:tabLst>
            </a:pPr>
            <a:r>
              <a:rPr sz="2400" b="1" dirty="0">
                <a:latin typeface="Arial"/>
                <a:cs typeface="Arial"/>
              </a:rPr>
              <a:t>Simulasi</a:t>
            </a:r>
            <a:endParaRPr sz="2400" dirty="0">
              <a:latin typeface="Arial"/>
              <a:cs typeface="Arial"/>
            </a:endParaRPr>
          </a:p>
          <a:p>
            <a:pPr marL="1216660">
              <a:lnSpc>
                <a:spcPts val="2735"/>
              </a:lnSpc>
              <a:spcBef>
                <a:spcPts val="290"/>
              </a:spcBef>
            </a:pPr>
            <a:r>
              <a:rPr sz="2400" dirty="0">
                <a:latin typeface="Arial MT"/>
                <a:cs typeface="Arial MT"/>
              </a:rPr>
              <a:t>Digunakan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untuk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mengkaji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permasalahan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yang</a:t>
            </a:r>
            <a:endParaRPr sz="2400" dirty="0">
              <a:latin typeface="Arial MT"/>
              <a:cs typeface="Arial MT"/>
            </a:endParaRPr>
          </a:p>
          <a:p>
            <a:pPr marL="1216660">
              <a:lnSpc>
                <a:spcPts val="2735"/>
              </a:lnSpc>
            </a:pPr>
            <a:r>
              <a:rPr sz="2400" dirty="0">
                <a:latin typeface="Arial MT"/>
                <a:cs typeface="Arial MT"/>
              </a:rPr>
              <a:t>rumit.</a:t>
            </a:r>
          </a:p>
          <a:p>
            <a:pPr marL="1216660" lvl="2" indent="-347980">
              <a:lnSpc>
                <a:spcPct val="100000"/>
              </a:lnSpc>
              <a:spcBef>
                <a:spcPts val="290"/>
              </a:spcBef>
              <a:buFont typeface="Wingdings"/>
              <a:buChar char=""/>
              <a:tabLst>
                <a:tab pos="1216660" algn="l"/>
                <a:tab pos="1217295" algn="l"/>
              </a:tabLst>
            </a:pPr>
            <a:r>
              <a:rPr sz="2400" b="1" dirty="0">
                <a:latin typeface="Arial"/>
                <a:cs typeface="Arial"/>
              </a:rPr>
              <a:t>Pemainan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(game)</a:t>
            </a:r>
            <a:endParaRPr sz="2400" dirty="0">
              <a:latin typeface="Arial"/>
              <a:cs typeface="Arial"/>
            </a:endParaRPr>
          </a:p>
          <a:p>
            <a:pPr marL="1216660">
              <a:lnSpc>
                <a:spcPct val="100000"/>
              </a:lnSpc>
              <a:spcBef>
                <a:spcPts val="290"/>
              </a:spcBef>
            </a:pPr>
            <a:r>
              <a:rPr sz="2400" spc="-5" dirty="0">
                <a:latin typeface="Arial MT"/>
                <a:cs typeface="Arial MT"/>
              </a:rPr>
              <a:t>Agar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bisa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mendapat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pengetahuan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dengan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santai.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152400"/>
            <a:ext cx="78867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Contoh:</a:t>
            </a:r>
            <a:r>
              <a:rPr sz="3600" spc="-50" dirty="0"/>
              <a:t> </a:t>
            </a:r>
            <a:r>
              <a:rPr sz="3600" spc="-5" dirty="0"/>
              <a:t>Sistem</a:t>
            </a:r>
            <a:r>
              <a:rPr sz="3600" spc="-15" dirty="0"/>
              <a:t> </a:t>
            </a:r>
            <a:r>
              <a:rPr sz="3600" spc="-35" dirty="0"/>
              <a:t>CAI</a:t>
            </a:r>
            <a:r>
              <a:rPr sz="3600" spc="90" dirty="0"/>
              <a:t> </a:t>
            </a:r>
            <a:r>
              <a:rPr sz="3600" dirty="0"/>
              <a:t>–</a:t>
            </a:r>
            <a:r>
              <a:rPr sz="3600" spc="-20" dirty="0"/>
              <a:t> PLATO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726046"/>
            <a:ext cx="7976234" cy="5601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5" dirty="0">
                <a:latin typeface="Wingdings"/>
                <a:cs typeface="Wingdings"/>
              </a:rPr>
              <a:t>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Arial MT"/>
                <a:cs typeface="Arial MT"/>
              </a:rPr>
              <a:t>Dibuat </a:t>
            </a:r>
            <a:r>
              <a:rPr sz="2200" dirty="0">
                <a:latin typeface="Arial MT"/>
                <a:cs typeface="Arial MT"/>
              </a:rPr>
              <a:t>di</a:t>
            </a:r>
            <a:r>
              <a:rPr sz="2200" spc="-10" dirty="0">
                <a:latin typeface="Arial MT"/>
                <a:cs typeface="Arial MT"/>
              </a:rPr>
              <a:t> Illinois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Univ.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&amp;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Central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Corp.</a:t>
            </a:r>
          </a:p>
          <a:p>
            <a:pPr marL="356870" marR="553085" indent="-344805">
              <a:lnSpc>
                <a:spcPct val="80100"/>
              </a:lnSpc>
              <a:spcBef>
                <a:spcPts val="525"/>
              </a:spcBef>
            </a:pPr>
            <a:r>
              <a:rPr sz="2200" spc="5" dirty="0">
                <a:latin typeface="Wingdings"/>
                <a:cs typeface="Wingdings"/>
              </a:rPr>
              <a:t>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Arial MT"/>
                <a:cs typeface="Arial MT"/>
              </a:rPr>
              <a:t>Tujuan </a:t>
            </a:r>
            <a:r>
              <a:rPr sz="2200" dirty="0">
                <a:latin typeface="Arial MT"/>
                <a:cs typeface="Arial MT"/>
              </a:rPr>
              <a:t>: memotong jalur pendidikan </a:t>
            </a:r>
            <a:r>
              <a:rPr sz="2200" spc="10" dirty="0">
                <a:latin typeface="Arial MT"/>
                <a:cs typeface="Arial MT"/>
              </a:rPr>
              <a:t>formal </a:t>
            </a:r>
            <a:r>
              <a:rPr sz="2200" dirty="0">
                <a:latin typeface="Arial MT"/>
                <a:cs typeface="Arial MT"/>
              </a:rPr>
              <a:t>dan langsung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belajar di </a:t>
            </a:r>
            <a:r>
              <a:rPr sz="2200" spc="5" dirty="0">
                <a:latin typeface="Arial MT"/>
                <a:cs typeface="Arial MT"/>
              </a:rPr>
              <a:t>rumah </a:t>
            </a:r>
            <a:r>
              <a:rPr sz="2200" dirty="0">
                <a:latin typeface="Arial MT"/>
                <a:cs typeface="Arial MT"/>
              </a:rPr>
              <a:t>berupa </a:t>
            </a:r>
            <a:r>
              <a:rPr sz="2200" spc="-5" dirty="0">
                <a:latin typeface="Arial MT"/>
                <a:cs typeface="Arial MT"/>
              </a:rPr>
              <a:t>latih, </a:t>
            </a:r>
            <a:r>
              <a:rPr sz="2200" spc="5" dirty="0">
                <a:latin typeface="Arial MT"/>
                <a:cs typeface="Arial MT"/>
              </a:rPr>
              <a:t>praktek, </a:t>
            </a:r>
            <a:r>
              <a:rPr sz="2200" dirty="0">
                <a:latin typeface="Arial MT"/>
                <a:cs typeface="Arial MT"/>
              </a:rPr>
              <a:t>penjelasan dan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simulasi.</a:t>
            </a:r>
            <a:endParaRPr sz="2200" dirty="0">
              <a:latin typeface="Arial MT"/>
              <a:cs typeface="Arial MT"/>
            </a:endParaRPr>
          </a:p>
          <a:p>
            <a:pPr marL="356870" marR="245745" indent="-344805">
              <a:lnSpc>
                <a:spcPct val="80100"/>
              </a:lnSpc>
              <a:spcBef>
                <a:spcPts val="530"/>
              </a:spcBef>
            </a:pPr>
            <a:r>
              <a:rPr sz="2200" spc="5" dirty="0">
                <a:latin typeface="Wingdings"/>
                <a:cs typeface="Wingdings"/>
              </a:rPr>
              <a:t>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 MT"/>
                <a:cs typeface="Arial MT"/>
              </a:rPr>
              <a:t>Menggunakan bahasa </a:t>
            </a:r>
            <a:r>
              <a:rPr sz="2200" spc="5" dirty="0">
                <a:latin typeface="Arial MT"/>
                <a:cs typeface="Arial MT"/>
              </a:rPr>
              <a:t>pemrograman </a:t>
            </a:r>
            <a:r>
              <a:rPr sz="2200" spc="10" dirty="0">
                <a:latin typeface="Arial MT"/>
                <a:cs typeface="Arial MT"/>
              </a:rPr>
              <a:t>TUTOR </a:t>
            </a:r>
            <a:r>
              <a:rPr sz="2200" dirty="0">
                <a:latin typeface="Arial MT"/>
                <a:cs typeface="Arial MT"/>
              </a:rPr>
              <a:t>untuk : bhs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prancis,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Jerman,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spanyol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&amp;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Aritmatika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dasar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serta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Fisika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u/: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SLTA,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pelatihan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pegawai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baru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UNITED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AIRLINES</a:t>
            </a:r>
            <a:endParaRPr sz="2200" dirty="0">
              <a:latin typeface="Arial MT"/>
              <a:cs typeface="Arial MT"/>
            </a:endParaRPr>
          </a:p>
          <a:p>
            <a:pPr marL="12700">
              <a:lnSpc>
                <a:spcPts val="2375"/>
              </a:lnSpc>
            </a:pPr>
            <a:r>
              <a:rPr sz="2200" spc="5" dirty="0">
                <a:latin typeface="Wingdings"/>
                <a:cs typeface="Wingdings"/>
              </a:rPr>
              <a:t>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 MT"/>
                <a:cs typeface="Arial MT"/>
              </a:rPr>
              <a:t>Digunakan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 </a:t>
            </a:r>
            <a:r>
              <a:rPr sz="2200" spc="-10" dirty="0">
                <a:latin typeface="Arial MT"/>
                <a:cs typeface="Arial MT"/>
              </a:rPr>
              <a:t>IBM,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Apple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10" dirty="0">
                <a:latin typeface="Arial MT"/>
                <a:cs typeface="Arial MT"/>
              </a:rPr>
              <a:t>II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plus,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ATARI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800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dan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Texas</a:t>
            </a:r>
          </a:p>
          <a:p>
            <a:pPr marL="356870">
              <a:lnSpc>
                <a:spcPts val="2375"/>
              </a:lnSpc>
            </a:pPr>
            <a:r>
              <a:rPr sz="2200" dirty="0">
                <a:latin typeface="Arial MT"/>
                <a:cs typeface="Arial MT"/>
              </a:rPr>
              <a:t>instrument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10" dirty="0">
                <a:latin typeface="Arial MT"/>
                <a:cs typeface="Arial MT"/>
              </a:rPr>
              <a:t>TI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99/4A</a:t>
            </a:r>
          </a:p>
          <a:p>
            <a:pPr marL="12700">
              <a:lnSpc>
                <a:spcPct val="100000"/>
              </a:lnSpc>
            </a:pPr>
            <a:r>
              <a:rPr sz="2200" spc="5" dirty="0">
                <a:latin typeface="Wingdings"/>
                <a:cs typeface="Wingdings"/>
              </a:rPr>
              <a:t>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 MT"/>
                <a:cs typeface="Arial MT"/>
              </a:rPr>
              <a:t>Rancangan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PLATO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:</a:t>
            </a:r>
          </a:p>
          <a:p>
            <a:pPr marL="756285" marR="5080" indent="-287020">
              <a:lnSpc>
                <a:spcPts val="1920"/>
              </a:lnSpc>
              <a:spcBef>
                <a:spcPts val="475"/>
              </a:spcBef>
              <a:tabLst>
                <a:tab pos="6632575" algn="l"/>
              </a:tabLst>
            </a:pPr>
            <a:r>
              <a:rPr sz="2000" spc="-10" dirty="0">
                <a:latin typeface="Wingdings"/>
                <a:cs typeface="Wingdings"/>
              </a:rPr>
              <a:t>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 MT"/>
                <a:cs typeface="Arial MT"/>
              </a:rPr>
              <a:t>Terdiri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dari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satu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komputer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besar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CDC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dihubungkan	</a:t>
            </a:r>
            <a:r>
              <a:rPr sz="2000" spc="10" dirty="0">
                <a:latin typeface="Arial MT"/>
                <a:cs typeface="Arial MT"/>
              </a:rPr>
              <a:t>ke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terminal-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terminal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jarak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jauh.</a:t>
            </a:r>
            <a:endParaRPr sz="20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15"/>
              </a:spcBef>
            </a:pPr>
            <a:r>
              <a:rPr sz="2000" spc="-10" dirty="0">
                <a:latin typeface="Wingdings"/>
                <a:cs typeface="Wingdings"/>
              </a:rPr>
              <a:t>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 MT"/>
                <a:cs typeface="Arial MT"/>
              </a:rPr>
              <a:t>Jalur </a:t>
            </a:r>
            <a:r>
              <a:rPr sz="2000" dirty="0">
                <a:latin typeface="Arial MT"/>
                <a:cs typeface="Arial MT"/>
              </a:rPr>
              <a:t>komunikasi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: </a:t>
            </a:r>
            <a:r>
              <a:rPr sz="2000" spc="-10" dirty="0">
                <a:latin typeface="Arial MT"/>
                <a:cs typeface="Arial MT"/>
              </a:rPr>
              <a:t>satelit,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kawat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khusus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&amp;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telepon.</a:t>
            </a:r>
            <a:endParaRPr sz="2000" dirty="0">
              <a:latin typeface="Arial MT"/>
              <a:cs typeface="Arial MT"/>
            </a:endParaRPr>
          </a:p>
          <a:p>
            <a:pPr marL="469900">
              <a:lnSpc>
                <a:spcPts val="2160"/>
              </a:lnSpc>
              <a:spcBef>
                <a:spcPts val="5"/>
              </a:spcBef>
            </a:pPr>
            <a:r>
              <a:rPr sz="2000" spc="-5" dirty="0">
                <a:latin typeface="Wingdings"/>
                <a:cs typeface="Wingdings"/>
              </a:rPr>
              <a:t>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 MT"/>
                <a:cs typeface="Arial MT"/>
              </a:rPr>
              <a:t>terminalnya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spc="5" dirty="0">
                <a:latin typeface="Arial MT"/>
                <a:cs typeface="Arial MT"/>
              </a:rPr>
              <a:t>memiliki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5" dirty="0">
                <a:latin typeface="Arial MT"/>
                <a:cs typeface="Arial MT"/>
              </a:rPr>
              <a:t>kemampuan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touch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sensitive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keyboard,</a:t>
            </a:r>
            <a:endParaRPr sz="2000" dirty="0">
              <a:latin typeface="Arial MT"/>
              <a:cs typeface="Arial MT"/>
            </a:endParaRPr>
          </a:p>
          <a:p>
            <a:pPr marL="756285">
              <a:lnSpc>
                <a:spcPts val="2160"/>
              </a:lnSpc>
            </a:pPr>
            <a:r>
              <a:rPr sz="2000" spc="-10" dirty="0">
                <a:latin typeface="Arial MT"/>
                <a:cs typeface="Arial MT"/>
              </a:rPr>
              <a:t>optical </a:t>
            </a:r>
            <a:r>
              <a:rPr sz="2000" spc="-5" dirty="0">
                <a:latin typeface="Arial MT"/>
                <a:cs typeface="Arial MT"/>
              </a:rPr>
              <a:t>scanner,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unit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pencetak.</a:t>
            </a:r>
          </a:p>
          <a:p>
            <a:pPr marL="469900">
              <a:lnSpc>
                <a:spcPts val="2160"/>
              </a:lnSpc>
            </a:pPr>
            <a:r>
              <a:rPr sz="2000" spc="-5" dirty="0">
                <a:latin typeface="Wingdings"/>
                <a:cs typeface="Wingdings"/>
              </a:rPr>
              <a:t>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Arial MT"/>
                <a:cs typeface="Arial MT"/>
              </a:rPr>
              <a:t>melayani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sampai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dengan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32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lokasi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berbeda,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masing-masing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32</a:t>
            </a:r>
            <a:endParaRPr sz="2000" dirty="0">
              <a:latin typeface="Arial MT"/>
              <a:cs typeface="Arial MT"/>
            </a:endParaRPr>
          </a:p>
          <a:p>
            <a:pPr marL="756285">
              <a:lnSpc>
                <a:spcPts val="2155"/>
              </a:lnSpc>
            </a:pPr>
            <a:r>
              <a:rPr sz="2000" spc="-5" dirty="0">
                <a:latin typeface="Arial MT"/>
                <a:cs typeface="Arial MT"/>
              </a:rPr>
              <a:t>terminal</a:t>
            </a:r>
            <a:endParaRPr sz="2000" dirty="0">
              <a:latin typeface="Arial MT"/>
              <a:cs typeface="Arial MT"/>
            </a:endParaRPr>
          </a:p>
          <a:p>
            <a:pPr marL="356870" marR="403225" indent="-344805">
              <a:lnSpc>
                <a:spcPts val="2110"/>
              </a:lnSpc>
              <a:spcBef>
                <a:spcPts val="509"/>
              </a:spcBef>
            </a:pPr>
            <a:r>
              <a:rPr sz="2200" spc="5" dirty="0">
                <a:latin typeface="Wingdings"/>
                <a:cs typeface="Wingdings"/>
              </a:rPr>
              <a:t>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Arial MT"/>
                <a:cs typeface="Arial MT"/>
              </a:rPr>
              <a:t>Kelebihan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:</a:t>
            </a:r>
            <a:r>
              <a:rPr sz="2200" spc="-5" dirty="0">
                <a:latin typeface="Arial MT"/>
                <a:cs typeface="Arial MT"/>
              </a:rPr>
              <a:t> dapat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memantau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perkembangan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belajar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siswa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mendorong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siswa</a:t>
            </a:r>
            <a:r>
              <a:rPr sz="2200" dirty="0">
                <a:latin typeface="Arial MT"/>
                <a:cs typeface="Arial MT"/>
              </a:rPr>
              <a:t> belajar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lebih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cepat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16131"/>
            <a:ext cx="7886700" cy="5681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dirty="0"/>
              <a:t>Contoh:</a:t>
            </a:r>
            <a:r>
              <a:rPr sz="3600" spc="-45" dirty="0"/>
              <a:t> </a:t>
            </a:r>
            <a:r>
              <a:rPr sz="3600" spc="-5" dirty="0"/>
              <a:t>Sistem</a:t>
            </a:r>
            <a:r>
              <a:rPr sz="3600" spc="-10" dirty="0"/>
              <a:t> </a:t>
            </a:r>
            <a:r>
              <a:rPr sz="3600" spc="-35" dirty="0"/>
              <a:t>CAI</a:t>
            </a:r>
            <a:r>
              <a:rPr sz="3600" spc="100" dirty="0"/>
              <a:t> </a:t>
            </a:r>
            <a:r>
              <a:rPr sz="3600" dirty="0"/>
              <a:t>–</a:t>
            </a:r>
            <a:r>
              <a:rPr sz="3600" spc="-15" dirty="0"/>
              <a:t> </a:t>
            </a:r>
            <a:r>
              <a:rPr dirty="0"/>
              <a:t>TICCIT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750519" y="984235"/>
            <a:ext cx="7990205" cy="5822748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02260" indent="-289560">
              <a:lnSpc>
                <a:spcPct val="100000"/>
              </a:lnSpc>
              <a:spcBef>
                <a:spcPts val="585"/>
              </a:spcBef>
              <a:buFont typeface="Wingdings"/>
              <a:buChar char=""/>
              <a:tabLst>
                <a:tab pos="301625" algn="l"/>
                <a:tab pos="302260" algn="l"/>
              </a:tabLst>
            </a:pPr>
            <a:r>
              <a:rPr sz="2000" dirty="0">
                <a:latin typeface="Arial MT"/>
                <a:cs typeface="Arial MT"/>
              </a:rPr>
              <a:t>Dikembangkan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di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perusahaan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MITRE</a:t>
            </a:r>
            <a:endParaRPr sz="2000" dirty="0">
              <a:latin typeface="Arial MT"/>
              <a:cs typeface="Arial MT"/>
            </a:endParaRPr>
          </a:p>
          <a:p>
            <a:pPr marL="302260" indent="-28956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01625" algn="l"/>
                <a:tab pos="302260" algn="l"/>
              </a:tabLst>
            </a:pPr>
            <a:r>
              <a:rPr sz="2000" spc="-5" dirty="0">
                <a:latin typeface="Arial MT"/>
                <a:cs typeface="Arial MT"/>
              </a:rPr>
              <a:t>Ciri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Khas</a:t>
            </a:r>
            <a:endParaRPr sz="2000" dirty="0">
              <a:latin typeface="Arial MT"/>
              <a:cs typeface="Arial MT"/>
            </a:endParaRPr>
          </a:p>
          <a:p>
            <a:pPr marL="637540" lvl="1" indent="-2203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638175" algn="l"/>
              </a:tabLst>
            </a:pPr>
            <a:r>
              <a:rPr sz="2000" spc="-10" dirty="0">
                <a:latin typeface="Arial MT"/>
                <a:cs typeface="Arial MT"/>
              </a:rPr>
              <a:t>Dirancang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agar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semua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aplikasi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perangkat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lunak</a:t>
            </a:r>
            <a:r>
              <a:rPr sz="2000" spc="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dapat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diterapkan</a:t>
            </a:r>
            <a:endParaRPr sz="2000" dirty="0">
              <a:latin typeface="Arial MT"/>
              <a:cs typeface="Arial MT"/>
            </a:endParaRPr>
          </a:p>
          <a:p>
            <a:pPr marL="637540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terpadu.</a:t>
            </a:r>
            <a:endParaRPr sz="2000" dirty="0">
              <a:latin typeface="Arial MT"/>
              <a:cs typeface="Arial MT"/>
            </a:endParaRPr>
          </a:p>
          <a:p>
            <a:pPr marL="637540" lvl="1" indent="-220345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638175" algn="l"/>
              </a:tabLst>
            </a:pPr>
            <a:r>
              <a:rPr sz="2000" spc="-5" dirty="0">
                <a:latin typeface="Arial MT"/>
                <a:cs typeface="Arial MT"/>
              </a:rPr>
              <a:t>Tidak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dirancang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untuk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latih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&amp;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praktek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tapi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lebih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10" dirty="0">
                <a:latin typeface="Arial MT"/>
                <a:cs typeface="Arial MT"/>
              </a:rPr>
              <a:t>ke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bentuk</a:t>
            </a:r>
            <a:endParaRPr sz="2000" dirty="0">
              <a:latin typeface="Arial MT"/>
              <a:cs typeface="Arial MT"/>
            </a:endParaRPr>
          </a:p>
          <a:p>
            <a:pPr marL="637540">
              <a:lnSpc>
                <a:spcPct val="100000"/>
              </a:lnSpc>
            </a:pPr>
            <a:r>
              <a:rPr sz="2000" spc="-10" dirty="0">
                <a:latin typeface="Arial MT"/>
                <a:cs typeface="Arial MT"/>
              </a:rPr>
              <a:t>penjelasan.</a:t>
            </a:r>
            <a:endParaRPr sz="2000" dirty="0">
              <a:latin typeface="Arial MT"/>
              <a:cs typeface="Arial MT"/>
            </a:endParaRPr>
          </a:p>
          <a:p>
            <a:pPr marL="637540" lvl="1" indent="-2203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638175" algn="l"/>
              </a:tabLst>
            </a:pPr>
            <a:r>
              <a:rPr sz="2000" dirty="0">
                <a:latin typeface="Arial MT"/>
                <a:cs typeface="Arial MT"/>
              </a:rPr>
              <a:t>Memungkinkan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pemakai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lebih</a:t>
            </a:r>
            <a:r>
              <a:rPr sz="2000" spc="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berinisitaif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dibandingkan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CAI</a:t>
            </a:r>
            <a:endParaRPr sz="2000" dirty="0">
              <a:latin typeface="Arial MT"/>
              <a:cs typeface="Arial MT"/>
            </a:endParaRPr>
          </a:p>
          <a:p>
            <a:pPr marL="637540">
              <a:lnSpc>
                <a:spcPct val="100000"/>
              </a:lnSpc>
            </a:pPr>
            <a:r>
              <a:rPr sz="2000" spc="-15" dirty="0">
                <a:latin typeface="Arial MT"/>
                <a:cs typeface="Arial MT"/>
              </a:rPr>
              <a:t>lainnya.</a:t>
            </a:r>
            <a:endParaRPr sz="2000" dirty="0">
              <a:latin typeface="Arial MT"/>
              <a:cs typeface="Arial MT"/>
            </a:endParaRPr>
          </a:p>
          <a:p>
            <a:pPr marL="302260" indent="-289560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301625" algn="l"/>
                <a:tab pos="302260" algn="l"/>
              </a:tabLst>
            </a:pPr>
            <a:r>
              <a:rPr sz="2000" spc="-10" dirty="0">
                <a:latin typeface="Arial MT"/>
                <a:cs typeface="Arial MT"/>
              </a:rPr>
              <a:t>Rancangan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TICCIT</a:t>
            </a:r>
          </a:p>
          <a:p>
            <a:pPr marL="637540" marR="5080" lvl="1" indent="-220345" algn="just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638175" algn="l"/>
              </a:tabLst>
            </a:pPr>
            <a:r>
              <a:rPr sz="2000" spc="5" dirty="0">
                <a:latin typeface="Arial MT"/>
                <a:cs typeface="Arial MT"/>
              </a:rPr>
              <a:t>mampu </a:t>
            </a:r>
            <a:r>
              <a:rPr sz="2000" spc="-15" dirty="0">
                <a:latin typeface="Arial MT"/>
                <a:cs typeface="Arial MT"/>
              </a:rPr>
              <a:t>melayani </a:t>
            </a:r>
            <a:r>
              <a:rPr sz="2000" dirty="0">
                <a:latin typeface="Arial MT"/>
                <a:cs typeface="Arial MT"/>
              </a:rPr>
              <a:t>sampai </a:t>
            </a:r>
            <a:r>
              <a:rPr sz="2000" spc="-10" dirty="0">
                <a:latin typeface="Arial MT"/>
                <a:cs typeface="Arial MT"/>
              </a:rPr>
              <a:t>128 unit belajar </a:t>
            </a:r>
            <a:r>
              <a:rPr sz="1800" dirty="0">
                <a:latin typeface="Arial MT"/>
                <a:cs typeface="Arial MT"/>
              </a:rPr>
              <a:t>tiap unit terdiri dari televisi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berwarna, </a:t>
            </a:r>
            <a:r>
              <a:rPr sz="1800" dirty="0">
                <a:latin typeface="Arial MT"/>
                <a:cs typeface="Arial MT"/>
              </a:rPr>
              <a:t>keyboard </a:t>
            </a:r>
            <a:r>
              <a:rPr sz="1800" spc="5" dirty="0">
                <a:latin typeface="Arial MT"/>
                <a:cs typeface="Arial MT"/>
              </a:rPr>
              <a:t>khusus </a:t>
            </a:r>
            <a:r>
              <a:rPr sz="1800" dirty="0">
                <a:latin typeface="Arial MT"/>
                <a:cs typeface="Arial MT"/>
              </a:rPr>
              <a:t>(15 tombol), earphone, tempat belajar, buku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catatan.</a:t>
            </a:r>
            <a:endParaRPr sz="1800" dirty="0">
              <a:latin typeface="Arial MT"/>
              <a:cs typeface="Arial MT"/>
            </a:endParaRPr>
          </a:p>
          <a:p>
            <a:pPr marL="302260" marR="671830" indent="-289560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301625" algn="l"/>
                <a:tab pos="302260" algn="l"/>
              </a:tabLst>
            </a:pPr>
            <a:r>
              <a:rPr sz="2000" spc="-10" dirty="0">
                <a:latin typeface="Arial MT"/>
                <a:cs typeface="Arial MT"/>
              </a:rPr>
              <a:t>Kawasan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materi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ajaran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meliputi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: </a:t>
            </a:r>
            <a:r>
              <a:rPr sz="2000" spc="-10" dirty="0">
                <a:latin typeface="Arial MT"/>
                <a:cs typeface="Arial MT"/>
              </a:rPr>
              <a:t>bhs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prancis, </a:t>
            </a:r>
            <a:r>
              <a:rPr sz="2000" spc="-10" dirty="0">
                <a:latin typeface="Arial MT"/>
                <a:cs typeface="Arial MT"/>
              </a:rPr>
              <a:t>inggris,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spc="-15" dirty="0">
                <a:latin typeface="Arial MT"/>
                <a:cs typeface="Arial MT"/>
              </a:rPr>
              <a:t>spanyol,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linguistik,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logika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simbolis,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latihan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petugas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penerbangan,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ilmu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kelautan,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keperawatan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dan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elektronik</a:t>
            </a:r>
            <a:endParaRPr sz="2000" dirty="0">
              <a:latin typeface="Arial MT"/>
              <a:cs typeface="Arial MT"/>
            </a:endParaRPr>
          </a:p>
          <a:p>
            <a:pPr marL="302260" indent="-28956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01625" algn="l"/>
                <a:tab pos="302260" algn="l"/>
              </a:tabLst>
            </a:pPr>
            <a:r>
              <a:rPr sz="2000" spc="-5" dirty="0">
                <a:latin typeface="Arial MT"/>
                <a:cs typeface="Arial MT"/>
              </a:rPr>
              <a:t>3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jenis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informasi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TICCIT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:</a:t>
            </a:r>
            <a:endParaRPr sz="2000" dirty="0">
              <a:latin typeface="Arial MT"/>
              <a:cs typeface="Arial MT"/>
            </a:endParaRPr>
          </a:p>
          <a:p>
            <a:pPr marL="637540" lvl="1" indent="-2203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638175" algn="l"/>
              </a:tabLst>
            </a:pPr>
            <a:r>
              <a:rPr sz="2000" spc="-10" dirty="0">
                <a:latin typeface="Arial MT"/>
                <a:cs typeface="Arial MT"/>
              </a:rPr>
              <a:t>Aturan,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contoh,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latihan.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78867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Metode</a:t>
            </a:r>
            <a:r>
              <a:rPr sz="3600" spc="-65" dirty="0"/>
              <a:t> </a:t>
            </a:r>
            <a:r>
              <a:rPr sz="3600" spc="-5" dirty="0"/>
              <a:t>Pengajaran</a:t>
            </a:r>
            <a:r>
              <a:rPr sz="3600" spc="-25" dirty="0"/>
              <a:t> </a:t>
            </a:r>
            <a:r>
              <a:rPr sz="3600" dirty="0"/>
              <a:t>Logo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23417" y="1268933"/>
            <a:ext cx="8053070" cy="495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805">
              <a:lnSpc>
                <a:spcPts val="2735"/>
              </a:lnSpc>
              <a:spcBef>
                <a:spcPts val="100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400" spc="-5" dirty="0">
                <a:latin typeface="Arial MT"/>
                <a:cs typeface="Arial MT"/>
              </a:rPr>
              <a:t>Menggabungkan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bidang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ilmu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Kecerdasan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buatan,</a:t>
            </a:r>
          </a:p>
          <a:p>
            <a:pPr marL="356870">
              <a:lnSpc>
                <a:spcPts val="2735"/>
              </a:lnSpc>
            </a:pPr>
            <a:r>
              <a:rPr sz="2400" spc="-5" dirty="0">
                <a:latin typeface="Arial MT"/>
                <a:cs typeface="Arial MT"/>
              </a:rPr>
              <a:t>psikologi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Ilmu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komputer.</a:t>
            </a:r>
            <a:endParaRPr sz="2400" dirty="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290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400" spc="-5" dirty="0">
                <a:latin typeface="Arial MT"/>
                <a:cs typeface="Arial MT"/>
              </a:rPr>
              <a:t>Dikembangkan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oleh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Seymour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Papert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dan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spc="5" dirty="0">
                <a:latin typeface="Arial"/>
                <a:cs typeface="Arial"/>
              </a:rPr>
              <a:t>partner.</a:t>
            </a:r>
            <a:endParaRPr sz="2400" dirty="0">
              <a:latin typeface="Arial"/>
              <a:cs typeface="Arial"/>
            </a:endParaRPr>
          </a:p>
          <a:p>
            <a:pPr marL="356870" indent="-344805">
              <a:lnSpc>
                <a:spcPct val="100000"/>
              </a:lnSpc>
              <a:spcBef>
                <a:spcPts val="290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400" dirty="0">
                <a:latin typeface="Arial MT"/>
                <a:cs typeface="Arial MT"/>
              </a:rPr>
              <a:t>Tujuan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pengembangan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</a:p>
          <a:p>
            <a:pPr marL="756285" lvl="1" indent="-287020">
              <a:lnSpc>
                <a:spcPct val="100000"/>
              </a:lnSpc>
              <a:spcBef>
                <a:spcPts val="259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Arial MT"/>
                <a:cs typeface="Arial MT"/>
              </a:rPr>
              <a:t>Membuat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berbagai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model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metode belajar.</a:t>
            </a:r>
            <a:endParaRPr sz="2000" dirty="0">
              <a:latin typeface="Arial MT"/>
              <a:cs typeface="Arial MT"/>
            </a:endParaRPr>
          </a:p>
          <a:p>
            <a:pPr marL="756285" lvl="1" indent="-287020">
              <a:lnSpc>
                <a:spcPts val="2280"/>
              </a:lnSpc>
              <a:spcBef>
                <a:spcPts val="24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Arial MT"/>
                <a:cs typeface="Arial MT"/>
              </a:rPr>
              <a:t>Berinteraksi</a:t>
            </a:r>
            <a:r>
              <a:rPr sz="2000" spc="-10" dirty="0">
                <a:latin typeface="Arial MT"/>
                <a:cs typeface="Arial MT"/>
              </a:rPr>
              <a:t> dengan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model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untuk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memperbaiki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hasil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yang</a:t>
            </a:r>
            <a:r>
              <a:rPr sz="2000" spc="9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sudah</a:t>
            </a:r>
            <a:endParaRPr sz="2000" dirty="0">
              <a:latin typeface="Arial MT"/>
              <a:cs typeface="Arial MT"/>
            </a:endParaRPr>
          </a:p>
          <a:p>
            <a:pPr marL="756285">
              <a:lnSpc>
                <a:spcPts val="2280"/>
              </a:lnSpc>
            </a:pPr>
            <a:r>
              <a:rPr sz="2000" spc="-10" dirty="0">
                <a:latin typeface="Arial MT"/>
                <a:cs typeface="Arial MT"/>
              </a:rPr>
              <a:t>dicapai.</a:t>
            </a:r>
            <a:endParaRPr sz="2000" dirty="0">
              <a:latin typeface="Arial MT"/>
              <a:cs typeface="Arial MT"/>
            </a:endParaRPr>
          </a:p>
          <a:p>
            <a:pPr marL="756285" lvl="1" indent="-287020">
              <a:lnSpc>
                <a:spcPts val="2280"/>
              </a:lnSpc>
              <a:spcBef>
                <a:spcPts val="24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Arial MT"/>
                <a:cs typeface="Arial MT"/>
              </a:rPr>
              <a:t>Mengembangkan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cara </a:t>
            </a:r>
            <a:r>
              <a:rPr sz="2000" spc="-10" dirty="0">
                <a:latin typeface="Arial MT"/>
                <a:cs typeface="Arial MT"/>
              </a:rPr>
              <a:t>untuk</a:t>
            </a:r>
            <a:r>
              <a:rPr sz="2000" dirty="0">
                <a:latin typeface="Arial MT"/>
                <a:cs typeface="Arial MT"/>
              </a:rPr>
              <a:t> meningkatkan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perasaan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ingin</a:t>
            </a:r>
            <a:endParaRPr sz="2000" dirty="0">
              <a:latin typeface="Arial MT"/>
              <a:cs typeface="Arial MT"/>
            </a:endParaRPr>
          </a:p>
          <a:p>
            <a:pPr marL="756285">
              <a:lnSpc>
                <a:spcPts val="2280"/>
              </a:lnSpc>
            </a:pPr>
            <a:r>
              <a:rPr sz="2000" spc="-5" dirty="0">
                <a:latin typeface="Arial MT"/>
                <a:cs typeface="Arial MT"/>
              </a:rPr>
              <a:t>belajar</a:t>
            </a:r>
            <a:endParaRPr sz="2000" dirty="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270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400" dirty="0">
                <a:latin typeface="Arial MT"/>
                <a:cs typeface="Arial MT"/>
              </a:rPr>
              <a:t>Metode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pengajaran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LOGO</a:t>
            </a:r>
          </a:p>
          <a:p>
            <a:pPr marL="756285" lvl="1" indent="-287020">
              <a:lnSpc>
                <a:spcPct val="100000"/>
              </a:lnSpc>
              <a:spcBef>
                <a:spcPts val="259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10" dirty="0">
                <a:latin typeface="Arial MT"/>
                <a:cs typeface="Arial MT"/>
              </a:rPr>
              <a:t>Dibantu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&amp;</a:t>
            </a:r>
            <a:r>
              <a:rPr sz="2000" dirty="0">
                <a:latin typeface="Arial MT"/>
                <a:cs typeface="Arial MT"/>
              </a:rPr>
              <a:t> mencari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jalan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sendiri.</a:t>
            </a:r>
            <a:endParaRPr sz="2000" dirty="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270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400" dirty="0">
                <a:latin typeface="Arial MT"/>
                <a:cs typeface="Arial MT"/>
              </a:rPr>
              <a:t>Kelebihan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kemampuan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bertanya jawab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secara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lansung.</a:t>
            </a:r>
            <a:endParaRPr sz="2400" dirty="0">
              <a:latin typeface="Arial MT"/>
              <a:cs typeface="Arial MT"/>
            </a:endParaRPr>
          </a:p>
          <a:p>
            <a:pPr marL="356870" indent="-344805">
              <a:lnSpc>
                <a:spcPts val="2735"/>
              </a:lnSpc>
              <a:spcBef>
                <a:spcPts val="290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400" spc="-5" dirty="0">
                <a:latin typeface="Arial MT"/>
                <a:cs typeface="Arial MT"/>
              </a:rPr>
              <a:t>Fasilitas</a:t>
            </a:r>
            <a:r>
              <a:rPr sz="2400" spc="-10" dirty="0">
                <a:latin typeface="Arial MT"/>
                <a:cs typeface="Arial MT"/>
              </a:rPr>
              <a:t> yang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terkenal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grafika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kura-kura</a:t>
            </a:r>
            <a:r>
              <a:rPr sz="2400" spc="-5" dirty="0">
                <a:latin typeface="Arial MT"/>
                <a:cs typeface="Arial MT"/>
              </a:rPr>
              <a:t> (turtle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graphic)</a:t>
            </a:r>
            <a:endParaRPr sz="2400" dirty="0">
              <a:latin typeface="Arial MT"/>
              <a:cs typeface="Arial MT"/>
            </a:endParaRPr>
          </a:p>
          <a:p>
            <a:pPr marL="356870">
              <a:lnSpc>
                <a:spcPts val="2735"/>
              </a:lnSpc>
            </a:pPr>
            <a:r>
              <a:rPr sz="2400" spc="-5" dirty="0">
                <a:latin typeface="Arial MT"/>
                <a:cs typeface="Arial MT"/>
              </a:rPr>
              <a:t>yaitu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suatu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lambang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berbentuk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segitiga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 </a:t>
            </a:r>
            <a:r>
              <a:rPr sz="2400" spc="5" dirty="0">
                <a:latin typeface="Arial MT"/>
                <a:cs typeface="Arial MT"/>
              </a:rPr>
              <a:t>layar.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1583837"/>
            <a:ext cx="78867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Metode</a:t>
            </a:r>
            <a:r>
              <a:rPr sz="3600" spc="-45" dirty="0"/>
              <a:t> </a:t>
            </a:r>
            <a:r>
              <a:rPr sz="3600" spc="-5" dirty="0"/>
              <a:t>Pengajaran</a:t>
            </a:r>
            <a:r>
              <a:rPr sz="3600" spc="-10" dirty="0"/>
              <a:t> </a:t>
            </a:r>
            <a:r>
              <a:rPr sz="3600" spc="-5" dirty="0"/>
              <a:t>Small</a:t>
            </a:r>
            <a:r>
              <a:rPr sz="3600" spc="-25" dirty="0"/>
              <a:t> </a:t>
            </a:r>
            <a:r>
              <a:rPr sz="3600" spc="-5" dirty="0"/>
              <a:t>Talk-80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294967295"/>
          </p:nvPr>
        </p:nvSpPr>
        <p:spPr>
          <a:xfrm>
            <a:off x="838200" y="2438400"/>
            <a:ext cx="6400800" cy="2902077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611505" marR="831215" indent="-344805">
              <a:lnSpc>
                <a:spcPct val="100000"/>
              </a:lnSpc>
              <a:spcBef>
                <a:spcPts val="110"/>
              </a:spcBef>
            </a:pPr>
            <a:r>
              <a:rPr spc="20" dirty="0">
                <a:latin typeface="Wingdings"/>
                <a:cs typeface="Wingdings"/>
              </a:rPr>
              <a:t></a:t>
            </a:r>
            <a:r>
              <a:rPr spc="20" dirty="0"/>
              <a:t>Menggunakan</a:t>
            </a:r>
            <a:r>
              <a:rPr spc="-20" dirty="0"/>
              <a:t> </a:t>
            </a:r>
            <a:r>
              <a:rPr dirty="0"/>
              <a:t>jaringan</a:t>
            </a:r>
            <a:r>
              <a:rPr spc="-5" dirty="0"/>
              <a:t> </a:t>
            </a:r>
            <a:r>
              <a:rPr dirty="0"/>
              <a:t>komputer</a:t>
            </a:r>
            <a:r>
              <a:rPr spc="-15" dirty="0"/>
              <a:t> </a:t>
            </a:r>
            <a:r>
              <a:rPr dirty="0"/>
              <a:t>(tiap </a:t>
            </a:r>
            <a:r>
              <a:rPr spc="-765" dirty="0"/>
              <a:t> </a:t>
            </a:r>
            <a:r>
              <a:rPr dirty="0"/>
              <a:t>komputer</a:t>
            </a:r>
            <a:r>
              <a:rPr spc="-40" dirty="0"/>
              <a:t> </a:t>
            </a:r>
            <a:r>
              <a:rPr dirty="0"/>
              <a:t>disebut</a:t>
            </a:r>
            <a:r>
              <a:rPr spc="-30" dirty="0"/>
              <a:t> </a:t>
            </a:r>
            <a:r>
              <a:rPr dirty="0"/>
              <a:t>OBJECT).</a:t>
            </a:r>
          </a:p>
          <a:p>
            <a:pPr marL="611505" marR="227965" indent="-344805">
              <a:lnSpc>
                <a:spcPct val="100000"/>
              </a:lnSpc>
              <a:spcBef>
                <a:spcPts val="675"/>
              </a:spcBef>
            </a:pPr>
            <a:r>
              <a:rPr spc="20" dirty="0">
                <a:latin typeface="Wingdings"/>
                <a:cs typeface="Wingdings"/>
              </a:rPr>
              <a:t></a:t>
            </a:r>
            <a:r>
              <a:rPr spc="20" dirty="0"/>
              <a:t>Kelebihan</a:t>
            </a:r>
            <a:r>
              <a:rPr spc="-20" dirty="0"/>
              <a:t> </a:t>
            </a:r>
            <a:r>
              <a:rPr dirty="0"/>
              <a:t>:</a:t>
            </a:r>
            <a:r>
              <a:rPr spc="-25" dirty="0"/>
              <a:t> </a:t>
            </a:r>
            <a:r>
              <a:rPr spc="5" dirty="0"/>
              <a:t>fasilitas</a:t>
            </a:r>
            <a:r>
              <a:rPr spc="-45" dirty="0"/>
              <a:t> </a:t>
            </a:r>
            <a:r>
              <a:rPr dirty="0"/>
              <a:t>grafis</a:t>
            </a:r>
            <a:r>
              <a:rPr spc="-20" dirty="0"/>
              <a:t> </a:t>
            </a:r>
            <a:r>
              <a:rPr dirty="0"/>
              <a:t>berkemampuan </a:t>
            </a:r>
            <a:r>
              <a:rPr spc="-765" dirty="0"/>
              <a:t> </a:t>
            </a:r>
            <a:r>
              <a:rPr dirty="0"/>
              <a:t>tinggi</a:t>
            </a:r>
            <a:r>
              <a:rPr spc="-50" dirty="0"/>
              <a:t> </a:t>
            </a:r>
            <a:r>
              <a:rPr spc="5" dirty="0"/>
              <a:t>dan</a:t>
            </a:r>
            <a:r>
              <a:rPr dirty="0"/>
              <a:t> </a:t>
            </a:r>
            <a:r>
              <a:rPr spc="5" dirty="0"/>
              <a:t>siap</a:t>
            </a:r>
            <a:r>
              <a:rPr spc="-40" dirty="0"/>
              <a:t> </a:t>
            </a:r>
            <a:r>
              <a:rPr spc="5" dirty="0"/>
              <a:t>pakai.</a:t>
            </a:r>
          </a:p>
          <a:p>
            <a:pPr marL="611505" marR="5080" indent="-344805">
              <a:lnSpc>
                <a:spcPct val="100000"/>
              </a:lnSpc>
              <a:spcBef>
                <a:spcPts val="675"/>
              </a:spcBef>
            </a:pPr>
            <a:r>
              <a:rPr spc="25" dirty="0">
                <a:latin typeface="Wingdings"/>
                <a:cs typeface="Wingdings"/>
              </a:rPr>
              <a:t></a:t>
            </a:r>
            <a:r>
              <a:rPr spc="25" dirty="0"/>
              <a:t>Pemakai </a:t>
            </a:r>
            <a:r>
              <a:rPr dirty="0"/>
              <a:t>tidak perlu mengerti aspek </a:t>
            </a:r>
            <a:r>
              <a:rPr spc="5" dirty="0"/>
              <a:t>teknis </a:t>
            </a:r>
            <a:r>
              <a:rPr spc="10" dirty="0"/>
              <a:t> </a:t>
            </a:r>
            <a:r>
              <a:rPr dirty="0"/>
              <a:t>komputer,</a:t>
            </a:r>
            <a:r>
              <a:rPr spc="-50" dirty="0"/>
              <a:t> </a:t>
            </a:r>
            <a:r>
              <a:rPr spc="5" dirty="0"/>
              <a:t>cukup</a:t>
            </a:r>
            <a:r>
              <a:rPr spc="-35" dirty="0"/>
              <a:t> </a:t>
            </a:r>
            <a:r>
              <a:rPr dirty="0"/>
              <a:t>pengetahuan</a:t>
            </a:r>
            <a:r>
              <a:rPr spc="15" dirty="0"/>
              <a:t> </a:t>
            </a:r>
            <a:r>
              <a:rPr dirty="0"/>
              <a:t>dasar</a:t>
            </a:r>
            <a:r>
              <a:rPr spc="-10" dirty="0"/>
              <a:t> </a:t>
            </a:r>
            <a:r>
              <a:rPr dirty="0"/>
              <a:t>logika </a:t>
            </a:r>
            <a:r>
              <a:rPr spc="-760" dirty="0"/>
              <a:t> </a:t>
            </a:r>
            <a:r>
              <a:rPr dirty="0"/>
              <a:t>sehingga komputer mengarahkan mereka </a:t>
            </a:r>
            <a:r>
              <a:rPr spc="5" dirty="0"/>
              <a:t> </a:t>
            </a:r>
            <a:r>
              <a:rPr dirty="0"/>
              <a:t>dengan</a:t>
            </a:r>
            <a:r>
              <a:rPr spc="-20" dirty="0"/>
              <a:t> </a:t>
            </a:r>
            <a:r>
              <a:rPr dirty="0"/>
              <a:t>cara</a:t>
            </a:r>
            <a:r>
              <a:rPr spc="-15" dirty="0"/>
              <a:t> </a:t>
            </a:r>
            <a:r>
              <a:rPr spc="-10" dirty="0"/>
              <a:t>yang</a:t>
            </a:r>
            <a:r>
              <a:rPr spc="30" dirty="0"/>
              <a:t> </a:t>
            </a:r>
            <a:r>
              <a:rPr dirty="0"/>
              <a:t>mudah dimengerti.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219200"/>
            <a:ext cx="7886700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0" dirty="0"/>
              <a:t>Isyu</a:t>
            </a:r>
            <a:r>
              <a:rPr spc="15" dirty="0"/>
              <a:t> </a:t>
            </a:r>
            <a:r>
              <a:rPr spc="5" dirty="0"/>
              <a:t>untuk</a:t>
            </a:r>
            <a:r>
              <a:rPr spc="-70" dirty="0"/>
              <a:t> </a:t>
            </a:r>
            <a:r>
              <a:rPr dirty="0"/>
              <a:t>di</a:t>
            </a:r>
            <a:r>
              <a:rPr spc="-30" dirty="0"/>
              <a:t> </a:t>
            </a:r>
            <a:r>
              <a:rPr dirty="0"/>
              <a:t>diskusikan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5144" y="1926717"/>
            <a:ext cx="6608445" cy="1819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834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800" spc="5" dirty="0">
                <a:latin typeface="Arial MT"/>
                <a:cs typeface="Arial MT"/>
              </a:rPr>
              <a:t>Apakah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benar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komputer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meningkatkan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kemampuan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belajar?</a:t>
            </a:r>
            <a:endParaRPr sz="2800">
              <a:latin typeface="Arial MT"/>
              <a:cs typeface="Arial MT"/>
            </a:endParaRPr>
          </a:p>
          <a:p>
            <a:pPr marL="469900" marR="10795" indent="-457834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800" spc="5" dirty="0">
                <a:latin typeface="Arial MT"/>
                <a:cs typeface="Arial MT"/>
              </a:rPr>
              <a:t>Apakah komputer akan </a:t>
            </a:r>
            <a:r>
              <a:rPr sz="2800" dirty="0">
                <a:latin typeface="Arial MT"/>
                <a:cs typeface="Arial MT"/>
              </a:rPr>
              <a:t>mendorong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manusia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untuk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mengembangkan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ilmu?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7300" y="2286000"/>
            <a:ext cx="78867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KOMPUTER</a:t>
            </a:r>
            <a:r>
              <a:rPr sz="3600" spc="-35" dirty="0"/>
              <a:t> DAN</a:t>
            </a:r>
            <a:r>
              <a:rPr sz="3600" spc="80" dirty="0"/>
              <a:t> </a:t>
            </a:r>
            <a:r>
              <a:rPr sz="3600" dirty="0"/>
              <a:t>DUNIA</a:t>
            </a:r>
            <a:r>
              <a:rPr sz="3600" spc="-40" dirty="0"/>
              <a:t> </a:t>
            </a:r>
            <a:r>
              <a:rPr sz="3600" spc="-20" dirty="0"/>
              <a:t>USAHA</a:t>
            </a:r>
            <a:endParaRPr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78867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b="0" spc="-490" dirty="0">
                <a:latin typeface="Calibri"/>
                <a:cs typeface="Calibri"/>
              </a:rPr>
              <a:t>MENG</a:t>
            </a:r>
            <a:r>
              <a:rPr sz="3600" b="0" spc="-450" dirty="0">
                <a:latin typeface="Calibri"/>
                <a:cs typeface="Calibri"/>
              </a:rPr>
              <a:t>A</a:t>
            </a:r>
            <a:r>
              <a:rPr sz="3600" b="0" spc="-400" dirty="0">
                <a:latin typeface="Calibri"/>
                <a:cs typeface="Calibri"/>
              </a:rPr>
              <a:t>P</a:t>
            </a:r>
            <a:r>
              <a:rPr sz="3600" b="0" spc="-445" dirty="0">
                <a:latin typeface="Calibri"/>
                <a:cs typeface="Calibri"/>
              </a:rPr>
              <a:t>A</a:t>
            </a:r>
            <a:r>
              <a:rPr sz="3600" b="0" spc="35" dirty="0">
                <a:latin typeface="Calibri"/>
                <a:cs typeface="Calibri"/>
              </a:rPr>
              <a:t> </a:t>
            </a:r>
            <a:r>
              <a:rPr sz="3600" b="0" spc="-300" dirty="0">
                <a:latin typeface="Calibri"/>
                <a:cs typeface="Calibri"/>
              </a:rPr>
              <a:t>BI</a:t>
            </a:r>
            <a:r>
              <a:rPr sz="3600" b="0" spc="-340" dirty="0">
                <a:latin typeface="Calibri"/>
                <a:cs typeface="Calibri"/>
              </a:rPr>
              <a:t>S</a:t>
            </a:r>
            <a:r>
              <a:rPr sz="3600" b="0" spc="-409" dirty="0">
                <a:latin typeface="Calibri"/>
                <a:cs typeface="Calibri"/>
              </a:rPr>
              <a:t>N</a:t>
            </a:r>
            <a:r>
              <a:rPr sz="3600" b="0" spc="-235" dirty="0">
                <a:latin typeface="Calibri"/>
                <a:cs typeface="Calibri"/>
              </a:rPr>
              <a:t>IS</a:t>
            </a:r>
            <a:r>
              <a:rPr sz="3600" b="0" spc="15" dirty="0">
                <a:latin typeface="Calibri"/>
                <a:cs typeface="Calibri"/>
              </a:rPr>
              <a:t> </a:t>
            </a:r>
            <a:r>
              <a:rPr sz="3600" b="0" spc="-450" dirty="0">
                <a:latin typeface="Calibri"/>
                <a:cs typeface="Calibri"/>
              </a:rPr>
              <a:t>MEMBUTUHK</a:t>
            </a:r>
            <a:r>
              <a:rPr sz="3600" b="0" spc="-425" dirty="0">
                <a:latin typeface="Calibri"/>
                <a:cs typeface="Calibri"/>
              </a:rPr>
              <a:t>A</a:t>
            </a:r>
            <a:r>
              <a:rPr sz="3600" b="0" spc="-225" dirty="0">
                <a:latin typeface="Calibri"/>
                <a:cs typeface="Calibri"/>
              </a:rPr>
              <a:t>N  </a:t>
            </a:r>
            <a:r>
              <a:rPr sz="3600" b="0" spc="-280" dirty="0">
                <a:latin typeface="Calibri"/>
                <a:cs typeface="Calibri"/>
              </a:rPr>
              <a:t>TEKN</a:t>
            </a:r>
            <a:r>
              <a:rPr sz="3600" b="0" spc="-355" dirty="0">
                <a:latin typeface="Calibri"/>
                <a:cs typeface="Calibri"/>
              </a:rPr>
              <a:t>O</a:t>
            </a:r>
            <a:r>
              <a:rPr sz="3600" b="0" spc="-254" dirty="0">
                <a:latin typeface="Calibri"/>
                <a:cs typeface="Calibri"/>
              </a:rPr>
              <a:t>LOGI</a:t>
            </a:r>
            <a:r>
              <a:rPr sz="3600" b="0" spc="30" dirty="0">
                <a:latin typeface="Calibri"/>
                <a:cs typeface="Calibri"/>
              </a:rPr>
              <a:t> </a:t>
            </a:r>
            <a:r>
              <a:rPr sz="3600" b="0" spc="-265" dirty="0">
                <a:latin typeface="Calibri"/>
                <a:cs typeface="Calibri"/>
              </a:rPr>
              <a:t>IN</a:t>
            </a:r>
            <a:r>
              <a:rPr sz="3600" b="0" spc="-285" dirty="0">
                <a:latin typeface="Calibri"/>
                <a:cs typeface="Calibri"/>
              </a:rPr>
              <a:t>F</a:t>
            </a:r>
            <a:r>
              <a:rPr sz="3600" b="0" spc="-470" dirty="0">
                <a:latin typeface="Calibri"/>
                <a:cs typeface="Calibri"/>
              </a:rPr>
              <a:t>OR</a:t>
            </a:r>
            <a:r>
              <a:rPr sz="3600" b="0" spc="-680" dirty="0">
                <a:latin typeface="Calibri"/>
                <a:cs typeface="Calibri"/>
              </a:rPr>
              <a:t>M</a:t>
            </a:r>
            <a:r>
              <a:rPr sz="3600" b="0" spc="-409" dirty="0">
                <a:latin typeface="Calibri"/>
                <a:cs typeface="Calibri"/>
              </a:rPr>
              <a:t>A</a:t>
            </a:r>
            <a:r>
              <a:rPr sz="3600" b="0" spc="-240" dirty="0">
                <a:latin typeface="Calibri"/>
                <a:cs typeface="Calibri"/>
              </a:rPr>
              <a:t>SI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2647" y="1739681"/>
            <a:ext cx="5218430" cy="39503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430"/>
              </a:spcBef>
              <a:buFont typeface="Trebuchet MS"/>
              <a:buChar char="•"/>
              <a:tabLst>
                <a:tab pos="356870" algn="l"/>
                <a:tab pos="357505" algn="l"/>
              </a:tabLst>
            </a:pPr>
            <a:r>
              <a:rPr sz="2800" spc="-470" dirty="0">
                <a:latin typeface="Calibri"/>
                <a:cs typeface="Calibri"/>
              </a:rPr>
              <a:t>P</a:t>
            </a:r>
            <a:r>
              <a:rPr sz="2800" spc="-445" dirty="0">
                <a:latin typeface="Calibri"/>
                <a:cs typeface="Calibri"/>
              </a:rPr>
              <a:t>e</a:t>
            </a:r>
            <a:r>
              <a:rPr sz="2800" spc="-420" dirty="0">
                <a:latin typeface="Calibri"/>
                <a:cs typeface="Calibri"/>
              </a:rPr>
              <a:t>n</a:t>
            </a:r>
            <a:r>
              <a:rPr sz="2800" spc="-415" dirty="0">
                <a:latin typeface="Calibri"/>
                <a:cs typeface="Calibri"/>
              </a:rPr>
              <a:t>du</a:t>
            </a:r>
            <a:r>
              <a:rPr sz="2800" spc="-375" dirty="0">
                <a:latin typeface="Calibri"/>
                <a:cs typeface="Calibri"/>
              </a:rPr>
              <a:t>k</a:t>
            </a:r>
            <a:r>
              <a:rPr sz="2800" spc="-425" dirty="0">
                <a:latin typeface="Calibri"/>
                <a:cs typeface="Calibri"/>
              </a:rPr>
              <a:t>u</a:t>
            </a:r>
            <a:r>
              <a:rPr sz="2800" spc="-440" dirty="0">
                <a:latin typeface="Calibri"/>
                <a:cs typeface="Calibri"/>
              </a:rPr>
              <a:t>n</a:t>
            </a:r>
            <a:r>
              <a:rPr sz="2800" spc="-385" dirty="0">
                <a:latin typeface="Calibri"/>
                <a:cs typeface="Calibri"/>
              </a:rPr>
              <a:t>g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430" dirty="0">
                <a:latin typeface="Calibri"/>
                <a:cs typeface="Calibri"/>
              </a:rPr>
              <a:t>O</a:t>
            </a:r>
            <a:r>
              <a:rPr sz="2800" spc="-360" dirty="0">
                <a:latin typeface="Calibri"/>
                <a:cs typeface="Calibri"/>
              </a:rPr>
              <a:t>p</a:t>
            </a:r>
            <a:r>
              <a:rPr sz="2800" spc="-560" dirty="0">
                <a:latin typeface="Calibri"/>
                <a:cs typeface="Calibri"/>
              </a:rPr>
              <a:t>e</a:t>
            </a:r>
            <a:r>
              <a:rPr sz="2800" spc="-325" dirty="0">
                <a:latin typeface="Calibri"/>
                <a:cs typeface="Calibri"/>
              </a:rPr>
              <a:t>r</a:t>
            </a:r>
            <a:r>
              <a:rPr sz="2800" spc="-465" dirty="0">
                <a:latin typeface="Calibri"/>
                <a:cs typeface="Calibri"/>
              </a:rPr>
              <a:t>a</a:t>
            </a:r>
            <a:r>
              <a:rPr sz="2800" spc="-375" dirty="0">
                <a:latin typeface="Calibri"/>
                <a:cs typeface="Calibri"/>
              </a:rPr>
              <a:t>sion</a:t>
            </a:r>
            <a:r>
              <a:rPr sz="2800" spc="-445" dirty="0">
                <a:latin typeface="Calibri"/>
                <a:cs typeface="Calibri"/>
              </a:rPr>
              <a:t>a</a:t>
            </a:r>
            <a:r>
              <a:rPr sz="2800" spc="-140" dirty="0">
                <a:latin typeface="Calibri"/>
                <a:cs typeface="Calibri"/>
              </a:rPr>
              <a:t>l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375" dirty="0">
                <a:latin typeface="Calibri"/>
                <a:cs typeface="Calibri"/>
              </a:rPr>
              <a:t>B</a:t>
            </a:r>
            <a:r>
              <a:rPr sz="2800" spc="-145" dirty="0">
                <a:latin typeface="Calibri"/>
                <a:cs typeface="Calibri"/>
              </a:rPr>
              <a:t>i</a:t>
            </a:r>
            <a:r>
              <a:rPr sz="2800" spc="-365" dirty="0">
                <a:latin typeface="Calibri"/>
                <a:cs typeface="Calibri"/>
              </a:rPr>
              <a:t>sn</a:t>
            </a:r>
            <a:r>
              <a:rPr sz="2800" spc="-204" dirty="0">
                <a:latin typeface="Calibri"/>
                <a:cs typeface="Calibri"/>
              </a:rPr>
              <a:t>i</a:t>
            </a:r>
            <a:r>
              <a:rPr sz="2800" spc="-380" dirty="0">
                <a:latin typeface="Calibri"/>
                <a:cs typeface="Calibri"/>
              </a:rPr>
              <a:t>s</a:t>
            </a:r>
            <a:endParaRPr sz="28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340"/>
              </a:spcBef>
              <a:buFont typeface="Trebuchet MS"/>
              <a:buChar char="•"/>
              <a:tabLst>
                <a:tab pos="356870" algn="l"/>
                <a:tab pos="357505" algn="l"/>
              </a:tabLst>
            </a:pPr>
            <a:r>
              <a:rPr sz="2800" spc="-470" dirty="0">
                <a:latin typeface="Calibri"/>
                <a:cs typeface="Calibri"/>
              </a:rPr>
              <a:t>P</a:t>
            </a:r>
            <a:r>
              <a:rPr sz="2800" spc="-440" dirty="0">
                <a:latin typeface="Calibri"/>
                <a:cs typeface="Calibri"/>
              </a:rPr>
              <a:t>e</a:t>
            </a:r>
            <a:r>
              <a:rPr sz="2800" spc="-420" dirty="0">
                <a:latin typeface="Calibri"/>
                <a:cs typeface="Calibri"/>
              </a:rPr>
              <a:t>n</a:t>
            </a:r>
            <a:r>
              <a:rPr sz="2800" spc="-415" dirty="0">
                <a:latin typeface="Calibri"/>
                <a:cs typeface="Calibri"/>
              </a:rPr>
              <a:t>du</a:t>
            </a:r>
            <a:r>
              <a:rPr sz="2800" spc="-375" dirty="0">
                <a:latin typeface="Calibri"/>
                <a:cs typeface="Calibri"/>
              </a:rPr>
              <a:t>k</a:t>
            </a:r>
            <a:r>
              <a:rPr sz="2800" spc="-420" dirty="0">
                <a:latin typeface="Calibri"/>
                <a:cs typeface="Calibri"/>
              </a:rPr>
              <a:t>u</a:t>
            </a:r>
            <a:r>
              <a:rPr sz="2800" spc="-440" dirty="0">
                <a:latin typeface="Calibri"/>
                <a:cs typeface="Calibri"/>
              </a:rPr>
              <a:t>n</a:t>
            </a:r>
            <a:r>
              <a:rPr sz="2800" spc="-385" dirty="0">
                <a:latin typeface="Calibri"/>
                <a:cs typeface="Calibri"/>
              </a:rPr>
              <a:t>g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470" dirty="0">
                <a:latin typeface="Calibri"/>
                <a:cs typeface="Calibri"/>
              </a:rPr>
              <a:t>P</a:t>
            </a:r>
            <a:r>
              <a:rPr sz="2800" spc="-440" dirty="0">
                <a:latin typeface="Calibri"/>
                <a:cs typeface="Calibri"/>
              </a:rPr>
              <a:t>e</a:t>
            </a:r>
            <a:r>
              <a:rPr sz="2800" spc="-420" dirty="0">
                <a:latin typeface="Calibri"/>
                <a:cs typeface="Calibri"/>
              </a:rPr>
              <a:t>n</a:t>
            </a:r>
            <a:r>
              <a:rPr sz="2800" spc="-434" dirty="0">
                <a:latin typeface="Calibri"/>
                <a:cs typeface="Calibri"/>
              </a:rPr>
              <a:t>g</a:t>
            </a:r>
            <a:r>
              <a:rPr sz="2800" spc="-459" dirty="0">
                <a:latin typeface="Calibri"/>
                <a:cs typeface="Calibri"/>
              </a:rPr>
              <a:t>a</a:t>
            </a:r>
            <a:r>
              <a:rPr sz="2800" spc="-545" dirty="0">
                <a:latin typeface="Calibri"/>
                <a:cs typeface="Calibri"/>
              </a:rPr>
              <a:t>mb</a:t>
            </a:r>
            <a:r>
              <a:rPr sz="2800" spc="-200" dirty="0">
                <a:latin typeface="Calibri"/>
                <a:cs typeface="Calibri"/>
              </a:rPr>
              <a:t>i</a:t>
            </a:r>
            <a:r>
              <a:rPr sz="2800" spc="-210" dirty="0">
                <a:latin typeface="Calibri"/>
                <a:cs typeface="Calibri"/>
              </a:rPr>
              <a:t>l</a:t>
            </a:r>
            <a:r>
              <a:rPr sz="2800" spc="-445" dirty="0">
                <a:latin typeface="Calibri"/>
                <a:cs typeface="Calibri"/>
              </a:rPr>
              <a:t>a</a:t>
            </a:r>
            <a:r>
              <a:rPr sz="2800" spc="-405" dirty="0">
                <a:latin typeface="Calibri"/>
                <a:cs typeface="Calibri"/>
              </a:rPr>
              <a:t>n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345" dirty="0">
                <a:latin typeface="Calibri"/>
                <a:cs typeface="Calibri"/>
              </a:rPr>
              <a:t>K</a:t>
            </a:r>
            <a:r>
              <a:rPr sz="2800" spc="-310" dirty="0">
                <a:latin typeface="Calibri"/>
                <a:cs typeface="Calibri"/>
              </a:rPr>
              <a:t>e</a:t>
            </a:r>
            <a:r>
              <a:rPr sz="2800" spc="-465" dirty="0">
                <a:latin typeface="Calibri"/>
                <a:cs typeface="Calibri"/>
              </a:rPr>
              <a:t>p</a:t>
            </a:r>
            <a:r>
              <a:rPr sz="2800" spc="-409" dirty="0">
                <a:latin typeface="Calibri"/>
                <a:cs typeface="Calibri"/>
              </a:rPr>
              <a:t>utus</a:t>
            </a:r>
            <a:r>
              <a:rPr sz="2800" spc="-459" dirty="0">
                <a:latin typeface="Calibri"/>
                <a:cs typeface="Calibri"/>
              </a:rPr>
              <a:t>a</a:t>
            </a:r>
            <a:r>
              <a:rPr sz="2800" spc="-405" dirty="0">
                <a:latin typeface="Calibri"/>
                <a:cs typeface="Calibri"/>
              </a:rPr>
              <a:t>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60" dirty="0">
                <a:latin typeface="Calibri"/>
                <a:cs typeface="Calibri"/>
              </a:rPr>
              <a:t>Ma</a:t>
            </a:r>
            <a:r>
              <a:rPr sz="2800" spc="-459" dirty="0">
                <a:latin typeface="Calibri"/>
                <a:cs typeface="Calibri"/>
              </a:rPr>
              <a:t>n</a:t>
            </a:r>
            <a:r>
              <a:rPr sz="2800" spc="-509" dirty="0">
                <a:latin typeface="Calibri"/>
                <a:cs typeface="Calibri"/>
              </a:rPr>
              <a:t>a</a:t>
            </a:r>
            <a:r>
              <a:rPr sz="2800" spc="-254" dirty="0">
                <a:latin typeface="Calibri"/>
                <a:cs typeface="Calibri"/>
              </a:rPr>
              <a:t>j</a:t>
            </a:r>
            <a:r>
              <a:rPr sz="2800" spc="-505" dirty="0">
                <a:latin typeface="Calibri"/>
                <a:cs typeface="Calibri"/>
              </a:rPr>
              <a:t>e</a:t>
            </a:r>
            <a:r>
              <a:rPr sz="2800" spc="-245" dirty="0">
                <a:latin typeface="Calibri"/>
                <a:cs typeface="Calibri"/>
              </a:rPr>
              <a:t>r</a:t>
            </a:r>
            <a:r>
              <a:rPr sz="2800" spc="-180" dirty="0">
                <a:latin typeface="Calibri"/>
                <a:cs typeface="Calibri"/>
              </a:rPr>
              <a:t>i</a:t>
            </a:r>
            <a:r>
              <a:rPr sz="2800" spc="-509" dirty="0">
                <a:latin typeface="Calibri"/>
                <a:cs typeface="Calibri"/>
              </a:rPr>
              <a:t>a</a:t>
            </a:r>
            <a:r>
              <a:rPr sz="2800" spc="-140" dirty="0">
                <a:latin typeface="Calibri"/>
                <a:cs typeface="Calibri"/>
              </a:rPr>
              <a:t>l</a:t>
            </a:r>
            <a:endParaRPr sz="28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335"/>
              </a:spcBef>
              <a:buFont typeface="Trebuchet MS"/>
              <a:buChar char="•"/>
              <a:tabLst>
                <a:tab pos="356870" algn="l"/>
                <a:tab pos="357505" algn="l"/>
              </a:tabLst>
            </a:pPr>
            <a:r>
              <a:rPr sz="2800" spc="-420" dirty="0">
                <a:latin typeface="Calibri"/>
                <a:cs typeface="Calibri"/>
              </a:rPr>
              <a:t>Pendukung</a:t>
            </a:r>
            <a:r>
              <a:rPr sz="2800" spc="-375" dirty="0">
                <a:latin typeface="Calibri"/>
                <a:cs typeface="Calibri"/>
              </a:rPr>
              <a:t> </a:t>
            </a:r>
            <a:r>
              <a:rPr sz="2800" spc="-360" dirty="0">
                <a:latin typeface="Calibri"/>
                <a:cs typeface="Calibri"/>
              </a:rPr>
              <a:t>Strategi</a:t>
            </a:r>
            <a:r>
              <a:rPr sz="2800" spc="-240" dirty="0">
                <a:latin typeface="Calibri"/>
                <a:cs typeface="Calibri"/>
              </a:rPr>
              <a:t> </a:t>
            </a:r>
            <a:r>
              <a:rPr sz="2800" spc="-380" dirty="0">
                <a:latin typeface="Calibri"/>
                <a:cs typeface="Calibri"/>
              </a:rPr>
              <a:t>Keunggulan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355" dirty="0">
                <a:latin typeface="Calibri"/>
                <a:cs typeface="Calibri"/>
              </a:rPr>
              <a:t>Kompetitif</a:t>
            </a:r>
            <a:endParaRPr sz="28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340"/>
              </a:spcBef>
              <a:buFont typeface="Trebuchet MS"/>
              <a:buChar char="•"/>
              <a:tabLst>
                <a:tab pos="356870" algn="l"/>
                <a:tab pos="357505" algn="l"/>
              </a:tabLst>
            </a:pPr>
            <a:r>
              <a:rPr sz="2800" spc="-420" dirty="0">
                <a:latin typeface="Calibri"/>
                <a:cs typeface="Calibri"/>
              </a:rPr>
              <a:t>Komputer</a:t>
            </a:r>
            <a:r>
              <a:rPr sz="2800" spc="-225" dirty="0">
                <a:latin typeface="Calibri"/>
                <a:cs typeface="Calibri"/>
              </a:rPr>
              <a:t> </a:t>
            </a:r>
            <a:r>
              <a:rPr sz="2800" spc="-455" dirty="0">
                <a:latin typeface="Calibri"/>
                <a:cs typeface="Calibri"/>
              </a:rPr>
              <a:t>dalam</a:t>
            </a:r>
            <a:r>
              <a:rPr sz="2800" spc="-285" dirty="0">
                <a:latin typeface="Calibri"/>
                <a:cs typeface="Calibri"/>
              </a:rPr>
              <a:t> </a:t>
            </a:r>
            <a:r>
              <a:rPr sz="2800" spc="-395" dirty="0">
                <a:latin typeface="Calibri"/>
                <a:cs typeface="Calibri"/>
              </a:rPr>
              <a:t>dunia</a:t>
            </a:r>
            <a:r>
              <a:rPr sz="2800" spc="-185" dirty="0">
                <a:latin typeface="Calibri"/>
                <a:cs typeface="Calibri"/>
              </a:rPr>
              <a:t> </a:t>
            </a:r>
            <a:r>
              <a:rPr sz="2800" spc="-325" dirty="0">
                <a:latin typeface="Calibri"/>
                <a:cs typeface="Calibri"/>
              </a:rPr>
              <a:t>bisnis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440" dirty="0">
                <a:latin typeface="Calibri"/>
                <a:cs typeface="Calibri"/>
              </a:rPr>
              <a:t>mendukung: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Font typeface="Trebuchet MS"/>
              <a:buChar char="–"/>
              <a:tabLst>
                <a:tab pos="756285" algn="l"/>
                <a:tab pos="756920" algn="l"/>
              </a:tabLst>
            </a:pPr>
            <a:r>
              <a:rPr sz="2000" spc="-245" dirty="0">
                <a:latin typeface="Calibri"/>
                <a:cs typeface="Calibri"/>
              </a:rPr>
              <a:t>P</a:t>
            </a:r>
            <a:r>
              <a:rPr sz="2000" spc="-180" dirty="0">
                <a:latin typeface="Calibri"/>
                <a:cs typeface="Calibri"/>
              </a:rPr>
              <a:t>E</a:t>
            </a:r>
            <a:r>
              <a:rPr sz="2000" spc="-245" dirty="0">
                <a:latin typeface="Calibri"/>
                <a:cs typeface="Calibri"/>
              </a:rPr>
              <a:t>N</a:t>
            </a:r>
            <a:r>
              <a:rPr sz="2000" spc="-140" dirty="0">
                <a:latin typeface="Calibri"/>
                <a:cs typeface="Calibri"/>
              </a:rPr>
              <a:t>Y</a:t>
            </a:r>
            <a:r>
              <a:rPr sz="2000" spc="-30" dirty="0">
                <a:latin typeface="Calibri"/>
                <a:cs typeface="Calibri"/>
              </a:rPr>
              <a:t>I</a:t>
            </a:r>
            <a:r>
              <a:rPr sz="2000" spc="-235" dirty="0">
                <a:latin typeface="Calibri"/>
                <a:cs typeface="Calibri"/>
              </a:rPr>
              <a:t>AP</a:t>
            </a:r>
            <a:r>
              <a:rPr sz="2000" spc="-225" dirty="0">
                <a:latin typeface="Calibri"/>
                <a:cs typeface="Calibri"/>
              </a:rPr>
              <a:t>AN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90" dirty="0">
                <a:latin typeface="Calibri"/>
                <a:cs typeface="Calibri"/>
              </a:rPr>
              <a:t>DA</a:t>
            </a:r>
            <a:r>
              <a:rPr sz="2000" spc="-150" dirty="0">
                <a:latin typeface="Calibri"/>
                <a:cs typeface="Calibri"/>
              </a:rPr>
              <a:t>T</a:t>
            </a:r>
            <a:r>
              <a:rPr sz="2000" spc="-225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Font typeface="Trebuchet MS"/>
              <a:buChar char="–"/>
              <a:tabLst>
                <a:tab pos="756285" algn="l"/>
                <a:tab pos="756920" algn="l"/>
              </a:tabLst>
            </a:pPr>
            <a:r>
              <a:rPr sz="2000" spc="-250" dirty="0">
                <a:latin typeface="Calibri"/>
                <a:cs typeface="Calibri"/>
              </a:rPr>
              <a:t>P</a:t>
            </a:r>
            <a:r>
              <a:rPr sz="2000" spc="-245" dirty="0">
                <a:latin typeface="Calibri"/>
                <a:cs typeface="Calibri"/>
              </a:rPr>
              <a:t>E</a:t>
            </a:r>
            <a:r>
              <a:rPr sz="2000" spc="-415" dirty="0">
                <a:latin typeface="Calibri"/>
                <a:cs typeface="Calibri"/>
              </a:rPr>
              <a:t>M</a:t>
            </a:r>
            <a:r>
              <a:rPr sz="2000" spc="-254" dirty="0">
                <a:latin typeface="Calibri"/>
                <a:cs typeface="Calibri"/>
              </a:rPr>
              <a:t>A</a:t>
            </a:r>
            <a:r>
              <a:rPr sz="2000" spc="-200" dirty="0">
                <a:latin typeface="Calibri"/>
                <a:cs typeface="Calibri"/>
              </a:rPr>
              <a:t>S</a:t>
            </a:r>
            <a:r>
              <a:rPr sz="2000" spc="-280" dirty="0">
                <a:latin typeface="Calibri"/>
                <a:cs typeface="Calibri"/>
              </a:rPr>
              <a:t>U</a:t>
            </a:r>
            <a:r>
              <a:rPr sz="2000" spc="-170" dirty="0">
                <a:latin typeface="Calibri"/>
                <a:cs typeface="Calibri"/>
              </a:rPr>
              <a:t>KA</a:t>
            </a:r>
            <a:r>
              <a:rPr sz="2000" spc="-195" dirty="0">
                <a:latin typeface="Calibri"/>
                <a:cs typeface="Calibri"/>
              </a:rPr>
              <a:t>N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80" dirty="0">
                <a:latin typeface="Calibri"/>
                <a:cs typeface="Calibri"/>
              </a:rPr>
              <a:t>D</a:t>
            </a:r>
            <a:r>
              <a:rPr sz="2000" spc="-190" dirty="0">
                <a:latin typeface="Calibri"/>
                <a:cs typeface="Calibri"/>
              </a:rPr>
              <a:t>A</a:t>
            </a:r>
            <a:r>
              <a:rPr sz="2000" spc="-155" dirty="0">
                <a:latin typeface="Calibri"/>
                <a:cs typeface="Calibri"/>
              </a:rPr>
              <a:t>T</a:t>
            </a:r>
            <a:r>
              <a:rPr sz="2000" spc="-225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Font typeface="Trebuchet MS"/>
              <a:buChar char="–"/>
              <a:tabLst>
                <a:tab pos="756285" algn="l"/>
                <a:tab pos="756920" algn="l"/>
              </a:tabLst>
            </a:pPr>
            <a:r>
              <a:rPr sz="2000" spc="-195" dirty="0">
                <a:latin typeface="Calibri"/>
                <a:cs typeface="Calibri"/>
              </a:rPr>
              <a:t>PERHITUNGAN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Font typeface="Trebuchet MS"/>
              <a:buChar char="–"/>
              <a:tabLst>
                <a:tab pos="756285" algn="l"/>
                <a:tab pos="756920" algn="l"/>
              </a:tabLst>
            </a:pPr>
            <a:r>
              <a:rPr sz="2000" spc="-250" dirty="0">
                <a:latin typeface="Calibri"/>
                <a:cs typeface="Calibri"/>
              </a:rPr>
              <a:t>P</a:t>
            </a:r>
            <a:r>
              <a:rPr sz="2000" spc="-180" dirty="0">
                <a:latin typeface="Calibri"/>
                <a:cs typeface="Calibri"/>
              </a:rPr>
              <a:t>E</a:t>
            </a:r>
            <a:r>
              <a:rPr sz="2000" spc="-250" dirty="0">
                <a:latin typeface="Calibri"/>
                <a:cs typeface="Calibri"/>
              </a:rPr>
              <a:t>N</a:t>
            </a:r>
            <a:r>
              <a:rPr sz="2000" spc="-265" dirty="0">
                <a:latin typeface="Calibri"/>
                <a:cs typeface="Calibri"/>
              </a:rPr>
              <a:t>GA</a:t>
            </a:r>
            <a:r>
              <a:rPr sz="2000" spc="-375" dirty="0">
                <a:latin typeface="Calibri"/>
                <a:cs typeface="Calibri"/>
              </a:rPr>
              <a:t>W</a:t>
            </a:r>
            <a:r>
              <a:rPr sz="2000" spc="-254" dirty="0">
                <a:latin typeface="Calibri"/>
                <a:cs typeface="Calibri"/>
              </a:rPr>
              <a:t>A</a:t>
            </a:r>
            <a:r>
              <a:rPr sz="2000" spc="-200" dirty="0">
                <a:latin typeface="Calibri"/>
                <a:cs typeface="Calibri"/>
              </a:rPr>
              <a:t>S</a:t>
            </a:r>
            <a:r>
              <a:rPr sz="2000" spc="-225" dirty="0">
                <a:latin typeface="Calibri"/>
                <a:cs typeface="Calibri"/>
              </a:rPr>
              <a:t>AN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250" dirty="0">
                <a:latin typeface="Calibri"/>
                <a:cs typeface="Calibri"/>
              </a:rPr>
              <a:t>P</a:t>
            </a:r>
            <a:r>
              <a:rPr sz="2000" spc="-180" dirty="0">
                <a:latin typeface="Calibri"/>
                <a:cs typeface="Calibri"/>
              </a:rPr>
              <a:t>E</a:t>
            </a:r>
            <a:r>
              <a:rPr sz="2000" spc="-250" dirty="0">
                <a:latin typeface="Calibri"/>
                <a:cs typeface="Calibri"/>
              </a:rPr>
              <a:t>N</a:t>
            </a:r>
            <a:r>
              <a:rPr sz="2000" spc="-175" dirty="0">
                <a:latin typeface="Calibri"/>
                <a:cs typeface="Calibri"/>
              </a:rPr>
              <a:t>GH</a:t>
            </a:r>
            <a:r>
              <a:rPr sz="2000" spc="-65" dirty="0">
                <a:latin typeface="Calibri"/>
                <a:cs typeface="Calibri"/>
              </a:rPr>
              <a:t>I</a:t>
            </a:r>
            <a:r>
              <a:rPr sz="2000" spc="-120" dirty="0">
                <a:latin typeface="Calibri"/>
                <a:cs typeface="Calibri"/>
              </a:rPr>
              <a:t>T</a:t>
            </a:r>
            <a:r>
              <a:rPr sz="2000" spc="-280" dirty="0">
                <a:latin typeface="Calibri"/>
                <a:cs typeface="Calibri"/>
              </a:rPr>
              <a:t>U</a:t>
            </a:r>
            <a:r>
              <a:rPr sz="2000" spc="-240" dirty="0">
                <a:latin typeface="Calibri"/>
                <a:cs typeface="Calibri"/>
              </a:rPr>
              <a:t>N</a:t>
            </a:r>
            <a:r>
              <a:rPr sz="2000" spc="-229" dirty="0">
                <a:latin typeface="Calibri"/>
                <a:cs typeface="Calibri"/>
              </a:rPr>
              <a:t>GAN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45"/>
              </a:spcBef>
              <a:buFont typeface="Trebuchet MS"/>
              <a:buChar char="–"/>
              <a:tabLst>
                <a:tab pos="756285" algn="l"/>
                <a:tab pos="756920" algn="l"/>
              </a:tabLst>
            </a:pPr>
            <a:r>
              <a:rPr sz="2000" spc="-225" dirty="0">
                <a:latin typeface="Calibri"/>
                <a:cs typeface="Calibri"/>
              </a:rPr>
              <a:t>PENYIMPANAN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Font typeface="Trebuchet MS"/>
              <a:buChar char="–"/>
              <a:tabLst>
                <a:tab pos="756285" algn="l"/>
                <a:tab pos="756920" algn="l"/>
              </a:tabLst>
            </a:pPr>
            <a:r>
              <a:rPr sz="2000" spc="-215" dirty="0">
                <a:latin typeface="Calibri"/>
                <a:cs typeface="Calibri"/>
              </a:rPr>
              <a:t>PENGELUARAN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3200" spc="-440" dirty="0">
                <a:latin typeface="Calibri"/>
                <a:cs typeface="Calibri"/>
              </a:rPr>
              <a:t>P</a:t>
            </a:r>
            <a:r>
              <a:rPr sz="3200" spc="-270" dirty="0">
                <a:latin typeface="Calibri"/>
                <a:cs typeface="Calibri"/>
              </a:rPr>
              <a:t>E</a:t>
            </a:r>
            <a:r>
              <a:rPr sz="3200" spc="-370" dirty="0">
                <a:latin typeface="Calibri"/>
                <a:cs typeface="Calibri"/>
              </a:rPr>
              <a:t>R</a:t>
            </a:r>
            <a:r>
              <a:rPr sz="3200" spc="-430" dirty="0">
                <a:latin typeface="Calibri"/>
                <a:cs typeface="Calibri"/>
              </a:rPr>
              <a:t>A</a:t>
            </a:r>
            <a:r>
              <a:rPr sz="3200" spc="-400" dirty="0">
                <a:latin typeface="Calibri"/>
                <a:cs typeface="Calibri"/>
              </a:rPr>
              <a:t>N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200" dirty="0">
                <a:latin typeface="Calibri"/>
                <a:cs typeface="Calibri"/>
              </a:rPr>
              <a:t>T</a:t>
            </a:r>
            <a:r>
              <a:rPr sz="3200" spc="-270" dirty="0">
                <a:latin typeface="Calibri"/>
                <a:cs typeface="Calibri"/>
              </a:rPr>
              <a:t>E</a:t>
            </a:r>
            <a:r>
              <a:rPr sz="3200" spc="-195" dirty="0">
                <a:latin typeface="Calibri"/>
                <a:cs typeface="Calibri"/>
              </a:rPr>
              <a:t>K</a:t>
            </a:r>
            <a:r>
              <a:rPr sz="3200" spc="-390" dirty="0">
                <a:latin typeface="Calibri"/>
                <a:cs typeface="Calibri"/>
              </a:rPr>
              <a:t>N</a:t>
            </a:r>
            <a:r>
              <a:rPr sz="3200" spc="-400" dirty="0">
                <a:latin typeface="Calibri"/>
                <a:cs typeface="Calibri"/>
              </a:rPr>
              <a:t>O</a:t>
            </a:r>
            <a:r>
              <a:rPr sz="3200" spc="-114" dirty="0">
                <a:latin typeface="Calibri"/>
                <a:cs typeface="Calibri"/>
              </a:rPr>
              <a:t>L</a:t>
            </a:r>
            <a:r>
              <a:rPr sz="3200" spc="-300" dirty="0">
                <a:latin typeface="Calibri"/>
                <a:cs typeface="Calibri"/>
              </a:rPr>
              <a:t>OGI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90" dirty="0">
                <a:latin typeface="Calibri"/>
                <a:cs typeface="Calibri"/>
              </a:rPr>
              <a:t>I</a:t>
            </a:r>
            <a:r>
              <a:rPr sz="3200" spc="-390" dirty="0">
                <a:latin typeface="Calibri"/>
                <a:cs typeface="Calibri"/>
              </a:rPr>
              <a:t>N</a:t>
            </a:r>
            <a:r>
              <a:rPr sz="3200" spc="-300" dirty="0">
                <a:latin typeface="Calibri"/>
                <a:cs typeface="Calibri"/>
              </a:rPr>
              <a:t>F</a:t>
            </a:r>
            <a:r>
              <a:rPr sz="3200" spc="-400" dirty="0">
                <a:latin typeface="Calibri"/>
                <a:cs typeface="Calibri"/>
              </a:rPr>
              <a:t>O</a:t>
            </a:r>
            <a:r>
              <a:rPr sz="3200" spc="-370" dirty="0">
                <a:latin typeface="Calibri"/>
                <a:cs typeface="Calibri"/>
              </a:rPr>
              <a:t>R</a:t>
            </a:r>
            <a:r>
              <a:rPr sz="3200" spc="-785" dirty="0">
                <a:latin typeface="Calibri"/>
                <a:cs typeface="Calibri"/>
              </a:rPr>
              <a:t>M</a:t>
            </a:r>
            <a:r>
              <a:rPr sz="3200" spc="-430" dirty="0">
                <a:latin typeface="Calibri"/>
                <a:cs typeface="Calibri"/>
              </a:rPr>
              <a:t>A</a:t>
            </a:r>
            <a:r>
              <a:rPr sz="3200" spc="-210" dirty="0">
                <a:latin typeface="Calibri"/>
                <a:cs typeface="Calibri"/>
              </a:rPr>
              <a:t>SI  </a:t>
            </a:r>
            <a:r>
              <a:rPr sz="3200" spc="-325" dirty="0">
                <a:latin typeface="Calibri"/>
                <a:cs typeface="Calibri"/>
              </a:rPr>
              <a:t>D</a:t>
            </a:r>
            <a:r>
              <a:rPr sz="3200" spc="-434" dirty="0">
                <a:latin typeface="Calibri"/>
                <a:cs typeface="Calibri"/>
              </a:rPr>
              <a:t>A</a:t>
            </a:r>
            <a:r>
              <a:rPr sz="3200" spc="-114" dirty="0">
                <a:latin typeface="Calibri"/>
                <a:cs typeface="Calibri"/>
              </a:rPr>
              <a:t>L</a:t>
            </a:r>
            <a:r>
              <a:rPr sz="3200" spc="-434" dirty="0">
                <a:latin typeface="Calibri"/>
                <a:cs typeface="Calibri"/>
              </a:rPr>
              <a:t>A</a:t>
            </a:r>
            <a:r>
              <a:rPr sz="3200" spc="-815" dirty="0">
                <a:latin typeface="Calibri"/>
                <a:cs typeface="Calibri"/>
              </a:rPr>
              <a:t>M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325" dirty="0">
                <a:latin typeface="Calibri"/>
                <a:cs typeface="Calibri"/>
              </a:rPr>
              <a:t>D</a:t>
            </a:r>
            <a:r>
              <a:rPr sz="3200" spc="-445" dirty="0">
                <a:latin typeface="Calibri"/>
                <a:cs typeface="Calibri"/>
              </a:rPr>
              <a:t>U</a:t>
            </a:r>
            <a:r>
              <a:rPr sz="3200" spc="-390" dirty="0">
                <a:latin typeface="Calibri"/>
                <a:cs typeface="Calibri"/>
              </a:rPr>
              <a:t>N</a:t>
            </a:r>
            <a:r>
              <a:rPr sz="3200" spc="-95" dirty="0">
                <a:latin typeface="Calibri"/>
                <a:cs typeface="Calibri"/>
              </a:rPr>
              <a:t>I</a:t>
            </a:r>
            <a:r>
              <a:rPr sz="3200" spc="-440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455" dirty="0">
                <a:latin typeface="Calibri"/>
                <a:cs typeface="Calibri"/>
              </a:rPr>
              <a:t>B</a:t>
            </a:r>
            <a:r>
              <a:rPr sz="3200" spc="-95" dirty="0">
                <a:latin typeface="Calibri"/>
                <a:cs typeface="Calibri"/>
              </a:rPr>
              <a:t>I</a:t>
            </a:r>
            <a:r>
              <a:rPr sz="3200" spc="-390" dirty="0">
                <a:latin typeface="Calibri"/>
                <a:cs typeface="Calibri"/>
              </a:rPr>
              <a:t>SN</a:t>
            </a:r>
            <a:r>
              <a:rPr sz="3200" spc="-95" dirty="0">
                <a:latin typeface="Calibri"/>
                <a:cs typeface="Calibri"/>
              </a:rPr>
              <a:t>I</a:t>
            </a:r>
            <a:r>
              <a:rPr sz="3200" spc="-409" dirty="0">
                <a:latin typeface="Calibri"/>
                <a:cs typeface="Calibri"/>
              </a:rPr>
              <a:t>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33107" y="1512874"/>
            <a:ext cx="1868805" cy="833119"/>
          </a:xfrm>
          <a:custGeom>
            <a:avLst/>
            <a:gdLst/>
            <a:ahLst/>
            <a:cxnLst/>
            <a:rect l="l" t="t" r="r" b="b"/>
            <a:pathLst>
              <a:path w="1868805" h="833119">
                <a:moveTo>
                  <a:pt x="0" y="833069"/>
                </a:moveTo>
                <a:lnTo>
                  <a:pt x="1868551" y="833069"/>
                </a:lnTo>
                <a:lnTo>
                  <a:pt x="1868551" y="0"/>
                </a:lnTo>
                <a:lnTo>
                  <a:pt x="0" y="0"/>
                </a:lnTo>
                <a:lnTo>
                  <a:pt x="0" y="8330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64209" y="1538160"/>
            <a:ext cx="1837689" cy="840105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27939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219"/>
              </a:spcBef>
            </a:pPr>
            <a:r>
              <a:rPr sz="1200" b="1" spc="-150" dirty="0">
                <a:latin typeface="Arial"/>
                <a:cs typeface="Arial"/>
              </a:rPr>
              <a:t>MARKETING</a:t>
            </a:r>
            <a:endParaRPr sz="1200">
              <a:latin typeface="Arial"/>
              <a:cs typeface="Arial"/>
            </a:endParaRPr>
          </a:p>
          <a:p>
            <a:pPr marL="264160" indent="-151130">
              <a:lnSpc>
                <a:spcPct val="100000"/>
              </a:lnSpc>
              <a:spcBef>
                <a:spcPts val="10"/>
              </a:spcBef>
              <a:buFont typeface="Wingdings"/>
              <a:buChar char=""/>
              <a:tabLst>
                <a:tab pos="264795" algn="l"/>
              </a:tabLst>
            </a:pPr>
            <a:r>
              <a:rPr sz="1500" spc="-179" baseline="2777" dirty="0">
                <a:latin typeface="Arial MT"/>
                <a:cs typeface="Arial MT"/>
              </a:rPr>
              <a:t>P</a:t>
            </a:r>
            <a:r>
              <a:rPr sz="1500" spc="-104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odu</a:t>
            </a:r>
            <a:r>
              <a:rPr sz="1500" spc="-150" baseline="2777" dirty="0">
                <a:latin typeface="Arial MT"/>
                <a:cs typeface="Arial MT"/>
              </a:rPr>
              <a:t>c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r>
              <a:rPr sz="1500" spc="-82" baseline="2777" dirty="0">
                <a:latin typeface="Arial MT"/>
                <a:cs typeface="Arial MT"/>
              </a:rPr>
              <a:t> </a:t>
            </a:r>
            <a:r>
              <a:rPr sz="1500" spc="-179" baseline="2777" dirty="0">
                <a:latin typeface="Arial MT"/>
                <a:cs typeface="Arial MT"/>
              </a:rPr>
              <a:t>P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150" baseline="2777" dirty="0">
                <a:latin typeface="Arial MT"/>
                <a:cs typeface="Arial MT"/>
              </a:rPr>
              <a:t>s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150" baseline="2777" dirty="0">
                <a:latin typeface="Arial MT"/>
                <a:cs typeface="Arial MT"/>
              </a:rPr>
              <a:t>n</a:t>
            </a:r>
            <a:endParaRPr sz="1500" baseline="2777">
              <a:latin typeface="Arial MT"/>
              <a:cs typeface="Arial MT"/>
            </a:endParaRPr>
          </a:p>
          <a:p>
            <a:pPr marL="264160" indent="-151130">
              <a:lnSpc>
                <a:spcPct val="100000"/>
              </a:lnSpc>
              <a:spcBef>
                <a:spcPts val="55"/>
              </a:spcBef>
              <a:buFont typeface="Wingdings"/>
              <a:buChar char=""/>
              <a:tabLst>
                <a:tab pos="26479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C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209" baseline="2777" dirty="0">
                <a:latin typeface="Arial MT"/>
                <a:cs typeface="Arial MT"/>
              </a:rPr>
              <a:t>m</a:t>
            </a:r>
            <a:r>
              <a:rPr sz="1500" spc="-157" baseline="2777" dirty="0">
                <a:latin typeface="Arial MT"/>
                <a:cs typeface="Arial MT"/>
              </a:rPr>
              <a:t>pe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0" baseline="2777" dirty="0">
                <a:latin typeface="Arial MT"/>
                <a:cs typeface="Arial MT"/>
              </a:rPr>
              <a:t>ve</a:t>
            </a:r>
            <a:r>
              <a:rPr sz="1500" spc="-209" baseline="2777" dirty="0">
                <a:latin typeface="Arial MT"/>
                <a:cs typeface="Arial MT"/>
              </a:rPr>
              <a:t> </a:t>
            </a:r>
            <a:r>
              <a:rPr sz="1500" spc="-179" baseline="2777" dirty="0">
                <a:latin typeface="Arial MT"/>
                <a:cs typeface="Arial MT"/>
              </a:rPr>
              <a:t>A</a:t>
            </a:r>
            <a:r>
              <a:rPr sz="1500" spc="-157" baseline="2777" dirty="0">
                <a:latin typeface="Arial MT"/>
                <a:cs typeface="Arial MT"/>
              </a:rPr>
              <a:t>na</a:t>
            </a:r>
            <a:r>
              <a:rPr sz="1500" spc="-52" baseline="2777" dirty="0">
                <a:latin typeface="Arial MT"/>
                <a:cs typeface="Arial MT"/>
              </a:rPr>
              <a:t>l</a:t>
            </a:r>
            <a:r>
              <a:rPr sz="1500" spc="-150" baseline="2777" dirty="0">
                <a:latin typeface="Arial MT"/>
                <a:cs typeface="Arial MT"/>
              </a:rPr>
              <a:t>ys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endParaRPr sz="1500" baseline="2777">
              <a:latin typeface="Arial MT"/>
              <a:cs typeface="Arial MT"/>
            </a:endParaRPr>
          </a:p>
          <a:p>
            <a:pPr marL="264160" indent="-151130">
              <a:lnSpc>
                <a:spcPct val="100000"/>
              </a:lnSpc>
              <a:spcBef>
                <a:spcPts val="70"/>
              </a:spcBef>
              <a:buFont typeface="Wingdings"/>
              <a:buChar char=""/>
              <a:tabLst>
                <a:tab pos="26479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C</a:t>
            </a:r>
            <a:r>
              <a:rPr sz="1500" spc="-157" baseline="2777" dirty="0">
                <a:latin typeface="Arial MT"/>
                <a:cs typeface="Arial MT"/>
              </a:rPr>
              <a:t>u</a:t>
            </a:r>
            <a:r>
              <a:rPr sz="1500" spc="-112" baseline="2777" dirty="0">
                <a:latin typeface="Arial MT"/>
                <a:cs typeface="Arial MT"/>
              </a:rPr>
              <a:t>rr</a:t>
            </a:r>
            <a:r>
              <a:rPr sz="1500" spc="-157" baseline="2777" dirty="0">
                <a:latin typeface="Arial MT"/>
                <a:cs typeface="Arial MT"/>
              </a:rPr>
              <a:t>en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r>
              <a:rPr sz="1500" spc="-82" baseline="2777" dirty="0">
                <a:latin typeface="Arial MT"/>
                <a:cs typeface="Arial MT"/>
              </a:rPr>
              <a:t> </a:t>
            </a:r>
            <a:r>
              <a:rPr sz="1500" spc="-157" baseline="2777" dirty="0">
                <a:latin typeface="Arial MT"/>
                <a:cs typeface="Arial MT"/>
              </a:rPr>
              <a:t>p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52" baseline="2777" dirty="0">
                <a:latin typeface="Arial MT"/>
                <a:cs typeface="Arial MT"/>
              </a:rPr>
              <a:t>j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150" baseline="2777" dirty="0">
                <a:latin typeface="Arial MT"/>
                <a:cs typeface="Arial MT"/>
              </a:rPr>
              <a:t>c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endParaRPr sz="1500" baseline="2777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5152" y="2584450"/>
            <a:ext cx="2375535" cy="1246505"/>
          </a:xfrm>
          <a:custGeom>
            <a:avLst/>
            <a:gdLst/>
            <a:ahLst/>
            <a:cxnLst/>
            <a:rect l="l" t="t" r="r" b="b"/>
            <a:pathLst>
              <a:path w="2375535" h="1246504">
                <a:moveTo>
                  <a:pt x="0" y="1246251"/>
                </a:moveTo>
                <a:lnTo>
                  <a:pt x="2375535" y="1246251"/>
                </a:lnTo>
                <a:lnTo>
                  <a:pt x="2375535" y="0"/>
                </a:lnTo>
                <a:lnTo>
                  <a:pt x="0" y="0"/>
                </a:lnTo>
                <a:lnTo>
                  <a:pt x="0" y="124625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06266" y="2611386"/>
            <a:ext cx="2344420" cy="1253490"/>
          </a:xfrm>
          <a:prstGeom prst="rect">
            <a:avLst/>
          </a:prstGeom>
          <a:solidFill>
            <a:srgbClr val="FFFF99"/>
          </a:solidFill>
        </p:spPr>
        <p:txBody>
          <a:bodyPr vert="horz" wrap="square" lIns="0" tIns="2286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80"/>
              </a:spcBef>
            </a:pPr>
            <a:r>
              <a:rPr sz="1200" b="1" spc="-155" dirty="0">
                <a:latin typeface="Arial"/>
                <a:cs typeface="Arial"/>
              </a:rPr>
              <a:t>C</a:t>
            </a:r>
            <a:r>
              <a:rPr sz="1200" b="1" spc="-175" dirty="0">
                <a:latin typeface="Arial"/>
                <a:cs typeface="Arial"/>
              </a:rPr>
              <a:t>O</a:t>
            </a:r>
            <a:r>
              <a:rPr sz="1200" b="1" spc="-150" dirty="0">
                <a:latin typeface="Arial"/>
                <a:cs typeface="Arial"/>
              </a:rPr>
              <a:t>R</a:t>
            </a:r>
            <a:r>
              <a:rPr sz="1200" b="1" spc="-155" dirty="0">
                <a:latin typeface="Arial"/>
                <a:cs typeface="Arial"/>
              </a:rPr>
              <a:t>P</a:t>
            </a:r>
            <a:r>
              <a:rPr sz="1200" b="1" spc="-175" dirty="0">
                <a:latin typeface="Arial"/>
                <a:cs typeface="Arial"/>
              </a:rPr>
              <a:t>O</a:t>
            </a:r>
            <a:r>
              <a:rPr sz="1200" b="1" spc="-150" dirty="0">
                <a:latin typeface="Arial"/>
                <a:cs typeface="Arial"/>
              </a:rPr>
              <a:t>R</a:t>
            </a:r>
            <a:r>
              <a:rPr sz="1200" b="1" spc="-225" dirty="0">
                <a:latin typeface="Arial"/>
                <a:cs typeface="Arial"/>
              </a:rPr>
              <a:t>A</a:t>
            </a:r>
            <a:r>
              <a:rPr sz="1200" b="1" spc="-140" dirty="0">
                <a:latin typeface="Arial"/>
                <a:cs typeface="Arial"/>
              </a:rPr>
              <a:t>TE</a:t>
            </a:r>
            <a:r>
              <a:rPr sz="1200" b="1" spc="-105" dirty="0">
                <a:latin typeface="Arial"/>
                <a:cs typeface="Arial"/>
              </a:rPr>
              <a:t> </a:t>
            </a:r>
            <a:r>
              <a:rPr sz="1200" b="1" spc="-155" dirty="0">
                <a:latin typeface="Arial"/>
                <a:cs typeface="Arial"/>
              </a:rPr>
              <a:t>H</a:t>
            </a:r>
            <a:r>
              <a:rPr sz="1200" b="1" spc="-180" dirty="0">
                <a:latin typeface="Arial"/>
                <a:cs typeface="Arial"/>
              </a:rPr>
              <a:t>OM</a:t>
            </a:r>
            <a:r>
              <a:rPr sz="1200" b="1" spc="-145" dirty="0">
                <a:latin typeface="Arial"/>
                <a:cs typeface="Arial"/>
              </a:rPr>
              <a:t>E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229" dirty="0">
                <a:latin typeface="Arial"/>
                <a:cs typeface="Arial"/>
              </a:rPr>
              <a:t>P</a:t>
            </a:r>
            <a:r>
              <a:rPr sz="1200" b="1" spc="-155" dirty="0">
                <a:latin typeface="Arial"/>
                <a:cs typeface="Arial"/>
              </a:rPr>
              <a:t>A</a:t>
            </a:r>
            <a:r>
              <a:rPr sz="1200" b="1" spc="-165" dirty="0">
                <a:latin typeface="Arial"/>
                <a:cs typeface="Arial"/>
              </a:rPr>
              <a:t>GE</a:t>
            </a:r>
            <a:endParaRPr sz="1200">
              <a:latin typeface="Arial"/>
              <a:cs typeface="Arial"/>
            </a:endParaRPr>
          </a:p>
          <a:p>
            <a:pPr marL="261620" indent="-15113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262255" algn="l"/>
              </a:tabLst>
            </a:pPr>
            <a:r>
              <a:rPr sz="1500" spc="-209" baseline="2777" dirty="0">
                <a:latin typeface="Arial MT"/>
                <a:cs typeface="Arial MT"/>
              </a:rPr>
              <a:t>M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150" baseline="2777" dirty="0">
                <a:latin typeface="Arial MT"/>
                <a:cs typeface="Arial MT"/>
              </a:rPr>
              <a:t>ss</a:t>
            </a:r>
            <a:r>
              <a:rPr sz="1500" spc="-157" baseline="2777" dirty="0">
                <a:latin typeface="Arial MT"/>
                <a:cs typeface="Arial MT"/>
              </a:rPr>
              <a:t>eg</a:t>
            </a:r>
            <a:r>
              <a:rPr sz="1500" spc="-150" baseline="2777" dirty="0">
                <a:latin typeface="Arial MT"/>
                <a:cs typeface="Arial MT"/>
              </a:rPr>
              <a:t>e</a:t>
            </a:r>
            <a:r>
              <a:rPr sz="1500" spc="-104" baseline="2777" dirty="0">
                <a:latin typeface="Arial MT"/>
                <a:cs typeface="Arial MT"/>
              </a:rPr>
              <a:t> 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75" baseline="2777" dirty="0">
                <a:latin typeface="Arial MT"/>
                <a:cs typeface="Arial MT"/>
              </a:rPr>
              <a:t>f</a:t>
            </a:r>
            <a:r>
              <a:rPr sz="1500" spc="-120" baseline="2777" dirty="0">
                <a:latin typeface="Arial MT"/>
                <a:cs typeface="Arial MT"/>
              </a:rPr>
              <a:t> 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157" baseline="2777" dirty="0">
                <a:latin typeface="Arial MT"/>
                <a:cs typeface="Arial MT"/>
              </a:rPr>
              <a:t>h</a:t>
            </a:r>
            <a:r>
              <a:rPr sz="1500" spc="-150" baseline="2777" dirty="0">
                <a:latin typeface="Arial MT"/>
                <a:cs typeface="Arial MT"/>
              </a:rPr>
              <a:t>e</a:t>
            </a:r>
            <a:r>
              <a:rPr sz="1500" spc="-104" baseline="2777" dirty="0">
                <a:latin typeface="Arial MT"/>
                <a:cs typeface="Arial MT"/>
              </a:rPr>
              <a:t> </a:t>
            </a:r>
            <a:r>
              <a:rPr sz="1500" spc="-195" baseline="2777" dirty="0">
                <a:latin typeface="Arial MT"/>
                <a:cs typeface="Arial MT"/>
              </a:rPr>
              <a:t>D</a:t>
            </a:r>
            <a:r>
              <a:rPr sz="1500" spc="-157" baseline="2777" dirty="0">
                <a:latin typeface="Arial MT"/>
                <a:cs typeface="Arial MT"/>
              </a:rPr>
              <a:t>a</a:t>
            </a:r>
            <a:r>
              <a:rPr sz="1500" spc="-135" baseline="2777" dirty="0">
                <a:latin typeface="Arial MT"/>
                <a:cs typeface="Arial MT"/>
              </a:rPr>
              <a:t>y</a:t>
            </a:r>
            <a:endParaRPr sz="1500" baseline="2777">
              <a:latin typeface="Arial MT"/>
              <a:cs typeface="Arial MT"/>
            </a:endParaRPr>
          </a:p>
          <a:p>
            <a:pPr marL="261620" indent="-151130">
              <a:lnSpc>
                <a:spcPct val="100000"/>
              </a:lnSpc>
              <a:spcBef>
                <a:spcPts val="45"/>
              </a:spcBef>
              <a:buFont typeface="Wingdings"/>
              <a:buChar char=""/>
              <a:tabLst>
                <a:tab pos="26225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C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209" baseline="2777" dirty="0">
                <a:latin typeface="Arial MT"/>
                <a:cs typeface="Arial MT"/>
              </a:rPr>
              <a:t>m</a:t>
            </a:r>
            <a:r>
              <a:rPr sz="1500" spc="-157" baseline="2777" dirty="0">
                <a:latin typeface="Arial MT"/>
                <a:cs typeface="Arial MT"/>
              </a:rPr>
              <a:t>pan</a:t>
            </a:r>
            <a:r>
              <a:rPr sz="1500" spc="-135" baseline="2777" dirty="0">
                <a:latin typeface="Arial MT"/>
                <a:cs typeface="Arial MT"/>
              </a:rPr>
              <a:t>y</a:t>
            </a:r>
            <a:r>
              <a:rPr sz="1500" spc="-142" baseline="2777" dirty="0">
                <a:latin typeface="Arial MT"/>
                <a:cs typeface="Arial MT"/>
              </a:rPr>
              <a:t> </a:t>
            </a:r>
            <a:r>
              <a:rPr sz="1500" spc="-195" baseline="2777" dirty="0">
                <a:latin typeface="Arial MT"/>
                <a:cs typeface="Arial MT"/>
              </a:rPr>
              <a:t>N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195" baseline="2777" dirty="0">
                <a:latin typeface="Arial MT"/>
                <a:cs typeface="Arial MT"/>
              </a:rPr>
              <a:t>w</a:t>
            </a:r>
            <a:r>
              <a:rPr sz="1500" spc="-150" baseline="2777" dirty="0">
                <a:latin typeface="Arial MT"/>
                <a:cs typeface="Arial MT"/>
              </a:rPr>
              <a:t>s</a:t>
            </a:r>
            <a:r>
              <a:rPr sz="1500" spc="-52" baseline="2777" dirty="0">
                <a:latin typeface="Arial MT"/>
                <a:cs typeface="Arial MT"/>
              </a:rPr>
              <a:t>l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67" baseline="2777" dirty="0">
                <a:latin typeface="Arial MT"/>
                <a:cs typeface="Arial MT"/>
              </a:rPr>
              <a:t>tt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89" baseline="2777" dirty="0">
                <a:latin typeface="Arial MT"/>
                <a:cs typeface="Arial MT"/>
              </a:rPr>
              <a:t>r</a:t>
            </a:r>
            <a:endParaRPr sz="1500" baseline="2777">
              <a:latin typeface="Arial MT"/>
              <a:cs typeface="Arial MT"/>
            </a:endParaRPr>
          </a:p>
          <a:p>
            <a:pPr marL="261620" indent="-151130">
              <a:lnSpc>
                <a:spcPct val="100000"/>
              </a:lnSpc>
              <a:spcBef>
                <a:spcPts val="45"/>
              </a:spcBef>
              <a:buFont typeface="Wingdings"/>
              <a:buChar char=""/>
              <a:tabLst>
                <a:tab pos="262255" algn="l"/>
                <a:tab pos="1130300" algn="l"/>
              </a:tabLst>
            </a:pPr>
            <a:r>
              <a:rPr sz="1500" spc="-120" baseline="2777" dirty="0">
                <a:latin typeface="Arial MT"/>
                <a:cs typeface="Arial MT"/>
              </a:rPr>
              <a:t>Financial </a:t>
            </a:r>
            <a:r>
              <a:rPr sz="1500" spc="-165" baseline="2777" dirty="0">
                <a:latin typeface="Arial MT"/>
                <a:cs typeface="Arial MT"/>
              </a:rPr>
              <a:t>Upd	</a:t>
            </a:r>
            <a:r>
              <a:rPr sz="1500" spc="-127" baseline="2777" dirty="0">
                <a:latin typeface="Arial MT"/>
                <a:cs typeface="Arial MT"/>
              </a:rPr>
              <a:t>ate</a:t>
            </a:r>
            <a:endParaRPr sz="1500" baseline="2777">
              <a:latin typeface="Arial MT"/>
              <a:cs typeface="Arial MT"/>
            </a:endParaRPr>
          </a:p>
          <a:p>
            <a:pPr marL="261620" indent="-151130">
              <a:lnSpc>
                <a:spcPct val="100000"/>
              </a:lnSpc>
              <a:spcBef>
                <a:spcPts val="55"/>
              </a:spcBef>
              <a:buFont typeface="Wingdings"/>
              <a:buChar char=""/>
              <a:tabLst>
                <a:tab pos="262255" algn="l"/>
              </a:tabLst>
            </a:pPr>
            <a:r>
              <a:rPr sz="1500" spc="-67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n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ne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r>
              <a:rPr sz="1500" spc="-157" baseline="2777" dirty="0">
                <a:latin typeface="Arial MT"/>
                <a:cs typeface="Arial MT"/>
              </a:rPr>
              <a:t> L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n</a:t>
            </a:r>
            <a:r>
              <a:rPr sz="1500" spc="-135" baseline="2777" dirty="0">
                <a:latin typeface="Arial MT"/>
                <a:cs typeface="Arial MT"/>
              </a:rPr>
              <a:t>k</a:t>
            </a:r>
            <a:endParaRPr sz="1500" baseline="2777">
              <a:latin typeface="Arial MT"/>
              <a:cs typeface="Arial MT"/>
            </a:endParaRPr>
          </a:p>
          <a:p>
            <a:pPr marL="261620" indent="-151130">
              <a:lnSpc>
                <a:spcPct val="100000"/>
              </a:lnSpc>
              <a:spcBef>
                <a:spcPts val="70"/>
              </a:spcBef>
              <a:buFont typeface="Wingdings"/>
              <a:buChar char=""/>
              <a:tabLst>
                <a:tab pos="262255" algn="l"/>
              </a:tabLst>
            </a:pPr>
            <a:r>
              <a:rPr sz="1500" spc="-67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n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ane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r>
              <a:rPr sz="1500" spc="-157" baseline="2777" dirty="0">
                <a:latin typeface="Arial MT"/>
                <a:cs typeface="Arial MT"/>
              </a:rPr>
              <a:t> L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n</a:t>
            </a:r>
            <a:r>
              <a:rPr sz="1500" spc="-135" baseline="2777" dirty="0">
                <a:latin typeface="Arial MT"/>
                <a:cs typeface="Arial MT"/>
              </a:rPr>
              <a:t>k</a:t>
            </a:r>
            <a:endParaRPr sz="1500" baseline="2777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13734" y="5281891"/>
            <a:ext cx="1864995" cy="833119"/>
          </a:xfrm>
          <a:custGeom>
            <a:avLst/>
            <a:gdLst/>
            <a:ahLst/>
            <a:cxnLst/>
            <a:rect l="l" t="t" r="r" b="b"/>
            <a:pathLst>
              <a:path w="1864995" h="833120">
                <a:moveTo>
                  <a:pt x="0" y="833069"/>
                </a:moveTo>
                <a:lnTo>
                  <a:pt x="1864994" y="833069"/>
                </a:lnTo>
                <a:lnTo>
                  <a:pt x="1864994" y="0"/>
                </a:lnTo>
                <a:lnTo>
                  <a:pt x="0" y="0"/>
                </a:lnTo>
                <a:lnTo>
                  <a:pt x="0" y="8330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44848" y="5308765"/>
            <a:ext cx="1833880" cy="840105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2794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220"/>
              </a:spcBef>
            </a:pPr>
            <a:r>
              <a:rPr sz="1200" b="1" spc="-150" dirty="0">
                <a:latin typeface="Arial"/>
                <a:cs typeface="Arial"/>
              </a:rPr>
              <a:t>MANUFACTURING</a:t>
            </a:r>
            <a:endParaRPr sz="1200">
              <a:latin typeface="Arial"/>
              <a:cs typeface="Arial"/>
            </a:endParaRPr>
          </a:p>
          <a:p>
            <a:pPr marL="261620" indent="-15113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26225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TQM</a:t>
            </a:r>
            <a:endParaRPr sz="1500" baseline="2777">
              <a:latin typeface="Arial MT"/>
              <a:cs typeface="Arial MT"/>
            </a:endParaRPr>
          </a:p>
          <a:p>
            <a:pPr marL="261620" indent="-151130">
              <a:lnSpc>
                <a:spcPct val="100000"/>
              </a:lnSpc>
              <a:spcBef>
                <a:spcPts val="40"/>
              </a:spcBef>
              <a:buFont typeface="Wingdings"/>
              <a:buChar char=""/>
              <a:tabLst>
                <a:tab pos="262255" algn="l"/>
              </a:tabLst>
            </a:pPr>
            <a:r>
              <a:rPr sz="1500" spc="-179" baseline="2777" dirty="0">
                <a:latin typeface="Arial MT"/>
                <a:cs typeface="Arial MT"/>
              </a:rPr>
              <a:t>P</a:t>
            </a:r>
            <a:r>
              <a:rPr sz="1500" spc="-104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odu</a:t>
            </a:r>
            <a:r>
              <a:rPr sz="1500" spc="-150" baseline="2777" dirty="0">
                <a:latin typeface="Arial MT"/>
                <a:cs typeface="Arial MT"/>
              </a:rPr>
              <a:t>c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r>
              <a:rPr sz="1500" spc="-82" baseline="2777" dirty="0">
                <a:latin typeface="Arial MT"/>
                <a:cs typeface="Arial MT"/>
              </a:rPr>
              <a:t> </a:t>
            </a:r>
            <a:r>
              <a:rPr sz="1500" spc="-179" baseline="2777" dirty="0">
                <a:latin typeface="Arial MT"/>
                <a:cs typeface="Arial MT"/>
              </a:rPr>
              <a:t>S</a:t>
            </a:r>
            <a:r>
              <a:rPr sz="1500" spc="-150" baseline="2777" dirty="0">
                <a:latin typeface="Arial MT"/>
                <a:cs typeface="Arial MT"/>
              </a:rPr>
              <a:t>chedu</a:t>
            </a:r>
            <a:r>
              <a:rPr sz="1500" spc="-52" baseline="2777" dirty="0">
                <a:latin typeface="Arial MT"/>
                <a:cs typeface="Arial MT"/>
              </a:rPr>
              <a:t>l</a:t>
            </a:r>
            <a:r>
              <a:rPr sz="1500" spc="-150" baseline="2777" dirty="0">
                <a:latin typeface="Arial MT"/>
                <a:cs typeface="Arial MT"/>
              </a:rPr>
              <a:t>e</a:t>
            </a:r>
            <a:endParaRPr sz="1500" baseline="2777">
              <a:latin typeface="Arial MT"/>
              <a:cs typeface="Arial MT"/>
            </a:endParaRPr>
          </a:p>
          <a:p>
            <a:pPr marL="261620" indent="-151130">
              <a:lnSpc>
                <a:spcPct val="100000"/>
              </a:lnSpc>
              <a:spcBef>
                <a:spcPts val="85"/>
              </a:spcBef>
              <a:buFont typeface="Wingdings"/>
              <a:buChar char=""/>
              <a:tabLst>
                <a:tab pos="262255" algn="l"/>
              </a:tabLst>
            </a:pPr>
            <a:r>
              <a:rPr sz="1500" spc="-135" baseline="2777" dirty="0">
                <a:latin typeface="Arial MT"/>
                <a:cs typeface="Arial MT"/>
              </a:rPr>
              <a:t>Engineering</a:t>
            </a:r>
            <a:endParaRPr sz="1500" baseline="2777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3107" y="4087672"/>
            <a:ext cx="2037080" cy="833119"/>
          </a:xfrm>
          <a:custGeom>
            <a:avLst/>
            <a:gdLst/>
            <a:ahLst/>
            <a:cxnLst/>
            <a:rect l="l" t="t" r="r" b="b"/>
            <a:pathLst>
              <a:path w="2037080" h="833120">
                <a:moveTo>
                  <a:pt x="0" y="833069"/>
                </a:moveTo>
                <a:lnTo>
                  <a:pt x="2036952" y="833069"/>
                </a:lnTo>
                <a:lnTo>
                  <a:pt x="2036952" y="0"/>
                </a:lnTo>
                <a:lnTo>
                  <a:pt x="0" y="0"/>
                </a:lnTo>
                <a:lnTo>
                  <a:pt x="0" y="8330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64209" y="4114609"/>
            <a:ext cx="2005964" cy="840105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27305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215"/>
              </a:spcBef>
            </a:pPr>
            <a:r>
              <a:rPr sz="1200" b="1" spc="-155" dirty="0">
                <a:latin typeface="Arial"/>
                <a:cs typeface="Arial"/>
              </a:rPr>
              <a:t>HU</a:t>
            </a:r>
            <a:r>
              <a:rPr sz="1200" b="1" spc="-185" dirty="0">
                <a:latin typeface="Arial"/>
                <a:cs typeface="Arial"/>
              </a:rPr>
              <a:t>M</a:t>
            </a:r>
            <a:r>
              <a:rPr sz="1200" b="1" spc="-155" dirty="0">
                <a:latin typeface="Arial"/>
                <a:cs typeface="Arial"/>
              </a:rPr>
              <a:t>A</a:t>
            </a:r>
            <a:r>
              <a:rPr sz="1200" b="1" spc="-160" dirty="0">
                <a:latin typeface="Arial"/>
                <a:cs typeface="Arial"/>
              </a:rPr>
              <a:t>N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-155" dirty="0">
                <a:latin typeface="Arial"/>
                <a:cs typeface="Arial"/>
              </a:rPr>
              <a:t>RES</a:t>
            </a:r>
            <a:r>
              <a:rPr sz="1200" b="1" spc="-175" dirty="0">
                <a:latin typeface="Arial"/>
                <a:cs typeface="Arial"/>
              </a:rPr>
              <a:t>O</a:t>
            </a:r>
            <a:r>
              <a:rPr sz="1200" b="1" spc="-150" dirty="0">
                <a:latin typeface="Arial"/>
                <a:cs typeface="Arial"/>
              </a:rPr>
              <a:t>U</a:t>
            </a:r>
            <a:r>
              <a:rPr sz="1200" b="1" spc="-155" dirty="0">
                <a:latin typeface="Arial"/>
                <a:cs typeface="Arial"/>
              </a:rPr>
              <a:t>RCE</a:t>
            </a:r>
            <a:r>
              <a:rPr sz="1200" b="1" spc="-145" dirty="0">
                <a:latin typeface="Arial"/>
                <a:cs typeface="Arial"/>
              </a:rPr>
              <a:t>S</a:t>
            </a:r>
            <a:endParaRPr sz="1200">
              <a:latin typeface="Arial"/>
              <a:cs typeface="Arial"/>
            </a:endParaRPr>
          </a:p>
          <a:p>
            <a:pPr marL="264160" indent="-15113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264795" algn="l"/>
              </a:tabLst>
            </a:pPr>
            <a:r>
              <a:rPr sz="1500" spc="-165" baseline="2777" dirty="0">
                <a:latin typeface="Arial MT"/>
                <a:cs typeface="Arial MT"/>
              </a:rPr>
              <a:t>T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a</a:t>
            </a:r>
            <a:r>
              <a:rPr sz="1500" spc="-150" baseline="2777" dirty="0">
                <a:latin typeface="Arial MT"/>
                <a:cs typeface="Arial MT"/>
              </a:rPr>
              <a:t>v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52" baseline="2777" dirty="0">
                <a:latin typeface="Arial MT"/>
                <a:cs typeface="Arial MT"/>
              </a:rPr>
              <a:t>l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r>
              <a:rPr sz="1500" spc="-67" baseline="2777" dirty="0">
                <a:latin typeface="Arial MT"/>
                <a:cs typeface="Arial MT"/>
              </a:rPr>
              <a:t> </a:t>
            </a:r>
            <a:r>
              <a:rPr sz="1500" spc="-179" baseline="2777" dirty="0">
                <a:latin typeface="Arial MT"/>
                <a:cs typeface="Arial MT"/>
              </a:rPr>
              <a:t>P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52" baseline="2777" dirty="0">
                <a:latin typeface="Arial MT"/>
                <a:cs typeface="Arial MT"/>
              </a:rPr>
              <a:t>li</a:t>
            </a:r>
            <a:r>
              <a:rPr sz="1500" spc="-150" baseline="2777" dirty="0">
                <a:latin typeface="Arial MT"/>
                <a:cs typeface="Arial MT"/>
              </a:rPr>
              <a:t>c</a:t>
            </a:r>
            <a:r>
              <a:rPr sz="1500" spc="-135" baseline="2777" dirty="0">
                <a:latin typeface="Arial MT"/>
                <a:cs typeface="Arial MT"/>
              </a:rPr>
              <a:t>y</a:t>
            </a:r>
            <a:endParaRPr sz="1500" baseline="2777">
              <a:latin typeface="Arial MT"/>
              <a:cs typeface="Arial MT"/>
            </a:endParaRPr>
          </a:p>
          <a:p>
            <a:pPr marL="264160" indent="-151130">
              <a:lnSpc>
                <a:spcPct val="100000"/>
              </a:lnSpc>
              <a:spcBef>
                <a:spcPts val="40"/>
              </a:spcBef>
              <a:buFont typeface="Wingdings"/>
              <a:buChar char=""/>
              <a:tabLst>
                <a:tab pos="264795" algn="l"/>
              </a:tabLst>
            </a:pPr>
            <a:r>
              <a:rPr sz="1500" spc="-179" baseline="2777" dirty="0">
                <a:latin typeface="Arial MT"/>
                <a:cs typeface="Arial MT"/>
              </a:rPr>
              <a:t>B</a:t>
            </a:r>
            <a:r>
              <a:rPr sz="1500" spc="-157" baseline="2777" dirty="0">
                <a:latin typeface="Arial MT"/>
                <a:cs typeface="Arial MT"/>
              </a:rPr>
              <a:t>ene</a:t>
            </a:r>
            <a:r>
              <a:rPr sz="1500" spc="-67" baseline="2777" dirty="0">
                <a:latin typeface="Arial MT"/>
                <a:cs typeface="Arial MT"/>
              </a:rPr>
              <a:t>f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r>
              <a:rPr sz="1500" spc="-157" baseline="2777" dirty="0">
                <a:latin typeface="Arial MT"/>
                <a:cs typeface="Arial MT"/>
              </a:rPr>
              <a:t> </a:t>
            </a:r>
            <a:r>
              <a:rPr sz="1500" spc="-179" baseline="2777" dirty="0">
                <a:latin typeface="Arial MT"/>
                <a:cs typeface="Arial MT"/>
              </a:rPr>
              <a:t>P</a:t>
            </a:r>
            <a:r>
              <a:rPr sz="1500" spc="-104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67" baseline="2777" dirty="0">
                <a:latin typeface="Arial MT"/>
                <a:cs typeface="Arial MT"/>
              </a:rPr>
              <a:t>f</a:t>
            </a:r>
            <a:r>
              <a:rPr sz="1500" spc="-52" baseline="2777" dirty="0">
                <a:latin typeface="Arial MT"/>
                <a:cs typeface="Arial MT"/>
              </a:rPr>
              <a:t>il</a:t>
            </a:r>
            <a:r>
              <a:rPr sz="1500" spc="-150" baseline="2777" dirty="0">
                <a:latin typeface="Arial MT"/>
                <a:cs typeface="Arial MT"/>
              </a:rPr>
              <a:t>e</a:t>
            </a:r>
            <a:endParaRPr sz="1500" baseline="2777">
              <a:latin typeface="Arial MT"/>
              <a:cs typeface="Arial MT"/>
            </a:endParaRPr>
          </a:p>
          <a:p>
            <a:pPr marL="264160" indent="-151130">
              <a:lnSpc>
                <a:spcPct val="100000"/>
              </a:lnSpc>
              <a:spcBef>
                <a:spcPts val="85"/>
              </a:spcBef>
              <a:buFont typeface="Wingdings"/>
              <a:buChar char=""/>
              <a:tabLst>
                <a:tab pos="264795" algn="l"/>
              </a:tabLst>
            </a:pPr>
            <a:r>
              <a:rPr sz="1500" spc="-165" baseline="2777" dirty="0">
                <a:latin typeface="Arial MT"/>
                <a:cs typeface="Arial MT"/>
              </a:rPr>
              <a:t>T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a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n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n</a:t>
            </a:r>
            <a:r>
              <a:rPr sz="1500" spc="-150" baseline="2777" dirty="0">
                <a:latin typeface="Arial MT"/>
                <a:cs typeface="Arial MT"/>
              </a:rPr>
              <a:t>g</a:t>
            </a:r>
            <a:r>
              <a:rPr sz="1500" spc="-104" baseline="2777" dirty="0">
                <a:latin typeface="Arial MT"/>
                <a:cs typeface="Arial MT"/>
              </a:rPr>
              <a:t> </a:t>
            </a:r>
            <a:r>
              <a:rPr sz="1500" spc="-179" baseline="2777" dirty="0">
                <a:latin typeface="Arial MT"/>
                <a:cs typeface="Arial MT"/>
              </a:rPr>
              <a:t>P</a:t>
            </a:r>
            <a:r>
              <a:rPr sz="1500" spc="-104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og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a</a:t>
            </a:r>
            <a:r>
              <a:rPr sz="1500" spc="-209" baseline="2777" dirty="0">
                <a:latin typeface="Arial MT"/>
                <a:cs typeface="Arial MT"/>
              </a:rPr>
              <a:t>m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endParaRPr sz="1500" baseline="2777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3107" y="5595975"/>
            <a:ext cx="1868805" cy="833119"/>
          </a:xfrm>
          <a:custGeom>
            <a:avLst/>
            <a:gdLst/>
            <a:ahLst/>
            <a:cxnLst/>
            <a:rect l="l" t="t" r="r" b="b"/>
            <a:pathLst>
              <a:path w="1868805" h="833120">
                <a:moveTo>
                  <a:pt x="0" y="833069"/>
                </a:moveTo>
                <a:lnTo>
                  <a:pt x="1868551" y="833069"/>
                </a:lnTo>
                <a:lnTo>
                  <a:pt x="1868551" y="0"/>
                </a:lnTo>
                <a:lnTo>
                  <a:pt x="0" y="0"/>
                </a:lnTo>
                <a:lnTo>
                  <a:pt x="0" y="8330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64209" y="5621172"/>
            <a:ext cx="1837689" cy="840105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26034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204"/>
              </a:spcBef>
            </a:pPr>
            <a:r>
              <a:rPr sz="1200" b="1" spc="-135" dirty="0">
                <a:latin typeface="Arial"/>
                <a:cs typeface="Arial"/>
              </a:rPr>
              <a:t>TRAINING</a:t>
            </a:r>
            <a:endParaRPr sz="1200">
              <a:latin typeface="Arial"/>
              <a:cs typeface="Arial"/>
            </a:endParaRPr>
          </a:p>
          <a:p>
            <a:pPr marL="264160" indent="-151130">
              <a:lnSpc>
                <a:spcPct val="100000"/>
              </a:lnSpc>
              <a:spcBef>
                <a:spcPts val="10"/>
              </a:spcBef>
              <a:buFont typeface="Wingdings"/>
              <a:buChar char=""/>
              <a:tabLst>
                <a:tab pos="26479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C</a:t>
            </a:r>
            <a:r>
              <a:rPr sz="1500" spc="-157" baseline="2777" dirty="0">
                <a:latin typeface="Arial MT"/>
                <a:cs typeface="Arial MT"/>
              </a:rPr>
              <a:t>ou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50" baseline="2777" dirty="0">
                <a:latin typeface="Arial MT"/>
                <a:cs typeface="Arial MT"/>
              </a:rPr>
              <a:t>s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r>
              <a:rPr sz="1500" spc="-104" baseline="2777" dirty="0">
                <a:latin typeface="Arial MT"/>
                <a:cs typeface="Arial MT"/>
              </a:rPr>
              <a:t> </a:t>
            </a:r>
            <a:r>
              <a:rPr sz="1500" spc="-179" baseline="2777" dirty="0">
                <a:latin typeface="Arial MT"/>
                <a:cs typeface="Arial MT"/>
              </a:rPr>
              <a:t>A</a:t>
            </a:r>
            <a:r>
              <a:rPr sz="1500" spc="-150" baseline="2777" dirty="0">
                <a:latin typeface="Arial MT"/>
                <a:cs typeface="Arial MT"/>
              </a:rPr>
              <a:t>va</a:t>
            </a:r>
            <a:r>
              <a:rPr sz="1500" spc="-52" baseline="2777" dirty="0">
                <a:latin typeface="Arial MT"/>
                <a:cs typeface="Arial MT"/>
              </a:rPr>
              <a:t>il</a:t>
            </a:r>
            <a:r>
              <a:rPr sz="1500" spc="-157" baseline="2777" dirty="0">
                <a:latin typeface="Arial MT"/>
                <a:cs typeface="Arial MT"/>
              </a:rPr>
              <a:t>ab</a:t>
            </a:r>
            <a:r>
              <a:rPr sz="1500" spc="-52" baseline="2777" dirty="0">
                <a:latin typeface="Arial MT"/>
                <a:cs typeface="Arial MT"/>
              </a:rPr>
              <a:t>l</a:t>
            </a:r>
            <a:r>
              <a:rPr sz="1500" spc="-150" baseline="2777" dirty="0">
                <a:latin typeface="Arial MT"/>
                <a:cs typeface="Arial MT"/>
              </a:rPr>
              <a:t>e</a:t>
            </a:r>
            <a:endParaRPr sz="1500" baseline="2777">
              <a:latin typeface="Arial MT"/>
              <a:cs typeface="Arial MT"/>
            </a:endParaRPr>
          </a:p>
          <a:p>
            <a:pPr marL="264160" indent="-151130">
              <a:lnSpc>
                <a:spcPct val="100000"/>
              </a:lnSpc>
              <a:spcBef>
                <a:spcPts val="60"/>
              </a:spcBef>
              <a:buFont typeface="Wingdings"/>
              <a:buChar char=""/>
              <a:tabLst>
                <a:tab pos="26479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C</a:t>
            </a:r>
            <a:r>
              <a:rPr sz="1500" spc="-52" baseline="2777" dirty="0">
                <a:latin typeface="Arial MT"/>
                <a:cs typeface="Arial MT"/>
              </a:rPr>
              <a:t>l</a:t>
            </a:r>
            <a:r>
              <a:rPr sz="1500" spc="-157" baseline="2777" dirty="0">
                <a:latin typeface="Arial MT"/>
                <a:cs typeface="Arial MT"/>
              </a:rPr>
              <a:t>a</a:t>
            </a:r>
            <a:r>
              <a:rPr sz="1500" spc="-150" baseline="2777" dirty="0">
                <a:latin typeface="Arial MT"/>
                <a:cs typeface="Arial MT"/>
              </a:rPr>
              <a:t>s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r>
              <a:rPr sz="1500" spc="-104" baseline="2777" dirty="0">
                <a:latin typeface="Arial MT"/>
                <a:cs typeface="Arial MT"/>
              </a:rPr>
              <a:t> </a:t>
            </a:r>
            <a:r>
              <a:rPr sz="1500" spc="-195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eg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0" baseline="2777" dirty="0">
                <a:latin typeface="Arial MT"/>
                <a:cs typeface="Arial MT"/>
              </a:rPr>
              <a:t>s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a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150" baseline="2777" dirty="0">
                <a:latin typeface="Arial MT"/>
                <a:cs typeface="Arial MT"/>
              </a:rPr>
              <a:t>n</a:t>
            </a:r>
            <a:endParaRPr sz="1500" baseline="2777">
              <a:latin typeface="Arial MT"/>
              <a:cs typeface="Arial MT"/>
            </a:endParaRPr>
          </a:p>
          <a:p>
            <a:pPr marL="264160" indent="-151130">
              <a:lnSpc>
                <a:spcPct val="100000"/>
              </a:lnSpc>
              <a:spcBef>
                <a:spcPts val="70"/>
              </a:spcBef>
              <a:buFont typeface="Wingdings"/>
              <a:buChar char=""/>
              <a:tabLst>
                <a:tab pos="264795" algn="l"/>
              </a:tabLst>
            </a:pPr>
            <a:r>
              <a:rPr sz="1500" spc="-165" baseline="2777" dirty="0">
                <a:latin typeface="Arial MT"/>
                <a:cs typeface="Arial MT"/>
              </a:rPr>
              <a:t>T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a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n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n</a:t>
            </a:r>
            <a:r>
              <a:rPr sz="1500" spc="-150" baseline="2777" dirty="0">
                <a:latin typeface="Arial MT"/>
                <a:cs typeface="Arial MT"/>
              </a:rPr>
              <a:t>g</a:t>
            </a:r>
            <a:r>
              <a:rPr sz="1500" spc="-104" baseline="2777" dirty="0">
                <a:latin typeface="Arial MT"/>
                <a:cs typeface="Arial MT"/>
              </a:rPr>
              <a:t> </a:t>
            </a:r>
            <a:r>
              <a:rPr sz="1500" spc="-179" baseline="2777" dirty="0">
                <a:latin typeface="Arial MT"/>
                <a:cs typeface="Arial MT"/>
              </a:rPr>
              <a:t>P</a:t>
            </a:r>
            <a:r>
              <a:rPr sz="1500" spc="-104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67" baseline="2777" dirty="0">
                <a:latin typeface="Arial MT"/>
                <a:cs typeface="Arial MT"/>
              </a:rPr>
              <a:t>f</a:t>
            </a:r>
            <a:r>
              <a:rPr sz="1500" spc="-52" baseline="2777" dirty="0">
                <a:latin typeface="Arial MT"/>
                <a:cs typeface="Arial MT"/>
              </a:rPr>
              <a:t>il</a:t>
            </a:r>
            <a:r>
              <a:rPr sz="1500" spc="-150" baseline="2777" dirty="0">
                <a:latin typeface="Arial MT"/>
                <a:cs typeface="Arial MT"/>
              </a:rPr>
              <a:t>e</a:t>
            </a:r>
            <a:endParaRPr sz="1500" baseline="2777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24295" y="5595975"/>
            <a:ext cx="1864995" cy="833119"/>
          </a:xfrm>
          <a:custGeom>
            <a:avLst/>
            <a:gdLst/>
            <a:ahLst/>
            <a:cxnLst/>
            <a:rect l="l" t="t" r="r" b="b"/>
            <a:pathLst>
              <a:path w="1864995" h="833120">
                <a:moveTo>
                  <a:pt x="0" y="833069"/>
                </a:moveTo>
                <a:lnTo>
                  <a:pt x="1864995" y="833069"/>
                </a:lnTo>
                <a:lnTo>
                  <a:pt x="1864995" y="0"/>
                </a:lnTo>
                <a:lnTo>
                  <a:pt x="0" y="0"/>
                </a:lnTo>
                <a:lnTo>
                  <a:pt x="0" y="8330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455409" y="5621172"/>
            <a:ext cx="1833880" cy="840105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26034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204"/>
              </a:spcBef>
            </a:pPr>
            <a:r>
              <a:rPr sz="1200" b="1" spc="-155" dirty="0">
                <a:latin typeface="Arial"/>
                <a:cs typeface="Arial"/>
              </a:rPr>
              <a:t>CUS</a:t>
            </a:r>
            <a:r>
              <a:rPr sz="1200" b="1" spc="-165" dirty="0">
                <a:latin typeface="Arial"/>
                <a:cs typeface="Arial"/>
              </a:rPr>
              <a:t>T</a:t>
            </a:r>
            <a:r>
              <a:rPr sz="1200" b="1" spc="-180" dirty="0">
                <a:latin typeface="Arial"/>
                <a:cs typeface="Arial"/>
              </a:rPr>
              <a:t>OM</a:t>
            </a:r>
            <a:r>
              <a:rPr sz="1200" b="1" spc="-155" dirty="0">
                <a:latin typeface="Arial"/>
                <a:cs typeface="Arial"/>
              </a:rPr>
              <a:t>E</a:t>
            </a:r>
            <a:r>
              <a:rPr sz="1200" b="1" spc="-160" dirty="0">
                <a:latin typeface="Arial"/>
                <a:cs typeface="Arial"/>
              </a:rPr>
              <a:t>R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70" dirty="0">
                <a:latin typeface="Arial"/>
                <a:cs typeface="Arial"/>
              </a:rPr>
              <a:t>I</a:t>
            </a:r>
            <a:r>
              <a:rPr sz="1200" b="1" spc="-155" dirty="0">
                <a:latin typeface="Arial"/>
                <a:cs typeface="Arial"/>
              </a:rPr>
              <a:t>N</a:t>
            </a:r>
            <a:r>
              <a:rPr sz="1200" b="1" spc="-150" dirty="0">
                <a:latin typeface="Arial"/>
                <a:cs typeface="Arial"/>
              </a:rPr>
              <a:t>FO</a:t>
            </a:r>
            <a:endParaRPr sz="1200">
              <a:latin typeface="Arial"/>
              <a:cs typeface="Arial"/>
            </a:endParaRPr>
          </a:p>
          <a:p>
            <a:pPr marL="260350" indent="-151130">
              <a:lnSpc>
                <a:spcPct val="100000"/>
              </a:lnSpc>
              <a:spcBef>
                <a:spcPts val="10"/>
              </a:spcBef>
              <a:buFont typeface="Wingdings"/>
              <a:buChar char=""/>
              <a:tabLst>
                <a:tab pos="26098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150" baseline="2777" dirty="0">
                <a:latin typeface="Arial MT"/>
                <a:cs typeface="Arial MT"/>
              </a:rPr>
              <a:t>c</a:t>
            </a:r>
            <a:r>
              <a:rPr sz="1500" spc="-157" baseline="2777" dirty="0">
                <a:latin typeface="Arial MT"/>
                <a:cs typeface="Arial MT"/>
              </a:rPr>
              <a:t>en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r>
              <a:rPr sz="1500" spc="-120" baseline="2777" dirty="0">
                <a:latin typeface="Arial MT"/>
                <a:cs typeface="Arial MT"/>
              </a:rPr>
              <a:t> </a:t>
            </a:r>
            <a:r>
              <a:rPr sz="1500" spc="-232" baseline="2777" dirty="0">
                <a:latin typeface="Arial MT"/>
                <a:cs typeface="Arial MT"/>
              </a:rPr>
              <a:t>W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n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endParaRPr sz="1500" baseline="2777">
              <a:latin typeface="Arial MT"/>
              <a:cs typeface="Arial MT"/>
            </a:endParaRPr>
          </a:p>
          <a:p>
            <a:pPr marL="260350" indent="-151130">
              <a:lnSpc>
                <a:spcPct val="100000"/>
              </a:lnSpc>
              <a:spcBef>
                <a:spcPts val="60"/>
              </a:spcBef>
              <a:buFont typeface="Wingdings"/>
              <a:buChar char=""/>
              <a:tabLst>
                <a:tab pos="26098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C</a:t>
            </a:r>
            <a:r>
              <a:rPr sz="1500" spc="60" baseline="2777" dirty="0">
                <a:latin typeface="Arial MT"/>
                <a:cs typeface="Arial MT"/>
              </a:rPr>
              <a:t> </a:t>
            </a:r>
            <a:r>
              <a:rPr sz="1500" spc="-157" baseline="2777" dirty="0">
                <a:latin typeface="Arial MT"/>
                <a:cs typeface="Arial MT"/>
              </a:rPr>
              <a:t>u</a:t>
            </a:r>
            <a:r>
              <a:rPr sz="1500" spc="-150" baseline="2777" dirty="0">
                <a:latin typeface="Arial MT"/>
                <a:cs typeface="Arial MT"/>
              </a:rPr>
              <a:t>s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209" baseline="2777" dirty="0">
                <a:latin typeface="Arial MT"/>
                <a:cs typeface="Arial MT"/>
              </a:rPr>
              <a:t>m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r>
              <a:rPr sz="1500" spc="-172" baseline="2777" dirty="0">
                <a:latin typeface="Arial MT"/>
                <a:cs typeface="Arial MT"/>
              </a:rPr>
              <a:t> </a:t>
            </a:r>
            <a:r>
              <a:rPr sz="1500" spc="-150" baseline="2777" dirty="0">
                <a:latin typeface="Arial MT"/>
                <a:cs typeface="Arial MT"/>
              </a:rPr>
              <a:t>v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0" baseline="2777" dirty="0">
                <a:latin typeface="Arial MT"/>
                <a:cs typeface="Arial MT"/>
              </a:rPr>
              <a:t>s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endParaRPr sz="1500" baseline="2777">
              <a:latin typeface="Arial MT"/>
              <a:cs typeface="Arial MT"/>
            </a:endParaRPr>
          </a:p>
          <a:p>
            <a:pPr marL="260350" indent="-151130">
              <a:lnSpc>
                <a:spcPct val="100000"/>
              </a:lnSpc>
              <a:spcBef>
                <a:spcPts val="70"/>
              </a:spcBef>
              <a:buFont typeface="Wingdings"/>
              <a:buChar char=""/>
              <a:tabLst>
                <a:tab pos="26098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C</a:t>
            </a:r>
            <a:r>
              <a:rPr sz="1500" spc="-157" baseline="2777" dirty="0">
                <a:latin typeface="Arial MT"/>
                <a:cs typeface="Arial MT"/>
              </a:rPr>
              <a:t>u</a:t>
            </a:r>
            <a:r>
              <a:rPr sz="1500" spc="-150" baseline="2777" dirty="0">
                <a:latin typeface="Arial MT"/>
                <a:cs typeface="Arial MT"/>
              </a:rPr>
              <a:t>s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209" baseline="2777" dirty="0">
                <a:latin typeface="Arial MT"/>
                <a:cs typeface="Arial MT"/>
              </a:rPr>
              <a:t>m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89" baseline="2777" dirty="0">
                <a:latin typeface="Arial MT"/>
                <a:cs typeface="Arial MT"/>
              </a:rPr>
              <a:t>r</a:t>
            </a:r>
            <a:r>
              <a:rPr sz="1500" spc="-150" baseline="2777" dirty="0">
                <a:latin typeface="Arial MT"/>
                <a:cs typeface="Arial MT"/>
              </a:rPr>
              <a:t> </a:t>
            </a:r>
            <a:r>
              <a:rPr sz="1500" spc="-165" baseline="2777" dirty="0">
                <a:latin typeface="Arial MT"/>
                <a:cs typeface="Arial MT"/>
              </a:rPr>
              <a:t>F</a:t>
            </a:r>
            <a:r>
              <a:rPr sz="1500" spc="-157" baseline="2777" dirty="0">
                <a:latin typeface="Arial MT"/>
                <a:cs typeface="Arial MT"/>
              </a:rPr>
              <a:t>eedba</a:t>
            </a:r>
            <a:r>
              <a:rPr sz="1500" spc="-150" baseline="2777" dirty="0">
                <a:latin typeface="Arial MT"/>
                <a:cs typeface="Arial MT"/>
              </a:rPr>
              <a:t>c</a:t>
            </a:r>
            <a:r>
              <a:rPr sz="1500" spc="-135" baseline="2777" dirty="0">
                <a:latin typeface="Arial MT"/>
                <a:cs typeface="Arial MT"/>
              </a:rPr>
              <a:t>k</a:t>
            </a:r>
            <a:endParaRPr sz="1500" baseline="2777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424295" y="4087672"/>
            <a:ext cx="1864995" cy="833119"/>
          </a:xfrm>
          <a:custGeom>
            <a:avLst/>
            <a:gdLst/>
            <a:ahLst/>
            <a:cxnLst/>
            <a:rect l="l" t="t" r="r" b="b"/>
            <a:pathLst>
              <a:path w="1864995" h="833120">
                <a:moveTo>
                  <a:pt x="0" y="833069"/>
                </a:moveTo>
                <a:lnTo>
                  <a:pt x="1864995" y="833069"/>
                </a:lnTo>
                <a:lnTo>
                  <a:pt x="1864995" y="0"/>
                </a:lnTo>
                <a:lnTo>
                  <a:pt x="0" y="0"/>
                </a:lnTo>
                <a:lnTo>
                  <a:pt x="0" y="8330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455409" y="4114609"/>
            <a:ext cx="1833880" cy="840105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27305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215"/>
              </a:spcBef>
            </a:pPr>
            <a:r>
              <a:rPr sz="1200" b="1" spc="-150" dirty="0">
                <a:latin typeface="Arial"/>
                <a:cs typeface="Arial"/>
              </a:rPr>
              <a:t>SALES</a:t>
            </a:r>
            <a:endParaRPr sz="1200">
              <a:latin typeface="Arial"/>
              <a:cs typeface="Arial"/>
            </a:endParaRPr>
          </a:p>
          <a:p>
            <a:pPr marL="260350" indent="-15113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26098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C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209" baseline="2777" dirty="0">
                <a:latin typeface="Arial MT"/>
                <a:cs typeface="Arial MT"/>
              </a:rPr>
              <a:t>m</a:t>
            </a:r>
            <a:r>
              <a:rPr sz="1500" spc="-157" baseline="2777" dirty="0">
                <a:latin typeface="Arial MT"/>
                <a:cs typeface="Arial MT"/>
              </a:rPr>
              <a:t>pe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0" baseline="2777" dirty="0">
                <a:latin typeface="Arial MT"/>
                <a:cs typeface="Arial MT"/>
              </a:rPr>
              <a:t>y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0" baseline="2777" dirty="0">
                <a:latin typeface="Arial MT"/>
                <a:cs typeface="Arial MT"/>
              </a:rPr>
              <a:t>ve</a:t>
            </a:r>
            <a:r>
              <a:rPr sz="1500" spc="-172" baseline="2777" dirty="0">
                <a:latin typeface="Arial MT"/>
                <a:cs typeface="Arial MT"/>
              </a:rPr>
              <a:t> </a:t>
            </a:r>
            <a:r>
              <a:rPr sz="1500" spc="-179" baseline="2777" dirty="0">
                <a:latin typeface="Arial MT"/>
                <a:cs typeface="Arial MT"/>
              </a:rPr>
              <a:t>A</a:t>
            </a:r>
            <a:r>
              <a:rPr sz="1500" spc="-157" baseline="2777" dirty="0">
                <a:latin typeface="Arial MT"/>
                <a:cs typeface="Arial MT"/>
              </a:rPr>
              <a:t>na</a:t>
            </a:r>
            <a:r>
              <a:rPr sz="1500" spc="-52" baseline="2777" dirty="0">
                <a:latin typeface="Arial MT"/>
                <a:cs typeface="Arial MT"/>
              </a:rPr>
              <a:t>l</a:t>
            </a:r>
            <a:r>
              <a:rPr sz="1500" spc="-150" baseline="2777" dirty="0">
                <a:latin typeface="Arial MT"/>
                <a:cs typeface="Arial MT"/>
              </a:rPr>
              <a:t>ys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endParaRPr sz="1500" baseline="2777">
              <a:latin typeface="Arial MT"/>
              <a:cs typeface="Arial MT"/>
            </a:endParaRPr>
          </a:p>
          <a:p>
            <a:pPr marL="260350" indent="-151130">
              <a:lnSpc>
                <a:spcPct val="100000"/>
              </a:lnSpc>
              <a:spcBef>
                <a:spcPts val="40"/>
              </a:spcBef>
              <a:buFont typeface="Wingdings"/>
              <a:buChar char=""/>
              <a:tabLst>
                <a:tab pos="26098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C</a:t>
            </a:r>
            <a:r>
              <a:rPr sz="1500" spc="-157" baseline="2777" dirty="0">
                <a:latin typeface="Arial MT"/>
                <a:cs typeface="Arial MT"/>
              </a:rPr>
              <a:t>u</a:t>
            </a:r>
            <a:r>
              <a:rPr sz="1500" spc="-112" baseline="2777" dirty="0">
                <a:latin typeface="Arial MT"/>
                <a:cs typeface="Arial MT"/>
              </a:rPr>
              <a:t>rr</a:t>
            </a:r>
            <a:r>
              <a:rPr sz="1500" spc="-157" baseline="2777" dirty="0">
                <a:latin typeface="Arial MT"/>
                <a:cs typeface="Arial MT"/>
              </a:rPr>
              <a:t>en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r>
              <a:rPr sz="1500" spc="-82" baseline="2777" dirty="0">
                <a:latin typeface="Arial MT"/>
                <a:cs typeface="Arial MT"/>
              </a:rPr>
              <a:t> </a:t>
            </a:r>
            <a:r>
              <a:rPr sz="1500" spc="-179" baseline="2777" dirty="0">
                <a:latin typeface="Arial MT"/>
                <a:cs typeface="Arial MT"/>
              </a:rPr>
              <a:t>S</a:t>
            </a:r>
            <a:r>
              <a:rPr sz="1500" spc="-157" baseline="2777" dirty="0">
                <a:latin typeface="Arial MT"/>
                <a:cs typeface="Arial MT"/>
              </a:rPr>
              <a:t>a</a:t>
            </a:r>
            <a:r>
              <a:rPr sz="1500" spc="-52" baseline="2777" dirty="0">
                <a:latin typeface="Arial MT"/>
                <a:cs typeface="Arial MT"/>
              </a:rPr>
              <a:t>l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endParaRPr sz="1500" baseline="2777">
              <a:latin typeface="Arial MT"/>
              <a:cs typeface="Arial MT"/>
            </a:endParaRPr>
          </a:p>
          <a:p>
            <a:pPr marL="260350" indent="-151130">
              <a:lnSpc>
                <a:spcPct val="100000"/>
              </a:lnSpc>
              <a:spcBef>
                <a:spcPts val="85"/>
              </a:spcBef>
              <a:buFont typeface="Wingdings"/>
              <a:buChar char=""/>
              <a:tabLst>
                <a:tab pos="26098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C</a:t>
            </a:r>
            <a:r>
              <a:rPr sz="1500" spc="-157" baseline="2777" dirty="0">
                <a:latin typeface="Arial MT"/>
                <a:cs typeface="Arial MT"/>
              </a:rPr>
              <a:t>u</a:t>
            </a:r>
            <a:r>
              <a:rPr sz="1500" spc="-150" baseline="2777" dirty="0">
                <a:latin typeface="Arial MT"/>
                <a:cs typeface="Arial MT"/>
              </a:rPr>
              <a:t>s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209" baseline="2777" dirty="0">
                <a:latin typeface="Arial MT"/>
                <a:cs typeface="Arial MT"/>
              </a:rPr>
              <a:t>m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89" baseline="2777" dirty="0">
                <a:latin typeface="Arial MT"/>
                <a:cs typeface="Arial MT"/>
              </a:rPr>
              <a:t>r</a:t>
            </a:r>
            <a:r>
              <a:rPr sz="1500" spc="-150" baseline="2777" dirty="0">
                <a:latin typeface="Arial MT"/>
                <a:cs typeface="Arial MT"/>
              </a:rPr>
              <a:t> </a:t>
            </a:r>
            <a:r>
              <a:rPr sz="1500" spc="-67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n</a:t>
            </a:r>
            <a:r>
              <a:rPr sz="1500" spc="-67" baseline="2777" dirty="0">
                <a:latin typeface="Arial MT"/>
                <a:cs typeface="Arial MT"/>
              </a:rPr>
              <a:t>f</a:t>
            </a:r>
            <a:r>
              <a:rPr sz="1500" spc="-150" baseline="2777" dirty="0">
                <a:latin typeface="Arial MT"/>
                <a:cs typeface="Arial MT"/>
              </a:rPr>
              <a:t>o</a:t>
            </a:r>
            <a:endParaRPr sz="1500" baseline="2777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24295" y="1526336"/>
            <a:ext cx="1864995" cy="833119"/>
          </a:xfrm>
          <a:custGeom>
            <a:avLst/>
            <a:gdLst/>
            <a:ahLst/>
            <a:cxnLst/>
            <a:rect l="l" t="t" r="r" b="b"/>
            <a:pathLst>
              <a:path w="1864995" h="833119">
                <a:moveTo>
                  <a:pt x="0" y="833069"/>
                </a:moveTo>
                <a:lnTo>
                  <a:pt x="1864995" y="833069"/>
                </a:lnTo>
                <a:lnTo>
                  <a:pt x="1864995" y="0"/>
                </a:lnTo>
                <a:lnTo>
                  <a:pt x="0" y="0"/>
                </a:lnTo>
                <a:lnTo>
                  <a:pt x="0" y="8330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455409" y="1553273"/>
            <a:ext cx="1833880" cy="840105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26034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204"/>
              </a:spcBef>
            </a:pPr>
            <a:r>
              <a:rPr sz="1200" b="1" spc="-140" dirty="0">
                <a:latin typeface="Arial"/>
                <a:cs typeface="Arial"/>
              </a:rPr>
              <a:t>FINANCE</a:t>
            </a:r>
            <a:endParaRPr sz="1200">
              <a:latin typeface="Arial"/>
              <a:cs typeface="Arial"/>
            </a:endParaRPr>
          </a:p>
          <a:p>
            <a:pPr marL="260350" indent="-15113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260985" algn="l"/>
              </a:tabLst>
            </a:pPr>
            <a:r>
              <a:rPr sz="1500" spc="-202" baseline="2777" dirty="0">
                <a:latin typeface="Arial MT"/>
                <a:cs typeface="Arial MT"/>
              </a:rPr>
              <a:t>Q</a:t>
            </a:r>
            <a:r>
              <a:rPr sz="1500" spc="-165" baseline="2777" dirty="0">
                <a:latin typeface="Arial MT"/>
                <a:cs typeface="Arial MT"/>
              </a:rPr>
              <a:t>ua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165" baseline="2777" dirty="0">
                <a:latin typeface="Arial MT"/>
                <a:cs typeface="Arial MT"/>
              </a:rPr>
              <a:t>e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52" baseline="2777" dirty="0">
                <a:latin typeface="Arial MT"/>
                <a:cs typeface="Arial MT"/>
              </a:rPr>
              <a:t>l</a:t>
            </a:r>
            <a:r>
              <a:rPr sz="1500" spc="-135" baseline="2777" dirty="0">
                <a:latin typeface="Arial MT"/>
                <a:cs typeface="Arial MT"/>
              </a:rPr>
              <a:t>y</a:t>
            </a:r>
            <a:r>
              <a:rPr sz="1500" spc="-104" baseline="2777" dirty="0">
                <a:latin typeface="Arial MT"/>
                <a:cs typeface="Arial MT"/>
              </a:rPr>
              <a:t> </a:t>
            </a:r>
            <a:r>
              <a:rPr sz="1500" spc="-165" baseline="2777" dirty="0">
                <a:latin typeface="Arial MT"/>
                <a:cs typeface="Arial MT"/>
              </a:rPr>
              <a:t>Repo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endParaRPr sz="1500" baseline="2777">
              <a:latin typeface="Arial MT"/>
              <a:cs typeface="Arial MT"/>
            </a:endParaRPr>
          </a:p>
          <a:p>
            <a:pPr marL="260350" indent="-151130">
              <a:lnSpc>
                <a:spcPct val="100000"/>
              </a:lnSpc>
              <a:spcBef>
                <a:spcPts val="45"/>
              </a:spcBef>
              <a:buFont typeface="Wingdings"/>
              <a:buChar char=""/>
              <a:tabLst>
                <a:tab pos="260985" algn="l"/>
              </a:tabLst>
            </a:pPr>
            <a:r>
              <a:rPr sz="1500" spc="-179" baseline="2777" dirty="0">
                <a:latin typeface="Arial MT"/>
                <a:cs typeface="Arial MT"/>
              </a:rPr>
              <a:t>A</a:t>
            </a:r>
            <a:r>
              <a:rPr sz="1500" spc="-157" baseline="2777" dirty="0">
                <a:latin typeface="Arial MT"/>
                <a:cs typeface="Arial MT"/>
              </a:rPr>
              <a:t>nnua</a:t>
            </a:r>
            <a:r>
              <a:rPr sz="1500" spc="-60" baseline="2777" dirty="0">
                <a:latin typeface="Arial MT"/>
                <a:cs typeface="Arial MT"/>
              </a:rPr>
              <a:t>l</a:t>
            </a:r>
            <a:r>
              <a:rPr sz="1500" spc="-120" baseline="2777" dirty="0">
                <a:latin typeface="Arial MT"/>
                <a:cs typeface="Arial MT"/>
              </a:rPr>
              <a:t> 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epo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endParaRPr sz="1500" baseline="2777">
              <a:latin typeface="Arial MT"/>
              <a:cs typeface="Arial MT"/>
            </a:endParaRPr>
          </a:p>
          <a:p>
            <a:pPr marL="260350" indent="-151130">
              <a:lnSpc>
                <a:spcPct val="100000"/>
              </a:lnSpc>
              <a:spcBef>
                <a:spcPts val="80"/>
              </a:spcBef>
              <a:buFont typeface="Wingdings"/>
              <a:buChar char=""/>
              <a:tabLst>
                <a:tab pos="260985" algn="l"/>
              </a:tabLst>
            </a:pPr>
            <a:r>
              <a:rPr sz="1500" spc="-172" baseline="2777" dirty="0">
                <a:latin typeface="Arial MT"/>
                <a:cs typeface="Arial MT"/>
              </a:rPr>
              <a:t>S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165" baseline="2777" dirty="0">
                <a:latin typeface="Arial MT"/>
                <a:cs typeface="Arial MT"/>
              </a:rPr>
              <a:t>o</a:t>
            </a:r>
            <a:r>
              <a:rPr sz="1500" spc="-150" baseline="2777" dirty="0">
                <a:latin typeface="Arial MT"/>
                <a:cs typeface="Arial MT"/>
              </a:rPr>
              <a:t>ck</a:t>
            </a:r>
            <a:r>
              <a:rPr sz="1500" spc="-165" baseline="2777" dirty="0">
                <a:latin typeface="Arial MT"/>
                <a:cs typeface="Arial MT"/>
              </a:rPr>
              <a:t>ho</a:t>
            </a:r>
            <a:r>
              <a:rPr sz="1500" spc="-52" baseline="2777" dirty="0">
                <a:latin typeface="Arial MT"/>
                <a:cs typeface="Arial MT"/>
              </a:rPr>
              <a:t>l</a:t>
            </a:r>
            <a:r>
              <a:rPr sz="1500" spc="-165" baseline="2777" dirty="0">
                <a:latin typeface="Arial MT"/>
                <a:cs typeface="Arial MT"/>
              </a:rPr>
              <a:t>de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r>
              <a:rPr sz="1500" spc="-104" baseline="2777" dirty="0">
                <a:latin typeface="Arial MT"/>
                <a:cs typeface="Arial MT"/>
              </a:rPr>
              <a:t> </a:t>
            </a:r>
            <a:r>
              <a:rPr sz="1500" spc="-217" baseline="2777" dirty="0">
                <a:latin typeface="Arial MT"/>
                <a:cs typeface="Arial MT"/>
              </a:rPr>
              <a:t>M</a:t>
            </a:r>
            <a:r>
              <a:rPr sz="1500" spc="-165" baseline="2777" dirty="0">
                <a:latin typeface="Arial MT"/>
                <a:cs typeface="Arial MT"/>
              </a:rPr>
              <a:t>ee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65" baseline="2777" dirty="0">
                <a:latin typeface="Arial MT"/>
                <a:cs typeface="Arial MT"/>
              </a:rPr>
              <a:t>n</a:t>
            </a:r>
            <a:r>
              <a:rPr sz="1500" spc="-150" baseline="2777" dirty="0">
                <a:latin typeface="Arial MT"/>
                <a:cs typeface="Arial MT"/>
              </a:rPr>
              <a:t>g</a:t>
            </a:r>
            <a:endParaRPr sz="1500" baseline="2777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697988" y="1979802"/>
            <a:ext cx="3721100" cy="571500"/>
            <a:chOff x="2697988" y="1979802"/>
            <a:chExt cx="3721100" cy="571500"/>
          </a:xfrm>
        </p:grpSpPr>
        <p:sp>
          <p:nvSpPr>
            <p:cNvPr id="20" name="object 20"/>
            <p:cNvSpPr/>
            <p:nvPr/>
          </p:nvSpPr>
          <p:spPr>
            <a:xfrm>
              <a:off x="2787650" y="2053716"/>
              <a:ext cx="601980" cy="497840"/>
            </a:xfrm>
            <a:custGeom>
              <a:avLst/>
              <a:gdLst/>
              <a:ahLst/>
              <a:cxnLst/>
              <a:rect l="l" t="t" r="r" b="b"/>
              <a:pathLst>
                <a:path w="601979" h="497839">
                  <a:moveTo>
                    <a:pt x="87970" y="71574"/>
                  </a:moveTo>
                  <a:lnTo>
                    <a:pt x="107891" y="124659"/>
                  </a:lnTo>
                  <a:lnTo>
                    <a:pt x="565785" y="497459"/>
                  </a:lnTo>
                  <a:lnTo>
                    <a:pt x="601979" y="453136"/>
                  </a:lnTo>
                  <a:lnTo>
                    <a:pt x="143947" y="80311"/>
                  </a:lnTo>
                  <a:lnTo>
                    <a:pt x="87970" y="71574"/>
                  </a:lnTo>
                  <a:close/>
                </a:path>
                <a:path w="601979" h="497839">
                  <a:moveTo>
                    <a:pt x="0" y="0"/>
                  </a:moveTo>
                  <a:lnTo>
                    <a:pt x="86994" y="231648"/>
                  </a:lnTo>
                  <a:lnTo>
                    <a:pt x="93035" y="241248"/>
                  </a:lnTo>
                  <a:lnTo>
                    <a:pt x="101981" y="247586"/>
                  </a:lnTo>
                  <a:lnTo>
                    <a:pt x="112641" y="250114"/>
                  </a:lnTo>
                  <a:lnTo>
                    <a:pt x="123825" y="248285"/>
                  </a:lnTo>
                  <a:lnTo>
                    <a:pt x="133425" y="242262"/>
                  </a:lnTo>
                  <a:lnTo>
                    <a:pt x="139763" y="233346"/>
                  </a:lnTo>
                  <a:lnTo>
                    <a:pt x="142291" y="222692"/>
                  </a:lnTo>
                  <a:lnTo>
                    <a:pt x="140462" y="211455"/>
                  </a:lnTo>
                  <a:lnTo>
                    <a:pt x="107891" y="124659"/>
                  </a:lnTo>
                  <a:lnTo>
                    <a:pt x="25907" y="57912"/>
                  </a:lnTo>
                  <a:lnTo>
                    <a:pt x="61975" y="13588"/>
                  </a:lnTo>
                  <a:lnTo>
                    <a:pt x="86906" y="13588"/>
                  </a:lnTo>
                  <a:lnTo>
                    <a:pt x="0" y="0"/>
                  </a:lnTo>
                  <a:close/>
                </a:path>
                <a:path w="601979" h="497839">
                  <a:moveTo>
                    <a:pt x="61975" y="13588"/>
                  </a:moveTo>
                  <a:lnTo>
                    <a:pt x="25907" y="57912"/>
                  </a:lnTo>
                  <a:lnTo>
                    <a:pt x="107891" y="124659"/>
                  </a:lnTo>
                  <a:lnTo>
                    <a:pt x="87970" y="71574"/>
                  </a:lnTo>
                  <a:lnTo>
                    <a:pt x="39497" y="64008"/>
                  </a:lnTo>
                  <a:lnTo>
                    <a:pt x="70738" y="25654"/>
                  </a:lnTo>
                  <a:lnTo>
                    <a:pt x="76798" y="25654"/>
                  </a:lnTo>
                  <a:lnTo>
                    <a:pt x="61975" y="13588"/>
                  </a:lnTo>
                  <a:close/>
                </a:path>
                <a:path w="601979" h="497839">
                  <a:moveTo>
                    <a:pt x="86906" y="13588"/>
                  </a:moveTo>
                  <a:lnTo>
                    <a:pt x="61975" y="13588"/>
                  </a:lnTo>
                  <a:lnTo>
                    <a:pt x="143947" y="80311"/>
                  </a:lnTo>
                  <a:lnTo>
                    <a:pt x="235585" y="94615"/>
                  </a:lnTo>
                  <a:lnTo>
                    <a:pt x="246935" y="94172"/>
                  </a:lnTo>
                  <a:lnTo>
                    <a:pt x="256857" y="89550"/>
                  </a:lnTo>
                  <a:lnTo>
                    <a:pt x="264302" y="81524"/>
                  </a:lnTo>
                  <a:lnTo>
                    <a:pt x="268224" y="70866"/>
                  </a:lnTo>
                  <a:lnTo>
                    <a:pt x="267781" y="59515"/>
                  </a:lnTo>
                  <a:lnTo>
                    <a:pt x="263159" y="49593"/>
                  </a:lnTo>
                  <a:lnTo>
                    <a:pt x="255133" y="42148"/>
                  </a:lnTo>
                  <a:lnTo>
                    <a:pt x="244475" y="38227"/>
                  </a:lnTo>
                  <a:lnTo>
                    <a:pt x="86906" y="13588"/>
                  </a:lnTo>
                  <a:close/>
                </a:path>
                <a:path w="601979" h="497839">
                  <a:moveTo>
                    <a:pt x="76798" y="25654"/>
                  </a:moveTo>
                  <a:lnTo>
                    <a:pt x="70738" y="25654"/>
                  </a:lnTo>
                  <a:lnTo>
                    <a:pt x="87970" y="71574"/>
                  </a:lnTo>
                  <a:lnTo>
                    <a:pt x="143947" y="80311"/>
                  </a:lnTo>
                  <a:lnTo>
                    <a:pt x="76798" y="25654"/>
                  </a:lnTo>
                  <a:close/>
                </a:path>
                <a:path w="601979" h="497839">
                  <a:moveTo>
                    <a:pt x="70738" y="25654"/>
                  </a:moveTo>
                  <a:lnTo>
                    <a:pt x="39497" y="64008"/>
                  </a:lnTo>
                  <a:lnTo>
                    <a:pt x="87970" y="71574"/>
                  </a:lnTo>
                  <a:lnTo>
                    <a:pt x="70738" y="256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97988" y="1979802"/>
              <a:ext cx="154305" cy="126364"/>
            </a:xfrm>
            <a:custGeom>
              <a:avLst/>
              <a:gdLst/>
              <a:ahLst/>
              <a:cxnLst/>
              <a:rect l="l" t="t" r="r" b="b"/>
              <a:pathLst>
                <a:path w="154305" h="126364">
                  <a:moveTo>
                    <a:pt x="0" y="0"/>
                  </a:moveTo>
                  <a:lnTo>
                    <a:pt x="49403" y="125984"/>
                  </a:lnTo>
                  <a:lnTo>
                    <a:pt x="153797" y="40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23508" y="2053716"/>
              <a:ext cx="601980" cy="497840"/>
            </a:xfrm>
            <a:custGeom>
              <a:avLst/>
              <a:gdLst/>
              <a:ahLst/>
              <a:cxnLst/>
              <a:rect l="l" t="t" r="r" b="b"/>
              <a:pathLst>
                <a:path w="601979" h="497839">
                  <a:moveTo>
                    <a:pt x="514009" y="71574"/>
                  </a:moveTo>
                  <a:lnTo>
                    <a:pt x="458032" y="80311"/>
                  </a:lnTo>
                  <a:lnTo>
                    <a:pt x="0" y="453136"/>
                  </a:lnTo>
                  <a:lnTo>
                    <a:pt x="36194" y="497459"/>
                  </a:lnTo>
                  <a:lnTo>
                    <a:pt x="494088" y="124659"/>
                  </a:lnTo>
                  <a:lnTo>
                    <a:pt x="514009" y="71574"/>
                  </a:lnTo>
                  <a:close/>
                </a:path>
                <a:path w="601979" h="497839">
                  <a:moveTo>
                    <a:pt x="596876" y="13588"/>
                  </a:moveTo>
                  <a:lnTo>
                    <a:pt x="540003" y="13588"/>
                  </a:lnTo>
                  <a:lnTo>
                    <a:pt x="576071" y="57912"/>
                  </a:lnTo>
                  <a:lnTo>
                    <a:pt x="494088" y="124659"/>
                  </a:lnTo>
                  <a:lnTo>
                    <a:pt x="461517" y="211455"/>
                  </a:lnTo>
                  <a:lnTo>
                    <a:pt x="459688" y="222692"/>
                  </a:lnTo>
                  <a:lnTo>
                    <a:pt x="462216" y="233346"/>
                  </a:lnTo>
                  <a:lnTo>
                    <a:pt x="468554" y="242262"/>
                  </a:lnTo>
                  <a:lnTo>
                    <a:pt x="478154" y="248285"/>
                  </a:lnTo>
                  <a:lnTo>
                    <a:pt x="489338" y="250114"/>
                  </a:lnTo>
                  <a:lnTo>
                    <a:pt x="499998" y="247586"/>
                  </a:lnTo>
                  <a:lnTo>
                    <a:pt x="508944" y="241248"/>
                  </a:lnTo>
                  <a:lnTo>
                    <a:pt x="514985" y="231648"/>
                  </a:lnTo>
                  <a:lnTo>
                    <a:pt x="596876" y="13588"/>
                  </a:lnTo>
                  <a:close/>
                </a:path>
                <a:path w="601979" h="497839">
                  <a:moveTo>
                    <a:pt x="549821" y="25654"/>
                  </a:moveTo>
                  <a:lnTo>
                    <a:pt x="531240" y="25654"/>
                  </a:lnTo>
                  <a:lnTo>
                    <a:pt x="562482" y="64008"/>
                  </a:lnTo>
                  <a:lnTo>
                    <a:pt x="514009" y="71574"/>
                  </a:lnTo>
                  <a:lnTo>
                    <a:pt x="494088" y="124659"/>
                  </a:lnTo>
                  <a:lnTo>
                    <a:pt x="576071" y="57912"/>
                  </a:lnTo>
                  <a:lnTo>
                    <a:pt x="549821" y="25654"/>
                  </a:lnTo>
                  <a:close/>
                </a:path>
                <a:path w="601979" h="497839">
                  <a:moveTo>
                    <a:pt x="601979" y="0"/>
                  </a:moveTo>
                  <a:lnTo>
                    <a:pt x="357504" y="38227"/>
                  </a:lnTo>
                  <a:lnTo>
                    <a:pt x="333755" y="70866"/>
                  </a:lnTo>
                  <a:lnTo>
                    <a:pt x="337677" y="81524"/>
                  </a:lnTo>
                  <a:lnTo>
                    <a:pt x="345122" y="89550"/>
                  </a:lnTo>
                  <a:lnTo>
                    <a:pt x="355044" y="94172"/>
                  </a:lnTo>
                  <a:lnTo>
                    <a:pt x="366394" y="94615"/>
                  </a:lnTo>
                  <a:lnTo>
                    <a:pt x="458032" y="80311"/>
                  </a:lnTo>
                  <a:lnTo>
                    <a:pt x="540003" y="13588"/>
                  </a:lnTo>
                  <a:lnTo>
                    <a:pt x="596876" y="13588"/>
                  </a:lnTo>
                  <a:lnTo>
                    <a:pt x="601979" y="0"/>
                  </a:lnTo>
                  <a:close/>
                </a:path>
                <a:path w="601979" h="497839">
                  <a:moveTo>
                    <a:pt x="540003" y="13588"/>
                  </a:moveTo>
                  <a:lnTo>
                    <a:pt x="458032" y="80311"/>
                  </a:lnTo>
                  <a:lnTo>
                    <a:pt x="514009" y="71574"/>
                  </a:lnTo>
                  <a:lnTo>
                    <a:pt x="531240" y="25654"/>
                  </a:lnTo>
                  <a:lnTo>
                    <a:pt x="549821" y="25654"/>
                  </a:lnTo>
                  <a:lnTo>
                    <a:pt x="540003" y="13588"/>
                  </a:lnTo>
                  <a:close/>
                </a:path>
                <a:path w="601979" h="497839">
                  <a:moveTo>
                    <a:pt x="531240" y="25654"/>
                  </a:moveTo>
                  <a:lnTo>
                    <a:pt x="514009" y="71574"/>
                  </a:lnTo>
                  <a:lnTo>
                    <a:pt x="562482" y="64008"/>
                  </a:lnTo>
                  <a:lnTo>
                    <a:pt x="531240" y="256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65036" y="1979802"/>
              <a:ext cx="153670" cy="126364"/>
            </a:xfrm>
            <a:custGeom>
              <a:avLst/>
              <a:gdLst/>
              <a:ahLst/>
              <a:cxnLst/>
              <a:rect l="l" t="t" r="r" b="b"/>
              <a:pathLst>
                <a:path w="153670" h="126364">
                  <a:moveTo>
                    <a:pt x="153670" y="0"/>
                  </a:moveTo>
                  <a:lnTo>
                    <a:pt x="0" y="40386"/>
                  </a:lnTo>
                  <a:lnTo>
                    <a:pt x="104266" y="125984"/>
                  </a:lnTo>
                  <a:lnTo>
                    <a:pt x="1536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2870073" y="3916171"/>
            <a:ext cx="524510" cy="711200"/>
            <a:chOff x="2870073" y="3916171"/>
            <a:chExt cx="524510" cy="711200"/>
          </a:xfrm>
        </p:grpSpPr>
        <p:sp>
          <p:nvSpPr>
            <p:cNvPr id="25" name="object 25"/>
            <p:cNvSpPr/>
            <p:nvPr/>
          </p:nvSpPr>
          <p:spPr>
            <a:xfrm>
              <a:off x="2928620" y="3916171"/>
              <a:ext cx="466090" cy="615315"/>
            </a:xfrm>
            <a:custGeom>
              <a:avLst/>
              <a:gdLst/>
              <a:ahLst/>
              <a:cxnLst/>
              <a:rect l="l" t="t" r="r" b="b"/>
              <a:pathLst>
                <a:path w="466089" h="615314">
                  <a:moveTo>
                    <a:pt x="58547" y="343788"/>
                  </a:moveTo>
                  <a:lnTo>
                    <a:pt x="26924" y="369061"/>
                  </a:lnTo>
                  <a:lnTo>
                    <a:pt x="0" y="615060"/>
                  </a:lnTo>
                  <a:lnTo>
                    <a:pt x="66600" y="586485"/>
                  </a:lnTo>
                  <a:lnTo>
                    <a:pt x="56642" y="586485"/>
                  </a:lnTo>
                  <a:lnTo>
                    <a:pt x="10794" y="552450"/>
                  </a:lnTo>
                  <a:lnTo>
                    <a:pt x="73665" y="467569"/>
                  </a:lnTo>
                  <a:lnTo>
                    <a:pt x="83819" y="375284"/>
                  </a:lnTo>
                  <a:lnTo>
                    <a:pt x="82764" y="364023"/>
                  </a:lnTo>
                  <a:lnTo>
                    <a:pt x="77660" y="354345"/>
                  </a:lnTo>
                  <a:lnTo>
                    <a:pt x="69318" y="347263"/>
                  </a:lnTo>
                  <a:lnTo>
                    <a:pt x="58547" y="343788"/>
                  </a:lnTo>
                  <a:close/>
                </a:path>
                <a:path w="466089" h="615314">
                  <a:moveTo>
                    <a:pt x="73665" y="467569"/>
                  </a:moveTo>
                  <a:lnTo>
                    <a:pt x="10794" y="552450"/>
                  </a:lnTo>
                  <a:lnTo>
                    <a:pt x="56642" y="586485"/>
                  </a:lnTo>
                  <a:lnTo>
                    <a:pt x="66895" y="572642"/>
                  </a:lnTo>
                  <a:lnTo>
                    <a:pt x="62103" y="572642"/>
                  </a:lnTo>
                  <a:lnTo>
                    <a:pt x="22479" y="543178"/>
                  </a:lnTo>
                  <a:lnTo>
                    <a:pt x="67468" y="523879"/>
                  </a:lnTo>
                  <a:lnTo>
                    <a:pt x="73665" y="467569"/>
                  </a:lnTo>
                  <a:close/>
                </a:path>
                <a:path w="466089" h="615314">
                  <a:moveTo>
                    <a:pt x="215937" y="462627"/>
                  </a:moveTo>
                  <a:lnTo>
                    <a:pt x="204850" y="464946"/>
                  </a:lnTo>
                  <a:lnTo>
                    <a:pt x="119567" y="501531"/>
                  </a:lnTo>
                  <a:lnTo>
                    <a:pt x="56642" y="586485"/>
                  </a:lnTo>
                  <a:lnTo>
                    <a:pt x="66600" y="586485"/>
                  </a:lnTo>
                  <a:lnTo>
                    <a:pt x="227330" y="517525"/>
                  </a:lnTo>
                  <a:lnTo>
                    <a:pt x="236708" y="511079"/>
                  </a:lnTo>
                  <a:lnTo>
                    <a:pt x="242633" y="501872"/>
                  </a:lnTo>
                  <a:lnTo>
                    <a:pt x="244653" y="491093"/>
                  </a:lnTo>
                  <a:lnTo>
                    <a:pt x="242316" y="479932"/>
                  </a:lnTo>
                  <a:lnTo>
                    <a:pt x="235872" y="470608"/>
                  </a:lnTo>
                  <a:lnTo>
                    <a:pt x="226679" y="464677"/>
                  </a:lnTo>
                  <a:lnTo>
                    <a:pt x="215937" y="462627"/>
                  </a:lnTo>
                  <a:close/>
                </a:path>
                <a:path w="466089" h="615314">
                  <a:moveTo>
                    <a:pt x="67468" y="523879"/>
                  </a:moveTo>
                  <a:lnTo>
                    <a:pt x="22479" y="543178"/>
                  </a:lnTo>
                  <a:lnTo>
                    <a:pt x="62103" y="572642"/>
                  </a:lnTo>
                  <a:lnTo>
                    <a:pt x="67468" y="523879"/>
                  </a:lnTo>
                  <a:close/>
                </a:path>
                <a:path w="466089" h="615314">
                  <a:moveTo>
                    <a:pt x="119567" y="501531"/>
                  </a:moveTo>
                  <a:lnTo>
                    <a:pt x="67468" y="523879"/>
                  </a:lnTo>
                  <a:lnTo>
                    <a:pt x="62103" y="572642"/>
                  </a:lnTo>
                  <a:lnTo>
                    <a:pt x="66895" y="572642"/>
                  </a:lnTo>
                  <a:lnTo>
                    <a:pt x="119567" y="501531"/>
                  </a:lnTo>
                  <a:close/>
                </a:path>
                <a:path w="466089" h="615314">
                  <a:moveTo>
                    <a:pt x="419989" y="0"/>
                  </a:moveTo>
                  <a:lnTo>
                    <a:pt x="73665" y="467569"/>
                  </a:lnTo>
                  <a:lnTo>
                    <a:pt x="67468" y="523879"/>
                  </a:lnTo>
                  <a:lnTo>
                    <a:pt x="119567" y="501531"/>
                  </a:lnTo>
                  <a:lnTo>
                    <a:pt x="465835" y="34035"/>
                  </a:lnTo>
                  <a:lnTo>
                    <a:pt x="4199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70073" y="4490846"/>
              <a:ext cx="135890" cy="136525"/>
            </a:xfrm>
            <a:custGeom>
              <a:avLst/>
              <a:gdLst/>
              <a:ahLst/>
              <a:cxnLst/>
              <a:rect l="l" t="t" r="r" b="b"/>
              <a:pathLst>
                <a:path w="135889" h="136525">
                  <a:moveTo>
                    <a:pt x="9143" y="0"/>
                  </a:moveTo>
                  <a:lnTo>
                    <a:pt x="0" y="136016"/>
                  </a:lnTo>
                  <a:lnTo>
                    <a:pt x="135381" y="62102"/>
                  </a:lnTo>
                  <a:lnTo>
                    <a:pt x="91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5723509" y="3911091"/>
            <a:ext cx="695325" cy="574675"/>
            <a:chOff x="5723509" y="3911091"/>
            <a:chExt cx="695325" cy="574675"/>
          </a:xfrm>
        </p:grpSpPr>
        <p:sp>
          <p:nvSpPr>
            <p:cNvPr id="28" name="object 28"/>
            <p:cNvSpPr/>
            <p:nvPr/>
          </p:nvSpPr>
          <p:spPr>
            <a:xfrm>
              <a:off x="5723509" y="3911091"/>
              <a:ext cx="601980" cy="497840"/>
            </a:xfrm>
            <a:custGeom>
              <a:avLst/>
              <a:gdLst/>
              <a:ahLst/>
              <a:cxnLst/>
              <a:rect l="l" t="t" r="r" b="b"/>
              <a:pathLst>
                <a:path w="601979" h="497839">
                  <a:moveTo>
                    <a:pt x="366394" y="402716"/>
                  </a:moveTo>
                  <a:lnTo>
                    <a:pt x="355044" y="403232"/>
                  </a:lnTo>
                  <a:lnTo>
                    <a:pt x="345122" y="407892"/>
                  </a:lnTo>
                  <a:lnTo>
                    <a:pt x="337677" y="415932"/>
                  </a:lnTo>
                  <a:lnTo>
                    <a:pt x="333755" y="426592"/>
                  </a:lnTo>
                  <a:lnTo>
                    <a:pt x="334198" y="437943"/>
                  </a:lnTo>
                  <a:lnTo>
                    <a:pt x="338820" y="447865"/>
                  </a:lnTo>
                  <a:lnTo>
                    <a:pt x="346846" y="455310"/>
                  </a:lnTo>
                  <a:lnTo>
                    <a:pt x="357504" y="459231"/>
                  </a:lnTo>
                  <a:lnTo>
                    <a:pt x="601979" y="497458"/>
                  </a:lnTo>
                  <a:lnTo>
                    <a:pt x="596876" y="483869"/>
                  </a:lnTo>
                  <a:lnTo>
                    <a:pt x="540003" y="483869"/>
                  </a:lnTo>
                  <a:lnTo>
                    <a:pt x="457958" y="417068"/>
                  </a:lnTo>
                  <a:lnTo>
                    <a:pt x="366394" y="402716"/>
                  </a:lnTo>
                  <a:close/>
                </a:path>
                <a:path w="601979" h="497839">
                  <a:moveTo>
                    <a:pt x="457958" y="417068"/>
                  </a:moveTo>
                  <a:lnTo>
                    <a:pt x="540003" y="483869"/>
                  </a:lnTo>
                  <a:lnTo>
                    <a:pt x="549821" y="471804"/>
                  </a:lnTo>
                  <a:lnTo>
                    <a:pt x="531240" y="471804"/>
                  </a:lnTo>
                  <a:lnTo>
                    <a:pt x="513996" y="425851"/>
                  </a:lnTo>
                  <a:lnTo>
                    <a:pt x="457958" y="417068"/>
                  </a:lnTo>
                  <a:close/>
                </a:path>
                <a:path w="601979" h="497839">
                  <a:moveTo>
                    <a:pt x="489338" y="247344"/>
                  </a:moveTo>
                  <a:lnTo>
                    <a:pt x="478154" y="249173"/>
                  </a:lnTo>
                  <a:lnTo>
                    <a:pt x="468554" y="255142"/>
                  </a:lnTo>
                  <a:lnTo>
                    <a:pt x="462216" y="264064"/>
                  </a:lnTo>
                  <a:lnTo>
                    <a:pt x="459688" y="274748"/>
                  </a:lnTo>
                  <a:lnTo>
                    <a:pt x="461517" y="286003"/>
                  </a:lnTo>
                  <a:lnTo>
                    <a:pt x="494088" y="372799"/>
                  </a:lnTo>
                  <a:lnTo>
                    <a:pt x="576071" y="439546"/>
                  </a:lnTo>
                  <a:lnTo>
                    <a:pt x="540003" y="483869"/>
                  </a:lnTo>
                  <a:lnTo>
                    <a:pt x="596876" y="483869"/>
                  </a:lnTo>
                  <a:lnTo>
                    <a:pt x="514985" y="265810"/>
                  </a:lnTo>
                  <a:lnTo>
                    <a:pt x="508944" y="256210"/>
                  </a:lnTo>
                  <a:lnTo>
                    <a:pt x="499999" y="249872"/>
                  </a:lnTo>
                  <a:lnTo>
                    <a:pt x="489338" y="247344"/>
                  </a:lnTo>
                  <a:close/>
                </a:path>
                <a:path w="601979" h="497839">
                  <a:moveTo>
                    <a:pt x="513996" y="425851"/>
                  </a:moveTo>
                  <a:lnTo>
                    <a:pt x="531240" y="471804"/>
                  </a:lnTo>
                  <a:lnTo>
                    <a:pt x="562482" y="433450"/>
                  </a:lnTo>
                  <a:lnTo>
                    <a:pt x="513996" y="425851"/>
                  </a:lnTo>
                  <a:close/>
                </a:path>
                <a:path w="601979" h="497839">
                  <a:moveTo>
                    <a:pt x="494088" y="372799"/>
                  </a:moveTo>
                  <a:lnTo>
                    <a:pt x="513996" y="425851"/>
                  </a:lnTo>
                  <a:lnTo>
                    <a:pt x="562482" y="433450"/>
                  </a:lnTo>
                  <a:lnTo>
                    <a:pt x="531240" y="471804"/>
                  </a:lnTo>
                  <a:lnTo>
                    <a:pt x="549821" y="471804"/>
                  </a:lnTo>
                  <a:lnTo>
                    <a:pt x="576071" y="439546"/>
                  </a:lnTo>
                  <a:lnTo>
                    <a:pt x="494088" y="372799"/>
                  </a:lnTo>
                  <a:close/>
                </a:path>
                <a:path w="601979" h="497839">
                  <a:moveTo>
                    <a:pt x="36194" y="0"/>
                  </a:moveTo>
                  <a:lnTo>
                    <a:pt x="0" y="44195"/>
                  </a:lnTo>
                  <a:lnTo>
                    <a:pt x="457958" y="417068"/>
                  </a:lnTo>
                  <a:lnTo>
                    <a:pt x="513996" y="425851"/>
                  </a:lnTo>
                  <a:lnTo>
                    <a:pt x="494088" y="372799"/>
                  </a:lnTo>
                  <a:lnTo>
                    <a:pt x="361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65037" y="4361433"/>
              <a:ext cx="153670" cy="124460"/>
            </a:xfrm>
            <a:custGeom>
              <a:avLst/>
              <a:gdLst/>
              <a:ahLst/>
              <a:cxnLst/>
              <a:rect l="l" t="t" r="r" b="b"/>
              <a:pathLst>
                <a:path w="153670" h="124460">
                  <a:moveTo>
                    <a:pt x="104266" y="0"/>
                  </a:moveTo>
                  <a:lnTo>
                    <a:pt x="0" y="84074"/>
                  </a:lnTo>
                  <a:lnTo>
                    <a:pt x="153670" y="124333"/>
                  </a:lnTo>
                  <a:lnTo>
                    <a:pt x="1042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4432411" y="3933190"/>
            <a:ext cx="257175" cy="1246505"/>
            <a:chOff x="4432411" y="3933190"/>
            <a:chExt cx="257175" cy="1246505"/>
          </a:xfrm>
        </p:grpSpPr>
        <p:sp>
          <p:nvSpPr>
            <p:cNvPr id="31" name="object 31"/>
            <p:cNvSpPr/>
            <p:nvPr/>
          </p:nvSpPr>
          <p:spPr>
            <a:xfrm>
              <a:off x="4432411" y="3933190"/>
              <a:ext cx="257175" cy="1132205"/>
            </a:xfrm>
            <a:custGeom>
              <a:avLst/>
              <a:gdLst/>
              <a:ahLst/>
              <a:cxnLst/>
              <a:rect l="l" t="t" r="r" b="b"/>
              <a:pathLst>
                <a:path w="257175" h="1132204">
                  <a:moveTo>
                    <a:pt x="24632" y="875795"/>
                  </a:moveTo>
                  <a:lnTo>
                    <a:pt x="13858" y="879475"/>
                  </a:lnTo>
                  <a:lnTo>
                    <a:pt x="5413" y="887051"/>
                  </a:lnTo>
                  <a:lnTo>
                    <a:pt x="682" y="896937"/>
                  </a:lnTo>
                  <a:lnTo>
                    <a:pt x="0" y="907871"/>
                  </a:lnTo>
                  <a:lnTo>
                    <a:pt x="3698" y="918591"/>
                  </a:lnTo>
                  <a:lnTo>
                    <a:pt x="128793" y="1132205"/>
                  </a:lnTo>
                  <a:lnTo>
                    <a:pt x="161703" y="1075563"/>
                  </a:lnTo>
                  <a:lnTo>
                    <a:pt x="100091" y="1075563"/>
                  </a:lnTo>
                  <a:lnTo>
                    <a:pt x="99917" y="969860"/>
                  </a:lnTo>
                  <a:lnTo>
                    <a:pt x="52974" y="889762"/>
                  </a:lnTo>
                  <a:lnTo>
                    <a:pt x="45416" y="881296"/>
                  </a:lnTo>
                  <a:lnTo>
                    <a:pt x="35560" y="876522"/>
                  </a:lnTo>
                  <a:lnTo>
                    <a:pt x="24632" y="875795"/>
                  </a:lnTo>
                  <a:close/>
                </a:path>
                <a:path w="257175" h="1132204">
                  <a:moveTo>
                    <a:pt x="99917" y="969860"/>
                  </a:moveTo>
                  <a:lnTo>
                    <a:pt x="100091" y="1075563"/>
                  </a:lnTo>
                  <a:lnTo>
                    <a:pt x="157241" y="1075436"/>
                  </a:lnTo>
                  <a:lnTo>
                    <a:pt x="157218" y="1061085"/>
                  </a:lnTo>
                  <a:lnTo>
                    <a:pt x="103901" y="1061085"/>
                  </a:lnTo>
                  <a:lnTo>
                    <a:pt x="128550" y="1018718"/>
                  </a:lnTo>
                  <a:lnTo>
                    <a:pt x="99917" y="969860"/>
                  </a:lnTo>
                  <a:close/>
                </a:path>
                <a:path w="257175" h="1132204">
                  <a:moveTo>
                    <a:pt x="231995" y="875470"/>
                  </a:moveTo>
                  <a:lnTo>
                    <a:pt x="221075" y="876204"/>
                  </a:lnTo>
                  <a:lnTo>
                    <a:pt x="211226" y="880987"/>
                  </a:lnTo>
                  <a:lnTo>
                    <a:pt x="203723" y="889508"/>
                  </a:lnTo>
                  <a:lnTo>
                    <a:pt x="157067" y="969703"/>
                  </a:lnTo>
                  <a:lnTo>
                    <a:pt x="157241" y="1075436"/>
                  </a:lnTo>
                  <a:lnTo>
                    <a:pt x="100091" y="1075563"/>
                  </a:lnTo>
                  <a:lnTo>
                    <a:pt x="161703" y="1075563"/>
                  </a:lnTo>
                  <a:lnTo>
                    <a:pt x="253126" y="918210"/>
                  </a:lnTo>
                  <a:lnTo>
                    <a:pt x="256750" y="907490"/>
                  </a:lnTo>
                  <a:lnTo>
                    <a:pt x="256016" y="896556"/>
                  </a:lnTo>
                  <a:lnTo>
                    <a:pt x="251233" y="886670"/>
                  </a:lnTo>
                  <a:lnTo>
                    <a:pt x="242712" y="879094"/>
                  </a:lnTo>
                  <a:lnTo>
                    <a:pt x="231995" y="875470"/>
                  </a:lnTo>
                  <a:close/>
                </a:path>
                <a:path w="257175" h="1132204">
                  <a:moveTo>
                    <a:pt x="128550" y="1018718"/>
                  </a:moveTo>
                  <a:lnTo>
                    <a:pt x="103901" y="1061085"/>
                  </a:lnTo>
                  <a:lnTo>
                    <a:pt x="153304" y="1060958"/>
                  </a:lnTo>
                  <a:lnTo>
                    <a:pt x="128550" y="1018718"/>
                  </a:lnTo>
                  <a:close/>
                </a:path>
                <a:path w="257175" h="1132204">
                  <a:moveTo>
                    <a:pt x="157067" y="969703"/>
                  </a:moveTo>
                  <a:lnTo>
                    <a:pt x="128550" y="1018718"/>
                  </a:lnTo>
                  <a:lnTo>
                    <a:pt x="153304" y="1060958"/>
                  </a:lnTo>
                  <a:lnTo>
                    <a:pt x="103901" y="1061085"/>
                  </a:lnTo>
                  <a:lnTo>
                    <a:pt x="157218" y="1061085"/>
                  </a:lnTo>
                  <a:lnTo>
                    <a:pt x="157067" y="969703"/>
                  </a:lnTo>
                  <a:close/>
                </a:path>
                <a:path w="257175" h="1132204">
                  <a:moveTo>
                    <a:pt x="155463" y="0"/>
                  </a:moveTo>
                  <a:lnTo>
                    <a:pt x="98313" y="0"/>
                  </a:lnTo>
                  <a:lnTo>
                    <a:pt x="99917" y="969860"/>
                  </a:lnTo>
                  <a:lnTo>
                    <a:pt x="128550" y="1018718"/>
                  </a:lnTo>
                  <a:lnTo>
                    <a:pt x="156975" y="969860"/>
                  </a:lnTo>
                  <a:lnTo>
                    <a:pt x="156911" y="875470"/>
                  </a:lnTo>
                  <a:lnTo>
                    <a:pt x="1554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86148" y="5056886"/>
              <a:ext cx="150495" cy="122555"/>
            </a:xfrm>
            <a:custGeom>
              <a:avLst/>
              <a:gdLst/>
              <a:ahLst/>
              <a:cxnLst/>
              <a:rect l="l" t="t" r="r" b="b"/>
              <a:pathLst>
                <a:path w="150495" h="122554">
                  <a:moveTo>
                    <a:pt x="149987" y="0"/>
                  </a:moveTo>
                  <a:lnTo>
                    <a:pt x="0" y="0"/>
                  </a:lnTo>
                  <a:lnTo>
                    <a:pt x="73151" y="122555"/>
                  </a:lnTo>
                  <a:lnTo>
                    <a:pt x="1499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7140539" y="4987797"/>
            <a:ext cx="257175" cy="553085"/>
            <a:chOff x="7140539" y="4987797"/>
            <a:chExt cx="257175" cy="553085"/>
          </a:xfrm>
        </p:grpSpPr>
        <p:sp>
          <p:nvSpPr>
            <p:cNvPr id="34" name="object 34"/>
            <p:cNvSpPr/>
            <p:nvPr/>
          </p:nvSpPr>
          <p:spPr>
            <a:xfrm>
              <a:off x="7140539" y="4987797"/>
              <a:ext cx="257175" cy="442595"/>
            </a:xfrm>
            <a:custGeom>
              <a:avLst/>
              <a:gdLst/>
              <a:ahLst/>
              <a:cxnLst/>
              <a:rect l="l" t="t" r="r" b="b"/>
              <a:pathLst>
                <a:path w="257175" h="442595">
                  <a:moveTo>
                    <a:pt x="24471" y="185912"/>
                  </a:moveTo>
                  <a:lnTo>
                    <a:pt x="13751" y="189610"/>
                  </a:lnTo>
                  <a:lnTo>
                    <a:pt x="5326" y="197187"/>
                  </a:lnTo>
                  <a:lnTo>
                    <a:pt x="638" y="207073"/>
                  </a:lnTo>
                  <a:lnTo>
                    <a:pt x="0" y="218007"/>
                  </a:lnTo>
                  <a:lnTo>
                    <a:pt x="3718" y="228726"/>
                  </a:lnTo>
                  <a:lnTo>
                    <a:pt x="129194" y="442086"/>
                  </a:lnTo>
                  <a:lnTo>
                    <a:pt x="161911" y="385444"/>
                  </a:lnTo>
                  <a:lnTo>
                    <a:pt x="100492" y="385444"/>
                  </a:lnTo>
                  <a:lnTo>
                    <a:pt x="100040" y="279899"/>
                  </a:lnTo>
                  <a:lnTo>
                    <a:pt x="52867" y="199770"/>
                  </a:lnTo>
                  <a:lnTo>
                    <a:pt x="45291" y="191325"/>
                  </a:lnTo>
                  <a:lnTo>
                    <a:pt x="35405" y="186594"/>
                  </a:lnTo>
                  <a:lnTo>
                    <a:pt x="24471" y="185912"/>
                  </a:lnTo>
                  <a:close/>
                </a:path>
                <a:path w="257175" h="442595">
                  <a:moveTo>
                    <a:pt x="100040" y="279899"/>
                  </a:moveTo>
                  <a:lnTo>
                    <a:pt x="100492" y="385444"/>
                  </a:lnTo>
                  <a:lnTo>
                    <a:pt x="157642" y="385190"/>
                  </a:lnTo>
                  <a:lnTo>
                    <a:pt x="157581" y="370966"/>
                  </a:lnTo>
                  <a:lnTo>
                    <a:pt x="104302" y="370966"/>
                  </a:lnTo>
                  <a:lnTo>
                    <a:pt x="128750" y="328667"/>
                  </a:lnTo>
                  <a:lnTo>
                    <a:pt x="100040" y="279899"/>
                  </a:lnTo>
                  <a:close/>
                </a:path>
                <a:path w="257175" h="442595">
                  <a:moveTo>
                    <a:pt x="231834" y="185116"/>
                  </a:moveTo>
                  <a:lnTo>
                    <a:pt x="220920" y="185880"/>
                  </a:lnTo>
                  <a:lnTo>
                    <a:pt x="211101" y="190668"/>
                  </a:lnTo>
                  <a:lnTo>
                    <a:pt x="203616" y="199135"/>
                  </a:lnTo>
                  <a:lnTo>
                    <a:pt x="157189" y="279463"/>
                  </a:lnTo>
                  <a:lnTo>
                    <a:pt x="157642" y="385190"/>
                  </a:lnTo>
                  <a:lnTo>
                    <a:pt x="100492" y="385444"/>
                  </a:lnTo>
                  <a:lnTo>
                    <a:pt x="161911" y="385444"/>
                  </a:lnTo>
                  <a:lnTo>
                    <a:pt x="253019" y="227710"/>
                  </a:lnTo>
                  <a:lnTo>
                    <a:pt x="256643" y="216993"/>
                  </a:lnTo>
                  <a:lnTo>
                    <a:pt x="255908" y="206073"/>
                  </a:lnTo>
                  <a:lnTo>
                    <a:pt x="251126" y="196224"/>
                  </a:lnTo>
                  <a:lnTo>
                    <a:pt x="242605" y="188721"/>
                  </a:lnTo>
                  <a:lnTo>
                    <a:pt x="231834" y="185116"/>
                  </a:lnTo>
                  <a:close/>
                </a:path>
                <a:path w="257175" h="442595">
                  <a:moveTo>
                    <a:pt x="128750" y="328667"/>
                  </a:moveTo>
                  <a:lnTo>
                    <a:pt x="104302" y="370966"/>
                  </a:lnTo>
                  <a:lnTo>
                    <a:pt x="153578" y="370839"/>
                  </a:lnTo>
                  <a:lnTo>
                    <a:pt x="128750" y="328667"/>
                  </a:lnTo>
                  <a:close/>
                </a:path>
                <a:path w="257175" h="442595">
                  <a:moveTo>
                    <a:pt x="157189" y="279463"/>
                  </a:moveTo>
                  <a:lnTo>
                    <a:pt x="128750" y="328667"/>
                  </a:lnTo>
                  <a:lnTo>
                    <a:pt x="153578" y="370839"/>
                  </a:lnTo>
                  <a:lnTo>
                    <a:pt x="104302" y="370966"/>
                  </a:lnTo>
                  <a:lnTo>
                    <a:pt x="157581" y="370966"/>
                  </a:lnTo>
                  <a:lnTo>
                    <a:pt x="157189" y="279463"/>
                  </a:lnTo>
                  <a:close/>
                </a:path>
                <a:path w="257175" h="442595">
                  <a:moveTo>
                    <a:pt x="155991" y="0"/>
                  </a:moveTo>
                  <a:lnTo>
                    <a:pt x="98841" y="253"/>
                  </a:lnTo>
                  <a:lnTo>
                    <a:pt x="100040" y="279899"/>
                  </a:lnTo>
                  <a:lnTo>
                    <a:pt x="128750" y="328667"/>
                  </a:lnTo>
                  <a:lnTo>
                    <a:pt x="157189" y="279463"/>
                  </a:lnTo>
                  <a:lnTo>
                    <a:pt x="155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196582" y="5423026"/>
              <a:ext cx="148590" cy="117475"/>
            </a:xfrm>
            <a:custGeom>
              <a:avLst/>
              <a:gdLst/>
              <a:ahLst/>
              <a:cxnLst/>
              <a:rect l="l" t="t" r="r" b="b"/>
              <a:pathLst>
                <a:path w="148590" h="117475">
                  <a:moveTo>
                    <a:pt x="148209" y="0"/>
                  </a:moveTo>
                  <a:lnTo>
                    <a:pt x="0" y="0"/>
                  </a:lnTo>
                  <a:lnTo>
                    <a:pt x="71374" y="117475"/>
                  </a:lnTo>
                  <a:lnTo>
                    <a:pt x="148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1549364" y="4987797"/>
            <a:ext cx="257175" cy="553085"/>
            <a:chOff x="1549364" y="4987797"/>
            <a:chExt cx="257175" cy="553085"/>
          </a:xfrm>
        </p:grpSpPr>
        <p:sp>
          <p:nvSpPr>
            <p:cNvPr id="37" name="object 37"/>
            <p:cNvSpPr/>
            <p:nvPr/>
          </p:nvSpPr>
          <p:spPr>
            <a:xfrm>
              <a:off x="1549364" y="4987797"/>
              <a:ext cx="257175" cy="442595"/>
            </a:xfrm>
            <a:custGeom>
              <a:avLst/>
              <a:gdLst/>
              <a:ahLst/>
              <a:cxnLst/>
              <a:rect l="l" t="t" r="r" b="b"/>
              <a:pathLst>
                <a:path w="257175" h="442595">
                  <a:moveTo>
                    <a:pt x="24526" y="185912"/>
                  </a:moveTo>
                  <a:lnTo>
                    <a:pt x="13751" y="189610"/>
                  </a:lnTo>
                  <a:lnTo>
                    <a:pt x="5326" y="197187"/>
                  </a:lnTo>
                  <a:lnTo>
                    <a:pt x="638" y="207073"/>
                  </a:lnTo>
                  <a:lnTo>
                    <a:pt x="0" y="218007"/>
                  </a:lnTo>
                  <a:lnTo>
                    <a:pt x="3718" y="228726"/>
                  </a:lnTo>
                  <a:lnTo>
                    <a:pt x="129321" y="442086"/>
                  </a:lnTo>
                  <a:lnTo>
                    <a:pt x="162004" y="385444"/>
                  </a:lnTo>
                  <a:lnTo>
                    <a:pt x="100492" y="385444"/>
                  </a:lnTo>
                  <a:lnTo>
                    <a:pt x="100039" y="279681"/>
                  </a:lnTo>
                  <a:lnTo>
                    <a:pt x="52994" y="199770"/>
                  </a:lnTo>
                  <a:lnTo>
                    <a:pt x="45362" y="191325"/>
                  </a:lnTo>
                  <a:lnTo>
                    <a:pt x="35468" y="186594"/>
                  </a:lnTo>
                  <a:lnTo>
                    <a:pt x="24526" y="185912"/>
                  </a:lnTo>
                  <a:close/>
                </a:path>
                <a:path w="257175" h="442595">
                  <a:moveTo>
                    <a:pt x="100039" y="279681"/>
                  </a:moveTo>
                  <a:lnTo>
                    <a:pt x="100492" y="385444"/>
                  </a:lnTo>
                  <a:lnTo>
                    <a:pt x="157642" y="385190"/>
                  </a:lnTo>
                  <a:lnTo>
                    <a:pt x="157581" y="370966"/>
                  </a:lnTo>
                  <a:lnTo>
                    <a:pt x="104302" y="370966"/>
                  </a:lnTo>
                  <a:lnTo>
                    <a:pt x="128813" y="328558"/>
                  </a:lnTo>
                  <a:lnTo>
                    <a:pt x="100039" y="279681"/>
                  </a:lnTo>
                  <a:close/>
                </a:path>
                <a:path w="257175" h="442595">
                  <a:moveTo>
                    <a:pt x="231888" y="185116"/>
                  </a:moveTo>
                  <a:lnTo>
                    <a:pt x="220968" y="185880"/>
                  </a:lnTo>
                  <a:lnTo>
                    <a:pt x="211119" y="190668"/>
                  </a:lnTo>
                  <a:lnTo>
                    <a:pt x="203616" y="199135"/>
                  </a:lnTo>
                  <a:lnTo>
                    <a:pt x="157189" y="279463"/>
                  </a:lnTo>
                  <a:lnTo>
                    <a:pt x="157642" y="385190"/>
                  </a:lnTo>
                  <a:lnTo>
                    <a:pt x="100492" y="385444"/>
                  </a:lnTo>
                  <a:lnTo>
                    <a:pt x="162004" y="385444"/>
                  </a:lnTo>
                  <a:lnTo>
                    <a:pt x="253019" y="227710"/>
                  </a:lnTo>
                  <a:lnTo>
                    <a:pt x="256696" y="216993"/>
                  </a:lnTo>
                  <a:lnTo>
                    <a:pt x="255956" y="206073"/>
                  </a:lnTo>
                  <a:lnTo>
                    <a:pt x="251144" y="196224"/>
                  </a:lnTo>
                  <a:lnTo>
                    <a:pt x="242605" y="188721"/>
                  </a:lnTo>
                  <a:lnTo>
                    <a:pt x="231888" y="185116"/>
                  </a:lnTo>
                  <a:close/>
                </a:path>
                <a:path w="257175" h="442595">
                  <a:moveTo>
                    <a:pt x="128813" y="328558"/>
                  </a:moveTo>
                  <a:lnTo>
                    <a:pt x="104302" y="370966"/>
                  </a:lnTo>
                  <a:lnTo>
                    <a:pt x="153705" y="370839"/>
                  </a:lnTo>
                  <a:lnTo>
                    <a:pt x="128813" y="328558"/>
                  </a:lnTo>
                  <a:close/>
                </a:path>
                <a:path w="257175" h="442595">
                  <a:moveTo>
                    <a:pt x="157189" y="279463"/>
                  </a:moveTo>
                  <a:lnTo>
                    <a:pt x="128813" y="328558"/>
                  </a:lnTo>
                  <a:lnTo>
                    <a:pt x="153705" y="370839"/>
                  </a:lnTo>
                  <a:lnTo>
                    <a:pt x="104302" y="370966"/>
                  </a:lnTo>
                  <a:lnTo>
                    <a:pt x="157581" y="370966"/>
                  </a:lnTo>
                  <a:lnTo>
                    <a:pt x="157189" y="279463"/>
                  </a:lnTo>
                  <a:close/>
                </a:path>
                <a:path w="257175" h="442595">
                  <a:moveTo>
                    <a:pt x="155991" y="0"/>
                  </a:moveTo>
                  <a:lnTo>
                    <a:pt x="98841" y="253"/>
                  </a:lnTo>
                  <a:lnTo>
                    <a:pt x="100039" y="279681"/>
                  </a:lnTo>
                  <a:lnTo>
                    <a:pt x="128813" y="328558"/>
                  </a:lnTo>
                  <a:lnTo>
                    <a:pt x="157189" y="279463"/>
                  </a:lnTo>
                  <a:lnTo>
                    <a:pt x="155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605406" y="5423026"/>
              <a:ext cx="148590" cy="117475"/>
            </a:xfrm>
            <a:custGeom>
              <a:avLst/>
              <a:gdLst/>
              <a:ahLst/>
              <a:cxnLst/>
              <a:rect l="l" t="t" r="r" b="b"/>
              <a:pathLst>
                <a:path w="148589" h="117475">
                  <a:moveTo>
                    <a:pt x="148209" y="0"/>
                  </a:moveTo>
                  <a:lnTo>
                    <a:pt x="0" y="0"/>
                  </a:lnTo>
                  <a:lnTo>
                    <a:pt x="71374" y="117475"/>
                  </a:lnTo>
                  <a:lnTo>
                    <a:pt x="148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1615256"/>
            <a:ext cx="7886700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i="1" spc="-10" dirty="0">
                <a:latin typeface="Arial"/>
                <a:cs typeface="Arial"/>
              </a:rPr>
              <a:t>Definisi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1994662"/>
            <a:ext cx="8141334" cy="4307077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6870" marR="549275" indent="-344805">
              <a:lnSpc>
                <a:spcPct val="90100"/>
              </a:lnSpc>
              <a:spcBef>
                <a:spcPts val="370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dirty="0">
                <a:latin typeface="Arial MT"/>
                <a:cs typeface="Arial MT"/>
              </a:rPr>
              <a:t>Sistem </a:t>
            </a:r>
            <a:r>
              <a:rPr sz="2200" spc="5" dirty="0">
                <a:latin typeface="Arial MT"/>
                <a:cs typeface="Arial MT"/>
              </a:rPr>
              <a:t>Informasi merupakan </a:t>
            </a:r>
            <a:r>
              <a:rPr sz="2200" dirty="0">
                <a:latin typeface="Arial MT"/>
                <a:cs typeface="Arial MT"/>
              </a:rPr>
              <a:t>suatu kombinasi teratur dari </a:t>
            </a:r>
            <a:r>
              <a:rPr sz="2200" spc="5" dirty="0">
                <a:latin typeface="Arial MT"/>
                <a:cs typeface="Arial MT"/>
              </a:rPr>
              <a:t> orang-orang,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hardware,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software,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jaringan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komunikasi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dan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sumber </a:t>
            </a:r>
            <a:r>
              <a:rPr sz="2200" spc="-5" dirty="0">
                <a:latin typeface="Arial MT"/>
                <a:cs typeface="Arial MT"/>
              </a:rPr>
              <a:t>daya </a:t>
            </a:r>
            <a:r>
              <a:rPr sz="2200" spc="5" dirty="0">
                <a:latin typeface="Arial MT"/>
                <a:cs typeface="Arial MT"/>
              </a:rPr>
              <a:t>data </a:t>
            </a:r>
            <a:r>
              <a:rPr sz="2200" spc="-5" dirty="0">
                <a:latin typeface="Arial MT"/>
                <a:cs typeface="Arial MT"/>
              </a:rPr>
              <a:t>yang </a:t>
            </a:r>
            <a:r>
              <a:rPr sz="2200" dirty="0">
                <a:latin typeface="Arial MT"/>
                <a:cs typeface="Arial MT"/>
              </a:rPr>
              <a:t>mengumpulkan, mengubah, dan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menyebarkan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informasi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dalam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sebuah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organisasi.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FFFFF"/>
              </a:buClr>
              <a:buFont typeface="Arial MT"/>
              <a:buChar char="•"/>
            </a:pPr>
            <a:endParaRPr sz="2950">
              <a:latin typeface="Arial MT"/>
              <a:cs typeface="Arial MT"/>
            </a:endParaRPr>
          </a:p>
          <a:p>
            <a:pPr marL="356870" marR="193675" indent="-344805">
              <a:lnSpc>
                <a:spcPct val="90000"/>
              </a:lnSpc>
              <a:buChar char="•"/>
              <a:tabLst>
                <a:tab pos="356870" algn="l"/>
                <a:tab pos="357505" algn="l"/>
              </a:tabLst>
            </a:pPr>
            <a:r>
              <a:rPr sz="2200" dirty="0">
                <a:latin typeface="Arial MT"/>
                <a:cs typeface="Arial MT"/>
              </a:rPr>
              <a:t>Sistem </a:t>
            </a:r>
            <a:r>
              <a:rPr sz="2200" spc="5" dirty="0">
                <a:latin typeface="Arial MT"/>
                <a:cs typeface="Arial MT"/>
              </a:rPr>
              <a:t>Informasi </a:t>
            </a:r>
            <a:r>
              <a:rPr sz="2200" spc="-5" dirty="0">
                <a:latin typeface="Arial MT"/>
                <a:cs typeface="Arial MT"/>
              </a:rPr>
              <a:t>adalah </a:t>
            </a:r>
            <a:r>
              <a:rPr sz="2200" dirty="0">
                <a:latin typeface="Arial MT"/>
                <a:cs typeface="Arial MT"/>
              </a:rPr>
              <a:t>satu Kesatuan data </a:t>
            </a:r>
            <a:r>
              <a:rPr sz="2200" spc="-5" dirty="0">
                <a:latin typeface="Arial MT"/>
                <a:cs typeface="Arial MT"/>
              </a:rPr>
              <a:t>olahan yang </a:t>
            </a:r>
            <a:r>
              <a:rPr sz="2200" dirty="0">
                <a:latin typeface="Arial MT"/>
                <a:cs typeface="Arial MT"/>
              </a:rPr>
              <a:t> terintegrasi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dan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saling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melengkapi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yang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menghasilkan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output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baik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dalam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bentuk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gambar,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suara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maupun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tulisan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FFFFF"/>
              </a:buClr>
              <a:buFont typeface="Arial MT"/>
              <a:buChar char="•"/>
            </a:pPr>
            <a:endParaRPr sz="2950">
              <a:latin typeface="Arial MT"/>
              <a:cs typeface="Arial MT"/>
            </a:endParaRPr>
          </a:p>
          <a:p>
            <a:pPr marL="356870" marR="5080" indent="-344805">
              <a:lnSpc>
                <a:spcPct val="90000"/>
              </a:lnSpc>
              <a:buChar char="•"/>
              <a:tabLst>
                <a:tab pos="356870" algn="l"/>
                <a:tab pos="357505" algn="l"/>
              </a:tabLst>
            </a:pPr>
            <a:r>
              <a:rPr sz="2200" dirty="0">
                <a:latin typeface="Arial MT"/>
                <a:cs typeface="Arial MT"/>
              </a:rPr>
              <a:t>Sistem </a:t>
            </a:r>
            <a:r>
              <a:rPr sz="2200" spc="5" dirty="0">
                <a:latin typeface="Arial MT"/>
                <a:cs typeface="Arial MT"/>
              </a:rPr>
              <a:t>informasi </a:t>
            </a:r>
            <a:r>
              <a:rPr sz="2200" spc="-5" dirty="0">
                <a:latin typeface="Arial MT"/>
                <a:cs typeface="Arial MT"/>
              </a:rPr>
              <a:t>adalah </a:t>
            </a:r>
            <a:r>
              <a:rPr sz="2200" dirty="0">
                <a:latin typeface="Arial MT"/>
                <a:cs typeface="Arial MT"/>
              </a:rPr>
              <a:t>sekumpulan komponen pembentuk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sistem </a:t>
            </a:r>
            <a:r>
              <a:rPr sz="2200" spc="-5" dirty="0">
                <a:latin typeface="Arial MT"/>
                <a:cs typeface="Arial MT"/>
              </a:rPr>
              <a:t>yang </a:t>
            </a:r>
            <a:r>
              <a:rPr sz="2200" dirty="0">
                <a:latin typeface="Arial MT"/>
                <a:cs typeface="Arial MT"/>
              </a:rPr>
              <a:t>mempunyai </a:t>
            </a:r>
            <a:r>
              <a:rPr sz="2200" spc="5" dirty="0">
                <a:latin typeface="Arial MT"/>
                <a:cs typeface="Arial MT"/>
              </a:rPr>
              <a:t>keterkaitan </a:t>
            </a:r>
            <a:r>
              <a:rPr sz="2200" dirty="0">
                <a:latin typeface="Arial MT"/>
                <a:cs typeface="Arial MT"/>
              </a:rPr>
              <a:t>antara satu </a:t>
            </a:r>
            <a:r>
              <a:rPr sz="2200" spc="5" dirty="0">
                <a:latin typeface="Arial MT"/>
                <a:cs typeface="Arial MT"/>
              </a:rPr>
              <a:t>komponen 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dengan komponen </a:t>
            </a:r>
            <a:r>
              <a:rPr sz="2200" spc="-10" dirty="0">
                <a:latin typeface="Arial MT"/>
                <a:cs typeface="Arial MT"/>
              </a:rPr>
              <a:t>lainnya </a:t>
            </a:r>
            <a:r>
              <a:rPr sz="2200" spc="-5" dirty="0">
                <a:latin typeface="Arial MT"/>
                <a:cs typeface="Arial MT"/>
              </a:rPr>
              <a:t>yang </a:t>
            </a:r>
            <a:r>
              <a:rPr sz="2200" dirty="0">
                <a:latin typeface="Arial MT"/>
                <a:cs typeface="Arial MT"/>
              </a:rPr>
              <a:t>bertujuan menghasilkan suatu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informasi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dalam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suatu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bidang</a:t>
            </a:r>
            <a:r>
              <a:rPr sz="2200" dirty="0">
                <a:latin typeface="Arial MT"/>
                <a:cs typeface="Arial MT"/>
              </a:rPr>
              <a:t> tertentu.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350" y="0"/>
            <a:ext cx="9156700" cy="1295400"/>
            <a:chOff x="-6350" y="0"/>
            <a:chExt cx="9156700" cy="12954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9144000" cy="1282700"/>
            </a:xfrm>
            <a:custGeom>
              <a:avLst/>
              <a:gdLst/>
              <a:ahLst/>
              <a:cxnLst/>
              <a:rect l="l" t="t" r="r" b="b"/>
              <a:pathLst>
                <a:path w="9144000" h="1282700">
                  <a:moveTo>
                    <a:pt x="9144000" y="0"/>
                  </a:moveTo>
                  <a:lnTo>
                    <a:pt x="0" y="0"/>
                  </a:lnTo>
                  <a:lnTo>
                    <a:pt x="0" y="1282700"/>
                  </a:lnTo>
                  <a:lnTo>
                    <a:pt x="9144000" y="12827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D176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144000" cy="1282700"/>
            </a:xfrm>
            <a:custGeom>
              <a:avLst/>
              <a:gdLst/>
              <a:ahLst/>
              <a:cxnLst/>
              <a:rect l="l" t="t" r="r" b="b"/>
              <a:pathLst>
                <a:path w="9144000" h="1282700">
                  <a:moveTo>
                    <a:pt x="0" y="1282700"/>
                  </a:moveTo>
                  <a:lnTo>
                    <a:pt x="9144000" y="12827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282700"/>
                  </a:lnTo>
                  <a:close/>
                </a:path>
              </a:pathLst>
            </a:custGeom>
            <a:ln w="12700">
              <a:solidFill>
                <a:srgbClr val="D176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6407" y="137160"/>
              <a:ext cx="2737231" cy="98882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96407" y="137160"/>
              <a:ext cx="2737485" cy="989330"/>
            </a:xfrm>
            <a:custGeom>
              <a:avLst/>
              <a:gdLst/>
              <a:ahLst/>
              <a:cxnLst/>
              <a:rect l="l" t="t" r="r" b="b"/>
              <a:pathLst>
                <a:path w="2737484" h="989330">
                  <a:moveTo>
                    <a:pt x="2737231" y="988822"/>
                  </a:moveTo>
                  <a:lnTo>
                    <a:pt x="659129" y="988822"/>
                  </a:lnTo>
                  <a:lnTo>
                    <a:pt x="0" y="494411"/>
                  </a:lnTo>
                  <a:lnTo>
                    <a:pt x="659129" y="0"/>
                  </a:lnTo>
                  <a:lnTo>
                    <a:pt x="2737231" y="0"/>
                  </a:lnTo>
                  <a:lnTo>
                    <a:pt x="2737231" y="988822"/>
                  </a:lnTo>
                  <a:close/>
                </a:path>
              </a:pathLst>
            </a:custGeom>
            <a:ln w="12700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175" y="356615"/>
              <a:ext cx="5425440" cy="5425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2455" y="334645"/>
              <a:ext cx="5418823" cy="5367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12815" y="137160"/>
              <a:ext cx="2735326" cy="98882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012815" y="137160"/>
              <a:ext cx="2735580" cy="989330"/>
            </a:xfrm>
            <a:custGeom>
              <a:avLst/>
              <a:gdLst/>
              <a:ahLst/>
              <a:cxnLst/>
              <a:rect l="l" t="t" r="r" b="b"/>
              <a:pathLst>
                <a:path w="2735579" h="989330">
                  <a:moveTo>
                    <a:pt x="2735326" y="988822"/>
                  </a:moveTo>
                  <a:lnTo>
                    <a:pt x="658621" y="988822"/>
                  </a:lnTo>
                  <a:lnTo>
                    <a:pt x="0" y="494411"/>
                  </a:lnTo>
                  <a:lnTo>
                    <a:pt x="658621" y="0"/>
                  </a:lnTo>
                  <a:lnTo>
                    <a:pt x="2735326" y="0"/>
                  </a:lnTo>
                  <a:lnTo>
                    <a:pt x="2735326" y="988822"/>
                  </a:lnTo>
                  <a:close/>
                </a:path>
              </a:pathLst>
            </a:custGeom>
            <a:ln w="12700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27317" y="137160"/>
              <a:ext cx="2737231" cy="98882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227317" y="137160"/>
              <a:ext cx="2737485" cy="989330"/>
            </a:xfrm>
            <a:custGeom>
              <a:avLst/>
              <a:gdLst/>
              <a:ahLst/>
              <a:cxnLst/>
              <a:rect l="l" t="t" r="r" b="b"/>
              <a:pathLst>
                <a:path w="2737484" h="989330">
                  <a:moveTo>
                    <a:pt x="2737231" y="988822"/>
                  </a:moveTo>
                  <a:lnTo>
                    <a:pt x="659130" y="988822"/>
                  </a:lnTo>
                  <a:lnTo>
                    <a:pt x="0" y="494411"/>
                  </a:lnTo>
                  <a:lnTo>
                    <a:pt x="659130" y="0"/>
                  </a:lnTo>
                  <a:lnTo>
                    <a:pt x="2737231" y="0"/>
                  </a:lnTo>
                  <a:lnTo>
                    <a:pt x="2737231" y="988822"/>
                  </a:lnTo>
                  <a:close/>
                </a:path>
              </a:pathLst>
            </a:custGeom>
            <a:ln w="12700">
              <a:solidFill>
                <a:srgbClr val="9F52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0092" y="609600"/>
            <a:ext cx="7886700" cy="1179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4315"/>
              </a:lnSpc>
              <a:spcBef>
                <a:spcPts val="100"/>
              </a:spcBef>
            </a:pPr>
            <a:r>
              <a:rPr sz="3600" dirty="0"/>
              <a:t>SISTEM</a:t>
            </a:r>
            <a:r>
              <a:rPr sz="3600" spc="-75" dirty="0"/>
              <a:t> </a:t>
            </a:r>
            <a:r>
              <a:rPr sz="3600" spc="-10" dirty="0"/>
              <a:t>INFORMASI</a:t>
            </a:r>
            <a:r>
              <a:rPr sz="3600" spc="45" dirty="0"/>
              <a:t> </a:t>
            </a:r>
            <a:r>
              <a:rPr sz="3600" spc="-10" dirty="0"/>
              <a:t>MANAJEMEN</a:t>
            </a:r>
            <a:endParaRPr sz="3600" dirty="0"/>
          </a:p>
          <a:p>
            <a:pPr marL="635" algn="ctr">
              <a:lnSpc>
                <a:spcPts val="4795"/>
              </a:lnSpc>
            </a:pPr>
            <a:r>
              <a:rPr dirty="0"/>
              <a:t>(SIM)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9223" y="2041017"/>
            <a:ext cx="7415530" cy="29521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0"/>
              </a:spcBef>
            </a:pPr>
            <a:r>
              <a:rPr sz="3200" spc="-5" dirty="0">
                <a:latin typeface="Arial MT"/>
                <a:cs typeface="Arial MT"/>
              </a:rPr>
              <a:t>Jaringan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prosedur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pengolahan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data </a:t>
            </a:r>
            <a:r>
              <a:rPr sz="3200" spc="-15" dirty="0">
                <a:latin typeface="Arial MT"/>
                <a:cs typeface="Arial MT"/>
              </a:rPr>
              <a:t>yang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dikembangkan dalam suatu organisasi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untuk memberikan informasi kepada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manajemen untuk mendukung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pengambilan keputusan dalam rangka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mencapai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tujuan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organisasi.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1522923"/>
            <a:ext cx="7886700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spc="-25" dirty="0">
                <a:latin typeface="Calibri"/>
                <a:cs typeface="Calibri"/>
              </a:rPr>
              <a:t>Pengolahan </a:t>
            </a:r>
            <a:r>
              <a:rPr sz="4400" spc="-40" dirty="0">
                <a:latin typeface="Calibri"/>
                <a:cs typeface="Calibri"/>
              </a:rPr>
              <a:t>Data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1020252"/>
            <a:ext cx="80727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indent="-3416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3695" algn="l"/>
                <a:tab pos="354330" algn="l"/>
              </a:tabLst>
            </a:pPr>
            <a:r>
              <a:rPr sz="3000" spc="-5" dirty="0">
                <a:latin typeface="Calibri"/>
                <a:cs typeface="Calibri"/>
              </a:rPr>
              <a:t>Menurut</a:t>
            </a:r>
            <a:r>
              <a:rPr sz="3000" spc="100" dirty="0">
                <a:latin typeface="Calibri"/>
                <a:cs typeface="Calibri"/>
              </a:rPr>
              <a:t> </a:t>
            </a:r>
            <a:r>
              <a:rPr sz="3000" i="1" spc="-5" dirty="0">
                <a:latin typeface="Calibri"/>
                <a:cs typeface="Calibri"/>
              </a:rPr>
              <a:t>George</a:t>
            </a:r>
            <a:r>
              <a:rPr sz="3000" i="1" spc="80" dirty="0">
                <a:latin typeface="Calibri"/>
                <a:cs typeface="Calibri"/>
              </a:rPr>
              <a:t> </a:t>
            </a:r>
            <a:r>
              <a:rPr sz="3000" i="1" spc="10" dirty="0">
                <a:latin typeface="Calibri"/>
                <a:cs typeface="Calibri"/>
              </a:rPr>
              <a:t>R.</a:t>
            </a:r>
            <a:r>
              <a:rPr sz="3000" i="1" spc="75" dirty="0">
                <a:latin typeface="Calibri"/>
                <a:cs typeface="Calibri"/>
              </a:rPr>
              <a:t> </a:t>
            </a:r>
            <a:r>
              <a:rPr sz="3000" i="1" spc="-50" dirty="0">
                <a:latin typeface="Calibri"/>
                <a:cs typeface="Calibri"/>
              </a:rPr>
              <a:t>Terry</a:t>
            </a:r>
            <a:r>
              <a:rPr sz="3000" i="1" spc="1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pengolahan</a:t>
            </a:r>
            <a:r>
              <a:rPr sz="3000" spc="11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data</a:t>
            </a:r>
            <a:r>
              <a:rPr sz="3000" spc="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adalah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04210" y="2045665"/>
            <a:ext cx="5407025" cy="848994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7015" marR="5080" indent="-234950">
              <a:lnSpc>
                <a:spcPct val="80000"/>
              </a:lnSpc>
              <a:spcBef>
                <a:spcPts val="819"/>
              </a:spcBef>
              <a:tabLst>
                <a:tab pos="1490980" algn="l"/>
                <a:tab pos="1624965" algn="l"/>
                <a:tab pos="2734945" algn="l"/>
                <a:tab pos="3475990" algn="l"/>
                <a:tab pos="4665345" algn="l"/>
              </a:tabLst>
            </a:pPr>
            <a:r>
              <a:rPr sz="3000" spc="-5" dirty="0">
                <a:latin typeface="Calibri"/>
                <a:cs typeface="Calibri"/>
              </a:rPr>
              <a:t>o</a:t>
            </a:r>
            <a:r>
              <a:rPr sz="3000" spc="5" dirty="0">
                <a:latin typeface="Calibri"/>
                <a:cs typeface="Calibri"/>
              </a:rPr>
              <a:t>p</a:t>
            </a:r>
            <a:r>
              <a:rPr sz="3000" dirty="0">
                <a:latin typeface="Calibri"/>
                <a:cs typeface="Calibri"/>
              </a:rPr>
              <a:t>e</a:t>
            </a:r>
            <a:r>
              <a:rPr sz="3000" spc="-95" dirty="0">
                <a:latin typeface="Calibri"/>
                <a:cs typeface="Calibri"/>
              </a:rPr>
              <a:t>r</a:t>
            </a:r>
            <a:r>
              <a:rPr sz="3000" dirty="0">
                <a:latin typeface="Calibri"/>
                <a:cs typeface="Calibri"/>
              </a:rPr>
              <a:t>asi		</a:t>
            </a:r>
            <a:r>
              <a:rPr sz="3000" spc="-25" dirty="0">
                <a:latin typeface="Calibri"/>
                <a:cs typeface="Calibri"/>
              </a:rPr>
              <a:t>a</a:t>
            </a:r>
            <a:r>
              <a:rPr sz="3000" spc="-45" dirty="0">
                <a:latin typeface="Calibri"/>
                <a:cs typeface="Calibri"/>
              </a:rPr>
              <a:t>t</a:t>
            </a:r>
            <a:r>
              <a:rPr sz="3000" dirty="0">
                <a:latin typeface="Calibri"/>
                <a:cs typeface="Calibri"/>
              </a:rPr>
              <a:t>as	i</a:t>
            </a:r>
            <a:r>
              <a:rPr sz="3000" spc="-15" dirty="0">
                <a:latin typeface="Calibri"/>
                <a:cs typeface="Calibri"/>
              </a:rPr>
              <a:t>n</a:t>
            </a:r>
            <a:r>
              <a:rPr sz="3000" spc="-80" dirty="0">
                <a:latin typeface="Calibri"/>
                <a:cs typeface="Calibri"/>
              </a:rPr>
              <a:t>f</a:t>
            </a:r>
            <a:r>
              <a:rPr sz="3000" spc="-5" dirty="0">
                <a:latin typeface="Calibri"/>
                <a:cs typeface="Calibri"/>
              </a:rPr>
              <a:t>o</a:t>
            </a:r>
            <a:r>
              <a:rPr sz="3000" spc="5" dirty="0">
                <a:latin typeface="Calibri"/>
                <a:cs typeface="Calibri"/>
              </a:rPr>
              <a:t>r</a:t>
            </a:r>
            <a:r>
              <a:rPr sz="3000" spc="-25" dirty="0">
                <a:latin typeface="Calibri"/>
                <a:cs typeface="Calibri"/>
              </a:rPr>
              <a:t>m</a:t>
            </a:r>
            <a:r>
              <a:rPr sz="3000" dirty="0">
                <a:latin typeface="Calibri"/>
                <a:cs typeface="Calibri"/>
              </a:rPr>
              <a:t>asi	</a:t>
            </a:r>
            <a:r>
              <a:rPr sz="3000" spc="-40" dirty="0">
                <a:latin typeface="Calibri"/>
                <a:cs typeface="Calibri"/>
              </a:rPr>
              <a:t>y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15" dirty="0">
                <a:latin typeface="Calibri"/>
                <a:cs typeface="Calibri"/>
              </a:rPr>
              <a:t>n</a:t>
            </a:r>
            <a:r>
              <a:rPr sz="3000" dirty="0">
                <a:latin typeface="Calibri"/>
                <a:cs typeface="Calibri"/>
              </a:rPr>
              <a:t>g  g</a:t>
            </a:r>
            <a:r>
              <a:rPr sz="3000" spc="-15" dirty="0">
                <a:latin typeface="Calibri"/>
                <a:cs typeface="Calibri"/>
              </a:rPr>
              <a:t>u</a:t>
            </a:r>
            <a:r>
              <a:rPr sz="3000" dirty="0">
                <a:latin typeface="Calibri"/>
                <a:cs typeface="Calibri"/>
              </a:rPr>
              <a:t>na	men</a:t>
            </a:r>
            <a:r>
              <a:rPr sz="3000" spc="-15" dirty="0">
                <a:latin typeface="Calibri"/>
                <a:cs typeface="Calibri"/>
              </a:rPr>
              <a:t>c</a:t>
            </a:r>
            <a:r>
              <a:rPr sz="3000" spc="-25" dirty="0">
                <a:latin typeface="Calibri"/>
                <a:cs typeface="Calibri"/>
              </a:rPr>
              <a:t>a</a:t>
            </a:r>
            <a:r>
              <a:rPr sz="3000" dirty="0">
                <a:latin typeface="Calibri"/>
                <a:cs typeface="Calibri"/>
              </a:rPr>
              <a:t>pai	</a:t>
            </a:r>
            <a:r>
              <a:rPr sz="3000" spc="-20" dirty="0">
                <a:latin typeface="Calibri"/>
                <a:cs typeface="Calibri"/>
              </a:rPr>
              <a:t>h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5" dirty="0">
                <a:latin typeface="Calibri"/>
                <a:cs typeface="Calibri"/>
              </a:rPr>
              <a:t>i</a:t>
            </a:r>
            <a:r>
              <a:rPr sz="3000" dirty="0">
                <a:latin typeface="Calibri"/>
                <a:cs typeface="Calibri"/>
              </a:rPr>
              <a:t>l	</a:t>
            </a:r>
            <a:r>
              <a:rPr sz="3000" spc="-40" dirty="0">
                <a:latin typeface="Calibri"/>
                <a:cs typeface="Calibri"/>
              </a:rPr>
              <a:t>y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15" dirty="0">
                <a:latin typeface="Calibri"/>
                <a:cs typeface="Calibri"/>
              </a:rPr>
              <a:t>n</a:t>
            </a:r>
            <a:r>
              <a:rPr sz="3000" dirty="0">
                <a:latin typeface="Calibri"/>
                <a:cs typeface="Calibri"/>
              </a:rPr>
              <a:t>g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7620" y="2045665"/>
            <a:ext cx="2102485" cy="121475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819"/>
              </a:spcBef>
            </a:pPr>
            <a:r>
              <a:rPr sz="3000" spc="-15" dirty="0">
                <a:latin typeface="Calibri"/>
                <a:cs typeface="Calibri"/>
              </a:rPr>
              <a:t>serangkaian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</a:t>
            </a:r>
            <a:r>
              <a:rPr sz="3000" spc="-35" dirty="0">
                <a:latin typeface="Calibri"/>
                <a:cs typeface="Calibri"/>
              </a:rPr>
              <a:t>r</a:t>
            </a:r>
            <a:r>
              <a:rPr sz="3000" dirty="0">
                <a:latin typeface="Calibri"/>
                <a:cs typeface="Calibri"/>
              </a:rPr>
              <a:t>en</a:t>
            </a:r>
            <a:r>
              <a:rPr sz="3000" spc="-45" dirty="0">
                <a:latin typeface="Calibri"/>
                <a:cs typeface="Calibri"/>
              </a:rPr>
              <a:t>c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5" dirty="0">
                <a:latin typeface="Calibri"/>
                <a:cs typeface="Calibri"/>
              </a:rPr>
              <a:t>n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70" dirty="0">
                <a:latin typeface="Calibri"/>
                <a:cs typeface="Calibri"/>
              </a:rPr>
              <a:t>k</a:t>
            </a:r>
            <a:r>
              <a:rPr sz="3000" dirty="0">
                <a:latin typeface="Calibri"/>
                <a:cs typeface="Calibri"/>
              </a:rPr>
              <a:t>an  diinginkan.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6244" y="3244037"/>
            <a:ext cx="8077200" cy="194691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3695" marR="5080" indent="-341630" algn="just">
              <a:lnSpc>
                <a:spcPct val="80000"/>
              </a:lnSpc>
              <a:spcBef>
                <a:spcPts val="819"/>
              </a:spcBef>
              <a:buFont typeface="Arial MT"/>
              <a:buChar char="•"/>
              <a:tabLst>
                <a:tab pos="354330" algn="l"/>
              </a:tabLst>
            </a:pPr>
            <a:r>
              <a:rPr sz="3000" dirty="0">
                <a:latin typeface="Calibri"/>
                <a:cs typeface="Calibri"/>
              </a:rPr>
              <a:t>Jadi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Pengolahan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Data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merupakan</a:t>
            </a:r>
            <a:r>
              <a:rPr sz="3000" spc="-5" dirty="0">
                <a:latin typeface="Calibri"/>
                <a:cs typeface="Calibri"/>
              </a:rPr>
              <a:t> suatu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proses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atau </a:t>
            </a:r>
            <a:r>
              <a:rPr sz="3000" spc="-10" dirty="0">
                <a:latin typeface="Calibri"/>
                <a:cs typeface="Calibri"/>
              </a:rPr>
              <a:t>langkah yang </a:t>
            </a:r>
            <a:r>
              <a:rPr sz="3000" spc="-15" dirty="0">
                <a:latin typeface="Calibri"/>
                <a:cs typeface="Calibri"/>
              </a:rPr>
              <a:t>dilakukan dengan </a:t>
            </a:r>
            <a:r>
              <a:rPr sz="3000" spc="-10" dirty="0">
                <a:latin typeface="Calibri"/>
                <a:cs typeface="Calibri"/>
              </a:rPr>
              <a:t>suatu </a:t>
            </a:r>
            <a:r>
              <a:rPr sz="3000" spc="-15" dirty="0">
                <a:latin typeface="Calibri"/>
                <a:cs typeface="Calibri"/>
              </a:rPr>
              <a:t>sarana </a:t>
            </a:r>
            <a:r>
              <a:rPr sz="3000" spc="-10" dirty="0">
                <a:latin typeface="Calibri"/>
                <a:cs typeface="Calibri"/>
              </a:rPr>
              <a:t> yang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memungkinkan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(manual/komputer)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untuk </a:t>
            </a:r>
            <a:r>
              <a:rPr sz="3000" spc="-5" dirty="0">
                <a:latin typeface="Calibri"/>
                <a:cs typeface="Calibri"/>
              </a:rPr>
              <a:t> mengubah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data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menjadi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informasi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agar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dapat </a:t>
            </a:r>
            <a:r>
              <a:rPr sz="3000" spc="-5" dirty="0">
                <a:latin typeface="Calibri"/>
                <a:cs typeface="Calibri"/>
              </a:rPr>
              <a:t> digunakan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untuk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tujuan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tertentu.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34831" y="6428638"/>
            <a:ext cx="1778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18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0873" y="1085745"/>
            <a:ext cx="78867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>
                <a:latin typeface="Calibri"/>
                <a:cs typeface="Calibri"/>
              </a:rPr>
              <a:t>8</a:t>
            </a:r>
            <a:r>
              <a:rPr sz="4400" spc="-50" dirty="0">
                <a:latin typeface="Calibri"/>
                <a:cs typeface="Calibri"/>
              </a:rPr>
              <a:t> </a:t>
            </a:r>
            <a:r>
              <a:rPr sz="4400" spc="-15" dirty="0">
                <a:latin typeface="Calibri"/>
                <a:cs typeface="Calibri"/>
              </a:rPr>
              <a:t>Aktifitas</a:t>
            </a:r>
            <a:r>
              <a:rPr sz="4400" spc="5" dirty="0">
                <a:latin typeface="Calibri"/>
                <a:cs typeface="Calibri"/>
              </a:rPr>
              <a:t> </a:t>
            </a:r>
            <a:r>
              <a:rPr sz="4400" spc="-25" dirty="0">
                <a:latin typeface="Calibri"/>
                <a:cs typeface="Calibri"/>
              </a:rPr>
              <a:t>Pengolahan</a:t>
            </a:r>
            <a:r>
              <a:rPr sz="4400" spc="70" dirty="0">
                <a:latin typeface="Calibri"/>
                <a:cs typeface="Calibri"/>
              </a:rPr>
              <a:t> </a:t>
            </a:r>
            <a:r>
              <a:rPr sz="4400" spc="-40" dirty="0">
                <a:latin typeface="Calibri"/>
                <a:cs typeface="Calibri"/>
              </a:rPr>
              <a:t>Data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844" y="1906699"/>
            <a:ext cx="4839970" cy="386516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530225" indent="-518159">
              <a:lnSpc>
                <a:spcPct val="100000"/>
              </a:lnSpc>
              <a:spcBef>
                <a:spcPts val="459"/>
              </a:spcBef>
              <a:buClr>
                <a:srgbClr val="FFFF99"/>
              </a:buClr>
              <a:buFont typeface="Wingdings"/>
              <a:buChar char=""/>
              <a:tabLst>
                <a:tab pos="530225" algn="l"/>
                <a:tab pos="530860" algn="l"/>
              </a:tabLst>
            </a:pPr>
            <a:r>
              <a:rPr sz="2800" spc="-5" dirty="0">
                <a:latin typeface="Calibri"/>
                <a:cs typeface="Calibri"/>
              </a:rPr>
              <a:t>Input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(masukan)</a:t>
            </a:r>
            <a:endParaRPr sz="2800" dirty="0">
              <a:latin typeface="Calibri"/>
              <a:cs typeface="Calibri"/>
            </a:endParaRPr>
          </a:p>
          <a:p>
            <a:pPr marL="530225" indent="-518159">
              <a:lnSpc>
                <a:spcPct val="100000"/>
              </a:lnSpc>
              <a:spcBef>
                <a:spcPts val="360"/>
              </a:spcBef>
              <a:buClr>
                <a:srgbClr val="FFFF99"/>
              </a:buClr>
              <a:buFont typeface="Wingdings"/>
              <a:buChar char=""/>
              <a:tabLst>
                <a:tab pos="530225" algn="l"/>
                <a:tab pos="530860" algn="l"/>
              </a:tabLst>
            </a:pPr>
            <a:r>
              <a:rPr sz="2800" spc="-5" dirty="0">
                <a:latin typeface="Calibri"/>
                <a:cs typeface="Calibri"/>
              </a:rPr>
              <a:t>Calculating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(menghitung)</a:t>
            </a:r>
            <a:endParaRPr sz="2800" dirty="0">
              <a:latin typeface="Calibri"/>
              <a:cs typeface="Calibri"/>
            </a:endParaRPr>
          </a:p>
          <a:p>
            <a:pPr marL="530225" indent="-518159">
              <a:lnSpc>
                <a:spcPct val="100000"/>
              </a:lnSpc>
              <a:spcBef>
                <a:spcPts val="360"/>
              </a:spcBef>
              <a:buClr>
                <a:srgbClr val="FFFF99"/>
              </a:buClr>
              <a:buFont typeface="Wingdings"/>
              <a:buChar char=""/>
              <a:tabLst>
                <a:tab pos="530225" algn="l"/>
                <a:tab pos="530860" algn="l"/>
              </a:tabLst>
            </a:pPr>
            <a:r>
              <a:rPr sz="2800" spc="-5" dirty="0">
                <a:latin typeface="Calibri"/>
                <a:cs typeface="Calibri"/>
              </a:rPr>
              <a:t>Comparing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(membandingkan)</a:t>
            </a:r>
            <a:endParaRPr sz="2800" dirty="0">
              <a:latin typeface="Calibri"/>
              <a:cs typeface="Calibri"/>
            </a:endParaRPr>
          </a:p>
          <a:p>
            <a:pPr marL="530225" indent="-518159">
              <a:lnSpc>
                <a:spcPct val="100000"/>
              </a:lnSpc>
              <a:spcBef>
                <a:spcPts val="385"/>
              </a:spcBef>
              <a:buClr>
                <a:srgbClr val="FFFF99"/>
              </a:buClr>
              <a:buFont typeface="Wingdings"/>
              <a:buChar char=""/>
              <a:tabLst>
                <a:tab pos="530225" algn="l"/>
                <a:tab pos="530860" algn="l"/>
              </a:tabLst>
            </a:pPr>
            <a:r>
              <a:rPr sz="2800" spc="-5" dirty="0">
                <a:latin typeface="Calibri"/>
                <a:cs typeface="Calibri"/>
              </a:rPr>
              <a:t>Sorting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(menyortir)</a:t>
            </a:r>
            <a:endParaRPr sz="2800" dirty="0">
              <a:latin typeface="Calibri"/>
              <a:cs typeface="Calibri"/>
            </a:endParaRPr>
          </a:p>
          <a:p>
            <a:pPr marL="530225" indent="-518159">
              <a:lnSpc>
                <a:spcPct val="100000"/>
              </a:lnSpc>
              <a:spcBef>
                <a:spcPts val="360"/>
              </a:spcBef>
              <a:buClr>
                <a:srgbClr val="FFFF99"/>
              </a:buClr>
              <a:buFont typeface="Wingdings"/>
              <a:buChar char=""/>
              <a:tabLst>
                <a:tab pos="530225" algn="l"/>
                <a:tab pos="530860" algn="l"/>
                <a:tab pos="1724025" algn="l"/>
              </a:tabLst>
            </a:pPr>
            <a:r>
              <a:rPr sz="2800" spc="-5" dirty="0">
                <a:latin typeface="Calibri"/>
                <a:cs typeface="Calibri"/>
              </a:rPr>
              <a:t>Output	</a:t>
            </a:r>
            <a:r>
              <a:rPr sz="2800" spc="-15" dirty="0">
                <a:latin typeface="Calibri"/>
                <a:cs typeface="Calibri"/>
              </a:rPr>
              <a:t>(keluaran)</a:t>
            </a:r>
            <a:endParaRPr sz="2800" dirty="0">
              <a:latin typeface="Calibri"/>
              <a:cs typeface="Calibri"/>
            </a:endParaRPr>
          </a:p>
          <a:p>
            <a:pPr marL="530225" indent="-518159">
              <a:lnSpc>
                <a:spcPct val="100000"/>
              </a:lnSpc>
              <a:spcBef>
                <a:spcPts val="365"/>
              </a:spcBef>
              <a:buClr>
                <a:srgbClr val="FFFF99"/>
              </a:buClr>
              <a:buFont typeface="Wingdings"/>
              <a:buChar char=""/>
              <a:tabLst>
                <a:tab pos="530225" algn="l"/>
                <a:tab pos="530860" algn="l"/>
              </a:tabLst>
            </a:pPr>
            <a:r>
              <a:rPr sz="2800" spc="-5" dirty="0">
                <a:latin typeface="Calibri"/>
                <a:cs typeface="Calibri"/>
              </a:rPr>
              <a:t>Storing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(menyimpan)</a:t>
            </a:r>
            <a:endParaRPr sz="2800" dirty="0">
              <a:latin typeface="Calibri"/>
              <a:cs typeface="Calibri"/>
            </a:endParaRPr>
          </a:p>
          <a:p>
            <a:pPr marL="530225" indent="-518159">
              <a:lnSpc>
                <a:spcPct val="100000"/>
              </a:lnSpc>
              <a:spcBef>
                <a:spcPts val="360"/>
              </a:spcBef>
              <a:buClr>
                <a:srgbClr val="FFFF99"/>
              </a:buClr>
              <a:buFont typeface="Wingdings"/>
              <a:buChar char=""/>
              <a:tabLst>
                <a:tab pos="530225" algn="l"/>
                <a:tab pos="530860" algn="l"/>
              </a:tabLst>
            </a:pPr>
            <a:r>
              <a:rPr sz="2800" spc="-10" dirty="0">
                <a:latin typeface="Calibri"/>
                <a:cs typeface="Calibri"/>
              </a:rPr>
              <a:t>Reading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(membaca)</a:t>
            </a:r>
            <a:endParaRPr sz="2800" dirty="0">
              <a:latin typeface="Calibri"/>
              <a:cs typeface="Calibri"/>
            </a:endParaRPr>
          </a:p>
          <a:p>
            <a:pPr marL="530225" indent="-518159">
              <a:lnSpc>
                <a:spcPct val="100000"/>
              </a:lnSpc>
              <a:spcBef>
                <a:spcPts val="360"/>
              </a:spcBef>
              <a:buClr>
                <a:srgbClr val="FFFF99"/>
              </a:buClr>
              <a:buFont typeface="Wingdings"/>
              <a:buChar char=""/>
              <a:tabLst>
                <a:tab pos="530225" algn="l"/>
                <a:tab pos="530860" algn="l"/>
              </a:tabLst>
            </a:pPr>
            <a:r>
              <a:rPr sz="2800" spc="-25" dirty="0">
                <a:latin typeface="Calibri"/>
                <a:cs typeface="Calibri"/>
              </a:rPr>
              <a:t>Transmiting </a:t>
            </a:r>
            <a:r>
              <a:rPr sz="2800" spc="-10" dirty="0">
                <a:latin typeface="Calibri"/>
                <a:cs typeface="Calibri"/>
              </a:rPr>
              <a:t>(memindahkan)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34831" y="6428638"/>
            <a:ext cx="1778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19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2667000"/>
            <a:ext cx="264312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Calibri"/>
                <a:cs typeface="Calibri"/>
              </a:rPr>
              <a:t>Model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Sistem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Pengolahan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25935"/>
            <a:ext cx="7668895" cy="247205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53695" indent="-341630">
              <a:lnSpc>
                <a:spcPct val="100000"/>
              </a:lnSpc>
              <a:spcBef>
                <a:spcPts val="935"/>
              </a:spcBef>
              <a:buClr>
                <a:srgbClr val="FFFF99"/>
              </a:buClr>
              <a:buFont typeface="Arial MT"/>
              <a:buChar char="•"/>
              <a:tabLst>
                <a:tab pos="354330" algn="l"/>
              </a:tabLst>
            </a:pPr>
            <a:r>
              <a:rPr sz="3600" spc="-20" dirty="0">
                <a:solidFill>
                  <a:srgbClr val="FFFFFF"/>
                </a:solidFill>
                <a:latin typeface="Calibri"/>
                <a:cs typeface="Calibri"/>
              </a:rPr>
              <a:t>Sistem</a:t>
            </a:r>
            <a:r>
              <a:rPr sz="3600" spc="-55" dirty="0">
                <a:solidFill>
                  <a:srgbClr val="FFFFFF"/>
                </a:solidFill>
                <a:latin typeface="Calibri"/>
                <a:cs typeface="Calibri"/>
              </a:rPr>
              <a:t> Terbuka</a:t>
            </a:r>
            <a:endParaRPr sz="3600">
              <a:latin typeface="Calibri"/>
              <a:cs typeface="Calibri"/>
            </a:endParaRPr>
          </a:p>
          <a:p>
            <a:pPr marL="469900" marR="5080">
              <a:lnSpc>
                <a:spcPct val="100000"/>
              </a:lnSpc>
              <a:spcBef>
                <a:spcPts val="660"/>
              </a:spcBef>
            </a:pP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Proses 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pengolahan 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dilakukan 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dengan 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sistem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terbuka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tanpa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 feedback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 (umpan</a:t>
            </a:r>
            <a:r>
              <a:rPr sz="2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balik)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 sehingga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kualitas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hasil tidak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dapat 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diukur/dikontrol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dan 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jika </a:t>
            </a:r>
            <a:r>
              <a:rPr sz="2800" spc="-6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terjadi</a:t>
            </a:r>
            <a:r>
              <a:rPr sz="2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kegagalan</a:t>
            </a:r>
            <a:r>
              <a:rPr sz="2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resikonya</a:t>
            </a:r>
            <a:r>
              <a:rPr sz="2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fatal.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34831" y="6428638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4724400"/>
            <a:ext cx="7848600" cy="13112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720" y="1144413"/>
            <a:ext cx="7674609" cy="284480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35"/>
              </a:spcBef>
              <a:buChar char="•"/>
              <a:tabLst>
                <a:tab pos="469265" algn="l"/>
                <a:tab pos="469900" algn="l"/>
              </a:tabLst>
            </a:pPr>
            <a:r>
              <a:rPr sz="2800" spc="5" dirty="0">
                <a:latin typeface="Arial MT"/>
                <a:cs typeface="Arial MT"/>
              </a:rPr>
              <a:t>Sistem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Lingkaran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Tertutup</a:t>
            </a:r>
            <a:endParaRPr sz="2800">
              <a:latin typeface="Arial MT"/>
              <a:cs typeface="Arial MT"/>
            </a:endParaRPr>
          </a:p>
          <a:p>
            <a:pPr marL="591820" marR="5080" indent="-6350">
              <a:lnSpc>
                <a:spcPct val="100000"/>
              </a:lnSpc>
              <a:spcBef>
                <a:spcPts val="715"/>
              </a:spcBef>
            </a:pPr>
            <a:r>
              <a:rPr sz="2400" dirty="0">
                <a:latin typeface="Arial MT"/>
                <a:cs typeface="Arial MT"/>
              </a:rPr>
              <a:t>Proses </a:t>
            </a:r>
            <a:r>
              <a:rPr sz="2400" spc="-5" dirty="0">
                <a:latin typeface="Arial MT"/>
                <a:cs typeface="Arial MT"/>
              </a:rPr>
              <a:t>pengolahan </a:t>
            </a:r>
            <a:r>
              <a:rPr sz="2400" dirty="0">
                <a:latin typeface="Arial MT"/>
                <a:cs typeface="Arial MT"/>
              </a:rPr>
              <a:t>data memanfaatkan feedback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(umpan </a:t>
            </a:r>
            <a:r>
              <a:rPr sz="2400" spc="-5" dirty="0">
                <a:latin typeface="Arial MT"/>
                <a:cs typeface="Arial MT"/>
              </a:rPr>
              <a:t>balik) </a:t>
            </a:r>
            <a:r>
              <a:rPr sz="2400" dirty="0">
                <a:latin typeface="Arial MT"/>
                <a:cs typeface="Arial MT"/>
              </a:rPr>
              <a:t>untuk pengendalian proses </a:t>
            </a:r>
            <a:r>
              <a:rPr sz="2400" spc="-5" dirty="0">
                <a:latin typeface="Arial MT"/>
                <a:cs typeface="Arial MT"/>
              </a:rPr>
              <a:t>sehingga </a:t>
            </a:r>
            <a:r>
              <a:rPr sz="2400" dirty="0">
                <a:latin typeface="Arial MT"/>
                <a:cs typeface="Arial MT"/>
              </a:rPr>
              <a:t> kualitas output dapat diukur setiap saat </a:t>
            </a:r>
            <a:r>
              <a:rPr sz="2400" spc="-5" dirty="0">
                <a:latin typeface="Arial MT"/>
                <a:cs typeface="Arial MT"/>
              </a:rPr>
              <a:t>akibatnya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resiko kegagalan </a:t>
            </a:r>
            <a:r>
              <a:rPr sz="2400" dirty="0">
                <a:latin typeface="Arial MT"/>
                <a:cs typeface="Arial MT"/>
              </a:rPr>
              <a:t>rendah. Umpan </a:t>
            </a:r>
            <a:r>
              <a:rPr sz="2400" spc="-5" dirty="0">
                <a:latin typeface="Arial MT"/>
                <a:cs typeface="Arial MT"/>
              </a:rPr>
              <a:t>balik yang </a:t>
            </a:r>
            <a:r>
              <a:rPr sz="2400" dirty="0">
                <a:latin typeface="Arial MT"/>
                <a:cs typeface="Arial MT"/>
              </a:rPr>
              <a:t>baik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memiliki dmensi-dimensi sebagai </a:t>
            </a:r>
            <a:r>
              <a:rPr sz="2400" spc="-5" dirty="0">
                <a:latin typeface="Arial MT"/>
                <a:cs typeface="Arial MT"/>
              </a:rPr>
              <a:t>berikut: Relevansi,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Akurasi,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Ketepatan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10" dirty="0">
                <a:latin typeface="Arial MT"/>
                <a:cs typeface="Arial MT"/>
              </a:rPr>
              <a:t>Waktu,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Kelengkapan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4720" y="453057"/>
            <a:ext cx="7886700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Calibri"/>
                <a:cs typeface="Calibri"/>
              </a:rPr>
              <a:t>Model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Sistem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Pengolahan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Data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(2)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4419600"/>
            <a:ext cx="4800600" cy="21494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4483" y="655151"/>
            <a:ext cx="78867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0" dirty="0">
                <a:latin typeface="Calibri"/>
                <a:cs typeface="Calibri"/>
              </a:rPr>
              <a:t>Fungsi</a:t>
            </a:r>
            <a:r>
              <a:rPr sz="4400" spc="-40" dirty="0">
                <a:latin typeface="Calibri"/>
                <a:cs typeface="Calibri"/>
              </a:rPr>
              <a:t> </a:t>
            </a:r>
            <a:r>
              <a:rPr sz="4400" spc="-20" dirty="0">
                <a:latin typeface="Calibri"/>
                <a:cs typeface="Calibri"/>
              </a:rPr>
              <a:t>Informasi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444" y="1698117"/>
            <a:ext cx="7919084" cy="433641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53695" marR="1409700" indent="-341630">
              <a:lnSpc>
                <a:spcPts val="2500"/>
              </a:lnSpc>
              <a:spcBef>
                <a:spcPts val="690"/>
              </a:spcBef>
              <a:buClr>
                <a:srgbClr val="000000"/>
              </a:buClr>
              <a:buChar char="•"/>
              <a:tabLst>
                <a:tab pos="353695" algn="l"/>
                <a:tab pos="354330" algn="l"/>
              </a:tabLst>
            </a:pPr>
            <a:r>
              <a:rPr sz="2600" spc="-5" dirty="0">
                <a:latin typeface="Arial MT"/>
                <a:cs typeface="Arial MT"/>
              </a:rPr>
              <a:t>Informasi adalah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bahan</a:t>
            </a:r>
            <a:r>
              <a:rPr sz="2600" spc="4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bagi pengambilan </a:t>
            </a:r>
            <a:r>
              <a:rPr sz="2600" spc="-70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keputusan</a:t>
            </a:r>
            <a:r>
              <a:rPr sz="2600" spc="25" dirty="0">
                <a:latin typeface="Arial MT"/>
                <a:cs typeface="Arial MT"/>
              </a:rPr>
              <a:t> </a:t>
            </a:r>
            <a:r>
              <a:rPr sz="2600" spc="-15" dirty="0">
                <a:latin typeface="Arial MT"/>
                <a:cs typeface="Arial MT"/>
              </a:rPr>
              <a:t>yang</a:t>
            </a:r>
            <a:r>
              <a:rPr sz="2600" spc="5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berfungsi</a:t>
            </a:r>
            <a:r>
              <a:rPr sz="2600" spc="3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untuk:</a:t>
            </a:r>
            <a:endParaRPr sz="2600">
              <a:latin typeface="Arial MT"/>
              <a:cs typeface="Arial MT"/>
            </a:endParaRPr>
          </a:p>
          <a:p>
            <a:pPr marL="820419" lvl="1" indent="-351155">
              <a:lnSpc>
                <a:spcPct val="100000"/>
              </a:lnSpc>
              <a:spcBef>
                <a:spcPts val="50"/>
              </a:spcBef>
              <a:buClr>
                <a:srgbClr val="000000"/>
              </a:buClr>
              <a:buChar char="•"/>
              <a:tabLst>
                <a:tab pos="820419" algn="l"/>
                <a:tab pos="821055" algn="l"/>
              </a:tabLst>
            </a:pPr>
            <a:r>
              <a:rPr sz="2400" dirty="0">
                <a:latin typeface="Arial MT"/>
                <a:cs typeface="Arial MT"/>
              </a:rPr>
              <a:t>Menambah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pengetahuan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pemakai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informasi</a:t>
            </a:r>
            <a:endParaRPr sz="2400">
              <a:latin typeface="Arial MT"/>
              <a:cs typeface="Arial MT"/>
            </a:endParaRPr>
          </a:p>
          <a:p>
            <a:pPr marL="820419" marR="5080" lvl="1" indent="-351155">
              <a:lnSpc>
                <a:spcPct val="80000"/>
              </a:lnSpc>
              <a:spcBef>
                <a:spcPts val="605"/>
              </a:spcBef>
              <a:buClr>
                <a:srgbClr val="000000"/>
              </a:buClr>
              <a:buChar char="•"/>
              <a:tabLst>
                <a:tab pos="820419" algn="l"/>
                <a:tab pos="821055" algn="l"/>
                <a:tab pos="1918970" algn="l"/>
              </a:tabLst>
            </a:pPr>
            <a:r>
              <a:rPr sz="2400" spc="-5" dirty="0">
                <a:latin typeface="Arial MT"/>
                <a:cs typeface="Arial MT"/>
              </a:rPr>
              <a:t>Mengurangi </a:t>
            </a:r>
            <a:r>
              <a:rPr sz="2400" dirty="0">
                <a:latin typeface="Arial MT"/>
                <a:cs typeface="Arial MT"/>
              </a:rPr>
              <a:t>ketidakpastian pemakai informasi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karena	dapat memberikan gambaran tentang suatu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permasalahan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sehingga</a:t>
            </a:r>
            <a:r>
              <a:rPr sz="2400" dirty="0">
                <a:latin typeface="Arial MT"/>
                <a:cs typeface="Arial MT"/>
              </a:rPr>
              <a:t> pengambil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keputusan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dapat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menentukan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keputusan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secara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lebih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cepat.</a:t>
            </a:r>
            <a:endParaRPr sz="2400">
              <a:latin typeface="Arial MT"/>
              <a:cs typeface="Arial MT"/>
            </a:endParaRPr>
          </a:p>
          <a:p>
            <a:pPr marL="820419" marR="107950" lvl="1" indent="-351155">
              <a:lnSpc>
                <a:spcPts val="2300"/>
              </a:lnSpc>
              <a:spcBef>
                <a:spcPts val="585"/>
              </a:spcBef>
              <a:buClr>
                <a:srgbClr val="000000"/>
              </a:buClr>
              <a:buChar char="•"/>
              <a:tabLst>
                <a:tab pos="820419" algn="l"/>
                <a:tab pos="821055" algn="l"/>
              </a:tabLst>
            </a:pPr>
            <a:r>
              <a:rPr sz="2400" dirty="0">
                <a:latin typeface="Arial MT"/>
                <a:cs typeface="Arial MT"/>
              </a:rPr>
              <a:t>Menjadi </a:t>
            </a:r>
            <a:r>
              <a:rPr sz="2400" spc="-20" dirty="0">
                <a:latin typeface="Arial MT"/>
                <a:cs typeface="Arial MT"/>
              </a:rPr>
              <a:t>standar, </a:t>
            </a:r>
            <a:r>
              <a:rPr sz="2400" dirty="0">
                <a:latin typeface="Arial MT"/>
                <a:cs typeface="Arial MT"/>
              </a:rPr>
              <a:t>aturan, maupun indikator </a:t>
            </a:r>
            <a:r>
              <a:rPr sz="2400" spc="-5" dirty="0">
                <a:latin typeface="Arial MT"/>
                <a:cs typeface="Arial MT"/>
              </a:rPr>
              <a:t>bagi </a:t>
            </a:r>
            <a:r>
              <a:rPr sz="2400" dirty="0">
                <a:latin typeface="Arial MT"/>
                <a:cs typeface="Arial MT"/>
              </a:rPr>
              <a:t> pengambil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keputusan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untuk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menentukan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keputusan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secara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lebih baik.</a:t>
            </a:r>
            <a:endParaRPr sz="2400">
              <a:latin typeface="Arial MT"/>
              <a:cs typeface="Arial MT"/>
            </a:endParaRPr>
          </a:p>
          <a:p>
            <a:pPr marL="353695" marR="302895" indent="-341630">
              <a:lnSpc>
                <a:spcPct val="80000"/>
              </a:lnSpc>
              <a:spcBef>
                <a:spcPts val="625"/>
              </a:spcBef>
              <a:buClr>
                <a:srgbClr val="000000"/>
              </a:buClr>
              <a:buChar char="•"/>
              <a:tabLst>
                <a:tab pos="353695" algn="l"/>
                <a:tab pos="354330" algn="l"/>
              </a:tabLst>
            </a:pPr>
            <a:r>
              <a:rPr sz="2600" spc="-5" dirty="0">
                <a:latin typeface="Arial MT"/>
                <a:cs typeface="Arial MT"/>
              </a:rPr>
              <a:t>Diperlukan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Sistem</a:t>
            </a:r>
            <a:r>
              <a:rPr sz="2600" spc="2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Informasi</a:t>
            </a:r>
            <a:r>
              <a:rPr sz="2600" spc="2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manajemen</a:t>
            </a:r>
            <a:r>
              <a:rPr sz="2600" spc="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supaya </a:t>
            </a:r>
            <a:r>
              <a:rPr sz="2600" spc="-5" dirty="0">
                <a:latin typeface="Arial MT"/>
                <a:cs typeface="Arial MT"/>
              </a:rPr>
              <a:t> informasi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sebanyak</a:t>
            </a:r>
            <a:r>
              <a:rPr sz="2600" spc="8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apapun</a:t>
            </a:r>
            <a:r>
              <a:rPr sz="2600" spc="3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dapat</a:t>
            </a:r>
            <a:r>
              <a:rPr sz="2600" spc="3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dikelola</a:t>
            </a:r>
            <a:r>
              <a:rPr sz="2600" spc="3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secara </a:t>
            </a:r>
            <a:r>
              <a:rPr sz="2600" spc="-70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efektif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dan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efisien.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34831" y="6428638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22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1400" y="228688"/>
            <a:ext cx="1577078" cy="25849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2900" y="662940"/>
            <a:ext cx="8307705" cy="5811520"/>
            <a:chOff x="342900" y="662940"/>
            <a:chExt cx="8307705" cy="5811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900" y="662940"/>
              <a:ext cx="8307324" cy="581101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76375" y="3413125"/>
              <a:ext cx="6048375" cy="1496695"/>
            </a:xfrm>
            <a:custGeom>
              <a:avLst/>
              <a:gdLst/>
              <a:ahLst/>
              <a:cxnLst/>
              <a:rect l="l" t="t" r="r" b="b"/>
              <a:pathLst>
                <a:path w="6048375" h="1496695">
                  <a:moveTo>
                    <a:pt x="0" y="1496187"/>
                  </a:moveTo>
                  <a:lnTo>
                    <a:pt x="6048375" y="1496187"/>
                  </a:lnTo>
                </a:path>
                <a:path w="6048375" h="1496695">
                  <a:moveTo>
                    <a:pt x="1062101" y="0"/>
                  </a:moveTo>
                  <a:lnTo>
                    <a:pt x="4919726" y="0"/>
                  </a:lnTo>
                </a:path>
              </a:pathLst>
            </a:custGeom>
            <a:ln w="381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85872" y="3523488"/>
              <a:ext cx="3465576" cy="74980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0320" y="4974336"/>
              <a:ext cx="3934967" cy="74980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05327" y="2066543"/>
              <a:ext cx="2980944" cy="78638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861817" y="2264791"/>
            <a:ext cx="3330575" cy="34042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49530" algn="ctr">
              <a:lnSpc>
                <a:spcPct val="100000"/>
              </a:lnSpc>
              <a:spcBef>
                <a:spcPts val="90"/>
              </a:spcBef>
            </a:pPr>
            <a:r>
              <a:rPr sz="3200" spc="-114" dirty="0">
                <a:solidFill>
                  <a:srgbClr val="FFFFFF"/>
                </a:solidFill>
                <a:latin typeface="Tahoma"/>
                <a:cs typeface="Tahoma"/>
              </a:rPr>
              <a:t>Top</a:t>
            </a:r>
            <a:r>
              <a:rPr sz="3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Manager</a:t>
            </a:r>
            <a:endParaRPr sz="3200">
              <a:latin typeface="Tahoma"/>
              <a:cs typeface="Tahoma"/>
            </a:endParaRPr>
          </a:p>
          <a:p>
            <a:pPr marL="12700" marR="5080" indent="-15240" algn="ctr">
              <a:lnSpc>
                <a:spcPts val="11440"/>
              </a:lnSpc>
              <a:spcBef>
                <a:spcPts val="1340"/>
              </a:spcBef>
            </a:pP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Middle</a:t>
            </a:r>
            <a:r>
              <a:rPr sz="32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Manager </a:t>
            </a:r>
            <a:r>
              <a:rPr sz="32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5" dirty="0">
                <a:solidFill>
                  <a:srgbClr val="FFFFFF"/>
                </a:solidFill>
                <a:latin typeface="Tahoma"/>
                <a:cs typeface="Tahoma"/>
              </a:rPr>
              <a:t>First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Line</a:t>
            </a:r>
            <a:r>
              <a:rPr sz="32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Manager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8687" y="1012063"/>
            <a:ext cx="8804910" cy="5009515"/>
            <a:chOff x="98687" y="1012063"/>
            <a:chExt cx="8804910" cy="5009515"/>
          </a:xfrm>
        </p:grpSpPr>
        <p:sp>
          <p:nvSpPr>
            <p:cNvPr id="10" name="object 10"/>
            <p:cNvSpPr/>
            <p:nvPr/>
          </p:nvSpPr>
          <p:spPr>
            <a:xfrm>
              <a:off x="699604" y="2346705"/>
              <a:ext cx="1144270" cy="1346200"/>
            </a:xfrm>
            <a:custGeom>
              <a:avLst/>
              <a:gdLst/>
              <a:ahLst/>
              <a:cxnLst/>
              <a:rect l="l" t="t" r="r" b="b"/>
              <a:pathLst>
                <a:path w="1144270" h="1346200">
                  <a:moveTo>
                    <a:pt x="33769" y="1168400"/>
                  </a:moveTo>
                  <a:lnTo>
                    <a:pt x="0" y="1219200"/>
                  </a:lnTo>
                  <a:lnTo>
                    <a:pt x="176136" y="1346200"/>
                  </a:lnTo>
                  <a:lnTo>
                    <a:pt x="209918" y="1308100"/>
                  </a:lnTo>
                  <a:lnTo>
                    <a:pt x="150406" y="1257300"/>
                  </a:lnTo>
                  <a:lnTo>
                    <a:pt x="144932" y="1244600"/>
                  </a:lnTo>
                  <a:lnTo>
                    <a:pt x="261338" y="1244600"/>
                  </a:lnTo>
                  <a:lnTo>
                    <a:pt x="269501" y="1231900"/>
                  </a:lnTo>
                  <a:lnTo>
                    <a:pt x="111963" y="1231900"/>
                  </a:lnTo>
                  <a:lnTo>
                    <a:pt x="33769" y="1168400"/>
                  </a:lnTo>
                  <a:close/>
                </a:path>
                <a:path w="1144270" h="1346200">
                  <a:moveTo>
                    <a:pt x="261338" y="1244600"/>
                  </a:moveTo>
                  <a:lnTo>
                    <a:pt x="144932" y="1244600"/>
                  </a:lnTo>
                  <a:lnTo>
                    <a:pt x="253174" y="1257300"/>
                  </a:lnTo>
                  <a:lnTo>
                    <a:pt x="261338" y="1244600"/>
                  </a:lnTo>
                  <a:close/>
                </a:path>
                <a:path w="1144270" h="1346200">
                  <a:moveTo>
                    <a:pt x="115862" y="1066800"/>
                  </a:moveTo>
                  <a:lnTo>
                    <a:pt x="76758" y="1117600"/>
                  </a:lnTo>
                  <a:lnTo>
                    <a:pt x="111963" y="1231900"/>
                  </a:lnTo>
                  <a:lnTo>
                    <a:pt x="269501" y="1231900"/>
                  </a:lnTo>
                  <a:lnTo>
                    <a:pt x="293992" y="1193800"/>
                  </a:lnTo>
                  <a:lnTo>
                    <a:pt x="149656" y="1193800"/>
                  </a:lnTo>
                  <a:lnTo>
                    <a:pt x="115862" y="1066800"/>
                  </a:lnTo>
                  <a:close/>
                </a:path>
                <a:path w="1144270" h="1346200">
                  <a:moveTo>
                    <a:pt x="308737" y="990600"/>
                  </a:moveTo>
                  <a:lnTo>
                    <a:pt x="238120" y="990600"/>
                  </a:lnTo>
                  <a:lnTo>
                    <a:pt x="225555" y="1003300"/>
                  </a:lnTo>
                  <a:lnTo>
                    <a:pt x="213601" y="1016000"/>
                  </a:lnTo>
                  <a:lnTo>
                    <a:pt x="202697" y="1041400"/>
                  </a:lnTo>
                  <a:lnTo>
                    <a:pt x="195643" y="1054100"/>
                  </a:lnTo>
                  <a:lnTo>
                    <a:pt x="192437" y="1066800"/>
                  </a:lnTo>
                  <a:lnTo>
                    <a:pt x="193078" y="1092200"/>
                  </a:lnTo>
                  <a:lnTo>
                    <a:pt x="197359" y="1104900"/>
                  </a:lnTo>
                  <a:lnTo>
                    <a:pt x="205063" y="1117600"/>
                  </a:lnTo>
                  <a:lnTo>
                    <a:pt x="216191" y="1130300"/>
                  </a:lnTo>
                  <a:lnTo>
                    <a:pt x="230746" y="1143000"/>
                  </a:lnTo>
                  <a:lnTo>
                    <a:pt x="263998" y="1168400"/>
                  </a:lnTo>
                  <a:lnTo>
                    <a:pt x="297268" y="1168400"/>
                  </a:lnTo>
                  <a:lnTo>
                    <a:pt x="313630" y="1155700"/>
                  </a:lnTo>
                  <a:lnTo>
                    <a:pt x="329418" y="1155700"/>
                  </a:lnTo>
                  <a:lnTo>
                    <a:pt x="344635" y="1143000"/>
                  </a:lnTo>
                  <a:lnTo>
                    <a:pt x="359282" y="1117600"/>
                  </a:lnTo>
                  <a:lnTo>
                    <a:pt x="275996" y="1117600"/>
                  </a:lnTo>
                  <a:lnTo>
                    <a:pt x="269544" y="1104900"/>
                  </a:lnTo>
                  <a:lnTo>
                    <a:pt x="279439" y="1092200"/>
                  </a:lnTo>
                  <a:lnTo>
                    <a:pt x="244487" y="1092200"/>
                  </a:lnTo>
                  <a:lnTo>
                    <a:pt x="239167" y="1079500"/>
                  </a:lnTo>
                  <a:lnTo>
                    <a:pt x="232214" y="1079500"/>
                  </a:lnTo>
                  <a:lnTo>
                    <a:pt x="230581" y="1066800"/>
                  </a:lnTo>
                  <a:lnTo>
                    <a:pt x="230273" y="1066800"/>
                  </a:lnTo>
                  <a:lnTo>
                    <a:pt x="231370" y="1054100"/>
                  </a:lnTo>
                  <a:lnTo>
                    <a:pt x="233869" y="1054100"/>
                  </a:lnTo>
                  <a:lnTo>
                    <a:pt x="237769" y="1041400"/>
                  </a:lnTo>
                  <a:lnTo>
                    <a:pt x="243801" y="1028700"/>
                  </a:lnTo>
                  <a:lnTo>
                    <a:pt x="328915" y="1028700"/>
                  </a:lnTo>
                  <a:lnTo>
                    <a:pt x="338810" y="1016000"/>
                  </a:lnTo>
                  <a:lnTo>
                    <a:pt x="323900" y="1003300"/>
                  </a:lnTo>
                  <a:lnTo>
                    <a:pt x="308737" y="990600"/>
                  </a:lnTo>
                  <a:close/>
                </a:path>
                <a:path w="1144270" h="1346200">
                  <a:moveTo>
                    <a:pt x="368617" y="1104900"/>
                  </a:moveTo>
                  <a:lnTo>
                    <a:pt x="314591" y="1104900"/>
                  </a:lnTo>
                  <a:lnTo>
                    <a:pt x="309676" y="1117600"/>
                  </a:lnTo>
                  <a:lnTo>
                    <a:pt x="364515" y="1117600"/>
                  </a:lnTo>
                  <a:lnTo>
                    <a:pt x="368617" y="1104900"/>
                  </a:lnTo>
                  <a:close/>
                </a:path>
                <a:path w="1144270" h="1346200">
                  <a:moveTo>
                    <a:pt x="374561" y="1092200"/>
                  </a:moveTo>
                  <a:lnTo>
                    <a:pt x="328422" y="1092200"/>
                  </a:lnTo>
                  <a:lnTo>
                    <a:pt x="323938" y="1104900"/>
                  </a:lnTo>
                  <a:lnTo>
                    <a:pt x="371589" y="1104900"/>
                  </a:lnTo>
                  <a:lnTo>
                    <a:pt x="374561" y="1092200"/>
                  </a:lnTo>
                  <a:close/>
                </a:path>
                <a:path w="1144270" h="1346200">
                  <a:moveTo>
                    <a:pt x="328915" y="1028700"/>
                  </a:moveTo>
                  <a:lnTo>
                    <a:pt x="269832" y="1028700"/>
                  </a:lnTo>
                  <a:lnTo>
                    <a:pt x="276126" y="1041400"/>
                  </a:lnTo>
                  <a:lnTo>
                    <a:pt x="282689" y="1041400"/>
                  </a:lnTo>
                  <a:lnTo>
                    <a:pt x="244487" y="1092200"/>
                  </a:lnTo>
                  <a:lnTo>
                    <a:pt x="279439" y="1092200"/>
                  </a:lnTo>
                  <a:lnTo>
                    <a:pt x="328915" y="1028700"/>
                  </a:lnTo>
                  <a:close/>
                </a:path>
                <a:path w="1144270" h="1346200">
                  <a:moveTo>
                    <a:pt x="353923" y="1028700"/>
                  </a:moveTo>
                  <a:lnTo>
                    <a:pt x="350570" y="1041400"/>
                  </a:lnTo>
                  <a:lnTo>
                    <a:pt x="350278" y="1041400"/>
                  </a:lnTo>
                  <a:lnTo>
                    <a:pt x="349351" y="1054100"/>
                  </a:lnTo>
                  <a:lnTo>
                    <a:pt x="348576" y="1054100"/>
                  </a:lnTo>
                  <a:lnTo>
                    <a:pt x="346265" y="1066800"/>
                  </a:lnTo>
                  <a:lnTo>
                    <a:pt x="344423" y="1066800"/>
                  </a:lnTo>
                  <a:lnTo>
                    <a:pt x="339445" y="1079500"/>
                  </a:lnTo>
                  <a:lnTo>
                    <a:pt x="336359" y="1092200"/>
                  </a:lnTo>
                  <a:lnTo>
                    <a:pt x="377177" y="1092200"/>
                  </a:lnTo>
                  <a:lnTo>
                    <a:pt x="379425" y="1079500"/>
                  </a:lnTo>
                  <a:lnTo>
                    <a:pt x="383743" y="1079500"/>
                  </a:lnTo>
                  <a:lnTo>
                    <a:pt x="385737" y="1066800"/>
                  </a:lnTo>
                  <a:lnTo>
                    <a:pt x="388099" y="1054100"/>
                  </a:lnTo>
                  <a:lnTo>
                    <a:pt x="353923" y="1028700"/>
                  </a:lnTo>
                  <a:close/>
                </a:path>
                <a:path w="1144270" h="1346200">
                  <a:moveTo>
                    <a:pt x="311696" y="901700"/>
                  </a:moveTo>
                  <a:lnTo>
                    <a:pt x="280085" y="939800"/>
                  </a:lnTo>
                  <a:lnTo>
                    <a:pt x="461670" y="1079500"/>
                  </a:lnTo>
                  <a:lnTo>
                    <a:pt x="493268" y="1041400"/>
                  </a:lnTo>
                  <a:lnTo>
                    <a:pt x="437908" y="990600"/>
                  </a:lnTo>
                  <a:lnTo>
                    <a:pt x="456806" y="990600"/>
                  </a:lnTo>
                  <a:lnTo>
                    <a:pt x="462038" y="977900"/>
                  </a:lnTo>
                  <a:lnTo>
                    <a:pt x="414134" y="977900"/>
                  </a:lnTo>
                  <a:lnTo>
                    <a:pt x="347294" y="927100"/>
                  </a:lnTo>
                  <a:lnTo>
                    <a:pt x="347637" y="927100"/>
                  </a:lnTo>
                  <a:lnTo>
                    <a:pt x="348615" y="914400"/>
                  </a:lnTo>
                  <a:lnTo>
                    <a:pt x="325526" y="914400"/>
                  </a:lnTo>
                  <a:lnTo>
                    <a:pt x="311696" y="901700"/>
                  </a:lnTo>
                  <a:close/>
                </a:path>
                <a:path w="1144270" h="1346200">
                  <a:moveTo>
                    <a:pt x="469766" y="889000"/>
                  </a:moveTo>
                  <a:lnTo>
                    <a:pt x="394720" y="889000"/>
                  </a:lnTo>
                  <a:lnTo>
                    <a:pt x="403279" y="901700"/>
                  </a:lnTo>
                  <a:lnTo>
                    <a:pt x="412597" y="901700"/>
                  </a:lnTo>
                  <a:lnTo>
                    <a:pt x="421558" y="914400"/>
                  </a:lnTo>
                  <a:lnTo>
                    <a:pt x="428571" y="914400"/>
                  </a:lnTo>
                  <a:lnTo>
                    <a:pt x="433635" y="927100"/>
                  </a:lnTo>
                  <a:lnTo>
                    <a:pt x="436753" y="927100"/>
                  </a:lnTo>
                  <a:lnTo>
                    <a:pt x="437898" y="939800"/>
                  </a:lnTo>
                  <a:lnTo>
                    <a:pt x="437067" y="952500"/>
                  </a:lnTo>
                  <a:lnTo>
                    <a:pt x="434259" y="952500"/>
                  </a:lnTo>
                  <a:lnTo>
                    <a:pt x="429475" y="965200"/>
                  </a:lnTo>
                  <a:lnTo>
                    <a:pt x="424103" y="965200"/>
                  </a:lnTo>
                  <a:lnTo>
                    <a:pt x="421703" y="977900"/>
                  </a:lnTo>
                  <a:lnTo>
                    <a:pt x="467182" y="977900"/>
                  </a:lnTo>
                  <a:lnTo>
                    <a:pt x="472249" y="965200"/>
                  </a:lnTo>
                  <a:lnTo>
                    <a:pt x="479700" y="952500"/>
                  </a:lnTo>
                  <a:lnTo>
                    <a:pt x="483995" y="939800"/>
                  </a:lnTo>
                  <a:lnTo>
                    <a:pt x="485135" y="927100"/>
                  </a:lnTo>
                  <a:lnTo>
                    <a:pt x="483120" y="914400"/>
                  </a:lnTo>
                  <a:lnTo>
                    <a:pt x="477981" y="901700"/>
                  </a:lnTo>
                  <a:lnTo>
                    <a:pt x="469766" y="889000"/>
                  </a:lnTo>
                  <a:close/>
                </a:path>
                <a:path w="1144270" h="1346200">
                  <a:moveTo>
                    <a:pt x="351853" y="901700"/>
                  </a:moveTo>
                  <a:lnTo>
                    <a:pt x="325305" y="901700"/>
                  </a:lnTo>
                  <a:lnTo>
                    <a:pt x="325526" y="914400"/>
                  </a:lnTo>
                  <a:lnTo>
                    <a:pt x="348615" y="914400"/>
                  </a:lnTo>
                  <a:lnTo>
                    <a:pt x="351853" y="901700"/>
                  </a:lnTo>
                  <a:close/>
                </a:path>
                <a:path w="1144270" h="1346200">
                  <a:moveTo>
                    <a:pt x="413416" y="838200"/>
                  </a:moveTo>
                  <a:lnTo>
                    <a:pt x="359114" y="838200"/>
                  </a:lnTo>
                  <a:lnTo>
                    <a:pt x="348363" y="850900"/>
                  </a:lnTo>
                  <a:lnTo>
                    <a:pt x="338912" y="850900"/>
                  </a:lnTo>
                  <a:lnTo>
                    <a:pt x="334613" y="863600"/>
                  </a:lnTo>
                  <a:lnTo>
                    <a:pt x="331204" y="863600"/>
                  </a:lnTo>
                  <a:lnTo>
                    <a:pt x="328684" y="876300"/>
                  </a:lnTo>
                  <a:lnTo>
                    <a:pt x="327050" y="876300"/>
                  </a:lnTo>
                  <a:lnTo>
                    <a:pt x="326063" y="889000"/>
                  </a:lnTo>
                  <a:lnTo>
                    <a:pt x="325483" y="901700"/>
                  </a:lnTo>
                  <a:lnTo>
                    <a:pt x="356908" y="901700"/>
                  </a:lnTo>
                  <a:lnTo>
                    <a:pt x="361965" y="889000"/>
                  </a:lnTo>
                  <a:lnTo>
                    <a:pt x="469766" y="889000"/>
                  </a:lnTo>
                  <a:lnTo>
                    <a:pt x="458474" y="876300"/>
                  </a:lnTo>
                  <a:lnTo>
                    <a:pt x="444106" y="863600"/>
                  </a:lnTo>
                  <a:lnTo>
                    <a:pt x="428537" y="850900"/>
                  </a:lnTo>
                  <a:lnTo>
                    <a:pt x="413416" y="838200"/>
                  </a:lnTo>
                  <a:close/>
                </a:path>
                <a:path w="1144270" h="1346200">
                  <a:moveTo>
                    <a:pt x="547728" y="863600"/>
                  </a:moveTo>
                  <a:lnTo>
                    <a:pt x="506307" y="863600"/>
                  </a:lnTo>
                  <a:lnTo>
                    <a:pt x="517549" y="876300"/>
                  </a:lnTo>
                  <a:lnTo>
                    <a:pt x="538363" y="876300"/>
                  </a:lnTo>
                  <a:lnTo>
                    <a:pt x="547728" y="863600"/>
                  </a:lnTo>
                  <a:close/>
                </a:path>
                <a:path w="1144270" h="1346200">
                  <a:moveTo>
                    <a:pt x="427583" y="749300"/>
                  </a:moveTo>
                  <a:lnTo>
                    <a:pt x="395795" y="787400"/>
                  </a:lnTo>
                  <a:lnTo>
                    <a:pt x="482269" y="850900"/>
                  </a:lnTo>
                  <a:lnTo>
                    <a:pt x="494547" y="863600"/>
                  </a:lnTo>
                  <a:lnTo>
                    <a:pt x="556365" y="863600"/>
                  </a:lnTo>
                  <a:lnTo>
                    <a:pt x="564273" y="850900"/>
                  </a:lnTo>
                  <a:lnTo>
                    <a:pt x="568578" y="850900"/>
                  </a:lnTo>
                  <a:lnTo>
                    <a:pt x="571947" y="838200"/>
                  </a:lnTo>
                  <a:lnTo>
                    <a:pt x="574407" y="838200"/>
                  </a:lnTo>
                  <a:lnTo>
                    <a:pt x="575983" y="825500"/>
                  </a:lnTo>
                  <a:lnTo>
                    <a:pt x="576862" y="825500"/>
                  </a:lnTo>
                  <a:lnTo>
                    <a:pt x="577395" y="812800"/>
                  </a:lnTo>
                  <a:lnTo>
                    <a:pt x="506069" y="812800"/>
                  </a:lnTo>
                  <a:lnTo>
                    <a:pt x="500329" y="800100"/>
                  </a:lnTo>
                  <a:lnTo>
                    <a:pt x="493471" y="800100"/>
                  </a:lnTo>
                  <a:lnTo>
                    <a:pt x="427583" y="749300"/>
                  </a:lnTo>
                  <a:close/>
                </a:path>
                <a:path w="1144270" h="1346200">
                  <a:moveTo>
                    <a:pt x="577380" y="800100"/>
                  </a:moveTo>
                  <a:lnTo>
                    <a:pt x="547154" y="800100"/>
                  </a:lnTo>
                  <a:lnTo>
                    <a:pt x="541324" y="812800"/>
                  </a:lnTo>
                  <a:lnTo>
                    <a:pt x="577395" y="812800"/>
                  </a:lnTo>
                  <a:lnTo>
                    <a:pt x="577570" y="800265"/>
                  </a:lnTo>
                  <a:lnTo>
                    <a:pt x="577380" y="800100"/>
                  </a:lnTo>
                  <a:close/>
                </a:path>
                <a:path w="1144270" h="1346200">
                  <a:moveTo>
                    <a:pt x="490804" y="660400"/>
                  </a:moveTo>
                  <a:lnTo>
                    <a:pt x="459193" y="711200"/>
                  </a:lnTo>
                  <a:lnTo>
                    <a:pt x="553351" y="774700"/>
                  </a:lnTo>
                  <a:lnTo>
                    <a:pt x="553212" y="787400"/>
                  </a:lnTo>
                  <a:lnTo>
                    <a:pt x="550710" y="787400"/>
                  </a:lnTo>
                  <a:lnTo>
                    <a:pt x="549084" y="800100"/>
                  </a:lnTo>
                  <a:lnTo>
                    <a:pt x="577572" y="800100"/>
                  </a:lnTo>
                  <a:lnTo>
                    <a:pt x="577570" y="800265"/>
                  </a:lnTo>
                  <a:lnTo>
                    <a:pt x="591985" y="812800"/>
                  </a:lnTo>
                  <a:lnTo>
                    <a:pt x="623608" y="762000"/>
                  </a:lnTo>
                  <a:lnTo>
                    <a:pt x="490804" y="660400"/>
                  </a:lnTo>
                  <a:close/>
                </a:path>
                <a:path w="1144270" h="1346200">
                  <a:moveTo>
                    <a:pt x="577572" y="800100"/>
                  </a:moveTo>
                  <a:lnTo>
                    <a:pt x="577380" y="800100"/>
                  </a:lnTo>
                  <a:lnTo>
                    <a:pt x="577570" y="800265"/>
                  </a:lnTo>
                  <a:lnTo>
                    <a:pt x="577572" y="800100"/>
                  </a:lnTo>
                  <a:close/>
                </a:path>
                <a:path w="1144270" h="1346200">
                  <a:moveTo>
                    <a:pt x="633133" y="647700"/>
                  </a:moveTo>
                  <a:lnTo>
                    <a:pt x="545731" y="647700"/>
                  </a:lnTo>
                  <a:lnTo>
                    <a:pt x="607860" y="698500"/>
                  </a:lnTo>
                  <a:lnTo>
                    <a:pt x="619405" y="711200"/>
                  </a:lnTo>
                  <a:lnTo>
                    <a:pt x="669915" y="711200"/>
                  </a:lnTo>
                  <a:lnTo>
                    <a:pt x="689267" y="685800"/>
                  </a:lnTo>
                  <a:lnTo>
                    <a:pt x="694855" y="673100"/>
                  </a:lnTo>
                  <a:lnTo>
                    <a:pt x="699300" y="673100"/>
                  </a:lnTo>
                  <a:lnTo>
                    <a:pt x="702475" y="660400"/>
                  </a:lnTo>
                  <a:lnTo>
                    <a:pt x="636689" y="660400"/>
                  </a:lnTo>
                  <a:lnTo>
                    <a:pt x="633133" y="647700"/>
                  </a:lnTo>
                  <a:close/>
                </a:path>
                <a:path w="1144270" h="1346200">
                  <a:moveTo>
                    <a:pt x="510514" y="558800"/>
                  </a:moveTo>
                  <a:lnTo>
                    <a:pt x="478904" y="596900"/>
                  </a:lnTo>
                  <a:lnTo>
                    <a:pt x="516877" y="635000"/>
                  </a:lnTo>
                  <a:lnTo>
                    <a:pt x="504774" y="647700"/>
                  </a:lnTo>
                  <a:lnTo>
                    <a:pt x="533641" y="673100"/>
                  </a:lnTo>
                  <a:lnTo>
                    <a:pt x="545731" y="647700"/>
                  </a:lnTo>
                  <a:lnTo>
                    <a:pt x="624370" y="647700"/>
                  </a:lnTo>
                  <a:lnTo>
                    <a:pt x="577380" y="609600"/>
                  </a:lnTo>
                  <a:lnTo>
                    <a:pt x="597615" y="584200"/>
                  </a:lnTo>
                  <a:lnTo>
                    <a:pt x="548487" y="584200"/>
                  </a:lnTo>
                  <a:lnTo>
                    <a:pt x="510514" y="558800"/>
                  </a:lnTo>
                  <a:close/>
                </a:path>
                <a:path w="1144270" h="1346200">
                  <a:moveTo>
                    <a:pt x="681393" y="622300"/>
                  </a:moveTo>
                  <a:lnTo>
                    <a:pt x="678599" y="635000"/>
                  </a:lnTo>
                  <a:lnTo>
                    <a:pt x="677329" y="635000"/>
                  </a:lnTo>
                  <a:lnTo>
                    <a:pt x="673773" y="647700"/>
                  </a:lnTo>
                  <a:lnTo>
                    <a:pt x="670344" y="647700"/>
                  </a:lnTo>
                  <a:lnTo>
                    <a:pt x="666153" y="660400"/>
                  </a:lnTo>
                  <a:lnTo>
                    <a:pt x="708317" y="660400"/>
                  </a:lnTo>
                  <a:lnTo>
                    <a:pt x="710603" y="647700"/>
                  </a:lnTo>
                  <a:lnTo>
                    <a:pt x="681393" y="622300"/>
                  </a:lnTo>
                  <a:close/>
                </a:path>
                <a:path w="1144270" h="1346200">
                  <a:moveTo>
                    <a:pt x="734419" y="609600"/>
                  </a:moveTo>
                  <a:lnTo>
                    <a:pt x="713581" y="609600"/>
                  </a:lnTo>
                  <a:lnTo>
                    <a:pt x="724319" y="622300"/>
                  </a:lnTo>
                  <a:lnTo>
                    <a:pt x="734419" y="609600"/>
                  </a:lnTo>
                  <a:close/>
                </a:path>
                <a:path w="1144270" h="1346200">
                  <a:moveTo>
                    <a:pt x="623608" y="495300"/>
                  </a:moveTo>
                  <a:lnTo>
                    <a:pt x="591858" y="533400"/>
                  </a:lnTo>
                  <a:lnTo>
                    <a:pt x="678345" y="596900"/>
                  </a:lnTo>
                  <a:lnTo>
                    <a:pt x="690582" y="609600"/>
                  </a:lnTo>
                  <a:lnTo>
                    <a:pt x="752429" y="609600"/>
                  </a:lnTo>
                  <a:lnTo>
                    <a:pt x="760387" y="596900"/>
                  </a:lnTo>
                  <a:lnTo>
                    <a:pt x="764621" y="584200"/>
                  </a:lnTo>
                  <a:lnTo>
                    <a:pt x="767975" y="584200"/>
                  </a:lnTo>
                  <a:lnTo>
                    <a:pt x="770424" y="571500"/>
                  </a:lnTo>
                  <a:lnTo>
                    <a:pt x="771944" y="571500"/>
                  </a:lnTo>
                  <a:lnTo>
                    <a:pt x="772896" y="558800"/>
                  </a:lnTo>
                  <a:lnTo>
                    <a:pt x="706793" y="558800"/>
                  </a:lnTo>
                  <a:lnTo>
                    <a:pt x="702094" y="546100"/>
                  </a:lnTo>
                  <a:lnTo>
                    <a:pt x="689521" y="546100"/>
                  </a:lnTo>
                  <a:lnTo>
                    <a:pt x="623608" y="495300"/>
                  </a:lnTo>
                  <a:close/>
                </a:path>
                <a:path w="1144270" h="1346200">
                  <a:moveTo>
                    <a:pt x="578904" y="546100"/>
                  </a:moveTo>
                  <a:lnTo>
                    <a:pt x="548487" y="584200"/>
                  </a:lnTo>
                  <a:lnTo>
                    <a:pt x="597615" y="584200"/>
                  </a:lnTo>
                  <a:lnTo>
                    <a:pt x="607733" y="571500"/>
                  </a:lnTo>
                  <a:lnTo>
                    <a:pt x="578904" y="546100"/>
                  </a:lnTo>
                  <a:close/>
                </a:path>
                <a:path w="1144270" h="1346200">
                  <a:moveTo>
                    <a:pt x="773468" y="533400"/>
                  </a:moveTo>
                  <a:lnTo>
                    <a:pt x="746798" y="533400"/>
                  </a:lnTo>
                  <a:lnTo>
                    <a:pt x="745147" y="546100"/>
                  </a:lnTo>
                  <a:lnTo>
                    <a:pt x="740956" y="546100"/>
                  </a:lnTo>
                  <a:lnTo>
                    <a:pt x="737400" y="558800"/>
                  </a:lnTo>
                  <a:lnTo>
                    <a:pt x="773468" y="558800"/>
                  </a:lnTo>
                  <a:lnTo>
                    <a:pt x="773658" y="546100"/>
                  </a:lnTo>
                  <a:lnTo>
                    <a:pt x="773468" y="533400"/>
                  </a:lnTo>
                  <a:close/>
                </a:path>
                <a:path w="1144270" h="1346200">
                  <a:moveTo>
                    <a:pt x="686854" y="406400"/>
                  </a:moveTo>
                  <a:lnTo>
                    <a:pt x="655231" y="444500"/>
                  </a:lnTo>
                  <a:lnTo>
                    <a:pt x="749465" y="520700"/>
                  </a:lnTo>
                  <a:lnTo>
                    <a:pt x="749211" y="520700"/>
                  </a:lnTo>
                  <a:lnTo>
                    <a:pt x="748322" y="533400"/>
                  </a:lnTo>
                  <a:lnTo>
                    <a:pt x="773468" y="533400"/>
                  </a:lnTo>
                  <a:lnTo>
                    <a:pt x="788073" y="546100"/>
                  </a:lnTo>
                  <a:lnTo>
                    <a:pt x="819696" y="508000"/>
                  </a:lnTo>
                  <a:lnTo>
                    <a:pt x="686854" y="406400"/>
                  </a:lnTo>
                  <a:close/>
                </a:path>
                <a:path w="1144270" h="1346200">
                  <a:moveTo>
                    <a:pt x="860564" y="457200"/>
                  </a:moveTo>
                  <a:lnTo>
                    <a:pt x="795058" y="457200"/>
                  </a:lnTo>
                  <a:lnTo>
                    <a:pt x="830110" y="482600"/>
                  </a:lnTo>
                  <a:lnTo>
                    <a:pt x="835664" y="482600"/>
                  </a:lnTo>
                  <a:lnTo>
                    <a:pt x="841492" y="469900"/>
                  </a:lnTo>
                  <a:lnTo>
                    <a:pt x="854113" y="469900"/>
                  </a:lnTo>
                  <a:lnTo>
                    <a:pt x="860564" y="457200"/>
                  </a:lnTo>
                  <a:close/>
                </a:path>
                <a:path w="1144270" h="1346200">
                  <a:moveTo>
                    <a:pt x="872704" y="444500"/>
                  </a:moveTo>
                  <a:lnTo>
                    <a:pt x="800773" y="444500"/>
                  </a:lnTo>
                  <a:lnTo>
                    <a:pt x="797725" y="457200"/>
                  </a:lnTo>
                  <a:lnTo>
                    <a:pt x="866765" y="457200"/>
                  </a:lnTo>
                  <a:lnTo>
                    <a:pt x="872704" y="444500"/>
                  </a:lnTo>
                  <a:close/>
                </a:path>
                <a:path w="1144270" h="1346200">
                  <a:moveTo>
                    <a:pt x="888974" y="419100"/>
                  </a:moveTo>
                  <a:lnTo>
                    <a:pt x="845858" y="419100"/>
                  </a:lnTo>
                  <a:lnTo>
                    <a:pt x="841159" y="431800"/>
                  </a:lnTo>
                  <a:lnTo>
                    <a:pt x="831253" y="431800"/>
                  </a:lnTo>
                  <a:lnTo>
                    <a:pt x="826300" y="444500"/>
                  </a:lnTo>
                  <a:lnTo>
                    <a:pt x="878370" y="444500"/>
                  </a:lnTo>
                  <a:lnTo>
                    <a:pt x="884112" y="431800"/>
                  </a:lnTo>
                  <a:lnTo>
                    <a:pt x="888974" y="419100"/>
                  </a:lnTo>
                  <a:close/>
                </a:path>
                <a:path w="1144270" h="1346200">
                  <a:moveTo>
                    <a:pt x="791803" y="419100"/>
                  </a:moveTo>
                  <a:lnTo>
                    <a:pt x="760450" y="419100"/>
                  </a:lnTo>
                  <a:lnTo>
                    <a:pt x="768217" y="431800"/>
                  </a:lnTo>
                  <a:lnTo>
                    <a:pt x="783816" y="431800"/>
                  </a:lnTo>
                  <a:lnTo>
                    <a:pt x="791803" y="419100"/>
                  </a:lnTo>
                  <a:close/>
                </a:path>
                <a:path w="1144270" h="1346200">
                  <a:moveTo>
                    <a:pt x="812330" y="406400"/>
                  </a:moveTo>
                  <a:lnTo>
                    <a:pt x="739051" y="406400"/>
                  </a:lnTo>
                  <a:lnTo>
                    <a:pt x="744893" y="419100"/>
                  </a:lnTo>
                  <a:lnTo>
                    <a:pt x="808266" y="419100"/>
                  </a:lnTo>
                  <a:lnTo>
                    <a:pt x="812330" y="406400"/>
                  </a:lnTo>
                  <a:close/>
                </a:path>
                <a:path w="1144270" h="1346200">
                  <a:moveTo>
                    <a:pt x="896150" y="406400"/>
                  </a:moveTo>
                  <a:lnTo>
                    <a:pt x="854621" y="406400"/>
                  </a:lnTo>
                  <a:lnTo>
                    <a:pt x="850176" y="419100"/>
                  </a:lnTo>
                  <a:lnTo>
                    <a:pt x="892979" y="419100"/>
                  </a:lnTo>
                  <a:lnTo>
                    <a:pt x="896150" y="406400"/>
                  </a:lnTo>
                  <a:close/>
                </a:path>
                <a:path w="1144270" h="1346200">
                  <a:moveTo>
                    <a:pt x="901865" y="368300"/>
                  </a:moveTo>
                  <a:lnTo>
                    <a:pt x="726811" y="368300"/>
                  </a:lnTo>
                  <a:lnTo>
                    <a:pt x="726478" y="381000"/>
                  </a:lnTo>
                  <a:lnTo>
                    <a:pt x="728129" y="393700"/>
                  </a:lnTo>
                  <a:lnTo>
                    <a:pt x="734479" y="406400"/>
                  </a:lnTo>
                  <a:lnTo>
                    <a:pt x="821093" y="406400"/>
                  </a:lnTo>
                  <a:lnTo>
                    <a:pt x="825665" y="393700"/>
                  </a:lnTo>
                  <a:lnTo>
                    <a:pt x="838746" y="393700"/>
                  </a:lnTo>
                  <a:lnTo>
                    <a:pt x="843318" y="381000"/>
                  </a:lnTo>
                  <a:lnTo>
                    <a:pt x="901738" y="381000"/>
                  </a:lnTo>
                  <a:lnTo>
                    <a:pt x="901865" y="368300"/>
                  </a:lnTo>
                  <a:close/>
                </a:path>
                <a:path w="1144270" h="1346200">
                  <a:moveTo>
                    <a:pt x="900182" y="393700"/>
                  </a:moveTo>
                  <a:lnTo>
                    <a:pt x="860844" y="393700"/>
                  </a:lnTo>
                  <a:lnTo>
                    <a:pt x="859320" y="406400"/>
                  </a:lnTo>
                  <a:lnTo>
                    <a:pt x="898487" y="406400"/>
                  </a:lnTo>
                  <a:lnTo>
                    <a:pt x="900182" y="393700"/>
                  </a:lnTo>
                  <a:close/>
                </a:path>
                <a:path w="1144270" h="1346200">
                  <a:moveTo>
                    <a:pt x="901738" y="381000"/>
                  </a:moveTo>
                  <a:lnTo>
                    <a:pt x="852716" y="381000"/>
                  </a:lnTo>
                  <a:lnTo>
                    <a:pt x="855764" y="393700"/>
                  </a:lnTo>
                  <a:lnTo>
                    <a:pt x="901257" y="393700"/>
                  </a:lnTo>
                  <a:lnTo>
                    <a:pt x="901738" y="381000"/>
                  </a:lnTo>
                  <a:close/>
                </a:path>
                <a:path w="1144270" h="1346200">
                  <a:moveTo>
                    <a:pt x="773341" y="342900"/>
                  </a:moveTo>
                  <a:lnTo>
                    <a:pt x="731812" y="342900"/>
                  </a:lnTo>
                  <a:lnTo>
                    <a:pt x="729478" y="355600"/>
                  </a:lnTo>
                  <a:lnTo>
                    <a:pt x="727811" y="368300"/>
                  </a:lnTo>
                  <a:lnTo>
                    <a:pt x="768261" y="368300"/>
                  </a:lnTo>
                  <a:lnTo>
                    <a:pt x="770547" y="355600"/>
                  </a:lnTo>
                  <a:lnTo>
                    <a:pt x="773341" y="342900"/>
                  </a:lnTo>
                  <a:close/>
                </a:path>
                <a:path w="1144270" h="1346200">
                  <a:moveTo>
                    <a:pt x="888657" y="342900"/>
                  </a:moveTo>
                  <a:lnTo>
                    <a:pt x="813854" y="342900"/>
                  </a:lnTo>
                  <a:lnTo>
                    <a:pt x="805091" y="355600"/>
                  </a:lnTo>
                  <a:lnTo>
                    <a:pt x="801154" y="355600"/>
                  </a:lnTo>
                  <a:lnTo>
                    <a:pt x="797598" y="368300"/>
                  </a:lnTo>
                  <a:lnTo>
                    <a:pt x="900341" y="368300"/>
                  </a:lnTo>
                  <a:lnTo>
                    <a:pt x="893483" y="355600"/>
                  </a:lnTo>
                  <a:lnTo>
                    <a:pt x="888657" y="342900"/>
                  </a:lnTo>
                  <a:close/>
                </a:path>
                <a:path w="1144270" h="1346200">
                  <a:moveTo>
                    <a:pt x="781342" y="330200"/>
                  </a:moveTo>
                  <a:lnTo>
                    <a:pt x="738638" y="330200"/>
                  </a:lnTo>
                  <a:lnTo>
                    <a:pt x="734856" y="342900"/>
                  </a:lnTo>
                  <a:lnTo>
                    <a:pt x="777913" y="342900"/>
                  </a:lnTo>
                  <a:lnTo>
                    <a:pt x="781342" y="330200"/>
                  </a:lnTo>
                  <a:close/>
                </a:path>
                <a:path w="1144270" h="1346200">
                  <a:moveTo>
                    <a:pt x="875099" y="330200"/>
                  </a:moveTo>
                  <a:lnTo>
                    <a:pt x="838285" y="330200"/>
                  </a:lnTo>
                  <a:lnTo>
                    <a:pt x="830683" y="342900"/>
                  </a:lnTo>
                  <a:lnTo>
                    <a:pt x="882434" y="342900"/>
                  </a:lnTo>
                  <a:lnTo>
                    <a:pt x="875099" y="330200"/>
                  </a:lnTo>
                  <a:close/>
                </a:path>
                <a:path w="1144270" h="1346200">
                  <a:moveTo>
                    <a:pt x="958223" y="330200"/>
                  </a:moveTo>
                  <a:lnTo>
                    <a:pt x="892467" y="330200"/>
                  </a:lnTo>
                  <a:lnTo>
                    <a:pt x="901662" y="342900"/>
                  </a:lnTo>
                  <a:lnTo>
                    <a:pt x="950140" y="342900"/>
                  </a:lnTo>
                  <a:lnTo>
                    <a:pt x="958223" y="330200"/>
                  </a:lnTo>
                  <a:close/>
                </a:path>
                <a:path w="1144270" h="1346200">
                  <a:moveTo>
                    <a:pt x="798106" y="317500"/>
                  </a:moveTo>
                  <a:lnTo>
                    <a:pt x="748322" y="317500"/>
                  </a:lnTo>
                  <a:lnTo>
                    <a:pt x="743134" y="330200"/>
                  </a:lnTo>
                  <a:lnTo>
                    <a:pt x="793788" y="330200"/>
                  </a:lnTo>
                  <a:lnTo>
                    <a:pt x="798106" y="317500"/>
                  </a:lnTo>
                  <a:close/>
                </a:path>
                <a:path w="1144270" h="1346200">
                  <a:moveTo>
                    <a:pt x="970191" y="317500"/>
                  </a:moveTo>
                  <a:lnTo>
                    <a:pt x="880290" y="317500"/>
                  </a:lnTo>
                  <a:lnTo>
                    <a:pt x="885753" y="330200"/>
                  </a:lnTo>
                  <a:lnTo>
                    <a:pt x="965365" y="330200"/>
                  </a:lnTo>
                  <a:lnTo>
                    <a:pt x="970191" y="317500"/>
                  </a:lnTo>
                  <a:close/>
                </a:path>
                <a:path w="1144270" h="1346200">
                  <a:moveTo>
                    <a:pt x="823633" y="304800"/>
                  </a:moveTo>
                  <a:lnTo>
                    <a:pt x="759275" y="304800"/>
                  </a:lnTo>
                  <a:lnTo>
                    <a:pt x="753727" y="317500"/>
                  </a:lnTo>
                  <a:lnTo>
                    <a:pt x="821347" y="317500"/>
                  </a:lnTo>
                  <a:lnTo>
                    <a:pt x="823633" y="304800"/>
                  </a:lnTo>
                  <a:close/>
                </a:path>
                <a:path w="1144270" h="1346200">
                  <a:moveTo>
                    <a:pt x="975271" y="304800"/>
                  </a:moveTo>
                  <a:lnTo>
                    <a:pt x="873163" y="304800"/>
                  </a:lnTo>
                  <a:lnTo>
                    <a:pt x="876090" y="317500"/>
                  </a:lnTo>
                  <a:lnTo>
                    <a:pt x="973493" y="317500"/>
                  </a:lnTo>
                  <a:lnTo>
                    <a:pt x="975271" y="304800"/>
                  </a:lnTo>
                  <a:close/>
                </a:path>
                <a:path w="1144270" h="1346200">
                  <a:moveTo>
                    <a:pt x="792518" y="279400"/>
                  </a:moveTo>
                  <a:lnTo>
                    <a:pt x="787374" y="279400"/>
                  </a:lnTo>
                  <a:lnTo>
                    <a:pt x="782040" y="292100"/>
                  </a:lnTo>
                  <a:lnTo>
                    <a:pt x="770801" y="292100"/>
                  </a:lnTo>
                  <a:lnTo>
                    <a:pt x="764967" y="304800"/>
                  </a:lnTo>
                  <a:lnTo>
                    <a:pt x="826046" y="304800"/>
                  </a:lnTo>
                  <a:lnTo>
                    <a:pt x="792518" y="279400"/>
                  </a:lnTo>
                  <a:close/>
                </a:path>
                <a:path w="1144270" h="1346200">
                  <a:moveTo>
                    <a:pt x="980351" y="292100"/>
                  </a:moveTo>
                  <a:lnTo>
                    <a:pt x="870511" y="292100"/>
                  </a:lnTo>
                  <a:lnTo>
                    <a:pt x="871355" y="304800"/>
                  </a:lnTo>
                  <a:lnTo>
                    <a:pt x="978319" y="304800"/>
                  </a:lnTo>
                  <a:lnTo>
                    <a:pt x="980351" y="292100"/>
                  </a:lnTo>
                  <a:close/>
                </a:path>
                <a:path w="1144270" h="1346200">
                  <a:moveTo>
                    <a:pt x="914184" y="279400"/>
                  </a:moveTo>
                  <a:lnTo>
                    <a:pt x="871766" y="279400"/>
                  </a:lnTo>
                  <a:lnTo>
                    <a:pt x="870644" y="292100"/>
                  </a:lnTo>
                  <a:lnTo>
                    <a:pt x="916851" y="292100"/>
                  </a:lnTo>
                  <a:lnTo>
                    <a:pt x="914184" y="279400"/>
                  </a:lnTo>
                  <a:close/>
                </a:path>
                <a:path w="1144270" h="1346200">
                  <a:moveTo>
                    <a:pt x="979970" y="266700"/>
                  </a:moveTo>
                  <a:lnTo>
                    <a:pt x="958507" y="266700"/>
                  </a:lnTo>
                  <a:lnTo>
                    <a:pt x="957364" y="279400"/>
                  </a:lnTo>
                  <a:lnTo>
                    <a:pt x="952538" y="279400"/>
                  </a:lnTo>
                  <a:lnTo>
                    <a:pt x="947585" y="292100"/>
                  </a:lnTo>
                  <a:lnTo>
                    <a:pt x="980732" y="292100"/>
                  </a:lnTo>
                  <a:lnTo>
                    <a:pt x="980478" y="279400"/>
                  </a:lnTo>
                  <a:lnTo>
                    <a:pt x="979970" y="266700"/>
                  </a:lnTo>
                  <a:close/>
                </a:path>
                <a:path w="1144270" h="1346200">
                  <a:moveTo>
                    <a:pt x="849416" y="254000"/>
                  </a:moveTo>
                  <a:lnTo>
                    <a:pt x="809155" y="254000"/>
                  </a:lnTo>
                  <a:lnTo>
                    <a:pt x="841159" y="279400"/>
                  </a:lnTo>
                  <a:lnTo>
                    <a:pt x="843826" y="279400"/>
                  </a:lnTo>
                  <a:lnTo>
                    <a:pt x="845467" y="266700"/>
                  </a:lnTo>
                  <a:lnTo>
                    <a:pt x="847334" y="266700"/>
                  </a:lnTo>
                  <a:lnTo>
                    <a:pt x="849416" y="254000"/>
                  </a:lnTo>
                  <a:close/>
                </a:path>
                <a:path w="1144270" h="1346200">
                  <a:moveTo>
                    <a:pt x="917740" y="254000"/>
                  </a:moveTo>
                  <a:lnTo>
                    <a:pt x="880142" y="254000"/>
                  </a:lnTo>
                  <a:lnTo>
                    <a:pt x="876512" y="266700"/>
                  </a:lnTo>
                  <a:lnTo>
                    <a:pt x="873716" y="279400"/>
                  </a:lnTo>
                  <a:lnTo>
                    <a:pt x="912152" y="279400"/>
                  </a:lnTo>
                  <a:lnTo>
                    <a:pt x="912406" y="266700"/>
                  </a:lnTo>
                  <a:lnTo>
                    <a:pt x="915581" y="266700"/>
                  </a:lnTo>
                  <a:lnTo>
                    <a:pt x="917740" y="254000"/>
                  </a:lnTo>
                  <a:close/>
                </a:path>
                <a:path w="1144270" h="1346200">
                  <a:moveTo>
                    <a:pt x="935139" y="165100"/>
                  </a:moveTo>
                  <a:lnTo>
                    <a:pt x="876518" y="165100"/>
                  </a:lnTo>
                  <a:lnTo>
                    <a:pt x="864288" y="177800"/>
                  </a:lnTo>
                  <a:lnTo>
                    <a:pt x="851702" y="190500"/>
                  </a:lnTo>
                  <a:lnTo>
                    <a:pt x="838746" y="203200"/>
                  </a:lnTo>
                  <a:lnTo>
                    <a:pt x="898944" y="203200"/>
                  </a:lnTo>
                  <a:lnTo>
                    <a:pt x="906310" y="215900"/>
                  </a:lnTo>
                  <a:lnTo>
                    <a:pt x="906945" y="215900"/>
                  </a:lnTo>
                  <a:lnTo>
                    <a:pt x="900845" y="228600"/>
                  </a:lnTo>
                  <a:lnTo>
                    <a:pt x="931710" y="228600"/>
                  </a:lnTo>
                  <a:lnTo>
                    <a:pt x="959396" y="254000"/>
                  </a:lnTo>
                  <a:lnTo>
                    <a:pt x="960158" y="254000"/>
                  </a:lnTo>
                  <a:lnTo>
                    <a:pt x="959777" y="266700"/>
                  </a:lnTo>
                  <a:lnTo>
                    <a:pt x="979970" y="266700"/>
                  </a:lnTo>
                  <a:lnTo>
                    <a:pt x="994067" y="279400"/>
                  </a:lnTo>
                  <a:lnTo>
                    <a:pt x="1025563" y="241300"/>
                  </a:lnTo>
                  <a:lnTo>
                    <a:pt x="935139" y="165100"/>
                  </a:lnTo>
                  <a:close/>
                </a:path>
                <a:path w="1144270" h="1346200">
                  <a:moveTo>
                    <a:pt x="854875" y="241300"/>
                  </a:moveTo>
                  <a:lnTo>
                    <a:pt x="813330" y="241300"/>
                  </a:lnTo>
                  <a:lnTo>
                    <a:pt x="810915" y="254000"/>
                  </a:lnTo>
                  <a:lnTo>
                    <a:pt x="851700" y="254000"/>
                  </a:lnTo>
                  <a:lnTo>
                    <a:pt x="854875" y="241300"/>
                  </a:lnTo>
                  <a:close/>
                </a:path>
                <a:path w="1144270" h="1346200">
                  <a:moveTo>
                    <a:pt x="931710" y="228600"/>
                  </a:moveTo>
                  <a:lnTo>
                    <a:pt x="895102" y="228600"/>
                  </a:lnTo>
                  <a:lnTo>
                    <a:pt x="889692" y="241300"/>
                  </a:lnTo>
                  <a:lnTo>
                    <a:pt x="884593" y="254000"/>
                  </a:lnTo>
                  <a:lnTo>
                    <a:pt x="920534" y="254000"/>
                  </a:lnTo>
                  <a:lnTo>
                    <a:pt x="931710" y="228600"/>
                  </a:lnTo>
                  <a:close/>
                </a:path>
                <a:path w="1144270" h="1346200">
                  <a:moveTo>
                    <a:pt x="862114" y="228600"/>
                  </a:moveTo>
                  <a:lnTo>
                    <a:pt x="820077" y="228600"/>
                  </a:lnTo>
                  <a:lnTo>
                    <a:pt x="816388" y="241300"/>
                  </a:lnTo>
                  <a:lnTo>
                    <a:pt x="858431" y="241300"/>
                  </a:lnTo>
                  <a:lnTo>
                    <a:pt x="862114" y="228600"/>
                  </a:lnTo>
                  <a:close/>
                </a:path>
                <a:path w="1144270" h="1346200">
                  <a:moveTo>
                    <a:pt x="891832" y="203200"/>
                  </a:moveTo>
                  <a:lnTo>
                    <a:pt x="833578" y="203200"/>
                  </a:lnTo>
                  <a:lnTo>
                    <a:pt x="828744" y="215900"/>
                  </a:lnTo>
                  <a:lnTo>
                    <a:pt x="824244" y="228600"/>
                  </a:lnTo>
                  <a:lnTo>
                    <a:pt x="868184" y="228600"/>
                  </a:lnTo>
                  <a:lnTo>
                    <a:pt x="874004" y="215900"/>
                  </a:lnTo>
                  <a:lnTo>
                    <a:pt x="884847" y="215900"/>
                  </a:lnTo>
                  <a:lnTo>
                    <a:pt x="891832" y="203200"/>
                  </a:lnTo>
                  <a:close/>
                </a:path>
                <a:path w="1144270" h="1346200">
                  <a:moveTo>
                    <a:pt x="947966" y="63500"/>
                  </a:moveTo>
                  <a:lnTo>
                    <a:pt x="916343" y="101600"/>
                  </a:lnTo>
                  <a:lnTo>
                    <a:pt x="1049185" y="203200"/>
                  </a:lnTo>
                  <a:lnTo>
                    <a:pt x="1080808" y="165100"/>
                  </a:lnTo>
                  <a:lnTo>
                    <a:pt x="986574" y="101600"/>
                  </a:lnTo>
                  <a:lnTo>
                    <a:pt x="986828" y="88900"/>
                  </a:lnTo>
                  <a:lnTo>
                    <a:pt x="987717" y="88900"/>
                  </a:lnTo>
                  <a:lnTo>
                    <a:pt x="990511" y="76200"/>
                  </a:lnTo>
                  <a:lnTo>
                    <a:pt x="962571" y="76200"/>
                  </a:lnTo>
                  <a:lnTo>
                    <a:pt x="947966" y="63500"/>
                  </a:lnTo>
                  <a:close/>
                </a:path>
                <a:path w="1144270" h="1346200">
                  <a:moveTo>
                    <a:pt x="900045" y="152400"/>
                  </a:moveTo>
                  <a:lnTo>
                    <a:pt x="888403" y="165100"/>
                  </a:lnTo>
                  <a:lnTo>
                    <a:pt x="911723" y="165100"/>
                  </a:lnTo>
                  <a:lnTo>
                    <a:pt x="900045" y="152400"/>
                  </a:lnTo>
                  <a:close/>
                </a:path>
                <a:path w="1144270" h="1346200">
                  <a:moveTo>
                    <a:pt x="1057694" y="12700"/>
                  </a:moveTo>
                  <a:lnTo>
                    <a:pt x="983795" y="12700"/>
                  </a:lnTo>
                  <a:lnTo>
                    <a:pt x="975652" y="25400"/>
                  </a:lnTo>
                  <a:lnTo>
                    <a:pt x="971580" y="25400"/>
                  </a:lnTo>
                  <a:lnTo>
                    <a:pt x="968317" y="38100"/>
                  </a:lnTo>
                  <a:lnTo>
                    <a:pt x="965865" y="38100"/>
                  </a:lnTo>
                  <a:lnTo>
                    <a:pt x="964222" y="50800"/>
                  </a:lnTo>
                  <a:lnTo>
                    <a:pt x="1012228" y="50800"/>
                  </a:lnTo>
                  <a:lnTo>
                    <a:pt x="1016419" y="63500"/>
                  </a:lnTo>
                  <a:lnTo>
                    <a:pt x="1035596" y="63500"/>
                  </a:lnTo>
                  <a:lnTo>
                    <a:pt x="1041184" y="76200"/>
                  </a:lnTo>
                  <a:lnTo>
                    <a:pt x="1112431" y="127000"/>
                  </a:lnTo>
                  <a:lnTo>
                    <a:pt x="1144181" y="88900"/>
                  </a:lnTo>
                  <a:lnTo>
                    <a:pt x="1057694" y="12700"/>
                  </a:lnTo>
                  <a:close/>
                </a:path>
                <a:path w="1144270" h="1346200">
                  <a:moveTo>
                    <a:pt x="998512" y="63500"/>
                  </a:moveTo>
                  <a:lnTo>
                    <a:pt x="962382" y="63500"/>
                  </a:lnTo>
                  <a:lnTo>
                    <a:pt x="962571" y="76200"/>
                  </a:lnTo>
                  <a:lnTo>
                    <a:pt x="992416" y="76200"/>
                  </a:lnTo>
                  <a:lnTo>
                    <a:pt x="998512" y="63500"/>
                  </a:lnTo>
                  <a:close/>
                </a:path>
                <a:path w="1144270" h="1346200">
                  <a:moveTo>
                    <a:pt x="1012228" y="50800"/>
                  </a:moveTo>
                  <a:lnTo>
                    <a:pt x="963196" y="50800"/>
                  </a:lnTo>
                  <a:lnTo>
                    <a:pt x="962586" y="63500"/>
                  </a:lnTo>
                  <a:lnTo>
                    <a:pt x="1008545" y="63500"/>
                  </a:lnTo>
                  <a:lnTo>
                    <a:pt x="1012228" y="50800"/>
                  </a:lnTo>
                  <a:close/>
                </a:path>
                <a:path w="1144270" h="1346200">
                  <a:moveTo>
                    <a:pt x="1034151" y="0"/>
                  </a:moveTo>
                  <a:lnTo>
                    <a:pt x="1002083" y="0"/>
                  </a:lnTo>
                  <a:lnTo>
                    <a:pt x="992606" y="12700"/>
                  </a:lnTo>
                  <a:lnTo>
                    <a:pt x="1045714" y="12700"/>
                  </a:lnTo>
                  <a:lnTo>
                    <a:pt x="103415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65043" y="1012063"/>
              <a:ext cx="691515" cy="89916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68312" y="1196975"/>
              <a:ext cx="3240405" cy="4537075"/>
            </a:xfrm>
            <a:custGeom>
              <a:avLst/>
              <a:gdLst/>
              <a:ahLst/>
              <a:cxnLst/>
              <a:rect l="l" t="t" r="r" b="b"/>
              <a:pathLst>
                <a:path w="3240404" h="4537075">
                  <a:moveTo>
                    <a:pt x="14935" y="4442396"/>
                  </a:moveTo>
                  <a:lnTo>
                    <a:pt x="0" y="4537075"/>
                  </a:lnTo>
                  <a:lnTo>
                    <a:pt x="84696" y="4492218"/>
                  </a:lnTo>
                  <a:lnTo>
                    <a:pt x="77743" y="4487252"/>
                  </a:lnTo>
                  <a:lnTo>
                    <a:pt x="53136" y="4487252"/>
                  </a:lnTo>
                  <a:lnTo>
                    <a:pt x="29883" y="4470654"/>
                  </a:lnTo>
                  <a:lnTo>
                    <a:pt x="38198" y="4459010"/>
                  </a:lnTo>
                  <a:lnTo>
                    <a:pt x="14935" y="4442396"/>
                  </a:lnTo>
                  <a:close/>
                </a:path>
                <a:path w="3240404" h="4537075">
                  <a:moveTo>
                    <a:pt x="38198" y="4459010"/>
                  </a:moveTo>
                  <a:lnTo>
                    <a:pt x="29883" y="4470654"/>
                  </a:lnTo>
                  <a:lnTo>
                    <a:pt x="53136" y="4487252"/>
                  </a:lnTo>
                  <a:lnTo>
                    <a:pt x="61447" y="4475615"/>
                  </a:lnTo>
                  <a:lnTo>
                    <a:pt x="38198" y="4459010"/>
                  </a:lnTo>
                  <a:close/>
                </a:path>
                <a:path w="3240404" h="4537075">
                  <a:moveTo>
                    <a:pt x="61447" y="4475615"/>
                  </a:moveTo>
                  <a:lnTo>
                    <a:pt x="53136" y="4487252"/>
                  </a:lnTo>
                  <a:lnTo>
                    <a:pt x="77743" y="4487252"/>
                  </a:lnTo>
                  <a:lnTo>
                    <a:pt x="61447" y="4475615"/>
                  </a:lnTo>
                  <a:close/>
                </a:path>
                <a:path w="3240404" h="4537075">
                  <a:moveTo>
                    <a:pt x="3178664" y="61457"/>
                  </a:moveTo>
                  <a:lnTo>
                    <a:pt x="38198" y="4459010"/>
                  </a:lnTo>
                  <a:lnTo>
                    <a:pt x="61447" y="4475615"/>
                  </a:lnTo>
                  <a:lnTo>
                    <a:pt x="3201925" y="78066"/>
                  </a:lnTo>
                  <a:lnTo>
                    <a:pt x="3178664" y="61457"/>
                  </a:lnTo>
                  <a:close/>
                </a:path>
                <a:path w="3240404" h="4537075">
                  <a:moveTo>
                    <a:pt x="3232202" y="49784"/>
                  </a:moveTo>
                  <a:lnTo>
                    <a:pt x="3187001" y="49784"/>
                  </a:lnTo>
                  <a:lnTo>
                    <a:pt x="3210242" y="66421"/>
                  </a:lnTo>
                  <a:lnTo>
                    <a:pt x="3201925" y="78066"/>
                  </a:lnTo>
                  <a:lnTo>
                    <a:pt x="3225101" y="94614"/>
                  </a:lnTo>
                  <a:lnTo>
                    <a:pt x="3232202" y="49784"/>
                  </a:lnTo>
                  <a:close/>
                </a:path>
                <a:path w="3240404" h="4537075">
                  <a:moveTo>
                    <a:pt x="3187001" y="49784"/>
                  </a:moveTo>
                  <a:lnTo>
                    <a:pt x="3178664" y="61457"/>
                  </a:lnTo>
                  <a:lnTo>
                    <a:pt x="3201925" y="78066"/>
                  </a:lnTo>
                  <a:lnTo>
                    <a:pt x="3210242" y="66421"/>
                  </a:lnTo>
                  <a:lnTo>
                    <a:pt x="3187001" y="49784"/>
                  </a:lnTo>
                  <a:close/>
                </a:path>
                <a:path w="3240404" h="4537075">
                  <a:moveTo>
                    <a:pt x="3240087" y="0"/>
                  </a:moveTo>
                  <a:lnTo>
                    <a:pt x="3155378" y="44830"/>
                  </a:lnTo>
                  <a:lnTo>
                    <a:pt x="3178664" y="61457"/>
                  </a:lnTo>
                  <a:lnTo>
                    <a:pt x="3187001" y="49784"/>
                  </a:lnTo>
                  <a:lnTo>
                    <a:pt x="3232202" y="49784"/>
                  </a:lnTo>
                  <a:lnTo>
                    <a:pt x="32400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8687" y="4459097"/>
              <a:ext cx="967740" cy="1080770"/>
            </a:xfrm>
            <a:custGeom>
              <a:avLst/>
              <a:gdLst/>
              <a:ahLst/>
              <a:cxnLst/>
              <a:rect l="l" t="t" r="r" b="b"/>
              <a:pathLst>
                <a:path w="967740" h="1080770">
                  <a:moveTo>
                    <a:pt x="122822" y="998219"/>
                  </a:moveTo>
                  <a:lnTo>
                    <a:pt x="55363" y="998219"/>
                  </a:lnTo>
                  <a:lnTo>
                    <a:pt x="160709" y="1080769"/>
                  </a:lnTo>
                  <a:lnTo>
                    <a:pt x="186668" y="1049019"/>
                  </a:lnTo>
                  <a:lnTo>
                    <a:pt x="122822" y="998219"/>
                  </a:lnTo>
                  <a:close/>
                </a:path>
                <a:path w="967740" h="1080770">
                  <a:moveTo>
                    <a:pt x="87024" y="906779"/>
                  </a:moveTo>
                  <a:lnTo>
                    <a:pt x="0" y="1015999"/>
                  </a:lnTo>
                  <a:lnTo>
                    <a:pt x="24829" y="1036319"/>
                  </a:lnTo>
                  <a:lnTo>
                    <a:pt x="55363" y="998219"/>
                  </a:lnTo>
                  <a:lnTo>
                    <a:pt x="122822" y="998219"/>
                  </a:lnTo>
                  <a:lnTo>
                    <a:pt x="81321" y="965199"/>
                  </a:lnTo>
                  <a:lnTo>
                    <a:pt x="111852" y="927099"/>
                  </a:lnTo>
                  <a:lnTo>
                    <a:pt x="87024" y="906779"/>
                  </a:lnTo>
                  <a:close/>
                </a:path>
                <a:path w="967740" h="1080770">
                  <a:moveTo>
                    <a:pt x="211104" y="848359"/>
                  </a:moveTo>
                  <a:lnTo>
                    <a:pt x="200422" y="848359"/>
                  </a:lnTo>
                  <a:lnTo>
                    <a:pt x="190042" y="850899"/>
                  </a:lnTo>
                  <a:lnTo>
                    <a:pt x="152936" y="885189"/>
                  </a:lnTo>
                  <a:lnTo>
                    <a:pt x="144769" y="910589"/>
                  </a:lnTo>
                  <a:lnTo>
                    <a:pt x="145012" y="922019"/>
                  </a:lnTo>
                  <a:lnTo>
                    <a:pt x="161701" y="957579"/>
                  </a:lnTo>
                  <a:lnTo>
                    <a:pt x="197122" y="980439"/>
                  </a:lnTo>
                  <a:lnTo>
                    <a:pt x="209555" y="982979"/>
                  </a:lnTo>
                  <a:lnTo>
                    <a:pt x="222050" y="981709"/>
                  </a:lnTo>
                  <a:lnTo>
                    <a:pt x="257949" y="962659"/>
                  </a:lnTo>
                  <a:lnTo>
                    <a:pt x="271180" y="947419"/>
                  </a:lnTo>
                  <a:lnTo>
                    <a:pt x="220094" y="947419"/>
                  </a:lnTo>
                  <a:lnTo>
                    <a:pt x="215738" y="946149"/>
                  </a:lnTo>
                  <a:lnTo>
                    <a:pt x="211382" y="946149"/>
                  </a:lnTo>
                  <a:lnTo>
                    <a:pt x="206810" y="943609"/>
                  </a:lnTo>
                  <a:lnTo>
                    <a:pt x="202035" y="941069"/>
                  </a:lnTo>
                  <a:lnTo>
                    <a:pt x="214086" y="925829"/>
                  </a:lnTo>
                  <a:lnTo>
                    <a:pt x="183518" y="925829"/>
                  </a:lnTo>
                  <a:lnTo>
                    <a:pt x="177676" y="920749"/>
                  </a:lnTo>
                  <a:lnTo>
                    <a:pt x="174311" y="915669"/>
                  </a:lnTo>
                  <a:lnTo>
                    <a:pt x="172520" y="902969"/>
                  </a:lnTo>
                  <a:lnTo>
                    <a:pt x="174425" y="896619"/>
                  </a:lnTo>
                  <a:lnTo>
                    <a:pt x="183772" y="885189"/>
                  </a:lnTo>
                  <a:lnTo>
                    <a:pt x="188903" y="881379"/>
                  </a:lnTo>
                  <a:lnTo>
                    <a:pt x="249235" y="881379"/>
                  </a:lnTo>
                  <a:lnTo>
                    <a:pt x="255261" y="873759"/>
                  </a:lnTo>
                  <a:lnTo>
                    <a:pt x="244250" y="864869"/>
                  </a:lnTo>
                  <a:lnTo>
                    <a:pt x="233017" y="857249"/>
                  </a:lnTo>
                  <a:lnTo>
                    <a:pt x="221969" y="852169"/>
                  </a:lnTo>
                  <a:lnTo>
                    <a:pt x="211104" y="848359"/>
                  </a:lnTo>
                  <a:close/>
                </a:path>
                <a:path w="967740" h="1080770">
                  <a:moveTo>
                    <a:pt x="266373" y="885189"/>
                  </a:moveTo>
                  <a:lnTo>
                    <a:pt x="263808" y="887729"/>
                  </a:lnTo>
                  <a:lnTo>
                    <a:pt x="263732" y="890269"/>
                  </a:lnTo>
                  <a:lnTo>
                    <a:pt x="263490" y="892809"/>
                  </a:lnTo>
                  <a:lnTo>
                    <a:pt x="246333" y="933449"/>
                  </a:lnTo>
                  <a:lnTo>
                    <a:pt x="224235" y="947419"/>
                  </a:lnTo>
                  <a:lnTo>
                    <a:pt x="271180" y="947419"/>
                  </a:lnTo>
                  <a:lnTo>
                    <a:pt x="273193" y="944879"/>
                  </a:lnTo>
                  <a:lnTo>
                    <a:pt x="276355" y="941069"/>
                  </a:lnTo>
                  <a:lnTo>
                    <a:pt x="280965" y="932179"/>
                  </a:lnTo>
                  <a:lnTo>
                    <a:pt x="282997" y="928369"/>
                  </a:lnTo>
                  <a:lnTo>
                    <a:pt x="284763" y="924559"/>
                  </a:lnTo>
                  <a:lnTo>
                    <a:pt x="286757" y="920749"/>
                  </a:lnTo>
                  <a:lnTo>
                    <a:pt x="288154" y="916939"/>
                  </a:lnTo>
                  <a:lnTo>
                    <a:pt x="289741" y="911859"/>
                  </a:lnTo>
                  <a:lnTo>
                    <a:pt x="291646" y="905509"/>
                  </a:lnTo>
                  <a:lnTo>
                    <a:pt x="266373" y="885189"/>
                  </a:lnTo>
                  <a:close/>
                </a:path>
                <a:path w="967740" h="1080770">
                  <a:moveTo>
                    <a:pt x="249235" y="881379"/>
                  </a:moveTo>
                  <a:lnTo>
                    <a:pt x="200143" y="881379"/>
                  </a:lnTo>
                  <a:lnTo>
                    <a:pt x="206264" y="883919"/>
                  </a:lnTo>
                  <a:lnTo>
                    <a:pt x="212868" y="888999"/>
                  </a:lnTo>
                  <a:lnTo>
                    <a:pt x="183518" y="925829"/>
                  </a:lnTo>
                  <a:lnTo>
                    <a:pt x="214086" y="925829"/>
                  </a:lnTo>
                  <a:lnTo>
                    <a:pt x="249235" y="881379"/>
                  </a:lnTo>
                  <a:close/>
                </a:path>
                <a:path w="967740" h="1080770">
                  <a:moveTo>
                    <a:pt x="238027" y="782319"/>
                  </a:moveTo>
                  <a:lnTo>
                    <a:pt x="213732" y="812799"/>
                  </a:lnTo>
                  <a:lnTo>
                    <a:pt x="311915" y="890269"/>
                  </a:lnTo>
                  <a:lnTo>
                    <a:pt x="336210" y="859789"/>
                  </a:lnTo>
                  <a:lnTo>
                    <a:pt x="270463" y="807719"/>
                  </a:lnTo>
                  <a:lnTo>
                    <a:pt x="271809" y="803909"/>
                  </a:lnTo>
                  <a:lnTo>
                    <a:pt x="273422" y="800099"/>
                  </a:lnTo>
                  <a:lnTo>
                    <a:pt x="275289" y="795019"/>
                  </a:lnTo>
                  <a:lnTo>
                    <a:pt x="275911" y="793749"/>
                  </a:lnTo>
                  <a:lnTo>
                    <a:pt x="252098" y="793749"/>
                  </a:lnTo>
                  <a:lnTo>
                    <a:pt x="238027" y="782319"/>
                  </a:lnTo>
                  <a:close/>
                </a:path>
                <a:path w="967740" h="1080770">
                  <a:moveTo>
                    <a:pt x="300562" y="703579"/>
                  </a:moveTo>
                  <a:lnTo>
                    <a:pt x="276266" y="734059"/>
                  </a:lnTo>
                  <a:lnTo>
                    <a:pt x="410467" y="840739"/>
                  </a:lnTo>
                  <a:lnTo>
                    <a:pt x="434762" y="810259"/>
                  </a:lnTo>
                  <a:lnTo>
                    <a:pt x="393843" y="777239"/>
                  </a:lnTo>
                  <a:lnTo>
                    <a:pt x="399406" y="775969"/>
                  </a:lnTo>
                  <a:lnTo>
                    <a:pt x="404181" y="773429"/>
                  </a:lnTo>
                  <a:lnTo>
                    <a:pt x="408156" y="769619"/>
                  </a:lnTo>
                  <a:lnTo>
                    <a:pt x="412131" y="767079"/>
                  </a:lnTo>
                  <a:lnTo>
                    <a:pt x="416068" y="763269"/>
                  </a:lnTo>
                  <a:lnTo>
                    <a:pt x="376266" y="763269"/>
                  </a:lnTo>
                  <a:lnTo>
                    <a:pt x="326876" y="723899"/>
                  </a:lnTo>
                  <a:lnTo>
                    <a:pt x="327206" y="720089"/>
                  </a:lnTo>
                  <a:lnTo>
                    <a:pt x="328006" y="716279"/>
                  </a:lnTo>
                  <a:lnTo>
                    <a:pt x="330048" y="711199"/>
                  </a:lnTo>
                  <a:lnTo>
                    <a:pt x="310785" y="711199"/>
                  </a:lnTo>
                  <a:lnTo>
                    <a:pt x="300562" y="703579"/>
                  </a:lnTo>
                  <a:close/>
                </a:path>
                <a:path w="967740" h="1080770">
                  <a:moveTo>
                    <a:pt x="266056" y="746759"/>
                  </a:moveTo>
                  <a:lnTo>
                    <a:pt x="265154" y="748029"/>
                  </a:lnTo>
                  <a:lnTo>
                    <a:pt x="264189" y="749299"/>
                  </a:lnTo>
                  <a:lnTo>
                    <a:pt x="263160" y="750569"/>
                  </a:lnTo>
                  <a:lnTo>
                    <a:pt x="261217" y="751839"/>
                  </a:lnTo>
                  <a:lnTo>
                    <a:pt x="258347" y="755649"/>
                  </a:lnTo>
                  <a:lnTo>
                    <a:pt x="256620" y="759459"/>
                  </a:lnTo>
                  <a:lnTo>
                    <a:pt x="252975" y="769619"/>
                  </a:lnTo>
                  <a:lnTo>
                    <a:pt x="252568" y="773429"/>
                  </a:lnTo>
                  <a:lnTo>
                    <a:pt x="252111" y="775969"/>
                  </a:lnTo>
                  <a:lnTo>
                    <a:pt x="252031" y="777239"/>
                  </a:lnTo>
                  <a:lnTo>
                    <a:pt x="251933" y="791209"/>
                  </a:lnTo>
                  <a:lnTo>
                    <a:pt x="252098" y="793749"/>
                  </a:lnTo>
                  <a:lnTo>
                    <a:pt x="275911" y="793749"/>
                  </a:lnTo>
                  <a:lnTo>
                    <a:pt x="277155" y="791209"/>
                  </a:lnTo>
                  <a:lnTo>
                    <a:pt x="279365" y="787399"/>
                  </a:lnTo>
                  <a:lnTo>
                    <a:pt x="284039" y="781049"/>
                  </a:lnTo>
                  <a:lnTo>
                    <a:pt x="286084" y="778509"/>
                  </a:lnTo>
                  <a:lnTo>
                    <a:pt x="290008" y="774699"/>
                  </a:lnTo>
                  <a:lnTo>
                    <a:pt x="291646" y="773429"/>
                  </a:lnTo>
                  <a:lnTo>
                    <a:pt x="292980" y="772159"/>
                  </a:lnTo>
                  <a:lnTo>
                    <a:pt x="294999" y="769619"/>
                  </a:lnTo>
                  <a:lnTo>
                    <a:pt x="266056" y="746759"/>
                  </a:lnTo>
                  <a:close/>
                </a:path>
                <a:path w="967740" h="1080770">
                  <a:moveTo>
                    <a:pt x="418249" y="694689"/>
                  </a:moveTo>
                  <a:lnTo>
                    <a:pt x="345215" y="694689"/>
                  </a:lnTo>
                  <a:lnTo>
                    <a:pt x="351857" y="695959"/>
                  </a:lnTo>
                  <a:lnTo>
                    <a:pt x="357120" y="695959"/>
                  </a:lnTo>
                  <a:lnTo>
                    <a:pt x="362926" y="698499"/>
                  </a:lnTo>
                  <a:lnTo>
                    <a:pt x="391629" y="725169"/>
                  </a:lnTo>
                  <a:lnTo>
                    <a:pt x="395862" y="737869"/>
                  </a:lnTo>
                  <a:lnTo>
                    <a:pt x="393894" y="745489"/>
                  </a:lnTo>
                  <a:lnTo>
                    <a:pt x="387976" y="753109"/>
                  </a:lnTo>
                  <a:lnTo>
                    <a:pt x="385842" y="755649"/>
                  </a:lnTo>
                  <a:lnTo>
                    <a:pt x="383861" y="758189"/>
                  </a:lnTo>
                  <a:lnTo>
                    <a:pt x="380178" y="760729"/>
                  </a:lnTo>
                  <a:lnTo>
                    <a:pt x="378260" y="763269"/>
                  </a:lnTo>
                  <a:lnTo>
                    <a:pt x="416068" y="763269"/>
                  </a:lnTo>
                  <a:lnTo>
                    <a:pt x="419954" y="758189"/>
                  </a:lnTo>
                  <a:lnTo>
                    <a:pt x="425714" y="749299"/>
                  </a:lnTo>
                  <a:lnTo>
                    <a:pt x="429124" y="739139"/>
                  </a:lnTo>
                  <a:lnTo>
                    <a:pt x="430180" y="728979"/>
                  </a:lnTo>
                  <a:lnTo>
                    <a:pt x="428882" y="717549"/>
                  </a:lnTo>
                  <a:lnTo>
                    <a:pt x="425244" y="706119"/>
                  </a:lnTo>
                  <a:lnTo>
                    <a:pt x="419284" y="695959"/>
                  </a:lnTo>
                  <a:lnTo>
                    <a:pt x="418249" y="694689"/>
                  </a:lnTo>
                  <a:close/>
                </a:path>
                <a:path w="967740" h="1080770">
                  <a:moveTo>
                    <a:pt x="356086" y="655319"/>
                  </a:moveTo>
                  <a:lnTo>
                    <a:pt x="321580" y="671829"/>
                  </a:lnTo>
                  <a:lnTo>
                    <a:pt x="310599" y="706119"/>
                  </a:lnTo>
                  <a:lnTo>
                    <a:pt x="310785" y="711199"/>
                  </a:lnTo>
                  <a:lnTo>
                    <a:pt x="330048" y="711199"/>
                  </a:lnTo>
                  <a:lnTo>
                    <a:pt x="330559" y="709929"/>
                  </a:lnTo>
                  <a:lnTo>
                    <a:pt x="332286" y="707389"/>
                  </a:lnTo>
                  <a:lnTo>
                    <a:pt x="334458" y="703579"/>
                  </a:lnTo>
                  <a:lnTo>
                    <a:pt x="339411" y="697229"/>
                  </a:lnTo>
                  <a:lnTo>
                    <a:pt x="345215" y="694689"/>
                  </a:lnTo>
                  <a:lnTo>
                    <a:pt x="418249" y="694689"/>
                  </a:lnTo>
                  <a:lnTo>
                    <a:pt x="411005" y="685799"/>
                  </a:lnTo>
                  <a:lnTo>
                    <a:pt x="400409" y="675639"/>
                  </a:lnTo>
                  <a:lnTo>
                    <a:pt x="388881" y="668019"/>
                  </a:lnTo>
                  <a:lnTo>
                    <a:pt x="377652" y="661669"/>
                  </a:lnTo>
                  <a:lnTo>
                    <a:pt x="366721" y="657859"/>
                  </a:lnTo>
                  <a:lnTo>
                    <a:pt x="356086" y="655319"/>
                  </a:lnTo>
                  <a:close/>
                </a:path>
                <a:path w="967740" h="1080770">
                  <a:moveTo>
                    <a:pt x="389614" y="591819"/>
                  </a:moveTo>
                  <a:lnTo>
                    <a:pt x="365332" y="622299"/>
                  </a:lnTo>
                  <a:lnTo>
                    <a:pt x="463515" y="699769"/>
                  </a:lnTo>
                  <a:lnTo>
                    <a:pt x="487798" y="669289"/>
                  </a:lnTo>
                  <a:lnTo>
                    <a:pt x="422050" y="617219"/>
                  </a:lnTo>
                  <a:lnTo>
                    <a:pt x="423409" y="613409"/>
                  </a:lnTo>
                  <a:lnTo>
                    <a:pt x="425022" y="608329"/>
                  </a:lnTo>
                  <a:lnTo>
                    <a:pt x="426888" y="604519"/>
                  </a:lnTo>
                  <a:lnTo>
                    <a:pt x="427822" y="601979"/>
                  </a:lnTo>
                  <a:lnTo>
                    <a:pt x="403698" y="601979"/>
                  </a:lnTo>
                  <a:lnTo>
                    <a:pt x="389614" y="591819"/>
                  </a:lnTo>
                  <a:close/>
                </a:path>
                <a:path w="967740" h="1080770">
                  <a:moveTo>
                    <a:pt x="515237" y="471169"/>
                  </a:moveTo>
                  <a:lnTo>
                    <a:pt x="503000" y="471169"/>
                  </a:lnTo>
                  <a:lnTo>
                    <a:pt x="491091" y="473709"/>
                  </a:lnTo>
                  <a:lnTo>
                    <a:pt x="459362" y="497839"/>
                  </a:lnTo>
                  <a:lnTo>
                    <a:pt x="443310" y="533399"/>
                  </a:lnTo>
                  <a:lnTo>
                    <a:pt x="443551" y="546099"/>
                  </a:lnTo>
                  <a:lnTo>
                    <a:pt x="471300" y="589279"/>
                  </a:lnTo>
                  <a:lnTo>
                    <a:pt x="507808" y="605789"/>
                  </a:lnTo>
                  <a:lnTo>
                    <a:pt x="520056" y="605789"/>
                  </a:lnTo>
                  <a:lnTo>
                    <a:pt x="563667" y="580389"/>
                  </a:lnTo>
                  <a:lnTo>
                    <a:pt x="569403" y="571499"/>
                  </a:lnTo>
                  <a:lnTo>
                    <a:pt x="520589" y="571499"/>
                  </a:lnTo>
                  <a:lnTo>
                    <a:pt x="516614" y="570229"/>
                  </a:lnTo>
                  <a:lnTo>
                    <a:pt x="512131" y="567689"/>
                  </a:lnTo>
                  <a:lnTo>
                    <a:pt x="507648" y="566419"/>
                  </a:lnTo>
                  <a:lnTo>
                    <a:pt x="502390" y="562609"/>
                  </a:lnTo>
                  <a:lnTo>
                    <a:pt x="496396" y="557529"/>
                  </a:lnTo>
                  <a:lnTo>
                    <a:pt x="490388" y="553719"/>
                  </a:lnTo>
                  <a:lnTo>
                    <a:pt x="485816" y="548639"/>
                  </a:lnTo>
                  <a:lnTo>
                    <a:pt x="479555" y="541019"/>
                  </a:lnTo>
                  <a:lnTo>
                    <a:pt x="477549" y="537209"/>
                  </a:lnTo>
                  <a:lnTo>
                    <a:pt x="475758" y="529589"/>
                  </a:lnTo>
                  <a:lnTo>
                    <a:pt x="475758" y="525779"/>
                  </a:lnTo>
                  <a:lnTo>
                    <a:pt x="495011" y="505459"/>
                  </a:lnTo>
                  <a:lnTo>
                    <a:pt x="568773" y="505459"/>
                  </a:lnTo>
                  <a:lnTo>
                    <a:pt x="562614" y="497839"/>
                  </a:lnTo>
                  <a:lnTo>
                    <a:pt x="551806" y="487679"/>
                  </a:lnTo>
                  <a:lnTo>
                    <a:pt x="539640" y="480059"/>
                  </a:lnTo>
                  <a:lnTo>
                    <a:pt x="527450" y="473709"/>
                  </a:lnTo>
                  <a:lnTo>
                    <a:pt x="515237" y="471169"/>
                  </a:lnTo>
                  <a:close/>
                </a:path>
                <a:path w="967740" h="1080770">
                  <a:moveTo>
                    <a:pt x="417656" y="556259"/>
                  </a:moveTo>
                  <a:lnTo>
                    <a:pt x="416754" y="556259"/>
                  </a:lnTo>
                  <a:lnTo>
                    <a:pt x="415776" y="557529"/>
                  </a:lnTo>
                  <a:lnTo>
                    <a:pt x="413719" y="560069"/>
                  </a:lnTo>
                  <a:lnTo>
                    <a:pt x="412817" y="561339"/>
                  </a:lnTo>
                  <a:lnTo>
                    <a:pt x="412029" y="562609"/>
                  </a:lnTo>
                  <a:lnTo>
                    <a:pt x="409947" y="565149"/>
                  </a:lnTo>
                  <a:lnTo>
                    <a:pt x="408219" y="567689"/>
                  </a:lnTo>
                  <a:lnTo>
                    <a:pt x="405464" y="575309"/>
                  </a:lnTo>
                  <a:lnTo>
                    <a:pt x="404575" y="579119"/>
                  </a:lnTo>
                  <a:lnTo>
                    <a:pt x="404155" y="582929"/>
                  </a:lnTo>
                  <a:lnTo>
                    <a:pt x="403698" y="585469"/>
                  </a:lnTo>
                  <a:lnTo>
                    <a:pt x="403546" y="588009"/>
                  </a:lnTo>
                  <a:lnTo>
                    <a:pt x="403520" y="600709"/>
                  </a:lnTo>
                  <a:lnTo>
                    <a:pt x="403698" y="601979"/>
                  </a:lnTo>
                  <a:lnTo>
                    <a:pt x="427822" y="601979"/>
                  </a:lnTo>
                  <a:lnTo>
                    <a:pt x="428755" y="599439"/>
                  </a:lnTo>
                  <a:lnTo>
                    <a:pt x="430952" y="595629"/>
                  </a:lnTo>
                  <a:lnTo>
                    <a:pt x="435626" y="590549"/>
                  </a:lnTo>
                  <a:lnTo>
                    <a:pt x="437671" y="588009"/>
                  </a:lnTo>
                  <a:lnTo>
                    <a:pt x="441595" y="584199"/>
                  </a:lnTo>
                  <a:lnTo>
                    <a:pt x="443246" y="582929"/>
                  </a:lnTo>
                  <a:lnTo>
                    <a:pt x="444580" y="581659"/>
                  </a:lnTo>
                  <a:lnTo>
                    <a:pt x="446586" y="579119"/>
                  </a:lnTo>
                  <a:lnTo>
                    <a:pt x="417656" y="556259"/>
                  </a:lnTo>
                  <a:close/>
                </a:path>
                <a:path w="967740" h="1080770">
                  <a:moveTo>
                    <a:pt x="568773" y="505459"/>
                  </a:moveTo>
                  <a:lnTo>
                    <a:pt x="502568" y="505459"/>
                  </a:lnTo>
                  <a:lnTo>
                    <a:pt x="506721" y="506729"/>
                  </a:lnTo>
                  <a:lnTo>
                    <a:pt x="516004" y="511809"/>
                  </a:lnTo>
                  <a:lnTo>
                    <a:pt x="521237" y="514349"/>
                  </a:lnTo>
                  <a:lnTo>
                    <a:pt x="527066" y="519429"/>
                  </a:lnTo>
                  <a:lnTo>
                    <a:pt x="533302" y="524509"/>
                  </a:lnTo>
                  <a:lnTo>
                    <a:pt x="537810" y="528319"/>
                  </a:lnTo>
                  <a:lnTo>
                    <a:pt x="543386" y="535939"/>
                  </a:lnTo>
                  <a:lnTo>
                    <a:pt x="545316" y="539749"/>
                  </a:lnTo>
                  <a:lnTo>
                    <a:pt x="547284" y="547369"/>
                  </a:lnTo>
                  <a:lnTo>
                    <a:pt x="547246" y="549909"/>
                  </a:lnTo>
                  <a:lnTo>
                    <a:pt x="527625" y="571499"/>
                  </a:lnTo>
                  <a:lnTo>
                    <a:pt x="569403" y="571499"/>
                  </a:lnTo>
                  <a:lnTo>
                    <a:pt x="571861" y="567689"/>
                  </a:lnTo>
                  <a:lnTo>
                    <a:pt x="577223" y="556259"/>
                  </a:lnTo>
                  <a:lnTo>
                    <a:pt x="579753" y="543559"/>
                  </a:lnTo>
                  <a:lnTo>
                    <a:pt x="579454" y="530859"/>
                  </a:lnTo>
                  <a:lnTo>
                    <a:pt x="576439" y="519429"/>
                  </a:lnTo>
                  <a:lnTo>
                    <a:pt x="570825" y="507999"/>
                  </a:lnTo>
                  <a:lnTo>
                    <a:pt x="568773" y="505459"/>
                  </a:lnTo>
                  <a:close/>
                </a:path>
                <a:path w="967740" h="1080770">
                  <a:moveTo>
                    <a:pt x="697094" y="443229"/>
                  </a:moveTo>
                  <a:lnTo>
                    <a:pt x="648326" y="443229"/>
                  </a:lnTo>
                  <a:lnTo>
                    <a:pt x="650154" y="444499"/>
                  </a:lnTo>
                  <a:lnTo>
                    <a:pt x="654358" y="448309"/>
                  </a:lnTo>
                  <a:lnTo>
                    <a:pt x="657559" y="452119"/>
                  </a:lnTo>
                  <a:lnTo>
                    <a:pt x="661978" y="457199"/>
                  </a:lnTo>
                  <a:lnTo>
                    <a:pt x="663413" y="461009"/>
                  </a:lnTo>
                  <a:lnTo>
                    <a:pt x="664074" y="463549"/>
                  </a:lnTo>
                  <a:lnTo>
                    <a:pt x="664658" y="467359"/>
                  </a:lnTo>
                  <a:lnTo>
                    <a:pt x="664124" y="471169"/>
                  </a:lnTo>
                  <a:lnTo>
                    <a:pt x="645011" y="497839"/>
                  </a:lnTo>
                  <a:lnTo>
                    <a:pt x="642547" y="500379"/>
                  </a:lnTo>
                  <a:lnTo>
                    <a:pt x="639918" y="502919"/>
                  </a:lnTo>
                  <a:lnTo>
                    <a:pt x="635372" y="505459"/>
                  </a:lnTo>
                  <a:lnTo>
                    <a:pt x="630685" y="509269"/>
                  </a:lnTo>
                  <a:lnTo>
                    <a:pt x="628628" y="510539"/>
                  </a:lnTo>
                  <a:lnTo>
                    <a:pt x="626837" y="510539"/>
                  </a:lnTo>
                  <a:lnTo>
                    <a:pt x="623992" y="514349"/>
                  </a:lnTo>
                  <a:lnTo>
                    <a:pt x="648567" y="534669"/>
                  </a:lnTo>
                  <a:lnTo>
                    <a:pt x="653088" y="530859"/>
                  </a:lnTo>
                  <a:lnTo>
                    <a:pt x="658105" y="525779"/>
                  </a:lnTo>
                  <a:lnTo>
                    <a:pt x="669090" y="515619"/>
                  </a:lnTo>
                  <a:lnTo>
                    <a:pt x="674437" y="510539"/>
                  </a:lnTo>
                  <a:lnTo>
                    <a:pt x="679618" y="504189"/>
                  </a:lnTo>
                  <a:lnTo>
                    <a:pt x="683976" y="497839"/>
                  </a:lnTo>
                  <a:lnTo>
                    <a:pt x="687827" y="491489"/>
                  </a:lnTo>
                  <a:lnTo>
                    <a:pt x="691172" y="486409"/>
                  </a:lnTo>
                  <a:lnTo>
                    <a:pt x="694008" y="480059"/>
                  </a:lnTo>
                  <a:lnTo>
                    <a:pt x="697449" y="472439"/>
                  </a:lnTo>
                  <a:lnTo>
                    <a:pt x="699164" y="464819"/>
                  </a:lnTo>
                  <a:lnTo>
                    <a:pt x="699215" y="450849"/>
                  </a:lnTo>
                  <a:lnTo>
                    <a:pt x="697094" y="443229"/>
                  </a:lnTo>
                  <a:close/>
                </a:path>
                <a:path w="967740" h="1080770">
                  <a:moveTo>
                    <a:pt x="585880" y="344169"/>
                  </a:moveTo>
                  <a:lnTo>
                    <a:pt x="562359" y="373379"/>
                  </a:lnTo>
                  <a:lnTo>
                    <a:pt x="565826" y="378459"/>
                  </a:lnTo>
                  <a:lnTo>
                    <a:pt x="561077" y="379729"/>
                  </a:lnTo>
                  <a:lnTo>
                    <a:pt x="556492" y="382269"/>
                  </a:lnTo>
                  <a:lnTo>
                    <a:pt x="547627" y="388619"/>
                  </a:lnTo>
                  <a:lnTo>
                    <a:pt x="543424" y="392429"/>
                  </a:lnTo>
                  <a:lnTo>
                    <a:pt x="539449" y="397509"/>
                  </a:lnTo>
                  <a:lnTo>
                    <a:pt x="535054" y="402589"/>
                  </a:lnTo>
                  <a:lnTo>
                    <a:pt x="531943" y="408939"/>
                  </a:lnTo>
                  <a:lnTo>
                    <a:pt x="530114" y="415289"/>
                  </a:lnTo>
                  <a:lnTo>
                    <a:pt x="528285" y="422909"/>
                  </a:lnTo>
                  <a:lnTo>
                    <a:pt x="528006" y="429259"/>
                  </a:lnTo>
                  <a:lnTo>
                    <a:pt x="529276" y="436879"/>
                  </a:lnTo>
                  <a:lnTo>
                    <a:pt x="550608" y="472439"/>
                  </a:lnTo>
                  <a:lnTo>
                    <a:pt x="591454" y="495299"/>
                  </a:lnTo>
                  <a:lnTo>
                    <a:pt x="602072" y="496569"/>
                  </a:lnTo>
                  <a:lnTo>
                    <a:pt x="612045" y="495299"/>
                  </a:lnTo>
                  <a:lnTo>
                    <a:pt x="644401" y="467359"/>
                  </a:lnTo>
                  <a:lnTo>
                    <a:pt x="647195" y="457199"/>
                  </a:lnTo>
                  <a:lnTo>
                    <a:pt x="599888" y="457199"/>
                  </a:lnTo>
                  <a:lnTo>
                    <a:pt x="596459" y="455929"/>
                  </a:lnTo>
                  <a:lnTo>
                    <a:pt x="589690" y="452119"/>
                  </a:lnTo>
                  <a:lnTo>
                    <a:pt x="585867" y="449579"/>
                  </a:lnTo>
                  <a:lnTo>
                    <a:pt x="581613" y="447039"/>
                  </a:lnTo>
                  <a:lnTo>
                    <a:pt x="564315" y="417829"/>
                  </a:lnTo>
                  <a:lnTo>
                    <a:pt x="566334" y="410209"/>
                  </a:lnTo>
                  <a:lnTo>
                    <a:pt x="572164" y="402589"/>
                  </a:lnTo>
                  <a:lnTo>
                    <a:pt x="573916" y="401319"/>
                  </a:lnTo>
                  <a:lnTo>
                    <a:pt x="575910" y="398779"/>
                  </a:lnTo>
                  <a:lnTo>
                    <a:pt x="578133" y="397509"/>
                  </a:lnTo>
                  <a:lnTo>
                    <a:pt x="580355" y="394969"/>
                  </a:lnTo>
                  <a:lnTo>
                    <a:pt x="582425" y="393699"/>
                  </a:lnTo>
                  <a:lnTo>
                    <a:pt x="584318" y="392429"/>
                  </a:lnTo>
                  <a:lnTo>
                    <a:pt x="647036" y="392429"/>
                  </a:lnTo>
                  <a:lnTo>
                    <a:pt x="585880" y="344169"/>
                  </a:lnTo>
                  <a:close/>
                </a:path>
                <a:path w="967740" h="1080770">
                  <a:moveTo>
                    <a:pt x="647036" y="392429"/>
                  </a:moveTo>
                  <a:lnTo>
                    <a:pt x="584318" y="392429"/>
                  </a:lnTo>
                  <a:lnTo>
                    <a:pt x="628818" y="427989"/>
                  </a:lnTo>
                  <a:lnTo>
                    <a:pt x="628679" y="431799"/>
                  </a:lnTo>
                  <a:lnTo>
                    <a:pt x="628018" y="435609"/>
                  </a:lnTo>
                  <a:lnTo>
                    <a:pt x="625669" y="441959"/>
                  </a:lnTo>
                  <a:lnTo>
                    <a:pt x="623992" y="445769"/>
                  </a:lnTo>
                  <a:lnTo>
                    <a:pt x="621821" y="448309"/>
                  </a:lnTo>
                  <a:lnTo>
                    <a:pt x="618912" y="452119"/>
                  </a:lnTo>
                  <a:lnTo>
                    <a:pt x="615941" y="454659"/>
                  </a:lnTo>
                  <a:lnTo>
                    <a:pt x="609921" y="457199"/>
                  </a:lnTo>
                  <a:lnTo>
                    <a:pt x="647195" y="457199"/>
                  </a:lnTo>
                  <a:lnTo>
                    <a:pt x="647894" y="454659"/>
                  </a:lnTo>
                  <a:lnTo>
                    <a:pt x="648618" y="449579"/>
                  </a:lnTo>
                  <a:lnTo>
                    <a:pt x="648326" y="443229"/>
                  </a:lnTo>
                  <a:lnTo>
                    <a:pt x="697094" y="443229"/>
                  </a:lnTo>
                  <a:lnTo>
                    <a:pt x="692826" y="435609"/>
                  </a:lnTo>
                  <a:lnTo>
                    <a:pt x="689174" y="429259"/>
                  </a:lnTo>
                  <a:lnTo>
                    <a:pt x="684616" y="424179"/>
                  </a:lnTo>
                  <a:lnTo>
                    <a:pt x="679153" y="419099"/>
                  </a:lnTo>
                  <a:lnTo>
                    <a:pt x="672786" y="412749"/>
                  </a:lnTo>
                  <a:lnTo>
                    <a:pt x="647036" y="392429"/>
                  </a:lnTo>
                  <a:close/>
                </a:path>
                <a:path w="967740" h="1080770">
                  <a:moveTo>
                    <a:pt x="628374" y="290829"/>
                  </a:moveTo>
                  <a:lnTo>
                    <a:pt x="604092" y="321309"/>
                  </a:lnTo>
                  <a:lnTo>
                    <a:pt x="702275" y="398779"/>
                  </a:lnTo>
                  <a:lnTo>
                    <a:pt x="726558" y="368299"/>
                  </a:lnTo>
                  <a:lnTo>
                    <a:pt x="660810" y="316229"/>
                  </a:lnTo>
                  <a:lnTo>
                    <a:pt x="662169" y="312419"/>
                  </a:lnTo>
                  <a:lnTo>
                    <a:pt x="663782" y="307339"/>
                  </a:lnTo>
                  <a:lnTo>
                    <a:pt x="666271" y="302259"/>
                  </a:lnTo>
                  <a:lnTo>
                    <a:pt x="642458" y="302259"/>
                  </a:lnTo>
                  <a:lnTo>
                    <a:pt x="628374" y="290829"/>
                  </a:lnTo>
                  <a:close/>
                </a:path>
                <a:path w="967740" h="1080770">
                  <a:moveTo>
                    <a:pt x="798509" y="209550"/>
                  </a:moveTo>
                  <a:lnTo>
                    <a:pt x="737429" y="209550"/>
                  </a:lnTo>
                  <a:lnTo>
                    <a:pt x="742852" y="214629"/>
                  </a:lnTo>
                  <a:lnTo>
                    <a:pt x="743372" y="214629"/>
                  </a:lnTo>
                  <a:lnTo>
                    <a:pt x="738665" y="222250"/>
                  </a:lnTo>
                  <a:lnTo>
                    <a:pt x="717553" y="260350"/>
                  </a:lnTo>
                  <a:lnTo>
                    <a:pt x="714226" y="273049"/>
                  </a:lnTo>
                  <a:lnTo>
                    <a:pt x="714455" y="280669"/>
                  </a:lnTo>
                  <a:lnTo>
                    <a:pt x="718811" y="293369"/>
                  </a:lnTo>
                  <a:lnTo>
                    <a:pt x="723535" y="299719"/>
                  </a:lnTo>
                  <a:lnTo>
                    <a:pt x="730825" y="304799"/>
                  </a:lnTo>
                  <a:lnTo>
                    <a:pt x="737609" y="309879"/>
                  </a:lnTo>
                  <a:lnTo>
                    <a:pt x="744682" y="312419"/>
                  </a:lnTo>
                  <a:lnTo>
                    <a:pt x="752044" y="313689"/>
                  </a:lnTo>
                  <a:lnTo>
                    <a:pt x="759692" y="313689"/>
                  </a:lnTo>
                  <a:lnTo>
                    <a:pt x="791836" y="290829"/>
                  </a:lnTo>
                  <a:lnTo>
                    <a:pt x="796484" y="276859"/>
                  </a:lnTo>
                  <a:lnTo>
                    <a:pt x="761597" y="276859"/>
                  </a:lnTo>
                  <a:lnTo>
                    <a:pt x="757457" y="275589"/>
                  </a:lnTo>
                  <a:lnTo>
                    <a:pt x="752847" y="271779"/>
                  </a:lnTo>
                  <a:lnTo>
                    <a:pt x="749710" y="270509"/>
                  </a:lnTo>
                  <a:lnTo>
                    <a:pt x="747779" y="266700"/>
                  </a:lnTo>
                  <a:lnTo>
                    <a:pt x="746344" y="261619"/>
                  </a:lnTo>
                  <a:lnTo>
                    <a:pt x="746586" y="257809"/>
                  </a:lnTo>
                  <a:lnTo>
                    <a:pt x="747779" y="254000"/>
                  </a:lnTo>
                  <a:lnTo>
                    <a:pt x="749126" y="250189"/>
                  </a:lnTo>
                  <a:lnTo>
                    <a:pt x="750878" y="246379"/>
                  </a:lnTo>
                  <a:lnTo>
                    <a:pt x="753050" y="243839"/>
                  </a:lnTo>
                  <a:lnTo>
                    <a:pt x="758092" y="234950"/>
                  </a:lnTo>
                  <a:lnTo>
                    <a:pt x="761686" y="229869"/>
                  </a:lnTo>
                  <a:lnTo>
                    <a:pt x="823953" y="229869"/>
                  </a:lnTo>
                  <a:lnTo>
                    <a:pt x="798509" y="209550"/>
                  </a:lnTo>
                  <a:close/>
                </a:path>
                <a:path w="967740" h="1080770">
                  <a:moveTo>
                    <a:pt x="656416" y="255269"/>
                  </a:moveTo>
                  <a:lnTo>
                    <a:pt x="655514" y="256539"/>
                  </a:lnTo>
                  <a:lnTo>
                    <a:pt x="654536" y="257809"/>
                  </a:lnTo>
                  <a:lnTo>
                    <a:pt x="652479" y="259079"/>
                  </a:lnTo>
                  <a:lnTo>
                    <a:pt x="650789" y="261619"/>
                  </a:lnTo>
                  <a:lnTo>
                    <a:pt x="648707" y="264159"/>
                  </a:lnTo>
                  <a:lnTo>
                    <a:pt x="646979" y="267969"/>
                  </a:lnTo>
                  <a:lnTo>
                    <a:pt x="645608" y="270509"/>
                  </a:lnTo>
                  <a:lnTo>
                    <a:pt x="644224" y="274319"/>
                  </a:lnTo>
                  <a:lnTo>
                    <a:pt x="643335" y="278129"/>
                  </a:lnTo>
                  <a:lnTo>
                    <a:pt x="642915" y="281939"/>
                  </a:lnTo>
                  <a:lnTo>
                    <a:pt x="642458" y="284479"/>
                  </a:lnTo>
                  <a:lnTo>
                    <a:pt x="642306" y="287019"/>
                  </a:lnTo>
                  <a:lnTo>
                    <a:pt x="642280" y="299719"/>
                  </a:lnTo>
                  <a:lnTo>
                    <a:pt x="642458" y="302259"/>
                  </a:lnTo>
                  <a:lnTo>
                    <a:pt x="666271" y="302259"/>
                  </a:lnTo>
                  <a:lnTo>
                    <a:pt x="667515" y="299719"/>
                  </a:lnTo>
                  <a:lnTo>
                    <a:pt x="669712" y="295909"/>
                  </a:lnTo>
                  <a:lnTo>
                    <a:pt x="672265" y="292099"/>
                  </a:lnTo>
                  <a:lnTo>
                    <a:pt x="674386" y="289559"/>
                  </a:lnTo>
                  <a:lnTo>
                    <a:pt x="676431" y="287019"/>
                  </a:lnTo>
                  <a:lnTo>
                    <a:pt x="678399" y="284479"/>
                  </a:lnTo>
                  <a:lnTo>
                    <a:pt x="680355" y="283209"/>
                  </a:lnTo>
                  <a:lnTo>
                    <a:pt x="682006" y="281939"/>
                  </a:lnTo>
                  <a:lnTo>
                    <a:pt x="683340" y="280669"/>
                  </a:lnTo>
                  <a:lnTo>
                    <a:pt x="685346" y="278129"/>
                  </a:lnTo>
                  <a:lnTo>
                    <a:pt x="656416" y="255269"/>
                  </a:lnTo>
                  <a:close/>
                </a:path>
                <a:path w="967740" h="1080770">
                  <a:moveTo>
                    <a:pt x="823953" y="229869"/>
                  </a:moveTo>
                  <a:lnTo>
                    <a:pt x="761686" y="229869"/>
                  </a:lnTo>
                  <a:lnTo>
                    <a:pt x="782146" y="246379"/>
                  </a:lnTo>
                  <a:lnTo>
                    <a:pt x="782552" y="250189"/>
                  </a:lnTo>
                  <a:lnTo>
                    <a:pt x="768976" y="275589"/>
                  </a:lnTo>
                  <a:lnTo>
                    <a:pt x="765293" y="275589"/>
                  </a:lnTo>
                  <a:lnTo>
                    <a:pt x="761597" y="276859"/>
                  </a:lnTo>
                  <a:lnTo>
                    <a:pt x="796484" y="276859"/>
                  </a:lnTo>
                  <a:lnTo>
                    <a:pt x="797309" y="273049"/>
                  </a:lnTo>
                  <a:lnTo>
                    <a:pt x="797678" y="270509"/>
                  </a:lnTo>
                  <a:lnTo>
                    <a:pt x="797360" y="257809"/>
                  </a:lnTo>
                  <a:lnTo>
                    <a:pt x="814803" y="257809"/>
                  </a:lnTo>
                  <a:lnTo>
                    <a:pt x="831904" y="236219"/>
                  </a:lnTo>
                  <a:lnTo>
                    <a:pt x="823953" y="229869"/>
                  </a:lnTo>
                  <a:close/>
                </a:path>
                <a:path w="967740" h="1080770">
                  <a:moveTo>
                    <a:pt x="814803" y="257809"/>
                  </a:moveTo>
                  <a:lnTo>
                    <a:pt x="797360" y="257809"/>
                  </a:lnTo>
                  <a:lnTo>
                    <a:pt x="807761" y="266700"/>
                  </a:lnTo>
                  <a:lnTo>
                    <a:pt x="814803" y="257809"/>
                  </a:lnTo>
                  <a:close/>
                </a:path>
                <a:path w="967740" h="1080770">
                  <a:moveTo>
                    <a:pt x="738963" y="172719"/>
                  </a:moveTo>
                  <a:lnTo>
                    <a:pt x="702318" y="193039"/>
                  </a:lnTo>
                  <a:lnTo>
                    <a:pt x="677967" y="226059"/>
                  </a:lnTo>
                  <a:lnTo>
                    <a:pt x="673802" y="233679"/>
                  </a:lnTo>
                  <a:lnTo>
                    <a:pt x="670944" y="238759"/>
                  </a:lnTo>
                  <a:lnTo>
                    <a:pt x="669408" y="243839"/>
                  </a:lnTo>
                  <a:lnTo>
                    <a:pt x="693106" y="261619"/>
                  </a:lnTo>
                  <a:lnTo>
                    <a:pt x="695189" y="259079"/>
                  </a:lnTo>
                  <a:lnTo>
                    <a:pt x="696802" y="252729"/>
                  </a:lnTo>
                  <a:lnTo>
                    <a:pt x="698872" y="246379"/>
                  </a:lnTo>
                  <a:lnTo>
                    <a:pt x="703926" y="234950"/>
                  </a:lnTo>
                  <a:lnTo>
                    <a:pt x="706631" y="231139"/>
                  </a:lnTo>
                  <a:lnTo>
                    <a:pt x="709502" y="227329"/>
                  </a:lnTo>
                  <a:lnTo>
                    <a:pt x="715839" y="218439"/>
                  </a:lnTo>
                  <a:lnTo>
                    <a:pt x="721617" y="213359"/>
                  </a:lnTo>
                  <a:lnTo>
                    <a:pt x="726862" y="212089"/>
                  </a:lnTo>
                  <a:lnTo>
                    <a:pt x="732095" y="209550"/>
                  </a:lnTo>
                  <a:lnTo>
                    <a:pt x="798509" y="209550"/>
                  </a:lnTo>
                  <a:lnTo>
                    <a:pt x="765115" y="182879"/>
                  </a:lnTo>
                  <a:lnTo>
                    <a:pt x="756437" y="176529"/>
                  </a:lnTo>
                  <a:lnTo>
                    <a:pt x="747721" y="173989"/>
                  </a:lnTo>
                  <a:lnTo>
                    <a:pt x="738963" y="172719"/>
                  </a:lnTo>
                  <a:close/>
                </a:path>
                <a:path w="967740" h="1080770">
                  <a:moveTo>
                    <a:pt x="776177" y="104139"/>
                  </a:moveTo>
                  <a:lnTo>
                    <a:pt x="751894" y="134619"/>
                  </a:lnTo>
                  <a:lnTo>
                    <a:pt x="850078" y="213359"/>
                  </a:lnTo>
                  <a:lnTo>
                    <a:pt x="874360" y="181609"/>
                  </a:lnTo>
                  <a:lnTo>
                    <a:pt x="804764" y="127000"/>
                  </a:lnTo>
                  <a:lnTo>
                    <a:pt x="805006" y="123189"/>
                  </a:lnTo>
                  <a:lnTo>
                    <a:pt x="805475" y="119379"/>
                  </a:lnTo>
                  <a:lnTo>
                    <a:pt x="806949" y="113029"/>
                  </a:lnTo>
                  <a:lnTo>
                    <a:pt x="787022" y="113029"/>
                  </a:lnTo>
                  <a:lnTo>
                    <a:pt x="776177" y="104139"/>
                  </a:lnTo>
                  <a:close/>
                </a:path>
                <a:path w="967740" h="1080770">
                  <a:moveTo>
                    <a:pt x="891861" y="100329"/>
                  </a:moveTo>
                  <a:lnTo>
                    <a:pt x="822836" y="100329"/>
                  </a:lnTo>
                  <a:lnTo>
                    <a:pt x="828412" y="101600"/>
                  </a:lnTo>
                  <a:lnTo>
                    <a:pt x="831574" y="104139"/>
                  </a:lnTo>
                  <a:lnTo>
                    <a:pt x="835079" y="105409"/>
                  </a:lnTo>
                  <a:lnTo>
                    <a:pt x="838597" y="107950"/>
                  </a:lnTo>
                  <a:lnTo>
                    <a:pt x="842737" y="111759"/>
                  </a:lnTo>
                  <a:lnTo>
                    <a:pt x="896573" y="154939"/>
                  </a:lnTo>
                  <a:lnTo>
                    <a:pt x="920995" y="123189"/>
                  </a:lnTo>
                  <a:lnTo>
                    <a:pt x="891861" y="100329"/>
                  </a:lnTo>
                  <a:close/>
                </a:path>
                <a:path w="967740" h="1080770">
                  <a:moveTo>
                    <a:pt x="826900" y="58419"/>
                  </a:moveTo>
                  <a:lnTo>
                    <a:pt x="819890" y="58419"/>
                  </a:lnTo>
                  <a:lnTo>
                    <a:pt x="806961" y="62229"/>
                  </a:lnTo>
                  <a:lnTo>
                    <a:pt x="801348" y="67309"/>
                  </a:lnTo>
                  <a:lnTo>
                    <a:pt x="796573" y="73659"/>
                  </a:lnTo>
                  <a:lnTo>
                    <a:pt x="792179" y="78739"/>
                  </a:lnTo>
                  <a:lnTo>
                    <a:pt x="789423" y="85089"/>
                  </a:lnTo>
                  <a:lnTo>
                    <a:pt x="787175" y="97789"/>
                  </a:lnTo>
                  <a:lnTo>
                    <a:pt x="786916" y="101600"/>
                  </a:lnTo>
                  <a:lnTo>
                    <a:pt x="786863" y="107950"/>
                  </a:lnTo>
                  <a:lnTo>
                    <a:pt x="787022" y="113029"/>
                  </a:lnTo>
                  <a:lnTo>
                    <a:pt x="806949" y="113029"/>
                  </a:lnTo>
                  <a:lnTo>
                    <a:pt x="808308" y="110489"/>
                  </a:lnTo>
                  <a:lnTo>
                    <a:pt x="810289" y="107950"/>
                  </a:lnTo>
                  <a:lnTo>
                    <a:pt x="812880" y="105409"/>
                  </a:lnTo>
                  <a:lnTo>
                    <a:pt x="815381" y="102869"/>
                  </a:lnTo>
                  <a:lnTo>
                    <a:pt x="820220" y="100329"/>
                  </a:lnTo>
                  <a:lnTo>
                    <a:pt x="891861" y="100329"/>
                  </a:lnTo>
                  <a:lnTo>
                    <a:pt x="851399" y="68579"/>
                  </a:lnTo>
                  <a:lnTo>
                    <a:pt x="851665" y="64769"/>
                  </a:lnTo>
                  <a:lnTo>
                    <a:pt x="852186" y="60959"/>
                  </a:lnTo>
                  <a:lnTo>
                    <a:pt x="834444" y="60959"/>
                  </a:lnTo>
                  <a:lnTo>
                    <a:pt x="826900" y="58419"/>
                  </a:lnTo>
                  <a:close/>
                </a:path>
                <a:path w="967740" h="1080770">
                  <a:moveTo>
                    <a:pt x="938871" y="41909"/>
                  </a:moveTo>
                  <a:lnTo>
                    <a:pt x="869534" y="41909"/>
                  </a:lnTo>
                  <a:lnTo>
                    <a:pt x="875122" y="43179"/>
                  </a:lnTo>
                  <a:lnTo>
                    <a:pt x="878246" y="44450"/>
                  </a:lnTo>
                  <a:lnTo>
                    <a:pt x="881701" y="46989"/>
                  </a:lnTo>
                  <a:lnTo>
                    <a:pt x="889321" y="53339"/>
                  </a:lnTo>
                  <a:lnTo>
                    <a:pt x="894160" y="57150"/>
                  </a:lnTo>
                  <a:lnTo>
                    <a:pt x="943207" y="95250"/>
                  </a:lnTo>
                  <a:lnTo>
                    <a:pt x="967629" y="64769"/>
                  </a:lnTo>
                  <a:lnTo>
                    <a:pt x="938871" y="41909"/>
                  </a:lnTo>
                  <a:close/>
                </a:path>
                <a:path w="967740" h="1080770">
                  <a:moveTo>
                    <a:pt x="879656" y="0"/>
                  </a:moveTo>
                  <a:lnTo>
                    <a:pt x="864048" y="0"/>
                  </a:lnTo>
                  <a:lnTo>
                    <a:pt x="859438" y="1269"/>
                  </a:lnTo>
                  <a:lnTo>
                    <a:pt x="835028" y="34289"/>
                  </a:lnTo>
                  <a:lnTo>
                    <a:pt x="834099" y="54609"/>
                  </a:lnTo>
                  <a:lnTo>
                    <a:pt x="834444" y="60959"/>
                  </a:lnTo>
                  <a:lnTo>
                    <a:pt x="852186" y="60959"/>
                  </a:lnTo>
                  <a:lnTo>
                    <a:pt x="853761" y="54609"/>
                  </a:lnTo>
                  <a:lnTo>
                    <a:pt x="855069" y="52069"/>
                  </a:lnTo>
                  <a:lnTo>
                    <a:pt x="859565" y="45719"/>
                  </a:lnTo>
                  <a:lnTo>
                    <a:pt x="862092" y="43179"/>
                  </a:lnTo>
                  <a:lnTo>
                    <a:pt x="864505" y="43179"/>
                  </a:lnTo>
                  <a:lnTo>
                    <a:pt x="866931" y="41909"/>
                  </a:lnTo>
                  <a:lnTo>
                    <a:pt x="938871" y="41909"/>
                  </a:lnTo>
                  <a:lnTo>
                    <a:pt x="903723" y="13969"/>
                  </a:lnTo>
                  <a:lnTo>
                    <a:pt x="896725" y="8889"/>
                  </a:lnTo>
                  <a:lnTo>
                    <a:pt x="890515" y="5079"/>
                  </a:lnTo>
                  <a:lnTo>
                    <a:pt x="8796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20128" y="2006727"/>
              <a:ext cx="1194435" cy="1612900"/>
            </a:xfrm>
            <a:custGeom>
              <a:avLst/>
              <a:gdLst/>
              <a:ahLst/>
              <a:cxnLst/>
              <a:rect l="l" t="t" r="r" b="b"/>
              <a:pathLst>
                <a:path w="1194434" h="1612900">
                  <a:moveTo>
                    <a:pt x="1192529" y="1511300"/>
                  </a:moveTo>
                  <a:lnTo>
                    <a:pt x="1131824" y="1511300"/>
                  </a:lnTo>
                  <a:lnTo>
                    <a:pt x="1121537" y="1524000"/>
                  </a:lnTo>
                  <a:lnTo>
                    <a:pt x="1116329" y="1524000"/>
                  </a:lnTo>
                  <a:lnTo>
                    <a:pt x="1043558" y="1574800"/>
                  </a:lnTo>
                  <a:lnTo>
                    <a:pt x="1074293" y="1612900"/>
                  </a:lnTo>
                  <a:lnTo>
                    <a:pt x="1162430" y="1549400"/>
                  </a:lnTo>
                  <a:lnTo>
                    <a:pt x="1173670" y="1549400"/>
                  </a:lnTo>
                  <a:lnTo>
                    <a:pt x="1182433" y="1536700"/>
                  </a:lnTo>
                  <a:lnTo>
                    <a:pt x="1188720" y="1524000"/>
                  </a:lnTo>
                  <a:lnTo>
                    <a:pt x="1192529" y="1511300"/>
                  </a:lnTo>
                  <a:close/>
                </a:path>
                <a:path w="1194434" h="1612900">
                  <a:moveTo>
                    <a:pt x="1118235" y="1397000"/>
                  </a:moveTo>
                  <a:lnTo>
                    <a:pt x="982599" y="1485900"/>
                  </a:lnTo>
                  <a:lnTo>
                    <a:pt x="1013078" y="1536700"/>
                  </a:lnTo>
                  <a:lnTo>
                    <a:pt x="1109218" y="1460500"/>
                  </a:lnTo>
                  <a:lnTo>
                    <a:pt x="1155767" y="1460500"/>
                  </a:lnTo>
                  <a:lnTo>
                    <a:pt x="1148937" y="1447800"/>
                  </a:lnTo>
                  <a:lnTo>
                    <a:pt x="1133728" y="1447800"/>
                  </a:lnTo>
                  <a:lnTo>
                    <a:pt x="1148715" y="1435100"/>
                  </a:lnTo>
                  <a:lnTo>
                    <a:pt x="1118235" y="1397000"/>
                  </a:lnTo>
                  <a:close/>
                </a:path>
                <a:path w="1194434" h="1612900">
                  <a:moveTo>
                    <a:pt x="1182751" y="1473200"/>
                  </a:moveTo>
                  <a:lnTo>
                    <a:pt x="1130553" y="1473200"/>
                  </a:lnTo>
                  <a:lnTo>
                    <a:pt x="1133094" y="1485900"/>
                  </a:lnTo>
                  <a:lnTo>
                    <a:pt x="1138301" y="1485900"/>
                  </a:lnTo>
                  <a:lnTo>
                    <a:pt x="1139571" y="1498600"/>
                  </a:lnTo>
                  <a:lnTo>
                    <a:pt x="1136903" y="1498600"/>
                  </a:lnTo>
                  <a:lnTo>
                    <a:pt x="1135252" y="1511300"/>
                  </a:lnTo>
                  <a:lnTo>
                    <a:pt x="1193841" y="1511300"/>
                  </a:lnTo>
                  <a:lnTo>
                    <a:pt x="1192641" y="1498600"/>
                  </a:lnTo>
                  <a:lnTo>
                    <a:pt x="1188940" y="1485900"/>
                  </a:lnTo>
                  <a:lnTo>
                    <a:pt x="1182751" y="1473200"/>
                  </a:lnTo>
                  <a:close/>
                </a:path>
                <a:path w="1194434" h="1612900">
                  <a:moveTo>
                    <a:pt x="1173210" y="1460500"/>
                  </a:moveTo>
                  <a:lnTo>
                    <a:pt x="1109218" y="1460500"/>
                  </a:lnTo>
                  <a:lnTo>
                    <a:pt x="1114932" y="1473200"/>
                  </a:lnTo>
                  <a:lnTo>
                    <a:pt x="1178177" y="1473200"/>
                  </a:lnTo>
                  <a:lnTo>
                    <a:pt x="1173210" y="1460500"/>
                  </a:lnTo>
                  <a:close/>
                </a:path>
                <a:path w="1194434" h="1612900">
                  <a:moveTo>
                    <a:pt x="1045638" y="1282700"/>
                  </a:moveTo>
                  <a:lnTo>
                    <a:pt x="995080" y="1282700"/>
                  </a:lnTo>
                  <a:lnTo>
                    <a:pt x="1000125" y="1295400"/>
                  </a:lnTo>
                  <a:lnTo>
                    <a:pt x="1011808" y="1295400"/>
                  </a:lnTo>
                  <a:lnTo>
                    <a:pt x="1015492" y="1308100"/>
                  </a:lnTo>
                  <a:lnTo>
                    <a:pt x="1020776" y="1320800"/>
                  </a:lnTo>
                  <a:lnTo>
                    <a:pt x="1024810" y="1320800"/>
                  </a:lnTo>
                  <a:lnTo>
                    <a:pt x="1027582" y="1333500"/>
                  </a:lnTo>
                  <a:lnTo>
                    <a:pt x="1029080" y="1333500"/>
                  </a:lnTo>
                  <a:lnTo>
                    <a:pt x="1030224" y="1346200"/>
                  </a:lnTo>
                  <a:lnTo>
                    <a:pt x="1027049" y="1346200"/>
                  </a:lnTo>
                  <a:lnTo>
                    <a:pt x="1019555" y="1358900"/>
                  </a:lnTo>
                  <a:lnTo>
                    <a:pt x="978789" y="1358900"/>
                  </a:lnTo>
                  <a:lnTo>
                    <a:pt x="987298" y="1371600"/>
                  </a:lnTo>
                  <a:lnTo>
                    <a:pt x="993140" y="1371600"/>
                  </a:lnTo>
                  <a:lnTo>
                    <a:pt x="964946" y="1397000"/>
                  </a:lnTo>
                  <a:lnTo>
                    <a:pt x="924051" y="1397000"/>
                  </a:lnTo>
                  <a:lnTo>
                    <a:pt x="928243" y="1409700"/>
                  </a:lnTo>
                  <a:lnTo>
                    <a:pt x="943864" y="1409700"/>
                  </a:lnTo>
                  <a:lnTo>
                    <a:pt x="929513" y="1422400"/>
                  </a:lnTo>
                  <a:lnTo>
                    <a:pt x="959866" y="1460500"/>
                  </a:lnTo>
                  <a:lnTo>
                    <a:pt x="1052068" y="1397000"/>
                  </a:lnTo>
                  <a:lnTo>
                    <a:pt x="1074499" y="1358900"/>
                  </a:lnTo>
                  <a:lnTo>
                    <a:pt x="1076071" y="1346200"/>
                  </a:lnTo>
                  <a:lnTo>
                    <a:pt x="1074570" y="1333500"/>
                  </a:lnTo>
                  <a:lnTo>
                    <a:pt x="1069879" y="1320800"/>
                  </a:lnTo>
                  <a:lnTo>
                    <a:pt x="1061997" y="1308100"/>
                  </a:lnTo>
                  <a:lnTo>
                    <a:pt x="1050925" y="1295400"/>
                  </a:lnTo>
                  <a:lnTo>
                    <a:pt x="1045638" y="1282700"/>
                  </a:lnTo>
                  <a:close/>
                </a:path>
                <a:path w="1194434" h="1612900">
                  <a:moveTo>
                    <a:pt x="954658" y="1384300"/>
                  </a:moveTo>
                  <a:lnTo>
                    <a:pt x="903604" y="1384300"/>
                  </a:lnTo>
                  <a:lnTo>
                    <a:pt x="910717" y="1397000"/>
                  </a:lnTo>
                  <a:lnTo>
                    <a:pt x="959612" y="1397000"/>
                  </a:lnTo>
                  <a:lnTo>
                    <a:pt x="954658" y="1384300"/>
                  </a:lnTo>
                  <a:close/>
                </a:path>
                <a:path w="1194434" h="1612900">
                  <a:moveTo>
                    <a:pt x="1004522" y="1333500"/>
                  </a:moveTo>
                  <a:lnTo>
                    <a:pt x="885317" y="1333500"/>
                  </a:lnTo>
                  <a:lnTo>
                    <a:pt x="884626" y="1346200"/>
                  </a:lnTo>
                  <a:lnTo>
                    <a:pt x="885983" y="1358900"/>
                  </a:lnTo>
                  <a:lnTo>
                    <a:pt x="889388" y="1371600"/>
                  </a:lnTo>
                  <a:lnTo>
                    <a:pt x="894842" y="1384300"/>
                  </a:lnTo>
                  <a:lnTo>
                    <a:pt x="939546" y="1384300"/>
                  </a:lnTo>
                  <a:lnTo>
                    <a:pt x="934720" y="1371600"/>
                  </a:lnTo>
                  <a:lnTo>
                    <a:pt x="932179" y="1371600"/>
                  </a:lnTo>
                  <a:lnTo>
                    <a:pt x="932052" y="1358900"/>
                  </a:lnTo>
                  <a:lnTo>
                    <a:pt x="935101" y="1346200"/>
                  </a:lnTo>
                  <a:lnTo>
                    <a:pt x="1011604" y="1346200"/>
                  </a:lnTo>
                  <a:lnTo>
                    <a:pt x="1004522" y="1333500"/>
                  </a:lnTo>
                  <a:close/>
                </a:path>
                <a:path w="1194434" h="1612900">
                  <a:moveTo>
                    <a:pt x="1011604" y="1346200"/>
                  </a:moveTo>
                  <a:lnTo>
                    <a:pt x="970915" y="1346200"/>
                  </a:lnTo>
                  <a:lnTo>
                    <a:pt x="974978" y="1358900"/>
                  </a:lnTo>
                  <a:lnTo>
                    <a:pt x="1018794" y="1358900"/>
                  </a:lnTo>
                  <a:lnTo>
                    <a:pt x="1011604" y="1346200"/>
                  </a:lnTo>
                  <a:close/>
                </a:path>
                <a:path w="1194434" h="1612900">
                  <a:moveTo>
                    <a:pt x="976995" y="1308100"/>
                  </a:moveTo>
                  <a:lnTo>
                    <a:pt x="898943" y="1308100"/>
                  </a:lnTo>
                  <a:lnTo>
                    <a:pt x="892571" y="1320800"/>
                  </a:lnTo>
                  <a:lnTo>
                    <a:pt x="888033" y="1333500"/>
                  </a:lnTo>
                  <a:lnTo>
                    <a:pt x="997559" y="1333500"/>
                  </a:lnTo>
                  <a:lnTo>
                    <a:pt x="990726" y="1320800"/>
                  </a:lnTo>
                  <a:lnTo>
                    <a:pt x="983867" y="1320800"/>
                  </a:lnTo>
                  <a:lnTo>
                    <a:pt x="976995" y="1308100"/>
                  </a:lnTo>
                  <a:close/>
                </a:path>
                <a:path w="1194434" h="1612900">
                  <a:moveTo>
                    <a:pt x="1009903" y="1130300"/>
                  </a:moveTo>
                  <a:lnTo>
                    <a:pt x="822198" y="1270000"/>
                  </a:lnTo>
                  <a:lnTo>
                    <a:pt x="852677" y="1308100"/>
                  </a:lnTo>
                  <a:lnTo>
                    <a:pt x="1040383" y="1181100"/>
                  </a:lnTo>
                  <a:lnTo>
                    <a:pt x="1009903" y="1130300"/>
                  </a:lnTo>
                  <a:close/>
                </a:path>
                <a:path w="1194434" h="1612900">
                  <a:moveTo>
                    <a:pt x="963168" y="1295400"/>
                  </a:moveTo>
                  <a:lnTo>
                    <a:pt x="914612" y="1295400"/>
                  </a:lnTo>
                  <a:lnTo>
                    <a:pt x="907161" y="1308100"/>
                  </a:lnTo>
                  <a:lnTo>
                    <a:pt x="970099" y="1308100"/>
                  </a:lnTo>
                  <a:lnTo>
                    <a:pt x="963168" y="1295400"/>
                  </a:lnTo>
                  <a:close/>
                </a:path>
                <a:path w="1194434" h="1612900">
                  <a:moveTo>
                    <a:pt x="1009142" y="1244600"/>
                  </a:moveTo>
                  <a:lnTo>
                    <a:pt x="976502" y="1270000"/>
                  </a:lnTo>
                  <a:lnTo>
                    <a:pt x="979043" y="1282700"/>
                  </a:lnTo>
                  <a:lnTo>
                    <a:pt x="1040066" y="1282700"/>
                  </a:lnTo>
                  <a:lnTo>
                    <a:pt x="1034208" y="1270000"/>
                  </a:lnTo>
                  <a:lnTo>
                    <a:pt x="1028065" y="1270000"/>
                  </a:lnTo>
                  <a:lnTo>
                    <a:pt x="1022161" y="1257300"/>
                  </a:lnTo>
                  <a:lnTo>
                    <a:pt x="1012688" y="1257300"/>
                  </a:lnTo>
                  <a:lnTo>
                    <a:pt x="1009142" y="1244600"/>
                  </a:lnTo>
                  <a:close/>
                </a:path>
                <a:path w="1194434" h="1612900">
                  <a:moveTo>
                    <a:pt x="904240" y="1092200"/>
                  </a:moveTo>
                  <a:lnTo>
                    <a:pt x="768603" y="1193800"/>
                  </a:lnTo>
                  <a:lnTo>
                    <a:pt x="799083" y="1231900"/>
                  </a:lnTo>
                  <a:lnTo>
                    <a:pt x="934720" y="1143000"/>
                  </a:lnTo>
                  <a:lnTo>
                    <a:pt x="904240" y="1092200"/>
                  </a:lnTo>
                  <a:close/>
                </a:path>
                <a:path w="1194434" h="1612900">
                  <a:moveTo>
                    <a:pt x="848312" y="1092200"/>
                  </a:moveTo>
                  <a:lnTo>
                    <a:pt x="697865" y="1092200"/>
                  </a:lnTo>
                  <a:lnTo>
                    <a:pt x="700024" y="1104900"/>
                  </a:lnTo>
                  <a:lnTo>
                    <a:pt x="703452" y="1104900"/>
                  </a:lnTo>
                  <a:lnTo>
                    <a:pt x="708278" y="1117600"/>
                  </a:lnTo>
                  <a:lnTo>
                    <a:pt x="717925" y="1130300"/>
                  </a:lnTo>
                  <a:lnTo>
                    <a:pt x="729345" y="1130300"/>
                  </a:lnTo>
                  <a:lnTo>
                    <a:pt x="742551" y="1143000"/>
                  </a:lnTo>
                  <a:lnTo>
                    <a:pt x="789543" y="1143000"/>
                  </a:lnTo>
                  <a:lnTo>
                    <a:pt x="821817" y="1117600"/>
                  </a:lnTo>
                  <a:lnTo>
                    <a:pt x="836487" y="1104900"/>
                  </a:lnTo>
                  <a:lnTo>
                    <a:pt x="848312" y="1092200"/>
                  </a:lnTo>
                  <a:close/>
                </a:path>
                <a:path w="1194434" h="1612900">
                  <a:moveTo>
                    <a:pt x="955548" y="1054100"/>
                  </a:moveTo>
                  <a:lnTo>
                    <a:pt x="922654" y="1079500"/>
                  </a:lnTo>
                  <a:lnTo>
                    <a:pt x="954786" y="1130300"/>
                  </a:lnTo>
                  <a:lnTo>
                    <a:pt x="987805" y="1104900"/>
                  </a:lnTo>
                  <a:lnTo>
                    <a:pt x="955548" y="1054100"/>
                  </a:lnTo>
                  <a:close/>
                </a:path>
                <a:path w="1194434" h="1612900">
                  <a:moveTo>
                    <a:pt x="791845" y="939800"/>
                  </a:moveTo>
                  <a:lnTo>
                    <a:pt x="606551" y="1079500"/>
                  </a:lnTo>
                  <a:lnTo>
                    <a:pt x="637031" y="1117600"/>
                  </a:lnTo>
                  <a:lnTo>
                    <a:pt x="693547" y="1079500"/>
                  </a:lnTo>
                  <a:lnTo>
                    <a:pt x="724789" y="1079500"/>
                  </a:lnTo>
                  <a:lnTo>
                    <a:pt x="722629" y="1066800"/>
                  </a:lnTo>
                  <a:lnTo>
                    <a:pt x="718439" y="1066800"/>
                  </a:lnTo>
                  <a:lnTo>
                    <a:pt x="717803" y="1054100"/>
                  </a:lnTo>
                  <a:lnTo>
                    <a:pt x="786002" y="1016000"/>
                  </a:lnTo>
                  <a:lnTo>
                    <a:pt x="846026" y="1016000"/>
                  </a:lnTo>
                  <a:lnTo>
                    <a:pt x="840583" y="1003300"/>
                  </a:lnTo>
                  <a:lnTo>
                    <a:pt x="822213" y="1003300"/>
                  </a:lnTo>
                  <a:lnTo>
                    <a:pt x="815393" y="990600"/>
                  </a:lnTo>
                  <a:lnTo>
                    <a:pt x="822325" y="990600"/>
                  </a:lnTo>
                  <a:lnTo>
                    <a:pt x="791845" y="939800"/>
                  </a:lnTo>
                  <a:close/>
                </a:path>
                <a:path w="1194434" h="1612900">
                  <a:moveTo>
                    <a:pt x="733264" y="1079500"/>
                  </a:moveTo>
                  <a:lnTo>
                    <a:pt x="694436" y="1079500"/>
                  </a:lnTo>
                  <a:lnTo>
                    <a:pt x="695832" y="1092200"/>
                  </a:lnTo>
                  <a:lnTo>
                    <a:pt x="739632" y="1092200"/>
                  </a:lnTo>
                  <a:lnTo>
                    <a:pt x="733264" y="1079500"/>
                  </a:lnTo>
                  <a:close/>
                </a:path>
                <a:path w="1194434" h="1612900">
                  <a:moveTo>
                    <a:pt x="862687" y="1028700"/>
                  </a:moveTo>
                  <a:lnTo>
                    <a:pt x="813159" y="1028700"/>
                  </a:lnTo>
                  <a:lnTo>
                    <a:pt x="815197" y="1041400"/>
                  </a:lnTo>
                  <a:lnTo>
                    <a:pt x="815496" y="1041400"/>
                  </a:lnTo>
                  <a:lnTo>
                    <a:pt x="814070" y="1054100"/>
                  </a:lnTo>
                  <a:lnTo>
                    <a:pt x="810904" y="1054100"/>
                  </a:lnTo>
                  <a:lnTo>
                    <a:pt x="805799" y="1066800"/>
                  </a:lnTo>
                  <a:lnTo>
                    <a:pt x="798764" y="1066800"/>
                  </a:lnTo>
                  <a:lnTo>
                    <a:pt x="789813" y="1079500"/>
                  </a:lnTo>
                  <a:lnTo>
                    <a:pt x="779948" y="1092200"/>
                  </a:lnTo>
                  <a:lnTo>
                    <a:pt x="857303" y="1092200"/>
                  </a:lnTo>
                  <a:lnTo>
                    <a:pt x="863473" y="1066800"/>
                  </a:lnTo>
                  <a:lnTo>
                    <a:pt x="866497" y="1054100"/>
                  </a:lnTo>
                  <a:lnTo>
                    <a:pt x="866235" y="1041400"/>
                  </a:lnTo>
                  <a:lnTo>
                    <a:pt x="862687" y="1028700"/>
                  </a:lnTo>
                  <a:close/>
                </a:path>
                <a:path w="1194434" h="1612900">
                  <a:moveTo>
                    <a:pt x="851112" y="1016000"/>
                  </a:moveTo>
                  <a:lnTo>
                    <a:pt x="803275" y="1016000"/>
                  </a:lnTo>
                  <a:lnTo>
                    <a:pt x="806576" y="1028700"/>
                  </a:lnTo>
                  <a:lnTo>
                    <a:pt x="855852" y="1028700"/>
                  </a:lnTo>
                  <a:lnTo>
                    <a:pt x="851112" y="1016000"/>
                  </a:lnTo>
                  <a:close/>
                </a:path>
                <a:path w="1194434" h="1612900">
                  <a:moveTo>
                    <a:pt x="748665" y="914400"/>
                  </a:moveTo>
                  <a:lnTo>
                    <a:pt x="671449" y="914400"/>
                  </a:lnTo>
                  <a:lnTo>
                    <a:pt x="603757" y="965200"/>
                  </a:lnTo>
                  <a:lnTo>
                    <a:pt x="634365" y="1003300"/>
                  </a:lnTo>
                  <a:lnTo>
                    <a:pt x="722629" y="939800"/>
                  </a:lnTo>
                  <a:lnTo>
                    <a:pt x="735218" y="939800"/>
                  </a:lnTo>
                  <a:lnTo>
                    <a:pt x="740114" y="927100"/>
                  </a:lnTo>
                  <a:lnTo>
                    <a:pt x="744093" y="927100"/>
                  </a:lnTo>
                  <a:lnTo>
                    <a:pt x="748665" y="914400"/>
                  </a:lnTo>
                  <a:close/>
                </a:path>
                <a:path w="1194434" h="1612900">
                  <a:moveTo>
                    <a:pt x="697906" y="838200"/>
                  </a:moveTo>
                  <a:lnTo>
                    <a:pt x="612901" y="838200"/>
                  </a:lnTo>
                  <a:lnTo>
                    <a:pt x="545211" y="889000"/>
                  </a:lnTo>
                  <a:lnTo>
                    <a:pt x="575818" y="927100"/>
                  </a:lnTo>
                  <a:lnTo>
                    <a:pt x="671956" y="863600"/>
                  </a:lnTo>
                  <a:lnTo>
                    <a:pt x="734663" y="863600"/>
                  </a:lnTo>
                  <a:lnTo>
                    <a:pt x="728825" y="850900"/>
                  </a:lnTo>
                  <a:lnTo>
                    <a:pt x="706802" y="850900"/>
                  </a:lnTo>
                  <a:lnTo>
                    <a:pt x="697906" y="838200"/>
                  </a:lnTo>
                  <a:close/>
                </a:path>
                <a:path w="1194434" h="1612900">
                  <a:moveTo>
                    <a:pt x="753364" y="901700"/>
                  </a:moveTo>
                  <a:lnTo>
                    <a:pt x="692530" y="901700"/>
                  </a:lnTo>
                  <a:lnTo>
                    <a:pt x="683641" y="914400"/>
                  </a:lnTo>
                  <a:lnTo>
                    <a:pt x="751840" y="914400"/>
                  </a:lnTo>
                  <a:lnTo>
                    <a:pt x="753364" y="901700"/>
                  </a:lnTo>
                  <a:close/>
                </a:path>
                <a:path w="1194434" h="1612900">
                  <a:moveTo>
                    <a:pt x="754888" y="889000"/>
                  </a:moveTo>
                  <a:lnTo>
                    <a:pt x="699770" y="889000"/>
                  </a:lnTo>
                  <a:lnTo>
                    <a:pt x="695705" y="901700"/>
                  </a:lnTo>
                  <a:lnTo>
                    <a:pt x="754888" y="901700"/>
                  </a:lnTo>
                  <a:lnTo>
                    <a:pt x="754888" y="889000"/>
                  </a:lnTo>
                  <a:close/>
                </a:path>
                <a:path w="1194434" h="1612900">
                  <a:moveTo>
                    <a:pt x="751713" y="876300"/>
                  </a:moveTo>
                  <a:lnTo>
                    <a:pt x="699516" y="876300"/>
                  </a:lnTo>
                  <a:lnTo>
                    <a:pt x="700531" y="889000"/>
                  </a:lnTo>
                  <a:lnTo>
                    <a:pt x="753364" y="889000"/>
                  </a:lnTo>
                  <a:lnTo>
                    <a:pt x="751713" y="876300"/>
                  </a:lnTo>
                  <a:close/>
                </a:path>
                <a:path w="1194434" h="1612900">
                  <a:moveTo>
                    <a:pt x="744220" y="863600"/>
                  </a:moveTo>
                  <a:lnTo>
                    <a:pt x="692023" y="863600"/>
                  </a:lnTo>
                  <a:lnTo>
                    <a:pt x="694308" y="876300"/>
                  </a:lnTo>
                  <a:lnTo>
                    <a:pt x="748665" y="876300"/>
                  </a:lnTo>
                  <a:lnTo>
                    <a:pt x="744220" y="863600"/>
                  </a:lnTo>
                  <a:close/>
                </a:path>
                <a:path w="1194434" h="1612900">
                  <a:moveTo>
                    <a:pt x="622426" y="711200"/>
                  </a:moveTo>
                  <a:lnTo>
                    <a:pt x="486918" y="800100"/>
                  </a:lnTo>
                  <a:lnTo>
                    <a:pt x="517398" y="850900"/>
                  </a:lnTo>
                  <a:lnTo>
                    <a:pt x="613410" y="774700"/>
                  </a:lnTo>
                  <a:lnTo>
                    <a:pt x="665861" y="774700"/>
                  </a:lnTo>
                  <a:lnTo>
                    <a:pt x="659763" y="762000"/>
                  </a:lnTo>
                  <a:lnTo>
                    <a:pt x="637921" y="762000"/>
                  </a:lnTo>
                  <a:lnTo>
                    <a:pt x="652906" y="749300"/>
                  </a:lnTo>
                  <a:lnTo>
                    <a:pt x="622426" y="711200"/>
                  </a:lnTo>
                  <a:close/>
                </a:path>
                <a:path w="1194434" h="1612900">
                  <a:moveTo>
                    <a:pt x="694118" y="825500"/>
                  </a:moveTo>
                  <a:lnTo>
                    <a:pt x="625094" y="825500"/>
                  </a:lnTo>
                  <a:lnTo>
                    <a:pt x="619505" y="838200"/>
                  </a:lnTo>
                  <a:lnTo>
                    <a:pt x="691737" y="838200"/>
                  </a:lnTo>
                  <a:lnTo>
                    <a:pt x="694118" y="825500"/>
                  </a:lnTo>
                  <a:close/>
                </a:path>
                <a:path w="1194434" h="1612900">
                  <a:moveTo>
                    <a:pt x="694549" y="800100"/>
                  </a:moveTo>
                  <a:lnTo>
                    <a:pt x="640969" y="800100"/>
                  </a:lnTo>
                  <a:lnTo>
                    <a:pt x="641985" y="812800"/>
                  </a:lnTo>
                  <a:lnTo>
                    <a:pt x="637158" y="812800"/>
                  </a:lnTo>
                  <a:lnTo>
                    <a:pt x="633856" y="825500"/>
                  </a:lnTo>
                  <a:lnTo>
                    <a:pt x="695356" y="825500"/>
                  </a:lnTo>
                  <a:lnTo>
                    <a:pt x="695451" y="812800"/>
                  </a:lnTo>
                  <a:lnTo>
                    <a:pt x="694549" y="800100"/>
                  </a:lnTo>
                  <a:close/>
                </a:path>
                <a:path w="1194434" h="1612900">
                  <a:moveTo>
                    <a:pt x="689647" y="787400"/>
                  </a:moveTo>
                  <a:lnTo>
                    <a:pt x="635762" y="787400"/>
                  </a:lnTo>
                  <a:lnTo>
                    <a:pt x="639064" y="800100"/>
                  </a:lnTo>
                  <a:lnTo>
                    <a:pt x="692610" y="800100"/>
                  </a:lnTo>
                  <a:lnTo>
                    <a:pt x="689647" y="787400"/>
                  </a:lnTo>
                  <a:close/>
                </a:path>
                <a:path w="1194434" h="1612900">
                  <a:moveTo>
                    <a:pt x="676528" y="774700"/>
                  </a:moveTo>
                  <a:lnTo>
                    <a:pt x="617854" y="774700"/>
                  </a:lnTo>
                  <a:lnTo>
                    <a:pt x="622046" y="787400"/>
                  </a:lnTo>
                  <a:lnTo>
                    <a:pt x="681291" y="787400"/>
                  </a:lnTo>
                  <a:lnTo>
                    <a:pt x="676528" y="774700"/>
                  </a:lnTo>
                  <a:close/>
                </a:path>
                <a:path w="1194434" h="1612900">
                  <a:moveTo>
                    <a:pt x="515868" y="660400"/>
                  </a:moveTo>
                  <a:lnTo>
                    <a:pt x="479298" y="660400"/>
                  </a:lnTo>
                  <a:lnTo>
                    <a:pt x="497458" y="685800"/>
                  </a:lnTo>
                  <a:lnTo>
                    <a:pt x="469138" y="711200"/>
                  </a:lnTo>
                  <a:lnTo>
                    <a:pt x="432435" y="711200"/>
                  </a:lnTo>
                  <a:lnTo>
                    <a:pt x="448182" y="723900"/>
                  </a:lnTo>
                  <a:lnTo>
                    <a:pt x="433831" y="736600"/>
                  </a:lnTo>
                  <a:lnTo>
                    <a:pt x="464057" y="774700"/>
                  </a:lnTo>
                  <a:lnTo>
                    <a:pt x="556260" y="711200"/>
                  </a:lnTo>
                  <a:lnTo>
                    <a:pt x="578762" y="673100"/>
                  </a:lnTo>
                  <a:lnTo>
                    <a:pt x="522986" y="673100"/>
                  </a:lnTo>
                  <a:lnTo>
                    <a:pt x="515868" y="660400"/>
                  </a:lnTo>
                  <a:close/>
                </a:path>
                <a:path w="1194434" h="1612900">
                  <a:moveTo>
                    <a:pt x="458977" y="698500"/>
                  </a:moveTo>
                  <a:lnTo>
                    <a:pt x="407797" y="698500"/>
                  </a:lnTo>
                  <a:lnTo>
                    <a:pt x="414908" y="711200"/>
                  </a:lnTo>
                  <a:lnTo>
                    <a:pt x="463803" y="711200"/>
                  </a:lnTo>
                  <a:lnTo>
                    <a:pt x="458977" y="698500"/>
                  </a:lnTo>
                  <a:close/>
                </a:path>
                <a:path w="1194434" h="1612900">
                  <a:moveTo>
                    <a:pt x="443738" y="685800"/>
                  </a:moveTo>
                  <a:lnTo>
                    <a:pt x="399033" y="685800"/>
                  </a:lnTo>
                  <a:lnTo>
                    <a:pt x="403732" y="698500"/>
                  </a:lnTo>
                  <a:lnTo>
                    <a:pt x="446404" y="698500"/>
                  </a:lnTo>
                  <a:lnTo>
                    <a:pt x="443738" y="685800"/>
                  </a:lnTo>
                  <a:close/>
                </a:path>
                <a:path w="1194434" h="1612900">
                  <a:moveTo>
                    <a:pt x="508809" y="647700"/>
                  </a:moveTo>
                  <a:lnTo>
                    <a:pt x="389636" y="647700"/>
                  </a:lnTo>
                  <a:lnTo>
                    <a:pt x="388872" y="660400"/>
                  </a:lnTo>
                  <a:lnTo>
                    <a:pt x="390191" y="673100"/>
                  </a:lnTo>
                  <a:lnTo>
                    <a:pt x="393582" y="685800"/>
                  </a:lnTo>
                  <a:lnTo>
                    <a:pt x="438912" y="685800"/>
                  </a:lnTo>
                  <a:lnTo>
                    <a:pt x="436499" y="673100"/>
                  </a:lnTo>
                  <a:lnTo>
                    <a:pt x="436245" y="673100"/>
                  </a:lnTo>
                  <a:lnTo>
                    <a:pt x="439420" y="660400"/>
                  </a:lnTo>
                  <a:lnTo>
                    <a:pt x="515868" y="660400"/>
                  </a:lnTo>
                  <a:lnTo>
                    <a:pt x="508809" y="647700"/>
                  </a:lnTo>
                  <a:close/>
                </a:path>
                <a:path w="1194434" h="1612900">
                  <a:moveTo>
                    <a:pt x="549850" y="596900"/>
                  </a:moveTo>
                  <a:lnTo>
                    <a:pt x="499292" y="596900"/>
                  </a:lnTo>
                  <a:lnTo>
                    <a:pt x="504317" y="609600"/>
                  </a:lnTo>
                  <a:lnTo>
                    <a:pt x="516127" y="609600"/>
                  </a:lnTo>
                  <a:lnTo>
                    <a:pt x="519683" y="622300"/>
                  </a:lnTo>
                  <a:lnTo>
                    <a:pt x="525021" y="622300"/>
                  </a:lnTo>
                  <a:lnTo>
                    <a:pt x="529050" y="635000"/>
                  </a:lnTo>
                  <a:lnTo>
                    <a:pt x="531792" y="647700"/>
                  </a:lnTo>
                  <a:lnTo>
                    <a:pt x="533273" y="647700"/>
                  </a:lnTo>
                  <a:lnTo>
                    <a:pt x="534416" y="660400"/>
                  </a:lnTo>
                  <a:lnTo>
                    <a:pt x="531241" y="660400"/>
                  </a:lnTo>
                  <a:lnTo>
                    <a:pt x="523748" y="673100"/>
                  </a:lnTo>
                  <a:lnTo>
                    <a:pt x="578762" y="673100"/>
                  </a:lnTo>
                  <a:lnTo>
                    <a:pt x="580263" y="660400"/>
                  </a:lnTo>
                  <a:lnTo>
                    <a:pt x="578762" y="647700"/>
                  </a:lnTo>
                  <a:lnTo>
                    <a:pt x="574071" y="635000"/>
                  </a:lnTo>
                  <a:lnTo>
                    <a:pt x="566189" y="622300"/>
                  </a:lnTo>
                  <a:lnTo>
                    <a:pt x="555117" y="609600"/>
                  </a:lnTo>
                  <a:lnTo>
                    <a:pt x="549850" y="596900"/>
                  </a:lnTo>
                  <a:close/>
                </a:path>
                <a:path w="1194434" h="1612900">
                  <a:moveTo>
                    <a:pt x="481202" y="622300"/>
                  </a:moveTo>
                  <a:lnTo>
                    <a:pt x="403191" y="622300"/>
                  </a:lnTo>
                  <a:lnTo>
                    <a:pt x="396795" y="635000"/>
                  </a:lnTo>
                  <a:lnTo>
                    <a:pt x="392281" y="647700"/>
                  </a:lnTo>
                  <a:lnTo>
                    <a:pt x="501822" y="647700"/>
                  </a:lnTo>
                  <a:lnTo>
                    <a:pt x="494919" y="635000"/>
                  </a:lnTo>
                  <a:lnTo>
                    <a:pt x="488060" y="635000"/>
                  </a:lnTo>
                  <a:lnTo>
                    <a:pt x="481202" y="622300"/>
                  </a:lnTo>
                  <a:close/>
                </a:path>
                <a:path w="1194434" h="1612900">
                  <a:moveTo>
                    <a:pt x="467487" y="609600"/>
                  </a:moveTo>
                  <a:lnTo>
                    <a:pt x="418911" y="609600"/>
                  </a:lnTo>
                  <a:lnTo>
                    <a:pt x="411479" y="622300"/>
                  </a:lnTo>
                  <a:lnTo>
                    <a:pt x="474345" y="622300"/>
                  </a:lnTo>
                  <a:lnTo>
                    <a:pt x="467487" y="609600"/>
                  </a:lnTo>
                  <a:close/>
                </a:path>
                <a:path w="1194434" h="1612900">
                  <a:moveTo>
                    <a:pt x="438785" y="457200"/>
                  </a:moveTo>
                  <a:lnTo>
                    <a:pt x="303149" y="546100"/>
                  </a:lnTo>
                  <a:lnTo>
                    <a:pt x="333628" y="596900"/>
                  </a:lnTo>
                  <a:lnTo>
                    <a:pt x="424433" y="533400"/>
                  </a:lnTo>
                  <a:lnTo>
                    <a:pt x="492251" y="533400"/>
                  </a:lnTo>
                  <a:lnTo>
                    <a:pt x="487933" y="520700"/>
                  </a:lnTo>
                  <a:lnTo>
                    <a:pt x="471804" y="520700"/>
                  </a:lnTo>
                  <a:lnTo>
                    <a:pt x="467487" y="508000"/>
                  </a:lnTo>
                  <a:lnTo>
                    <a:pt x="449833" y="508000"/>
                  </a:lnTo>
                  <a:lnTo>
                    <a:pt x="469265" y="495300"/>
                  </a:lnTo>
                  <a:lnTo>
                    <a:pt x="438785" y="457200"/>
                  </a:lnTo>
                  <a:close/>
                </a:path>
                <a:path w="1194434" h="1612900">
                  <a:moveTo>
                    <a:pt x="538507" y="584200"/>
                  </a:moveTo>
                  <a:lnTo>
                    <a:pt x="483362" y="584200"/>
                  </a:lnTo>
                  <a:lnTo>
                    <a:pt x="488815" y="596900"/>
                  </a:lnTo>
                  <a:lnTo>
                    <a:pt x="544322" y="596900"/>
                  </a:lnTo>
                  <a:lnTo>
                    <a:pt x="538507" y="584200"/>
                  </a:lnTo>
                  <a:close/>
                </a:path>
                <a:path w="1194434" h="1612900">
                  <a:moveTo>
                    <a:pt x="513461" y="558800"/>
                  </a:moveTo>
                  <a:lnTo>
                    <a:pt x="480695" y="584200"/>
                  </a:lnTo>
                  <a:lnTo>
                    <a:pt x="532383" y="584200"/>
                  </a:lnTo>
                  <a:lnTo>
                    <a:pt x="526480" y="571500"/>
                  </a:lnTo>
                  <a:lnTo>
                    <a:pt x="517007" y="571500"/>
                  </a:lnTo>
                  <a:lnTo>
                    <a:pt x="513461" y="558800"/>
                  </a:lnTo>
                  <a:close/>
                </a:path>
                <a:path w="1194434" h="1612900">
                  <a:moveTo>
                    <a:pt x="504444" y="546100"/>
                  </a:moveTo>
                  <a:lnTo>
                    <a:pt x="451230" y="546100"/>
                  </a:lnTo>
                  <a:lnTo>
                    <a:pt x="453898" y="558800"/>
                  </a:lnTo>
                  <a:lnTo>
                    <a:pt x="460121" y="558800"/>
                  </a:lnTo>
                  <a:lnTo>
                    <a:pt x="461391" y="571500"/>
                  </a:lnTo>
                  <a:lnTo>
                    <a:pt x="464439" y="571500"/>
                  </a:lnTo>
                  <a:lnTo>
                    <a:pt x="504444" y="546100"/>
                  </a:lnTo>
                  <a:close/>
                </a:path>
                <a:path w="1194434" h="1612900">
                  <a:moveTo>
                    <a:pt x="501523" y="533400"/>
                  </a:moveTo>
                  <a:lnTo>
                    <a:pt x="434467" y="533400"/>
                  </a:lnTo>
                  <a:lnTo>
                    <a:pt x="444119" y="546100"/>
                  </a:lnTo>
                  <a:lnTo>
                    <a:pt x="502539" y="546100"/>
                  </a:lnTo>
                  <a:lnTo>
                    <a:pt x="501523" y="533400"/>
                  </a:lnTo>
                  <a:close/>
                </a:path>
                <a:path w="1194434" h="1612900">
                  <a:moveTo>
                    <a:pt x="320928" y="508000"/>
                  </a:moveTo>
                  <a:lnTo>
                    <a:pt x="273430" y="508000"/>
                  </a:lnTo>
                  <a:lnTo>
                    <a:pt x="277749" y="520700"/>
                  </a:lnTo>
                  <a:lnTo>
                    <a:pt x="282194" y="520700"/>
                  </a:lnTo>
                  <a:lnTo>
                    <a:pt x="286639" y="533400"/>
                  </a:lnTo>
                  <a:lnTo>
                    <a:pt x="291211" y="533400"/>
                  </a:lnTo>
                  <a:lnTo>
                    <a:pt x="320928" y="508000"/>
                  </a:lnTo>
                  <a:close/>
                </a:path>
                <a:path w="1194434" h="1612900">
                  <a:moveTo>
                    <a:pt x="295401" y="469900"/>
                  </a:moveTo>
                  <a:lnTo>
                    <a:pt x="249697" y="469900"/>
                  </a:lnTo>
                  <a:lnTo>
                    <a:pt x="255117" y="482600"/>
                  </a:lnTo>
                  <a:lnTo>
                    <a:pt x="263144" y="495300"/>
                  </a:lnTo>
                  <a:lnTo>
                    <a:pt x="268477" y="508000"/>
                  </a:lnTo>
                  <a:lnTo>
                    <a:pt x="313817" y="508000"/>
                  </a:lnTo>
                  <a:lnTo>
                    <a:pt x="310133" y="495300"/>
                  </a:lnTo>
                  <a:lnTo>
                    <a:pt x="302387" y="495300"/>
                  </a:lnTo>
                  <a:lnTo>
                    <a:pt x="298450" y="482600"/>
                  </a:lnTo>
                  <a:lnTo>
                    <a:pt x="296164" y="482600"/>
                  </a:lnTo>
                  <a:lnTo>
                    <a:pt x="295401" y="469900"/>
                  </a:lnTo>
                  <a:close/>
                </a:path>
                <a:path w="1194434" h="1612900">
                  <a:moveTo>
                    <a:pt x="354075" y="330200"/>
                  </a:moveTo>
                  <a:lnTo>
                    <a:pt x="324612" y="355600"/>
                  </a:lnTo>
                  <a:lnTo>
                    <a:pt x="336296" y="368300"/>
                  </a:lnTo>
                  <a:lnTo>
                    <a:pt x="272923" y="419100"/>
                  </a:lnTo>
                  <a:lnTo>
                    <a:pt x="262207" y="431800"/>
                  </a:lnTo>
                  <a:lnTo>
                    <a:pt x="254253" y="431800"/>
                  </a:lnTo>
                  <a:lnTo>
                    <a:pt x="249062" y="444500"/>
                  </a:lnTo>
                  <a:lnTo>
                    <a:pt x="246633" y="457200"/>
                  </a:lnTo>
                  <a:lnTo>
                    <a:pt x="246874" y="469900"/>
                  </a:lnTo>
                  <a:lnTo>
                    <a:pt x="300100" y="469900"/>
                  </a:lnTo>
                  <a:lnTo>
                    <a:pt x="302895" y="457200"/>
                  </a:lnTo>
                  <a:lnTo>
                    <a:pt x="309752" y="457200"/>
                  </a:lnTo>
                  <a:lnTo>
                    <a:pt x="318643" y="444500"/>
                  </a:lnTo>
                  <a:lnTo>
                    <a:pt x="366649" y="419100"/>
                  </a:lnTo>
                  <a:lnTo>
                    <a:pt x="415671" y="419100"/>
                  </a:lnTo>
                  <a:lnTo>
                    <a:pt x="396113" y="393700"/>
                  </a:lnTo>
                  <a:lnTo>
                    <a:pt x="434848" y="368300"/>
                  </a:lnTo>
                  <a:lnTo>
                    <a:pt x="427227" y="355600"/>
                  </a:lnTo>
                  <a:lnTo>
                    <a:pt x="365632" y="355600"/>
                  </a:lnTo>
                  <a:lnTo>
                    <a:pt x="354075" y="330200"/>
                  </a:lnTo>
                  <a:close/>
                </a:path>
                <a:path w="1194434" h="1612900">
                  <a:moveTo>
                    <a:pt x="415671" y="419100"/>
                  </a:moveTo>
                  <a:lnTo>
                    <a:pt x="366649" y="419100"/>
                  </a:lnTo>
                  <a:lnTo>
                    <a:pt x="396113" y="457200"/>
                  </a:lnTo>
                  <a:lnTo>
                    <a:pt x="425450" y="431800"/>
                  </a:lnTo>
                  <a:lnTo>
                    <a:pt x="415671" y="419100"/>
                  </a:lnTo>
                  <a:close/>
                </a:path>
                <a:path w="1194434" h="1612900">
                  <a:moveTo>
                    <a:pt x="254000" y="393700"/>
                  </a:moveTo>
                  <a:lnTo>
                    <a:pt x="192024" y="393700"/>
                  </a:lnTo>
                  <a:lnTo>
                    <a:pt x="196469" y="406400"/>
                  </a:lnTo>
                  <a:lnTo>
                    <a:pt x="205358" y="406400"/>
                  </a:lnTo>
                  <a:lnTo>
                    <a:pt x="211708" y="419100"/>
                  </a:lnTo>
                  <a:lnTo>
                    <a:pt x="219201" y="419100"/>
                  </a:lnTo>
                  <a:lnTo>
                    <a:pt x="254000" y="393700"/>
                  </a:lnTo>
                  <a:close/>
                </a:path>
                <a:path w="1194434" h="1612900">
                  <a:moveTo>
                    <a:pt x="244855" y="381000"/>
                  </a:moveTo>
                  <a:lnTo>
                    <a:pt x="179197" y="381000"/>
                  </a:lnTo>
                  <a:lnTo>
                    <a:pt x="187578" y="393700"/>
                  </a:lnTo>
                  <a:lnTo>
                    <a:pt x="248157" y="393700"/>
                  </a:lnTo>
                  <a:lnTo>
                    <a:pt x="244855" y="381000"/>
                  </a:lnTo>
                  <a:close/>
                </a:path>
                <a:path w="1194434" h="1612900">
                  <a:moveTo>
                    <a:pt x="265898" y="228600"/>
                  </a:moveTo>
                  <a:lnTo>
                    <a:pt x="199604" y="228600"/>
                  </a:lnTo>
                  <a:lnTo>
                    <a:pt x="183006" y="241300"/>
                  </a:lnTo>
                  <a:lnTo>
                    <a:pt x="167882" y="254000"/>
                  </a:lnTo>
                  <a:lnTo>
                    <a:pt x="156590" y="266700"/>
                  </a:lnTo>
                  <a:lnTo>
                    <a:pt x="149109" y="279400"/>
                  </a:lnTo>
                  <a:lnTo>
                    <a:pt x="145415" y="304800"/>
                  </a:lnTo>
                  <a:lnTo>
                    <a:pt x="145577" y="317500"/>
                  </a:lnTo>
                  <a:lnTo>
                    <a:pt x="149669" y="330200"/>
                  </a:lnTo>
                  <a:lnTo>
                    <a:pt x="157666" y="355600"/>
                  </a:lnTo>
                  <a:lnTo>
                    <a:pt x="169545" y="368300"/>
                  </a:lnTo>
                  <a:lnTo>
                    <a:pt x="174625" y="381000"/>
                  </a:lnTo>
                  <a:lnTo>
                    <a:pt x="224408" y="381000"/>
                  </a:lnTo>
                  <a:lnTo>
                    <a:pt x="219837" y="368300"/>
                  </a:lnTo>
                  <a:lnTo>
                    <a:pt x="210820" y="368300"/>
                  </a:lnTo>
                  <a:lnTo>
                    <a:pt x="206882" y="355600"/>
                  </a:lnTo>
                  <a:lnTo>
                    <a:pt x="199136" y="355600"/>
                  </a:lnTo>
                  <a:lnTo>
                    <a:pt x="195961" y="342900"/>
                  </a:lnTo>
                  <a:lnTo>
                    <a:pt x="193548" y="342900"/>
                  </a:lnTo>
                  <a:lnTo>
                    <a:pt x="191135" y="330200"/>
                  </a:lnTo>
                  <a:lnTo>
                    <a:pt x="189865" y="330200"/>
                  </a:lnTo>
                  <a:lnTo>
                    <a:pt x="189611" y="317500"/>
                  </a:lnTo>
                  <a:lnTo>
                    <a:pt x="190753" y="304800"/>
                  </a:lnTo>
                  <a:lnTo>
                    <a:pt x="195961" y="304800"/>
                  </a:lnTo>
                  <a:lnTo>
                    <a:pt x="200278" y="292100"/>
                  </a:lnTo>
                  <a:lnTo>
                    <a:pt x="250062" y="292100"/>
                  </a:lnTo>
                  <a:lnTo>
                    <a:pt x="231648" y="266700"/>
                  </a:lnTo>
                  <a:lnTo>
                    <a:pt x="307975" y="266700"/>
                  </a:lnTo>
                  <a:lnTo>
                    <a:pt x="295044" y="241300"/>
                  </a:lnTo>
                  <a:lnTo>
                    <a:pt x="281019" y="241300"/>
                  </a:lnTo>
                  <a:lnTo>
                    <a:pt x="265898" y="228600"/>
                  </a:lnTo>
                  <a:close/>
                </a:path>
                <a:path w="1194434" h="1612900">
                  <a:moveTo>
                    <a:pt x="250062" y="292100"/>
                  </a:moveTo>
                  <a:lnTo>
                    <a:pt x="206248" y="292100"/>
                  </a:lnTo>
                  <a:lnTo>
                    <a:pt x="273050" y="381000"/>
                  </a:lnTo>
                  <a:lnTo>
                    <a:pt x="302293" y="355600"/>
                  </a:lnTo>
                  <a:lnTo>
                    <a:pt x="324993" y="317500"/>
                  </a:lnTo>
                  <a:lnTo>
                    <a:pt x="268477" y="317500"/>
                  </a:lnTo>
                  <a:lnTo>
                    <a:pt x="250062" y="292100"/>
                  </a:lnTo>
                  <a:close/>
                </a:path>
                <a:path w="1194434" h="1612900">
                  <a:moveTo>
                    <a:pt x="404368" y="317500"/>
                  </a:moveTo>
                  <a:lnTo>
                    <a:pt x="365632" y="355600"/>
                  </a:lnTo>
                  <a:lnTo>
                    <a:pt x="427227" y="355600"/>
                  </a:lnTo>
                  <a:lnTo>
                    <a:pt x="404368" y="317500"/>
                  </a:lnTo>
                  <a:close/>
                </a:path>
                <a:path w="1194434" h="1612900">
                  <a:moveTo>
                    <a:pt x="307975" y="266700"/>
                  </a:moveTo>
                  <a:lnTo>
                    <a:pt x="268700" y="266700"/>
                  </a:lnTo>
                  <a:lnTo>
                    <a:pt x="273819" y="279400"/>
                  </a:lnTo>
                  <a:lnTo>
                    <a:pt x="278511" y="279400"/>
                  </a:lnTo>
                  <a:lnTo>
                    <a:pt x="284225" y="292100"/>
                  </a:lnTo>
                  <a:lnTo>
                    <a:pt x="286257" y="292100"/>
                  </a:lnTo>
                  <a:lnTo>
                    <a:pt x="284352" y="304800"/>
                  </a:lnTo>
                  <a:lnTo>
                    <a:pt x="282354" y="304800"/>
                  </a:lnTo>
                  <a:lnTo>
                    <a:pt x="279034" y="317500"/>
                  </a:lnTo>
                  <a:lnTo>
                    <a:pt x="324993" y="317500"/>
                  </a:lnTo>
                  <a:lnTo>
                    <a:pt x="325995" y="304800"/>
                  </a:lnTo>
                  <a:lnTo>
                    <a:pt x="323484" y="292100"/>
                  </a:lnTo>
                  <a:lnTo>
                    <a:pt x="317474" y="279400"/>
                  </a:lnTo>
                  <a:lnTo>
                    <a:pt x="307975" y="266700"/>
                  </a:lnTo>
                  <a:close/>
                </a:path>
                <a:path w="1194434" h="1612900">
                  <a:moveTo>
                    <a:pt x="272605" y="127000"/>
                  </a:moveTo>
                  <a:lnTo>
                    <a:pt x="112014" y="127000"/>
                  </a:lnTo>
                  <a:lnTo>
                    <a:pt x="74295" y="228600"/>
                  </a:lnTo>
                  <a:lnTo>
                    <a:pt x="113665" y="292100"/>
                  </a:lnTo>
                  <a:lnTo>
                    <a:pt x="161798" y="152400"/>
                  </a:lnTo>
                  <a:lnTo>
                    <a:pt x="291465" y="152400"/>
                  </a:lnTo>
                  <a:lnTo>
                    <a:pt x="272605" y="127000"/>
                  </a:lnTo>
                  <a:close/>
                </a:path>
                <a:path w="1194434" h="1612900">
                  <a:moveTo>
                    <a:pt x="179704" y="0"/>
                  </a:moveTo>
                  <a:lnTo>
                    <a:pt x="0" y="127000"/>
                  </a:lnTo>
                  <a:lnTo>
                    <a:pt x="32639" y="177800"/>
                  </a:lnTo>
                  <a:lnTo>
                    <a:pt x="93345" y="127000"/>
                  </a:lnTo>
                  <a:lnTo>
                    <a:pt x="272605" y="127000"/>
                  </a:lnTo>
                  <a:lnTo>
                    <a:pt x="253746" y="101600"/>
                  </a:lnTo>
                  <a:lnTo>
                    <a:pt x="132461" y="101600"/>
                  </a:lnTo>
                  <a:lnTo>
                    <a:pt x="212344" y="50800"/>
                  </a:lnTo>
                  <a:lnTo>
                    <a:pt x="17970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19700" y="1196975"/>
              <a:ext cx="3542029" cy="4824730"/>
            </a:xfrm>
            <a:custGeom>
              <a:avLst/>
              <a:gdLst/>
              <a:ahLst/>
              <a:cxnLst/>
              <a:rect l="l" t="t" r="r" b="b"/>
              <a:pathLst>
                <a:path w="3542029" h="4824730">
                  <a:moveTo>
                    <a:pt x="3479463" y="4763759"/>
                  </a:moveTo>
                  <a:lnTo>
                    <a:pt x="3456431" y="4780673"/>
                  </a:lnTo>
                  <a:lnTo>
                    <a:pt x="3541649" y="4824412"/>
                  </a:lnTo>
                  <a:lnTo>
                    <a:pt x="3533262" y="4775288"/>
                  </a:lnTo>
                  <a:lnTo>
                    <a:pt x="3487928" y="4775288"/>
                  </a:lnTo>
                  <a:lnTo>
                    <a:pt x="3479463" y="4763759"/>
                  </a:lnTo>
                  <a:close/>
                </a:path>
                <a:path w="3542029" h="4824730">
                  <a:moveTo>
                    <a:pt x="3502468" y="4746866"/>
                  </a:moveTo>
                  <a:lnTo>
                    <a:pt x="3479463" y="4763759"/>
                  </a:lnTo>
                  <a:lnTo>
                    <a:pt x="3487928" y="4775288"/>
                  </a:lnTo>
                  <a:lnTo>
                    <a:pt x="3510915" y="4758372"/>
                  </a:lnTo>
                  <a:lnTo>
                    <a:pt x="3502468" y="4746866"/>
                  </a:lnTo>
                  <a:close/>
                </a:path>
                <a:path w="3542029" h="4824730">
                  <a:moveTo>
                    <a:pt x="3525520" y="4729937"/>
                  </a:moveTo>
                  <a:lnTo>
                    <a:pt x="3502468" y="4746866"/>
                  </a:lnTo>
                  <a:lnTo>
                    <a:pt x="3510915" y="4758372"/>
                  </a:lnTo>
                  <a:lnTo>
                    <a:pt x="3487928" y="4775288"/>
                  </a:lnTo>
                  <a:lnTo>
                    <a:pt x="3533262" y="4775288"/>
                  </a:lnTo>
                  <a:lnTo>
                    <a:pt x="3525520" y="4729937"/>
                  </a:lnTo>
                  <a:close/>
                </a:path>
                <a:path w="3542029" h="4824730">
                  <a:moveTo>
                    <a:pt x="62241" y="60582"/>
                  </a:moveTo>
                  <a:lnTo>
                    <a:pt x="39177" y="77540"/>
                  </a:lnTo>
                  <a:lnTo>
                    <a:pt x="3479463" y="4763759"/>
                  </a:lnTo>
                  <a:lnTo>
                    <a:pt x="3502468" y="4746866"/>
                  </a:lnTo>
                  <a:lnTo>
                    <a:pt x="62241" y="60582"/>
                  </a:lnTo>
                  <a:close/>
                </a:path>
                <a:path w="3542029" h="4824730">
                  <a:moveTo>
                    <a:pt x="0" y="0"/>
                  </a:moveTo>
                  <a:lnTo>
                    <a:pt x="16128" y="94487"/>
                  </a:lnTo>
                  <a:lnTo>
                    <a:pt x="39177" y="77540"/>
                  </a:lnTo>
                  <a:lnTo>
                    <a:pt x="30734" y="66039"/>
                  </a:lnTo>
                  <a:lnTo>
                    <a:pt x="53848" y="49149"/>
                  </a:lnTo>
                  <a:lnTo>
                    <a:pt x="77790" y="49149"/>
                  </a:lnTo>
                  <a:lnTo>
                    <a:pt x="85216" y="43687"/>
                  </a:lnTo>
                  <a:lnTo>
                    <a:pt x="0" y="0"/>
                  </a:lnTo>
                  <a:close/>
                </a:path>
                <a:path w="3542029" h="4824730">
                  <a:moveTo>
                    <a:pt x="53848" y="49149"/>
                  </a:moveTo>
                  <a:lnTo>
                    <a:pt x="30734" y="66039"/>
                  </a:lnTo>
                  <a:lnTo>
                    <a:pt x="39177" y="77540"/>
                  </a:lnTo>
                  <a:lnTo>
                    <a:pt x="62241" y="60582"/>
                  </a:lnTo>
                  <a:lnTo>
                    <a:pt x="53848" y="49149"/>
                  </a:lnTo>
                  <a:close/>
                </a:path>
                <a:path w="3542029" h="4824730">
                  <a:moveTo>
                    <a:pt x="77790" y="49149"/>
                  </a:moveTo>
                  <a:lnTo>
                    <a:pt x="53848" y="49149"/>
                  </a:lnTo>
                  <a:lnTo>
                    <a:pt x="62241" y="60582"/>
                  </a:lnTo>
                  <a:lnTo>
                    <a:pt x="77790" y="491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09260" y="1079626"/>
              <a:ext cx="2356485" cy="3149600"/>
            </a:xfrm>
            <a:custGeom>
              <a:avLst/>
              <a:gdLst/>
              <a:ahLst/>
              <a:cxnLst/>
              <a:rect l="l" t="t" r="r" b="b"/>
              <a:pathLst>
                <a:path w="2356484" h="3149600">
                  <a:moveTo>
                    <a:pt x="218948" y="114300"/>
                  </a:moveTo>
                  <a:lnTo>
                    <a:pt x="217970" y="113030"/>
                  </a:lnTo>
                  <a:lnTo>
                    <a:pt x="207314" y="99060"/>
                  </a:lnTo>
                  <a:lnTo>
                    <a:pt x="190830" y="77470"/>
                  </a:lnTo>
                  <a:lnTo>
                    <a:pt x="189865" y="76200"/>
                  </a:lnTo>
                  <a:lnTo>
                    <a:pt x="98933" y="77470"/>
                  </a:lnTo>
                  <a:lnTo>
                    <a:pt x="157861" y="33020"/>
                  </a:lnTo>
                  <a:lnTo>
                    <a:pt x="132715" y="0"/>
                  </a:lnTo>
                  <a:lnTo>
                    <a:pt x="0" y="100330"/>
                  </a:lnTo>
                  <a:lnTo>
                    <a:pt x="25146" y="133350"/>
                  </a:lnTo>
                  <a:lnTo>
                    <a:pt x="69977" y="99060"/>
                  </a:lnTo>
                  <a:lnTo>
                    <a:pt x="83947" y="99060"/>
                  </a:lnTo>
                  <a:lnTo>
                    <a:pt x="57277" y="176530"/>
                  </a:lnTo>
                  <a:lnTo>
                    <a:pt x="87630" y="215900"/>
                  </a:lnTo>
                  <a:lnTo>
                    <a:pt x="121666" y="113030"/>
                  </a:lnTo>
                  <a:lnTo>
                    <a:pt x="218948" y="114300"/>
                  </a:lnTo>
                  <a:close/>
                </a:path>
                <a:path w="2356484" h="3149600">
                  <a:moveTo>
                    <a:pt x="245821" y="228600"/>
                  </a:moveTo>
                  <a:lnTo>
                    <a:pt x="230759" y="191770"/>
                  </a:lnTo>
                  <a:lnTo>
                    <a:pt x="213614" y="174815"/>
                  </a:lnTo>
                  <a:lnTo>
                    <a:pt x="213614" y="220980"/>
                  </a:lnTo>
                  <a:lnTo>
                    <a:pt x="213487" y="223520"/>
                  </a:lnTo>
                  <a:lnTo>
                    <a:pt x="211201" y="231140"/>
                  </a:lnTo>
                  <a:lnTo>
                    <a:pt x="209042" y="234950"/>
                  </a:lnTo>
                  <a:lnTo>
                    <a:pt x="202692" y="242570"/>
                  </a:lnTo>
                  <a:lnTo>
                    <a:pt x="198120" y="246380"/>
                  </a:lnTo>
                  <a:lnTo>
                    <a:pt x="192151" y="251460"/>
                  </a:lnTo>
                  <a:lnTo>
                    <a:pt x="185801" y="256540"/>
                  </a:lnTo>
                  <a:lnTo>
                    <a:pt x="180467" y="259080"/>
                  </a:lnTo>
                  <a:lnTo>
                    <a:pt x="171831" y="262890"/>
                  </a:lnTo>
                  <a:lnTo>
                    <a:pt x="167767" y="264160"/>
                  </a:lnTo>
                  <a:lnTo>
                    <a:pt x="160401" y="264160"/>
                  </a:lnTo>
                  <a:lnTo>
                    <a:pt x="157353" y="262890"/>
                  </a:lnTo>
                  <a:lnTo>
                    <a:pt x="151257" y="259080"/>
                  </a:lnTo>
                  <a:lnTo>
                    <a:pt x="148844" y="257810"/>
                  </a:lnTo>
                  <a:lnTo>
                    <a:pt x="144653" y="251460"/>
                  </a:lnTo>
                  <a:lnTo>
                    <a:pt x="143129" y="248920"/>
                  </a:lnTo>
                  <a:lnTo>
                    <a:pt x="142240" y="245110"/>
                  </a:lnTo>
                  <a:lnTo>
                    <a:pt x="141478" y="242570"/>
                  </a:lnTo>
                  <a:lnTo>
                    <a:pt x="162433" y="212090"/>
                  </a:lnTo>
                  <a:lnTo>
                    <a:pt x="168529" y="207010"/>
                  </a:lnTo>
                  <a:lnTo>
                    <a:pt x="174117" y="204470"/>
                  </a:lnTo>
                  <a:lnTo>
                    <a:pt x="183769" y="199390"/>
                  </a:lnTo>
                  <a:lnTo>
                    <a:pt x="198755" y="199390"/>
                  </a:lnTo>
                  <a:lnTo>
                    <a:pt x="201295" y="201930"/>
                  </a:lnTo>
                  <a:lnTo>
                    <a:pt x="203835" y="203200"/>
                  </a:lnTo>
                  <a:lnTo>
                    <a:pt x="206248" y="205740"/>
                  </a:lnTo>
                  <a:lnTo>
                    <a:pt x="208280" y="208280"/>
                  </a:lnTo>
                  <a:lnTo>
                    <a:pt x="210566" y="210820"/>
                  </a:lnTo>
                  <a:lnTo>
                    <a:pt x="212090" y="214630"/>
                  </a:lnTo>
                  <a:lnTo>
                    <a:pt x="213614" y="174815"/>
                  </a:lnTo>
                  <a:lnTo>
                    <a:pt x="187833" y="163830"/>
                  </a:lnTo>
                  <a:lnTo>
                    <a:pt x="175602" y="163830"/>
                  </a:lnTo>
                  <a:lnTo>
                    <a:pt x="138557" y="180340"/>
                  </a:lnTo>
                  <a:lnTo>
                    <a:pt x="113131" y="210820"/>
                  </a:lnTo>
                  <a:lnTo>
                    <a:pt x="109258" y="234950"/>
                  </a:lnTo>
                  <a:lnTo>
                    <a:pt x="111467" y="247650"/>
                  </a:lnTo>
                  <a:lnTo>
                    <a:pt x="134023" y="281940"/>
                  </a:lnTo>
                  <a:lnTo>
                    <a:pt x="167386" y="298450"/>
                  </a:lnTo>
                  <a:lnTo>
                    <a:pt x="179590" y="298450"/>
                  </a:lnTo>
                  <a:lnTo>
                    <a:pt x="216408" y="283210"/>
                  </a:lnTo>
                  <a:lnTo>
                    <a:pt x="234937" y="264160"/>
                  </a:lnTo>
                  <a:lnTo>
                    <a:pt x="236004" y="262890"/>
                  </a:lnTo>
                  <a:lnTo>
                    <a:pt x="241922" y="251460"/>
                  </a:lnTo>
                  <a:lnTo>
                    <a:pt x="245237" y="240030"/>
                  </a:lnTo>
                  <a:lnTo>
                    <a:pt x="245821" y="228600"/>
                  </a:lnTo>
                  <a:close/>
                </a:path>
                <a:path w="2356484" h="3149600">
                  <a:moveTo>
                    <a:pt x="337019" y="344170"/>
                  </a:moveTo>
                  <a:lnTo>
                    <a:pt x="322414" y="314960"/>
                  </a:lnTo>
                  <a:lnTo>
                    <a:pt x="318516" y="311150"/>
                  </a:lnTo>
                  <a:lnTo>
                    <a:pt x="306324" y="304800"/>
                  </a:lnTo>
                  <a:lnTo>
                    <a:pt x="299212" y="302260"/>
                  </a:lnTo>
                  <a:lnTo>
                    <a:pt x="290957" y="300990"/>
                  </a:lnTo>
                  <a:lnTo>
                    <a:pt x="302006" y="292100"/>
                  </a:lnTo>
                  <a:lnTo>
                    <a:pt x="278511" y="261620"/>
                  </a:lnTo>
                  <a:lnTo>
                    <a:pt x="178435" y="336550"/>
                  </a:lnTo>
                  <a:lnTo>
                    <a:pt x="201930" y="368300"/>
                  </a:lnTo>
                  <a:lnTo>
                    <a:pt x="272923" y="314960"/>
                  </a:lnTo>
                  <a:lnTo>
                    <a:pt x="277241" y="316230"/>
                  </a:lnTo>
                  <a:lnTo>
                    <a:pt x="296164" y="337820"/>
                  </a:lnTo>
                  <a:lnTo>
                    <a:pt x="295783" y="340360"/>
                  </a:lnTo>
                  <a:lnTo>
                    <a:pt x="292989" y="345440"/>
                  </a:lnTo>
                  <a:lnTo>
                    <a:pt x="290576" y="349250"/>
                  </a:lnTo>
                  <a:lnTo>
                    <a:pt x="286766" y="351790"/>
                  </a:lnTo>
                  <a:lnTo>
                    <a:pt x="282956" y="355600"/>
                  </a:lnTo>
                  <a:lnTo>
                    <a:pt x="279146" y="358140"/>
                  </a:lnTo>
                  <a:lnTo>
                    <a:pt x="275082" y="361950"/>
                  </a:lnTo>
                  <a:lnTo>
                    <a:pt x="225425" y="398780"/>
                  </a:lnTo>
                  <a:lnTo>
                    <a:pt x="249047" y="430530"/>
                  </a:lnTo>
                  <a:lnTo>
                    <a:pt x="322478" y="374650"/>
                  </a:lnTo>
                  <a:lnTo>
                    <a:pt x="336169" y="351790"/>
                  </a:lnTo>
                  <a:lnTo>
                    <a:pt x="337019" y="344170"/>
                  </a:lnTo>
                  <a:close/>
                </a:path>
                <a:path w="2356484" h="3149600">
                  <a:moveTo>
                    <a:pt x="418465" y="455930"/>
                  </a:moveTo>
                  <a:lnTo>
                    <a:pt x="417449" y="450850"/>
                  </a:lnTo>
                  <a:lnTo>
                    <a:pt x="415290" y="444500"/>
                  </a:lnTo>
                  <a:lnTo>
                    <a:pt x="412242" y="438150"/>
                  </a:lnTo>
                  <a:lnTo>
                    <a:pt x="409194" y="430530"/>
                  </a:lnTo>
                  <a:lnTo>
                    <a:pt x="405130" y="424180"/>
                  </a:lnTo>
                  <a:lnTo>
                    <a:pt x="403352" y="421640"/>
                  </a:lnTo>
                  <a:lnTo>
                    <a:pt x="399796" y="416560"/>
                  </a:lnTo>
                  <a:lnTo>
                    <a:pt x="394208" y="408940"/>
                  </a:lnTo>
                  <a:lnTo>
                    <a:pt x="388366" y="402590"/>
                  </a:lnTo>
                  <a:lnTo>
                    <a:pt x="382143" y="398780"/>
                  </a:lnTo>
                  <a:lnTo>
                    <a:pt x="376047" y="393700"/>
                  </a:lnTo>
                  <a:lnTo>
                    <a:pt x="369824" y="391160"/>
                  </a:lnTo>
                  <a:lnTo>
                    <a:pt x="363855" y="389890"/>
                  </a:lnTo>
                  <a:lnTo>
                    <a:pt x="357759" y="387350"/>
                  </a:lnTo>
                  <a:lnTo>
                    <a:pt x="351917" y="387350"/>
                  </a:lnTo>
                  <a:lnTo>
                    <a:pt x="340995" y="389890"/>
                  </a:lnTo>
                  <a:lnTo>
                    <a:pt x="336042" y="391160"/>
                  </a:lnTo>
                  <a:lnTo>
                    <a:pt x="331597" y="394970"/>
                  </a:lnTo>
                  <a:lnTo>
                    <a:pt x="323723" y="400050"/>
                  </a:lnTo>
                  <a:lnTo>
                    <a:pt x="318897" y="407670"/>
                  </a:lnTo>
                  <a:lnTo>
                    <a:pt x="317119" y="415290"/>
                  </a:lnTo>
                  <a:lnTo>
                    <a:pt x="316280" y="420370"/>
                  </a:lnTo>
                  <a:lnTo>
                    <a:pt x="316433" y="426720"/>
                  </a:lnTo>
                  <a:lnTo>
                    <a:pt x="326644" y="455930"/>
                  </a:lnTo>
                  <a:lnTo>
                    <a:pt x="328168" y="459740"/>
                  </a:lnTo>
                  <a:lnTo>
                    <a:pt x="331724" y="467360"/>
                  </a:lnTo>
                  <a:lnTo>
                    <a:pt x="332867" y="471170"/>
                  </a:lnTo>
                  <a:lnTo>
                    <a:pt x="332740" y="476250"/>
                  </a:lnTo>
                  <a:lnTo>
                    <a:pt x="331597" y="478790"/>
                  </a:lnTo>
                  <a:lnTo>
                    <a:pt x="329311" y="480060"/>
                  </a:lnTo>
                  <a:lnTo>
                    <a:pt x="326263" y="482600"/>
                  </a:lnTo>
                  <a:lnTo>
                    <a:pt x="322834" y="482600"/>
                  </a:lnTo>
                  <a:lnTo>
                    <a:pt x="319024" y="480060"/>
                  </a:lnTo>
                  <a:lnTo>
                    <a:pt x="315087" y="477520"/>
                  </a:lnTo>
                  <a:lnTo>
                    <a:pt x="311531" y="474980"/>
                  </a:lnTo>
                  <a:lnTo>
                    <a:pt x="304927" y="466090"/>
                  </a:lnTo>
                  <a:lnTo>
                    <a:pt x="302514" y="462280"/>
                  </a:lnTo>
                  <a:lnTo>
                    <a:pt x="300736" y="457200"/>
                  </a:lnTo>
                  <a:lnTo>
                    <a:pt x="298958" y="453390"/>
                  </a:lnTo>
                  <a:lnTo>
                    <a:pt x="297561" y="448310"/>
                  </a:lnTo>
                  <a:lnTo>
                    <a:pt x="296799" y="444500"/>
                  </a:lnTo>
                  <a:lnTo>
                    <a:pt x="295656" y="440690"/>
                  </a:lnTo>
                  <a:lnTo>
                    <a:pt x="295148" y="436880"/>
                  </a:lnTo>
                  <a:lnTo>
                    <a:pt x="295059" y="434340"/>
                  </a:lnTo>
                  <a:lnTo>
                    <a:pt x="295021" y="425450"/>
                  </a:lnTo>
                  <a:lnTo>
                    <a:pt x="292989" y="422910"/>
                  </a:lnTo>
                  <a:lnTo>
                    <a:pt x="266700" y="443230"/>
                  </a:lnTo>
                  <a:lnTo>
                    <a:pt x="267716" y="448310"/>
                  </a:lnTo>
                  <a:lnTo>
                    <a:pt x="270002" y="455930"/>
                  </a:lnTo>
                  <a:lnTo>
                    <a:pt x="273304" y="463550"/>
                  </a:lnTo>
                  <a:lnTo>
                    <a:pt x="275983" y="468630"/>
                  </a:lnTo>
                  <a:lnTo>
                    <a:pt x="279107" y="474980"/>
                  </a:lnTo>
                  <a:lnTo>
                    <a:pt x="282651" y="480060"/>
                  </a:lnTo>
                  <a:lnTo>
                    <a:pt x="286639" y="486410"/>
                  </a:lnTo>
                  <a:lnTo>
                    <a:pt x="300355" y="501650"/>
                  </a:lnTo>
                  <a:lnTo>
                    <a:pt x="304927" y="505460"/>
                  </a:lnTo>
                  <a:lnTo>
                    <a:pt x="311023" y="509270"/>
                  </a:lnTo>
                  <a:lnTo>
                    <a:pt x="317246" y="513080"/>
                  </a:lnTo>
                  <a:lnTo>
                    <a:pt x="323596" y="514350"/>
                  </a:lnTo>
                  <a:lnTo>
                    <a:pt x="329565" y="516890"/>
                  </a:lnTo>
                  <a:lnTo>
                    <a:pt x="335534" y="516890"/>
                  </a:lnTo>
                  <a:lnTo>
                    <a:pt x="347345" y="514350"/>
                  </a:lnTo>
                  <a:lnTo>
                    <a:pt x="352552" y="513080"/>
                  </a:lnTo>
                  <a:lnTo>
                    <a:pt x="357251" y="509270"/>
                  </a:lnTo>
                  <a:lnTo>
                    <a:pt x="364744" y="504190"/>
                  </a:lnTo>
                  <a:lnTo>
                    <a:pt x="369316" y="497840"/>
                  </a:lnTo>
                  <a:lnTo>
                    <a:pt x="372618" y="482600"/>
                  </a:lnTo>
                  <a:lnTo>
                    <a:pt x="371983" y="474980"/>
                  </a:lnTo>
                  <a:lnTo>
                    <a:pt x="368808" y="466090"/>
                  </a:lnTo>
                  <a:lnTo>
                    <a:pt x="367538" y="462280"/>
                  </a:lnTo>
                  <a:lnTo>
                    <a:pt x="365887" y="458470"/>
                  </a:lnTo>
                  <a:lnTo>
                    <a:pt x="361823" y="449580"/>
                  </a:lnTo>
                  <a:lnTo>
                    <a:pt x="360172" y="447040"/>
                  </a:lnTo>
                  <a:lnTo>
                    <a:pt x="356108" y="436880"/>
                  </a:lnTo>
                  <a:lnTo>
                    <a:pt x="354965" y="433070"/>
                  </a:lnTo>
                  <a:lnTo>
                    <a:pt x="355219" y="427990"/>
                  </a:lnTo>
                  <a:lnTo>
                    <a:pt x="356362" y="425450"/>
                  </a:lnTo>
                  <a:lnTo>
                    <a:pt x="358648" y="424180"/>
                  </a:lnTo>
                  <a:lnTo>
                    <a:pt x="361188" y="421640"/>
                  </a:lnTo>
                  <a:lnTo>
                    <a:pt x="364490" y="421640"/>
                  </a:lnTo>
                  <a:lnTo>
                    <a:pt x="368300" y="424180"/>
                  </a:lnTo>
                  <a:lnTo>
                    <a:pt x="372237" y="425450"/>
                  </a:lnTo>
                  <a:lnTo>
                    <a:pt x="375920" y="429260"/>
                  </a:lnTo>
                  <a:lnTo>
                    <a:pt x="379349" y="434340"/>
                  </a:lnTo>
                  <a:lnTo>
                    <a:pt x="381889" y="436880"/>
                  </a:lnTo>
                  <a:lnTo>
                    <a:pt x="383921" y="440690"/>
                  </a:lnTo>
                  <a:lnTo>
                    <a:pt x="385572" y="444500"/>
                  </a:lnTo>
                  <a:lnTo>
                    <a:pt x="387350" y="448310"/>
                  </a:lnTo>
                  <a:lnTo>
                    <a:pt x="391287" y="472440"/>
                  </a:lnTo>
                  <a:lnTo>
                    <a:pt x="393192" y="474980"/>
                  </a:lnTo>
                  <a:lnTo>
                    <a:pt x="418465" y="455930"/>
                  </a:lnTo>
                  <a:close/>
                </a:path>
                <a:path w="2356484" h="3149600">
                  <a:moveTo>
                    <a:pt x="490207" y="549910"/>
                  </a:moveTo>
                  <a:lnTo>
                    <a:pt x="488086" y="539750"/>
                  </a:lnTo>
                  <a:lnTo>
                    <a:pt x="483349" y="528320"/>
                  </a:lnTo>
                  <a:lnTo>
                    <a:pt x="477621" y="519430"/>
                  </a:lnTo>
                  <a:lnTo>
                    <a:pt x="475996" y="516890"/>
                  </a:lnTo>
                  <a:lnTo>
                    <a:pt x="466077" y="505460"/>
                  </a:lnTo>
                  <a:lnTo>
                    <a:pt x="460248" y="500608"/>
                  </a:lnTo>
                  <a:lnTo>
                    <a:pt x="460248" y="541020"/>
                  </a:lnTo>
                  <a:lnTo>
                    <a:pt x="457708" y="552450"/>
                  </a:lnTo>
                  <a:lnTo>
                    <a:pt x="453771" y="557530"/>
                  </a:lnTo>
                  <a:lnTo>
                    <a:pt x="447294" y="562610"/>
                  </a:lnTo>
                  <a:lnTo>
                    <a:pt x="430301" y="539750"/>
                  </a:lnTo>
                  <a:lnTo>
                    <a:pt x="418973" y="524510"/>
                  </a:lnTo>
                  <a:lnTo>
                    <a:pt x="425450" y="520700"/>
                  </a:lnTo>
                  <a:lnTo>
                    <a:pt x="431800" y="519430"/>
                  </a:lnTo>
                  <a:lnTo>
                    <a:pt x="438023" y="519430"/>
                  </a:lnTo>
                  <a:lnTo>
                    <a:pt x="460248" y="541020"/>
                  </a:lnTo>
                  <a:lnTo>
                    <a:pt x="460248" y="500608"/>
                  </a:lnTo>
                  <a:lnTo>
                    <a:pt x="455396" y="496570"/>
                  </a:lnTo>
                  <a:lnTo>
                    <a:pt x="443928" y="491490"/>
                  </a:lnTo>
                  <a:lnTo>
                    <a:pt x="431673" y="488950"/>
                  </a:lnTo>
                  <a:lnTo>
                    <a:pt x="419125" y="488950"/>
                  </a:lnTo>
                  <a:lnTo>
                    <a:pt x="381889" y="504190"/>
                  </a:lnTo>
                  <a:lnTo>
                    <a:pt x="357200" y="535940"/>
                  </a:lnTo>
                  <a:lnTo>
                    <a:pt x="354711" y="548640"/>
                  </a:lnTo>
                  <a:lnTo>
                    <a:pt x="355117" y="561340"/>
                  </a:lnTo>
                  <a:lnTo>
                    <a:pt x="373888" y="601980"/>
                  </a:lnTo>
                  <a:lnTo>
                    <a:pt x="381381" y="610870"/>
                  </a:lnTo>
                  <a:lnTo>
                    <a:pt x="384556" y="614680"/>
                  </a:lnTo>
                  <a:lnTo>
                    <a:pt x="387858" y="617220"/>
                  </a:lnTo>
                  <a:lnTo>
                    <a:pt x="391160" y="621030"/>
                  </a:lnTo>
                  <a:lnTo>
                    <a:pt x="394589" y="623570"/>
                  </a:lnTo>
                  <a:lnTo>
                    <a:pt x="398272" y="626110"/>
                  </a:lnTo>
                  <a:lnTo>
                    <a:pt x="401320" y="628650"/>
                  </a:lnTo>
                  <a:lnTo>
                    <a:pt x="406146" y="631190"/>
                  </a:lnTo>
                  <a:lnTo>
                    <a:pt x="408940" y="633730"/>
                  </a:lnTo>
                  <a:lnTo>
                    <a:pt x="411861" y="635000"/>
                  </a:lnTo>
                  <a:lnTo>
                    <a:pt x="437642" y="615950"/>
                  </a:lnTo>
                  <a:lnTo>
                    <a:pt x="435102" y="612140"/>
                  </a:lnTo>
                  <a:lnTo>
                    <a:pt x="433070" y="612140"/>
                  </a:lnTo>
                  <a:lnTo>
                    <a:pt x="430530" y="610870"/>
                  </a:lnTo>
                  <a:lnTo>
                    <a:pt x="424688" y="608330"/>
                  </a:lnTo>
                  <a:lnTo>
                    <a:pt x="418592" y="605790"/>
                  </a:lnTo>
                  <a:lnTo>
                    <a:pt x="415163" y="603250"/>
                  </a:lnTo>
                  <a:lnTo>
                    <a:pt x="411607" y="600710"/>
                  </a:lnTo>
                  <a:lnTo>
                    <a:pt x="404749" y="595630"/>
                  </a:lnTo>
                  <a:lnTo>
                    <a:pt x="401701" y="591820"/>
                  </a:lnTo>
                  <a:lnTo>
                    <a:pt x="398907" y="588010"/>
                  </a:lnTo>
                  <a:lnTo>
                    <a:pt x="395732" y="584200"/>
                  </a:lnTo>
                  <a:lnTo>
                    <a:pt x="393192" y="580390"/>
                  </a:lnTo>
                  <a:lnTo>
                    <a:pt x="391414" y="575310"/>
                  </a:lnTo>
                  <a:lnTo>
                    <a:pt x="389509" y="571500"/>
                  </a:lnTo>
                  <a:lnTo>
                    <a:pt x="388493" y="567690"/>
                  </a:lnTo>
                  <a:lnTo>
                    <a:pt x="388239" y="562610"/>
                  </a:lnTo>
                  <a:lnTo>
                    <a:pt x="388112" y="558800"/>
                  </a:lnTo>
                  <a:lnTo>
                    <a:pt x="388874" y="554990"/>
                  </a:lnTo>
                  <a:lnTo>
                    <a:pt x="390779" y="551180"/>
                  </a:lnTo>
                  <a:lnTo>
                    <a:pt x="392557" y="547370"/>
                  </a:lnTo>
                  <a:lnTo>
                    <a:pt x="395732" y="543560"/>
                  </a:lnTo>
                  <a:lnTo>
                    <a:pt x="400177" y="539750"/>
                  </a:lnTo>
                  <a:lnTo>
                    <a:pt x="451739" y="608330"/>
                  </a:lnTo>
                  <a:lnTo>
                    <a:pt x="462915" y="599440"/>
                  </a:lnTo>
                  <a:lnTo>
                    <a:pt x="473227" y="590550"/>
                  </a:lnTo>
                  <a:lnTo>
                    <a:pt x="481114" y="580390"/>
                  </a:lnTo>
                  <a:lnTo>
                    <a:pt x="486613" y="571500"/>
                  </a:lnTo>
                  <a:lnTo>
                    <a:pt x="489318" y="562610"/>
                  </a:lnTo>
                  <a:lnTo>
                    <a:pt x="489712" y="561340"/>
                  </a:lnTo>
                  <a:lnTo>
                    <a:pt x="490207" y="549910"/>
                  </a:lnTo>
                  <a:close/>
                </a:path>
                <a:path w="2356484" h="3149600">
                  <a:moveTo>
                    <a:pt x="578408" y="669290"/>
                  </a:moveTo>
                  <a:lnTo>
                    <a:pt x="562483" y="633730"/>
                  </a:lnTo>
                  <a:lnTo>
                    <a:pt x="559816" y="631190"/>
                  </a:lnTo>
                  <a:lnTo>
                    <a:pt x="547751" y="626110"/>
                  </a:lnTo>
                  <a:lnTo>
                    <a:pt x="541147" y="623620"/>
                  </a:lnTo>
                  <a:lnTo>
                    <a:pt x="541147" y="659130"/>
                  </a:lnTo>
                  <a:lnTo>
                    <a:pt x="539115" y="665480"/>
                  </a:lnTo>
                  <a:lnTo>
                    <a:pt x="507123" y="694690"/>
                  </a:lnTo>
                  <a:lnTo>
                    <a:pt x="500684" y="697230"/>
                  </a:lnTo>
                  <a:lnTo>
                    <a:pt x="486918" y="697230"/>
                  </a:lnTo>
                  <a:lnTo>
                    <a:pt x="480187" y="693420"/>
                  </a:lnTo>
                  <a:lnTo>
                    <a:pt x="474472" y="685800"/>
                  </a:lnTo>
                  <a:lnTo>
                    <a:pt x="472440" y="683260"/>
                  </a:lnTo>
                  <a:lnTo>
                    <a:pt x="470789" y="680720"/>
                  </a:lnTo>
                  <a:lnTo>
                    <a:pt x="469519" y="678180"/>
                  </a:lnTo>
                  <a:lnTo>
                    <a:pt x="468376" y="676910"/>
                  </a:lnTo>
                  <a:lnTo>
                    <a:pt x="467487" y="674370"/>
                  </a:lnTo>
                  <a:lnTo>
                    <a:pt x="466979" y="671830"/>
                  </a:lnTo>
                  <a:lnTo>
                    <a:pt x="517271" y="633730"/>
                  </a:lnTo>
                  <a:lnTo>
                    <a:pt x="521081" y="635000"/>
                  </a:lnTo>
                  <a:lnTo>
                    <a:pt x="524510" y="637540"/>
                  </a:lnTo>
                  <a:lnTo>
                    <a:pt x="527431" y="638810"/>
                  </a:lnTo>
                  <a:lnTo>
                    <a:pt x="541147" y="659130"/>
                  </a:lnTo>
                  <a:lnTo>
                    <a:pt x="541147" y="623620"/>
                  </a:lnTo>
                  <a:lnTo>
                    <a:pt x="541020" y="623570"/>
                  </a:lnTo>
                  <a:lnTo>
                    <a:pt x="533654" y="622300"/>
                  </a:lnTo>
                  <a:lnTo>
                    <a:pt x="544068" y="613410"/>
                  </a:lnTo>
                  <a:lnTo>
                    <a:pt x="520573" y="582930"/>
                  </a:lnTo>
                  <a:lnTo>
                    <a:pt x="383794" y="685800"/>
                  </a:lnTo>
                  <a:lnTo>
                    <a:pt x="407289" y="717550"/>
                  </a:lnTo>
                  <a:lnTo>
                    <a:pt x="449072" y="685800"/>
                  </a:lnTo>
                  <a:lnTo>
                    <a:pt x="449707" y="692150"/>
                  </a:lnTo>
                  <a:lnTo>
                    <a:pt x="450977" y="697230"/>
                  </a:lnTo>
                  <a:lnTo>
                    <a:pt x="452628" y="701040"/>
                  </a:lnTo>
                  <a:lnTo>
                    <a:pt x="454279" y="706120"/>
                  </a:lnTo>
                  <a:lnTo>
                    <a:pt x="456946" y="711200"/>
                  </a:lnTo>
                  <a:lnTo>
                    <a:pt x="460756" y="715010"/>
                  </a:lnTo>
                  <a:lnTo>
                    <a:pt x="468083" y="723900"/>
                  </a:lnTo>
                  <a:lnTo>
                    <a:pt x="476758" y="728980"/>
                  </a:lnTo>
                  <a:lnTo>
                    <a:pt x="486752" y="732790"/>
                  </a:lnTo>
                  <a:lnTo>
                    <a:pt x="498094" y="734060"/>
                  </a:lnTo>
                  <a:lnTo>
                    <a:pt x="510019" y="734060"/>
                  </a:lnTo>
                  <a:lnTo>
                    <a:pt x="545846" y="717550"/>
                  </a:lnTo>
                  <a:lnTo>
                    <a:pt x="571919" y="689610"/>
                  </a:lnTo>
                  <a:lnTo>
                    <a:pt x="576326" y="679450"/>
                  </a:lnTo>
                  <a:lnTo>
                    <a:pt x="578408" y="669290"/>
                  </a:lnTo>
                  <a:close/>
                </a:path>
                <a:path w="2356484" h="3149600">
                  <a:moveTo>
                    <a:pt x="660400" y="708660"/>
                  </a:moveTo>
                  <a:lnTo>
                    <a:pt x="652868" y="698500"/>
                  </a:lnTo>
                  <a:lnTo>
                    <a:pt x="636905" y="676910"/>
                  </a:lnTo>
                  <a:lnTo>
                    <a:pt x="608203" y="698500"/>
                  </a:lnTo>
                  <a:lnTo>
                    <a:pt x="599186" y="687070"/>
                  </a:lnTo>
                  <a:lnTo>
                    <a:pt x="577469" y="703580"/>
                  </a:lnTo>
                  <a:lnTo>
                    <a:pt x="586486" y="715010"/>
                  </a:lnTo>
                  <a:lnTo>
                    <a:pt x="539623" y="750570"/>
                  </a:lnTo>
                  <a:lnTo>
                    <a:pt x="531787" y="756920"/>
                  </a:lnTo>
                  <a:lnTo>
                    <a:pt x="525995" y="764540"/>
                  </a:lnTo>
                  <a:lnTo>
                    <a:pt x="522262" y="770890"/>
                  </a:lnTo>
                  <a:lnTo>
                    <a:pt x="520573" y="778510"/>
                  </a:lnTo>
                  <a:lnTo>
                    <a:pt x="520877" y="786130"/>
                  </a:lnTo>
                  <a:lnTo>
                    <a:pt x="541528" y="821690"/>
                  </a:lnTo>
                  <a:lnTo>
                    <a:pt x="544957" y="825500"/>
                  </a:lnTo>
                  <a:lnTo>
                    <a:pt x="548259" y="829310"/>
                  </a:lnTo>
                  <a:lnTo>
                    <a:pt x="555117" y="834390"/>
                  </a:lnTo>
                  <a:lnTo>
                    <a:pt x="577215" y="817880"/>
                  </a:lnTo>
                  <a:lnTo>
                    <a:pt x="575183" y="815340"/>
                  </a:lnTo>
                  <a:lnTo>
                    <a:pt x="573786" y="815340"/>
                  </a:lnTo>
                  <a:lnTo>
                    <a:pt x="571627" y="814070"/>
                  </a:lnTo>
                  <a:lnTo>
                    <a:pt x="568960" y="811530"/>
                  </a:lnTo>
                  <a:lnTo>
                    <a:pt x="566166" y="808990"/>
                  </a:lnTo>
                  <a:lnTo>
                    <a:pt x="564134" y="807720"/>
                  </a:lnTo>
                  <a:lnTo>
                    <a:pt x="562991" y="805180"/>
                  </a:lnTo>
                  <a:lnTo>
                    <a:pt x="559943" y="801370"/>
                  </a:lnTo>
                  <a:lnTo>
                    <a:pt x="558165" y="798830"/>
                  </a:lnTo>
                  <a:lnTo>
                    <a:pt x="557403" y="792480"/>
                  </a:lnTo>
                  <a:lnTo>
                    <a:pt x="558038" y="789940"/>
                  </a:lnTo>
                  <a:lnTo>
                    <a:pt x="560832" y="784860"/>
                  </a:lnTo>
                  <a:lnTo>
                    <a:pt x="562864" y="782320"/>
                  </a:lnTo>
                  <a:lnTo>
                    <a:pt x="570992" y="775970"/>
                  </a:lnTo>
                  <a:lnTo>
                    <a:pt x="574548" y="773430"/>
                  </a:lnTo>
                  <a:lnTo>
                    <a:pt x="609981" y="746760"/>
                  </a:lnTo>
                  <a:lnTo>
                    <a:pt x="632587" y="777240"/>
                  </a:lnTo>
                  <a:lnTo>
                    <a:pt x="654431" y="760730"/>
                  </a:lnTo>
                  <a:lnTo>
                    <a:pt x="644004" y="746760"/>
                  </a:lnTo>
                  <a:lnTo>
                    <a:pt x="631698" y="730250"/>
                  </a:lnTo>
                  <a:lnTo>
                    <a:pt x="660400" y="708660"/>
                  </a:lnTo>
                  <a:close/>
                </a:path>
                <a:path w="2356484" h="3149600">
                  <a:moveTo>
                    <a:pt x="733806" y="866140"/>
                  </a:moveTo>
                  <a:lnTo>
                    <a:pt x="710184" y="834390"/>
                  </a:lnTo>
                  <a:lnTo>
                    <a:pt x="639318" y="887730"/>
                  </a:lnTo>
                  <a:lnTo>
                    <a:pt x="635508" y="886460"/>
                  </a:lnTo>
                  <a:lnTo>
                    <a:pt x="631952" y="885190"/>
                  </a:lnTo>
                  <a:lnTo>
                    <a:pt x="625348" y="880110"/>
                  </a:lnTo>
                  <a:lnTo>
                    <a:pt x="622808" y="878840"/>
                  </a:lnTo>
                  <a:lnTo>
                    <a:pt x="621157" y="876300"/>
                  </a:lnTo>
                  <a:lnTo>
                    <a:pt x="618490" y="872490"/>
                  </a:lnTo>
                  <a:lnTo>
                    <a:pt x="616839" y="869950"/>
                  </a:lnTo>
                  <a:lnTo>
                    <a:pt x="616077" y="863600"/>
                  </a:lnTo>
                  <a:lnTo>
                    <a:pt x="616458" y="861060"/>
                  </a:lnTo>
                  <a:lnTo>
                    <a:pt x="619379" y="855980"/>
                  </a:lnTo>
                  <a:lnTo>
                    <a:pt x="621665" y="853440"/>
                  </a:lnTo>
                  <a:lnTo>
                    <a:pt x="624713" y="850900"/>
                  </a:lnTo>
                  <a:lnTo>
                    <a:pt x="627761" y="847090"/>
                  </a:lnTo>
                  <a:lnTo>
                    <a:pt x="631952" y="844550"/>
                  </a:lnTo>
                  <a:lnTo>
                    <a:pt x="637032" y="840740"/>
                  </a:lnTo>
                  <a:lnTo>
                    <a:pt x="686689" y="802640"/>
                  </a:lnTo>
                  <a:lnTo>
                    <a:pt x="663067" y="772160"/>
                  </a:lnTo>
                  <a:lnTo>
                    <a:pt x="597916" y="820420"/>
                  </a:lnTo>
                  <a:lnTo>
                    <a:pt x="575221" y="858520"/>
                  </a:lnTo>
                  <a:lnTo>
                    <a:pt x="576326" y="866140"/>
                  </a:lnTo>
                  <a:lnTo>
                    <a:pt x="605409" y="896620"/>
                  </a:lnTo>
                  <a:lnTo>
                    <a:pt x="621157" y="901700"/>
                  </a:lnTo>
                  <a:lnTo>
                    <a:pt x="610108" y="909320"/>
                  </a:lnTo>
                  <a:lnTo>
                    <a:pt x="633603" y="941070"/>
                  </a:lnTo>
                  <a:lnTo>
                    <a:pt x="704926" y="887730"/>
                  </a:lnTo>
                  <a:lnTo>
                    <a:pt x="733806" y="866140"/>
                  </a:lnTo>
                  <a:close/>
                </a:path>
                <a:path w="2356484" h="3149600">
                  <a:moveTo>
                    <a:pt x="802005" y="967740"/>
                  </a:moveTo>
                  <a:lnTo>
                    <a:pt x="782193" y="923290"/>
                  </a:lnTo>
                  <a:lnTo>
                    <a:pt x="773899" y="914400"/>
                  </a:lnTo>
                  <a:lnTo>
                    <a:pt x="769404" y="909320"/>
                  </a:lnTo>
                  <a:lnTo>
                    <a:pt x="764667" y="904240"/>
                  </a:lnTo>
                  <a:lnTo>
                    <a:pt x="758317" y="897890"/>
                  </a:lnTo>
                  <a:lnTo>
                    <a:pt x="753491" y="894080"/>
                  </a:lnTo>
                  <a:lnTo>
                    <a:pt x="750316" y="891540"/>
                  </a:lnTo>
                  <a:lnTo>
                    <a:pt x="726059" y="910590"/>
                  </a:lnTo>
                  <a:lnTo>
                    <a:pt x="728091" y="913130"/>
                  </a:lnTo>
                  <a:lnTo>
                    <a:pt x="733679" y="915670"/>
                  </a:lnTo>
                  <a:lnTo>
                    <a:pt x="739013" y="919480"/>
                  </a:lnTo>
                  <a:lnTo>
                    <a:pt x="749173" y="927100"/>
                  </a:lnTo>
                  <a:lnTo>
                    <a:pt x="753110" y="930910"/>
                  </a:lnTo>
                  <a:lnTo>
                    <a:pt x="755904" y="934720"/>
                  </a:lnTo>
                  <a:lnTo>
                    <a:pt x="762000" y="942340"/>
                  </a:lnTo>
                  <a:lnTo>
                    <a:pt x="765556" y="949960"/>
                  </a:lnTo>
                  <a:lnTo>
                    <a:pt x="766445" y="955040"/>
                  </a:lnTo>
                  <a:lnTo>
                    <a:pt x="767461" y="961390"/>
                  </a:lnTo>
                  <a:lnTo>
                    <a:pt x="765175" y="966470"/>
                  </a:lnTo>
                  <a:lnTo>
                    <a:pt x="759587" y="970280"/>
                  </a:lnTo>
                  <a:lnTo>
                    <a:pt x="759079" y="970280"/>
                  </a:lnTo>
                  <a:lnTo>
                    <a:pt x="753579" y="963930"/>
                  </a:lnTo>
                  <a:lnTo>
                    <a:pt x="750849" y="961390"/>
                  </a:lnTo>
                  <a:lnTo>
                    <a:pt x="748131" y="958850"/>
                  </a:lnTo>
                  <a:lnTo>
                    <a:pt x="742772" y="952500"/>
                  </a:lnTo>
                  <a:lnTo>
                    <a:pt x="740156" y="949985"/>
                  </a:lnTo>
                  <a:lnTo>
                    <a:pt x="740156" y="984250"/>
                  </a:lnTo>
                  <a:lnTo>
                    <a:pt x="719328" y="1000760"/>
                  </a:lnTo>
                  <a:lnTo>
                    <a:pt x="694055" y="972820"/>
                  </a:lnTo>
                  <a:lnTo>
                    <a:pt x="696341" y="969010"/>
                  </a:lnTo>
                  <a:lnTo>
                    <a:pt x="719582" y="965200"/>
                  </a:lnTo>
                  <a:lnTo>
                    <a:pt x="723138" y="967740"/>
                  </a:lnTo>
                  <a:lnTo>
                    <a:pt x="726313" y="970280"/>
                  </a:lnTo>
                  <a:lnTo>
                    <a:pt x="729107" y="972820"/>
                  </a:lnTo>
                  <a:lnTo>
                    <a:pt x="732028" y="975360"/>
                  </a:lnTo>
                  <a:lnTo>
                    <a:pt x="735711" y="979170"/>
                  </a:lnTo>
                  <a:lnTo>
                    <a:pt x="740156" y="984250"/>
                  </a:lnTo>
                  <a:lnTo>
                    <a:pt x="740156" y="949985"/>
                  </a:lnTo>
                  <a:lnTo>
                    <a:pt x="732243" y="942340"/>
                  </a:lnTo>
                  <a:lnTo>
                    <a:pt x="716534" y="930910"/>
                  </a:lnTo>
                  <a:lnTo>
                    <a:pt x="709676" y="927100"/>
                  </a:lnTo>
                  <a:lnTo>
                    <a:pt x="702818" y="925830"/>
                  </a:lnTo>
                  <a:lnTo>
                    <a:pt x="689229" y="927100"/>
                  </a:lnTo>
                  <a:lnTo>
                    <a:pt x="660704" y="953770"/>
                  </a:lnTo>
                  <a:lnTo>
                    <a:pt x="658495" y="969010"/>
                  </a:lnTo>
                  <a:lnTo>
                    <a:pt x="659638" y="976630"/>
                  </a:lnTo>
                  <a:lnTo>
                    <a:pt x="662305" y="982980"/>
                  </a:lnTo>
                  <a:lnTo>
                    <a:pt x="666496" y="990600"/>
                  </a:lnTo>
                  <a:lnTo>
                    <a:pt x="670179" y="994410"/>
                  </a:lnTo>
                  <a:lnTo>
                    <a:pt x="673227" y="998220"/>
                  </a:lnTo>
                  <a:lnTo>
                    <a:pt x="678688" y="1002030"/>
                  </a:lnTo>
                  <a:lnTo>
                    <a:pt x="681736" y="1004570"/>
                  </a:lnTo>
                  <a:lnTo>
                    <a:pt x="688848" y="1008380"/>
                  </a:lnTo>
                  <a:lnTo>
                    <a:pt x="691896" y="1009650"/>
                  </a:lnTo>
                  <a:lnTo>
                    <a:pt x="694690" y="1009650"/>
                  </a:lnTo>
                  <a:lnTo>
                    <a:pt x="697357" y="1010920"/>
                  </a:lnTo>
                  <a:lnTo>
                    <a:pt x="700405" y="1010920"/>
                  </a:lnTo>
                  <a:lnTo>
                    <a:pt x="703834" y="1012190"/>
                  </a:lnTo>
                  <a:lnTo>
                    <a:pt x="693166" y="1019810"/>
                  </a:lnTo>
                  <a:lnTo>
                    <a:pt x="716534" y="1051560"/>
                  </a:lnTo>
                  <a:lnTo>
                    <a:pt x="783069" y="1000760"/>
                  </a:lnTo>
                  <a:lnTo>
                    <a:pt x="784733" y="999490"/>
                  </a:lnTo>
                  <a:lnTo>
                    <a:pt x="792391" y="993140"/>
                  </a:lnTo>
                  <a:lnTo>
                    <a:pt x="797839" y="985520"/>
                  </a:lnTo>
                  <a:lnTo>
                    <a:pt x="801052" y="976630"/>
                  </a:lnTo>
                  <a:lnTo>
                    <a:pt x="801725" y="970280"/>
                  </a:lnTo>
                  <a:lnTo>
                    <a:pt x="802005" y="967740"/>
                  </a:lnTo>
                  <a:close/>
                </a:path>
                <a:path w="2356484" h="3149600">
                  <a:moveTo>
                    <a:pt x="896366" y="1000760"/>
                  </a:moveTo>
                  <a:lnTo>
                    <a:pt x="872871" y="970280"/>
                  </a:lnTo>
                  <a:lnTo>
                    <a:pt x="734187" y="1074420"/>
                  </a:lnTo>
                  <a:lnTo>
                    <a:pt x="757682" y="1104900"/>
                  </a:lnTo>
                  <a:lnTo>
                    <a:pt x="896366" y="1000760"/>
                  </a:lnTo>
                  <a:close/>
                </a:path>
                <a:path w="2356484" h="3149600">
                  <a:moveTo>
                    <a:pt x="1780413" y="2312289"/>
                  </a:moveTo>
                  <a:lnTo>
                    <a:pt x="1768005" y="2297049"/>
                  </a:lnTo>
                  <a:lnTo>
                    <a:pt x="1750441" y="2275459"/>
                  </a:lnTo>
                  <a:lnTo>
                    <a:pt x="1663446" y="2297049"/>
                  </a:lnTo>
                  <a:lnTo>
                    <a:pt x="1690217" y="2244979"/>
                  </a:lnTo>
                  <a:lnTo>
                    <a:pt x="1704594" y="2217039"/>
                  </a:lnTo>
                  <a:lnTo>
                    <a:pt x="1674622" y="2180209"/>
                  </a:lnTo>
                  <a:lnTo>
                    <a:pt x="1544701" y="2283079"/>
                  </a:lnTo>
                  <a:lnTo>
                    <a:pt x="1569212" y="2313559"/>
                  </a:lnTo>
                  <a:lnTo>
                    <a:pt x="1655318" y="2244979"/>
                  </a:lnTo>
                  <a:lnTo>
                    <a:pt x="1618615" y="2313559"/>
                  </a:lnTo>
                  <a:lnTo>
                    <a:pt x="1636268" y="2335149"/>
                  </a:lnTo>
                  <a:lnTo>
                    <a:pt x="1710817" y="2314829"/>
                  </a:lnTo>
                  <a:lnTo>
                    <a:pt x="1624584" y="2383409"/>
                  </a:lnTo>
                  <a:lnTo>
                    <a:pt x="1650492" y="2416429"/>
                  </a:lnTo>
                  <a:lnTo>
                    <a:pt x="1777238" y="2314829"/>
                  </a:lnTo>
                  <a:lnTo>
                    <a:pt x="1780413" y="2312289"/>
                  </a:lnTo>
                  <a:close/>
                </a:path>
                <a:path w="2356484" h="3149600">
                  <a:moveTo>
                    <a:pt x="1821053" y="2440559"/>
                  </a:moveTo>
                  <a:lnTo>
                    <a:pt x="1800098" y="2397379"/>
                  </a:lnTo>
                  <a:lnTo>
                    <a:pt x="1781937" y="2378329"/>
                  </a:lnTo>
                  <a:lnTo>
                    <a:pt x="1775460" y="2371979"/>
                  </a:lnTo>
                  <a:lnTo>
                    <a:pt x="1767205" y="2365629"/>
                  </a:lnTo>
                  <a:lnTo>
                    <a:pt x="1743583" y="2384679"/>
                  </a:lnTo>
                  <a:lnTo>
                    <a:pt x="1745615" y="2387219"/>
                  </a:lnTo>
                  <a:lnTo>
                    <a:pt x="1751330" y="2389759"/>
                  </a:lnTo>
                  <a:lnTo>
                    <a:pt x="1756791" y="2393569"/>
                  </a:lnTo>
                  <a:lnTo>
                    <a:pt x="1761871" y="2397379"/>
                  </a:lnTo>
                  <a:lnTo>
                    <a:pt x="1767078" y="2401189"/>
                  </a:lnTo>
                  <a:lnTo>
                    <a:pt x="1771142" y="2404999"/>
                  </a:lnTo>
                  <a:lnTo>
                    <a:pt x="1773936" y="2408809"/>
                  </a:lnTo>
                  <a:lnTo>
                    <a:pt x="1780286" y="2416429"/>
                  </a:lnTo>
                  <a:lnTo>
                    <a:pt x="1784096" y="2422779"/>
                  </a:lnTo>
                  <a:lnTo>
                    <a:pt x="1785112" y="2429129"/>
                  </a:lnTo>
                  <a:lnTo>
                    <a:pt x="1786255" y="2434209"/>
                  </a:lnTo>
                  <a:lnTo>
                    <a:pt x="1784096" y="2439289"/>
                  </a:lnTo>
                  <a:lnTo>
                    <a:pt x="1778127" y="2444369"/>
                  </a:lnTo>
                  <a:lnTo>
                    <a:pt x="1771345" y="2436749"/>
                  </a:lnTo>
                  <a:lnTo>
                    <a:pt x="1766887" y="2431669"/>
                  </a:lnTo>
                  <a:lnTo>
                    <a:pt x="1761401" y="2426589"/>
                  </a:lnTo>
                  <a:lnTo>
                    <a:pt x="1759585" y="2424887"/>
                  </a:lnTo>
                  <a:lnTo>
                    <a:pt x="1759585" y="2458339"/>
                  </a:lnTo>
                  <a:lnTo>
                    <a:pt x="1739138" y="2474849"/>
                  </a:lnTo>
                  <a:lnTo>
                    <a:pt x="1735201" y="2474849"/>
                  </a:lnTo>
                  <a:lnTo>
                    <a:pt x="1731391" y="2473579"/>
                  </a:lnTo>
                  <a:lnTo>
                    <a:pt x="1727962" y="2471039"/>
                  </a:lnTo>
                  <a:lnTo>
                    <a:pt x="1724533" y="2469781"/>
                  </a:lnTo>
                  <a:lnTo>
                    <a:pt x="1713230" y="2448179"/>
                  </a:lnTo>
                  <a:lnTo>
                    <a:pt x="1715389" y="2444369"/>
                  </a:lnTo>
                  <a:lnTo>
                    <a:pt x="1719961" y="2440559"/>
                  </a:lnTo>
                  <a:lnTo>
                    <a:pt x="1723136" y="2438019"/>
                  </a:lnTo>
                  <a:lnTo>
                    <a:pt x="1726184" y="2436749"/>
                  </a:lnTo>
                  <a:lnTo>
                    <a:pt x="1732407" y="2436749"/>
                  </a:lnTo>
                  <a:lnTo>
                    <a:pt x="1738503" y="2439289"/>
                  </a:lnTo>
                  <a:lnTo>
                    <a:pt x="1742059" y="2441829"/>
                  </a:lnTo>
                  <a:lnTo>
                    <a:pt x="1745361" y="2444369"/>
                  </a:lnTo>
                  <a:lnTo>
                    <a:pt x="1755013" y="2454529"/>
                  </a:lnTo>
                  <a:lnTo>
                    <a:pt x="1759585" y="2458339"/>
                  </a:lnTo>
                  <a:lnTo>
                    <a:pt x="1759585" y="2424887"/>
                  </a:lnTo>
                  <a:lnTo>
                    <a:pt x="1750618" y="2416429"/>
                  </a:lnTo>
                  <a:lnTo>
                    <a:pt x="1739900" y="2408809"/>
                  </a:lnTo>
                  <a:lnTo>
                    <a:pt x="1734566" y="2406269"/>
                  </a:lnTo>
                  <a:lnTo>
                    <a:pt x="1727581" y="2402459"/>
                  </a:lnTo>
                  <a:lnTo>
                    <a:pt x="1720723" y="2401189"/>
                  </a:lnTo>
                  <a:lnTo>
                    <a:pt x="1713992" y="2402459"/>
                  </a:lnTo>
                  <a:lnTo>
                    <a:pt x="1707134" y="2402459"/>
                  </a:lnTo>
                  <a:lnTo>
                    <a:pt x="1679333" y="2430399"/>
                  </a:lnTo>
                  <a:lnTo>
                    <a:pt x="1677492" y="2445639"/>
                  </a:lnTo>
                  <a:lnTo>
                    <a:pt x="1678876" y="2453259"/>
                  </a:lnTo>
                  <a:lnTo>
                    <a:pt x="1681772" y="2459609"/>
                  </a:lnTo>
                  <a:lnTo>
                    <a:pt x="1686179" y="2465959"/>
                  </a:lnTo>
                  <a:lnTo>
                    <a:pt x="1689862" y="2471039"/>
                  </a:lnTo>
                  <a:lnTo>
                    <a:pt x="1693164" y="2473579"/>
                  </a:lnTo>
                  <a:lnTo>
                    <a:pt x="1695831" y="2476131"/>
                  </a:lnTo>
                  <a:lnTo>
                    <a:pt x="1698625" y="2478659"/>
                  </a:lnTo>
                  <a:lnTo>
                    <a:pt x="1701800" y="2479929"/>
                  </a:lnTo>
                  <a:lnTo>
                    <a:pt x="1708912" y="2483739"/>
                  </a:lnTo>
                  <a:lnTo>
                    <a:pt x="1712087" y="2485009"/>
                  </a:lnTo>
                  <a:lnTo>
                    <a:pt x="1714754" y="2485009"/>
                  </a:lnTo>
                  <a:lnTo>
                    <a:pt x="1717548" y="2486279"/>
                  </a:lnTo>
                  <a:lnTo>
                    <a:pt x="1720596" y="2486279"/>
                  </a:lnTo>
                  <a:lnTo>
                    <a:pt x="1724025" y="2487549"/>
                  </a:lnTo>
                  <a:lnTo>
                    <a:pt x="1713611" y="2495181"/>
                  </a:lnTo>
                  <a:lnTo>
                    <a:pt x="1737868" y="2525649"/>
                  </a:lnTo>
                  <a:lnTo>
                    <a:pt x="1801368" y="2474849"/>
                  </a:lnTo>
                  <a:lnTo>
                    <a:pt x="1804543" y="2472309"/>
                  </a:lnTo>
                  <a:lnTo>
                    <a:pt x="1812061" y="2465959"/>
                  </a:lnTo>
                  <a:lnTo>
                    <a:pt x="1817319" y="2457081"/>
                  </a:lnTo>
                  <a:lnTo>
                    <a:pt x="1820303" y="2449449"/>
                  </a:lnTo>
                  <a:lnTo>
                    <a:pt x="1820735" y="2444369"/>
                  </a:lnTo>
                  <a:lnTo>
                    <a:pt x="1821053" y="2440559"/>
                  </a:lnTo>
                  <a:close/>
                </a:path>
                <a:path w="2356484" h="3149600">
                  <a:moveTo>
                    <a:pt x="1914791" y="2552319"/>
                  </a:moveTo>
                  <a:lnTo>
                    <a:pt x="1913521" y="2544699"/>
                  </a:lnTo>
                  <a:lnTo>
                    <a:pt x="1910372" y="2537079"/>
                  </a:lnTo>
                  <a:lnTo>
                    <a:pt x="1905381" y="2529459"/>
                  </a:lnTo>
                  <a:lnTo>
                    <a:pt x="1901621" y="2524379"/>
                  </a:lnTo>
                  <a:lnTo>
                    <a:pt x="1900682" y="2523109"/>
                  </a:lnTo>
                  <a:lnTo>
                    <a:pt x="1895348" y="2519299"/>
                  </a:lnTo>
                  <a:lnTo>
                    <a:pt x="1889252" y="2516759"/>
                  </a:lnTo>
                  <a:lnTo>
                    <a:pt x="1883029" y="2512949"/>
                  </a:lnTo>
                  <a:lnTo>
                    <a:pt x="1875790" y="2511679"/>
                  </a:lnTo>
                  <a:lnTo>
                    <a:pt x="1867535" y="2509139"/>
                  </a:lnTo>
                  <a:lnTo>
                    <a:pt x="1878457" y="2501531"/>
                  </a:lnTo>
                  <a:lnTo>
                    <a:pt x="1854073" y="2471039"/>
                  </a:lnTo>
                  <a:lnTo>
                    <a:pt x="1756029" y="2548509"/>
                  </a:lnTo>
                  <a:lnTo>
                    <a:pt x="1780413" y="2578989"/>
                  </a:lnTo>
                  <a:lnTo>
                    <a:pt x="1849882" y="2524379"/>
                  </a:lnTo>
                  <a:lnTo>
                    <a:pt x="1854200" y="2524379"/>
                  </a:lnTo>
                  <a:lnTo>
                    <a:pt x="1857883" y="2526931"/>
                  </a:lnTo>
                  <a:lnTo>
                    <a:pt x="1860931" y="2528189"/>
                  </a:lnTo>
                  <a:lnTo>
                    <a:pt x="1863852" y="2530729"/>
                  </a:lnTo>
                  <a:lnTo>
                    <a:pt x="1873885" y="2547239"/>
                  </a:lnTo>
                  <a:lnTo>
                    <a:pt x="1873504" y="2549779"/>
                  </a:lnTo>
                  <a:lnTo>
                    <a:pt x="1872107" y="2552319"/>
                  </a:lnTo>
                  <a:lnTo>
                    <a:pt x="1870837" y="2554859"/>
                  </a:lnTo>
                  <a:lnTo>
                    <a:pt x="1868424" y="2557399"/>
                  </a:lnTo>
                  <a:lnTo>
                    <a:pt x="1864868" y="2561209"/>
                  </a:lnTo>
                  <a:lnTo>
                    <a:pt x="1861185" y="2565019"/>
                  </a:lnTo>
                  <a:lnTo>
                    <a:pt x="1857375" y="2567559"/>
                  </a:lnTo>
                  <a:lnTo>
                    <a:pt x="1853311" y="2571369"/>
                  </a:lnTo>
                  <a:lnTo>
                    <a:pt x="1804797" y="2609469"/>
                  </a:lnTo>
                  <a:lnTo>
                    <a:pt x="1829181" y="2639949"/>
                  </a:lnTo>
                  <a:lnTo>
                    <a:pt x="1901101" y="2582799"/>
                  </a:lnTo>
                  <a:lnTo>
                    <a:pt x="1914144" y="2559939"/>
                  </a:lnTo>
                  <a:lnTo>
                    <a:pt x="1914791" y="2552319"/>
                  </a:lnTo>
                  <a:close/>
                </a:path>
                <a:path w="2356484" h="3149600">
                  <a:moveTo>
                    <a:pt x="2017776" y="2675509"/>
                  </a:moveTo>
                  <a:lnTo>
                    <a:pt x="1993519" y="2645029"/>
                  </a:lnTo>
                  <a:lnTo>
                    <a:pt x="1923923" y="2700909"/>
                  </a:lnTo>
                  <a:lnTo>
                    <a:pt x="1916557" y="2698369"/>
                  </a:lnTo>
                  <a:lnTo>
                    <a:pt x="1913255" y="2695829"/>
                  </a:lnTo>
                  <a:lnTo>
                    <a:pt x="1909826" y="2694559"/>
                  </a:lnTo>
                  <a:lnTo>
                    <a:pt x="1907286" y="2692019"/>
                  </a:lnTo>
                  <a:lnTo>
                    <a:pt x="1902714" y="2685669"/>
                  </a:lnTo>
                  <a:lnTo>
                    <a:pt x="1901063" y="2683129"/>
                  </a:lnTo>
                  <a:lnTo>
                    <a:pt x="1900047" y="2678049"/>
                  </a:lnTo>
                  <a:lnTo>
                    <a:pt x="1900555" y="2674239"/>
                  </a:lnTo>
                  <a:lnTo>
                    <a:pt x="1903222" y="2669159"/>
                  </a:lnTo>
                  <a:lnTo>
                    <a:pt x="1905381" y="2666619"/>
                  </a:lnTo>
                  <a:lnTo>
                    <a:pt x="1908429" y="2664079"/>
                  </a:lnTo>
                  <a:lnTo>
                    <a:pt x="1911350" y="2661539"/>
                  </a:lnTo>
                  <a:lnTo>
                    <a:pt x="1915414" y="2657729"/>
                  </a:lnTo>
                  <a:lnTo>
                    <a:pt x="1920494" y="2653919"/>
                  </a:lnTo>
                  <a:lnTo>
                    <a:pt x="1969135" y="2614549"/>
                  </a:lnTo>
                  <a:lnTo>
                    <a:pt x="1944624" y="2584069"/>
                  </a:lnTo>
                  <a:lnTo>
                    <a:pt x="1880870" y="2634869"/>
                  </a:lnTo>
                  <a:lnTo>
                    <a:pt x="1859153" y="2672969"/>
                  </a:lnTo>
                  <a:lnTo>
                    <a:pt x="1860486" y="2680589"/>
                  </a:lnTo>
                  <a:lnTo>
                    <a:pt x="1890395" y="2711069"/>
                  </a:lnTo>
                  <a:lnTo>
                    <a:pt x="1906270" y="2714879"/>
                  </a:lnTo>
                  <a:lnTo>
                    <a:pt x="1895475" y="2723769"/>
                  </a:lnTo>
                  <a:lnTo>
                    <a:pt x="1919732" y="2754249"/>
                  </a:lnTo>
                  <a:lnTo>
                    <a:pt x="1986140" y="2700909"/>
                  </a:lnTo>
                  <a:lnTo>
                    <a:pt x="2017776" y="2675509"/>
                  </a:lnTo>
                  <a:close/>
                </a:path>
                <a:path w="2356484" h="3149600">
                  <a:moveTo>
                    <a:pt x="2090420" y="2775839"/>
                  </a:moveTo>
                  <a:lnTo>
                    <a:pt x="2075281" y="2742819"/>
                  </a:lnTo>
                  <a:lnTo>
                    <a:pt x="2070735" y="2736469"/>
                  </a:lnTo>
                  <a:lnTo>
                    <a:pt x="2065020" y="2730119"/>
                  </a:lnTo>
                  <a:lnTo>
                    <a:pt x="2058924" y="2723769"/>
                  </a:lnTo>
                  <a:lnTo>
                    <a:pt x="2052574" y="2719959"/>
                  </a:lnTo>
                  <a:lnTo>
                    <a:pt x="2046351" y="2714879"/>
                  </a:lnTo>
                  <a:lnTo>
                    <a:pt x="2040128" y="2712339"/>
                  </a:lnTo>
                  <a:lnTo>
                    <a:pt x="2022094" y="2708529"/>
                  </a:lnTo>
                  <a:lnTo>
                    <a:pt x="2011172" y="2711069"/>
                  </a:lnTo>
                  <a:lnTo>
                    <a:pt x="1987334" y="2742819"/>
                  </a:lnTo>
                  <a:lnTo>
                    <a:pt x="1987638" y="2749169"/>
                  </a:lnTo>
                  <a:lnTo>
                    <a:pt x="1988947" y="2756789"/>
                  </a:lnTo>
                  <a:lnTo>
                    <a:pt x="1991233" y="2763139"/>
                  </a:lnTo>
                  <a:lnTo>
                    <a:pt x="1992503" y="2766949"/>
                  </a:lnTo>
                  <a:lnTo>
                    <a:pt x="1994281" y="2770759"/>
                  </a:lnTo>
                  <a:lnTo>
                    <a:pt x="1998599" y="2778379"/>
                  </a:lnTo>
                  <a:lnTo>
                    <a:pt x="2000377" y="2782189"/>
                  </a:lnTo>
                  <a:lnTo>
                    <a:pt x="2001647" y="2784729"/>
                  </a:lnTo>
                  <a:lnTo>
                    <a:pt x="2004060" y="2789809"/>
                  </a:lnTo>
                  <a:lnTo>
                    <a:pt x="2005330" y="2793619"/>
                  </a:lnTo>
                  <a:lnTo>
                    <a:pt x="2005330" y="2798699"/>
                  </a:lnTo>
                  <a:lnTo>
                    <a:pt x="2004187" y="2801239"/>
                  </a:lnTo>
                  <a:lnTo>
                    <a:pt x="1999107" y="2805049"/>
                  </a:lnTo>
                  <a:lnTo>
                    <a:pt x="1995678" y="2805049"/>
                  </a:lnTo>
                  <a:lnTo>
                    <a:pt x="1972691" y="2779649"/>
                  </a:lnTo>
                  <a:lnTo>
                    <a:pt x="1970786" y="2775839"/>
                  </a:lnTo>
                  <a:lnTo>
                    <a:pt x="1966214" y="2749169"/>
                  </a:lnTo>
                  <a:lnTo>
                    <a:pt x="1964182" y="2746629"/>
                  </a:lnTo>
                  <a:lnTo>
                    <a:pt x="1938274" y="2766949"/>
                  </a:lnTo>
                  <a:lnTo>
                    <a:pt x="1939544" y="2773299"/>
                  </a:lnTo>
                  <a:lnTo>
                    <a:pt x="1941957" y="2779649"/>
                  </a:lnTo>
                  <a:lnTo>
                    <a:pt x="1945513" y="2787269"/>
                  </a:lnTo>
                  <a:lnTo>
                    <a:pt x="1948383" y="2792349"/>
                  </a:lnTo>
                  <a:lnTo>
                    <a:pt x="1951685" y="2798699"/>
                  </a:lnTo>
                  <a:lnTo>
                    <a:pt x="1955380" y="2803779"/>
                  </a:lnTo>
                  <a:lnTo>
                    <a:pt x="1959483" y="2808859"/>
                  </a:lnTo>
                  <a:lnTo>
                    <a:pt x="1964220" y="2815209"/>
                  </a:lnTo>
                  <a:lnTo>
                    <a:pt x="2009140" y="2839339"/>
                  </a:lnTo>
                  <a:lnTo>
                    <a:pt x="2020951" y="2836799"/>
                  </a:lnTo>
                  <a:lnTo>
                    <a:pt x="2045093" y="2805049"/>
                  </a:lnTo>
                  <a:lnTo>
                    <a:pt x="2045335" y="2803779"/>
                  </a:lnTo>
                  <a:lnTo>
                    <a:pt x="2044446" y="2796159"/>
                  </a:lnTo>
                  <a:lnTo>
                    <a:pt x="2041144" y="2787269"/>
                  </a:lnTo>
                  <a:lnTo>
                    <a:pt x="2039620" y="2783459"/>
                  </a:lnTo>
                  <a:lnTo>
                    <a:pt x="2037842" y="2779649"/>
                  </a:lnTo>
                  <a:lnTo>
                    <a:pt x="2035810" y="2774569"/>
                  </a:lnTo>
                  <a:lnTo>
                    <a:pt x="2033651" y="2772029"/>
                  </a:lnTo>
                  <a:lnTo>
                    <a:pt x="2031873" y="2768219"/>
                  </a:lnTo>
                  <a:lnTo>
                    <a:pt x="2030476" y="2764409"/>
                  </a:lnTo>
                  <a:lnTo>
                    <a:pt x="2027682" y="2759329"/>
                  </a:lnTo>
                  <a:lnTo>
                    <a:pt x="2026285" y="2754249"/>
                  </a:lnTo>
                  <a:lnTo>
                    <a:pt x="2026412" y="2749169"/>
                  </a:lnTo>
                  <a:lnTo>
                    <a:pt x="2027555" y="2746629"/>
                  </a:lnTo>
                  <a:lnTo>
                    <a:pt x="2032254" y="2742819"/>
                  </a:lnTo>
                  <a:lnTo>
                    <a:pt x="2035556" y="2742819"/>
                  </a:lnTo>
                  <a:lnTo>
                    <a:pt x="2039493" y="2745359"/>
                  </a:lnTo>
                  <a:lnTo>
                    <a:pt x="2043430" y="2746629"/>
                  </a:lnTo>
                  <a:lnTo>
                    <a:pt x="2061972" y="2779649"/>
                  </a:lnTo>
                  <a:lnTo>
                    <a:pt x="2062607" y="2782189"/>
                  </a:lnTo>
                  <a:lnTo>
                    <a:pt x="2062988" y="2785999"/>
                  </a:lnTo>
                  <a:lnTo>
                    <a:pt x="2063496" y="2788539"/>
                  </a:lnTo>
                  <a:lnTo>
                    <a:pt x="2063623" y="2789809"/>
                  </a:lnTo>
                  <a:lnTo>
                    <a:pt x="2063750" y="2793619"/>
                  </a:lnTo>
                  <a:lnTo>
                    <a:pt x="2065655" y="2796159"/>
                  </a:lnTo>
                  <a:lnTo>
                    <a:pt x="2090420" y="2775839"/>
                  </a:lnTo>
                  <a:close/>
                </a:path>
                <a:path w="2356484" h="3149600">
                  <a:moveTo>
                    <a:pt x="2134870" y="2822829"/>
                  </a:moveTo>
                  <a:lnTo>
                    <a:pt x="2110486" y="2792349"/>
                  </a:lnTo>
                  <a:lnTo>
                    <a:pt x="2012442" y="2869819"/>
                  </a:lnTo>
                  <a:lnTo>
                    <a:pt x="2036826" y="2901569"/>
                  </a:lnTo>
                  <a:lnTo>
                    <a:pt x="2134870" y="2822829"/>
                  </a:lnTo>
                  <a:close/>
                </a:path>
                <a:path w="2356484" h="3149600">
                  <a:moveTo>
                    <a:pt x="2173351" y="2793619"/>
                  </a:moveTo>
                  <a:lnTo>
                    <a:pt x="2147570" y="2761869"/>
                  </a:lnTo>
                  <a:lnTo>
                    <a:pt x="2123821" y="2780919"/>
                  </a:lnTo>
                  <a:lnTo>
                    <a:pt x="2149475" y="2812669"/>
                  </a:lnTo>
                  <a:lnTo>
                    <a:pt x="2173351" y="2793619"/>
                  </a:lnTo>
                  <a:close/>
                </a:path>
                <a:path w="2356484" h="3149600">
                  <a:moveTo>
                    <a:pt x="2206625" y="2924429"/>
                  </a:moveTo>
                  <a:lnTo>
                    <a:pt x="2185670" y="2881249"/>
                  </a:lnTo>
                  <a:lnTo>
                    <a:pt x="2167636" y="2862199"/>
                  </a:lnTo>
                  <a:lnTo>
                    <a:pt x="2161032" y="2855849"/>
                  </a:lnTo>
                  <a:lnTo>
                    <a:pt x="2152777" y="2849499"/>
                  </a:lnTo>
                  <a:lnTo>
                    <a:pt x="2129155" y="2868549"/>
                  </a:lnTo>
                  <a:lnTo>
                    <a:pt x="2131187" y="2871089"/>
                  </a:lnTo>
                  <a:lnTo>
                    <a:pt x="2136902" y="2873629"/>
                  </a:lnTo>
                  <a:lnTo>
                    <a:pt x="2142363" y="2877439"/>
                  </a:lnTo>
                  <a:lnTo>
                    <a:pt x="2147570" y="2881249"/>
                  </a:lnTo>
                  <a:lnTo>
                    <a:pt x="2152650" y="2885059"/>
                  </a:lnTo>
                  <a:lnTo>
                    <a:pt x="2156714" y="2888869"/>
                  </a:lnTo>
                  <a:lnTo>
                    <a:pt x="2159635" y="2892679"/>
                  </a:lnTo>
                  <a:lnTo>
                    <a:pt x="2165985" y="2900299"/>
                  </a:lnTo>
                  <a:lnTo>
                    <a:pt x="2169668" y="2906649"/>
                  </a:lnTo>
                  <a:lnTo>
                    <a:pt x="2170811" y="2912999"/>
                  </a:lnTo>
                  <a:lnTo>
                    <a:pt x="2171827" y="2918079"/>
                  </a:lnTo>
                  <a:lnTo>
                    <a:pt x="2169795" y="2923159"/>
                  </a:lnTo>
                  <a:lnTo>
                    <a:pt x="2164334" y="2926969"/>
                  </a:lnTo>
                  <a:lnTo>
                    <a:pt x="2163826" y="2928239"/>
                  </a:lnTo>
                  <a:lnTo>
                    <a:pt x="2157006" y="2920619"/>
                  </a:lnTo>
                  <a:lnTo>
                    <a:pt x="2152523" y="2915539"/>
                  </a:lnTo>
                  <a:lnTo>
                    <a:pt x="2146998" y="2910459"/>
                  </a:lnTo>
                  <a:lnTo>
                    <a:pt x="2145284" y="2908846"/>
                  </a:lnTo>
                  <a:lnTo>
                    <a:pt x="2145284" y="2942209"/>
                  </a:lnTo>
                  <a:lnTo>
                    <a:pt x="2124837" y="2958719"/>
                  </a:lnTo>
                  <a:lnTo>
                    <a:pt x="2120773" y="2958719"/>
                  </a:lnTo>
                  <a:lnTo>
                    <a:pt x="2117090" y="2957449"/>
                  </a:lnTo>
                  <a:lnTo>
                    <a:pt x="2113661" y="2954909"/>
                  </a:lnTo>
                  <a:lnTo>
                    <a:pt x="2110105" y="2953639"/>
                  </a:lnTo>
                  <a:lnTo>
                    <a:pt x="2098802" y="2932049"/>
                  </a:lnTo>
                  <a:lnTo>
                    <a:pt x="2100961" y="2928239"/>
                  </a:lnTo>
                  <a:lnTo>
                    <a:pt x="2108708" y="2921889"/>
                  </a:lnTo>
                  <a:lnTo>
                    <a:pt x="2111883" y="2920619"/>
                  </a:lnTo>
                  <a:lnTo>
                    <a:pt x="2117979" y="2920619"/>
                  </a:lnTo>
                  <a:lnTo>
                    <a:pt x="2140585" y="2938399"/>
                  </a:lnTo>
                  <a:lnTo>
                    <a:pt x="2145284" y="2942209"/>
                  </a:lnTo>
                  <a:lnTo>
                    <a:pt x="2145284" y="2908846"/>
                  </a:lnTo>
                  <a:lnTo>
                    <a:pt x="2136241" y="2900299"/>
                  </a:lnTo>
                  <a:lnTo>
                    <a:pt x="2125535" y="2892679"/>
                  </a:lnTo>
                  <a:lnTo>
                    <a:pt x="2120265" y="2890139"/>
                  </a:lnTo>
                  <a:lnTo>
                    <a:pt x="2113280" y="2886329"/>
                  </a:lnTo>
                  <a:lnTo>
                    <a:pt x="2106295" y="2885059"/>
                  </a:lnTo>
                  <a:lnTo>
                    <a:pt x="2092706" y="2886329"/>
                  </a:lnTo>
                  <a:lnTo>
                    <a:pt x="2085721" y="2890139"/>
                  </a:lnTo>
                  <a:lnTo>
                    <a:pt x="2063242" y="2921889"/>
                  </a:lnTo>
                  <a:lnTo>
                    <a:pt x="2063115" y="2929509"/>
                  </a:lnTo>
                  <a:lnTo>
                    <a:pt x="2064486" y="2935859"/>
                  </a:lnTo>
                  <a:lnTo>
                    <a:pt x="2081530" y="2959989"/>
                  </a:lnTo>
                  <a:lnTo>
                    <a:pt x="2084197" y="2962529"/>
                  </a:lnTo>
                  <a:lnTo>
                    <a:pt x="2087372" y="2963799"/>
                  </a:lnTo>
                  <a:lnTo>
                    <a:pt x="2090928" y="2965069"/>
                  </a:lnTo>
                  <a:lnTo>
                    <a:pt x="2094484" y="2967609"/>
                  </a:lnTo>
                  <a:lnTo>
                    <a:pt x="2097659" y="2968879"/>
                  </a:lnTo>
                  <a:lnTo>
                    <a:pt x="2100453" y="2968879"/>
                  </a:lnTo>
                  <a:lnTo>
                    <a:pt x="2103120" y="2970149"/>
                  </a:lnTo>
                  <a:lnTo>
                    <a:pt x="2106168" y="2970149"/>
                  </a:lnTo>
                  <a:lnTo>
                    <a:pt x="2109597" y="2971419"/>
                  </a:lnTo>
                  <a:lnTo>
                    <a:pt x="2099183" y="2979039"/>
                  </a:lnTo>
                  <a:lnTo>
                    <a:pt x="2123440" y="3009519"/>
                  </a:lnTo>
                  <a:lnTo>
                    <a:pt x="2186940" y="2958719"/>
                  </a:lnTo>
                  <a:lnTo>
                    <a:pt x="2190115" y="2956179"/>
                  </a:lnTo>
                  <a:lnTo>
                    <a:pt x="2197633" y="2949829"/>
                  </a:lnTo>
                  <a:lnTo>
                    <a:pt x="2202891" y="2942209"/>
                  </a:lnTo>
                  <a:lnTo>
                    <a:pt x="2205875" y="2933319"/>
                  </a:lnTo>
                  <a:lnTo>
                    <a:pt x="2206307" y="2928239"/>
                  </a:lnTo>
                  <a:lnTo>
                    <a:pt x="2206625" y="2924429"/>
                  </a:lnTo>
                  <a:close/>
                </a:path>
                <a:path w="2356484" h="3149600">
                  <a:moveTo>
                    <a:pt x="2356104" y="3100959"/>
                  </a:moveTo>
                  <a:lnTo>
                    <a:pt x="2331085" y="3069209"/>
                  </a:lnTo>
                  <a:lnTo>
                    <a:pt x="2254377" y="3106039"/>
                  </a:lnTo>
                  <a:lnTo>
                    <a:pt x="2295118" y="3050159"/>
                  </a:lnTo>
                  <a:lnTo>
                    <a:pt x="2300668" y="3042539"/>
                  </a:lnTo>
                  <a:lnTo>
                    <a:pt x="2305304" y="3036189"/>
                  </a:lnTo>
                  <a:lnTo>
                    <a:pt x="2283841" y="3009519"/>
                  </a:lnTo>
                  <a:lnTo>
                    <a:pt x="2204085" y="3042539"/>
                  </a:lnTo>
                  <a:lnTo>
                    <a:pt x="2257044" y="2976499"/>
                  </a:lnTo>
                  <a:lnTo>
                    <a:pt x="2231390" y="2943479"/>
                  </a:lnTo>
                  <a:lnTo>
                    <a:pt x="2155952" y="3050159"/>
                  </a:lnTo>
                  <a:lnTo>
                    <a:pt x="2181860" y="3083179"/>
                  </a:lnTo>
                  <a:lnTo>
                    <a:pt x="2259076" y="3050159"/>
                  </a:lnTo>
                  <a:lnTo>
                    <a:pt x="2209292" y="3117469"/>
                  </a:lnTo>
                  <a:lnTo>
                    <a:pt x="2235200" y="3149219"/>
                  </a:lnTo>
                  <a:lnTo>
                    <a:pt x="2343366" y="3106039"/>
                  </a:lnTo>
                  <a:lnTo>
                    <a:pt x="2356104" y="31009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78622" y="4166235"/>
              <a:ext cx="144779" cy="12191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364219" y="4929123"/>
              <a:ext cx="539115" cy="657860"/>
            </a:xfrm>
            <a:custGeom>
              <a:avLst/>
              <a:gdLst/>
              <a:ahLst/>
              <a:cxnLst/>
              <a:rect l="l" t="t" r="r" b="b"/>
              <a:pathLst>
                <a:path w="539115" h="657860">
                  <a:moveTo>
                    <a:pt x="411733" y="567690"/>
                  </a:moveTo>
                  <a:lnTo>
                    <a:pt x="386587" y="589279"/>
                  </a:lnTo>
                  <a:lnTo>
                    <a:pt x="388111" y="594360"/>
                  </a:lnTo>
                  <a:lnTo>
                    <a:pt x="390651" y="600710"/>
                  </a:lnTo>
                  <a:lnTo>
                    <a:pt x="394461" y="608329"/>
                  </a:lnTo>
                  <a:lnTo>
                    <a:pt x="397531" y="614679"/>
                  </a:lnTo>
                  <a:lnTo>
                    <a:pt x="401018" y="619760"/>
                  </a:lnTo>
                  <a:lnTo>
                    <a:pt x="404909" y="624840"/>
                  </a:lnTo>
                  <a:lnTo>
                    <a:pt x="409194" y="631190"/>
                  </a:lnTo>
                  <a:lnTo>
                    <a:pt x="441325" y="655319"/>
                  </a:lnTo>
                  <a:lnTo>
                    <a:pt x="447801" y="656590"/>
                  </a:lnTo>
                  <a:lnTo>
                    <a:pt x="453771" y="657860"/>
                  </a:lnTo>
                  <a:lnTo>
                    <a:pt x="459739" y="657860"/>
                  </a:lnTo>
                  <a:lnTo>
                    <a:pt x="471424" y="655319"/>
                  </a:lnTo>
                  <a:lnTo>
                    <a:pt x="476630" y="652779"/>
                  </a:lnTo>
                  <a:lnTo>
                    <a:pt x="481075" y="648969"/>
                  </a:lnTo>
                  <a:lnTo>
                    <a:pt x="488187" y="643890"/>
                  </a:lnTo>
                  <a:lnTo>
                    <a:pt x="492378" y="636269"/>
                  </a:lnTo>
                  <a:lnTo>
                    <a:pt x="493522" y="629919"/>
                  </a:lnTo>
                  <a:lnTo>
                    <a:pt x="494368" y="624840"/>
                  </a:lnTo>
                  <a:lnTo>
                    <a:pt x="445134" y="624840"/>
                  </a:lnTo>
                  <a:lnTo>
                    <a:pt x="441071" y="623569"/>
                  </a:lnTo>
                  <a:lnTo>
                    <a:pt x="421385" y="600710"/>
                  </a:lnTo>
                  <a:lnTo>
                    <a:pt x="419353" y="596900"/>
                  </a:lnTo>
                  <a:lnTo>
                    <a:pt x="417829" y="593090"/>
                  </a:lnTo>
                  <a:lnTo>
                    <a:pt x="416813" y="589279"/>
                  </a:lnTo>
                  <a:lnTo>
                    <a:pt x="415416" y="584200"/>
                  </a:lnTo>
                  <a:lnTo>
                    <a:pt x="414654" y="580390"/>
                  </a:lnTo>
                  <a:lnTo>
                    <a:pt x="414147" y="575310"/>
                  </a:lnTo>
                  <a:lnTo>
                    <a:pt x="413893" y="570229"/>
                  </a:lnTo>
                  <a:lnTo>
                    <a:pt x="411733" y="567690"/>
                  </a:lnTo>
                  <a:close/>
                </a:path>
                <a:path w="539115" h="657860">
                  <a:moveTo>
                    <a:pt x="474218" y="528319"/>
                  </a:moveTo>
                  <a:lnTo>
                    <a:pt x="468375" y="528319"/>
                  </a:lnTo>
                  <a:lnTo>
                    <a:pt x="457580" y="530860"/>
                  </a:lnTo>
                  <a:lnTo>
                    <a:pt x="452754" y="533400"/>
                  </a:lnTo>
                  <a:lnTo>
                    <a:pt x="448436" y="537210"/>
                  </a:lnTo>
                  <a:lnTo>
                    <a:pt x="441071" y="543560"/>
                  </a:lnTo>
                  <a:lnTo>
                    <a:pt x="436625" y="549910"/>
                  </a:lnTo>
                  <a:lnTo>
                    <a:pt x="435355" y="557529"/>
                  </a:lnTo>
                  <a:lnTo>
                    <a:pt x="435040" y="561340"/>
                  </a:lnTo>
                  <a:lnTo>
                    <a:pt x="434932" y="565150"/>
                  </a:lnTo>
                  <a:lnTo>
                    <a:pt x="435340" y="570229"/>
                  </a:lnTo>
                  <a:lnTo>
                    <a:pt x="436874" y="576579"/>
                  </a:lnTo>
                  <a:lnTo>
                    <a:pt x="439420" y="582929"/>
                  </a:lnTo>
                  <a:lnTo>
                    <a:pt x="440816" y="586740"/>
                  </a:lnTo>
                  <a:lnTo>
                    <a:pt x="442595" y="590550"/>
                  </a:lnTo>
                  <a:lnTo>
                    <a:pt x="445007" y="594360"/>
                  </a:lnTo>
                  <a:lnTo>
                    <a:pt x="447294" y="598169"/>
                  </a:lnTo>
                  <a:lnTo>
                    <a:pt x="453008" y="609600"/>
                  </a:lnTo>
                  <a:lnTo>
                    <a:pt x="454405" y="613410"/>
                  </a:lnTo>
                  <a:lnTo>
                    <a:pt x="454659" y="618490"/>
                  </a:lnTo>
                  <a:lnTo>
                    <a:pt x="453644" y="621029"/>
                  </a:lnTo>
                  <a:lnTo>
                    <a:pt x="451357" y="622300"/>
                  </a:lnTo>
                  <a:lnTo>
                    <a:pt x="448563" y="624840"/>
                  </a:lnTo>
                  <a:lnTo>
                    <a:pt x="494368" y="624840"/>
                  </a:lnTo>
                  <a:lnTo>
                    <a:pt x="494791" y="622300"/>
                  </a:lnTo>
                  <a:lnTo>
                    <a:pt x="493649" y="614679"/>
                  </a:lnTo>
                  <a:lnTo>
                    <a:pt x="489965" y="605790"/>
                  </a:lnTo>
                  <a:lnTo>
                    <a:pt x="488441" y="601979"/>
                  </a:lnTo>
                  <a:lnTo>
                    <a:pt x="486536" y="598169"/>
                  </a:lnTo>
                  <a:lnTo>
                    <a:pt x="484250" y="594360"/>
                  </a:lnTo>
                  <a:lnTo>
                    <a:pt x="482091" y="590550"/>
                  </a:lnTo>
                  <a:lnTo>
                    <a:pt x="480186" y="586740"/>
                  </a:lnTo>
                  <a:lnTo>
                    <a:pt x="478662" y="584200"/>
                  </a:lnTo>
                  <a:lnTo>
                    <a:pt x="475614" y="577850"/>
                  </a:lnTo>
                  <a:lnTo>
                    <a:pt x="474090" y="574040"/>
                  </a:lnTo>
                  <a:lnTo>
                    <a:pt x="474090" y="568960"/>
                  </a:lnTo>
                  <a:lnTo>
                    <a:pt x="475106" y="566419"/>
                  </a:lnTo>
                  <a:lnTo>
                    <a:pt x="477265" y="563879"/>
                  </a:lnTo>
                  <a:lnTo>
                    <a:pt x="479805" y="562610"/>
                  </a:lnTo>
                  <a:lnTo>
                    <a:pt x="524535" y="562610"/>
                  </a:lnTo>
                  <a:lnTo>
                    <a:pt x="523621" y="561340"/>
                  </a:lnTo>
                  <a:lnTo>
                    <a:pt x="517905" y="554990"/>
                  </a:lnTo>
                  <a:lnTo>
                    <a:pt x="511936" y="547369"/>
                  </a:lnTo>
                  <a:lnTo>
                    <a:pt x="505713" y="542290"/>
                  </a:lnTo>
                  <a:lnTo>
                    <a:pt x="499236" y="537210"/>
                  </a:lnTo>
                  <a:lnTo>
                    <a:pt x="492886" y="533400"/>
                  </a:lnTo>
                  <a:lnTo>
                    <a:pt x="486536" y="530860"/>
                  </a:lnTo>
                  <a:lnTo>
                    <a:pt x="474218" y="528319"/>
                  </a:lnTo>
                  <a:close/>
                </a:path>
                <a:path w="539115" h="657860">
                  <a:moveTo>
                    <a:pt x="524535" y="562610"/>
                  </a:moveTo>
                  <a:lnTo>
                    <a:pt x="482980" y="562610"/>
                  </a:lnTo>
                  <a:lnTo>
                    <a:pt x="486918" y="563879"/>
                  </a:lnTo>
                  <a:lnTo>
                    <a:pt x="490981" y="565150"/>
                  </a:lnTo>
                  <a:lnTo>
                    <a:pt x="494791" y="568960"/>
                  </a:lnTo>
                  <a:lnTo>
                    <a:pt x="498475" y="572769"/>
                  </a:lnTo>
                  <a:lnTo>
                    <a:pt x="501269" y="576579"/>
                  </a:lnTo>
                  <a:lnTo>
                    <a:pt x="503554" y="579119"/>
                  </a:lnTo>
                  <a:lnTo>
                    <a:pt x="507364" y="586740"/>
                  </a:lnTo>
                  <a:lnTo>
                    <a:pt x="508761" y="590550"/>
                  </a:lnTo>
                  <a:lnTo>
                    <a:pt x="510666" y="596900"/>
                  </a:lnTo>
                  <a:lnTo>
                    <a:pt x="511301" y="600710"/>
                  </a:lnTo>
                  <a:lnTo>
                    <a:pt x="511809" y="603250"/>
                  </a:lnTo>
                  <a:lnTo>
                    <a:pt x="512445" y="607060"/>
                  </a:lnTo>
                  <a:lnTo>
                    <a:pt x="512825" y="610869"/>
                  </a:lnTo>
                  <a:lnTo>
                    <a:pt x="514857" y="613410"/>
                  </a:lnTo>
                  <a:lnTo>
                    <a:pt x="538987" y="593090"/>
                  </a:lnTo>
                  <a:lnTo>
                    <a:pt x="537590" y="588010"/>
                  </a:lnTo>
                  <a:lnTo>
                    <a:pt x="535051" y="581660"/>
                  </a:lnTo>
                  <a:lnTo>
                    <a:pt x="531622" y="574040"/>
                  </a:lnTo>
                  <a:lnTo>
                    <a:pt x="528193" y="567690"/>
                  </a:lnTo>
                  <a:lnTo>
                    <a:pt x="524535" y="562610"/>
                  </a:lnTo>
                  <a:close/>
                </a:path>
                <a:path w="539115" h="657860">
                  <a:moveTo>
                    <a:pt x="437006" y="464819"/>
                  </a:moveTo>
                  <a:lnTo>
                    <a:pt x="341502" y="546100"/>
                  </a:lnTo>
                  <a:lnTo>
                    <a:pt x="366902" y="575310"/>
                  </a:lnTo>
                  <a:lnTo>
                    <a:pt x="462279" y="494029"/>
                  </a:lnTo>
                  <a:lnTo>
                    <a:pt x="437006" y="464819"/>
                  </a:lnTo>
                  <a:close/>
                </a:path>
                <a:path w="539115" h="657860">
                  <a:moveTo>
                    <a:pt x="391699" y="406400"/>
                  </a:moveTo>
                  <a:lnTo>
                    <a:pt x="339598" y="406400"/>
                  </a:lnTo>
                  <a:lnTo>
                    <a:pt x="344043" y="407669"/>
                  </a:lnTo>
                  <a:lnTo>
                    <a:pt x="347725" y="408939"/>
                  </a:lnTo>
                  <a:lnTo>
                    <a:pt x="350774" y="411480"/>
                  </a:lnTo>
                  <a:lnTo>
                    <a:pt x="353822" y="412750"/>
                  </a:lnTo>
                  <a:lnTo>
                    <a:pt x="356361" y="415289"/>
                  </a:lnTo>
                  <a:lnTo>
                    <a:pt x="361187" y="420369"/>
                  </a:lnTo>
                  <a:lnTo>
                    <a:pt x="362965" y="422909"/>
                  </a:lnTo>
                  <a:lnTo>
                    <a:pt x="363600" y="426719"/>
                  </a:lnTo>
                  <a:lnTo>
                    <a:pt x="364362" y="429259"/>
                  </a:lnTo>
                  <a:lnTo>
                    <a:pt x="363981" y="431800"/>
                  </a:lnTo>
                  <a:lnTo>
                    <a:pt x="361696" y="436880"/>
                  </a:lnTo>
                  <a:lnTo>
                    <a:pt x="359282" y="439419"/>
                  </a:lnTo>
                  <a:lnTo>
                    <a:pt x="352171" y="447039"/>
                  </a:lnTo>
                  <a:lnTo>
                    <a:pt x="348487" y="450850"/>
                  </a:lnTo>
                  <a:lnTo>
                    <a:pt x="344677" y="453389"/>
                  </a:lnTo>
                  <a:lnTo>
                    <a:pt x="297306" y="494029"/>
                  </a:lnTo>
                  <a:lnTo>
                    <a:pt x="322833" y="524510"/>
                  </a:lnTo>
                  <a:lnTo>
                    <a:pt x="384936" y="471169"/>
                  </a:lnTo>
                  <a:lnTo>
                    <a:pt x="405403" y="433069"/>
                  </a:lnTo>
                  <a:lnTo>
                    <a:pt x="403923" y="425450"/>
                  </a:lnTo>
                  <a:lnTo>
                    <a:pt x="400538" y="417830"/>
                  </a:lnTo>
                  <a:lnTo>
                    <a:pt x="395224" y="410209"/>
                  </a:lnTo>
                  <a:lnTo>
                    <a:pt x="391699" y="406400"/>
                  </a:lnTo>
                  <a:close/>
                </a:path>
                <a:path w="539115" h="657860">
                  <a:moveTo>
                    <a:pt x="473075" y="433069"/>
                  </a:moveTo>
                  <a:lnTo>
                    <a:pt x="449833" y="452119"/>
                  </a:lnTo>
                  <a:lnTo>
                    <a:pt x="476630" y="483869"/>
                  </a:lnTo>
                  <a:lnTo>
                    <a:pt x="499872" y="463550"/>
                  </a:lnTo>
                  <a:lnTo>
                    <a:pt x="473075" y="433069"/>
                  </a:lnTo>
                  <a:close/>
                </a:path>
                <a:path w="539115" h="657860">
                  <a:moveTo>
                    <a:pt x="342010" y="353059"/>
                  </a:moveTo>
                  <a:lnTo>
                    <a:pt x="246633" y="434339"/>
                  </a:lnTo>
                  <a:lnTo>
                    <a:pt x="272033" y="464819"/>
                  </a:lnTo>
                  <a:lnTo>
                    <a:pt x="339598" y="406400"/>
                  </a:lnTo>
                  <a:lnTo>
                    <a:pt x="391699" y="406400"/>
                  </a:lnTo>
                  <a:lnTo>
                    <a:pt x="356870" y="392430"/>
                  </a:lnTo>
                  <a:lnTo>
                    <a:pt x="367410" y="383539"/>
                  </a:lnTo>
                  <a:lnTo>
                    <a:pt x="342010" y="353059"/>
                  </a:lnTo>
                  <a:close/>
                </a:path>
                <a:path w="539115" h="657860">
                  <a:moveTo>
                    <a:pt x="321305" y="328930"/>
                  </a:moveTo>
                  <a:lnTo>
                    <a:pt x="228473" y="328930"/>
                  </a:lnTo>
                  <a:lnTo>
                    <a:pt x="208914" y="389889"/>
                  </a:lnTo>
                  <a:lnTo>
                    <a:pt x="239140" y="425450"/>
                  </a:lnTo>
                  <a:lnTo>
                    <a:pt x="262762" y="344169"/>
                  </a:lnTo>
                  <a:lnTo>
                    <a:pt x="332358" y="341630"/>
                  </a:lnTo>
                  <a:lnTo>
                    <a:pt x="321305" y="328930"/>
                  </a:lnTo>
                  <a:close/>
                </a:path>
                <a:path w="539115" h="657860">
                  <a:moveTo>
                    <a:pt x="289940" y="217169"/>
                  </a:moveTo>
                  <a:lnTo>
                    <a:pt x="157733" y="330200"/>
                  </a:lnTo>
                  <a:lnTo>
                    <a:pt x="183006" y="359409"/>
                  </a:lnTo>
                  <a:lnTo>
                    <a:pt x="218439" y="330200"/>
                  </a:lnTo>
                  <a:lnTo>
                    <a:pt x="228473" y="328930"/>
                  </a:lnTo>
                  <a:lnTo>
                    <a:pt x="321305" y="328930"/>
                  </a:lnTo>
                  <a:lnTo>
                    <a:pt x="304724" y="309880"/>
                  </a:lnTo>
                  <a:lnTo>
                    <a:pt x="241173" y="309880"/>
                  </a:lnTo>
                  <a:lnTo>
                    <a:pt x="315213" y="247650"/>
                  </a:lnTo>
                  <a:lnTo>
                    <a:pt x="289940" y="217169"/>
                  </a:lnTo>
                  <a:close/>
                </a:path>
                <a:path w="539115" h="657860">
                  <a:moveTo>
                    <a:pt x="302513" y="307339"/>
                  </a:moveTo>
                  <a:lnTo>
                    <a:pt x="241173" y="309880"/>
                  </a:lnTo>
                  <a:lnTo>
                    <a:pt x="304724" y="309880"/>
                  </a:lnTo>
                  <a:lnTo>
                    <a:pt x="302513" y="307339"/>
                  </a:lnTo>
                  <a:close/>
                </a:path>
                <a:path w="539115" h="657860">
                  <a:moveTo>
                    <a:pt x="158750" y="160019"/>
                  </a:moveTo>
                  <a:lnTo>
                    <a:pt x="121745" y="170180"/>
                  </a:lnTo>
                  <a:lnTo>
                    <a:pt x="91868" y="200660"/>
                  </a:lnTo>
                  <a:lnTo>
                    <a:pt x="85471" y="224789"/>
                  </a:lnTo>
                  <a:lnTo>
                    <a:pt x="86588" y="237489"/>
                  </a:lnTo>
                  <a:lnTo>
                    <a:pt x="107823" y="276860"/>
                  </a:lnTo>
                  <a:lnTo>
                    <a:pt x="119252" y="288289"/>
                  </a:lnTo>
                  <a:lnTo>
                    <a:pt x="122681" y="292100"/>
                  </a:lnTo>
                  <a:lnTo>
                    <a:pt x="126110" y="294639"/>
                  </a:lnTo>
                  <a:lnTo>
                    <a:pt x="133603" y="299719"/>
                  </a:lnTo>
                  <a:lnTo>
                    <a:pt x="136778" y="302260"/>
                  </a:lnTo>
                  <a:lnTo>
                    <a:pt x="141858" y="304800"/>
                  </a:lnTo>
                  <a:lnTo>
                    <a:pt x="144652" y="306069"/>
                  </a:lnTo>
                  <a:lnTo>
                    <a:pt x="147700" y="307339"/>
                  </a:lnTo>
                  <a:lnTo>
                    <a:pt x="172211" y="287019"/>
                  </a:lnTo>
                  <a:lnTo>
                    <a:pt x="169545" y="283210"/>
                  </a:lnTo>
                  <a:lnTo>
                    <a:pt x="167512" y="283210"/>
                  </a:lnTo>
                  <a:lnTo>
                    <a:pt x="164973" y="281939"/>
                  </a:lnTo>
                  <a:lnTo>
                    <a:pt x="158876" y="280669"/>
                  </a:lnTo>
                  <a:lnTo>
                    <a:pt x="155828" y="279400"/>
                  </a:lnTo>
                  <a:lnTo>
                    <a:pt x="152653" y="278130"/>
                  </a:lnTo>
                  <a:lnTo>
                    <a:pt x="149098" y="275589"/>
                  </a:lnTo>
                  <a:lnTo>
                    <a:pt x="145414" y="273050"/>
                  </a:lnTo>
                  <a:lnTo>
                    <a:pt x="141858" y="270510"/>
                  </a:lnTo>
                  <a:lnTo>
                    <a:pt x="138175" y="267969"/>
                  </a:lnTo>
                  <a:lnTo>
                    <a:pt x="135000" y="265430"/>
                  </a:lnTo>
                  <a:lnTo>
                    <a:pt x="131952" y="261619"/>
                  </a:lnTo>
                  <a:lnTo>
                    <a:pt x="128524" y="257810"/>
                  </a:lnTo>
                  <a:lnTo>
                    <a:pt x="119887" y="237489"/>
                  </a:lnTo>
                  <a:lnTo>
                    <a:pt x="119379" y="233680"/>
                  </a:lnTo>
                  <a:lnTo>
                    <a:pt x="130301" y="213360"/>
                  </a:lnTo>
                  <a:lnTo>
                    <a:pt x="161199" y="213360"/>
                  </a:lnTo>
                  <a:lnTo>
                    <a:pt x="148081" y="198119"/>
                  </a:lnTo>
                  <a:lnTo>
                    <a:pt x="154304" y="193039"/>
                  </a:lnTo>
                  <a:lnTo>
                    <a:pt x="160654" y="190500"/>
                  </a:lnTo>
                  <a:lnTo>
                    <a:pt x="207605" y="190500"/>
                  </a:lnTo>
                  <a:lnTo>
                    <a:pt x="204597" y="186689"/>
                  </a:lnTo>
                  <a:lnTo>
                    <a:pt x="194022" y="175260"/>
                  </a:lnTo>
                  <a:lnTo>
                    <a:pt x="182864" y="167639"/>
                  </a:lnTo>
                  <a:lnTo>
                    <a:pt x="171110" y="162560"/>
                  </a:lnTo>
                  <a:lnTo>
                    <a:pt x="158750" y="160019"/>
                  </a:lnTo>
                  <a:close/>
                </a:path>
                <a:path w="539115" h="657860">
                  <a:moveTo>
                    <a:pt x="161199" y="213360"/>
                  </a:moveTo>
                  <a:lnTo>
                    <a:pt x="130301" y="213360"/>
                  </a:lnTo>
                  <a:lnTo>
                    <a:pt x="185800" y="278130"/>
                  </a:lnTo>
                  <a:lnTo>
                    <a:pt x="213614" y="250189"/>
                  </a:lnTo>
                  <a:lnTo>
                    <a:pt x="219794" y="233680"/>
                  </a:lnTo>
                  <a:lnTo>
                    <a:pt x="178688" y="233680"/>
                  </a:lnTo>
                  <a:lnTo>
                    <a:pt x="161199" y="213360"/>
                  </a:lnTo>
                  <a:close/>
                </a:path>
                <a:path w="539115" h="657860">
                  <a:moveTo>
                    <a:pt x="207605" y="190500"/>
                  </a:moveTo>
                  <a:lnTo>
                    <a:pt x="166877" y="190500"/>
                  </a:lnTo>
                  <a:lnTo>
                    <a:pt x="173100" y="191769"/>
                  </a:lnTo>
                  <a:lnTo>
                    <a:pt x="178688" y="194310"/>
                  </a:lnTo>
                  <a:lnTo>
                    <a:pt x="183514" y="200660"/>
                  </a:lnTo>
                  <a:lnTo>
                    <a:pt x="188340" y="205739"/>
                  </a:lnTo>
                  <a:lnTo>
                    <a:pt x="190373" y="210819"/>
                  </a:lnTo>
                  <a:lnTo>
                    <a:pt x="189356" y="217169"/>
                  </a:lnTo>
                  <a:lnTo>
                    <a:pt x="188468" y="222250"/>
                  </a:lnTo>
                  <a:lnTo>
                    <a:pt x="184911" y="228600"/>
                  </a:lnTo>
                  <a:lnTo>
                    <a:pt x="178688" y="233680"/>
                  </a:lnTo>
                  <a:lnTo>
                    <a:pt x="219794" y="233680"/>
                  </a:lnTo>
                  <a:lnTo>
                    <a:pt x="220852" y="228600"/>
                  </a:lnTo>
                  <a:lnTo>
                    <a:pt x="220759" y="218439"/>
                  </a:lnTo>
                  <a:lnTo>
                    <a:pt x="218011" y="208280"/>
                  </a:lnTo>
                  <a:lnTo>
                    <a:pt x="212619" y="196850"/>
                  </a:lnTo>
                  <a:lnTo>
                    <a:pt x="207605" y="190500"/>
                  </a:lnTo>
                  <a:close/>
                </a:path>
                <a:path w="539115" h="657860">
                  <a:moveTo>
                    <a:pt x="94614" y="0"/>
                  </a:moveTo>
                  <a:lnTo>
                    <a:pt x="70484" y="20319"/>
                  </a:lnTo>
                  <a:lnTo>
                    <a:pt x="102361" y="58419"/>
                  </a:lnTo>
                  <a:lnTo>
                    <a:pt x="0" y="144780"/>
                  </a:lnTo>
                  <a:lnTo>
                    <a:pt x="27050" y="176530"/>
                  </a:lnTo>
                  <a:lnTo>
                    <a:pt x="129412" y="90169"/>
                  </a:lnTo>
                  <a:lnTo>
                    <a:pt x="171366" y="90169"/>
                  </a:lnTo>
                  <a:lnTo>
                    <a:pt x="94614" y="0"/>
                  </a:lnTo>
                  <a:close/>
                </a:path>
                <a:path w="539115" h="657860">
                  <a:moveTo>
                    <a:pt x="171366" y="90169"/>
                  </a:moveTo>
                  <a:lnTo>
                    <a:pt x="129412" y="90169"/>
                  </a:lnTo>
                  <a:lnTo>
                    <a:pt x="161289" y="127000"/>
                  </a:lnTo>
                  <a:lnTo>
                    <a:pt x="185420" y="106680"/>
                  </a:lnTo>
                  <a:lnTo>
                    <a:pt x="171366" y="901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JENJANG</a:t>
            </a:r>
            <a:r>
              <a:rPr sz="3600" spc="30" dirty="0"/>
              <a:t> </a:t>
            </a:r>
            <a:r>
              <a:rPr sz="3600" spc="-15" dirty="0"/>
              <a:t>MANAJEMEN</a:t>
            </a:r>
            <a:endParaRPr sz="3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1606279"/>
            <a:ext cx="7886700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5" dirty="0"/>
              <a:t>Kebutuhan</a:t>
            </a:r>
            <a:r>
              <a:rPr spc="-40" dirty="0"/>
              <a:t> </a:t>
            </a:r>
            <a:r>
              <a:rPr spc="-5" dirty="0"/>
              <a:t>SIM</a:t>
            </a:r>
            <a:r>
              <a:rPr spc="-105" dirty="0"/>
              <a:t> </a:t>
            </a:r>
            <a:r>
              <a:rPr spc="5" dirty="0"/>
              <a:t>pada</a:t>
            </a:r>
            <a:r>
              <a:rPr spc="-45" dirty="0"/>
              <a:t> </a:t>
            </a:r>
            <a:r>
              <a:rPr dirty="0"/>
              <a:t>Organisasi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320" y="1842624"/>
            <a:ext cx="5435600" cy="4050468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45"/>
              </a:spcBef>
            </a:pPr>
            <a:r>
              <a:rPr sz="2800" b="1" spc="5" dirty="0">
                <a:latin typeface="Arial"/>
                <a:cs typeface="Arial"/>
              </a:rPr>
              <a:t>Manajemen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Tingkat </a:t>
            </a:r>
            <a:r>
              <a:rPr sz="2800" b="1" spc="-20" dirty="0">
                <a:latin typeface="Arial"/>
                <a:cs typeface="Arial"/>
              </a:rPr>
              <a:t>Atas</a:t>
            </a:r>
            <a:endParaRPr sz="2800">
              <a:latin typeface="Arial"/>
              <a:cs typeface="Arial"/>
            </a:endParaRPr>
          </a:p>
          <a:p>
            <a:pPr marL="217804" indent="-193040">
              <a:lnSpc>
                <a:spcPct val="100000"/>
              </a:lnSpc>
              <a:spcBef>
                <a:spcPts val="375"/>
              </a:spcBef>
              <a:buChar char="•"/>
              <a:tabLst>
                <a:tab pos="218440" algn="l"/>
              </a:tabLst>
            </a:pPr>
            <a:r>
              <a:rPr sz="2400" dirty="0">
                <a:latin typeface="Arial MT"/>
                <a:cs typeface="Arial MT"/>
              </a:rPr>
              <a:t>ESS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(Executive</a:t>
            </a:r>
            <a:r>
              <a:rPr sz="2400" dirty="0">
                <a:latin typeface="Arial MT"/>
                <a:cs typeface="Arial MT"/>
              </a:rPr>
              <a:t> Support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System)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3260"/>
              </a:lnSpc>
              <a:spcBef>
                <a:spcPts val="2395"/>
              </a:spcBef>
            </a:pPr>
            <a:r>
              <a:rPr sz="2800" b="1" spc="5" dirty="0">
                <a:latin typeface="Arial"/>
                <a:cs typeface="Arial"/>
              </a:rPr>
              <a:t>Manajemen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Tingkat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Menengah</a:t>
            </a:r>
            <a:endParaRPr sz="2800">
              <a:latin typeface="Arial"/>
              <a:cs typeface="Arial"/>
            </a:endParaRPr>
          </a:p>
          <a:p>
            <a:pPr marL="203835" indent="-191770">
              <a:lnSpc>
                <a:spcPts val="2685"/>
              </a:lnSpc>
              <a:buChar char="•"/>
              <a:tabLst>
                <a:tab pos="204470" algn="l"/>
              </a:tabLst>
            </a:pPr>
            <a:r>
              <a:rPr sz="2400" spc="-5" dirty="0">
                <a:latin typeface="Arial MT"/>
                <a:cs typeface="Arial MT"/>
              </a:rPr>
              <a:t>DSS (Decision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Support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System)</a:t>
            </a:r>
            <a:endParaRPr sz="2400">
              <a:latin typeface="Arial MT"/>
              <a:cs typeface="Arial MT"/>
            </a:endParaRPr>
          </a:p>
          <a:p>
            <a:pPr marL="203835" indent="-191770">
              <a:lnSpc>
                <a:spcPts val="2680"/>
              </a:lnSpc>
              <a:buChar char="•"/>
              <a:tabLst>
                <a:tab pos="204470" algn="l"/>
              </a:tabLst>
            </a:pPr>
            <a:r>
              <a:rPr sz="2400" dirty="0">
                <a:latin typeface="Arial MT"/>
                <a:cs typeface="Arial MT"/>
              </a:rPr>
              <a:t>MIS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(Manajement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Information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System)</a:t>
            </a:r>
            <a:endParaRPr sz="2400">
              <a:latin typeface="Arial MT"/>
              <a:cs typeface="Arial MT"/>
            </a:endParaRPr>
          </a:p>
          <a:p>
            <a:pPr marL="203835" indent="-191770">
              <a:lnSpc>
                <a:spcPts val="2770"/>
              </a:lnSpc>
              <a:buChar char="•"/>
              <a:tabLst>
                <a:tab pos="204470" algn="l"/>
              </a:tabLst>
            </a:pPr>
            <a:r>
              <a:rPr sz="2400" dirty="0">
                <a:latin typeface="Arial MT"/>
                <a:cs typeface="Arial MT"/>
              </a:rPr>
              <a:t>OA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(Office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Automations)</a:t>
            </a:r>
            <a:endParaRPr sz="2400">
              <a:latin typeface="Arial MT"/>
              <a:cs typeface="Arial MT"/>
            </a:endParaRPr>
          </a:p>
          <a:p>
            <a:pPr marL="27940">
              <a:lnSpc>
                <a:spcPts val="3260"/>
              </a:lnSpc>
              <a:spcBef>
                <a:spcPts val="1685"/>
              </a:spcBef>
            </a:pPr>
            <a:r>
              <a:rPr sz="2800" b="1" dirty="0">
                <a:latin typeface="Arial"/>
                <a:cs typeface="Arial"/>
              </a:rPr>
              <a:t>Bagian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Operasional</a:t>
            </a:r>
            <a:endParaRPr sz="2800">
              <a:latin typeface="Arial"/>
              <a:cs typeface="Arial"/>
            </a:endParaRPr>
          </a:p>
          <a:p>
            <a:pPr marL="219710" indent="-192405">
              <a:lnSpc>
                <a:spcPts val="2685"/>
              </a:lnSpc>
              <a:buChar char="•"/>
              <a:tabLst>
                <a:tab pos="220345" algn="l"/>
              </a:tabLst>
            </a:pPr>
            <a:r>
              <a:rPr sz="2400" spc="-5" dirty="0">
                <a:latin typeface="Arial MT"/>
                <a:cs typeface="Arial MT"/>
              </a:rPr>
              <a:t>DP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(Data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Processing)</a:t>
            </a:r>
            <a:endParaRPr sz="2400">
              <a:latin typeface="Arial MT"/>
              <a:cs typeface="Arial MT"/>
            </a:endParaRPr>
          </a:p>
          <a:p>
            <a:pPr marL="213995" indent="-186690">
              <a:lnSpc>
                <a:spcPts val="2785"/>
              </a:lnSpc>
              <a:buChar char="•"/>
              <a:tabLst>
                <a:tab pos="214629" algn="l"/>
              </a:tabLst>
            </a:pPr>
            <a:r>
              <a:rPr sz="2400" dirty="0">
                <a:latin typeface="Arial MT"/>
                <a:cs typeface="Arial MT"/>
              </a:rPr>
              <a:t>TPS</a:t>
            </a:r>
            <a:r>
              <a:rPr sz="2400" spc="-10" dirty="0">
                <a:latin typeface="Arial MT"/>
                <a:cs typeface="Arial MT"/>
              </a:rPr>
              <a:t> (Transaction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Processing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5153" y="966731"/>
            <a:ext cx="78867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0" dirty="0">
                <a:latin typeface="Calibri"/>
                <a:cs typeface="Calibri"/>
              </a:rPr>
              <a:t>Mengapa </a:t>
            </a:r>
            <a:r>
              <a:rPr sz="4400" spc="-5" dirty="0">
                <a:latin typeface="Calibri"/>
                <a:cs typeface="Calibri"/>
              </a:rPr>
              <a:t>perlu</a:t>
            </a:r>
            <a:r>
              <a:rPr sz="4400" spc="-20" dirty="0">
                <a:latin typeface="Calibri"/>
                <a:cs typeface="Calibri"/>
              </a:rPr>
              <a:t> </a:t>
            </a:r>
            <a:r>
              <a:rPr sz="4400" spc="-5" dirty="0">
                <a:latin typeface="Calibri"/>
                <a:cs typeface="Calibri"/>
              </a:rPr>
              <a:t>SIM?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644" y="1853565"/>
            <a:ext cx="7850505" cy="403288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353695" marR="1105535" indent="-341630">
              <a:lnSpc>
                <a:spcPts val="2310"/>
              </a:lnSpc>
              <a:spcBef>
                <a:spcPts val="650"/>
              </a:spcBef>
              <a:buClr>
                <a:srgbClr val="FFFFFF"/>
              </a:buClr>
              <a:buFont typeface="Arial MT"/>
              <a:buChar char="•"/>
              <a:tabLst>
                <a:tab pos="353695" algn="l"/>
                <a:tab pos="354330" algn="l"/>
              </a:tabLst>
            </a:pPr>
            <a:r>
              <a:rPr sz="2400" b="1" spc="-5" dirty="0">
                <a:latin typeface="Calibri"/>
                <a:cs typeface="Calibri"/>
              </a:rPr>
              <a:t>Jumlah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transaksi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yang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besar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5" dirty="0">
                <a:latin typeface="Calibri"/>
                <a:cs typeface="Calibri"/>
              </a:rPr>
              <a:t> sangat</a:t>
            </a:r>
            <a:r>
              <a:rPr sz="2400" spc="-5" dirty="0">
                <a:latin typeface="Calibri"/>
                <a:cs typeface="Calibri"/>
              </a:rPr>
              <a:t> membutuhkan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tersedianya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informasi.</a:t>
            </a:r>
            <a:endParaRPr sz="2400" dirty="0">
              <a:latin typeface="Calibri"/>
              <a:cs typeface="Calibri"/>
            </a:endParaRPr>
          </a:p>
          <a:p>
            <a:pPr marL="353695" marR="5080" indent="-341630">
              <a:lnSpc>
                <a:spcPct val="80000"/>
              </a:lnSpc>
              <a:spcBef>
                <a:spcPts val="520"/>
              </a:spcBef>
              <a:buClr>
                <a:srgbClr val="FFFFFF"/>
              </a:buClr>
              <a:buFont typeface="Arial MT"/>
              <a:buChar char="•"/>
              <a:tabLst>
                <a:tab pos="353695" algn="l"/>
                <a:tab pos="354330" algn="l"/>
              </a:tabLst>
            </a:pPr>
            <a:r>
              <a:rPr sz="2400" b="1" spc="-20" dirty="0">
                <a:latin typeface="Calibri"/>
                <a:cs typeface="Calibri"/>
              </a:rPr>
              <a:t>Adanya </a:t>
            </a:r>
            <a:r>
              <a:rPr sz="2400" b="1" spc="-5" dirty="0">
                <a:latin typeface="Calibri"/>
                <a:cs typeface="Calibri"/>
              </a:rPr>
              <a:t>departemenisasi </a:t>
            </a:r>
            <a:r>
              <a:rPr sz="2400" dirty="0">
                <a:latin typeface="Calibri"/>
                <a:cs typeface="Calibri"/>
              </a:rPr>
              <a:t>dalam </a:t>
            </a:r>
            <a:r>
              <a:rPr sz="2400" spc="-5" dirty="0">
                <a:latin typeface="Calibri"/>
                <a:cs typeface="Calibri"/>
              </a:rPr>
              <a:t>suatu </a:t>
            </a:r>
            <a:r>
              <a:rPr sz="2400" spc="-10" dirty="0">
                <a:latin typeface="Calibri"/>
                <a:cs typeface="Calibri"/>
              </a:rPr>
              <a:t>organisasi, kebutuhan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informasi bukan </a:t>
            </a:r>
            <a:r>
              <a:rPr sz="2400" spc="-5" dirty="0">
                <a:latin typeface="Calibri"/>
                <a:cs typeface="Calibri"/>
              </a:rPr>
              <a:t>merupakan </a:t>
            </a:r>
            <a:r>
              <a:rPr sz="2400" spc="-10" dirty="0">
                <a:latin typeface="Calibri"/>
                <a:cs typeface="Calibri"/>
              </a:rPr>
              <a:t>persoalan </a:t>
            </a:r>
            <a:r>
              <a:rPr sz="2400" spc="-15" dirty="0">
                <a:latin typeface="Calibri"/>
                <a:cs typeface="Calibri"/>
              </a:rPr>
              <a:t>yang </a:t>
            </a:r>
            <a:r>
              <a:rPr sz="2400" dirty="0">
                <a:latin typeface="Calibri"/>
                <a:cs typeface="Calibri"/>
              </a:rPr>
              <a:t>sederhana.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Kebutuhan </a:t>
            </a:r>
            <a:r>
              <a:rPr sz="2400" spc="-10" dirty="0">
                <a:latin typeface="Calibri"/>
                <a:cs typeface="Calibri"/>
              </a:rPr>
              <a:t>informasi bukan </a:t>
            </a:r>
            <a:r>
              <a:rPr sz="2400" spc="-20" dirty="0">
                <a:latin typeface="Calibri"/>
                <a:cs typeface="Calibri"/>
              </a:rPr>
              <a:t>hanya </a:t>
            </a:r>
            <a:r>
              <a:rPr sz="2400" spc="-10" dirty="0">
                <a:latin typeface="Calibri"/>
                <a:cs typeface="Calibri"/>
              </a:rPr>
              <a:t>berkaitan </a:t>
            </a:r>
            <a:r>
              <a:rPr sz="2400" spc="-5" dirty="0">
                <a:latin typeface="Calibri"/>
                <a:cs typeface="Calibri"/>
              </a:rPr>
              <a:t>dengan relasi </a:t>
            </a:r>
            <a:r>
              <a:rPr sz="2400" dirty="0">
                <a:latin typeface="Calibri"/>
                <a:cs typeface="Calibri"/>
              </a:rPr>
              <a:t>di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luar </a:t>
            </a:r>
            <a:r>
              <a:rPr sz="2400" spc="-10" dirty="0">
                <a:latin typeface="Calibri"/>
                <a:cs typeface="Calibri"/>
              </a:rPr>
              <a:t>organisasi, tetapi </a:t>
            </a:r>
            <a:r>
              <a:rPr sz="2400" spc="-15" dirty="0">
                <a:latin typeface="Calibri"/>
                <a:cs typeface="Calibri"/>
              </a:rPr>
              <a:t>juga </a:t>
            </a:r>
            <a:r>
              <a:rPr sz="2400" spc="-10" dirty="0">
                <a:latin typeface="Calibri"/>
                <a:cs typeface="Calibri"/>
              </a:rPr>
              <a:t>berkaitan </a:t>
            </a:r>
            <a:r>
              <a:rPr sz="2400" spc="-5" dirty="0">
                <a:latin typeface="Calibri"/>
                <a:cs typeface="Calibri"/>
              </a:rPr>
              <a:t>dengan person-person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yang </a:t>
            </a:r>
            <a:r>
              <a:rPr sz="2400" dirty="0">
                <a:latin typeface="Calibri"/>
                <a:cs typeface="Calibri"/>
              </a:rPr>
              <a:t>ada pada departemen dalam </a:t>
            </a:r>
            <a:r>
              <a:rPr sz="2400" spc="-10" dirty="0">
                <a:latin typeface="Calibri"/>
                <a:cs typeface="Calibri"/>
              </a:rPr>
              <a:t>organisasi </a:t>
            </a:r>
            <a:r>
              <a:rPr sz="2400" spc="-15" dirty="0">
                <a:latin typeface="Calibri"/>
                <a:cs typeface="Calibri"/>
              </a:rPr>
              <a:t>yang </a:t>
            </a:r>
            <a:r>
              <a:rPr sz="2400" spc="-10" dirty="0">
                <a:latin typeface="Calibri"/>
                <a:cs typeface="Calibri"/>
              </a:rPr>
              <a:t> bersangkutan. </a:t>
            </a:r>
            <a:r>
              <a:rPr sz="2400" spc="-5" dirty="0">
                <a:latin typeface="Calibri"/>
                <a:cs typeface="Calibri"/>
              </a:rPr>
              <a:t>Oleh </a:t>
            </a:r>
            <a:r>
              <a:rPr sz="2400" spc="-15" dirty="0">
                <a:latin typeface="Calibri"/>
                <a:cs typeface="Calibri"/>
              </a:rPr>
              <a:t>karena </a:t>
            </a:r>
            <a:r>
              <a:rPr sz="2400" dirty="0">
                <a:latin typeface="Calibri"/>
                <a:cs typeface="Calibri"/>
              </a:rPr>
              <a:t>itu </a:t>
            </a:r>
            <a:r>
              <a:rPr sz="2400" spc="-5" dirty="0">
                <a:latin typeface="Calibri"/>
                <a:cs typeface="Calibri"/>
              </a:rPr>
              <a:t>diperlukan </a:t>
            </a:r>
            <a:r>
              <a:rPr sz="2400" spc="-10" dirty="0">
                <a:latin typeface="Calibri"/>
                <a:cs typeface="Calibri"/>
              </a:rPr>
              <a:t>koordinasi </a:t>
            </a:r>
            <a:r>
              <a:rPr sz="2400" dirty="0">
                <a:latin typeface="Calibri"/>
                <a:cs typeface="Calibri"/>
              </a:rPr>
              <a:t>dan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komunikasi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yang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sistematik.</a:t>
            </a:r>
            <a:endParaRPr sz="2400" dirty="0">
              <a:latin typeface="Calibri"/>
              <a:cs typeface="Calibri"/>
            </a:endParaRPr>
          </a:p>
          <a:p>
            <a:pPr marL="353695" marR="330200" indent="-341630">
              <a:lnSpc>
                <a:spcPct val="80100"/>
              </a:lnSpc>
              <a:spcBef>
                <a:spcPts val="500"/>
              </a:spcBef>
              <a:buClr>
                <a:srgbClr val="FFFFFF"/>
              </a:buClr>
              <a:buFont typeface="Arial MT"/>
              <a:buChar char="•"/>
              <a:tabLst>
                <a:tab pos="353695" algn="l"/>
                <a:tab pos="354330" algn="l"/>
              </a:tabLst>
            </a:pPr>
            <a:r>
              <a:rPr sz="2400" b="1" spc="-5" dirty="0">
                <a:latin typeface="Calibri"/>
                <a:cs typeface="Calibri"/>
              </a:rPr>
              <a:t>Semakin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kompleksnya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kegiatan</a:t>
            </a:r>
            <a:r>
              <a:rPr sz="2400" spc="-15" dirty="0">
                <a:latin typeface="Calibri"/>
                <a:cs typeface="Calibri"/>
              </a:rPr>
              <a:t>,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akan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mempersulit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koordinasi </a:t>
            </a:r>
            <a:r>
              <a:rPr sz="2400" dirty="0">
                <a:latin typeface="Calibri"/>
                <a:cs typeface="Calibri"/>
              </a:rPr>
              <a:t>dan </a:t>
            </a:r>
            <a:r>
              <a:rPr sz="2400" spc="-15" dirty="0">
                <a:latin typeface="Calibri"/>
                <a:cs typeface="Calibri"/>
              </a:rPr>
              <a:t>komunikasi </a:t>
            </a:r>
            <a:r>
              <a:rPr sz="2400" dirty="0">
                <a:latin typeface="Calibri"/>
                <a:cs typeface="Calibri"/>
              </a:rPr>
              <a:t>apabila tidak </a:t>
            </a:r>
            <a:r>
              <a:rPr sz="2400" spc="-10" dirty="0">
                <a:latin typeface="Calibri"/>
                <a:cs typeface="Calibri"/>
              </a:rPr>
              <a:t>diciptakan </a:t>
            </a:r>
            <a:r>
              <a:rPr sz="2400" spc="-5" dirty="0">
                <a:latin typeface="Calibri"/>
                <a:cs typeface="Calibri"/>
              </a:rPr>
              <a:t>suatu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sistem.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Akibatnya </a:t>
            </a:r>
            <a:r>
              <a:rPr sz="2400" spc="-5" dirty="0">
                <a:latin typeface="Calibri"/>
                <a:cs typeface="Calibri"/>
              </a:rPr>
              <a:t>efisiensi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efektifitas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menjadi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sesuatu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yang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sulit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untuk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diwujudkan.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34831" y="6428638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25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444" y="922507"/>
            <a:ext cx="7886700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spc="-30" dirty="0">
                <a:latin typeface="Calibri"/>
                <a:cs typeface="Calibri"/>
              </a:rPr>
              <a:t>Keuntungan</a:t>
            </a:r>
            <a:r>
              <a:rPr sz="4400" dirty="0">
                <a:latin typeface="Calibri"/>
                <a:cs typeface="Calibri"/>
              </a:rPr>
              <a:t> </a:t>
            </a:r>
            <a:r>
              <a:rPr sz="4400" spc="-5" dirty="0">
                <a:latin typeface="Calibri"/>
                <a:cs typeface="Calibri"/>
              </a:rPr>
              <a:t>SIM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34831" y="6428638"/>
            <a:ext cx="1778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444" y="1929764"/>
            <a:ext cx="5837555" cy="3860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0" marR="751840" indent="-457200">
              <a:lnSpc>
                <a:spcPct val="100000"/>
              </a:lnSpc>
              <a:spcBef>
                <a:spcPts val="90"/>
              </a:spcBef>
              <a:buClr>
                <a:srgbClr val="FFFF99"/>
              </a:buClr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600" spc="-5" dirty="0">
                <a:latin typeface="Arial MT"/>
                <a:cs typeface="Arial MT"/>
              </a:rPr>
              <a:t>Pimpinan dapat memanfaatkan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waktu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secara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efektif</a:t>
            </a:r>
            <a:r>
              <a:rPr sz="2600" spc="2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dan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efisien</a:t>
            </a:r>
            <a:endParaRPr sz="2600">
              <a:latin typeface="Arial MT"/>
              <a:cs typeface="Arial MT"/>
            </a:endParaRPr>
          </a:p>
          <a:p>
            <a:pPr marL="469900" marR="680720" indent="-457200">
              <a:lnSpc>
                <a:spcPct val="100000"/>
              </a:lnSpc>
              <a:spcBef>
                <a:spcPts val="725"/>
              </a:spcBef>
              <a:buClr>
                <a:srgbClr val="FFFF99"/>
              </a:buClr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600" spc="-10" dirty="0">
                <a:latin typeface="Arial MT"/>
                <a:cs typeface="Arial MT"/>
              </a:rPr>
              <a:t>Pengumpulan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data</a:t>
            </a:r>
            <a:r>
              <a:rPr sz="2600" spc="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berlangsung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secara sistematika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dan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periodik</a:t>
            </a:r>
            <a:endParaRPr sz="2600">
              <a:latin typeface="Arial MT"/>
              <a:cs typeface="Arial MT"/>
            </a:endParaRPr>
          </a:p>
          <a:p>
            <a:pPr marL="469900" marR="89535" indent="-457200">
              <a:lnSpc>
                <a:spcPct val="100000"/>
              </a:lnSpc>
              <a:spcBef>
                <a:spcPts val="700"/>
              </a:spcBef>
              <a:buClr>
                <a:srgbClr val="FFFF99"/>
              </a:buClr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600" spc="-5" dirty="0">
                <a:latin typeface="Arial MT"/>
                <a:cs typeface="Arial MT"/>
              </a:rPr>
              <a:t>Butir-butir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data</a:t>
            </a:r>
            <a:r>
              <a:rPr sz="2600" spc="3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tidak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perlu 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diperbanyak</a:t>
            </a:r>
            <a:r>
              <a:rPr sz="2600" spc="5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walaupun</a:t>
            </a:r>
            <a:r>
              <a:rPr sz="2600" spc="8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dapat </a:t>
            </a:r>
            <a:r>
              <a:rPr sz="2600" spc="-5" dirty="0">
                <a:latin typeface="Arial MT"/>
                <a:cs typeface="Arial MT"/>
              </a:rPr>
              <a:t> digunakan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oleh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beberapa</a:t>
            </a:r>
            <a:r>
              <a:rPr sz="2600" spc="3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keperluan</a:t>
            </a:r>
            <a:endParaRPr sz="2600">
              <a:latin typeface="Arial MT"/>
              <a:cs typeface="Arial MT"/>
            </a:endParaRPr>
          </a:p>
          <a:p>
            <a:pPr marL="469900" marR="5080" indent="-457200">
              <a:lnSpc>
                <a:spcPct val="100000"/>
              </a:lnSpc>
              <a:spcBef>
                <a:spcPts val="700"/>
              </a:spcBef>
              <a:buClr>
                <a:srgbClr val="FFFF99"/>
              </a:buClr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600" spc="-5" dirty="0">
                <a:latin typeface="Arial MT"/>
                <a:cs typeface="Arial MT"/>
              </a:rPr>
              <a:t>Efisiensi, efektifitas</a:t>
            </a:r>
            <a:r>
              <a:rPr sz="2600" spc="3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dan transparansi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meningkat.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1981200"/>
            <a:ext cx="2490851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885854"/>
            <a:ext cx="78867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SIM</a:t>
            </a:r>
            <a:r>
              <a:rPr sz="3600" spc="-65" dirty="0"/>
              <a:t> </a:t>
            </a:r>
            <a:r>
              <a:rPr sz="3600" spc="-5" dirty="0"/>
              <a:t>Membutuhkan </a:t>
            </a:r>
            <a:r>
              <a:rPr sz="3600" b="0" dirty="0">
                <a:latin typeface="Arial MT"/>
                <a:cs typeface="Arial MT"/>
              </a:rPr>
              <a:t>:</a:t>
            </a:r>
            <a:endParaRPr sz="36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722" y="1452676"/>
            <a:ext cx="4826000" cy="2984149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869"/>
              </a:spcBef>
              <a:buAutoNum type="arabicPeriod"/>
              <a:tabLst>
                <a:tab pos="469900" algn="l"/>
              </a:tabLst>
            </a:pPr>
            <a:r>
              <a:rPr sz="3200" spc="-5" dirty="0">
                <a:latin typeface="Arial MT"/>
                <a:cs typeface="Arial MT"/>
              </a:rPr>
              <a:t>Sumber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Daya</a:t>
            </a:r>
            <a:r>
              <a:rPr sz="3200" spc="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Manusia</a:t>
            </a:r>
            <a:endParaRPr sz="3200">
              <a:latin typeface="Arial MT"/>
              <a:cs typeface="Arial MT"/>
            </a:endParaRPr>
          </a:p>
          <a:p>
            <a:pPr marL="469265" indent="-45720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469900" algn="l"/>
              </a:tabLst>
            </a:pPr>
            <a:r>
              <a:rPr sz="3200" spc="-5" dirty="0">
                <a:latin typeface="Arial MT"/>
                <a:cs typeface="Arial MT"/>
              </a:rPr>
              <a:t>Sumber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Daya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Hardware</a:t>
            </a:r>
            <a:endParaRPr sz="3200">
              <a:latin typeface="Arial MT"/>
              <a:cs typeface="Arial MT"/>
            </a:endParaRPr>
          </a:p>
          <a:p>
            <a:pPr marL="469265" indent="-45720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469900" algn="l"/>
              </a:tabLst>
            </a:pPr>
            <a:r>
              <a:rPr sz="3200" spc="-5" dirty="0">
                <a:latin typeface="Arial MT"/>
                <a:cs typeface="Arial MT"/>
              </a:rPr>
              <a:t>Sumber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Daya</a:t>
            </a:r>
            <a:r>
              <a:rPr sz="3200" spc="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Software</a:t>
            </a:r>
            <a:endParaRPr sz="3200">
              <a:latin typeface="Arial MT"/>
              <a:cs typeface="Arial MT"/>
            </a:endParaRPr>
          </a:p>
          <a:p>
            <a:pPr marL="469265" indent="-45720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469900" algn="l"/>
              </a:tabLst>
            </a:pPr>
            <a:r>
              <a:rPr sz="3200" spc="-5" dirty="0">
                <a:latin typeface="Arial MT"/>
                <a:cs typeface="Arial MT"/>
              </a:rPr>
              <a:t>Sumber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Daya</a:t>
            </a:r>
            <a:r>
              <a:rPr sz="3200" spc="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Data</a:t>
            </a:r>
            <a:endParaRPr sz="3200">
              <a:latin typeface="Arial MT"/>
              <a:cs typeface="Arial MT"/>
            </a:endParaRPr>
          </a:p>
          <a:p>
            <a:pPr marL="469265" indent="-457200">
              <a:lnSpc>
                <a:spcPct val="100000"/>
              </a:lnSpc>
              <a:spcBef>
                <a:spcPts val="775"/>
              </a:spcBef>
              <a:buAutoNum type="arabicPeriod"/>
              <a:tabLst>
                <a:tab pos="469900" algn="l"/>
              </a:tabLst>
            </a:pPr>
            <a:r>
              <a:rPr sz="3200" spc="-5" dirty="0">
                <a:latin typeface="Arial MT"/>
                <a:cs typeface="Arial MT"/>
              </a:rPr>
              <a:t>Sumber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Daya</a:t>
            </a:r>
            <a:r>
              <a:rPr sz="3200" spc="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Jaringan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2765" y="803808"/>
            <a:ext cx="7886700" cy="6487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769" marR="5080" indent="-52705">
              <a:lnSpc>
                <a:spcPct val="142800"/>
              </a:lnSpc>
              <a:spcBef>
                <a:spcPts val="95"/>
              </a:spcBef>
            </a:pPr>
            <a:r>
              <a:rPr sz="3200" spc="-15" dirty="0"/>
              <a:t>PERTUKARAN</a:t>
            </a:r>
            <a:r>
              <a:rPr sz="3200" spc="85" dirty="0"/>
              <a:t> </a:t>
            </a:r>
            <a:r>
              <a:rPr sz="3200" spc="-25" dirty="0"/>
              <a:t>DATA</a:t>
            </a:r>
            <a:r>
              <a:rPr sz="3200" spc="60" dirty="0"/>
              <a:t> </a:t>
            </a:r>
            <a:r>
              <a:rPr sz="3200" spc="-5" dirty="0"/>
              <a:t>ELEKTRONIK</a:t>
            </a:r>
            <a:r>
              <a:rPr sz="3200" spc="55" dirty="0"/>
              <a:t> </a:t>
            </a:r>
            <a:r>
              <a:rPr sz="3200" spc="-5" dirty="0"/>
              <a:t>(EDI) </a:t>
            </a:r>
            <a:r>
              <a:rPr sz="3200" spc="-875" dirty="0"/>
              <a:t> </a:t>
            </a:r>
            <a:r>
              <a:rPr sz="3200" spc="-5" dirty="0"/>
              <a:t>EDI</a:t>
            </a:r>
            <a:endParaRPr sz="32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030287" y="4473575"/>
            <a:ext cx="1689735" cy="1003300"/>
            <a:chOff x="1030287" y="4473575"/>
            <a:chExt cx="1689735" cy="1003300"/>
          </a:xfrm>
        </p:grpSpPr>
        <p:sp>
          <p:nvSpPr>
            <p:cNvPr id="4" name="object 4"/>
            <p:cNvSpPr/>
            <p:nvPr/>
          </p:nvSpPr>
          <p:spPr>
            <a:xfrm>
              <a:off x="1036637" y="4479925"/>
              <a:ext cx="1677035" cy="990600"/>
            </a:xfrm>
            <a:custGeom>
              <a:avLst/>
              <a:gdLst/>
              <a:ahLst/>
              <a:cxnLst/>
              <a:rect l="l" t="t" r="r" b="b"/>
              <a:pathLst>
                <a:path w="1677035" h="990600">
                  <a:moveTo>
                    <a:pt x="838263" y="0"/>
                  </a:moveTo>
                  <a:lnTo>
                    <a:pt x="778388" y="1243"/>
                  </a:lnTo>
                  <a:lnTo>
                    <a:pt x="719651" y="4918"/>
                  </a:lnTo>
                  <a:lnTo>
                    <a:pt x="662193" y="10940"/>
                  </a:lnTo>
                  <a:lnTo>
                    <a:pt x="606156" y="19226"/>
                  </a:lnTo>
                  <a:lnTo>
                    <a:pt x="551683" y="29692"/>
                  </a:lnTo>
                  <a:lnTo>
                    <a:pt x="498914" y="42253"/>
                  </a:lnTo>
                  <a:lnTo>
                    <a:pt x="447991" y="56827"/>
                  </a:lnTo>
                  <a:lnTo>
                    <a:pt x="399057" y="73330"/>
                  </a:lnTo>
                  <a:lnTo>
                    <a:pt x="352253" y="91677"/>
                  </a:lnTo>
                  <a:lnTo>
                    <a:pt x="307720" y="111785"/>
                  </a:lnTo>
                  <a:lnTo>
                    <a:pt x="265601" y="133570"/>
                  </a:lnTo>
                  <a:lnTo>
                    <a:pt x="226037" y="156948"/>
                  </a:lnTo>
                  <a:lnTo>
                    <a:pt x="189169" y="181836"/>
                  </a:lnTo>
                  <a:lnTo>
                    <a:pt x="155140" y="208150"/>
                  </a:lnTo>
                  <a:lnTo>
                    <a:pt x="124092" y="235805"/>
                  </a:lnTo>
                  <a:lnTo>
                    <a:pt x="96165" y="264718"/>
                  </a:lnTo>
                  <a:lnTo>
                    <a:pt x="71502" y="294806"/>
                  </a:lnTo>
                  <a:lnTo>
                    <a:pt x="32534" y="358169"/>
                  </a:lnTo>
                  <a:lnTo>
                    <a:pt x="8322" y="425224"/>
                  </a:lnTo>
                  <a:lnTo>
                    <a:pt x="0" y="495300"/>
                  </a:lnTo>
                  <a:lnTo>
                    <a:pt x="2104" y="530673"/>
                  </a:lnTo>
                  <a:lnTo>
                    <a:pt x="18513" y="599322"/>
                  </a:lnTo>
                  <a:lnTo>
                    <a:pt x="50245" y="664615"/>
                  </a:lnTo>
                  <a:lnTo>
                    <a:pt x="96165" y="725881"/>
                  </a:lnTo>
                  <a:lnTo>
                    <a:pt x="124092" y="754794"/>
                  </a:lnTo>
                  <a:lnTo>
                    <a:pt x="155140" y="782449"/>
                  </a:lnTo>
                  <a:lnTo>
                    <a:pt x="189169" y="808763"/>
                  </a:lnTo>
                  <a:lnTo>
                    <a:pt x="226037" y="833651"/>
                  </a:lnTo>
                  <a:lnTo>
                    <a:pt x="265601" y="857029"/>
                  </a:lnTo>
                  <a:lnTo>
                    <a:pt x="307720" y="878814"/>
                  </a:lnTo>
                  <a:lnTo>
                    <a:pt x="352253" y="898922"/>
                  </a:lnTo>
                  <a:lnTo>
                    <a:pt x="399057" y="917269"/>
                  </a:lnTo>
                  <a:lnTo>
                    <a:pt x="447991" y="933772"/>
                  </a:lnTo>
                  <a:lnTo>
                    <a:pt x="498914" y="948346"/>
                  </a:lnTo>
                  <a:lnTo>
                    <a:pt x="551683" y="960907"/>
                  </a:lnTo>
                  <a:lnTo>
                    <a:pt x="606156" y="971373"/>
                  </a:lnTo>
                  <a:lnTo>
                    <a:pt x="662193" y="979659"/>
                  </a:lnTo>
                  <a:lnTo>
                    <a:pt x="719651" y="985681"/>
                  </a:lnTo>
                  <a:lnTo>
                    <a:pt x="778388" y="989356"/>
                  </a:lnTo>
                  <a:lnTo>
                    <a:pt x="838263" y="990600"/>
                  </a:lnTo>
                  <a:lnTo>
                    <a:pt x="898123" y="989356"/>
                  </a:lnTo>
                  <a:lnTo>
                    <a:pt x="956846" y="985681"/>
                  </a:lnTo>
                  <a:lnTo>
                    <a:pt x="1014293" y="979659"/>
                  </a:lnTo>
                  <a:lnTo>
                    <a:pt x="1070319" y="971373"/>
                  </a:lnTo>
                  <a:lnTo>
                    <a:pt x="1124785" y="960907"/>
                  </a:lnTo>
                  <a:lnTo>
                    <a:pt x="1177547" y="948346"/>
                  </a:lnTo>
                  <a:lnTo>
                    <a:pt x="1228464" y="933772"/>
                  </a:lnTo>
                  <a:lnTo>
                    <a:pt x="1277395" y="917269"/>
                  </a:lnTo>
                  <a:lnTo>
                    <a:pt x="1324196" y="898922"/>
                  </a:lnTo>
                  <a:lnTo>
                    <a:pt x="1368727" y="878814"/>
                  </a:lnTo>
                  <a:lnTo>
                    <a:pt x="1410846" y="857029"/>
                  </a:lnTo>
                  <a:lnTo>
                    <a:pt x="1450410" y="833651"/>
                  </a:lnTo>
                  <a:lnTo>
                    <a:pt x="1487278" y="808763"/>
                  </a:lnTo>
                  <a:lnTo>
                    <a:pt x="1521308" y="782449"/>
                  </a:lnTo>
                  <a:lnTo>
                    <a:pt x="1552359" y="754794"/>
                  </a:lnTo>
                  <a:lnTo>
                    <a:pt x="1580287" y="725881"/>
                  </a:lnTo>
                  <a:lnTo>
                    <a:pt x="1604952" y="695793"/>
                  </a:lnTo>
                  <a:lnTo>
                    <a:pt x="1643924" y="632430"/>
                  </a:lnTo>
                  <a:lnTo>
                    <a:pt x="1668139" y="565375"/>
                  </a:lnTo>
                  <a:lnTo>
                    <a:pt x="1676463" y="495300"/>
                  </a:lnTo>
                  <a:lnTo>
                    <a:pt x="1674358" y="459926"/>
                  </a:lnTo>
                  <a:lnTo>
                    <a:pt x="1657947" y="391277"/>
                  </a:lnTo>
                  <a:lnTo>
                    <a:pt x="1626212" y="325984"/>
                  </a:lnTo>
                  <a:lnTo>
                    <a:pt x="1580287" y="264718"/>
                  </a:lnTo>
                  <a:lnTo>
                    <a:pt x="1552359" y="235805"/>
                  </a:lnTo>
                  <a:lnTo>
                    <a:pt x="1521308" y="208150"/>
                  </a:lnTo>
                  <a:lnTo>
                    <a:pt x="1487278" y="181836"/>
                  </a:lnTo>
                  <a:lnTo>
                    <a:pt x="1450410" y="156948"/>
                  </a:lnTo>
                  <a:lnTo>
                    <a:pt x="1410846" y="133570"/>
                  </a:lnTo>
                  <a:lnTo>
                    <a:pt x="1368727" y="111785"/>
                  </a:lnTo>
                  <a:lnTo>
                    <a:pt x="1324196" y="91677"/>
                  </a:lnTo>
                  <a:lnTo>
                    <a:pt x="1277395" y="73330"/>
                  </a:lnTo>
                  <a:lnTo>
                    <a:pt x="1228464" y="56827"/>
                  </a:lnTo>
                  <a:lnTo>
                    <a:pt x="1177547" y="42253"/>
                  </a:lnTo>
                  <a:lnTo>
                    <a:pt x="1124785" y="29692"/>
                  </a:lnTo>
                  <a:lnTo>
                    <a:pt x="1070319" y="19226"/>
                  </a:lnTo>
                  <a:lnTo>
                    <a:pt x="1014293" y="10940"/>
                  </a:lnTo>
                  <a:lnTo>
                    <a:pt x="956846" y="4918"/>
                  </a:lnTo>
                  <a:lnTo>
                    <a:pt x="898123" y="1243"/>
                  </a:lnTo>
                  <a:lnTo>
                    <a:pt x="838263" y="0"/>
                  </a:lnTo>
                  <a:close/>
                </a:path>
              </a:pathLst>
            </a:custGeom>
            <a:solidFill>
              <a:srgbClr val="FFC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36637" y="4479925"/>
              <a:ext cx="1677035" cy="990600"/>
            </a:xfrm>
            <a:custGeom>
              <a:avLst/>
              <a:gdLst/>
              <a:ahLst/>
              <a:cxnLst/>
              <a:rect l="l" t="t" r="r" b="b"/>
              <a:pathLst>
                <a:path w="1677035" h="990600">
                  <a:moveTo>
                    <a:pt x="0" y="495300"/>
                  </a:moveTo>
                  <a:lnTo>
                    <a:pt x="8322" y="425224"/>
                  </a:lnTo>
                  <a:lnTo>
                    <a:pt x="32534" y="358169"/>
                  </a:lnTo>
                  <a:lnTo>
                    <a:pt x="71502" y="294806"/>
                  </a:lnTo>
                  <a:lnTo>
                    <a:pt x="96165" y="264718"/>
                  </a:lnTo>
                  <a:lnTo>
                    <a:pt x="124092" y="235805"/>
                  </a:lnTo>
                  <a:lnTo>
                    <a:pt x="155140" y="208150"/>
                  </a:lnTo>
                  <a:lnTo>
                    <a:pt x="189169" y="181836"/>
                  </a:lnTo>
                  <a:lnTo>
                    <a:pt x="226037" y="156948"/>
                  </a:lnTo>
                  <a:lnTo>
                    <a:pt x="265601" y="133570"/>
                  </a:lnTo>
                  <a:lnTo>
                    <a:pt x="307720" y="111785"/>
                  </a:lnTo>
                  <a:lnTo>
                    <a:pt x="352253" y="91677"/>
                  </a:lnTo>
                  <a:lnTo>
                    <a:pt x="399057" y="73330"/>
                  </a:lnTo>
                  <a:lnTo>
                    <a:pt x="447991" y="56827"/>
                  </a:lnTo>
                  <a:lnTo>
                    <a:pt x="498914" y="42253"/>
                  </a:lnTo>
                  <a:lnTo>
                    <a:pt x="551683" y="29692"/>
                  </a:lnTo>
                  <a:lnTo>
                    <a:pt x="606156" y="19226"/>
                  </a:lnTo>
                  <a:lnTo>
                    <a:pt x="662193" y="10940"/>
                  </a:lnTo>
                  <a:lnTo>
                    <a:pt x="719651" y="4918"/>
                  </a:lnTo>
                  <a:lnTo>
                    <a:pt x="778388" y="1243"/>
                  </a:lnTo>
                  <a:lnTo>
                    <a:pt x="838263" y="0"/>
                  </a:lnTo>
                  <a:lnTo>
                    <a:pt x="898123" y="1243"/>
                  </a:lnTo>
                  <a:lnTo>
                    <a:pt x="956846" y="4918"/>
                  </a:lnTo>
                  <a:lnTo>
                    <a:pt x="1014293" y="10940"/>
                  </a:lnTo>
                  <a:lnTo>
                    <a:pt x="1070319" y="19226"/>
                  </a:lnTo>
                  <a:lnTo>
                    <a:pt x="1124785" y="29692"/>
                  </a:lnTo>
                  <a:lnTo>
                    <a:pt x="1177547" y="42253"/>
                  </a:lnTo>
                  <a:lnTo>
                    <a:pt x="1228464" y="56827"/>
                  </a:lnTo>
                  <a:lnTo>
                    <a:pt x="1277395" y="73330"/>
                  </a:lnTo>
                  <a:lnTo>
                    <a:pt x="1324196" y="91677"/>
                  </a:lnTo>
                  <a:lnTo>
                    <a:pt x="1368727" y="111785"/>
                  </a:lnTo>
                  <a:lnTo>
                    <a:pt x="1410846" y="133570"/>
                  </a:lnTo>
                  <a:lnTo>
                    <a:pt x="1450410" y="156948"/>
                  </a:lnTo>
                  <a:lnTo>
                    <a:pt x="1487278" y="181836"/>
                  </a:lnTo>
                  <a:lnTo>
                    <a:pt x="1521308" y="208150"/>
                  </a:lnTo>
                  <a:lnTo>
                    <a:pt x="1552359" y="235805"/>
                  </a:lnTo>
                  <a:lnTo>
                    <a:pt x="1580287" y="264718"/>
                  </a:lnTo>
                  <a:lnTo>
                    <a:pt x="1604952" y="294806"/>
                  </a:lnTo>
                  <a:lnTo>
                    <a:pt x="1643924" y="358169"/>
                  </a:lnTo>
                  <a:lnTo>
                    <a:pt x="1668139" y="425224"/>
                  </a:lnTo>
                  <a:lnTo>
                    <a:pt x="1676463" y="495300"/>
                  </a:lnTo>
                  <a:lnTo>
                    <a:pt x="1674358" y="530673"/>
                  </a:lnTo>
                  <a:lnTo>
                    <a:pt x="1668139" y="565375"/>
                  </a:lnTo>
                  <a:lnTo>
                    <a:pt x="1643924" y="632430"/>
                  </a:lnTo>
                  <a:lnTo>
                    <a:pt x="1604952" y="695793"/>
                  </a:lnTo>
                  <a:lnTo>
                    <a:pt x="1580287" y="725881"/>
                  </a:lnTo>
                  <a:lnTo>
                    <a:pt x="1552359" y="754794"/>
                  </a:lnTo>
                  <a:lnTo>
                    <a:pt x="1521308" y="782449"/>
                  </a:lnTo>
                  <a:lnTo>
                    <a:pt x="1487278" y="808763"/>
                  </a:lnTo>
                  <a:lnTo>
                    <a:pt x="1450410" y="833651"/>
                  </a:lnTo>
                  <a:lnTo>
                    <a:pt x="1410846" y="857029"/>
                  </a:lnTo>
                  <a:lnTo>
                    <a:pt x="1368727" y="878814"/>
                  </a:lnTo>
                  <a:lnTo>
                    <a:pt x="1324196" y="898922"/>
                  </a:lnTo>
                  <a:lnTo>
                    <a:pt x="1277395" y="917269"/>
                  </a:lnTo>
                  <a:lnTo>
                    <a:pt x="1228464" y="933772"/>
                  </a:lnTo>
                  <a:lnTo>
                    <a:pt x="1177547" y="948346"/>
                  </a:lnTo>
                  <a:lnTo>
                    <a:pt x="1124785" y="960907"/>
                  </a:lnTo>
                  <a:lnTo>
                    <a:pt x="1070319" y="971373"/>
                  </a:lnTo>
                  <a:lnTo>
                    <a:pt x="1014293" y="979659"/>
                  </a:lnTo>
                  <a:lnTo>
                    <a:pt x="956846" y="985681"/>
                  </a:lnTo>
                  <a:lnTo>
                    <a:pt x="898123" y="989356"/>
                  </a:lnTo>
                  <a:lnTo>
                    <a:pt x="838263" y="990600"/>
                  </a:lnTo>
                  <a:lnTo>
                    <a:pt x="778388" y="989356"/>
                  </a:lnTo>
                  <a:lnTo>
                    <a:pt x="719651" y="985681"/>
                  </a:lnTo>
                  <a:lnTo>
                    <a:pt x="662193" y="979659"/>
                  </a:lnTo>
                  <a:lnTo>
                    <a:pt x="606156" y="971373"/>
                  </a:lnTo>
                  <a:lnTo>
                    <a:pt x="551683" y="960907"/>
                  </a:lnTo>
                  <a:lnTo>
                    <a:pt x="498914" y="948346"/>
                  </a:lnTo>
                  <a:lnTo>
                    <a:pt x="447991" y="933772"/>
                  </a:lnTo>
                  <a:lnTo>
                    <a:pt x="399057" y="917269"/>
                  </a:lnTo>
                  <a:lnTo>
                    <a:pt x="352253" y="898922"/>
                  </a:lnTo>
                  <a:lnTo>
                    <a:pt x="307720" y="878814"/>
                  </a:lnTo>
                  <a:lnTo>
                    <a:pt x="265601" y="857029"/>
                  </a:lnTo>
                  <a:lnTo>
                    <a:pt x="226037" y="833651"/>
                  </a:lnTo>
                  <a:lnTo>
                    <a:pt x="189169" y="808763"/>
                  </a:lnTo>
                  <a:lnTo>
                    <a:pt x="155140" y="782449"/>
                  </a:lnTo>
                  <a:lnTo>
                    <a:pt x="124092" y="754794"/>
                  </a:lnTo>
                  <a:lnTo>
                    <a:pt x="96165" y="725881"/>
                  </a:lnTo>
                  <a:lnTo>
                    <a:pt x="71502" y="695793"/>
                  </a:lnTo>
                  <a:lnTo>
                    <a:pt x="32534" y="632430"/>
                  </a:lnTo>
                  <a:lnTo>
                    <a:pt x="8322" y="565375"/>
                  </a:lnTo>
                  <a:lnTo>
                    <a:pt x="0" y="4953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8354" y="4772609"/>
            <a:ext cx="15360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P</a:t>
            </a:r>
            <a:r>
              <a:rPr sz="2400" spc="5" dirty="0">
                <a:latin typeface="Arial MT"/>
                <a:cs typeface="Arial MT"/>
              </a:rPr>
              <a:t>E</a:t>
            </a:r>
            <a:r>
              <a:rPr sz="2400" spc="-10" dirty="0">
                <a:latin typeface="Arial MT"/>
                <a:cs typeface="Arial MT"/>
              </a:rPr>
              <a:t>M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5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OK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99301" y="4632325"/>
            <a:ext cx="1981200" cy="533479"/>
          </a:xfrm>
          <a:prstGeom prst="rect">
            <a:avLst/>
          </a:prstGeom>
          <a:solidFill>
            <a:srgbClr val="E1AB91"/>
          </a:solidFill>
          <a:ln w="12700">
            <a:solidFill>
              <a:srgbClr val="FFFFFF"/>
            </a:solidFill>
          </a:ln>
        </p:spPr>
        <p:txBody>
          <a:bodyPr vert="horz" wrap="square" lIns="0" tIns="22352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1760"/>
              </a:spcBef>
            </a:pPr>
            <a:r>
              <a:rPr sz="2000" b="1" spc="-10" dirty="0">
                <a:latin typeface="Arial"/>
                <a:cs typeface="Arial"/>
              </a:rPr>
              <a:t>PERUSAHAAN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03451" y="3576701"/>
            <a:ext cx="6096000" cy="2854325"/>
            <a:chOff x="1703451" y="3576701"/>
            <a:chExt cx="6096000" cy="2854325"/>
          </a:xfrm>
        </p:grpSpPr>
        <p:sp>
          <p:nvSpPr>
            <p:cNvPr id="9" name="object 9"/>
            <p:cNvSpPr/>
            <p:nvPr/>
          </p:nvSpPr>
          <p:spPr>
            <a:xfrm>
              <a:off x="1741551" y="3611499"/>
              <a:ext cx="114300" cy="868680"/>
            </a:xfrm>
            <a:custGeom>
              <a:avLst/>
              <a:gdLst/>
              <a:ahLst/>
              <a:cxnLst/>
              <a:rect l="l" t="t" r="r" b="b"/>
              <a:pathLst>
                <a:path w="114300" h="868679">
                  <a:moveTo>
                    <a:pt x="38100" y="754126"/>
                  </a:moveTo>
                  <a:lnTo>
                    <a:pt x="0" y="754126"/>
                  </a:lnTo>
                  <a:lnTo>
                    <a:pt x="57150" y="868426"/>
                  </a:lnTo>
                  <a:lnTo>
                    <a:pt x="104775" y="773176"/>
                  </a:lnTo>
                  <a:lnTo>
                    <a:pt x="38100" y="773176"/>
                  </a:lnTo>
                  <a:lnTo>
                    <a:pt x="38100" y="754126"/>
                  </a:lnTo>
                  <a:close/>
                </a:path>
                <a:path w="114300" h="868679">
                  <a:moveTo>
                    <a:pt x="76200" y="0"/>
                  </a:moveTo>
                  <a:lnTo>
                    <a:pt x="38100" y="0"/>
                  </a:lnTo>
                  <a:lnTo>
                    <a:pt x="38100" y="773176"/>
                  </a:lnTo>
                  <a:lnTo>
                    <a:pt x="76200" y="773176"/>
                  </a:lnTo>
                  <a:lnTo>
                    <a:pt x="76200" y="0"/>
                  </a:lnTo>
                  <a:close/>
                </a:path>
                <a:path w="114300" h="868679">
                  <a:moveTo>
                    <a:pt x="114300" y="754126"/>
                  </a:moveTo>
                  <a:lnTo>
                    <a:pt x="76200" y="754126"/>
                  </a:lnTo>
                  <a:lnTo>
                    <a:pt x="76200" y="773176"/>
                  </a:lnTo>
                  <a:lnTo>
                    <a:pt x="104775" y="773176"/>
                  </a:lnTo>
                  <a:lnTo>
                    <a:pt x="114300" y="7541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98701" y="3595751"/>
              <a:ext cx="5943600" cy="1036955"/>
            </a:xfrm>
            <a:custGeom>
              <a:avLst/>
              <a:gdLst/>
              <a:ahLst/>
              <a:cxnLst/>
              <a:rect l="l" t="t" r="r" b="b"/>
              <a:pathLst>
                <a:path w="5943600" h="1036954">
                  <a:moveTo>
                    <a:pt x="0" y="0"/>
                  </a:moveTo>
                  <a:lnTo>
                    <a:pt x="5943600" y="0"/>
                  </a:lnTo>
                </a:path>
                <a:path w="5943600" h="1036954">
                  <a:moveTo>
                    <a:pt x="5943600" y="1036574"/>
                  </a:moveTo>
                  <a:lnTo>
                    <a:pt x="5943600" y="14224"/>
                  </a:lnTo>
                </a:path>
                <a:path w="5943600" h="1036954">
                  <a:moveTo>
                    <a:pt x="304800" y="884174"/>
                  </a:moveTo>
                  <a:lnTo>
                    <a:pt x="304800" y="549148"/>
                  </a:lnTo>
                </a:path>
                <a:path w="5943600" h="1036954">
                  <a:moveTo>
                    <a:pt x="320675" y="563499"/>
                  </a:moveTo>
                  <a:lnTo>
                    <a:pt x="5273675" y="563499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12974" y="4130674"/>
              <a:ext cx="4400550" cy="939800"/>
            </a:xfrm>
            <a:custGeom>
              <a:avLst/>
              <a:gdLst/>
              <a:ahLst/>
              <a:cxnLst/>
              <a:rect l="l" t="t" r="r" b="b"/>
              <a:pathLst>
                <a:path w="4400550" h="939800">
                  <a:moveTo>
                    <a:pt x="3886200" y="863600"/>
                  </a:moveTo>
                  <a:lnTo>
                    <a:pt x="114300" y="863600"/>
                  </a:lnTo>
                  <a:lnTo>
                    <a:pt x="114300" y="825500"/>
                  </a:lnTo>
                  <a:lnTo>
                    <a:pt x="0" y="882650"/>
                  </a:lnTo>
                  <a:lnTo>
                    <a:pt x="114300" y="939800"/>
                  </a:lnTo>
                  <a:lnTo>
                    <a:pt x="114300" y="901700"/>
                  </a:lnTo>
                  <a:lnTo>
                    <a:pt x="3886200" y="901700"/>
                  </a:lnTo>
                  <a:lnTo>
                    <a:pt x="3886200" y="863600"/>
                  </a:lnTo>
                  <a:close/>
                </a:path>
                <a:path w="4400550" h="939800">
                  <a:moveTo>
                    <a:pt x="4400550" y="387350"/>
                  </a:moveTo>
                  <a:lnTo>
                    <a:pt x="4362450" y="387350"/>
                  </a:lnTo>
                  <a:lnTo>
                    <a:pt x="4362450" y="0"/>
                  </a:lnTo>
                  <a:lnTo>
                    <a:pt x="4324350" y="0"/>
                  </a:lnTo>
                  <a:lnTo>
                    <a:pt x="4324350" y="387350"/>
                  </a:lnTo>
                  <a:lnTo>
                    <a:pt x="4286250" y="387350"/>
                  </a:lnTo>
                  <a:lnTo>
                    <a:pt x="4343400" y="501650"/>
                  </a:lnTo>
                  <a:lnTo>
                    <a:pt x="4391025" y="406400"/>
                  </a:lnTo>
                  <a:lnTo>
                    <a:pt x="4400550" y="387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03501" y="5470525"/>
              <a:ext cx="4953000" cy="228600"/>
            </a:xfrm>
            <a:custGeom>
              <a:avLst/>
              <a:gdLst/>
              <a:ahLst/>
              <a:cxnLst/>
              <a:rect l="l" t="t" r="r" b="b"/>
              <a:pathLst>
                <a:path w="4953000" h="228600">
                  <a:moveTo>
                    <a:pt x="0" y="0"/>
                  </a:moveTo>
                  <a:lnTo>
                    <a:pt x="0" y="198437"/>
                  </a:lnTo>
                </a:path>
                <a:path w="4953000" h="228600">
                  <a:moveTo>
                    <a:pt x="0" y="228600"/>
                  </a:moveTo>
                  <a:lnTo>
                    <a:pt x="4953000" y="22860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99223" y="5364099"/>
              <a:ext cx="114300" cy="289560"/>
            </a:xfrm>
            <a:custGeom>
              <a:avLst/>
              <a:gdLst/>
              <a:ahLst/>
              <a:cxnLst/>
              <a:rect l="l" t="t" r="r" b="b"/>
              <a:pathLst>
                <a:path w="114300" h="28956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88988"/>
                  </a:lnTo>
                  <a:lnTo>
                    <a:pt x="76200" y="288988"/>
                  </a:lnTo>
                  <a:lnTo>
                    <a:pt x="76200" y="95250"/>
                  </a:lnTo>
                  <a:close/>
                </a:path>
                <a:path w="114300" h="28956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8956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22501" y="5394325"/>
              <a:ext cx="6019800" cy="1036955"/>
            </a:xfrm>
            <a:custGeom>
              <a:avLst/>
              <a:gdLst/>
              <a:ahLst/>
              <a:cxnLst/>
              <a:rect l="l" t="t" r="r" b="b"/>
              <a:pathLst>
                <a:path w="6019800" h="1036954">
                  <a:moveTo>
                    <a:pt x="0" y="1036637"/>
                  </a:moveTo>
                  <a:lnTo>
                    <a:pt x="0" y="0"/>
                  </a:lnTo>
                </a:path>
                <a:path w="6019800" h="1036954">
                  <a:moveTo>
                    <a:pt x="30099" y="1006475"/>
                  </a:moveTo>
                  <a:lnTo>
                    <a:pt x="6019800" y="1006475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685023" y="5394325"/>
              <a:ext cx="114300" cy="1035050"/>
            </a:xfrm>
            <a:custGeom>
              <a:avLst/>
              <a:gdLst/>
              <a:ahLst/>
              <a:cxnLst/>
              <a:rect l="l" t="t" r="r" b="b"/>
              <a:pathLst>
                <a:path w="114300" h="103505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1035050"/>
                  </a:lnTo>
                  <a:lnTo>
                    <a:pt x="76200" y="1035050"/>
                  </a:lnTo>
                  <a:lnTo>
                    <a:pt x="76200" y="95250"/>
                  </a:lnTo>
                  <a:close/>
                </a:path>
                <a:path w="114300" h="103505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103505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45642" y="1619758"/>
            <a:ext cx="7183755" cy="24428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675"/>
              </a:spcBef>
            </a:pPr>
            <a:r>
              <a:rPr sz="2400" dirty="0">
                <a:latin typeface="Arial MT"/>
                <a:cs typeface="Arial MT"/>
              </a:rPr>
              <a:t>Adalah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proses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pertukaran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bisnis </a:t>
            </a:r>
            <a:r>
              <a:rPr sz="2400" spc="-5" dirty="0">
                <a:latin typeface="Arial MT"/>
                <a:cs typeface="Arial MT"/>
              </a:rPr>
              <a:t>yang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dilakukan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secara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elektronik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tanpa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melibatkan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manusia.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Contoh: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Pemesanan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barang,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Transfer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dana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dsb</a:t>
            </a:r>
            <a:endParaRPr sz="2400">
              <a:latin typeface="Arial MT"/>
              <a:cs typeface="Arial MT"/>
            </a:endParaRPr>
          </a:p>
          <a:p>
            <a:pPr marL="2983230" marR="1778635" indent="-808355">
              <a:lnSpc>
                <a:spcPct val="222300"/>
              </a:lnSpc>
              <a:spcBef>
                <a:spcPts val="1360"/>
              </a:spcBef>
            </a:pPr>
            <a:r>
              <a:rPr sz="1800" b="1" dirty="0">
                <a:latin typeface="Arial"/>
                <a:cs typeface="Arial"/>
              </a:rPr>
              <a:t>Permintaan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Penawaran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Harga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Penawaran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Harga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37534" y="4601082"/>
            <a:ext cx="2171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Pesanan</a:t>
            </a:r>
            <a:r>
              <a:rPr sz="1800" b="1" spc="-11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Pembelian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01339" y="5271261"/>
            <a:ext cx="2336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Persetujuan</a:t>
            </a:r>
            <a:r>
              <a:rPr sz="1800" b="1" spc="-11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Pesanan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76115" y="6033617"/>
            <a:ext cx="725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F</a:t>
            </a:r>
            <a:r>
              <a:rPr sz="1800" b="1" dirty="0">
                <a:latin typeface="Arial"/>
                <a:cs typeface="Arial"/>
              </a:rPr>
              <a:t>ak</a:t>
            </a:r>
            <a:r>
              <a:rPr sz="1800" b="1" spc="-5" dirty="0">
                <a:latin typeface="Arial"/>
                <a:cs typeface="Arial"/>
              </a:rPr>
              <a:t>tur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6719" y="1356092"/>
            <a:ext cx="7540625" cy="3579184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698500" indent="-686435">
              <a:lnSpc>
                <a:spcPct val="100000"/>
              </a:lnSpc>
              <a:spcBef>
                <a:spcPts val="869"/>
              </a:spcBef>
              <a:buFont typeface="Wingdings"/>
              <a:buChar char=""/>
              <a:tabLst>
                <a:tab pos="698500" algn="l"/>
                <a:tab pos="699135" algn="l"/>
              </a:tabLst>
            </a:pPr>
            <a:r>
              <a:rPr sz="3200" spc="-5" dirty="0">
                <a:latin typeface="Arial MT"/>
                <a:cs typeface="Arial MT"/>
              </a:rPr>
              <a:t>Mengurangi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Kesalahan</a:t>
            </a:r>
            <a:endParaRPr sz="3200">
              <a:latin typeface="Arial MT"/>
              <a:cs typeface="Arial MT"/>
            </a:endParaRPr>
          </a:p>
          <a:p>
            <a:pPr marL="698500" indent="-686435">
              <a:lnSpc>
                <a:spcPct val="100000"/>
              </a:lnSpc>
              <a:spcBef>
                <a:spcPts val="770"/>
              </a:spcBef>
              <a:buFont typeface="Wingdings"/>
              <a:buChar char=""/>
              <a:tabLst>
                <a:tab pos="698500" algn="l"/>
                <a:tab pos="699135" algn="l"/>
              </a:tabLst>
            </a:pPr>
            <a:r>
              <a:rPr sz="3200" spc="-5" dirty="0">
                <a:latin typeface="Arial MT"/>
                <a:cs typeface="Arial MT"/>
              </a:rPr>
              <a:t>Mengurangi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Biaya</a:t>
            </a:r>
            <a:endParaRPr sz="3200">
              <a:latin typeface="Arial MT"/>
              <a:cs typeface="Arial MT"/>
            </a:endParaRPr>
          </a:p>
          <a:p>
            <a:pPr marL="698500" indent="-686435">
              <a:lnSpc>
                <a:spcPct val="100000"/>
              </a:lnSpc>
              <a:spcBef>
                <a:spcPts val="770"/>
              </a:spcBef>
              <a:buFont typeface="Wingdings"/>
              <a:buChar char=""/>
              <a:tabLst>
                <a:tab pos="698500" algn="l"/>
                <a:tab pos="699135" algn="l"/>
              </a:tabLst>
            </a:pPr>
            <a:r>
              <a:rPr sz="3200" spc="-5" dirty="0">
                <a:latin typeface="Arial MT"/>
                <a:cs typeface="Arial MT"/>
              </a:rPr>
              <a:t>Meningkatkan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Efisiensi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Operasional</a:t>
            </a:r>
            <a:endParaRPr sz="3200">
              <a:latin typeface="Arial MT"/>
              <a:cs typeface="Arial MT"/>
            </a:endParaRPr>
          </a:p>
          <a:p>
            <a:pPr marL="698500" indent="-686435">
              <a:lnSpc>
                <a:spcPct val="100000"/>
              </a:lnSpc>
              <a:spcBef>
                <a:spcPts val="770"/>
              </a:spcBef>
              <a:buFont typeface="Wingdings"/>
              <a:buChar char=""/>
              <a:tabLst>
                <a:tab pos="698500" algn="l"/>
                <a:tab pos="699135" algn="l"/>
              </a:tabLst>
            </a:pPr>
            <a:r>
              <a:rPr sz="3200" spc="-5" dirty="0">
                <a:latin typeface="Arial MT"/>
                <a:cs typeface="Arial MT"/>
              </a:rPr>
              <a:t>Meningkatkan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Kemampuan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Bersaing</a:t>
            </a:r>
            <a:endParaRPr sz="3200">
              <a:latin typeface="Arial MT"/>
              <a:cs typeface="Arial MT"/>
            </a:endParaRPr>
          </a:p>
          <a:p>
            <a:pPr marL="698500" indent="-686435">
              <a:lnSpc>
                <a:spcPct val="100000"/>
              </a:lnSpc>
              <a:spcBef>
                <a:spcPts val="770"/>
              </a:spcBef>
              <a:buFont typeface="Wingdings"/>
              <a:buChar char=""/>
              <a:tabLst>
                <a:tab pos="698500" algn="l"/>
                <a:tab pos="699135" algn="l"/>
              </a:tabLst>
            </a:pPr>
            <a:r>
              <a:rPr sz="3200" spc="-5" dirty="0">
                <a:latin typeface="Arial MT"/>
                <a:cs typeface="Arial MT"/>
              </a:rPr>
              <a:t>Meningkatkan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Hub.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Dgn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Mitra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dagang</a:t>
            </a:r>
            <a:endParaRPr sz="3200">
              <a:latin typeface="Arial MT"/>
              <a:cs typeface="Arial MT"/>
            </a:endParaRPr>
          </a:p>
          <a:p>
            <a:pPr marL="698500" indent="-686435">
              <a:lnSpc>
                <a:spcPct val="100000"/>
              </a:lnSpc>
              <a:spcBef>
                <a:spcPts val="770"/>
              </a:spcBef>
              <a:buFont typeface="Wingdings"/>
              <a:buChar char=""/>
              <a:tabLst>
                <a:tab pos="698500" algn="l"/>
                <a:tab pos="699135" algn="l"/>
              </a:tabLst>
            </a:pPr>
            <a:r>
              <a:rPr sz="3200" spc="-5" dirty="0">
                <a:latin typeface="Arial MT"/>
                <a:cs typeface="Arial MT"/>
              </a:rPr>
              <a:t>Meningkatkan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Pelayanan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Pelanggan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3681" y="685800"/>
            <a:ext cx="788670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MANFAAT</a:t>
            </a:r>
            <a:r>
              <a:rPr spc="-170" dirty="0"/>
              <a:t> </a:t>
            </a:r>
            <a:r>
              <a:rPr dirty="0"/>
              <a:t>EDI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394" y="18197"/>
            <a:ext cx="78867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SISTEM</a:t>
            </a:r>
            <a:r>
              <a:rPr sz="3600" spc="-65" dirty="0"/>
              <a:t> </a:t>
            </a:r>
            <a:r>
              <a:rPr sz="3600" spc="-15" dirty="0"/>
              <a:t>OTOMASI</a:t>
            </a:r>
            <a:r>
              <a:rPr sz="3600" spc="50" dirty="0"/>
              <a:t> </a:t>
            </a:r>
            <a:r>
              <a:rPr sz="3600" spc="-10" dirty="0"/>
              <a:t>PERKANTORAN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02691" y="776234"/>
            <a:ext cx="7564755" cy="585978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800" b="1" spc="5" dirty="0">
                <a:latin typeface="Arial"/>
                <a:cs typeface="Arial"/>
              </a:rPr>
              <a:t>(O</a:t>
            </a:r>
            <a:r>
              <a:rPr sz="2800" b="1" i="1" spc="5" dirty="0">
                <a:latin typeface="Arial"/>
                <a:cs typeface="Arial"/>
              </a:rPr>
              <a:t>ffice</a:t>
            </a:r>
            <a:r>
              <a:rPr sz="2800" b="1" i="1" spc="-4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Information</a:t>
            </a:r>
            <a:r>
              <a:rPr sz="2800" b="1" i="1" spc="-55" dirty="0">
                <a:latin typeface="Arial"/>
                <a:cs typeface="Arial"/>
              </a:rPr>
              <a:t> </a:t>
            </a:r>
            <a:r>
              <a:rPr sz="2800" b="1" i="1" spc="5" dirty="0">
                <a:latin typeface="Arial"/>
                <a:cs typeface="Arial"/>
              </a:rPr>
              <a:t>System</a:t>
            </a:r>
            <a:r>
              <a:rPr sz="2800" b="1" i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)</a:t>
            </a:r>
            <a:endParaRPr sz="2800" dirty="0">
              <a:latin typeface="Arial"/>
              <a:cs typeface="Arial"/>
            </a:endParaRPr>
          </a:p>
          <a:p>
            <a:pPr marL="156845" marR="5080">
              <a:lnSpc>
                <a:spcPct val="100000"/>
              </a:lnSpc>
              <a:spcBef>
                <a:spcPts val="975"/>
              </a:spcBef>
            </a:pPr>
            <a:r>
              <a:rPr sz="2400" dirty="0">
                <a:latin typeface="Arial MT"/>
                <a:cs typeface="Arial MT"/>
              </a:rPr>
              <a:t>Sistem </a:t>
            </a:r>
            <a:r>
              <a:rPr sz="2400" spc="-10" dirty="0">
                <a:latin typeface="Arial MT"/>
                <a:cs typeface="Arial MT"/>
              </a:rPr>
              <a:t>yang </a:t>
            </a:r>
            <a:r>
              <a:rPr sz="2400" dirty="0">
                <a:latin typeface="Arial MT"/>
                <a:cs typeface="Arial MT"/>
              </a:rPr>
              <a:t>memberikan fasilitas tugas-tugas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pemrosesan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informasi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sehari-hari didalam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perkantoran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organisasi</a:t>
            </a:r>
            <a:r>
              <a:rPr sz="2400" dirty="0">
                <a:latin typeface="Arial MT"/>
                <a:cs typeface="Arial MT"/>
              </a:rPr>
              <a:t> bisnis.</a:t>
            </a:r>
          </a:p>
          <a:p>
            <a:pPr marL="149225">
              <a:lnSpc>
                <a:spcPct val="100000"/>
              </a:lnSpc>
              <a:spcBef>
                <a:spcPts val="1610"/>
              </a:spcBef>
            </a:pPr>
            <a:r>
              <a:rPr sz="2800" spc="5" dirty="0">
                <a:latin typeface="Arial MT"/>
                <a:cs typeface="Arial MT"/>
              </a:rPr>
              <a:t>Aplikasi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Otomatisasi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Perkantoran</a:t>
            </a:r>
            <a:endParaRPr sz="2800" dirty="0">
              <a:latin typeface="Arial MT"/>
              <a:cs typeface="Arial MT"/>
            </a:endParaRPr>
          </a:p>
          <a:p>
            <a:pPr marL="768985" indent="-55181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768985" algn="l"/>
                <a:tab pos="769620" algn="l"/>
              </a:tabLst>
            </a:pPr>
            <a:r>
              <a:rPr sz="2000" b="1" spc="-10" dirty="0">
                <a:latin typeface="Arial"/>
                <a:cs typeface="Arial"/>
              </a:rPr>
              <a:t>Pengolah </a:t>
            </a:r>
            <a:r>
              <a:rPr sz="2000" b="1" spc="-5" dirty="0">
                <a:latin typeface="Arial"/>
                <a:cs typeface="Arial"/>
              </a:rPr>
              <a:t>Kata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-15" dirty="0">
                <a:latin typeface="Arial"/>
                <a:cs typeface="Arial"/>
              </a:rPr>
              <a:t>(</a:t>
            </a:r>
            <a:r>
              <a:rPr sz="2000" b="1" i="1" spc="-15" dirty="0">
                <a:latin typeface="Arial"/>
                <a:cs typeface="Arial"/>
              </a:rPr>
              <a:t>Word</a:t>
            </a:r>
            <a:r>
              <a:rPr sz="2000" b="1" i="1" spc="15" dirty="0">
                <a:latin typeface="Arial"/>
                <a:cs typeface="Arial"/>
              </a:rPr>
              <a:t> </a:t>
            </a:r>
            <a:r>
              <a:rPr sz="2000" b="1" i="1" spc="-10" dirty="0">
                <a:latin typeface="Arial"/>
                <a:cs typeface="Arial"/>
              </a:rPr>
              <a:t>Processing</a:t>
            </a:r>
            <a:r>
              <a:rPr sz="2000" b="1" spc="-10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768985" indent="-55181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768985" algn="l"/>
                <a:tab pos="769620" algn="l"/>
              </a:tabLst>
            </a:pPr>
            <a:r>
              <a:rPr sz="2000" b="1" spc="-10" dirty="0">
                <a:latin typeface="Arial"/>
                <a:cs typeface="Arial"/>
              </a:rPr>
              <a:t>Surat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Elektronik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(</a:t>
            </a:r>
            <a:r>
              <a:rPr sz="2000" b="1" i="1" spc="-5" dirty="0">
                <a:latin typeface="Arial"/>
                <a:cs typeface="Arial"/>
              </a:rPr>
              <a:t>Electronic</a:t>
            </a:r>
            <a:r>
              <a:rPr sz="2000" b="1" i="1" spc="30" dirty="0">
                <a:latin typeface="Arial"/>
                <a:cs typeface="Arial"/>
              </a:rPr>
              <a:t> </a:t>
            </a:r>
            <a:r>
              <a:rPr sz="2000" b="1" i="1" spc="-15" dirty="0">
                <a:latin typeface="Arial"/>
                <a:cs typeface="Arial"/>
              </a:rPr>
              <a:t>Mail</a:t>
            </a:r>
            <a:r>
              <a:rPr sz="2000" b="1" spc="-15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768985" indent="-55181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768985" algn="l"/>
                <a:tab pos="769620" algn="l"/>
              </a:tabLst>
            </a:pPr>
            <a:r>
              <a:rPr sz="2000" b="1" spc="-10" dirty="0">
                <a:latin typeface="Arial"/>
                <a:cs typeface="Arial"/>
              </a:rPr>
              <a:t>Surat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Bersuara</a:t>
            </a:r>
            <a:r>
              <a:rPr sz="2000" b="1" spc="20" dirty="0">
                <a:latin typeface="Arial"/>
                <a:cs typeface="Arial"/>
              </a:rPr>
              <a:t> </a:t>
            </a:r>
            <a:r>
              <a:rPr sz="2000" b="1" spc="-15" dirty="0">
                <a:latin typeface="Arial"/>
                <a:cs typeface="Arial"/>
              </a:rPr>
              <a:t>(</a:t>
            </a:r>
            <a:r>
              <a:rPr sz="2000" b="1" i="1" spc="-15" dirty="0">
                <a:latin typeface="Arial"/>
                <a:cs typeface="Arial"/>
              </a:rPr>
              <a:t>Voice</a:t>
            </a:r>
            <a:r>
              <a:rPr sz="2000" b="1" i="1" spc="-5" dirty="0">
                <a:latin typeface="Arial"/>
                <a:cs typeface="Arial"/>
              </a:rPr>
              <a:t> </a:t>
            </a:r>
            <a:r>
              <a:rPr sz="2000" b="1" i="1" spc="-15" dirty="0">
                <a:latin typeface="Arial"/>
                <a:cs typeface="Arial"/>
              </a:rPr>
              <a:t>Mail</a:t>
            </a:r>
            <a:r>
              <a:rPr sz="2000" b="1" spc="-15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768985" indent="-551815">
              <a:lnSpc>
                <a:spcPct val="100000"/>
              </a:lnSpc>
              <a:spcBef>
                <a:spcPts val="244"/>
              </a:spcBef>
              <a:buAutoNum type="arabicPeriod"/>
              <a:tabLst>
                <a:tab pos="768985" algn="l"/>
                <a:tab pos="769620" algn="l"/>
              </a:tabLst>
            </a:pPr>
            <a:r>
              <a:rPr sz="2000" b="1" spc="-5" dirty="0">
                <a:latin typeface="Arial"/>
                <a:cs typeface="Arial"/>
              </a:rPr>
              <a:t>Kalender Elektronik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(</a:t>
            </a:r>
            <a:r>
              <a:rPr sz="2000" b="1" i="1" spc="-5" dirty="0">
                <a:latin typeface="Arial"/>
                <a:cs typeface="Arial"/>
              </a:rPr>
              <a:t>Electronic</a:t>
            </a:r>
            <a:r>
              <a:rPr sz="2000" b="1" i="1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Arial"/>
                <a:cs typeface="Arial"/>
              </a:rPr>
              <a:t>Calendaring</a:t>
            </a:r>
            <a:r>
              <a:rPr sz="2000" b="1" spc="-5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768985" indent="-55181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768985" algn="l"/>
                <a:tab pos="769620" algn="l"/>
              </a:tabLst>
            </a:pPr>
            <a:r>
              <a:rPr sz="2000" b="1" spc="-5" dirty="0">
                <a:latin typeface="Arial"/>
                <a:cs typeface="Arial"/>
              </a:rPr>
              <a:t>Konferensi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Suara</a:t>
            </a:r>
            <a:r>
              <a:rPr sz="2000" b="1" spc="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</a:t>
            </a:r>
            <a:r>
              <a:rPr sz="2000" b="1" i="1" dirty="0">
                <a:latin typeface="Arial"/>
                <a:cs typeface="Arial"/>
              </a:rPr>
              <a:t>Audio</a:t>
            </a:r>
            <a:r>
              <a:rPr sz="2000" b="1" i="1" spc="-15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Arial"/>
                <a:cs typeface="Arial"/>
              </a:rPr>
              <a:t>Conferencing</a:t>
            </a:r>
            <a:r>
              <a:rPr sz="2000" b="1" spc="-5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768985" indent="-55181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768985" algn="l"/>
                <a:tab pos="769620" algn="l"/>
              </a:tabLst>
            </a:pPr>
            <a:r>
              <a:rPr sz="2000" b="1" spc="-5" dirty="0">
                <a:latin typeface="Arial"/>
                <a:cs typeface="Arial"/>
              </a:rPr>
              <a:t>Konferensi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15" dirty="0">
                <a:latin typeface="Arial"/>
                <a:cs typeface="Arial"/>
              </a:rPr>
              <a:t>Video</a:t>
            </a:r>
            <a:r>
              <a:rPr sz="2000" b="1" spc="30" dirty="0">
                <a:latin typeface="Arial"/>
                <a:cs typeface="Arial"/>
              </a:rPr>
              <a:t> </a:t>
            </a:r>
            <a:r>
              <a:rPr sz="2000" b="1" spc="-15" dirty="0">
                <a:latin typeface="Arial"/>
                <a:cs typeface="Arial"/>
              </a:rPr>
              <a:t>(</a:t>
            </a:r>
            <a:r>
              <a:rPr sz="2000" b="1" i="1" spc="-15" dirty="0">
                <a:latin typeface="Arial"/>
                <a:cs typeface="Arial"/>
              </a:rPr>
              <a:t>Video</a:t>
            </a:r>
            <a:r>
              <a:rPr sz="2000" b="1" i="1" spc="-20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Arial"/>
                <a:cs typeface="Arial"/>
              </a:rPr>
              <a:t>Conferencing</a:t>
            </a:r>
            <a:r>
              <a:rPr sz="2000" b="1" spc="-5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768985" indent="-55181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768985" algn="l"/>
                <a:tab pos="769620" algn="l"/>
              </a:tabLst>
            </a:pPr>
            <a:r>
              <a:rPr sz="2000" b="1" spc="-10" dirty="0">
                <a:latin typeface="Arial"/>
                <a:cs typeface="Arial"/>
              </a:rPr>
              <a:t>Facsimile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45" dirty="0">
                <a:latin typeface="Arial"/>
                <a:cs typeface="Arial"/>
              </a:rPr>
              <a:t>(FAX)</a:t>
            </a:r>
            <a:endParaRPr sz="2000" dirty="0">
              <a:latin typeface="Arial"/>
              <a:cs typeface="Arial"/>
            </a:endParaRPr>
          </a:p>
          <a:p>
            <a:pPr marL="768985" indent="-551815">
              <a:lnSpc>
                <a:spcPct val="100000"/>
              </a:lnSpc>
              <a:spcBef>
                <a:spcPts val="244"/>
              </a:spcBef>
              <a:buAutoNum type="arabicPeriod"/>
              <a:tabLst>
                <a:tab pos="768985" algn="l"/>
                <a:tab pos="769620" algn="l"/>
              </a:tabLst>
            </a:pPr>
            <a:r>
              <a:rPr sz="2000" b="1" spc="-10" dirty="0">
                <a:latin typeface="Arial"/>
                <a:cs typeface="Arial"/>
              </a:rPr>
              <a:t>Videotext</a:t>
            </a:r>
            <a:endParaRPr sz="2000" dirty="0">
              <a:latin typeface="Arial"/>
              <a:cs typeface="Arial"/>
            </a:endParaRPr>
          </a:p>
          <a:p>
            <a:pPr marL="768985" indent="-55181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768985" algn="l"/>
                <a:tab pos="769620" algn="l"/>
              </a:tabLst>
            </a:pPr>
            <a:r>
              <a:rPr sz="2000" b="1" spc="-10" dirty="0">
                <a:latin typeface="Arial"/>
                <a:cs typeface="Arial"/>
              </a:rPr>
              <a:t>Pencitraan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(</a:t>
            </a:r>
            <a:r>
              <a:rPr sz="2000" b="1" i="1" spc="-5" dirty="0">
                <a:latin typeface="Arial"/>
                <a:cs typeface="Arial"/>
              </a:rPr>
              <a:t>Imaging</a:t>
            </a:r>
            <a:r>
              <a:rPr sz="2000" b="1" spc="-5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768985" indent="-55181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768985" algn="l"/>
                <a:tab pos="769620" algn="l"/>
              </a:tabLst>
            </a:pPr>
            <a:r>
              <a:rPr sz="2000" b="1" spc="-5" dirty="0">
                <a:latin typeface="Arial"/>
                <a:cs typeface="Arial"/>
              </a:rPr>
              <a:t>Desktop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Publishing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1200" y="2286000"/>
            <a:ext cx="788670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5" dirty="0"/>
              <a:t>KOMPUTER</a:t>
            </a:r>
            <a:r>
              <a:rPr sz="4800" spc="-60" dirty="0"/>
              <a:t> </a:t>
            </a:r>
            <a:r>
              <a:rPr sz="4800" spc="-10" dirty="0"/>
              <a:t>DAN </a:t>
            </a:r>
            <a:r>
              <a:rPr sz="4800" spc="-1315" dirty="0"/>
              <a:t> </a:t>
            </a:r>
            <a:r>
              <a:rPr sz="4800" spc="-5" dirty="0"/>
              <a:t>PEMERINTAHAN</a:t>
            </a:r>
            <a:endParaRPr sz="4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0362" y="152400"/>
            <a:ext cx="78867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TU</a:t>
            </a:r>
            <a:r>
              <a:rPr sz="3600" spc="-15" dirty="0"/>
              <a:t>J</a:t>
            </a:r>
            <a:r>
              <a:rPr sz="3600" dirty="0"/>
              <a:t>U</a:t>
            </a:r>
            <a:r>
              <a:rPr sz="3600" spc="-120" dirty="0"/>
              <a:t>A</a:t>
            </a:r>
            <a:r>
              <a:rPr sz="3600" dirty="0"/>
              <a:t>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2647" y="994409"/>
            <a:ext cx="7384415" cy="534312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6870" marR="5080" indent="-344805">
              <a:lnSpc>
                <a:spcPts val="2590"/>
              </a:lnSpc>
              <a:spcBef>
                <a:spcPts val="42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Arial MT"/>
                <a:cs typeface="Arial MT"/>
              </a:rPr>
              <a:t>Memberi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kemudahan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kesederhanaan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prosedur,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sehingga penerapannya </a:t>
            </a:r>
            <a:r>
              <a:rPr sz="2400" dirty="0">
                <a:latin typeface="Arial MT"/>
                <a:cs typeface="Arial MT"/>
              </a:rPr>
              <a:t>memerlukan </a:t>
            </a:r>
            <a:r>
              <a:rPr sz="2400" spc="-5" dirty="0">
                <a:latin typeface="Arial MT"/>
                <a:cs typeface="Arial MT"/>
              </a:rPr>
              <a:t>perubahan </a:t>
            </a:r>
            <a:r>
              <a:rPr sz="2400" dirty="0">
                <a:latin typeface="Arial MT"/>
                <a:cs typeface="Arial MT"/>
              </a:rPr>
              <a:t> struktur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organisasi</a:t>
            </a:r>
            <a:r>
              <a:rPr sz="2400" dirty="0">
                <a:latin typeface="Arial MT"/>
                <a:cs typeface="Arial MT"/>
              </a:rPr>
              <a:t> pemerintahan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itu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sendiri.</a:t>
            </a:r>
            <a:endParaRPr sz="24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26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Arial MT"/>
                <a:cs typeface="Arial MT"/>
              </a:rPr>
              <a:t>Membentuk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hubungan: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 MT"/>
                <a:cs typeface="Arial MT"/>
              </a:rPr>
              <a:t>G2C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(Governmet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Citizen)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 MT"/>
                <a:cs typeface="Arial MT"/>
              </a:rPr>
              <a:t>G2B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(Government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Business)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 MT"/>
                <a:cs typeface="Arial MT"/>
              </a:rPr>
              <a:t>G2G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(Government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Government).</a:t>
            </a:r>
            <a:endParaRPr sz="2400">
              <a:latin typeface="Arial MT"/>
              <a:cs typeface="Arial MT"/>
            </a:endParaRPr>
          </a:p>
          <a:p>
            <a:pPr marL="145415">
              <a:lnSpc>
                <a:spcPct val="100000"/>
              </a:lnSpc>
              <a:spcBef>
                <a:spcPts val="1964"/>
              </a:spcBef>
            </a:pPr>
            <a:r>
              <a:rPr sz="3600" b="1" spc="-85" dirty="0">
                <a:latin typeface="Arial"/>
                <a:cs typeface="Arial"/>
              </a:rPr>
              <a:t>MANFAAT</a:t>
            </a:r>
            <a:r>
              <a:rPr sz="3600" b="1" spc="45" dirty="0">
                <a:latin typeface="Arial"/>
                <a:cs typeface="Arial"/>
              </a:rPr>
              <a:t> </a:t>
            </a:r>
            <a:r>
              <a:rPr sz="3600" b="1" spc="-5" dirty="0">
                <a:latin typeface="Arial"/>
                <a:cs typeface="Arial"/>
              </a:rPr>
              <a:t>UMUM</a:t>
            </a:r>
            <a:endParaRPr sz="3600">
              <a:latin typeface="Arial"/>
              <a:cs typeface="Arial"/>
            </a:endParaRPr>
          </a:p>
          <a:p>
            <a:pPr marL="221615">
              <a:lnSpc>
                <a:spcPct val="100000"/>
              </a:lnSpc>
              <a:spcBef>
                <a:spcPts val="1930"/>
              </a:spcBef>
            </a:pPr>
            <a:r>
              <a:rPr sz="2800" spc="5" dirty="0">
                <a:latin typeface="Arial MT"/>
                <a:cs typeface="Arial MT"/>
              </a:rPr>
              <a:t>Peningkatan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hubungan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antara:</a:t>
            </a:r>
            <a:endParaRPr sz="2800">
              <a:latin typeface="Arial MT"/>
              <a:cs typeface="Arial MT"/>
            </a:endParaRPr>
          </a:p>
          <a:p>
            <a:pPr marL="883285" indent="-539750">
              <a:lnSpc>
                <a:spcPct val="100000"/>
              </a:lnSpc>
              <a:spcBef>
                <a:spcPts val="400"/>
              </a:spcBef>
              <a:buSzPct val="116666"/>
              <a:buChar char="•"/>
              <a:tabLst>
                <a:tab pos="883285" algn="l"/>
                <a:tab pos="883919" algn="l"/>
              </a:tabLst>
            </a:pPr>
            <a:r>
              <a:rPr sz="2400" dirty="0">
                <a:latin typeface="Arial MT"/>
                <a:cs typeface="Arial MT"/>
              </a:rPr>
              <a:t>Pemerintah</a:t>
            </a:r>
            <a:endParaRPr sz="2400">
              <a:latin typeface="Arial MT"/>
              <a:cs typeface="Arial MT"/>
            </a:endParaRPr>
          </a:p>
          <a:p>
            <a:pPr marL="855980" indent="-512445">
              <a:lnSpc>
                <a:spcPct val="100000"/>
              </a:lnSpc>
              <a:spcBef>
                <a:spcPts val="100"/>
              </a:spcBef>
              <a:buChar char="•"/>
              <a:tabLst>
                <a:tab pos="855980" algn="l"/>
                <a:tab pos="856615" algn="l"/>
              </a:tabLst>
            </a:pPr>
            <a:r>
              <a:rPr sz="2400" dirty="0">
                <a:latin typeface="Arial MT"/>
                <a:cs typeface="Arial MT"/>
              </a:rPr>
              <a:t>Pelaku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bisnis</a:t>
            </a:r>
            <a:endParaRPr sz="2400">
              <a:latin typeface="Arial MT"/>
              <a:cs typeface="Arial MT"/>
            </a:endParaRPr>
          </a:p>
          <a:p>
            <a:pPr marL="855980" indent="-512445">
              <a:lnSpc>
                <a:spcPct val="100000"/>
              </a:lnSpc>
              <a:buChar char="•"/>
              <a:tabLst>
                <a:tab pos="855980" algn="l"/>
                <a:tab pos="856615" algn="l"/>
              </a:tabLst>
            </a:pPr>
            <a:r>
              <a:rPr sz="2400" spc="-5" dirty="0">
                <a:latin typeface="Arial MT"/>
                <a:cs typeface="Arial MT"/>
              </a:rPr>
              <a:t>Masyarakat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umum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2081" y="838200"/>
            <a:ext cx="788670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8445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APLIKASI</a:t>
            </a:r>
            <a:r>
              <a:rPr spc="-120" dirty="0"/>
              <a:t> </a:t>
            </a:r>
            <a:r>
              <a:rPr spc="5" dirty="0"/>
              <a:t>KOMPUTER</a:t>
            </a:r>
            <a:r>
              <a:rPr spc="-75" dirty="0"/>
              <a:t> </a:t>
            </a:r>
            <a:r>
              <a:rPr dirty="0"/>
              <a:t>DI </a:t>
            </a:r>
            <a:r>
              <a:rPr spc="-1095" dirty="0"/>
              <a:t> </a:t>
            </a:r>
            <a:r>
              <a:rPr dirty="0"/>
              <a:t>PEMERINTAHAN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5319" y="1704666"/>
            <a:ext cx="6880225" cy="3563796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b="1" spc="-10" dirty="0">
                <a:latin typeface="Arial"/>
                <a:cs typeface="Arial"/>
              </a:rPr>
              <a:t>Aplikasi</a:t>
            </a:r>
            <a:r>
              <a:rPr sz="2800" b="1" spc="5" dirty="0">
                <a:latin typeface="Arial"/>
                <a:cs typeface="Arial"/>
              </a:rPr>
              <a:t> kepegawaian</a:t>
            </a:r>
            <a:endParaRPr sz="2800">
              <a:latin typeface="Arial"/>
              <a:cs typeface="Arial"/>
            </a:endParaRPr>
          </a:p>
          <a:p>
            <a:pPr marL="356870" indent="-34480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b="1" spc="-10" dirty="0">
                <a:latin typeface="Arial"/>
                <a:cs typeface="Arial"/>
              </a:rPr>
              <a:t>Aplikasi</a:t>
            </a:r>
            <a:r>
              <a:rPr sz="2800" b="1" spc="1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di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pemerintahan</a:t>
            </a:r>
            <a:r>
              <a:rPr sz="2800" b="1" spc="-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daerah</a:t>
            </a:r>
            <a:endParaRPr sz="2800">
              <a:latin typeface="Arial"/>
              <a:cs typeface="Arial"/>
            </a:endParaRPr>
          </a:p>
          <a:p>
            <a:pPr marL="356870" marR="5080" indent="-34480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b="1" spc="-10" dirty="0">
                <a:latin typeface="Arial"/>
                <a:cs typeface="Arial"/>
              </a:rPr>
              <a:t>Aplikasi</a:t>
            </a:r>
            <a:r>
              <a:rPr sz="2800" b="1" spc="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Surat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tanda</a:t>
            </a:r>
            <a:r>
              <a:rPr sz="2800" b="1" spc="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nomor</a:t>
            </a:r>
            <a:r>
              <a:rPr sz="2800" b="1" spc="2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kendaraan </a:t>
            </a:r>
            <a:r>
              <a:rPr sz="2800" b="1" spc="-7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bermotor</a:t>
            </a:r>
            <a:r>
              <a:rPr sz="2800" b="1" spc="-3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(STNK)</a:t>
            </a:r>
            <a:endParaRPr sz="2800">
              <a:latin typeface="Arial"/>
              <a:cs typeface="Arial"/>
            </a:endParaRPr>
          </a:p>
          <a:p>
            <a:pPr marL="356870" indent="-34480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b="1" spc="-10" dirty="0">
                <a:latin typeface="Arial"/>
                <a:cs typeface="Arial"/>
              </a:rPr>
              <a:t>Aplikasi</a:t>
            </a:r>
            <a:r>
              <a:rPr sz="2800" b="1" dirty="0">
                <a:latin typeface="Arial"/>
                <a:cs typeface="Arial"/>
              </a:rPr>
              <a:t> perpajakan</a:t>
            </a:r>
            <a:endParaRPr sz="2800">
              <a:latin typeface="Arial"/>
              <a:cs typeface="Arial"/>
            </a:endParaRPr>
          </a:p>
          <a:p>
            <a:pPr marL="356870" indent="-34480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b="1" spc="-10" dirty="0">
                <a:latin typeface="Arial"/>
                <a:cs typeface="Arial"/>
              </a:rPr>
              <a:t>Aplikasi </a:t>
            </a:r>
            <a:r>
              <a:rPr sz="2800" b="1" dirty="0">
                <a:latin typeface="Arial"/>
                <a:cs typeface="Arial"/>
              </a:rPr>
              <a:t>pertanahan</a:t>
            </a:r>
            <a:endParaRPr sz="2800">
              <a:latin typeface="Arial"/>
              <a:cs typeface="Arial"/>
            </a:endParaRPr>
          </a:p>
          <a:p>
            <a:pPr marL="356870" indent="-34480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b="1" dirty="0">
                <a:latin typeface="Arial"/>
                <a:cs typeface="Arial"/>
              </a:rPr>
              <a:t>dll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2667000"/>
            <a:ext cx="78867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i="1" spc="-5" dirty="0">
                <a:latin typeface="Arial"/>
                <a:cs typeface="Arial"/>
              </a:rPr>
              <a:t>E</a:t>
            </a:r>
            <a:r>
              <a:rPr sz="5400" b="0" i="1" dirty="0">
                <a:latin typeface="Arial"/>
                <a:cs typeface="Arial"/>
              </a:rPr>
              <a:t>-Goverment</a:t>
            </a:r>
            <a:endParaRPr sz="5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1606279"/>
            <a:ext cx="7886700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" dirty="0"/>
              <a:t>PEMICU</a:t>
            </a:r>
            <a:r>
              <a:rPr spc="-70" dirty="0"/>
              <a:t> </a:t>
            </a:r>
            <a:r>
              <a:rPr spc="5" dirty="0"/>
              <a:t>UTAMA</a:t>
            </a:r>
            <a:r>
              <a:rPr spc="-75" dirty="0"/>
              <a:t> </a:t>
            </a:r>
            <a:r>
              <a:rPr spc="10" dirty="0"/>
              <a:t>e-GOV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0369" y="1918857"/>
            <a:ext cx="7377430" cy="25019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  <a:tab pos="4412615" algn="l"/>
              </a:tabLst>
            </a:pPr>
            <a:r>
              <a:rPr sz="2800" spc="5" dirty="0">
                <a:latin typeface="Arial MT"/>
                <a:cs typeface="Arial MT"/>
              </a:rPr>
              <a:t>Era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Globalisasi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melanda	lebih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cepat</a:t>
            </a:r>
            <a:endParaRPr sz="28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675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Arial MT"/>
                <a:cs typeface="Arial MT"/>
              </a:rPr>
              <a:t>Perkembangan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ICT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yang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pesat</a:t>
            </a:r>
            <a:endParaRPr sz="2800">
              <a:latin typeface="Arial MT"/>
              <a:cs typeface="Arial MT"/>
            </a:endParaRPr>
          </a:p>
          <a:p>
            <a:pPr marL="356870" marR="5080" indent="-344805">
              <a:lnSpc>
                <a:spcPct val="100000"/>
              </a:lnSpc>
              <a:spcBef>
                <a:spcPts val="670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Arial MT"/>
                <a:cs typeface="Arial MT"/>
              </a:rPr>
              <a:t>Tuntutan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penyelenggaraan</a:t>
            </a:r>
            <a:r>
              <a:rPr sz="2800" spc="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pemerintah</a:t>
            </a:r>
            <a:r>
              <a:rPr sz="2800" spc="-5" dirty="0">
                <a:latin typeface="Arial MT"/>
                <a:cs typeface="Arial MT"/>
              </a:rPr>
              <a:t> yang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transparan,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efisien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dan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efektif.</a:t>
            </a:r>
            <a:endParaRPr sz="28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680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Arial MT"/>
                <a:cs typeface="Arial MT"/>
              </a:rPr>
              <a:t>Pesatnya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pertumbuhan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Digital</a:t>
            </a:r>
            <a:r>
              <a:rPr sz="2800" i="1" spc="-25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Enterprize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5863" y="914400"/>
            <a:ext cx="7886700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DEFINISI</a:t>
            </a:r>
            <a:r>
              <a:rPr spc="-145" dirty="0"/>
              <a:t> </a:t>
            </a:r>
            <a:r>
              <a:rPr spc="5" dirty="0"/>
              <a:t>e-GOVERNMENT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4267" y="1604213"/>
            <a:ext cx="7707630" cy="30156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2800" dirty="0">
                <a:latin typeface="Arial MT"/>
                <a:cs typeface="Arial MT"/>
              </a:rPr>
              <a:t>Penyelenggaraan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pemerintahan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berbasis</a:t>
            </a:r>
            <a:r>
              <a:rPr sz="2800" dirty="0">
                <a:latin typeface="Arial MT"/>
                <a:cs typeface="Arial MT"/>
              </a:rPr>
              <a:t> ICT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yang </a:t>
            </a:r>
            <a:r>
              <a:rPr sz="2800" spc="5" dirty="0">
                <a:latin typeface="Arial MT"/>
                <a:cs typeface="Arial MT"/>
              </a:rPr>
              <a:t>kemudian menghasilkan </a:t>
            </a:r>
            <a:r>
              <a:rPr sz="2800" dirty="0">
                <a:latin typeface="Arial MT"/>
                <a:cs typeface="Arial MT"/>
              </a:rPr>
              <a:t>hubungan </a:t>
            </a:r>
            <a:r>
              <a:rPr sz="2800" spc="5" dirty="0">
                <a:latin typeface="Arial MT"/>
                <a:cs typeface="Arial MT"/>
              </a:rPr>
              <a:t>bentuk 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baru </a:t>
            </a:r>
            <a:r>
              <a:rPr sz="2800" spc="5" dirty="0">
                <a:latin typeface="Arial MT"/>
                <a:cs typeface="Arial MT"/>
              </a:rPr>
              <a:t>seperti: G2C </a:t>
            </a:r>
            <a:r>
              <a:rPr sz="2800" dirty="0">
                <a:latin typeface="Arial MT"/>
                <a:cs typeface="Arial MT"/>
              </a:rPr>
              <a:t>(</a:t>
            </a:r>
            <a:r>
              <a:rPr sz="2800" i="1" dirty="0">
                <a:latin typeface="Arial"/>
                <a:cs typeface="Arial"/>
              </a:rPr>
              <a:t>Government </a:t>
            </a:r>
            <a:r>
              <a:rPr sz="2800" i="1" spc="5" dirty="0">
                <a:latin typeface="Arial"/>
                <a:cs typeface="Arial"/>
              </a:rPr>
              <a:t>to </a:t>
            </a:r>
            <a:r>
              <a:rPr sz="2800" i="1" spc="-10" dirty="0">
                <a:latin typeface="Arial"/>
                <a:cs typeface="Arial"/>
              </a:rPr>
              <a:t>Citizen</a:t>
            </a:r>
            <a:r>
              <a:rPr sz="2800" spc="-10" dirty="0">
                <a:latin typeface="Arial MT"/>
                <a:cs typeface="Arial MT"/>
              </a:rPr>
              <a:t>), </a:t>
            </a:r>
            <a:r>
              <a:rPr sz="2800" spc="5" dirty="0">
                <a:latin typeface="Arial MT"/>
                <a:cs typeface="Arial MT"/>
              </a:rPr>
              <a:t>G2B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(</a:t>
            </a:r>
            <a:r>
              <a:rPr sz="2800" i="1" spc="5" dirty="0">
                <a:latin typeface="Arial"/>
                <a:cs typeface="Arial"/>
              </a:rPr>
              <a:t>Government</a:t>
            </a:r>
            <a:r>
              <a:rPr sz="2800" i="1" spc="-30" dirty="0">
                <a:latin typeface="Arial"/>
                <a:cs typeface="Arial"/>
              </a:rPr>
              <a:t> </a:t>
            </a:r>
            <a:r>
              <a:rPr sz="2800" i="1" spc="5" dirty="0">
                <a:latin typeface="Arial"/>
                <a:cs typeface="Arial"/>
              </a:rPr>
              <a:t>to</a:t>
            </a:r>
            <a:r>
              <a:rPr sz="2800" i="1" spc="-35" dirty="0">
                <a:latin typeface="Arial"/>
                <a:cs typeface="Arial"/>
              </a:rPr>
              <a:t> </a:t>
            </a:r>
            <a:r>
              <a:rPr sz="2800" i="1" spc="5" dirty="0">
                <a:latin typeface="Arial"/>
                <a:cs typeface="Arial"/>
              </a:rPr>
              <a:t>Business</a:t>
            </a:r>
            <a:r>
              <a:rPr sz="2800" i="1" spc="-3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Enterprises</a:t>
            </a:r>
            <a:r>
              <a:rPr sz="2800" dirty="0">
                <a:latin typeface="Arial MT"/>
                <a:cs typeface="Arial MT"/>
              </a:rPr>
              <a:t>),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dan G2G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</a:t>
            </a:r>
            <a:r>
              <a:rPr sz="2800" i="1" dirty="0">
                <a:latin typeface="Arial"/>
                <a:cs typeface="Arial"/>
              </a:rPr>
              <a:t>inter-Government</a:t>
            </a:r>
            <a:r>
              <a:rPr sz="2800" i="1" spc="12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relationship</a:t>
            </a:r>
            <a:r>
              <a:rPr sz="2800" dirty="0">
                <a:latin typeface="Arial MT"/>
                <a:cs typeface="Arial MT"/>
              </a:rPr>
              <a:t>)</a:t>
            </a:r>
            <a:r>
              <a:rPr sz="2800" spc="1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sehingga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mampu </a:t>
            </a:r>
            <a:r>
              <a:rPr sz="2800" spc="5" dirty="0">
                <a:latin typeface="Arial MT"/>
                <a:cs typeface="Arial MT"/>
              </a:rPr>
              <a:t>meningkatkan kualitas </a:t>
            </a:r>
            <a:r>
              <a:rPr sz="2800" spc="-5" dirty="0">
                <a:latin typeface="Arial MT"/>
                <a:cs typeface="Arial MT"/>
              </a:rPr>
              <a:t>layanan </a:t>
            </a:r>
            <a:r>
              <a:rPr sz="2800" dirty="0">
                <a:latin typeface="Arial MT"/>
                <a:cs typeface="Arial MT"/>
              </a:rPr>
              <a:t>publik </a:t>
            </a:r>
            <a:r>
              <a:rPr sz="2800" spc="5" dirty="0">
                <a:latin typeface="Arial MT"/>
                <a:cs typeface="Arial MT"/>
              </a:rPr>
              <a:t> secara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transparan,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efektif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dan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efisien.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685800"/>
            <a:ext cx="7886700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5" dirty="0"/>
              <a:t>MANFAAT</a:t>
            </a:r>
            <a:r>
              <a:rPr spc="-80" dirty="0"/>
              <a:t> </a:t>
            </a:r>
            <a:r>
              <a:rPr dirty="0"/>
              <a:t>e-GOVERNMENT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3391" y="1384757"/>
            <a:ext cx="7321550" cy="4929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 indent="-61023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622300" algn="l"/>
                <a:tab pos="622935" algn="l"/>
              </a:tabLst>
            </a:pPr>
            <a:r>
              <a:rPr sz="2400" dirty="0">
                <a:latin typeface="Arial MT"/>
                <a:cs typeface="Arial MT"/>
              </a:rPr>
              <a:t>Menunjang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Good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Governance</a:t>
            </a:r>
            <a:endParaRPr sz="2400">
              <a:latin typeface="Arial MT"/>
              <a:cs typeface="Arial MT"/>
            </a:endParaRPr>
          </a:p>
          <a:p>
            <a:pPr marL="622300" indent="-610235">
              <a:lnSpc>
                <a:spcPct val="100000"/>
              </a:lnSpc>
              <a:buAutoNum type="arabicPeriod"/>
              <a:tabLst>
                <a:tab pos="622300" algn="l"/>
                <a:tab pos="622935" algn="l"/>
              </a:tabLst>
            </a:pPr>
            <a:r>
              <a:rPr sz="2400" spc="-5" dirty="0">
                <a:latin typeface="Arial MT"/>
                <a:cs typeface="Arial MT"/>
              </a:rPr>
              <a:t>Meningkatnya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layanan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publik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24/7</a:t>
            </a:r>
            <a:endParaRPr sz="2400">
              <a:latin typeface="Arial MT"/>
              <a:cs typeface="Arial MT"/>
            </a:endParaRPr>
          </a:p>
          <a:p>
            <a:pPr marL="622300" marR="5080" indent="-610235">
              <a:lnSpc>
                <a:spcPct val="80000"/>
              </a:lnSpc>
              <a:spcBef>
                <a:spcPts val="580"/>
              </a:spcBef>
              <a:buAutoNum type="arabicPeriod"/>
              <a:tabLst>
                <a:tab pos="622300" algn="l"/>
                <a:tab pos="622935" algn="l"/>
              </a:tabLst>
            </a:pPr>
            <a:r>
              <a:rPr sz="2400" dirty="0">
                <a:latin typeface="Arial MT"/>
                <a:cs typeface="Arial MT"/>
              </a:rPr>
              <a:t>Meningkatkan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Efisiensi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Efektivitas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pelayanan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publik( </a:t>
            </a:r>
            <a:r>
              <a:rPr sz="2400" spc="5" dirty="0">
                <a:latin typeface="Arial MT"/>
                <a:cs typeface="Arial MT"/>
              </a:rPr>
              <a:t>Informasi </a:t>
            </a:r>
            <a:r>
              <a:rPr sz="2400" dirty="0">
                <a:latin typeface="Arial MT"/>
                <a:cs typeface="Arial MT"/>
              </a:rPr>
              <a:t>dapat dicari dari kantor, rumah, </a:t>
            </a:r>
            <a:r>
              <a:rPr sz="2400" spc="5" dirty="0">
                <a:latin typeface="Arial MT"/>
                <a:cs typeface="Arial MT"/>
              </a:rPr>
              <a:t> tanpa </a:t>
            </a:r>
            <a:r>
              <a:rPr sz="2400" dirty="0">
                <a:latin typeface="Arial MT"/>
                <a:cs typeface="Arial MT"/>
              </a:rPr>
              <a:t>harus secara </a:t>
            </a:r>
            <a:r>
              <a:rPr sz="2400" spc="5" dirty="0">
                <a:latin typeface="Arial MT"/>
                <a:cs typeface="Arial MT"/>
              </a:rPr>
              <a:t>fisik datang </a:t>
            </a:r>
            <a:r>
              <a:rPr sz="2400" dirty="0">
                <a:latin typeface="Arial MT"/>
                <a:cs typeface="Arial MT"/>
              </a:rPr>
              <a:t>ke kantor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pemerintahan)</a:t>
            </a:r>
            <a:endParaRPr sz="2400">
              <a:latin typeface="Arial MT"/>
              <a:cs typeface="Arial MT"/>
            </a:endParaRPr>
          </a:p>
          <a:p>
            <a:pPr marL="622300" indent="-610235">
              <a:lnSpc>
                <a:spcPts val="2590"/>
              </a:lnSpc>
              <a:spcBef>
                <a:spcPts val="5"/>
              </a:spcBef>
              <a:buAutoNum type="arabicPeriod"/>
              <a:tabLst>
                <a:tab pos="622300" algn="l"/>
                <a:tab pos="622935" algn="l"/>
              </a:tabLst>
            </a:pPr>
            <a:r>
              <a:rPr sz="2400" dirty="0">
                <a:latin typeface="Arial MT"/>
                <a:cs typeface="Arial MT"/>
              </a:rPr>
              <a:t>Menjadi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sarana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Public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Relation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untuk</a:t>
            </a:r>
            <a:endParaRPr sz="2400">
              <a:latin typeface="Arial MT"/>
              <a:cs typeface="Arial MT"/>
            </a:endParaRPr>
          </a:p>
          <a:p>
            <a:pPr marL="622300">
              <a:lnSpc>
                <a:spcPts val="2590"/>
              </a:lnSpc>
            </a:pPr>
            <a:r>
              <a:rPr sz="2400" dirty="0">
                <a:latin typeface="Arial MT"/>
                <a:cs typeface="Arial MT"/>
              </a:rPr>
              <a:t>meningkatkan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citra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Pemerintah</a:t>
            </a:r>
            <a:endParaRPr sz="2400">
              <a:latin typeface="Arial MT"/>
              <a:cs typeface="Arial MT"/>
            </a:endParaRPr>
          </a:p>
          <a:p>
            <a:pPr marL="622300" marR="582295" indent="-610235">
              <a:lnSpc>
                <a:spcPct val="80000"/>
              </a:lnSpc>
              <a:spcBef>
                <a:spcPts val="575"/>
              </a:spcBef>
              <a:buAutoNum type="arabicPeriod" startAt="5"/>
              <a:tabLst>
                <a:tab pos="622300" algn="l"/>
                <a:tab pos="622935" algn="l"/>
              </a:tabLst>
            </a:pPr>
            <a:r>
              <a:rPr sz="2400" dirty="0">
                <a:latin typeface="Arial MT"/>
                <a:cs typeface="Arial MT"/>
              </a:rPr>
              <a:t>Menciptakan peluang bagi pemerintah pusat </a:t>
            </a:r>
            <a:r>
              <a:rPr sz="2400" spc="5" dirty="0">
                <a:latin typeface="Arial MT"/>
                <a:cs typeface="Arial MT"/>
              </a:rPr>
              <a:t> maupun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daerah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untuk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mendapatkan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sumber-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sumber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pendapatan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baru.</a:t>
            </a:r>
            <a:endParaRPr sz="2400">
              <a:latin typeface="Arial MT"/>
              <a:cs typeface="Arial MT"/>
            </a:endParaRPr>
          </a:p>
          <a:p>
            <a:pPr marL="622300" marR="172720" indent="-610235">
              <a:lnSpc>
                <a:spcPct val="80000"/>
              </a:lnSpc>
              <a:spcBef>
                <a:spcPts val="575"/>
              </a:spcBef>
              <a:buAutoNum type="arabicPeriod" startAt="5"/>
              <a:tabLst>
                <a:tab pos="622300" algn="l"/>
                <a:tab pos="622935" algn="l"/>
              </a:tabLst>
            </a:pPr>
            <a:r>
              <a:rPr sz="2400" dirty="0">
                <a:latin typeface="Arial MT"/>
                <a:cs typeface="Arial MT"/>
              </a:rPr>
              <a:t>Pemberdayaan masyarakat </a:t>
            </a:r>
            <a:r>
              <a:rPr sz="2400" spc="-5" dirty="0">
                <a:latin typeface="Arial MT"/>
                <a:cs typeface="Arial MT"/>
              </a:rPr>
              <a:t>(Masyarakat </a:t>
            </a:r>
            <a:r>
              <a:rPr sz="2400" spc="5" dirty="0">
                <a:latin typeface="Arial MT"/>
                <a:cs typeface="Arial MT"/>
              </a:rPr>
              <a:t>mudah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melakukan pengaduan atau keluhan terhadap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kondisi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lingkungannya)</a:t>
            </a:r>
            <a:endParaRPr sz="2400">
              <a:latin typeface="Arial MT"/>
              <a:cs typeface="Arial MT"/>
            </a:endParaRPr>
          </a:p>
          <a:p>
            <a:pPr marL="622300" indent="-610235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622300" algn="l"/>
                <a:tab pos="622935" algn="l"/>
              </a:tabLst>
            </a:pPr>
            <a:r>
              <a:rPr sz="2400" dirty="0">
                <a:latin typeface="Arial MT"/>
                <a:cs typeface="Arial MT"/>
              </a:rPr>
              <a:t>Meningkatkan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kualitas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 kependudukan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914400"/>
            <a:ext cx="7886700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/>
              <a:t>KARAKTERISTIK </a:t>
            </a:r>
            <a:r>
              <a:rPr spc="5" dirty="0"/>
              <a:t> GOOD</a:t>
            </a:r>
            <a:r>
              <a:rPr spc="-120" dirty="0"/>
              <a:t> </a:t>
            </a:r>
            <a:r>
              <a:rPr spc="5" dirty="0"/>
              <a:t>GOVERNANCE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6193" y="1523400"/>
            <a:ext cx="5720715" cy="378269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759460" indent="-747395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759460" algn="l"/>
                <a:tab pos="760095" algn="l"/>
              </a:tabLst>
            </a:pPr>
            <a:r>
              <a:rPr sz="2800" dirty="0">
                <a:latin typeface="Arial MT"/>
                <a:cs typeface="Arial MT"/>
              </a:rPr>
              <a:t>Visi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Strategis</a:t>
            </a:r>
            <a:endParaRPr sz="2800">
              <a:latin typeface="Arial MT"/>
              <a:cs typeface="Arial MT"/>
            </a:endParaRPr>
          </a:p>
          <a:p>
            <a:pPr marL="759460" indent="-747395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759460" algn="l"/>
                <a:tab pos="760095" algn="l"/>
              </a:tabLst>
            </a:pPr>
            <a:r>
              <a:rPr sz="2800" spc="5" dirty="0">
                <a:latin typeface="Arial MT"/>
                <a:cs typeface="Arial MT"/>
              </a:rPr>
              <a:t>Partisipasi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masyarakat</a:t>
            </a:r>
            <a:endParaRPr sz="2800">
              <a:latin typeface="Arial MT"/>
              <a:cs typeface="Arial MT"/>
            </a:endParaRPr>
          </a:p>
          <a:p>
            <a:pPr marL="759460" indent="-747395">
              <a:lnSpc>
                <a:spcPct val="100000"/>
              </a:lnSpc>
              <a:spcBef>
                <a:spcPts val="340"/>
              </a:spcBef>
              <a:buAutoNum type="arabicPeriod"/>
              <a:tabLst>
                <a:tab pos="759460" algn="l"/>
                <a:tab pos="760095" algn="l"/>
              </a:tabLst>
            </a:pPr>
            <a:r>
              <a:rPr sz="2800" dirty="0">
                <a:latin typeface="Arial MT"/>
                <a:cs typeface="Arial MT"/>
              </a:rPr>
              <a:t>Aturan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hukum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yang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jelas</a:t>
            </a:r>
            <a:endParaRPr sz="2800">
              <a:latin typeface="Arial MT"/>
              <a:cs typeface="Arial MT"/>
            </a:endParaRPr>
          </a:p>
          <a:p>
            <a:pPr marL="759460" indent="-747395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759460" algn="l"/>
                <a:tab pos="760095" algn="l"/>
              </a:tabLst>
            </a:pPr>
            <a:r>
              <a:rPr sz="2800" dirty="0">
                <a:latin typeface="Arial MT"/>
                <a:cs typeface="Arial MT"/>
              </a:rPr>
              <a:t>Transparansi</a:t>
            </a:r>
            <a:endParaRPr sz="2800">
              <a:latin typeface="Arial MT"/>
              <a:cs typeface="Arial MT"/>
            </a:endParaRPr>
          </a:p>
          <a:p>
            <a:pPr marL="759460" indent="-747395">
              <a:lnSpc>
                <a:spcPct val="100000"/>
              </a:lnSpc>
              <a:spcBef>
                <a:spcPts val="340"/>
              </a:spcBef>
              <a:buAutoNum type="arabicPeriod"/>
              <a:tabLst>
                <a:tab pos="759460" algn="l"/>
                <a:tab pos="760095" algn="l"/>
              </a:tabLst>
            </a:pPr>
            <a:r>
              <a:rPr sz="2800" dirty="0">
                <a:latin typeface="Arial MT"/>
                <a:cs typeface="Arial MT"/>
              </a:rPr>
              <a:t>Dapat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dipertanggung-jawabkan</a:t>
            </a:r>
            <a:endParaRPr sz="2800">
              <a:latin typeface="Arial MT"/>
              <a:cs typeface="Arial MT"/>
            </a:endParaRPr>
          </a:p>
          <a:p>
            <a:pPr marL="759460" indent="-747395">
              <a:lnSpc>
                <a:spcPct val="100000"/>
              </a:lnSpc>
              <a:spcBef>
                <a:spcPts val="340"/>
              </a:spcBef>
              <a:buAutoNum type="arabicPeriod"/>
              <a:tabLst>
                <a:tab pos="759460" algn="l"/>
                <a:tab pos="760095" algn="l"/>
              </a:tabLst>
            </a:pPr>
            <a:r>
              <a:rPr sz="2800" dirty="0">
                <a:latin typeface="Arial MT"/>
                <a:cs typeface="Arial MT"/>
              </a:rPr>
              <a:t>Responsif</a:t>
            </a:r>
            <a:endParaRPr sz="2800">
              <a:latin typeface="Arial MT"/>
              <a:cs typeface="Arial MT"/>
            </a:endParaRPr>
          </a:p>
          <a:p>
            <a:pPr marL="759460" indent="-747395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759460" algn="l"/>
                <a:tab pos="760095" algn="l"/>
              </a:tabLst>
            </a:pPr>
            <a:r>
              <a:rPr sz="2800" dirty="0">
                <a:latin typeface="Arial MT"/>
                <a:cs typeface="Arial MT"/>
              </a:rPr>
              <a:t>Keadilan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persamaan</a:t>
            </a:r>
            <a:endParaRPr sz="2800">
              <a:latin typeface="Arial MT"/>
              <a:cs typeface="Arial MT"/>
            </a:endParaRPr>
          </a:p>
          <a:p>
            <a:pPr marL="759460" indent="-747395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759460" algn="l"/>
                <a:tab pos="760095" algn="l"/>
              </a:tabLst>
            </a:pPr>
            <a:r>
              <a:rPr sz="2800" spc="5" dirty="0">
                <a:latin typeface="Arial MT"/>
                <a:cs typeface="Arial MT"/>
              </a:rPr>
              <a:t>Profesional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444" y="1092589"/>
            <a:ext cx="7886700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5" dirty="0"/>
              <a:t>JENIS</a:t>
            </a:r>
            <a:r>
              <a:rPr spc="-80" dirty="0"/>
              <a:t> </a:t>
            </a:r>
            <a:r>
              <a:rPr spc="5" dirty="0"/>
              <a:t>LAYANAN</a:t>
            </a:r>
            <a:r>
              <a:rPr spc="-110" dirty="0"/>
              <a:t> </a:t>
            </a:r>
            <a:r>
              <a:rPr spc="10" dirty="0"/>
              <a:t>e-GOV</a:t>
            </a:r>
            <a:r>
              <a:rPr spc="-60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444" y="1850517"/>
            <a:ext cx="7919720" cy="8807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Arial MT"/>
                <a:cs typeface="Arial MT"/>
              </a:rPr>
              <a:t>Ruang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lingkup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Layanan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e-Gov </a:t>
            </a:r>
            <a:r>
              <a:rPr sz="2800" spc="-10" dirty="0">
                <a:latin typeface="Arial MT"/>
                <a:cs typeface="Arial MT"/>
              </a:rPr>
              <a:t>yang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terintegrasi</a:t>
            </a:r>
            <a:endParaRPr sz="2800">
              <a:latin typeface="Arial MT"/>
              <a:cs typeface="Arial MT"/>
            </a:endParaRPr>
          </a:p>
          <a:p>
            <a:pPr marL="356870">
              <a:lnSpc>
                <a:spcPct val="100000"/>
              </a:lnSpc>
              <a:spcBef>
                <a:spcPts val="5"/>
              </a:spcBef>
            </a:pPr>
            <a:r>
              <a:rPr sz="2800" i="1" dirty="0">
                <a:latin typeface="Arial"/>
                <a:cs typeface="Arial"/>
              </a:rPr>
              <a:t>(Sumber:</a:t>
            </a:r>
            <a:r>
              <a:rPr sz="2800" i="1" spc="-35" dirty="0">
                <a:latin typeface="Arial"/>
                <a:cs typeface="Arial"/>
              </a:rPr>
              <a:t> </a:t>
            </a:r>
            <a:r>
              <a:rPr sz="2800" i="1" spc="5" dirty="0">
                <a:latin typeface="Arial"/>
                <a:cs typeface="Arial"/>
              </a:rPr>
              <a:t>Winarno,</a:t>
            </a:r>
            <a:r>
              <a:rPr sz="2800" i="1" spc="-8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2004,</a:t>
            </a:r>
            <a:r>
              <a:rPr sz="2800" i="1" spc="-1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23)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2971800"/>
            <a:ext cx="4038600" cy="34544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441717"/>
            <a:ext cx="78867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JENIS</a:t>
            </a:r>
            <a:r>
              <a:rPr sz="3600" spc="-35" dirty="0"/>
              <a:t> </a:t>
            </a:r>
            <a:r>
              <a:rPr sz="3600" spc="-20" dirty="0"/>
              <a:t>LAYANAN</a:t>
            </a:r>
            <a:r>
              <a:rPr sz="3600" spc="75" dirty="0"/>
              <a:t> </a:t>
            </a:r>
            <a:r>
              <a:rPr sz="3600" dirty="0"/>
              <a:t>e-GOV</a:t>
            </a:r>
            <a:r>
              <a:rPr sz="3600" spc="-15" dirty="0"/>
              <a:t> </a:t>
            </a:r>
            <a:r>
              <a:rPr sz="3600" spc="-10" dirty="0"/>
              <a:t>(2)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88644" y="1040384"/>
            <a:ext cx="8034655" cy="55880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6870" marR="516255" indent="-344805">
              <a:lnSpc>
                <a:spcPct val="80000"/>
              </a:lnSpc>
              <a:spcBef>
                <a:spcPts val="67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Arial MT"/>
                <a:cs typeface="Arial MT"/>
              </a:rPr>
              <a:t>Layanan </a:t>
            </a:r>
            <a:r>
              <a:rPr sz="2400" dirty="0">
                <a:latin typeface="Arial MT"/>
                <a:cs typeface="Arial MT"/>
              </a:rPr>
              <a:t>e-Gov </a:t>
            </a:r>
            <a:r>
              <a:rPr sz="2400" spc="-5" dirty="0">
                <a:latin typeface="Arial MT"/>
                <a:cs typeface="Arial MT"/>
              </a:rPr>
              <a:t>yang terintegrasi </a:t>
            </a:r>
            <a:r>
              <a:rPr sz="2400" dirty="0">
                <a:latin typeface="Arial MT"/>
                <a:cs typeface="Arial MT"/>
              </a:rPr>
              <a:t>dapat dipilah dalam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tiga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level,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yaitu:</a:t>
            </a:r>
            <a:endParaRPr sz="2400" dirty="0">
              <a:latin typeface="Arial MT"/>
              <a:cs typeface="Arial MT"/>
            </a:endParaRPr>
          </a:p>
          <a:p>
            <a:pPr marL="756285" marR="430530" lvl="1" indent="-287020">
              <a:lnSpc>
                <a:spcPct val="80000"/>
              </a:lnSpc>
              <a:spcBef>
                <a:spcPts val="580"/>
              </a:spcBef>
              <a:buClr>
                <a:srgbClr val="FFFFFF"/>
              </a:buClr>
              <a:buFont typeface="Arial MT"/>
              <a:buChar char="–"/>
              <a:tabLst>
                <a:tab pos="756920" algn="l"/>
              </a:tabLst>
            </a:pPr>
            <a:r>
              <a:rPr sz="2400" b="1" dirty="0">
                <a:latin typeface="Arial"/>
                <a:cs typeface="Arial"/>
              </a:rPr>
              <a:t>Publikasi</a:t>
            </a:r>
            <a:r>
              <a:rPr sz="2400" dirty="0">
                <a:latin typeface="Arial MT"/>
                <a:cs typeface="Arial MT"/>
              </a:rPr>
              <a:t>, pemerintah secara transparan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mempublish ke </a:t>
            </a:r>
            <a:r>
              <a:rPr sz="2400" spc="-5" dirty="0">
                <a:latin typeface="Arial MT"/>
                <a:cs typeface="Arial MT"/>
              </a:rPr>
              <a:t>website segala </a:t>
            </a:r>
            <a:r>
              <a:rPr sz="2400" dirty="0">
                <a:latin typeface="Arial MT"/>
                <a:cs typeface="Arial MT"/>
              </a:rPr>
              <a:t>macam informasi,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kebijakan,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prosedur,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aturan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perundangan,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aktivitas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pemerintahan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dsb</a:t>
            </a:r>
          </a:p>
          <a:p>
            <a:pPr marL="756285" marR="294640" lvl="1" indent="-287020">
              <a:lnSpc>
                <a:spcPct val="80000"/>
              </a:lnSpc>
              <a:spcBef>
                <a:spcPts val="575"/>
              </a:spcBef>
              <a:buClr>
                <a:srgbClr val="FFFFFF"/>
              </a:buClr>
              <a:buFont typeface="Arial MT"/>
              <a:buChar char="–"/>
              <a:tabLst>
                <a:tab pos="756920" algn="l"/>
              </a:tabLst>
            </a:pPr>
            <a:r>
              <a:rPr sz="2400" b="1" dirty="0">
                <a:latin typeface="Arial"/>
                <a:cs typeface="Arial"/>
              </a:rPr>
              <a:t>Interaksi, </a:t>
            </a:r>
            <a:r>
              <a:rPr sz="2400" dirty="0">
                <a:latin typeface="Arial MT"/>
                <a:cs typeface="Arial MT"/>
              </a:rPr>
              <a:t>pemerintah dan </a:t>
            </a:r>
            <a:r>
              <a:rPr sz="2400" spc="-5" dirty="0">
                <a:latin typeface="Arial MT"/>
                <a:cs typeface="Arial MT"/>
              </a:rPr>
              <a:t>masyarakat </a:t>
            </a:r>
            <a:r>
              <a:rPr sz="2400" dirty="0">
                <a:latin typeface="Arial MT"/>
                <a:cs typeface="Arial MT"/>
              </a:rPr>
              <a:t>dapat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melakukan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komunikasi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dua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arah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melalui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media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web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maupun email, </a:t>
            </a:r>
            <a:r>
              <a:rPr sz="2400" spc="-5" dirty="0">
                <a:latin typeface="Arial MT"/>
                <a:cs typeface="Arial MT"/>
              </a:rPr>
              <a:t>sebagai upaya </a:t>
            </a:r>
            <a:r>
              <a:rPr sz="2400" dirty="0">
                <a:latin typeface="Arial MT"/>
                <a:cs typeface="Arial MT"/>
              </a:rPr>
              <a:t>mengikut sertakan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masyarakat </a:t>
            </a:r>
            <a:r>
              <a:rPr sz="2400" dirty="0">
                <a:latin typeface="Arial MT"/>
                <a:cs typeface="Arial MT"/>
              </a:rPr>
              <a:t>dalam proses pembangunan daerah,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tentunya </a:t>
            </a:r>
            <a:r>
              <a:rPr sz="2400" dirty="0">
                <a:latin typeface="Arial MT"/>
                <a:cs typeface="Arial MT"/>
              </a:rPr>
              <a:t>hal ini </a:t>
            </a:r>
            <a:r>
              <a:rPr sz="2400" spc="-5" dirty="0">
                <a:latin typeface="Arial MT"/>
                <a:cs typeface="Arial MT"/>
              </a:rPr>
              <a:t>sangat </a:t>
            </a:r>
            <a:r>
              <a:rPr sz="2400" dirty="0">
                <a:latin typeface="Arial MT"/>
                <a:cs typeface="Arial MT"/>
              </a:rPr>
              <a:t>sejalan </a:t>
            </a:r>
            <a:r>
              <a:rPr sz="2400" spc="-5" dirty="0">
                <a:latin typeface="Arial MT"/>
                <a:cs typeface="Arial MT"/>
              </a:rPr>
              <a:t>dengan </a:t>
            </a:r>
            <a:r>
              <a:rPr sz="2400" dirty="0">
                <a:latin typeface="Arial MT"/>
                <a:cs typeface="Arial MT"/>
              </a:rPr>
              <a:t>semangat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otonomi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daerah</a:t>
            </a:r>
          </a:p>
          <a:p>
            <a:pPr marL="756285" marR="5080" lvl="1" indent="-287020">
              <a:lnSpc>
                <a:spcPct val="80000"/>
              </a:lnSpc>
              <a:spcBef>
                <a:spcPts val="580"/>
              </a:spcBef>
              <a:buClr>
                <a:srgbClr val="FFFFFF"/>
              </a:buClr>
              <a:buFont typeface="Arial MT"/>
              <a:buChar char="–"/>
              <a:tabLst>
                <a:tab pos="756920" algn="l"/>
              </a:tabLst>
            </a:pPr>
            <a:r>
              <a:rPr sz="2400" b="1" dirty="0">
                <a:latin typeface="Arial"/>
                <a:cs typeface="Arial"/>
              </a:rPr>
              <a:t>Transaksi,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pemerintah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mengikutsertakan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masyarakat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secara terbuka untuk bertransaksi dengan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pemerintah,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misalnya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dalam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hal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lelang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maupun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tender online, lebih jauh </a:t>
            </a:r>
            <a:r>
              <a:rPr sz="2400" spc="-5" dirty="0">
                <a:latin typeface="Arial MT"/>
                <a:cs typeface="Arial MT"/>
              </a:rPr>
              <a:t>lagi </a:t>
            </a:r>
            <a:r>
              <a:rPr sz="2400" dirty="0">
                <a:latin typeface="Arial MT"/>
                <a:cs typeface="Arial MT"/>
              </a:rPr>
              <a:t>pemerintah dapat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memfasilitasi </a:t>
            </a:r>
            <a:r>
              <a:rPr sz="2400" spc="-5" dirty="0">
                <a:latin typeface="Arial MT"/>
                <a:cs typeface="Arial MT"/>
              </a:rPr>
              <a:t>masyarakat </a:t>
            </a:r>
            <a:r>
              <a:rPr sz="2400" dirty="0">
                <a:latin typeface="Arial MT"/>
                <a:cs typeface="Arial MT"/>
              </a:rPr>
              <a:t>dengan </a:t>
            </a:r>
            <a:r>
              <a:rPr sz="2400" spc="-5" dirty="0">
                <a:latin typeface="Arial MT"/>
                <a:cs typeface="Arial MT"/>
              </a:rPr>
              <a:t>investor </a:t>
            </a:r>
            <a:r>
              <a:rPr sz="2400" dirty="0">
                <a:latin typeface="Arial MT"/>
                <a:cs typeface="Arial MT"/>
              </a:rPr>
              <a:t>untuk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melakukan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kegiatan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e-business.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476" y="1160183"/>
            <a:ext cx="7886700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INFRASTRUKTUR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668" y="1682121"/>
            <a:ext cx="7898765" cy="45104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455"/>
              </a:spcBef>
              <a:buClr>
                <a:srgbClr val="FFFFFF"/>
              </a:buClr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Arial MT"/>
                <a:cs typeface="Arial MT"/>
              </a:rPr>
              <a:t>Sarana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fisik</a:t>
            </a:r>
          </a:p>
          <a:p>
            <a:pPr marL="756285" lvl="1" indent="-287020">
              <a:lnSpc>
                <a:spcPct val="100000"/>
              </a:lnSpc>
              <a:spcBef>
                <a:spcPts val="330"/>
              </a:spcBef>
              <a:buChar char="–"/>
              <a:tabLst>
                <a:tab pos="756920" algn="l"/>
              </a:tabLst>
            </a:pPr>
            <a:r>
              <a:rPr sz="2800" dirty="0">
                <a:latin typeface="Arial MT"/>
                <a:cs typeface="Arial MT"/>
              </a:rPr>
              <a:t>Perangkat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hardware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yang</a:t>
            </a:r>
            <a:r>
              <a:rPr sz="2800" spc="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berkembang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pesat</a:t>
            </a:r>
          </a:p>
          <a:p>
            <a:pPr marL="756285" marR="215265" lvl="1" indent="-287020">
              <a:lnSpc>
                <a:spcPct val="90000"/>
              </a:lnSpc>
              <a:spcBef>
                <a:spcPts val="675"/>
              </a:spcBef>
              <a:buChar char="–"/>
              <a:tabLst>
                <a:tab pos="756920" algn="l"/>
              </a:tabLst>
            </a:pPr>
            <a:r>
              <a:rPr sz="2800" dirty="0">
                <a:latin typeface="Arial MT"/>
                <a:cs typeface="Arial MT"/>
              </a:rPr>
              <a:t>Jaringan Telekomunikasi </a:t>
            </a:r>
            <a:r>
              <a:rPr sz="2800" spc="-5" dirty="0">
                <a:latin typeface="Arial MT"/>
                <a:cs typeface="Arial MT"/>
              </a:rPr>
              <a:t>yang </a:t>
            </a:r>
            <a:r>
              <a:rPr sz="2800" spc="5" dirty="0">
                <a:latin typeface="Arial MT"/>
                <a:cs typeface="Arial MT"/>
              </a:rPr>
              <a:t>sudah 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terbangun baik jaringan </a:t>
            </a:r>
            <a:r>
              <a:rPr sz="2800" spc="5" dirty="0">
                <a:latin typeface="Arial MT"/>
                <a:cs typeface="Arial MT"/>
              </a:rPr>
              <a:t>back </a:t>
            </a:r>
            <a:r>
              <a:rPr sz="2800" dirty="0">
                <a:latin typeface="Arial MT"/>
                <a:cs typeface="Arial MT"/>
              </a:rPr>
              <a:t>bone maupun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jaringan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akses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seperti: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VSAT,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ISDN,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SKSO,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DSL,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VoIP,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dsb</a:t>
            </a:r>
            <a:endParaRPr sz="2800" dirty="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395"/>
              </a:spcBef>
              <a:buClr>
                <a:srgbClr val="FFFFFF"/>
              </a:buClr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Arial MT"/>
                <a:cs typeface="Arial MT"/>
              </a:rPr>
              <a:t>Sarana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non-fisik</a:t>
            </a:r>
            <a:endParaRPr sz="3200" dirty="0">
              <a:latin typeface="Arial MT"/>
              <a:cs typeface="Arial MT"/>
            </a:endParaRPr>
          </a:p>
          <a:p>
            <a:pPr marL="756285" marR="1270635" lvl="1" indent="-287020">
              <a:lnSpc>
                <a:spcPts val="3030"/>
              </a:lnSpc>
              <a:spcBef>
                <a:spcPts val="705"/>
              </a:spcBef>
              <a:buChar char="–"/>
              <a:tabLst>
                <a:tab pos="756920" algn="l"/>
              </a:tabLst>
            </a:pPr>
            <a:r>
              <a:rPr sz="2800" dirty="0">
                <a:latin typeface="Arial MT"/>
                <a:cs typeface="Arial MT"/>
              </a:rPr>
              <a:t>Perangkat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peraturan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dan </a:t>
            </a:r>
            <a:r>
              <a:rPr sz="2800" dirty="0">
                <a:latin typeface="Arial MT"/>
                <a:cs typeface="Arial MT"/>
              </a:rPr>
              <a:t>perundang-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undangan</a:t>
            </a: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Char char="–"/>
              <a:tabLst>
                <a:tab pos="756920" algn="l"/>
              </a:tabLst>
            </a:pPr>
            <a:r>
              <a:rPr sz="2800" dirty="0">
                <a:latin typeface="Arial MT"/>
                <a:cs typeface="Arial MT"/>
              </a:rPr>
              <a:t>Kebijakan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98186" y="1362409"/>
          <a:ext cx="3348355" cy="43133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815"/>
                <a:gridCol w="226695"/>
                <a:gridCol w="2043430"/>
                <a:gridCol w="907415"/>
              </a:tblGrid>
              <a:tr h="22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350" b="1" spc="25" dirty="0">
                          <a:latin typeface="Arial"/>
                          <a:cs typeface="Arial"/>
                        </a:rPr>
                        <a:t>INFORMASI</a:t>
                      </a:r>
                      <a:r>
                        <a:rPr sz="135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spc="25" dirty="0">
                          <a:latin typeface="Arial"/>
                          <a:cs typeface="Arial"/>
                        </a:rPr>
                        <a:t>DASAR</a:t>
                      </a:r>
                      <a:r>
                        <a:rPr sz="135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spc="25" dirty="0">
                          <a:latin typeface="Arial"/>
                          <a:cs typeface="Arial"/>
                        </a:rPr>
                        <a:t>PEMERINTAH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1085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3366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267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85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3366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8150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73990"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900" b="1" spc="-5" dirty="0">
                          <a:latin typeface="Arial"/>
                          <a:cs typeface="Arial"/>
                        </a:rPr>
                        <a:t>Primary</a:t>
                      </a:r>
                      <a:r>
                        <a:rPr sz="9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latin typeface="Arial"/>
                          <a:cs typeface="Arial"/>
                        </a:rPr>
                        <a:t>Data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2674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473709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150" b="1" spc="20" dirty="0">
                          <a:latin typeface="Arial"/>
                          <a:cs typeface="Arial"/>
                        </a:rPr>
                        <a:t>Kependudukan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22674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908252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2674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56134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150" b="1" spc="20" dirty="0">
                          <a:latin typeface="Arial"/>
                          <a:cs typeface="Arial"/>
                        </a:rPr>
                        <a:t>Kewilayahan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127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66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22674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6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908288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26783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150" b="1" spc="20" dirty="0">
                          <a:latin typeface="Arial"/>
                          <a:cs typeface="Arial"/>
                        </a:rPr>
                        <a:t>Kepemerintahan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127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22790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3829760" y="1941286"/>
            <a:ext cx="2117725" cy="29781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73685" marR="5080" indent="-261620">
              <a:lnSpc>
                <a:spcPts val="1060"/>
              </a:lnSpc>
              <a:spcBef>
                <a:spcPts val="150"/>
              </a:spcBef>
            </a:pPr>
            <a:r>
              <a:rPr sz="900" b="1" spc="-5" dirty="0">
                <a:latin typeface="Arial"/>
                <a:cs typeface="Arial"/>
              </a:rPr>
              <a:t>Other</a:t>
            </a:r>
            <a:r>
              <a:rPr sz="900" b="1" dirty="0">
                <a:latin typeface="Arial"/>
                <a:cs typeface="Arial"/>
              </a:rPr>
              <a:t> </a:t>
            </a:r>
            <a:r>
              <a:rPr sz="900" b="1" spc="-5" dirty="0">
                <a:latin typeface="Arial"/>
                <a:cs typeface="Arial"/>
              </a:rPr>
              <a:t>Government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spc="-5" dirty="0">
                <a:latin typeface="Arial"/>
                <a:cs typeface="Arial"/>
              </a:rPr>
              <a:t>Information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spc="-5" dirty="0">
                <a:latin typeface="Arial"/>
                <a:cs typeface="Arial"/>
              </a:rPr>
              <a:t>system </a:t>
            </a:r>
            <a:r>
              <a:rPr sz="900" b="1" spc="-235" dirty="0">
                <a:latin typeface="Arial"/>
                <a:cs typeface="Arial"/>
              </a:rPr>
              <a:t> </a:t>
            </a:r>
            <a:r>
              <a:rPr sz="900" b="1" spc="-5" dirty="0">
                <a:latin typeface="Arial"/>
                <a:cs typeface="Arial"/>
              </a:rPr>
              <a:t>Secondary data as derivative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85731" y="2526792"/>
            <a:ext cx="2687955" cy="872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3660" indent="-61594">
              <a:lnSpc>
                <a:spcPts val="955"/>
              </a:lnSpc>
              <a:spcBef>
                <a:spcPts val="90"/>
              </a:spcBef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INFORMASI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KEPENDUDUKAN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 INFORMASI KETENAGA</a:t>
            </a:r>
            <a:r>
              <a:rPr sz="800" spc="-5" dirty="0">
                <a:latin typeface="Arial MT"/>
                <a:cs typeface="Arial MT"/>
              </a:rPr>
              <a:t> KERJAAN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INFORMASI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PENDIDIKAN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SOCIAL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SECURITY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NUMBER</a:t>
            </a:r>
            <a:r>
              <a:rPr sz="800" spc="-5" dirty="0">
                <a:latin typeface="Arial MT"/>
                <a:cs typeface="Arial MT"/>
              </a:rPr>
              <a:t> ( </a:t>
            </a:r>
            <a:r>
              <a:rPr sz="800" spc="-10" dirty="0">
                <a:latin typeface="Arial MT"/>
                <a:cs typeface="Arial MT"/>
              </a:rPr>
              <a:t>SSN</a:t>
            </a:r>
            <a:r>
              <a:rPr sz="800" spc="-5" dirty="0">
                <a:latin typeface="Arial MT"/>
                <a:cs typeface="Arial MT"/>
              </a:rPr>
              <a:t> )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INFORMASI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PENANGGULANGAN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KEJAHATAN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0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 INFORMASI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KESEHATAN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5" dirty="0">
                <a:latin typeface="Arial MT"/>
                <a:cs typeface="Arial MT"/>
              </a:rPr>
              <a:t>etc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85731" y="3888540"/>
            <a:ext cx="2369185" cy="631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3660" indent="-61594">
              <a:lnSpc>
                <a:spcPts val="960"/>
              </a:lnSpc>
              <a:spcBef>
                <a:spcPts val="90"/>
              </a:spcBef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INFORMASI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GEOGRAFI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NASIONAL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INFORMASI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PERTANAHAN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0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 INFORMASI</a:t>
            </a:r>
            <a:r>
              <a:rPr sz="800" spc="-5" dirty="0">
                <a:latin typeface="Arial MT"/>
                <a:cs typeface="Arial MT"/>
              </a:rPr>
              <a:t> PAJAK BUMI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&amp; </a:t>
            </a:r>
            <a:r>
              <a:rPr sz="800" spc="-10" dirty="0">
                <a:latin typeface="Arial MT"/>
                <a:cs typeface="Arial MT"/>
              </a:rPr>
              <a:t>BANGUNAN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INFORMASI TATA KOTA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ct val="100000"/>
              </a:lnSpc>
              <a:buChar char="-"/>
              <a:tabLst>
                <a:tab pos="74295" algn="l"/>
              </a:tabLst>
            </a:pPr>
            <a:r>
              <a:rPr sz="800" spc="-5" dirty="0">
                <a:latin typeface="Arial MT"/>
                <a:cs typeface="Arial MT"/>
              </a:rPr>
              <a:t>etc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85731" y="5250324"/>
            <a:ext cx="2379980" cy="873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3660" indent="-61594">
              <a:lnSpc>
                <a:spcPts val="960"/>
              </a:lnSpc>
              <a:spcBef>
                <a:spcPts val="90"/>
              </a:spcBef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INFORMASI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KEUANGAN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PEMERINTAH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 INFORMASI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KEPEGAWAIAN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 INFORMASI ANGGARAN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 INFORMASI </a:t>
            </a:r>
            <a:r>
              <a:rPr sz="800" spc="-5" dirty="0">
                <a:latin typeface="Arial MT"/>
                <a:cs typeface="Arial MT"/>
              </a:rPr>
              <a:t>LAYANAN</a:t>
            </a:r>
            <a:r>
              <a:rPr sz="800" spc="-10" dirty="0">
                <a:latin typeface="Arial MT"/>
                <a:cs typeface="Arial MT"/>
              </a:rPr>
              <a:t> PUBLIK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0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 INFORMASI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LEGISLATIF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HUKUM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DAN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PERUNDANG-UNDANGAN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-etc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10438" y="3888540"/>
            <a:ext cx="2190115" cy="631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3660" indent="-61594">
              <a:lnSpc>
                <a:spcPts val="960"/>
              </a:lnSpc>
              <a:spcBef>
                <a:spcPts val="90"/>
              </a:spcBef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INFORMASI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PERPAJAKAN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PUSAT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 INFORMASI </a:t>
            </a:r>
            <a:r>
              <a:rPr sz="800" spc="-5" dirty="0">
                <a:latin typeface="Arial MT"/>
                <a:cs typeface="Arial MT"/>
              </a:rPr>
              <a:t>PERPAJAKAN</a:t>
            </a:r>
            <a:r>
              <a:rPr sz="800" spc="-10" dirty="0">
                <a:latin typeface="Arial MT"/>
                <a:cs typeface="Arial MT"/>
              </a:rPr>
              <a:t> DAERAH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0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KEIMIGRASIAN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PERTAHANAN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DAN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KEAMANAN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ct val="100000"/>
              </a:lnSpc>
              <a:buChar char="-"/>
              <a:tabLst>
                <a:tab pos="74295" algn="l"/>
              </a:tabLst>
            </a:pPr>
            <a:r>
              <a:rPr sz="800" spc="-5" dirty="0">
                <a:latin typeface="Arial MT"/>
                <a:cs typeface="Arial MT"/>
              </a:rPr>
              <a:t>etc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839319" y="2497589"/>
            <a:ext cx="798195" cy="457200"/>
            <a:chOff x="2839319" y="2497589"/>
            <a:chExt cx="798195" cy="457200"/>
          </a:xfrm>
        </p:grpSpPr>
        <p:sp>
          <p:nvSpPr>
            <p:cNvPr id="9" name="object 9"/>
            <p:cNvSpPr/>
            <p:nvPr/>
          </p:nvSpPr>
          <p:spPr>
            <a:xfrm>
              <a:off x="2840994" y="2499265"/>
              <a:ext cx="794385" cy="454025"/>
            </a:xfrm>
            <a:custGeom>
              <a:avLst/>
              <a:gdLst/>
              <a:ahLst/>
              <a:cxnLst/>
              <a:rect l="l" t="t" r="r" b="b"/>
              <a:pathLst>
                <a:path w="794385" h="454025">
                  <a:moveTo>
                    <a:pt x="567496" y="0"/>
                  </a:moveTo>
                  <a:lnTo>
                    <a:pt x="567496" y="149603"/>
                  </a:lnTo>
                  <a:lnTo>
                    <a:pt x="0" y="149603"/>
                  </a:lnTo>
                  <a:lnTo>
                    <a:pt x="0" y="303712"/>
                  </a:lnTo>
                  <a:lnTo>
                    <a:pt x="567496" y="303712"/>
                  </a:lnTo>
                  <a:lnTo>
                    <a:pt x="567496" y="453495"/>
                  </a:lnTo>
                  <a:lnTo>
                    <a:pt x="794315" y="226747"/>
                  </a:lnTo>
                  <a:lnTo>
                    <a:pt x="567496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40995" y="2499265"/>
              <a:ext cx="794385" cy="454025"/>
            </a:xfrm>
            <a:custGeom>
              <a:avLst/>
              <a:gdLst/>
              <a:ahLst/>
              <a:cxnLst/>
              <a:rect l="l" t="t" r="r" b="b"/>
              <a:pathLst>
                <a:path w="794385" h="454025">
                  <a:moveTo>
                    <a:pt x="794315" y="226747"/>
                  </a:moveTo>
                  <a:lnTo>
                    <a:pt x="567496" y="0"/>
                  </a:lnTo>
                  <a:lnTo>
                    <a:pt x="567496" y="149603"/>
                  </a:lnTo>
                  <a:lnTo>
                    <a:pt x="0" y="149603"/>
                  </a:lnTo>
                  <a:lnTo>
                    <a:pt x="0" y="303712"/>
                  </a:lnTo>
                  <a:lnTo>
                    <a:pt x="567496" y="303712"/>
                  </a:lnTo>
                  <a:lnTo>
                    <a:pt x="567496" y="453495"/>
                  </a:lnTo>
                  <a:lnTo>
                    <a:pt x="794315" y="226747"/>
                  </a:lnTo>
                </a:path>
              </a:pathLst>
            </a:custGeom>
            <a:ln w="3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839319" y="3859338"/>
            <a:ext cx="798195" cy="457200"/>
            <a:chOff x="2839319" y="3859338"/>
            <a:chExt cx="798195" cy="457200"/>
          </a:xfrm>
        </p:grpSpPr>
        <p:sp>
          <p:nvSpPr>
            <p:cNvPr id="12" name="object 12"/>
            <p:cNvSpPr/>
            <p:nvPr/>
          </p:nvSpPr>
          <p:spPr>
            <a:xfrm>
              <a:off x="2840994" y="3861013"/>
              <a:ext cx="794385" cy="454025"/>
            </a:xfrm>
            <a:custGeom>
              <a:avLst/>
              <a:gdLst/>
              <a:ahLst/>
              <a:cxnLst/>
              <a:rect l="l" t="t" r="r" b="b"/>
              <a:pathLst>
                <a:path w="794385" h="454025">
                  <a:moveTo>
                    <a:pt x="567496" y="0"/>
                  </a:moveTo>
                  <a:lnTo>
                    <a:pt x="567496" y="149603"/>
                  </a:lnTo>
                  <a:lnTo>
                    <a:pt x="0" y="149603"/>
                  </a:lnTo>
                  <a:lnTo>
                    <a:pt x="0" y="303892"/>
                  </a:lnTo>
                  <a:lnTo>
                    <a:pt x="567496" y="303892"/>
                  </a:lnTo>
                  <a:lnTo>
                    <a:pt x="567496" y="453495"/>
                  </a:lnTo>
                  <a:lnTo>
                    <a:pt x="794315" y="226747"/>
                  </a:lnTo>
                  <a:lnTo>
                    <a:pt x="567496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40995" y="3861013"/>
              <a:ext cx="794385" cy="454025"/>
            </a:xfrm>
            <a:custGeom>
              <a:avLst/>
              <a:gdLst/>
              <a:ahLst/>
              <a:cxnLst/>
              <a:rect l="l" t="t" r="r" b="b"/>
              <a:pathLst>
                <a:path w="794385" h="454025">
                  <a:moveTo>
                    <a:pt x="794315" y="226747"/>
                  </a:moveTo>
                  <a:lnTo>
                    <a:pt x="567496" y="0"/>
                  </a:lnTo>
                  <a:lnTo>
                    <a:pt x="567496" y="149603"/>
                  </a:lnTo>
                  <a:lnTo>
                    <a:pt x="0" y="149603"/>
                  </a:lnTo>
                  <a:lnTo>
                    <a:pt x="0" y="303892"/>
                  </a:lnTo>
                  <a:lnTo>
                    <a:pt x="567496" y="303892"/>
                  </a:lnTo>
                  <a:lnTo>
                    <a:pt x="567496" y="453495"/>
                  </a:lnTo>
                  <a:lnTo>
                    <a:pt x="794315" y="226747"/>
                  </a:lnTo>
                </a:path>
              </a:pathLst>
            </a:custGeom>
            <a:ln w="3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2839319" y="5221122"/>
            <a:ext cx="798195" cy="458470"/>
            <a:chOff x="2839319" y="5221122"/>
            <a:chExt cx="798195" cy="458470"/>
          </a:xfrm>
        </p:grpSpPr>
        <p:sp>
          <p:nvSpPr>
            <p:cNvPr id="15" name="object 15"/>
            <p:cNvSpPr/>
            <p:nvPr/>
          </p:nvSpPr>
          <p:spPr>
            <a:xfrm>
              <a:off x="2840994" y="5222798"/>
              <a:ext cx="794385" cy="455295"/>
            </a:xfrm>
            <a:custGeom>
              <a:avLst/>
              <a:gdLst/>
              <a:ahLst/>
              <a:cxnLst/>
              <a:rect l="l" t="t" r="r" b="b"/>
              <a:pathLst>
                <a:path w="794385" h="455295">
                  <a:moveTo>
                    <a:pt x="567496" y="0"/>
                  </a:moveTo>
                  <a:lnTo>
                    <a:pt x="567496" y="149711"/>
                  </a:lnTo>
                  <a:lnTo>
                    <a:pt x="0" y="149711"/>
                  </a:lnTo>
                  <a:lnTo>
                    <a:pt x="0" y="303874"/>
                  </a:lnTo>
                  <a:lnTo>
                    <a:pt x="567496" y="303874"/>
                  </a:lnTo>
                  <a:lnTo>
                    <a:pt x="567496" y="454685"/>
                  </a:lnTo>
                  <a:lnTo>
                    <a:pt x="794315" y="226783"/>
                  </a:lnTo>
                  <a:lnTo>
                    <a:pt x="567496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40995" y="5222798"/>
              <a:ext cx="794385" cy="455295"/>
            </a:xfrm>
            <a:custGeom>
              <a:avLst/>
              <a:gdLst/>
              <a:ahLst/>
              <a:cxnLst/>
              <a:rect l="l" t="t" r="r" b="b"/>
              <a:pathLst>
                <a:path w="794385" h="455295">
                  <a:moveTo>
                    <a:pt x="794315" y="226783"/>
                  </a:moveTo>
                  <a:lnTo>
                    <a:pt x="567496" y="0"/>
                  </a:lnTo>
                  <a:lnTo>
                    <a:pt x="567496" y="149711"/>
                  </a:lnTo>
                  <a:lnTo>
                    <a:pt x="0" y="149711"/>
                  </a:lnTo>
                  <a:lnTo>
                    <a:pt x="0" y="303874"/>
                  </a:lnTo>
                  <a:lnTo>
                    <a:pt x="567496" y="303874"/>
                  </a:lnTo>
                  <a:lnTo>
                    <a:pt x="567496" y="454685"/>
                  </a:lnTo>
                  <a:lnTo>
                    <a:pt x="794315" y="226783"/>
                  </a:lnTo>
                </a:path>
              </a:pathLst>
            </a:custGeom>
            <a:ln w="3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5863563" y="3338791"/>
            <a:ext cx="611505" cy="488315"/>
            <a:chOff x="5863563" y="3338791"/>
            <a:chExt cx="611505" cy="488315"/>
          </a:xfrm>
        </p:grpSpPr>
        <p:sp>
          <p:nvSpPr>
            <p:cNvPr id="18" name="object 18"/>
            <p:cNvSpPr/>
            <p:nvPr/>
          </p:nvSpPr>
          <p:spPr>
            <a:xfrm>
              <a:off x="5865238" y="3340467"/>
              <a:ext cx="608330" cy="485140"/>
            </a:xfrm>
            <a:custGeom>
              <a:avLst/>
              <a:gdLst/>
              <a:ahLst/>
              <a:cxnLst/>
              <a:rect l="l" t="t" r="r" b="b"/>
              <a:pathLst>
                <a:path w="608329" h="485139">
                  <a:moveTo>
                    <a:pt x="79214" y="0"/>
                  </a:moveTo>
                  <a:lnTo>
                    <a:pt x="0" y="132840"/>
                  </a:lnTo>
                  <a:lnTo>
                    <a:pt x="373158" y="356343"/>
                  </a:lnTo>
                  <a:lnTo>
                    <a:pt x="295928" y="484858"/>
                  </a:lnTo>
                  <a:lnTo>
                    <a:pt x="607735" y="406631"/>
                  </a:lnTo>
                  <a:lnTo>
                    <a:pt x="561784" y="224404"/>
                  </a:lnTo>
                  <a:lnTo>
                    <a:pt x="452373" y="224404"/>
                  </a:lnTo>
                  <a:lnTo>
                    <a:pt x="79214" y="0"/>
                  </a:lnTo>
                  <a:close/>
                </a:path>
                <a:path w="608329" h="485139">
                  <a:moveTo>
                    <a:pt x="529423" y="96070"/>
                  </a:moveTo>
                  <a:lnTo>
                    <a:pt x="452373" y="224404"/>
                  </a:lnTo>
                  <a:lnTo>
                    <a:pt x="561784" y="224404"/>
                  </a:lnTo>
                  <a:lnTo>
                    <a:pt x="529423" y="9607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65238" y="3340467"/>
              <a:ext cx="608330" cy="485140"/>
            </a:xfrm>
            <a:custGeom>
              <a:avLst/>
              <a:gdLst/>
              <a:ahLst/>
              <a:cxnLst/>
              <a:rect l="l" t="t" r="r" b="b"/>
              <a:pathLst>
                <a:path w="608329" h="485139">
                  <a:moveTo>
                    <a:pt x="607735" y="406631"/>
                  </a:moveTo>
                  <a:lnTo>
                    <a:pt x="529423" y="96070"/>
                  </a:lnTo>
                  <a:lnTo>
                    <a:pt x="452373" y="224404"/>
                  </a:lnTo>
                  <a:lnTo>
                    <a:pt x="79214" y="0"/>
                  </a:lnTo>
                  <a:lnTo>
                    <a:pt x="0" y="132840"/>
                  </a:lnTo>
                  <a:lnTo>
                    <a:pt x="373158" y="356343"/>
                  </a:lnTo>
                  <a:lnTo>
                    <a:pt x="295928" y="484858"/>
                  </a:lnTo>
                  <a:lnTo>
                    <a:pt x="607735" y="406631"/>
                  </a:lnTo>
                </a:path>
              </a:pathLst>
            </a:custGeom>
            <a:ln w="33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863563" y="4576531"/>
            <a:ext cx="611505" cy="487680"/>
            <a:chOff x="5863563" y="4576531"/>
            <a:chExt cx="611505" cy="487680"/>
          </a:xfrm>
        </p:grpSpPr>
        <p:sp>
          <p:nvSpPr>
            <p:cNvPr id="21" name="object 21"/>
            <p:cNvSpPr/>
            <p:nvPr/>
          </p:nvSpPr>
          <p:spPr>
            <a:xfrm>
              <a:off x="5865238" y="4578207"/>
              <a:ext cx="608330" cy="483870"/>
            </a:xfrm>
            <a:custGeom>
              <a:avLst/>
              <a:gdLst/>
              <a:ahLst/>
              <a:cxnLst/>
              <a:rect l="l" t="t" r="r" b="b"/>
              <a:pathLst>
                <a:path w="608329" h="483870">
                  <a:moveTo>
                    <a:pt x="295928" y="0"/>
                  </a:moveTo>
                  <a:lnTo>
                    <a:pt x="373158" y="128478"/>
                  </a:lnTo>
                  <a:lnTo>
                    <a:pt x="0" y="351909"/>
                  </a:lnTo>
                  <a:lnTo>
                    <a:pt x="79214" y="483722"/>
                  </a:lnTo>
                  <a:lnTo>
                    <a:pt x="452373" y="260291"/>
                  </a:lnTo>
                  <a:lnTo>
                    <a:pt x="561704" y="260291"/>
                  </a:lnTo>
                  <a:lnTo>
                    <a:pt x="607735" y="77090"/>
                  </a:lnTo>
                  <a:lnTo>
                    <a:pt x="295928" y="0"/>
                  </a:lnTo>
                  <a:close/>
                </a:path>
                <a:path w="608329" h="483870">
                  <a:moveTo>
                    <a:pt x="561704" y="260291"/>
                  </a:moveTo>
                  <a:lnTo>
                    <a:pt x="452373" y="260291"/>
                  </a:lnTo>
                  <a:lnTo>
                    <a:pt x="529423" y="388769"/>
                  </a:lnTo>
                  <a:lnTo>
                    <a:pt x="561704" y="260291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65238" y="4578207"/>
              <a:ext cx="608330" cy="483870"/>
            </a:xfrm>
            <a:custGeom>
              <a:avLst/>
              <a:gdLst/>
              <a:ahLst/>
              <a:cxnLst/>
              <a:rect l="l" t="t" r="r" b="b"/>
              <a:pathLst>
                <a:path w="608329" h="483870">
                  <a:moveTo>
                    <a:pt x="607735" y="77090"/>
                  </a:moveTo>
                  <a:lnTo>
                    <a:pt x="295928" y="0"/>
                  </a:lnTo>
                  <a:lnTo>
                    <a:pt x="373158" y="128478"/>
                  </a:lnTo>
                  <a:lnTo>
                    <a:pt x="0" y="351909"/>
                  </a:lnTo>
                  <a:lnTo>
                    <a:pt x="79214" y="483722"/>
                  </a:lnTo>
                  <a:lnTo>
                    <a:pt x="452373" y="260291"/>
                  </a:lnTo>
                  <a:lnTo>
                    <a:pt x="529423" y="388769"/>
                  </a:lnTo>
                  <a:lnTo>
                    <a:pt x="607735" y="77090"/>
                  </a:lnTo>
                </a:path>
              </a:pathLst>
            </a:custGeom>
            <a:ln w="33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863163" y="1154377"/>
            <a:ext cx="3348354" cy="354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499745">
              <a:lnSpc>
                <a:spcPct val="103000"/>
              </a:lnSpc>
              <a:spcBef>
                <a:spcPts val="90"/>
              </a:spcBef>
            </a:pPr>
            <a:r>
              <a:rPr sz="1050" b="1" spc="20" dirty="0">
                <a:latin typeface="Arial"/>
                <a:cs typeface="Arial"/>
              </a:rPr>
              <a:t>NATIONAL INFORMATION SYSTEM </a:t>
            </a:r>
            <a:r>
              <a:rPr sz="1050" b="1" spc="25" dirty="0">
                <a:latin typeface="Arial"/>
                <a:cs typeface="Arial"/>
              </a:rPr>
              <a:t> </a:t>
            </a:r>
            <a:r>
              <a:rPr sz="1050" b="1" spc="20" dirty="0">
                <a:latin typeface="Arial"/>
                <a:cs typeface="Arial"/>
              </a:rPr>
              <a:t>NATIONAL</a:t>
            </a:r>
            <a:r>
              <a:rPr sz="1050" b="1" spc="-5" dirty="0">
                <a:latin typeface="Arial"/>
                <a:cs typeface="Arial"/>
              </a:rPr>
              <a:t> </a:t>
            </a:r>
            <a:r>
              <a:rPr sz="1050" b="1" spc="20" dirty="0">
                <a:latin typeface="Arial"/>
                <a:cs typeface="Arial"/>
              </a:rPr>
              <a:t>DATA</a:t>
            </a:r>
            <a:r>
              <a:rPr sz="1050" b="1" dirty="0">
                <a:latin typeface="Arial"/>
                <a:cs typeface="Arial"/>
              </a:rPr>
              <a:t> </a:t>
            </a:r>
            <a:r>
              <a:rPr sz="1050" b="1" spc="20" dirty="0">
                <a:latin typeface="Arial"/>
                <a:cs typeface="Arial"/>
              </a:rPr>
              <a:t>RESTRUCTURING</a:t>
            </a:r>
            <a:r>
              <a:rPr sz="1050" b="1" spc="-5" dirty="0">
                <a:latin typeface="Arial"/>
                <a:cs typeface="Arial"/>
              </a:rPr>
              <a:t> </a:t>
            </a:r>
            <a:r>
              <a:rPr sz="1050" b="1" spc="20" dirty="0">
                <a:latin typeface="Arial"/>
                <a:cs typeface="Arial"/>
              </a:rPr>
              <a:t>FRAMEWORK</a:t>
            </a:r>
            <a:endParaRPr sz="10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08463" y="1890936"/>
            <a:ext cx="2117725" cy="321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" marR="5080" indent="-137160">
              <a:lnSpc>
                <a:spcPct val="1078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Other</a:t>
            </a:r>
            <a:r>
              <a:rPr sz="900" b="1" dirty="0">
                <a:latin typeface="Arial"/>
                <a:cs typeface="Arial"/>
              </a:rPr>
              <a:t> </a:t>
            </a:r>
            <a:r>
              <a:rPr sz="900" b="1" spc="-5" dirty="0">
                <a:latin typeface="Arial"/>
                <a:cs typeface="Arial"/>
              </a:rPr>
              <a:t>Government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spc="-5" dirty="0">
                <a:latin typeface="Arial"/>
                <a:cs typeface="Arial"/>
              </a:rPr>
              <a:t>Information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spc="-5" dirty="0">
                <a:latin typeface="Arial"/>
                <a:cs typeface="Arial"/>
              </a:rPr>
              <a:t>system </a:t>
            </a:r>
            <a:r>
              <a:rPr sz="900" b="1" spc="-235" dirty="0">
                <a:latin typeface="Arial"/>
                <a:cs typeface="Arial"/>
              </a:rPr>
              <a:t> </a:t>
            </a:r>
            <a:r>
              <a:rPr sz="900" b="1" spc="-5" dirty="0">
                <a:latin typeface="Arial"/>
                <a:cs typeface="Arial"/>
              </a:rPr>
              <a:t>Secondary data as derivative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447800" y="304800"/>
            <a:ext cx="6276340" cy="536575"/>
            <a:chOff x="1447800" y="304800"/>
            <a:chExt cx="6276340" cy="53657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3707" y="342900"/>
              <a:ext cx="6249924" cy="49834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7800" y="304800"/>
              <a:ext cx="6248400" cy="495300"/>
            </a:xfrm>
            <a:prstGeom prst="rect">
              <a:avLst/>
            </a:prstGeom>
          </p:spPr>
        </p:pic>
      </p:grpSp>
      <p:sp>
        <p:nvSpPr>
          <p:cNvPr id="28" name="Title 2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990000"/>
                </a:solidFill>
              </a:rPr>
              <a:t>PETA</a:t>
            </a:r>
            <a:r>
              <a:rPr sz="3200" spc="-35" dirty="0">
                <a:solidFill>
                  <a:srgbClr val="990000"/>
                </a:solidFill>
              </a:rPr>
              <a:t> </a:t>
            </a:r>
            <a:r>
              <a:rPr sz="3200" spc="-20" dirty="0">
                <a:solidFill>
                  <a:srgbClr val="990000"/>
                </a:solidFill>
              </a:rPr>
              <a:t>APLIKASI</a:t>
            </a:r>
            <a:r>
              <a:rPr sz="3200" spc="80" dirty="0">
                <a:solidFill>
                  <a:srgbClr val="990000"/>
                </a:solidFill>
              </a:rPr>
              <a:t> </a:t>
            </a:r>
            <a:r>
              <a:rPr sz="3200" spc="-15" dirty="0">
                <a:solidFill>
                  <a:srgbClr val="990000"/>
                </a:solidFill>
              </a:rPr>
              <a:t>e-GOV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1929383" y="2112264"/>
            <a:ext cx="6949440" cy="4133215"/>
            <a:chOff x="1929383" y="2112264"/>
            <a:chExt cx="6949440" cy="41332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9499" y="2125980"/>
              <a:ext cx="1449323" cy="411937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9383" y="2112264"/>
              <a:ext cx="5664708" cy="7178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9383" y="2642616"/>
              <a:ext cx="5664708" cy="71780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080128" y="2931363"/>
            <a:ext cx="15335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Share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Service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9383" y="3177539"/>
            <a:ext cx="2011680" cy="140360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360422" y="3414775"/>
            <a:ext cx="1318260" cy="878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4805" marR="391795" indent="6985" algn="ctr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Grup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Fung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endParaRPr sz="1400">
              <a:latin typeface="Arial"/>
              <a:cs typeface="Arial"/>
            </a:endParaRPr>
          </a:p>
          <a:p>
            <a:pPr marL="12700" marR="5080" indent="-1905" algn="ctr">
              <a:lnSpc>
                <a:spcPct val="100000"/>
              </a:lnSpc>
              <a:spcBef>
                <a:spcPts val="5"/>
              </a:spcBef>
            </a:pP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Kelembagaan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Layanan</a:t>
            </a:r>
            <a:r>
              <a:rPr sz="14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Publik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58184" y="3177539"/>
            <a:ext cx="2011680" cy="140360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189857" y="3384295"/>
            <a:ext cx="1318895" cy="878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Grup</a:t>
            </a:r>
            <a:endParaRPr sz="1400">
              <a:latin typeface="Arial"/>
              <a:cs typeface="Arial"/>
            </a:endParaRPr>
          </a:p>
          <a:p>
            <a:pPr marL="12700" marR="5080" indent="-55880" algn="ctr">
              <a:lnSpc>
                <a:spcPct val="100000"/>
              </a:lnSpc>
              <a:spcBef>
                <a:spcPts val="5"/>
              </a:spcBef>
            </a:pP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Fungsi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Kelembagaan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Layanan</a:t>
            </a:r>
            <a:r>
              <a:rPr sz="14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Bisnis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86984" y="3177539"/>
            <a:ext cx="2011680" cy="140360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802884" y="3414775"/>
            <a:ext cx="1751330" cy="878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60705" marR="608965" indent="55244" algn="ctr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Grup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Fung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endParaRPr sz="1400">
              <a:latin typeface="Arial"/>
              <a:cs typeface="Arial"/>
            </a:endParaRPr>
          </a:p>
          <a:p>
            <a:pPr marL="12065" marR="5080" indent="-2540" algn="ctr">
              <a:lnSpc>
                <a:spcPct val="100000"/>
              </a:lnSpc>
              <a:spcBef>
                <a:spcPts val="5"/>
              </a:spcBef>
            </a:pP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Kelembagaan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Layanan</a:t>
            </a:r>
            <a:r>
              <a:rPr sz="14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Pemerintah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29383" y="4398264"/>
            <a:ext cx="2011680" cy="79095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314701" y="4588891"/>
            <a:ext cx="1407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812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Grup </a:t>
            </a:r>
            <a:r>
              <a:rPr sz="1200" b="1" spc="-5" dirty="0">
                <a:latin typeface="Arial"/>
                <a:cs typeface="Arial"/>
              </a:rPr>
              <a:t>Aplikasi 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Be</a:t>
            </a:r>
            <a:r>
              <a:rPr sz="1200" b="1" spc="-15" dirty="0">
                <a:latin typeface="Arial"/>
                <a:cs typeface="Arial"/>
              </a:rPr>
              <a:t>r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i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as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P</a:t>
            </a:r>
            <a:r>
              <a:rPr sz="1200" b="1" spc="-15" dirty="0">
                <a:latin typeface="Arial"/>
                <a:cs typeface="Arial"/>
              </a:rPr>
              <a:t>u</a:t>
            </a:r>
            <a:r>
              <a:rPr sz="1200" b="1" spc="5" dirty="0">
                <a:latin typeface="Arial"/>
                <a:cs typeface="Arial"/>
              </a:rPr>
              <a:t>b</a:t>
            </a:r>
            <a:r>
              <a:rPr sz="1200" b="1" dirty="0">
                <a:latin typeface="Arial"/>
                <a:cs typeface="Arial"/>
              </a:rPr>
              <a:t>li</a:t>
            </a:r>
            <a:r>
              <a:rPr sz="1200" b="1" spc="-5" dirty="0">
                <a:latin typeface="Arial"/>
                <a:cs typeface="Arial"/>
              </a:rPr>
              <a:t>k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58184" y="4398264"/>
            <a:ext cx="2011680" cy="79095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144136" y="4588891"/>
            <a:ext cx="1407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812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Grup </a:t>
            </a:r>
            <a:r>
              <a:rPr sz="1200" b="1" spc="-5" dirty="0">
                <a:latin typeface="Arial"/>
                <a:cs typeface="Arial"/>
              </a:rPr>
              <a:t>Aplikasi 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Be</a:t>
            </a:r>
            <a:r>
              <a:rPr sz="1200" b="1" spc="-15" dirty="0">
                <a:latin typeface="Arial"/>
                <a:cs typeface="Arial"/>
              </a:rPr>
              <a:t>r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i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as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Bis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spc="-5" dirty="0">
                <a:latin typeface="Arial"/>
                <a:cs typeface="Arial"/>
              </a:rPr>
              <a:t>is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86984" y="4398264"/>
            <a:ext cx="2011680" cy="79095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5790691" y="4588891"/>
            <a:ext cx="1778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Grup </a:t>
            </a:r>
            <a:r>
              <a:rPr sz="1200" b="1" spc="-5" dirty="0">
                <a:latin typeface="Arial"/>
                <a:cs typeface="Arial"/>
              </a:rPr>
              <a:t>Aplikasi 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Berorientasi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Pemerintah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29383" y="5006340"/>
            <a:ext cx="5664708" cy="71780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659251" y="5294757"/>
            <a:ext cx="2372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Aplikasi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Dasar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Umum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29383" y="5541264"/>
            <a:ext cx="5664708" cy="71780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573907" y="5828487"/>
            <a:ext cx="2546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Basis</a:t>
            </a:r>
            <a:r>
              <a:rPr sz="1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Terintegrasi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61465" y="2448814"/>
            <a:ext cx="561975" cy="365188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Internet</a:t>
            </a:r>
            <a:r>
              <a:rPr sz="12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Enabled</a:t>
            </a:r>
            <a:r>
              <a:rPr sz="12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Inter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Communication</a:t>
            </a:r>
            <a:endParaRPr sz="1200">
              <a:latin typeface="Arial"/>
              <a:cs typeface="Arial"/>
            </a:endParaRPr>
          </a:p>
          <a:p>
            <a:pPr marL="503555" marR="501015" algn="ctr">
              <a:lnSpc>
                <a:spcPct val="100000"/>
              </a:lnSpc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Inter 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Apliccation Integration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Scheme </a:t>
            </a:r>
            <a:r>
              <a:rPr sz="1200" b="1" spc="-3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Security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Servive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21127" y="1780412"/>
            <a:ext cx="4796790" cy="917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  <a:tabLst>
                <a:tab pos="2023110" algn="l"/>
                <a:tab pos="3724910" algn="l"/>
              </a:tabLst>
            </a:pPr>
            <a:r>
              <a:rPr sz="1600" spc="-5" dirty="0">
                <a:latin typeface="Arial MT"/>
                <a:cs typeface="Arial MT"/>
              </a:rPr>
              <a:t>Masyarakat	</a:t>
            </a:r>
            <a:r>
              <a:rPr sz="1600" dirty="0">
                <a:latin typeface="Arial MT"/>
                <a:cs typeface="Arial MT"/>
              </a:rPr>
              <a:t>Bisnis	Pemerintah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50">
              <a:latin typeface="Arial MT"/>
              <a:cs typeface="Arial MT"/>
            </a:endParaRPr>
          </a:p>
          <a:p>
            <a:pPr marL="54610" algn="ctr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E-Gov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Portal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(Public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&amp; </a:t>
            </a:r>
            <a:r>
              <a:rPr sz="1800" b="1" dirty="0">
                <a:latin typeface="Arial"/>
                <a:cs typeface="Arial"/>
              </a:rPr>
              <a:t>Internet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Portal)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99907" y="1780412"/>
            <a:ext cx="62865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10" dirty="0">
                <a:latin typeface="Arial MT"/>
                <a:cs typeface="Arial MT"/>
              </a:rPr>
              <a:t>Co</a:t>
            </a:r>
            <a:r>
              <a:rPr sz="1600" spc="30" dirty="0">
                <a:latin typeface="Arial MT"/>
                <a:cs typeface="Arial MT"/>
              </a:rPr>
              <a:t>m</a:t>
            </a:r>
            <a:r>
              <a:rPr sz="1600" spc="5" dirty="0">
                <a:latin typeface="Arial MT"/>
                <a:cs typeface="Arial MT"/>
              </a:rPr>
              <a:t>m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01674" y="4751959"/>
            <a:ext cx="735330" cy="5149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985" algn="r">
              <a:lnSpc>
                <a:spcPct val="100000"/>
              </a:lnSpc>
              <a:spcBef>
                <a:spcPts val="105"/>
              </a:spcBef>
            </a:pPr>
            <a:r>
              <a:rPr sz="1600" spc="10" dirty="0">
                <a:latin typeface="Arial MT"/>
                <a:cs typeface="Arial MT"/>
              </a:rPr>
              <a:t>A</a:t>
            </a:r>
            <a:r>
              <a:rPr sz="1600" dirty="0">
                <a:latin typeface="Arial MT"/>
                <a:cs typeface="Arial MT"/>
              </a:rPr>
              <a:t>pli</a:t>
            </a:r>
            <a:r>
              <a:rPr sz="1600" spc="10" dirty="0">
                <a:latin typeface="Arial MT"/>
                <a:cs typeface="Arial MT"/>
              </a:rPr>
              <a:t>k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5" dirty="0">
                <a:latin typeface="Arial MT"/>
                <a:cs typeface="Arial MT"/>
              </a:rPr>
              <a:t>s</a:t>
            </a:r>
            <a:r>
              <a:rPr sz="1600" dirty="0">
                <a:latin typeface="Arial MT"/>
                <a:cs typeface="Arial MT"/>
              </a:rPr>
              <a:t>i</a:t>
            </a:r>
            <a:endParaRPr sz="16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Arial MT"/>
                <a:cs typeface="Arial MT"/>
              </a:rPr>
              <a:t>dasar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1243" y="3381248"/>
            <a:ext cx="1525905" cy="758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33985" algn="just">
              <a:lnSpc>
                <a:spcPct val="100000"/>
              </a:lnSpc>
              <a:spcBef>
                <a:spcPts val="105"/>
              </a:spcBef>
            </a:pPr>
            <a:r>
              <a:rPr sz="1600" spc="10" dirty="0">
                <a:latin typeface="Arial MT"/>
                <a:cs typeface="Arial MT"/>
              </a:rPr>
              <a:t>A</a:t>
            </a:r>
            <a:r>
              <a:rPr sz="1600" dirty="0">
                <a:latin typeface="Arial MT"/>
                <a:cs typeface="Arial MT"/>
              </a:rPr>
              <a:t>pli</a:t>
            </a:r>
            <a:r>
              <a:rPr sz="1600" spc="10" dirty="0">
                <a:latin typeface="Arial MT"/>
                <a:cs typeface="Arial MT"/>
              </a:rPr>
              <a:t>k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5" dirty="0">
                <a:latin typeface="Arial MT"/>
                <a:cs typeface="Arial MT"/>
              </a:rPr>
              <a:t>s</a:t>
            </a:r>
            <a:r>
              <a:rPr sz="1600" dirty="0">
                <a:latin typeface="Arial MT"/>
                <a:cs typeface="Arial MT"/>
              </a:rPr>
              <a:t>i</a:t>
            </a:r>
            <a:r>
              <a:rPr sz="1600" spc="-1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Fun</a:t>
            </a:r>
            <a:r>
              <a:rPr sz="1600" spc="-10" dirty="0">
                <a:latin typeface="Arial MT"/>
                <a:cs typeface="Arial MT"/>
              </a:rPr>
              <a:t>g</a:t>
            </a:r>
            <a:r>
              <a:rPr sz="1600" spc="5" dirty="0">
                <a:latin typeface="Arial MT"/>
                <a:cs typeface="Arial MT"/>
              </a:rPr>
              <a:t>s</a:t>
            </a:r>
            <a:r>
              <a:rPr sz="1600" dirty="0">
                <a:latin typeface="Arial MT"/>
                <a:cs typeface="Arial MT"/>
              </a:rPr>
              <a:t>i  </a:t>
            </a:r>
            <a:r>
              <a:rPr sz="1600" spc="10" dirty="0">
                <a:latin typeface="Arial MT"/>
                <a:cs typeface="Arial MT"/>
              </a:rPr>
              <a:t>K</a:t>
            </a:r>
            <a:r>
              <a:rPr sz="1600" dirty="0">
                <a:latin typeface="Arial MT"/>
                <a:cs typeface="Arial MT"/>
              </a:rPr>
              <a:t>ele</a:t>
            </a:r>
            <a:r>
              <a:rPr sz="1600" spc="30" dirty="0">
                <a:latin typeface="Arial MT"/>
                <a:cs typeface="Arial MT"/>
              </a:rPr>
              <a:t>m</a:t>
            </a:r>
            <a:r>
              <a:rPr sz="1600" dirty="0">
                <a:latin typeface="Arial MT"/>
                <a:cs typeface="Arial MT"/>
              </a:rPr>
              <a:t>b</a:t>
            </a:r>
            <a:r>
              <a:rPr sz="1600" spc="-10" dirty="0">
                <a:latin typeface="Arial MT"/>
                <a:cs typeface="Arial MT"/>
              </a:rPr>
              <a:t>a</a:t>
            </a:r>
            <a:r>
              <a:rPr sz="1600" dirty="0">
                <a:latin typeface="Arial MT"/>
                <a:cs typeface="Arial MT"/>
              </a:rPr>
              <a:t>g</a:t>
            </a:r>
            <a:r>
              <a:rPr sz="1600" spc="-10" dirty="0">
                <a:latin typeface="Arial MT"/>
                <a:cs typeface="Arial MT"/>
              </a:rPr>
              <a:t>a</a:t>
            </a:r>
            <a:r>
              <a:rPr sz="1600" dirty="0">
                <a:latin typeface="Arial MT"/>
                <a:cs typeface="Arial MT"/>
              </a:rPr>
              <a:t>an</a:t>
            </a:r>
            <a:r>
              <a:rPr sz="1600" spc="-9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&amp;  </a:t>
            </a:r>
            <a:r>
              <a:rPr sz="1600" spc="10" dirty="0">
                <a:latin typeface="Arial MT"/>
                <a:cs typeface="Arial MT"/>
              </a:rPr>
              <a:t>K</a:t>
            </a:r>
            <a:r>
              <a:rPr sz="1600" dirty="0">
                <a:latin typeface="Arial MT"/>
                <a:cs typeface="Arial MT"/>
              </a:rPr>
              <a:t>e</a:t>
            </a:r>
            <a:r>
              <a:rPr sz="1600" spc="-10" dirty="0">
                <a:latin typeface="Arial MT"/>
                <a:cs typeface="Arial MT"/>
              </a:rPr>
              <a:t>p</a:t>
            </a:r>
            <a:r>
              <a:rPr sz="1600" dirty="0">
                <a:latin typeface="Arial MT"/>
                <a:cs typeface="Arial MT"/>
              </a:rPr>
              <a:t>e</a:t>
            </a:r>
            <a:r>
              <a:rPr sz="1600" spc="30" dirty="0">
                <a:latin typeface="Arial MT"/>
                <a:cs typeface="Arial MT"/>
              </a:rPr>
              <a:t>m</a:t>
            </a:r>
            <a:r>
              <a:rPr sz="1600" dirty="0">
                <a:latin typeface="Arial MT"/>
                <a:cs typeface="Arial MT"/>
              </a:rPr>
              <a:t>e</a:t>
            </a:r>
            <a:r>
              <a:rPr sz="1600" spc="-15" dirty="0">
                <a:latin typeface="Arial MT"/>
                <a:cs typeface="Arial MT"/>
              </a:rPr>
              <a:t>r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5" dirty="0">
                <a:latin typeface="Arial MT"/>
                <a:cs typeface="Arial MT"/>
              </a:rPr>
              <a:t>t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0" dirty="0">
                <a:latin typeface="Arial MT"/>
                <a:cs typeface="Arial MT"/>
              </a:rPr>
              <a:t>h</a:t>
            </a:r>
            <a:r>
              <a:rPr sz="1600" dirty="0">
                <a:latin typeface="Arial MT"/>
                <a:cs typeface="Arial MT"/>
              </a:rPr>
              <a:t>an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63269" y="2466593"/>
            <a:ext cx="80708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10" dirty="0">
                <a:latin typeface="Arial MT"/>
                <a:cs typeface="Arial MT"/>
              </a:rPr>
              <a:t>S</a:t>
            </a:r>
            <a:r>
              <a:rPr sz="1600" spc="-10" dirty="0">
                <a:latin typeface="Arial MT"/>
                <a:cs typeface="Arial MT"/>
              </a:rPr>
              <a:t>er</a:t>
            </a:r>
            <a:r>
              <a:rPr sz="1600" spc="-15" dirty="0">
                <a:latin typeface="Arial MT"/>
                <a:cs typeface="Arial MT"/>
              </a:rPr>
              <a:t>v</a:t>
            </a:r>
            <a:r>
              <a:rPr sz="1600" dirty="0">
                <a:latin typeface="Arial MT"/>
                <a:cs typeface="Arial MT"/>
              </a:rPr>
              <a:t>i</a:t>
            </a:r>
            <a:r>
              <a:rPr sz="1600" spc="10" dirty="0">
                <a:latin typeface="Arial MT"/>
                <a:cs typeface="Arial MT"/>
              </a:rPr>
              <a:t>c</a:t>
            </a:r>
            <a:r>
              <a:rPr sz="1600" spc="-10" dirty="0">
                <a:latin typeface="Arial MT"/>
                <a:cs typeface="Arial MT"/>
              </a:rPr>
              <a:t>e</a:t>
            </a:r>
            <a:r>
              <a:rPr sz="1600" dirty="0">
                <a:latin typeface="Arial MT"/>
                <a:cs typeface="Arial MT"/>
              </a:rPr>
              <a:t>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20318" y="5668467"/>
            <a:ext cx="10039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10" dirty="0">
                <a:latin typeface="Arial MT"/>
                <a:cs typeface="Arial MT"/>
              </a:rPr>
              <a:t>B</a:t>
            </a:r>
            <a:r>
              <a:rPr sz="1600" spc="-10" dirty="0">
                <a:latin typeface="Arial MT"/>
                <a:cs typeface="Arial MT"/>
              </a:rPr>
              <a:t>a</a:t>
            </a:r>
            <a:r>
              <a:rPr sz="1600" spc="5" dirty="0">
                <a:latin typeface="Arial MT"/>
                <a:cs typeface="Arial MT"/>
              </a:rPr>
              <a:t>s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Da</a:t>
            </a:r>
            <a:r>
              <a:rPr sz="1600" spc="5" dirty="0">
                <a:latin typeface="Arial MT"/>
                <a:cs typeface="Arial MT"/>
              </a:rPr>
              <a:t>t</a:t>
            </a:r>
            <a:r>
              <a:rPr sz="1600" dirty="0">
                <a:latin typeface="Arial MT"/>
                <a:cs typeface="Arial MT"/>
              </a:rPr>
              <a:t>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951101" y="175260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779901" y="175260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532501" y="175260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437501" y="175260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265237" y="2209800"/>
            <a:ext cx="534035" cy="0"/>
          </a:xfrm>
          <a:custGeom>
            <a:avLst/>
            <a:gdLst/>
            <a:ahLst/>
            <a:cxnLst/>
            <a:rect l="l" t="t" r="r" b="b"/>
            <a:pathLst>
              <a:path w="534035">
                <a:moveTo>
                  <a:pt x="0" y="0"/>
                </a:moveTo>
                <a:lnTo>
                  <a:pt x="53346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65237" y="3048000"/>
            <a:ext cx="534035" cy="0"/>
          </a:xfrm>
          <a:custGeom>
            <a:avLst/>
            <a:gdLst/>
            <a:ahLst/>
            <a:cxnLst/>
            <a:rect l="l" t="t" r="r" b="b"/>
            <a:pathLst>
              <a:path w="534035">
                <a:moveTo>
                  <a:pt x="0" y="0"/>
                </a:moveTo>
                <a:lnTo>
                  <a:pt x="53346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265237" y="4419600"/>
            <a:ext cx="534035" cy="0"/>
          </a:xfrm>
          <a:custGeom>
            <a:avLst/>
            <a:gdLst/>
            <a:ahLst/>
            <a:cxnLst/>
            <a:rect l="l" t="t" r="r" b="b"/>
            <a:pathLst>
              <a:path w="534035">
                <a:moveTo>
                  <a:pt x="0" y="0"/>
                </a:moveTo>
                <a:lnTo>
                  <a:pt x="53346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265237" y="5486400"/>
            <a:ext cx="534035" cy="0"/>
          </a:xfrm>
          <a:custGeom>
            <a:avLst/>
            <a:gdLst/>
            <a:ahLst/>
            <a:cxnLst/>
            <a:rect l="l" t="t" r="r" b="b"/>
            <a:pathLst>
              <a:path w="534035">
                <a:moveTo>
                  <a:pt x="0" y="0"/>
                </a:moveTo>
                <a:lnTo>
                  <a:pt x="53346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701" y="838200"/>
            <a:ext cx="7886700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0" dirty="0"/>
              <a:t>KUNCI</a:t>
            </a:r>
            <a:r>
              <a:rPr spc="-110" dirty="0"/>
              <a:t> </a:t>
            </a:r>
            <a:r>
              <a:rPr dirty="0"/>
              <a:t>SUKSES</a:t>
            </a:r>
            <a:r>
              <a:rPr spc="-65" dirty="0"/>
              <a:t> </a:t>
            </a:r>
            <a:r>
              <a:rPr spc="10" dirty="0"/>
              <a:t>e-GOV</a:t>
            </a:r>
            <a:r>
              <a:rPr spc="-60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291" y="1507693"/>
            <a:ext cx="7853680" cy="42386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530860" marR="1207135" indent="-518795">
              <a:lnSpc>
                <a:spcPts val="3460"/>
              </a:lnSpc>
              <a:spcBef>
                <a:spcPts val="525"/>
              </a:spcBef>
              <a:buClr>
                <a:srgbClr val="FFFFFF"/>
              </a:buClr>
              <a:buAutoNum type="arabicPeriod"/>
              <a:tabLst>
                <a:tab pos="530860" algn="l"/>
                <a:tab pos="531495" algn="l"/>
              </a:tabLst>
            </a:pPr>
            <a:r>
              <a:rPr sz="3200" b="1" spc="-5" dirty="0">
                <a:latin typeface="Arial"/>
                <a:cs typeface="Arial"/>
              </a:rPr>
              <a:t>Pemanfaatan ICT dalam proses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penyelenggaraan</a:t>
            </a:r>
            <a:r>
              <a:rPr sz="3200" b="1" spc="-5" dirty="0">
                <a:latin typeface="Arial"/>
                <a:cs typeface="Arial"/>
              </a:rPr>
              <a:t> pemerintahan</a:t>
            </a:r>
            <a:endParaRPr sz="3200">
              <a:latin typeface="Arial"/>
              <a:cs typeface="Arial"/>
            </a:endParaRPr>
          </a:p>
          <a:p>
            <a:pPr marL="1241425" lvl="1" indent="-534670">
              <a:lnSpc>
                <a:spcPct val="100000"/>
              </a:lnSpc>
              <a:spcBef>
                <a:spcPts val="275"/>
              </a:spcBef>
              <a:buFont typeface="Wingdings"/>
              <a:buChar char=""/>
              <a:tabLst>
                <a:tab pos="1241425" algn="l"/>
                <a:tab pos="1242060" algn="l"/>
              </a:tabLst>
            </a:pPr>
            <a:r>
              <a:rPr sz="2800" dirty="0">
                <a:latin typeface="Arial MT"/>
                <a:cs typeface="Arial MT"/>
              </a:rPr>
              <a:t>Penggunaan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Internet</a:t>
            </a:r>
            <a:endParaRPr sz="2800">
              <a:latin typeface="Arial MT"/>
              <a:cs typeface="Arial MT"/>
            </a:endParaRPr>
          </a:p>
          <a:p>
            <a:pPr marL="1241425" lvl="1" indent="-534670">
              <a:lnSpc>
                <a:spcPct val="100000"/>
              </a:lnSpc>
              <a:spcBef>
                <a:spcPts val="335"/>
              </a:spcBef>
              <a:buFont typeface="Wingdings"/>
              <a:buChar char=""/>
              <a:tabLst>
                <a:tab pos="1241425" algn="l"/>
                <a:tab pos="1242060" algn="l"/>
              </a:tabLst>
            </a:pPr>
            <a:r>
              <a:rPr sz="2800" dirty="0">
                <a:latin typeface="Arial MT"/>
                <a:cs typeface="Arial MT"/>
              </a:rPr>
              <a:t>Penggunaan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Infrastruktur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Telematika</a:t>
            </a:r>
            <a:endParaRPr sz="2800">
              <a:latin typeface="Arial MT"/>
              <a:cs typeface="Arial MT"/>
            </a:endParaRPr>
          </a:p>
          <a:p>
            <a:pPr marL="1241425" lvl="1" indent="-534670">
              <a:lnSpc>
                <a:spcPct val="100000"/>
              </a:lnSpc>
              <a:spcBef>
                <a:spcPts val="340"/>
              </a:spcBef>
              <a:buFont typeface="Wingdings"/>
              <a:buChar char=""/>
              <a:tabLst>
                <a:tab pos="1241425" algn="l"/>
                <a:tab pos="1242060" algn="l"/>
              </a:tabLst>
            </a:pPr>
            <a:r>
              <a:rPr sz="2800" dirty="0">
                <a:latin typeface="Arial MT"/>
                <a:cs typeface="Arial MT"/>
              </a:rPr>
              <a:t>Penggunaan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Aplikasi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Sistem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Informasi</a:t>
            </a:r>
            <a:endParaRPr sz="2800">
              <a:latin typeface="Arial MT"/>
              <a:cs typeface="Arial MT"/>
            </a:endParaRPr>
          </a:p>
          <a:p>
            <a:pPr marL="1241425" lvl="1" indent="-534670">
              <a:lnSpc>
                <a:spcPct val="100000"/>
              </a:lnSpc>
              <a:spcBef>
                <a:spcPts val="335"/>
              </a:spcBef>
              <a:buFont typeface="Wingdings"/>
              <a:buChar char=""/>
              <a:tabLst>
                <a:tab pos="1241425" algn="l"/>
                <a:tab pos="1242060" algn="l"/>
              </a:tabLst>
            </a:pPr>
            <a:r>
              <a:rPr sz="2800" spc="5" dirty="0">
                <a:latin typeface="Arial MT"/>
                <a:cs typeface="Arial MT"/>
              </a:rPr>
              <a:t>Standarisasi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Metadata</a:t>
            </a:r>
            <a:endParaRPr sz="2800">
              <a:latin typeface="Arial MT"/>
              <a:cs typeface="Arial MT"/>
            </a:endParaRPr>
          </a:p>
          <a:p>
            <a:pPr marL="1241425" lvl="1" indent="-534670">
              <a:lnSpc>
                <a:spcPct val="100000"/>
              </a:lnSpc>
              <a:spcBef>
                <a:spcPts val="340"/>
              </a:spcBef>
              <a:buFont typeface="Wingdings"/>
              <a:buChar char=""/>
              <a:tabLst>
                <a:tab pos="1241425" algn="l"/>
                <a:tab pos="1242060" algn="l"/>
              </a:tabLst>
            </a:pPr>
            <a:r>
              <a:rPr sz="2800" spc="5" dirty="0">
                <a:latin typeface="Arial MT"/>
                <a:cs typeface="Arial MT"/>
              </a:rPr>
              <a:t>Transaksi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Pertukaran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Elektronik</a:t>
            </a:r>
            <a:endParaRPr sz="2800">
              <a:latin typeface="Arial MT"/>
              <a:cs typeface="Arial MT"/>
            </a:endParaRPr>
          </a:p>
          <a:p>
            <a:pPr marL="1241425" lvl="1" indent="-534670">
              <a:lnSpc>
                <a:spcPct val="100000"/>
              </a:lnSpc>
              <a:spcBef>
                <a:spcPts val="340"/>
              </a:spcBef>
              <a:buFont typeface="Wingdings"/>
              <a:buChar char=""/>
              <a:tabLst>
                <a:tab pos="1241425" algn="l"/>
                <a:tab pos="1242060" algn="l"/>
              </a:tabLst>
            </a:pPr>
            <a:r>
              <a:rPr sz="2800" spc="5" dirty="0">
                <a:latin typeface="Arial MT"/>
                <a:cs typeface="Arial MT"/>
              </a:rPr>
              <a:t>Sistem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Dokumentasi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Elektronik</a:t>
            </a:r>
            <a:endParaRPr sz="2800">
              <a:latin typeface="Arial MT"/>
              <a:cs typeface="Arial MT"/>
            </a:endParaRPr>
          </a:p>
          <a:p>
            <a:pPr marL="1241425" lvl="1" indent="-534670">
              <a:lnSpc>
                <a:spcPct val="100000"/>
              </a:lnSpc>
              <a:spcBef>
                <a:spcPts val="335"/>
              </a:spcBef>
              <a:buFont typeface="Wingdings"/>
              <a:buChar char=""/>
              <a:tabLst>
                <a:tab pos="1241425" algn="l"/>
                <a:tab pos="1242060" algn="l"/>
              </a:tabLst>
            </a:pPr>
            <a:r>
              <a:rPr sz="2800" dirty="0">
                <a:latin typeface="Arial MT"/>
                <a:cs typeface="Arial MT"/>
              </a:rPr>
              <a:t>Pembangunan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Basis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Terintegrasi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0991" y="685800"/>
            <a:ext cx="7886700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0" dirty="0"/>
              <a:t>KUNCI</a:t>
            </a:r>
            <a:r>
              <a:rPr spc="-110" dirty="0"/>
              <a:t> </a:t>
            </a:r>
            <a:r>
              <a:rPr dirty="0"/>
              <a:t>SUKSES</a:t>
            </a:r>
            <a:r>
              <a:rPr spc="-65" dirty="0"/>
              <a:t> </a:t>
            </a:r>
            <a:r>
              <a:rPr spc="10" dirty="0"/>
              <a:t>e-GOV</a:t>
            </a:r>
            <a:r>
              <a:rPr spc="-60" dirty="0"/>
              <a:t> </a:t>
            </a:r>
            <a:r>
              <a:rPr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0991" y="1411300"/>
            <a:ext cx="8195309" cy="50904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46100" indent="-534035">
              <a:lnSpc>
                <a:spcPts val="3835"/>
              </a:lnSpc>
              <a:spcBef>
                <a:spcPts val="95"/>
              </a:spcBef>
              <a:buClr>
                <a:srgbClr val="FFFFFF"/>
              </a:buClr>
              <a:buAutoNum type="arabicPeriod" startAt="2"/>
              <a:tabLst>
                <a:tab pos="546100" algn="l"/>
                <a:tab pos="546735" algn="l"/>
              </a:tabLst>
            </a:pPr>
            <a:r>
              <a:rPr sz="3200" b="1" spc="-25" dirty="0">
                <a:latin typeface="Arial"/>
                <a:cs typeface="Arial"/>
              </a:rPr>
              <a:t>Adanya</a:t>
            </a:r>
            <a:r>
              <a:rPr sz="3200" b="1" spc="8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5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kategori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ketersediaan</a:t>
            </a:r>
            <a:r>
              <a:rPr sz="3200" b="1" spc="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:</a:t>
            </a:r>
            <a:endParaRPr sz="3200" dirty="0">
              <a:latin typeface="Arial"/>
              <a:cs typeface="Arial"/>
            </a:endParaRPr>
          </a:p>
          <a:p>
            <a:pPr marL="927100" marR="292100" lvl="1" indent="-457200">
              <a:lnSpc>
                <a:spcPct val="80000"/>
              </a:lnSpc>
              <a:spcBef>
                <a:spcPts val="665"/>
              </a:spcBef>
              <a:buChar char="–"/>
              <a:tabLst>
                <a:tab pos="927100" algn="l"/>
                <a:tab pos="927735" algn="l"/>
              </a:tabLst>
            </a:pPr>
            <a:r>
              <a:rPr sz="2800" spc="5" dirty="0">
                <a:latin typeface="Arial MT"/>
                <a:cs typeface="Arial MT"/>
              </a:rPr>
              <a:t>akses </a:t>
            </a:r>
            <a:r>
              <a:rPr sz="2800" dirty="0">
                <a:latin typeface="Arial MT"/>
                <a:cs typeface="Arial MT"/>
              </a:rPr>
              <a:t>jaringan </a:t>
            </a:r>
            <a:r>
              <a:rPr sz="2800" spc="-10" dirty="0">
                <a:latin typeface="Arial MT"/>
                <a:cs typeface="Arial MT"/>
              </a:rPr>
              <a:t>yang </a:t>
            </a:r>
            <a:r>
              <a:rPr sz="2800" dirty="0">
                <a:latin typeface="Arial MT"/>
                <a:cs typeface="Arial MT"/>
              </a:rPr>
              <a:t>dapat dijangkau oleh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semua lapisan masyarakat baik </a:t>
            </a:r>
            <a:r>
              <a:rPr sz="2800" spc="-5" dirty="0">
                <a:latin typeface="Arial MT"/>
                <a:cs typeface="Arial MT"/>
              </a:rPr>
              <a:t>medianya </a:t>
            </a:r>
            <a:r>
              <a:rPr sz="2800" dirty="0">
                <a:latin typeface="Arial MT"/>
                <a:cs typeface="Arial MT"/>
              </a:rPr>
              <a:t> (PC,PDA,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Mobile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Phone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dll)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maupun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tempat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aksesnya (Kantor, Kampus, Fasilitas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Pemerintah,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Warnet,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Warintek,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dll).</a:t>
            </a:r>
          </a:p>
          <a:p>
            <a:pPr marL="927100" marR="5080" lvl="1" indent="-457200">
              <a:lnSpc>
                <a:spcPts val="2690"/>
              </a:lnSpc>
              <a:spcBef>
                <a:spcPts val="650"/>
              </a:spcBef>
              <a:buChar char="–"/>
              <a:tabLst>
                <a:tab pos="927100" algn="l"/>
                <a:tab pos="927735" algn="l"/>
              </a:tabLst>
            </a:pPr>
            <a:r>
              <a:rPr sz="2800" dirty="0">
                <a:latin typeface="Arial MT"/>
                <a:cs typeface="Arial MT"/>
              </a:rPr>
              <a:t>kepemimpinan pemerintah </a:t>
            </a:r>
            <a:r>
              <a:rPr sz="2800" spc="5" dirty="0">
                <a:latin typeface="Arial MT"/>
                <a:cs typeface="Arial MT"/>
              </a:rPr>
              <a:t>dan industri dalam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mengusahakan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e-government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dan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e-business</a:t>
            </a:r>
            <a:endParaRPr sz="2800" dirty="0">
              <a:latin typeface="Arial MT"/>
              <a:cs typeface="Arial MT"/>
            </a:endParaRPr>
          </a:p>
          <a:p>
            <a:pPr marL="927100" marR="1080135" lvl="1" indent="-457200">
              <a:lnSpc>
                <a:spcPts val="2690"/>
              </a:lnSpc>
              <a:spcBef>
                <a:spcPts val="670"/>
              </a:spcBef>
              <a:buChar char="–"/>
              <a:tabLst>
                <a:tab pos="927100" algn="l"/>
                <a:tab pos="927735" algn="l"/>
              </a:tabLst>
            </a:pPr>
            <a:r>
              <a:rPr sz="2800" spc="5" dirty="0">
                <a:latin typeface="Arial MT"/>
                <a:cs typeface="Arial MT"/>
              </a:rPr>
              <a:t>kekuatan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hukum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dalam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melindungi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hak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intelektual,</a:t>
            </a:r>
            <a:endParaRPr sz="2800" dirty="0">
              <a:latin typeface="Arial MT"/>
              <a:cs typeface="Arial MT"/>
            </a:endParaRPr>
          </a:p>
          <a:p>
            <a:pPr marL="927100" marR="330835" lvl="1" indent="-457200">
              <a:lnSpc>
                <a:spcPts val="2690"/>
              </a:lnSpc>
              <a:spcBef>
                <a:spcPts val="670"/>
              </a:spcBef>
              <a:buChar char="–"/>
              <a:tabLst>
                <a:tab pos="927100" algn="l"/>
                <a:tab pos="927735" algn="l"/>
              </a:tabLst>
            </a:pPr>
            <a:r>
              <a:rPr sz="2800" dirty="0">
                <a:latin typeface="Arial MT"/>
                <a:cs typeface="Arial MT"/>
              </a:rPr>
              <a:t>ketersediaan tenaga kerja </a:t>
            </a:r>
            <a:r>
              <a:rPr sz="2800" spc="-10" dirty="0">
                <a:latin typeface="Arial MT"/>
                <a:cs typeface="Arial MT"/>
              </a:rPr>
              <a:t>yang </a:t>
            </a:r>
            <a:r>
              <a:rPr sz="2800" dirty="0">
                <a:latin typeface="Arial MT"/>
                <a:cs typeface="Arial MT"/>
              </a:rPr>
              <a:t>mendukung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e-business</a:t>
            </a:r>
            <a:endParaRPr sz="2800" dirty="0">
              <a:latin typeface="Arial MT"/>
              <a:cs typeface="Arial MT"/>
            </a:endParaRPr>
          </a:p>
          <a:p>
            <a:pPr marL="927100" lvl="1" indent="-457834">
              <a:lnSpc>
                <a:spcPct val="100000"/>
              </a:lnSpc>
              <a:spcBef>
                <a:spcPts val="25"/>
              </a:spcBef>
              <a:buChar char="–"/>
              <a:tabLst>
                <a:tab pos="927100" algn="l"/>
                <a:tab pos="927735" algn="l"/>
              </a:tabLst>
            </a:pPr>
            <a:r>
              <a:rPr sz="2800" dirty="0">
                <a:latin typeface="Arial MT"/>
                <a:cs typeface="Arial MT"/>
              </a:rPr>
              <a:t>iklim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e-business.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75" y="838200"/>
            <a:ext cx="7886700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0" dirty="0"/>
              <a:t>KUNCI</a:t>
            </a:r>
            <a:r>
              <a:rPr spc="-114" dirty="0"/>
              <a:t> </a:t>
            </a:r>
            <a:r>
              <a:rPr dirty="0"/>
              <a:t>SUKSES</a:t>
            </a:r>
            <a:r>
              <a:rPr spc="-65" dirty="0"/>
              <a:t> </a:t>
            </a:r>
            <a:r>
              <a:rPr spc="10" dirty="0"/>
              <a:t>e-GOV</a:t>
            </a:r>
            <a:r>
              <a:rPr spc="-60" dirty="0"/>
              <a:t> </a:t>
            </a:r>
            <a:r>
              <a:rPr spc="5"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3671" y="1511889"/>
            <a:ext cx="7458709" cy="368109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3200" b="1" spc="-10" dirty="0">
                <a:latin typeface="Arial"/>
                <a:cs typeface="Arial"/>
              </a:rPr>
              <a:t>3.</a:t>
            </a:r>
            <a:r>
              <a:rPr sz="3200" b="1" spc="4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Perubahan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Paradigma</a:t>
            </a:r>
            <a:endParaRPr sz="3200">
              <a:latin typeface="Arial"/>
              <a:cs typeface="Arial"/>
            </a:endParaRPr>
          </a:p>
          <a:p>
            <a:pPr marL="637540" marR="5080" indent="5715">
              <a:lnSpc>
                <a:spcPct val="100000"/>
              </a:lnSpc>
              <a:spcBef>
                <a:spcPts val="665"/>
              </a:spcBef>
            </a:pPr>
            <a:r>
              <a:rPr sz="2800" dirty="0">
                <a:latin typeface="Arial MT"/>
                <a:cs typeface="Arial MT"/>
              </a:rPr>
              <a:t>ICT </a:t>
            </a:r>
            <a:r>
              <a:rPr sz="2800" spc="-5" dirty="0">
                <a:latin typeface="Arial MT"/>
                <a:cs typeface="Arial MT"/>
              </a:rPr>
              <a:t>hanyalah </a:t>
            </a:r>
            <a:r>
              <a:rPr sz="2800" dirty="0">
                <a:latin typeface="Arial MT"/>
                <a:cs typeface="Arial MT"/>
              </a:rPr>
              <a:t>sebatas tools, namun </a:t>
            </a:r>
            <a:r>
              <a:rPr sz="2800" spc="-10" dirty="0">
                <a:latin typeface="Arial MT"/>
                <a:cs typeface="Arial MT"/>
              </a:rPr>
              <a:t>yang 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terpenting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dari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e-government</a:t>
            </a:r>
            <a:r>
              <a:rPr sz="2800" spc="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adalah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perubahan paradigma, dari </a:t>
            </a:r>
            <a:r>
              <a:rPr sz="2800" spc="-5" dirty="0">
                <a:latin typeface="Arial MT"/>
                <a:cs typeface="Arial MT"/>
              </a:rPr>
              <a:t>Government </a:t>
            </a:r>
            <a:r>
              <a:rPr sz="2800" dirty="0">
                <a:latin typeface="Arial MT"/>
                <a:cs typeface="Arial MT"/>
              </a:rPr>
              <a:t> Centric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menuju Customer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Centric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sehingga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layanan-layanan</a:t>
            </a:r>
            <a:r>
              <a:rPr sz="2800" spc="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yang</a:t>
            </a:r>
            <a:r>
              <a:rPr sz="2800" spc="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diberikan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sesuai 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dengan </a:t>
            </a:r>
            <a:r>
              <a:rPr sz="2800" spc="5" dirty="0">
                <a:latin typeface="Arial MT"/>
                <a:cs typeface="Arial MT"/>
              </a:rPr>
              <a:t>apa </a:t>
            </a:r>
            <a:r>
              <a:rPr sz="2800" spc="-5" dirty="0">
                <a:latin typeface="Arial MT"/>
                <a:cs typeface="Arial MT"/>
              </a:rPr>
              <a:t>yang </a:t>
            </a:r>
            <a:r>
              <a:rPr sz="2800" dirty="0">
                <a:latin typeface="Arial MT"/>
                <a:cs typeface="Arial MT"/>
              </a:rPr>
              <a:t>menjadi </a:t>
            </a:r>
            <a:r>
              <a:rPr sz="2800" spc="5" dirty="0">
                <a:latin typeface="Arial MT"/>
                <a:cs typeface="Arial MT"/>
              </a:rPr>
              <a:t>kebutuhan 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masyarakat.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1606279"/>
            <a:ext cx="7886700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5" dirty="0"/>
              <a:t>Hambatan</a:t>
            </a:r>
            <a:r>
              <a:rPr spc="-80" dirty="0"/>
              <a:t> </a:t>
            </a:r>
            <a:r>
              <a:rPr spc="5" dirty="0"/>
              <a:t>dalam</a:t>
            </a:r>
            <a:r>
              <a:rPr spc="-20" dirty="0"/>
              <a:t> </a:t>
            </a:r>
            <a:r>
              <a:rPr spc="-5" dirty="0"/>
              <a:t>E-Government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294967295"/>
          </p:nvPr>
        </p:nvSpPr>
        <p:spPr>
          <a:xfrm>
            <a:off x="0" y="3840163"/>
            <a:ext cx="6400800" cy="597984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62610" indent="-457834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563245" algn="l"/>
                <a:tab pos="563880" algn="l"/>
              </a:tabLst>
            </a:pPr>
            <a:r>
              <a:rPr dirty="0"/>
              <a:t>Masalah</a:t>
            </a:r>
            <a:r>
              <a:rPr spc="-65" dirty="0"/>
              <a:t> </a:t>
            </a:r>
            <a:r>
              <a:rPr spc="5" dirty="0"/>
              <a:t>Pendanaan</a:t>
            </a:r>
          </a:p>
          <a:p>
            <a:pPr marL="943610" lvl="1" indent="-381635">
              <a:lnSpc>
                <a:spcPts val="2160"/>
              </a:lnSpc>
              <a:spcBef>
                <a:spcPts val="30"/>
              </a:spcBef>
              <a:buChar char="–"/>
              <a:tabLst>
                <a:tab pos="944244" algn="l"/>
                <a:tab pos="944880" algn="l"/>
              </a:tabLst>
            </a:pPr>
            <a:r>
              <a:rPr sz="2000" spc="-10" dirty="0">
                <a:latin typeface="Arial MT"/>
                <a:cs typeface="Arial MT"/>
              </a:rPr>
              <a:t>Sudah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tersedia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dana,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tapi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belum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tahu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bagaimana</a:t>
            </a:r>
            <a:endParaRPr sz="2000">
              <a:latin typeface="Arial MT"/>
              <a:cs typeface="Arial MT"/>
            </a:endParaRPr>
          </a:p>
          <a:p>
            <a:pPr marL="943610">
              <a:lnSpc>
                <a:spcPts val="2160"/>
              </a:lnSpc>
            </a:pPr>
            <a:r>
              <a:rPr sz="2000" spc="-5" dirty="0"/>
              <a:t>memanfaatkannya</a:t>
            </a:r>
            <a:endParaRPr sz="2000"/>
          </a:p>
          <a:p>
            <a:pPr marL="943610" marR="56515" lvl="1" indent="-381000">
              <a:lnSpc>
                <a:spcPts val="1920"/>
              </a:lnSpc>
              <a:spcBef>
                <a:spcPts val="465"/>
              </a:spcBef>
              <a:buChar char="–"/>
              <a:tabLst>
                <a:tab pos="944244" algn="l"/>
                <a:tab pos="944880" algn="l"/>
              </a:tabLst>
            </a:pPr>
            <a:r>
              <a:rPr sz="2000" spc="-10" dirty="0">
                <a:latin typeface="Arial MT"/>
                <a:cs typeface="Arial MT"/>
              </a:rPr>
              <a:t>Sudah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tersedia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dana,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perencanaan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penggunaannya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masih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semrawut</a:t>
            </a:r>
            <a:endParaRPr sz="2000">
              <a:latin typeface="Arial MT"/>
              <a:cs typeface="Arial MT"/>
            </a:endParaRPr>
          </a:p>
          <a:p>
            <a:pPr marL="943610" lvl="1" indent="-381635">
              <a:lnSpc>
                <a:spcPct val="100000"/>
              </a:lnSpc>
              <a:spcBef>
                <a:spcPts val="20"/>
              </a:spcBef>
              <a:buChar char="–"/>
              <a:tabLst>
                <a:tab pos="944244" algn="l"/>
                <a:tab pos="944880" algn="l"/>
              </a:tabLst>
            </a:pPr>
            <a:r>
              <a:rPr sz="2000" spc="-5" dirty="0">
                <a:latin typeface="Arial MT"/>
                <a:cs typeface="Arial MT"/>
              </a:rPr>
              <a:t>Dana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yang</a:t>
            </a:r>
            <a:r>
              <a:rPr sz="2000" spc="7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sudah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dikeluarkan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tidak tepat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sasaran</a:t>
            </a:r>
            <a:endParaRPr sz="2000">
              <a:latin typeface="Arial MT"/>
              <a:cs typeface="Arial MT"/>
            </a:endParaRPr>
          </a:p>
          <a:p>
            <a:pPr marL="943610" lvl="1" indent="-381635">
              <a:lnSpc>
                <a:spcPct val="100000"/>
              </a:lnSpc>
              <a:buChar char="–"/>
              <a:tabLst>
                <a:tab pos="944244" algn="l"/>
                <a:tab pos="944880" algn="l"/>
              </a:tabLst>
            </a:pPr>
            <a:r>
              <a:rPr sz="2000" spc="-5" dirty="0">
                <a:latin typeface="Arial MT"/>
                <a:cs typeface="Arial MT"/>
              </a:rPr>
              <a:t>Alokasi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dana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kurang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proporsional</a:t>
            </a:r>
            <a:endParaRPr sz="2000">
              <a:latin typeface="Arial MT"/>
              <a:cs typeface="Arial MT"/>
            </a:endParaRPr>
          </a:p>
          <a:p>
            <a:pPr marL="943610" lvl="1" indent="-381635">
              <a:lnSpc>
                <a:spcPts val="2385"/>
              </a:lnSpc>
              <a:buChar char="–"/>
              <a:tabLst>
                <a:tab pos="944244" algn="l"/>
                <a:tab pos="944880" algn="l"/>
              </a:tabLst>
            </a:pPr>
            <a:r>
              <a:rPr sz="2000" spc="-10" dirty="0">
                <a:latin typeface="Arial MT"/>
                <a:cs typeface="Arial MT"/>
              </a:rPr>
              <a:t>Perlu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metoda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untuk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optimalisasi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dana</a:t>
            </a:r>
            <a:endParaRPr sz="2000">
              <a:latin typeface="Arial MT"/>
              <a:cs typeface="Arial MT"/>
            </a:endParaRPr>
          </a:p>
          <a:p>
            <a:pPr marL="562610" indent="-457834">
              <a:lnSpc>
                <a:spcPts val="3345"/>
              </a:lnSpc>
              <a:buAutoNum type="arabicPeriod"/>
              <a:tabLst>
                <a:tab pos="563245" algn="l"/>
                <a:tab pos="563880" algn="l"/>
              </a:tabLst>
            </a:pPr>
            <a:r>
              <a:rPr spc="5" dirty="0"/>
              <a:t>Infrastruktur</a:t>
            </a:r>
            <a:r>
              <a:rPr spc="-90" dirty="0"/>
              <a:t> </a:t>
            </a:r>
            <a:r>
              <a:rPr spc="5" dirty="0"/>
              <a:t>(fisik</a:t>
            </a:r>
            <a:r>
              <a:rPr spc="-55" dirty="0"/>
              <a:t> </a:t>
            </a:r>
            <a:r>
              <a:rPr dirty="0"/>
              <a:t>dan</a:t>
            </a:r>
            <a:r>
              <a:rPr spc="10" dirty="0"/>
              <a:t> </a:t>
            </a:r>
            <a:r>
              <a:rPr dirty="0"/>
              <a:t>non-fisik)</a:t>
            </a:r>
          </a:p>
          <a:p>
            <a:pPr marL="943610" lvl="1" indent="-381635">
              <a:lnSpc>
                <a:spcPts val="2160"/>
              </a:lnSpc>
              <a:spcBef>
                <a:spcPts val="35"/>
              </a:spcBef>
              <a:buChar char="–"/>
              <a:tabLst>
                <a:tab pos="944244" algn="l"/>
                <a:tab pos="944880" algn="l"/>
              </a:tabLst>
            </a:pPr>
            <a:r>
              <a:rPr sz="2000" spc="-5" dirty="0">
                <a:latin typeface="Arial MT"/>
                <a:cs typeface="Arial MT"/>
              </a:rPr>
              <a:t>Sarana</a:t>
            </a:r>
            <a:r>
              <a:rPr sz="2000" spc="5" dirty="0">
                <a:latin typeface="Arial MT"/>
                <a:cs typeface="Arial MT"/>
              </a:rPr>
              <a:t> fisik: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perangkat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hardware,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Jaringan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telekomunikasi,</a:t>
            </a:r>
            <a:endParaRPr sz="2000">
              <a:latin typeface="Arial MT"/>
              <a:cs typeface="Arial MT"/>
            </a:endParaRPr>
          </a:p>
          <a:p>
            <a:pPr marL="943610">
              <a:lnSpc>
                <a:spcPts val="2160"/>
              </a:lnSpc>
            </a:pPr>
            <a:r>
              <a:rPr sz="2000" spc="-5" dirty="0"/>
              <a:t>fasilitas IT</a:t>
            </a:r>
            <a:r>
              <a:rPr sz="2000" spc="-10" dirty="0"/>
              <a:t> </a:t>
            </a:r>
            <a:r>
              <a:rPr sz="2000" spc="-15" dirty="0"/>
              <a:t>lainnya</a:t>
            </a:r>
            <a:endParaRPr sz="2000"/>
          </a:p>
          <a:p>
            <a:pPr marL="943610" lvl="1" indent="-381635">
              <a:lnSpc>
                <a:spcPct val="100000"/>
              </a:lnSpc>
              <a:buChar char="–"/>
              <a:tabLst>
                <a:tab pos="944244" algn="l"/>
                <a:tab pos="944880" algn="l"/>
              </a:tabLst>
            </a:pPr>
            <a:r>
              <a:rPr sz="2000" spc="-5" dirty="0">
                <a:latin typeface="Arial MT"/>
                <a:cs typeface="Arial MT"/>
              </a:rPr>
              <a:t>Sarana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non-fisik:</a:t>
            </a:r>
            <a:endParaRPr sz="2000">
              <a:latin typeface="Arial MT"/>
              <a:cs typeface="Arial MT"/>
            </a:endParaRPr>
          </a:p>
          <a:p>
            <a:pPr marL="1401445" lvl="2" indent="-382270">
              <a:lnSpc>
                <a:spcPct val="100000"/>
              </a:lnSpc>
              <a:buChar char="•"/>
              <a:tabLst>
                <a:tab pos="1401445" algn="l"/>
                <a:tab pos="1402715" algn="l"/>
              </a:tabLst>
            </a:pPr>
            <a:r>
              <a:rPr sz="2000" spc="-5" dirty="0">
                <a:latin typeface="Arial MT"/>
                <a:cs typeface="Arial MT"/>
              </a:rPr>
              <a:t>Perangkat peraturan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dan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perundang-undangan</a:t>
            </a:r>
            <a:endParaRPr sz="2000">
              <a:latin typeface="Arial MT"/>
              <a:cs typeface="Arial MT"/>
            </a:endParaRPr>
          </a:p>
          <a:p>
            <a:pPr marL="1401445" lvl="2" indent="-382270">
              <a:lnSpc>
                <a:spcPct val="100000"/>
              </a:lnSpc>
              <a:spcBef>
                <a:spcPts val="5"/>
              </a:spcBef>
              <a:buChar char="•"/>
              <a:tabLst>
                <a:tab pos="1401445" algn="l"/>
                <a:tab pos="1402715" algn="l"/>
              </a:tabLst>
            </a:pPr>
            <a:r>
              <a:rPr sz="2000" spc="-5" dirty="0">
                <a:latin typeface="Arial MT"/>
                <a:cs typeface="Arial MT"/>
              </a:rPr>
              <a:t>Kebijakan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762000"/>
            <a:ext cx="78867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Hambatan</a:t>
            </a:r>
            <a:r>
              <a:rPr sz="3600" spc="-20" dirty="0"/>
              <a:t> </a:t>
            </a:r>
            <a:r>
              <a:rPr sz="3600" dirty="0"/>
              <a:t>dalam</a:t>
            </a:r>
            <a:r>
              <a:rPr sz="3600" spc="-30" dirty="0"/>
              <a:t> </a:t>
            </a:r>
            <a:r>
              <a:rPr sz="3600" spc="-10" dirty="0"/>
              <a:t>E-Government</a:t>
            </a:r>
            <a:r>
              <a:rPr sz="3600" spc="390" dirty="0"/>
              <a:t> </a:t>
            </a:r>
            <a:r>
              <a:rPr sz="3200" spc="-5" dirty="0"/>
              <a:t>(2)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852017" y="1437068"/>
            <a:ext cx="7810500" cy="488251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500"/>
              </a:spcBef>
              <a:buAutoNum type="arabicPeriod" startAt="3"/>
              <a:tabLst>
                <a:tab pos="469900" algn="l"/>
                <a:tab pos="470534" algn="l"/>
              </a:tabLst>
            </a:pPr>
            <a:r>
              <a:rPr sz="2800" dirty="0">
                <a:latin typeface="Arial MT"/>
                <a:cs typeface="Arial MT"/>
              </a:rPr>
              <a:t>Masalah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Standarisasi</a:t>
            </a:r>
            <a:endParaRPr sz="2800" dirty="0">
              <a:latin typeface="Arial MT"/>
              <a:cs typeface="Arial MT"/>
            </a:endParaRPr>
          </a:p>
          <a:p>
            <a:pPr marL="850900" lvl="1" indent="-381635">
              <a:lnSpc>
                <a:spcPts val="2280"/>
              </a:lnSpc>
              <a:spcBef>
                <a:spcPts val="275"/>
              </a:spcBef>
              <a:buChar char="–"/>
              <a:tabLst>
                <a:tab pos="850900" algn="l"/>
                <a:tab pos="851535" algn="l"/>
              </a:tabLst>
            </a:pPr>
            <a:r>
              <a:rPr sz="2000" spc="-10" dirty="0">
                <a:latin typeface="Arial MT"/>
                <a:cs typeface="Arial MT"/>
              </a:rPr>
              <a:t>Agar</a:t>
            </a:r>
            <a:r>
              <a:rPr sz="2000" spc="-5" dirty="0">
                <a:latin typeface="Arial MT"/>
                <a:cs typeface="Arial MT"/>
              </a:rPr>
              <a:t> proses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pelayanan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dapat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5" dirty="0">
                <a:latin typeface="Arial MT"/>
                <a:cs typeface="Arial MT"/>
              </a:rPr>
              <a:t>memenuhi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5" dirty="0">
                <a:latin typeface="Arial MT"/>
                <a:cs typeface="Arial MT"/>
              </a:rPr>
              <a:t>syarat-syarat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yang</a:t>
            </a:r>
            <a:endParaRPr sz="2000" dirty="0">
              <a:latin typeface="Arial MT"/>
              <a:cs typeface="Arial MT"/>
            </a:endParaRPr>
          </a:p>
          <a:p>
            <a:pPr marL="850900">
              <a:lnSpc>
                <a:spcPts val="2280"/>
              </a:lnSpc>
            </a:pPr>
            <a:r>
              <a:rPr sz="2000" spc="-5" dirty="0">
                <a:latin typeface="Arial MT"/>
                <a:cs typeface="Arial MT"/>
              </a:rPr>
              <a:t>ditetapkan</a:t>
            </a:r>
            <a:endParaRPr sz="2000" dirty="0">
              <a:latin typeface="Arial MT"/>
              <a:cs typeface="Arial MT"/>
            </a:endParaRPr>
          </a:p>
          <a:p>
            <a:pPr marL="850900" lvl="1" indent="-381635">
              <a:lnSpc>
                <a:spcPct val="100000"/>
              </a:lnSpc>
              <a:spcBef>
                <a:spcPts val="240"/>
              </a:spcBef>
              <a:buChar char="–"/>
              <a:tabLst>
                <a:tab pos="850900" algn="l"/>
                <a:tab pos="851535" algn="l"/>
              </a:tabLst>
            </a:pPr>
            <a:r>
              <a:rPr sz="2000" spc="-10" dirty="0">
                <a:latin typeface="Arial MT"/>
                <a:cs typeface="Arial MT"/>
              </a:rPr>
              <a:t>Agar </a:t>
            </a:r>
            <a:r>
              <a:rPr sz="2000" spc="-5" dirty="0">
                <a:latin typeface="Arial MT"/>
                <a:cs typeface="Arial MT"/>
              </a:rPr>
              <a:t>proses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berjalan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secara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seragam</a:t>
            </a:r>
            <a:endParaRPr sz="2000" dirty="0">
              <a:latin typeface="Arial MT"/>
              <a:cs typeface="Arial MT"/>
            </a:endParaRPr>
          </a:p>
          <a:p>
            <a:pPr marL="850900" lvl="1" indent="-381635">
              <a:lnSpc>
                <a:spcPct val="100000"/>
              </a:lnSpc>
              <a:spcBef>
                <a:spcPts val="240"/>
              </a:spcBef>
              <a:buChar char="–"/>
              <a:tabLst>
                <a:tab pos="850900" algn="l"/>
                <a:tab pos="851535" algn="l"/>
              </a:tabLst>
            </a:pPr>
            <a:r>
              <a:rPr sz="2000" spc="-10" dirty="0">
                <a:latin typeface="Arial MT"/>
                <a:cs typeface="Arial MT"/>
              </a:rPr>
              <a:t>Agar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ada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prosedur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operasional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spc="-35" dirty="0">
                <a:latin typeface="Arial MT"/>
                <a:cs typeface="Arial MT"/>
              </a:rPr>
              <a:t>yg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stabil</a:t>
            </a:r>
            <a:endParaRPr sz="2000" dirty="0">
              <a:latin typeface="Arial MT"/>
              <a:cs typeface="Arial MT"/>
            </a:endParaRPr>
          </a:p>
          <a:p>
            <a:pPr marL="850900" lvl="1" indent="-381635">
              <a:lnSpc>
                <a:spcPts val="2280"/>
              </a:lnSpc>
              <a:spcBef>
                <a:spcPts val="240"/>
              </a:spcBef>
              <a:buChar char="–"/>
              <a:tabLst>
                <a:tab pos="850900" algn="l"/>
                <a:tab pos="851535" algn="l"/>
              </a:tabLst>
            </a:pPr>
            <a:r>
              <a:rPr sz="2000" spc="-10" dirty="0">
                <a:latin typeface="Arial MT"/>
                <a:cs typeface="Arial MT"/>
              </a:rPr>
              <a:t>Agar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terjadi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keunikan </a:t>
            </a:r>
            <a:r>
              <a:rPr sz="2000" spc="-10" dirty="0">
                <a:latin typeface="Arial MT"/>
                <a:cs typeface="Arial MT"/>
              </a:rPr>
              <a:t>dalam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identifikasi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data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dan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5" dirty="0">
                <a:latin typeface="Arial MT"/>
                <a:cs typeface="Arial MT"/>
              </a:rPr>
              <a:t>kemampuan</a:t>
            </a:r>
            <a:endParaRPr sz="2000" dirty="0">
              <a:latin typeface="Arial MT"/>
              <a:cs typeface="Arial MT"/>
            </a:endParaRPr>
          </a:p>
          <a:p>
            <a:pPr marL="850900">
              <a:lnSpc>
                <a:spcPts val="2280"/>
              </a:lnSpc>
            </a:pPr>
            <a:r>
              <a:rPr sz="2000" spc="-5" dirty="0">
                <a:latin typeface="Arial MT"/>
                <a:cs typeface="Arial MT"/>
              </a:rPr>
              <a:t>penelusuran data</a:t>
            </a:r>
            <a:endParaRPr sz="2000" dirty="0">
              <a:latin typeface="Arial MT"/>
              <a:cs typeface="Arial MT"/>
            </a:endParaRPr>
          </a:p>
          <a:p>
            <a:pPr marL="850900" lvl="1" indent="-381635">
              <a:lnSpc>
                <a:spcPts val="2280"/>
              </a:lnSpc>
              <a:spcBef>
                <a:spcPts val="240"/>
              </a:spcBef>
              <a:buChar char="–"/>
              <a:tabLst>
                <a:tab pos="850900" algn="l"/>
                <a:tab pos="851535" algn="l"/>
              </a:tabLst>
            </a:pPr>
            <a:r>
              <a:rPr sz="2000" spc="-10" dirty="0">
                <a:latin typeface="Arial MT"/>
                <a:cs typeface="Arial MT"/>
              </a:rPr>
              <a:t>Agar</a:t>
            </a:r>
            <a:r>
              <a:rPr sz="2000" spc="-5" dirty="0">
                <a:latin typeface="Arial MT"/>
                <a:cs typeface="Arial MT"/>
              </a:rPr>
              <a:t> integrasi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e-government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secara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nasional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dapat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berjalan</a:t>
            </a:r>
            <a:endParaRPr sz="2000" dirty="0">
              <a:latin typeface="Arial MT"/>
              <a:cs typeface="Arial MT"/>
            </a:endParaRPr>
          </a:p>
          <a:p>
            <a:pPr marL="850900">
              <a:lnSpc>
                <a:spcPts val="2280"/>
              </a:lnSpc>
            </a:pPr>
            <a:r>
              <a:rPr sz="2000" spc="-10" dirty="0">
                <a:latin typeface="Arial MT"/>
                <a:cs typeface="Arial MT"/>
              </a:rPr>
              <a:t>dengan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lancar</a:t>
            </a:r>
            <a:endParaRPr sz="2000" dirty="0">
              <a:latin typeface="Arial MT"/>
              <a:cs typeface="Arial MT"/>
            </a:endParaRPr>
          </a:p>
          <a:p>
            <a:pPr marL="469900" indent="-457834">
              <a:lnSpc>
                <a:spcPct val="100000"/>
              </a:lnSpc>
              <a:spcBef>
                <a:spcPts val="305"/>
              </a:spcBef>
              <a:buAutoNum type="arabicPeriod" startAt="4"/>
              <a:tabLst>
                <a:tab pos="469900" algn="l"/>
                <a:tab pos="470534" algn="l"/>
              </a:tabLst>
            </a:pPr>
            <a:r>
              <a:rPr sz="2800" dirty="0">
                <a:latin typeface="Arial MT"/>
                <a:cs typeface="Arial MT"/>
              </a:rPr>
              <a:t>Sumber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Daya</a:t>
            </a:r>
            <a:r>
              <a:rPr sz="2800" spc="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Manusia </a:t>
            </a:r>
            <a:r>
              <a:rPr sz="2800" spc="-5" dirty="0">
                <a:latin typeface="Arial MT"/>
                <a:cs typeface="Arial MT"/>
              </a:rPr>
              <a:t>(SDM)</a:t>
            </a:r>
            <a:endParaRPr sz="2800" dirty="0">
              <a:latin typeface="Arial MT"/>
              <a:cs typeface="Arial MT"/>
            </a:endParaRPr>
          </a:p>
          <a:p>
            <a:pPr marL="469900" indent="-457834">
              <a:lnSpc>
                <a:spcPct val="100000"/>
              </a:lnSpc>
              <a:spcBef>
                <a:spcPts val="335"/>
              </a:spcBef>
              <a:buAutoNum type="arabicPeriod" startAt="4"/>
              <a:tabLst>
                <a:tab pos="469900" algn="l"/>
                <a:tab pos="470534" algn="l"/>
              </a:tabLst>
            </a:pPr>
            <a:r>
              <a:rPr sz="2800" spc="5" dirty="0">
                <a:latin typeface="Arial MT"/>
                <a:cs typeface="Arial MT"/>
              </a:rPr>
              <a:t>Kultur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berbagi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belum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ada.</a:t>
            </a:r>
          </a:p>
          <a:p>
            <a:pPr marL="469900" indent="-457834">
              <a:lnSpc>
                <a:spcPct val="100000"/>
              </a:lnSpc>
              <a:spcBef>
                <a:spcPts val="340"/>
              </a:spcBef>
              <a:buAutoNum type="arabicPeriod" startAt="4"/>
              <a:tabLst>
                <a:tab pos="469900" algn="l"/>
                <a:tab pos="470534" algn="l"/>
              </a:tabLst>
            </a:pPr>
            <a:r>
              <a:rPr sz="2800" spc="5" dirty="0">
                <a:latin typeface="Arial MT"/>
                <a:cs typeface="Arial MT"/>
              </a:rPr>
              <a:t>Kultur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mendokumentasi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belum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lazim.</a:t>
            </a:r>
            <a:endParaRPr sz="2800" dirty="0">
              <a:latin typeface="Arial MT"/>
              <a:cs typeface="Arial MT"/>
            </a:endParaRPr>
          </a:p>
          <a:p>
            <a:pPr marL="469900" indent="-457834">
              <a:lnSpc>
                <a:spcPct val="100000"/>
              </a:lnSpc>
              <a:spcBef>
                <a:spcPts val="335"/>
              </a:spcBef>
              <a:buAutoNum type="arabicPeriod" startAt="4"/>
              <a:tabLst>
                <a:tab pos="469900" algn="l"/>
                <a:tab pos="470534" algn="l"/>
              </a:tabLst>
            </a:pPr>
            <a:r>
              <a:rPr sz="2800" dirty="0">
                <a:latin typeface="Arial MT"/>
                <a:cs typeface="Arial MT"/>
              </a:rPr>
              <a:t>Tempat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akses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yang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terbatas</a:t>
            </a:r>
            <a:r>
              <a:rPr sz="2400" dirty="0">
                <a:latin typeface="Arial MT"/>
                <a:cs typeface="Arial MT"/>
              </a:rPr>
              <a:t>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2149" y="1120981"/>
            <a:ext cx="7886700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0" dirty="0"/>
              <a:t>PR</a:t>
            </a:r>
            <a:r>
              <a:rPr sz="3200" spc="-65" dirty="0"/>
              <a:t> </a:t>
            </a:r>
            <a:r>
              <a:rPr sz="3200" spc="-5" dirty="0"/>
              <a:t>-</a:t>
            </a:r>
            <a:r>
              <a:rPr sz="3200" spc="-25" dirty="0"/>
              <a:t> </a:t>
            </a:r>
            <a:r>
              <a:rPr sz="3200" spc="-5" dirty="0"/>
              <a:t>2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1034897" y="1624965"/>
            <a:ext cx="7101205" cy="38309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368935" indent="-457834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70534" algn="l"/>
              </a:tabLst>
            </a:pPr>
            <a:r>
              <a:rPr sz="2400" dirty="0">
                <a:latin typeface="Arial MT"/>
                <a:cs typeface="Arial MT"/>
              </a:rPr>
              <a:t>Menurut anda apakah penerapan komputer di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dunia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pendidikan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dapat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meningkatkan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kualitas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pendidikan</a:t>
            </a:r>
          </a:p>
          <a:p>
            <a:pPr marL="469900" marR="642620" indent="-457834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400" spc="-5" dirty="0">
                <a:latin typeface="Arial MT"/>
                <a:cs typeface="Arial MT"/>
              </a:rPr>
              <a:t>Menurut </a:t>
            </a:r>
            <a:r>
              <a:rPr sz="2400" dirty="0">
                <a:latin typeface="Arial MT"/>
                <a:cs typeface="Arial MT"/>
              </a:rPr>
              <a:t>anda apakah komputer dapat lebih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meningkatkan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kemauan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belajar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prestasi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pelajar</a:t>
            </a:r>
          </a:p>
          <a:p>
            <a:pPr marL="469900" marR="5080" indent="-457834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400" dirty="0">
                <a:latin typeface="Arial MT"/>
                <a:cs typeface="Arial MT"/>
              </a:rPr>
              <a:t>Apakah menurut pendapat anda penerapan </a:t>
            </a:r>
            <a:r>
              <a:rPr sz="2400" spc="40" dirty="0">
                <a:latin typeface="Arial MT"/>
                <a:cs typeface="Arial MT"/>
              </a:rPr>
              <a:t>E- 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Goverment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dapat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menegakkan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good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governance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serta dapat meniadakan </a:t>
            </a:r>
            <a:r>
              <a:rPr sz="2400" spc="-5" dirty="0">
                <a:latin typeface="Arial MT"/>
                <a:cs typeface="Arial MT"/>
              </a:rPr>
              <a:t>penyakit pelayan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masyarakat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yaitu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KKN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359780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PPT TI50hal</Template>
  <TotalTime>19</TotalTime>
  <Words>2198</Words>
  <Application>Microsoft Office PowerPoint</Application>
  <PresentationFormat>On-screen Show (4:3)</PresentationFormat>
  <Paragraphs>409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50</vt:i4>
      </vt:variant>
    </vt:vector>
  </HeadingPairs>
  <TitlesOfParts>
    <vt:vector size="66" baseType="lpstr">
      <vt:lpstr>Arial</vt:lpstr>
      <vt:lpstr>Arial MT</vt:lpstr>
      <vt:lpstr>Calibri</vt:lpstr>
      <vt:lpstr>Calibri Light</vt:lpstr>
      <vt:lpstr>Tahoma</vt:lpstr>
      <vt:lpstr>Times New Roman</vt:lpstr>
      <vt:lpstr>Trebuchet MS</vt:lpstr>
      <vt:lpstr>Wingdings</vt:lpstr>
      <vt:lpstr>6_Office Theme</vt:lpstr>
      <vt:lpstr>7_Office Theme</vt:lpstr>
      <vt:lpstr>4_Office Theme</vt:lpstr>
      <vt:lpstr>3_Office Theme</vt:lpstr>
      <vt:lpstr>2_Office Theme</vt:lpstr>
      <vt:lpstr>Office Theme</vt:lpstr>
      <vt:lpstr>5_Office Theme</vt:lpstr>
      <vt:lpstr>1_Office Theme</vt:lpstr>
      <vt:lpstr>PowerPoint Presentation</vt:lpstr>
      <vt:lpstr>AGENDA:</vt:lpstr>
      <vt:lpstr>APA YANG ANDA KETAHUI?</vt:lpstr>
      <vt:lpstr>KOMPUTER DAN  DUNIA PENDIDIKAN</vt:lpstr>
      <vt:lpstr>Aplikasi Non Pengajaran</vt:lpstr>
      <vt:lpstr>Aplikasi Non Pengajaran (2)</vt:lpstr>
      <vt:lpstr>Aplikasi Pengajaran</vt:lpstr>
      <vt:lpstr>Contoh: Sistem CAI – PLATO</vt:lpstr>
      <vt:lpstr>Contoh: Sistem CAI – TICCIT</vt:lpstr>
      <vt:lpstr>Metode Pengajaran Logo</vt:lpstr>
      <vt:lpstr>Metode Pengajaran Small Talk-80</vt:lpstr>
      <vt:lpstr>Isyu untuk di diskusikan</vt:lpstr>
      <vt:lpstr>KOMPUTER DAN DUNIA USAHA</vt:lpstr>
      <vt:lpstr>MENGAPA BISNIS MEMBUTUHKAN  TEKNOLOGI INFORMASI</vt:lpstr>
      <vt:lpstr>PERAN TEKNOLOGI INFORMASI  DALAM DUNIA BISNIS</vt:lpstr>
      <vt:lpstr>Definisi</vt:lpstr>
      <vt:lpstr>SISTEM INFORMASI MANAJEMEN (SIM)</vt:lpstr>
      <vt:lpstr>Pengolahan Data</vt:lpstr>
      <vt:lpstr>8 Aktifitas Pengolahan Data</vt:lpstr>
      <vt:lpstr>Model Sistem Pengolahan Data</vt:lpstr>
      <vt:lpstr>Model Sistem Pengolahan Data (2)</vt:lpstr>
      <vt:lpstr>Fungsi Informasi</vt:lpstr>
      <vt:lpstr>JENJANG MANAJEMEN</vt:lpstr>
      <vt:lpstr>Kebutuhan SIM pada Organisasi</vt:lpstr>
      <vt:lpstr>Mengapa perlu SIM?</vt:lpstr>
      <vt:lpstr>Keuntungan SIM</vt:lpstr>
      <vt:lpstr>SIM Membutuhkan :</vt:lpstr>
      <vt:lpstr>PERTUKARAN DATA ELEKTRONIK (EDI)  EDI</vt:lpstr>
      <vt:lpstr>MANFAAT EDI</vt:lpstr>
      <vt:lpstr>SISTEM OTOMASI PERKANTORAN</vt:lpstr>
      <vt:lpstr>KOMPUTER DAN  PEMERINTAHAN</vt:lpstr>
      <vt:lpstr>TUJUAN:</vt:lpstr>
      <vt:lpstr>APLIKASI KOMPUTER DI  PEMERINTAHAN</vt:lpstr>
      <vt:lpstr>E-Goverment</vt:lpstr>
      <vt:lpstr>PEMICU UTAMA e-GOV</vt:lpstr>
      <vt:lpstr>DEFINISI e-GOVERNMENT</vt:lpstr>
      <vt:lpstr>MANFAAT e-GOVERNMENT</vt:lpstr>
      <vt:lpstr>KARAKTERISTIK  GOOD GOVERNANCE</vt:lpstr>
      <vt:lpstr>JENIS LAYANAN e-GOV (1)</vt:lpstr>
      <vt:lpstr>JENIS LAYANAN e-GOV (2)</vt:lpstr>
      <vt:lpstr>INFRASTRUKTUR</vt:lpstr>
      <vt:lpstr>PowerPoint Presentation</vt:lpstr>
      <vt:lpstr>PETA APLIKASI e-GOV</vt:lpstr>
      <vt:lpstr>KUNCI SUKSES e-GOV (1)</vt:lpstr>
      <vt:lpstr>KUNCI SUKSES e-GOV (2)</vt:lpstr>
      <vt:lpstr>KUNCI SUKSES e-GOV (3)</vt:lpstr>
      <vt:lpstr>Hambatan dalam E-Government</vt:lpstr>
      <vt:lpstr>Hambatan dalam E-Government (2)</vt:lpstr>
      <vt:lpstr>PR - 2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KOMPUTER DAN PENDIDIKAN</dc:title>
  <dc:creator>User</dc:creator>
  <cp:lastModifiedBy>Windows User</cp:lastModifiedBy>
  <cp:revision>7</cp:revision>
  <dcterms:created xsi:type="dcterms:W3CDTF">2021-08-27T01:27:45Z</dcterms:created>
  <dcterms:modified xsi:type="dcterms:W3CDTF">2021-08-28T00:11:53Z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2016-09-18T00:00:00Z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2021-08-27T00:00:00Z</vt:filetime>
  </property>
</Properties>
</file>