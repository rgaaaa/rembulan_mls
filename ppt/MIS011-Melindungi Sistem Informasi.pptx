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media/image11.jpg" ContentType="image/jpg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135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423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44" y="1322893"/>
            <a:ext cx="7936865" cy="304419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287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6244" y="1628013"/>
            <a:ext cx="3473450" cy="3961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26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202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9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81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865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158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201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7276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048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907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6907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9738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1569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44" y="1322893"/>
            <a:ext cx="7936865" cy="304419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547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6244" y="1628013"/>
            <a:ext cx="3473450" cy="3961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5623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0250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2849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5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1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303284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368652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73454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0202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91" r:id="rId8"/>
    <p:sldLayoutId id="2147483692" r:id="rId9"/>
    <p:sldLayoutId id="2147483693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055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9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9144000" cy="68707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857" y="2590800"/>
            <a:ext cx="6090285" cy="133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9015" marR="5080" indent="-996950">
              <a:lnSpc>
                <a:spcPct val="100000"/>
              </a:lnSpc>
              <a:spcBef>
                <a:spcPts val="95"/>
              </a:spcBef>
              <a:tabLst>
                <a:tab pos="2573655" algn="l"/>
              </a:tabLst>
            </a:pPr>
            <a:r>
              <a:rPr sz="4300" b="1" spc="325" dirty="0">
                <a:latin typeface="Georgia"/>
                <a:cs typeface="Georgia"/>
              </a:rPr>
              <a:t>S</a:t>
            </a:r>
            <a:r>
              <a:rPr sz="4300" b="1" spc="-484" dirty="0">
                <a:latin typeface="Georgia"/>
                <a:cs typeface="Georgia"/>
              </a:rPr>
              <a:t>I</a:t>
            </a:r>
            <a:r>
              <a:rPr sz="4300" b="1" spc="395" dirty="0">
                <a:latin typeface="Georgia"/>
                <a:cs typeface="Georgia"/>
              </a:rPr>
              <a:t>S</a:t>
            </a:r>
            <a:r>
              <a:rPr sz="4300" b="1" spc="50" dirty="0">
                <a:latin typeface="Georgia"/>
                <a:cs typeface="Georgia"/>
              </a:rPr>
              <a:t>T</a:t>
            </a:r>
            <a:r>
              <a:rPr sz="4300" b="1" spc="85" dirty="0">
                <a:latin typeface="Georgia"/>
                <a:cs typeface="Georgia"/>
              </a:rPr>
              <a:t>E</a:t>
            </a:r>
            <a:r>
              <a:rPr sz="4300" b="1" spc="-250" dirty="0">
                <a:latin typeface="Georgia"/>
                <a:cs typeface="Georgia"/>
              </a:rPr>
              <a:t>M</a:t>
            </a:r>
            <a:r>
              <a:rPr sz="4300" b="1" dirty="0">
                <a:latin typeface="Georgia"/>
                <a:cs typeface="Georgia"/>
              </a:rPr>
              <a:t>	</a:t>
            </a:r>
            <a:r>
              <a:rPr sz="4300" b="1" spc="-484" dirty="0">
                <a:latin typeface="Georgia"/>
                <a:cs typeface="Georgia"/>
              </a:rPr>
              <a:t>I</a:t>
            </a:r>
            <a:r>
              <a:rPr sz="4300" b="1" spc="150" dirty="0">
                <a:latin typeface="Georgia"/>
                <a:cs typeface="Georgia"/>
              </a:rPr>
              <a:t>N</a:t>
            </a:r>
            <a:r>
              <a:rPr sz="4300" b="1" spc="185" dirty="0">
                <a:latin typeface="Georgia"/>
                <a:cs typeface="Georgia"/>
              </a:rPr>
              <a:t>F</a:t>
            </a:r>
            <a:r>
              <a:rPr sz="4300" b="1" spc="40" dirty="0">
                <a:latin typeface="Georgia"/>
                <a:cs typeface="Georgia"/>
              </a:rPr>
              <a:t>ORM</a:t>
            </a:r>
            <a:r>
              <a:rPr sz="4300" b="1" spc="50" dirty="0">
                <a:latin typeface="Georgia"/>
                <a:cs typeface="Georgia"/>
              </a:rPr>
              <a:t>A</a:t>
            </a:r>
            <a:r>
              <a:rPr sz="4300" b="1" spc="-80" dirty="0">
                <a:latin typeface="Georgia"/>
                <a:cs typeface="Georgia"/>
              </a:rPr>
              <a:t>SI  </a:t>
            </a:r>
            <a:r>
              <a:rPr sz="4300" b="1" spc="85" dirty="0">
                <a:latin typeface="Georgia"/>
                <a:cs typeface="Georgia"/>
              </a:rPr>
              <a:t>MANAJEMEN</a:t>
            </a:r>
            <a:endParaRPr sz="43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3410" y="2038045"/>
            <a:ext cx="55333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7620" marR="5080" indent="-1265555">
              <a:lnSpc>
                <a:spcPct val="100000"/>
              </a:lnSpc>
              <a:spcBef>
                <a:spcPts val="100"/>
              </a:spcBef>
            </a:pPr>
            <a:r>
              <a:rPr sz="3600" b="1" spc="525" dirty="0">
                <a:latin typeface="Cambria"/>
                <a:cs typeface="Cambria"/>
              </a:rPr>
              <a:t>MELINDUNGI</a:t>
            </a:r>
            <a:r>
              <a:rPr sz="3600" b="1" spc="145" dirty="0">
                <a:latin typeface="Cambria"/>
                <a:cs typeface="Cambria"/>
              </a:rPr>
              <a:t> </a:t>
            </a:r>
            <a:r>
              <a:rPr sz="3600" b="1" spc="480" dirty="0">
                <a:latin typeface="Cambria"/>
                <a:cs typeface="Cambria"/>
              </a:rPr>
              <a:t>SISTEM </a:t>
            </a:r>
            <a:r>
              <a:rPr sz="3600" b="1" spc="-780" dirty="0">
                <a:latin typeface="Cambria"/>
                <a:cs typeface="Cambria"/>
              </a:rPr>
              <a:t> </a:t>
            </a:r>
            <a:r>
              <a:rPr sz="3600" b="1" spc="480" dirty="0">
                <a:latin typeface="Cambria"/>
                <a:cs typeface="Cambria"/>
              </a:rPr>
              <a:t>INFORMASI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439039"/>
            <a:ext cx="62020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60" dirty="0"/>
              <a:t>KERENTANAN</a:t>
            </a:r>
            <a:r>
              <a:rPr sz="3000" spc="145" dirty="0"/>
              <a:t> </a:t>
            </a:r>
            <a:r>
              <a:rPr sz="3000" spc="345" dirty="0"/>
              <a:t>DAN</a:t>
            </a:r>
            <a:r>
              <a:rPr sz="3000" spc="165" dirty="0"/>
              <a:t> </a:t>
            </a:r>
            <a:r>
              <a:rPr sz="3000" spc="360" dirty="0"/>
              <a:t>PENYALAH </a:t>
            </a:r>
            <a:r>
              <a:rPr sz="3000" spc="-645" dirty="0"/>
              <a:t> </a:t>
            </a:r>
            <a:r>
              <a:rPr sz="3000" spc="395" dirty="0"/>
              <a:t>GUNAAN</a:t>
            </a:r>
            <a:r>
              <a:rPr sz="3000" spc="165" dirty="0"/>
              <a:t> </a:t>
            </a:r>
            <a:r>
              <a:rPr sz="3000" spc="345" dirty="0"/>
              <a:t>SISTEM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35965" y="1384757"/>
            <a:ext cx="8134350" cy="3837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655" algn="l"/>
              </a:tabLst>
            </a:pPr>
            <a:r>
              <a:rPr sz="2400" spc="135" dirty="0">
                <a:solidFill>
                  <a:srgbClr val="0000CC"/>
                </a:solidFill>
                <a:latin typeface="Cambria"/>
                <a:cs typeface="Cambria"/>
              </a:rPr>
              <a:t>Pengamanan</a:t>
            </a:r>
            <a:r>
              <a:rPr sz="2400" spc="800" dirty="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0000CC"/>
                </a:solidFill>
                <a:latin typeface="Cambria"/>
                <a:cs typeface="Cambria"/>
              </a:rPr>
              <a:t>(security</a:t>
            </a:r>
            <a:r>
              <a:rPr sz="2400" spc="35" dirty="0">
                <a:latin typeface="Cambria"/>
                <a:cs typeface="Cambria"/>
              </a:rPr>
              <a:t>)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merujuk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pada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kebijakan,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prosedur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pengukuran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teknik</a:t>
            </a:r>
            <a:r>
              <a:rPr sz="2400" spc="120" dirty="0">
                <a:latin typeface="Cambria"/>
                <a:cs typeface="Cambria"/>
              </a:rPr>
              <a:t> yang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digunakan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untuk </a:t>
            </a:r>
            <a:r>
              <a:rPr sz="2400" spc="90" dirty="0">
                <a:latin typeface="Cambria"/>
                <a:cs typeface="Cambria"/>
              </a:rPr>
              <a:t>mencegah </a:t>
            </a:r>
            <a:r>
              <a:rPr sz="2400" spc="100" dirty="0">
                <a:latin typeface="Cambria"/>
                <a:cs typeface="Cambria"/>
              </a:rPr>
              <a:t>akses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yang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tidak </a:t>
            </a:r>
            <a:r>
              <a:rPr sz="2400" spc="135" dirty="0">
                <a:latin typeface="Cambria"/>
                <a:cs typeface="Cambria"/>
              </a:rPr>
              <a:t>sah, </a:t>
            </a:r>
            <a:r>
              <a:rPr sz="2400" spc="105" dirty="0">
                <a:latin typeface="Cambria"/>
                <a:cs typeface="Cambria"/>
              </a:rPr>
              <a:t>penggantian,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pencurian </a:t>
            </a:r>
            <a:r>
              <a:rPr sz="2400" spc="145" dirty="0">
                <a:latin typeface="Cambria"/>
                <a:cs typeface="Cambria"/>
              </a:rPr>
              <a:t>atau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kerusakan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fisik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pada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informasi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7020" marR="5715" indent="-274955" algn="just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655" algn="l"/>
              </a:tabLst>
            </a:pPr>
            <a:r>
              <a:rPr sz="2400" spc="110" dirty="0">
                <a:solidFill>
                  <a:srgbClr val="0000CC"/>
                </a:solidFill>
                <a:latin typeface="Cambria"/>
                <a:cs typeface="Cambria"/>
              </a:rPr>
              <a:t>Pengendalian</a:t>
            </a:r>
            <a:r>
              <a:rPr sz="2400" spc="114" dirty="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CC"/>
                </a:solidFill>
                <a:latin typeface="Cambria"/>
                <a:cs typeface="Cambria"/>
              </a:rPr>
              <a:t>(control)</a:t>
            </a:r>
            <a:r>
              <a:rPr sz="2400" spc="5" dirty="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terdiri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atas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semua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metode, 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kebijakan,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prosedur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organisasi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yang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menjamin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keselamatan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aset-aset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organisasi,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ketepatan</a:t>
            </a:r>
            <a:r>
              <a:rPr sz="2400" spc="110" dirty="0">
                <a:latin typeface="Cambria"/>
                <a:cs typeface="Cambria"/>
              </a:rPr>
              <a:t> dan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keandalan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catatan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rekeningnya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serta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kepatuhan 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operasional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pada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standar-standar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manajemen.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93726"/>
            <a:ext cx="6846570" cy="850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pc="345" dirty="0"/>
              <a:t>MENGAPA</a:t>
            </a:r>
            <a:r>
              <a:rPr spc="25" dirty="0"/>
              <a:t> </a:t>
            </a:r>
            <a:r>
              <a:rPr spc="320" dirty="0"/>
              <a:t>SISTEM</a:t>
            </a:r>
            <a:r>
              <a:rPr spc="120" dirty="0"/>
              <a:t> </a:t>
            </a:r>
            <a:r>
              <a:rPr spc="310" dirty="0"/>
              <a:t>INFORMASI</a:t>
            </a:r>
            <a:r>
              <a:rPr spc="35" dirty="0"/>
              <a:t> </a:t>
            </a:r>
            <a:r>
              <a:rPr spc="350" dirty="0"/>
              <a:t>PERLU </a:t>
            </a:r>
            <a:r>
              <a:rPr spc="-580" dirty="0"/>
              <a:t> </a:t>
            </a:r>
            <a:r>
              <a:rPr spc="330" dirty="0"/>
              <a:t>DILINDUNGI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005743"/>
            <a:ext cx="8319770" cy="57277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59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20" dirty="0">
                <a:latin typeface="Cambria"/>
                <a:cs typeface="Cambria"/>
              </a:rPr>
              <a:t>Ketika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terkonsentrasinya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data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dalam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bentuk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elektronik</a:t>
            </a:r>
            <a:endParaRPr sz="20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55" dirty="0">
                <a:latin typeface="Cambria"/>
                <a:cs typeface="Cambria"/>
              </a:rPr>
              <a:t>Prosedur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yang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tidak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tampak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lagi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karena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otomatisasi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proses</a:t>
            </a:r>
            <a:endParaRPr sz="2000">
              <a:latin typeface="Cambria"/>
              <a:cs typeface="Cambria"/>
            </a:endParaRPr>
          </a:p>
          <a:p>
            <a:pPr marL="287020" marR="356235" indent="-274320">
              <a:lnSpc>
                <a:spcPct val="901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Sistem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informasi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rentan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terhadap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perusakan,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penyalahgunaan, 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kesalahan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(error),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kecurangan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dan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gangguan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pada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hardware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dan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software.</a:t>
            </a:r>
            <a:endParaRPr sz="2000">
              <a:latin typeface="Cambria"/>
              <a:cs typeface="Cambria"/>
            </a:endParaRPr>
          </a:p>
          <a:p>
            <a:pPr marL="287020" marR="5080" indent="-274320" algn="just">
              <a:lnSpc>
                <a:spcPts val="2160"/>
              </a:lnSpc>
              <a:spcBef>
                <a:spcPts val="63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Sistem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informasi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berbasis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web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merupakan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sistem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yang  </a:t>
            </a:r>
            <a:r>
              <a:rPr sz="2000" spc="80" dirty="0">
                <a:latin typeface="Cambria"/>
                <a:cs typeface="Cambria"/>
              </a:rPr>
              <a:t>paling 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rentan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karena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dapat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diakses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oleh</a:t>
            </a:r>
            <a:r>
              <a:rPr sz="2000" spc="4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semua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orang  </a:t>
            </a:r>
            <a:r>
              <a:rPr sz="2000" spc="80" dirty="0">
                <a:latin typeface="Cambria"/>
                <a:cs typeface="Cambria"/>
              </a:rPr>
              <a:t>sehinga  </a:t>
            </a:r>
            <a:r>
              <a:rPr sz="2000" spc="60" dirty="0">
                <a:latin typeface="Cambria"/>
                <a:cs typeface="Cambria"/>
              </a:rPr>
              <a:t>lebih 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mudah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mendapat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serangan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dari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pihak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luar.</a:t>
            </a:r>
            <a:endParaRPr sz="200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33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10" dirty="0">
                <a:latin typeface="Cambria"/>
                <a:cs typeface="Cambria"/>
              </a:rPr>
              <a:t>Tantangan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pengamanan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jaringan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Nirkabel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(Wi-Fi)</a:t>
            </a:r>
            <a:endParaRPr sz="2000">
              <a:latin typeface="Cambria"/>
              <a:cs typeface="Cambria"/>
            </a:endParaRPr>
          </a:p>
          <a:p>
            <a:pPr marL="287020" marR="628015" indent="-274320">
              <a:lnSpc>
                <a:spcPts val="2160"/>
              </a:lnSpc>
              <a:spcBef>
                <a:spcPts val="63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05" dirty="0">
                <a:latin typeface="Cambria"/>
                <a:cs typeface="Cambria"/>
              </a:rPr>
              <a:t>Adanya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Software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berbahanya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;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Virus,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Worm,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Trojan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Horse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dan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Spyware</a:t>
            </a:r>
            <a:endParaRPr sz="2000">
              <a:latin typeface="Cambria"/>
              <a:cs typeface="Cambria"/>
            </a:endParaRPr>
          </a:p>
          <a:p>
            <a:pPr marL="287020" marR="314325" indent="-274320">
              <a:lnSpc>
                <a:spcPts val="216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  <a:tab pos="1332230" algn="l"/>
              </a:tabLst>
            </a:pPr>
            <a:r>
              <a:rPr sz="2000" spc="105" dirty="0">
                <a:latin typeface="Cambria"/>
                <a:cs typeface="Cambria"/>
              </a:rPr>
              <a:t>Adanya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Hacker/Cracker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Vandalisme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Maya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i="1" spc="95" dirty="0">
                <a:latin typeface="Cambria"/>
                <a:cs typeface="Cambria"/>
              </a:rPr>
              <a:t>(Cybervandalism) </a:t>
            </a:r>
            <a:r>
              <a:rPr sz="2000" i="1" spc="-425" dirty="0">
                <a:latin typeface="Cambria"/>
                <a:cs typeface="Cambria"/>
              </a:rPr>
              <a:t> </a:t>
            </a:r>
            <a:r>
              <a:rPr sz="2000" i="1" spc="50" dirty="0">
                <a:latin typeface="Cambria"/>
                <a:cs typeface="Cambria"/>
              </a:rPr>
              <a:t>seperti</a:t>
            </a:r>
            <a:r>
              <a:rPr sz="2000" i="1" spc="100" dirty="0">
                <a:latin typeface="Cambria"/>
                <a:cs typeface="Cambria"/>
              </a:rPr>
              <a:t> </a:t>
            </a:r>
            <a:r>
              <a:rPr sz="2000" i="1" spc="35" dirty="0">
                <a:latin typeface="Cambria"/>
                <a:cs typeface="Cambria"/>
              </a:rPr>
              <a:t>:	</a:t>
            </a:r>
            <a:r>
              <a:rPr sz="2000" spc="75" dirty="0">
                <a:latin typeface="Cambria"/>
                <a:cs typeface="Cambria"/>
              </a:rPr>
              <a:t>Spoffing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dan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Sniffing,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Serangan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penolakan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Layanan 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i="1" spc="90" dirty="0">
                <a:latin typeface="Cambria"/>
                <a:cs typeface="Cambria"/>
              </a:rPr>
              <a:t>(Denial</a:t>
            </a:r>
            <a:r>
              <a:rPr sz="2000" i="1" spc="40" dirty="0">
                <a:latin typeface="Cambria"/>
                <a:cs typeface="Cambria"/>
              </a:rPr>
              <a:t> </a:t>
            </a:r>
            <a:r>
              <a:rPr sz="2000" i="1" spc="35" dirty="0">
                <a:latin typeface="Cambria"/>
                <a:cs typeface="Cambria"/>
              </a:rPr>
              <a:t>of</a:t>
            </a:r>
            <a:r>
              <a:rPr sz="2000" i="1" spc="90" dirty="0">
                <a:latin typeface="Cambria"/>
                <a:cs typeface="Cambria"/>
              </a:rPr>
              <a:t> </a:t>
            </a:r>
            <a:r>
              <a:rPr sz="2000" i="1" spc="65" dirty="0">
                <a:latin typeface="Cambria"/>
                <a:cs typeface="Cambria"/>
              </a:rPr>
              <a:t>Service)</a:t>
            </a:r>
            <a:endParaRPr sz="2000">
              <a:latin typeface="Cambria"/>
              <a:cs typeface="Cambria"/>
            </a:endParaRPr>
          </a:p>
          <a:p>
            <a:pPr marL="287020" indent="-274320">
              <a:lnSpc>
                <a:spcPts val="2280"/>
              </a:lnSpc>
              <a:spcBef>
                <a:spcPts val="33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14" dirty="0">
                <a:latin typeface="Cambria"/>
                <a:cs typeface="Cambria"/>
              </a:rPr>
              <a:t>Kejahatan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Komputer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dan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Terorisme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Maya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seperti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Pencurian</a:t>
            </a:r>
            <a:endParaRPr sz="2000">
              <a:latin typeface="Cambria"/>
              <a:cs typeface="Cambria"/>
            </a:endParaRPr>
          </a:p>
          <a:p>
            <a:pPr marL="287020">
              <a:lnSpc>
                <a:spcPts val="2280"/>
              </a:lnSpc>
            </a:pPr>
            <a:r>
              <a:rPr sz="2000" spc="85" dirty="0">
                <a:latin typeface="Cambria"/>
                <a:cs typeface="Cambria"/>
              </a:rPr>
              <a:t>Indetitas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seperti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Phising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dan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Pharming</a:t>
            </a:r>
            <a:endParaRPr sz="20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6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05" dirty="0">
                <a:latin typeface="Cambria"/>
                <a:cs typeface="Cambria"/>
              </a:rPr>
              <a:t>Adanya Ancaman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Internal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seperti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Karyawan.</a:t>
            </a:r>
            <a:endParaRPr sz="20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59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05" dirty="0">
                <a:latin typeface="Cambria"/>
                <a:cs typeface="Cambria"/>
              </a:rPr>
              <a:t>Adanya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Kerentanan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Software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i="1" spc="65" dirty="0">
                <a:latin typeface="Cambria"/>
                <a:cs typeface="Cambria"/>
              </a:rPr>
              <a:t>(Malware)</a:t>
            </a:r>
            <a:r>
              <a:rPr sz="2000" i="1" spc="114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seperti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Windows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593" y="171399"/>
            <a:ext cx="7021195" cy="850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pc="290" dirty="0"/>
              <a:t>NILAI</a:t>
            </a:r>
            <a:r>
              <a:rPr spc="85" dirty="0"/>
              <a:t> </a:t>
            </a:r>
            <a:r>
              <a:rPr spc="305" dirty="0"/>
              <a:t>BISNIS</a:t>
            </a:r>
            <a:r>
              <a:rPr spc="80" dirty="0"/>
              <a:t> </a:t>
            </a:r>
            <a:r>
              <a:rPr spc="280" dirty="0"/>
              <a:t>DARI</a:t>
            </a:r>
            <a:r>
              <a:rPr spc="85" dirty="0"/>
              <a:t> </a:t>
            </a:r>
            <a:r>
              <a:rPr spc="345" dirty="0"/>
              <a:t>PENGAMANAN</a:t>
            </a:r>
            <a:r>
              <a:rPr spc="20" dirty="0"/>
              <a:t> </a:t>
            </a:r>
            <a:r>
              <a:rPr spc="325" dirty="0"/>
              <a:t>DAN </a:t>
            </a:r>
            <a:r>
              <a:rPr spc="-580" dirty="0"/>
              <a:t> </a:t>
            </a:r>
            <a:r>
              <a:rPr spc="340" dirty="0"/>
              <a:t>PENGENDALIAN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590" y="1008329"/>
            <a:ext cx="8131809" cy="5699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655" algn="l"/>
                <a:tab pos="2128520" algn="l"/>
                <a:tab pos="2750185" algn="l"/>
                <a:tab pos="3875404" algn="l"/>
                <a:tab pos="5296535" algn="l"/>
                <a:tab pos="6418580" algn="l"/>
                <a:tab pos="7312025" algn="l"/>
              </a:tabLst>
            </a:pPr>
            <a:r>
              <a:rPr sz="2200" spc="215" dirty="0">
                <a:latin typeface="Cambria"/>
                <a:cs typeface="Cambria"/>
              </a:rPr>
              <a:t>P</a:t>
            </a:r>
            <a:r>
              <a:rPr sz="2200" spc="85" dirty="0">
                <a:latin typeface="Cambria"/>
                <a:cs typeface="Cambria"/>
              </a:rPr>
              <a:t>en</a:t>
            </a:r>
            <a:r>
              <a:rPr sz="2200" spc="60" dirty="0">
                <a:latin typeface="Cambria"/>
                <a:cs typeface="Cambria"/>
              </a:rPr>
              <a:t>g</a:t>
            </a:r>
            <a:r>
              <a:rPr sz="2200" spc="135" dirty="0">
                <a:latin typeface="Cambria"/>
                <a:cs typeface="Cambria"/>
              </a:rPr>
              <a:t>ama</a:t>
            </a:r>
            <a:r>
              <a:rPr sz="2200" spc="120" dirty="0">
                <a:latin typeface="Cambria"/>
                <a:cs typeface="Cambria"/>
              </a:rPr>
              <a:t>na</a:t>
            </a:r>
            <a:r>
              <a:rPr sz="2200" spc="145" dirty="0">
                <a:latin typeface="Cambria"/>
                <a:cs typeface="Cambria"/>
              </a:rPr>
              <a:t>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100" dirty="0">
                <a:latin typeface="Cambria"/>
                <a:cs typeface="Cambria"/>
              </a:rPr>
              <a:t>da</a:t>
            </a:r>
            <a:r>
              <a:rPr sz="2200" spc="110" dirty="0">
                <a:latin typeface="Cambria"/>
                <a:cs typeface="Cambria"/>
              </a:rPr>
              <a:t>n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335" dirty="0">
                <a:latin typeface="Cambria"/>
                <a:cs typeface="Cambria"/>
              </a:rPr>
              <a:t>K</a:t>
            </a:r>
            <a:r>
              <a:rPr sz="2200" spc="65" dirty="0">
                <a:latin typeface="Cambria"/>
                <a:cs typeface="Cambria"/>
              </a:rPr>
              <a:t>on</a:t>
            </a:r>
            <a:r>
              <a:rPr sz="2200" spc="15" dirty="0">
                <a:latin typeface="Cambria"/>
                <a:cs typeface="Cambria"/>
              </a:rPr>
              <a:t>t</a:t>
            </a:r>
            <a:r>
              <a:rPr sz="2200" spc="35" dirty="0">
                <a:latin typeface="Cambria"/>
                <a:cs typeface="Cambria"/>
              </a:rPr>
              <a:t>rol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80" dirty="0">
                <a:latin typeface="Cambria"/>
                <a:cs typeface="Cambria"/>
              </a:rPr>
              <a:t>s</a:t>
            </a:r>
            <a:r>
              <a:rPr sz="2200" spc="120" dirty="0">
                <a:latin typeface="Cambria"/>
                <a:cs typeface="Cambria"/>
              </a:rPr>
              <a:t>a</a:t>
            </a:r>
            <a:r>
              <a:rPr sz="2200" spc="135" dirty="0">
                <a:latin typeface="Cambria"/>
                <a:cs typeface="Cambria"/>
              </a:rPr>
              <a:t>n</a:t>
            </a:r>
            <a:r>
              <a:rPr sz="2200" spc="85" dirty="0">
                <a:latin typeface="Cambria"/>
                <a:cs typeface="Cambria"/>
              </a:rPr>
              <a:t>g</a:t>
            </a:r>
            <a:r>
              <a:rPr sz="2200" spc="155" dirty="0">
                <a:latin typeface="Cambria"/>
                <a:cs typeface="Cambria"/>
              </a:rPr>
              <a:t>a</a:t>
            </a:r>
            <a:r>
              <a:rPr sz="2200" spc="85" dirty="0">
                <a:latin typeface="Cambria"/>
                <a:cs typeface="Cambria"/>
              </a:rPr>
              <a:t>t</a:t>
            </a:r>
            <a:r>
              <a:rPr sz="2200" spc="130" dirty="0">
                <a:latin typeface="Cambria"/>
                <a:cs typeface="Cambria"/>
              </a:rPr>
              <a:t>lah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60" dirty="0">
                <a:latin typeface="Cambria"/>
                <a:cs typeface="Cambria"/>
              </a:rPr>
              <a:t>pe</a:t>
            </a:r>
            <a:r>
              <a:rPr sz="2200" spc="35" dirty="0">
                <a:latin typeface="Cambria"/>
                <a:cs typeface="Cambria"/>
              </a:rPr>
              <a:t>n</a:t>
            </a:r>
            <a:r>
              <a:rPr sz="2200" spc="90" dirty="0">
                <a:latin typeface="Cambria"/>
                <a:cs typeface="Cambria"/>
              </a:rPr>
              <a:t>tin</a:t>
            </a:r>
            <a:r>
              <a:rPr sz="2200" spc="125" dirty="0">
                <a:latin typeface="Cambria"/>
                <a:cs typeface="Cambria"/>
              </a:rPr>
              <a:t>g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85" dirty="0">
                <a:latin typeface="Cambria"/>
                <a:cs typeface="Cambria"/>
              </a:rPr>
              <a:t>te</a:t>
            </a:r>
            <a:r>
              <a:rPr sz="2200" spc="75" dirty="0">
                <a:latin typeface="Cambria"/>
                <a:cs typeface="Cambria"/>
              </a:rPr>
              <a:t>t</a:t>
            </a:r>
            <a:r>
              <a:rPr sz="2200" spc="125" dirty="0">
                <a:latin typeface="Cambria"/>
                <a:cs typeface="Cambria"/>
              </a:rPr>
              <a:t>a</a:t>
            </a:r>
            <a:r>
              <a:rPr sz="2200" spc="80" dirty="0">
                <a:latin typeface="Cambria"/>
                <a:cs typeface="Cambria"/>
              </a:rPr>
              <a:t>p</a:t>
            </a:r>
            <a:r>
              <a:rPr sz="2200" spc="40" dirty="0">
                <a:latin typeface="Cambria"/>
                <a:cs typeface="Cambria"/>
              </a:rPr>
              <a:t>i</a:t>
            </a:r>
            <a:r>
              <a:rPr sz="2200" dirty="0">
                <a:latin typeface="Cambria"/>
                <a:cs typeface="Cambria"/>
              </a:rPr>
              <a:t>	</a:t>
            </a:r>
            <a:r>
              <a:rPr sz="2200" spc="80" dirty="0">
                <a:latin typeface="Cambria"/>
                <a:cs typeface="Cambria"/>
              </a:rPr>
              <a:t>sering</a:t>
            </a:r>
            <a:endParaRPr sz="22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2200" spc="100" dirty="0">
                <a:latin typeface="Cambria"/>
                <a:cs typeface="Cambria"/>
              </a:rPr>
              <a:t>diabaikan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dalam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melakukan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investasi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sistem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informasi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mbria"/>
              <a:cs typeface="Cambria"/>
            </a:endParaRPr>
          </a:p>
          <a:p>
            <a:pPr marL="287020" marR="6350" indent="-274955" algn="just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655" algn="l"/>
              </a:tabLst>
            </a:pPr>
            <a:r>
              <a:rPr sz="2200" spc="120" dirty="0">
                <a:latin typeface="Cambria"/>
                <a:cs typeface="Cambria"/>
              </a:rPr>
              <a:t>Perusahaan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</a:t>
            </a:r>
            <a:r>
              <a:rPr sz="2200" spc="110" dirty="0">
                <a:latin typeface="Cambria"/>
                <a:cs typeface="Cambria"/>
              </a:rPr>
              <a:t> mengandalkan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sistem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komputer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untuk 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melakukan </a:t>
            </a:r>
            <a:r>
              <a:rPr sz="2200" spc="85" dirty="0">
                <a:latin typeface="Cambria"/>
                <a:cs typeface="Cambria"/>
              </a:rPr>
              <a:t>fungsi-fungsi </a:t>
            </a:r>
            <a:r>
              <a:rPr sz="2200" spc="65" dirty="0">
                <a:latin typeface="Cambria"/>
                <a:cs typeface="Cambria"/>
              </a:rPr>
              <a:t>bisnis </a:t>
            </a:r>
            <a:r>
              <a:rPr sz="2200" spc="120" dirty="0">
                <a:latin typeface="Cambria"/>
                <a:cs typeface="Cambria"/>
              </a:rPr>
              <a:t>utamanya </a:t>
            </a:r>
            <a:r>
              <a:rPr sz="2200" spc="95" dirty="0">
                <a:latin typeface="Cambria"/>
                <a:cs typeface="Cambria"/>
              </a:rPr>
              <a:t>dapat </a:t>
            </a:r>
            <a:r>
              <a:rPr sz="2200" spc="105" dirty="0">
                <a:latin typeface="Cambria"/>
                <a:cs typeface="Cambria"/>
              </a:rPr>
              <a:t>mengalami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kerugian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penjualan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dan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produktivitas,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karena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hilangnya 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aset </a:t>
            </a:r>
            <a:r>
              <a:rPr sz="2200" spc="70" dirty="0">
                <a:latin typeface="Cambria"/>
                <a:cs typeface="Cambria"/>
              </a:rPr>
              <a:t>informasi </a:t>
            </a:r>
            <a:r>
              <a:rPr sz="2200" spc="55" dirty="0">
                <a:latin typeface="Cambria"/>
                <a:cs typeface="Cambria"/>
              </a:rPr>
              <a:t>seperti </a:t>
            </a:r>
            <a:r>
              <a:rPr sz="2200" spc="30" dirty="0">
                <a:latin typeface="Cambria"/>
                <a:cs typeface="Cambria"/>
              </a:rPr>
              <a:t>: </a:t>
            </a:r>
            <a:r>
              <a:rPr sz="2200" spc="110" dirty="0">
                <a:latin typeface="Cambria"/>
                <a:cs typeface="Cambria"/>
              </a:rPr>
              <a:t>catatan </a:t>
            </a:r>
            <a:r>
              <a:rPr sz="2200" spc="114" dirty="0">
                <a:latin typeface="Cambria"/>
                <a:cs typeface="Cambria"/>
              </a:rPr>
              <a:t>rahasia </a:t>
            </a:r>
            <a:r>
              <a:rPr sz="2200" spc="110" dirty="0">
                <a:latin typeface="Cambria"/>
                <a:cs typeface="Cambria"/>
              </a:rPr>
              <a:t>karyawan, rahasia 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dagang,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35" dirty="0">
                <a:latin typeface="Cambria"/>
                <a:cs typeface="Cambria"/>
              </a:rPr>
              <a:t>atau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rencana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usaha </a:t>
            </a:r>
            <a:r>
              <a:rPr sz="2200" spc="105" dirty="0">
                <a:latin typeface="Cambria"/>
                <a:cs typeface="Cambria"/>
              </a:rPr>
              <a:t>perusahaan.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D8537"/>
              </a:buClr>
              <a:buFont typeface="Wingdings"/>
              <a:buChar char=""/>
            </a:pPr>
            <a:endParaRPr sz="325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655" algn="l"/>
              </a:tabLst>
            </a:pPr>
            <a:r>
              <a:rPr sz="2200" spc="120" dirty="0">
                <a:latin typeface="Cambria"/>
                <a:cs typeface="Cambria"/>
              </a:rPr>
              <a:t>Undang-undang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sepeti</a:t>
            </a:r>
            <a:r>
              <a:rPr sz="2200" spc="605" dirty="0">
                <a:latin typeface="Cambria"/>
                <a:cs typeface="Cambria"/>
              </a:rPr>
              <a:t> </a:t>
            </a:r>
            <a:r>
              <a:rPr sz="2200" spc="229" dirty="0">
                <a:latin typeface="Cambria"/>
                <a:cs typeface="Cambria"/>
              </a:rPr>
              <a:t>HIPPA</a:t>
            </a:r>
            <a:r>
              <a:rPr sz="2200" spc="23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(Health</a:t>
            </a:r>
            <a:r>
              <a:rPr sz="2200" spc="69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Insurance 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portability </a:t>
            </a:r>
            <a:r>
              <a:rPr sz="2200" spc="100" dirty="0">
                <a:latin typeface="Cambria"/>
                <a:cs typeface="Cambria"/>
              </a:rPr>
              <a:t>and </a:t>
            </a:r>
            <a:r>
              <a:rPr sz="2200" spc="75" dirty="0">
                <a:latin typeface="Cambria"/>
                <a:cs typeface="Cambria"/>
              </a:rPr>
              <a:t>Accountability </a:t>
            </a:r>
            <a:r>
              <a:rPr sz="2200" spc="55" dirty="0">
                <a:latin typeface="Cambria"/>
                <a:cs typeface="Cambria"/>
              </a:rPr>
              <a:t>Act) </a:t>
            </a:r>
            <a:r>
              <a:rPr sz="2200" spc="30" dirty="0">
                <a:latin typeface="Cambria"/>
                <a:cs typeface="Cambria"/>
              </a:rPr>
              <a:t>1996,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Sarbanes </a:t>
            </a:r>
            <a:r>
              <a:rPr sz="2200" spc="105" dirty="0">
                <a:latin typeface="Tahoma"/>
                <a:cs typeface="Tahoma"/>
              </a:rPr>
              <a:t>–</a:t>
            </a:r>
            <a:r>
              <a:rPr sz="2200" spc="105" dirty="0">
                <a:latin typeface="Cambria"/>
                <a:cs typeface="Cambria"/>
              </a:rPr>
              <a:t>Oxley 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dan</a:t>
            </a:r>
            <a:r>
              <a:rPr sz="2200" spc="110" dirty="0">
                <a:latin typeface="Cambria"/>
                <a:cs typeface="Cambria"/>
              </a:rPr>
              <a:t> Gramm-Leach-Billey,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Informasi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dan</a:t>
            </a:r>
            <a:r>
              <a:rPr sz="2200" spc="110" dirty="0">
                <a:latin typeface="Cambria"/>
                <a:cs typeface="Cambria"/>
              </a:rPr>
              <a:t> Transaksi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Elektronik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(ITE)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mengharuskan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perusahaan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30" dirty="0">
                <a:latin typeface="Cambria"/>
                <a:cs typeface="Cambria"/>
              </a:rPr>
              <a:t>untuk 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mempraktekan </a:t>
            </a:r>
            <a:r>
              <a:rPr sz="2200" spc="95" dirty="0">
                <a:latin typeface="Cambria"/>
                <a:cs typeface="Cambria"/>
              </a:rPr>
              <a:t>manajemen </a:t>
            </a:r>
            <a:r>
              <a:rPr sz="2200" spc="110" dirty="0">
                <a:latin typeface="Cambria"/>
                <a:cs typeface="Cambria"/>
              </a:rPr>
              <a:t>catatan </a:t>
            </a:r>
            <a:r>
              <a:rPr sz="2200" spc="70" dirty="0">
                <a:latin typeface="Cambria"/>
                <a:cs typeface="Cambria"/>
              </a:rPr>
              <a:t>elektronik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 </a:t>
            </a:r>
            <a:r>
              <a:rPr sz="2200" spc="110" dirty="0">
                <a:latin typeface="Cambria"/>
                <a:cs typeface="Cambria"/>
              </a:rPr>
              <a:t>ketat 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dan</a:t>
            </a:r>
            <a:r>
              <a:rPr sz="2200" spc="105" dirty="0">
                <a:latin typeface="Cambria"/>
                <a:cs typeface="Cambria"/>
              </a:rPr>
              <a:t> mematuhi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standar-standar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tegas</a:t>
            </a:r>
            <a:r>
              <a:rPr sz="2200" spc="65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dalam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hal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pengamanan,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privasi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dan </a:t>
            </a:r>
            <a:r>
              <a:rPr sz="2200" spc="75" dirty="0">
                <a:latin typeface="Cambria"/>
                <a:cs typeface="Cambria"/>
              </a:rPr>
              <a:t>kontrol.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60" dirty="0"/>
              <a:t>MENETAPKAN</a:t>
            </a:r>
            <a:r>
              <a:rPr sz="3000" spc="175" dirty="0"/>
              <a:t> </a:t>
            </a:r>
            <a:r>
              <a:rPr sz="3000" spc="385" dirty="0"/>
              <a:t>KERANGKA</a:t>
            </a:r>
            <a:r>
              <a:rPr sz="3000" spc="170" dirty="0"/>
              <a:t> </a:t>
            </a:r>
            <a:r>
              <a:rPr sz="3000" spc="445" dirty="0"/>
              <a:t>KERJA</a:t>
            </a:r>
            <a:r>
              <a:rPr sz="3000" spc="150" dirty="0"/>
              <a:t> </a:t>
            </a:r>
            <a:r>
              <a:rPr sz="3000" spc="415" dirty="0"/>
              <a:t>UNTUK </a:t>
            </a:r>
            <a:r>
              <a:rPr sz="3000" spc="-645" dirty="0"/>
              <a:t> </a:t>
            </a:r>
            <a:r>
              <a:rPr sz="3000" spc="370" dirty="0"/>
              <a:t>PENGAMANAN</a:t>
            </a:r>
            <a:r>
              <a:rPr sz="3000" spc="190" dirty="0"/>
              <a:t> </a:t>
            </a:r>
            <a:r>
              <a:rPr sz="3000" spc="345" dirty="0"/>
              <a:t>DAN</a:t>
            </a:r>
            <a:r>
              <a:rPr sz="3000" spc="165" dirty="0"/>
              <a:t> </a:t>
            </a:r>
            <a:r>
              <a:rPr sz="3000" spc="370" dirty="0"/>
              <a:t>PENGENDALIAN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6244" y="1551432"/>
            <a:ext cx="5634990" cy="30448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Penilaian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resiko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(Risk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Assessment)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0" dirty="0">
                <a:latin typeface="Cambria"/>
                <a:cs typeface="Cambria"/>
              </a:rPr>
              <a:t>Kebijakan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Pengamanan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5" dirty="0">
                <a:latin typeface="Cambria"/>
                <a:cs typeface="Cambria"/>
              </a:rPr>
              <a:t>Memastikan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Keberlangsungan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Bisnis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0" dirty="0">
                <a:latin typeface="Cambria"/>
                <a:cs typeface="Cambria"/>
              </a:rPr>
              <a:t>Perencanaan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Pemulihan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bencana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endParaRPr sz="24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</a:pPr>
            <a:r>
              <a:rPr sz="2400" spc="110" dirty="0">
                <a:latin typeface="Cambria"/>
                <a:cs typeface="Cambria"/>
              </a:rPr>
              <a:t>Perencanaan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keberlangsungan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Bisnis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40" dirty="0">
                <a:latin typeface="Cambria"/>
                <a:cs typeface="Cambria"/>
              </a:rPr>
              <a:t>Alih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kontrak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pengamanan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Peran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Proses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Audit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280161"/>
            <a:ext cx="60610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70" dirty="0"/>
              <a:t>TEKNOLOGI</a:t>
            </a:r>
            <a:r>
              <a:rPr sz="3000" spc="180" dirty="0"/>
              <a:t> </a:t>
            </a:r>
            <a:r>
              <a:rPr sz="3000" spc="340" dirty="0"/>
              <a:t>DAN</a:t>
            </a:r>
            <a:r>
              <a:rPr sz="3000" spc="180" dirty="0"/>
              <a:t> </a:t>
            </a:r>
            <a:r>
              <a:rPr sz="3000" spc="345" dirty="0"/>
              <a:t>PERANGKAT </a:t>
            </a:r>
            <a:r>
              <a:rPr sz="3000" spc="-645" dirty="0"/>
              <a:t> </a:t>
            </a:r>
            <a:r>
              <a:rPr sz="3000" spc="365" dirty="0"/>
              <a:t>PENGAMANAN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29590" y="1298905"/>
            <a:ext cx="8325484" cy="507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350" indent="-274955" algn="just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100" dirty="0">
                <a:latin typeface="Cambria"/>
                <a:cs typeface="Cambria"/>
              </a:rPr>
              <a:t>Menggunakan </a:t>
            </a:r>
            <a:r>
              <a:rPr sz="1800" spc="60" dirty="0">
                <a:latin typeface="Cambria"/>
                <a:cs typeface="Cambria"/>
              </a:rPr>
              <a:t>Kontrol </a:t>
            </a:r>
            <a:r>
              <a:rPr sz="1800" spc="80" dirty="0">
                <a:latin typeface="Cambria"/>
                <a:cs typeface="Cambria"/>
              </a:rPr>
              <a:t>Akses </a:t>
            </a:r>
            <a:r>
              <a:rPr sz="1800" i="1" spc="30" dirty="0">
                <a:latin typeface="Cambria"/>
                <a:cs typeface="Cambria"/>
              </a:rPr>
              <a:t>(acess control) </a:t>
            </a:r>
            <a:r>
              <a:rPr sz="1800" spc="50" dirty="0">
                <a:latin typeface="Cambria"/>
                <a:cs typeface="Cambria"/>
              </a:rPr>
              <a:t>terdiri </a:t>
            </a:r>
            <a:r>
              <a:rPr sz="1800" spc="95" dirty="0">
                <a:latin typeface="Cambria"/>
                <a:cs typeface="Cambria"/>
              </a:rPr>
              <a:t>atas </a:t>
            </a:r>
            <a:r>
              <a:rPr sz="1800" spc="80" dirty="0">
                <a:latin typeface="Cambria"/>
                <a:cs typeface="Cambria"/>
              </a:rPr>
              <a:t>semua </a:t>
            </a:r>
            <a:r>
              <a:rPr sz="1800" spc="75" dirty="0">
                <a:latin typeface="Cambria"/>
                <a:cs typeface="Cambria"/>
              </a:rPr>
              <a:t>kebijakan </a:t>
            </a:r>
            <a:r>
              <a:rPr sz="1800" spc="80" dirty="0">
                <a:latin typeface="Cambria"/>
                <a:cs typeface="Cambria"/>
              </a:rPr>
              <a:t> dan </a:t>
            </a:r>
            <a:r>
              <a:rPr sz="1800" spc="35" dirty="0">
                <a:latin typeface="Cambria"/>
                <a:cs typeface="Cambria"/>
              </a:rPr>
              <a:t>prosedur  </a:t>
            </a:r>
            <a:r>
              <a:rPr sz="1800" spc="85" dirty="0">
                <a:latin typeface="Cambria"/>
                <a:cs typeface="Cambria"/>
              </a:rPr>
              <a:t>yang digunakan </a:t>
            </a:r>
            <a:r>
              <a:rPr sz="1800" spc="80" dirty="0">
                <a:latin typeface="Cambria"/>
                <a:cs typeface="Cambria"/>
              </a:rPr>
              <a:t>perusahaan </a:t>
            </a:r>
            <a:r>
              <a:rPr sz="1800" spc="100" dirty="0">
                <a:latin typeface="Cambria"/>
                <a:cs typeface="Cambria"/>
              </a:rPr>
              <a:t>untuk </a:t>
            </a:r>
            <a:r>
              <a:rPr sz="1800" spc="65" dirty="0">
                <a:latin typeface="Cambria"/>
                <a:cs typeface="Cambria"/>
              </a:rPr>
              <a:t>mencegah </a:t>
            </a:r>
            <a:r>
              <a:rPr sz="1800" spc="70" dirty="0">
                <a:latin typeface="Cambria"/>
                <a:cs typeface="Cambria"/>
              </a:rPr>
              <a:t>akses </a:t>
            </a:r>
            <a:r>
              <a:rPr sz="1800" spc="85" dirty="0">
                <a:latin typeface="Cambria"/>
                <a:cs typeface="Cambria"/>
              </a:rPr>
              <a:t>tanpa 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izin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kesistem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yang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dilakukan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oleh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pihak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internal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pihak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luar.</a:t>
            </a:r>
            <a:endParaRPr sz="1800">
              <a:latin typeface="Cambria"/>
              <a:cs typeface="Cambria"/>
            </a:endParaRPr>
          </a:p>
          <a:p>
            <a:pPr marL="287020" marR="5715" indent="-274955" algn="just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100" dirty="0">
                <a:latin typeface="Cambria"/>
                <a:cs typeface="Cambria"/>
              </a:rPr>
              <a:t>Menggunakan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Autentikasi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(authentication)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adalah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kemampuan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untuk 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mengetahui </a:t>
            </a:r>
            <a:r>
              <a:rPr sz="1800" spc="75" dirty="0">
                <a:latin typeface="Cambria"/>
                <a:cs typeface="Cambria"/>
              </a:rPr>
              <a:t>siapa pengguna </a:t>
            </a:r>
            <a:r>
              <a:rPr sz="1800" spc="95" dirty="0">
                <a:latin typeface="Cambria"/>
                <a:cs typeface="Cambria"/>
              </a:rPr>
              <a:t>itu. </a:t>
            </a:r>
            <a:r>
              <a:rPr sz="1800" spc="45" dirty="0">
                <a:latin typeface="Cambria"/>
                <a:cs typeface="Cambria"/>
              </a:rPr>
              <a:t>Teknologi </a:t>
            </a:r>
            <a:r>
              <a:rPr sz="1800" spc="85" dirty="0">
                <a:latin typeface="Cambria"/>
                <a:cs typeface="Cambria"/>
              </a:rPr>
              <a:t>yang </a:t>
            </a:r>
            <a:r>
              <a:rPr sz="1800" spc="75" dirty="0">
                <a:latin typeface="Cambria"/>
                <a:cs typeface="Cambria"/>
              </a:rPr>
              <a:t>dipakai </a:t>
            </a:r>
            <a:r>
              <a:rPr sz="1800" spc="45" dirty="0">
                <a:latin typeface="Cambria"/>
                <a:cs typeface="Cambria"/>
              </a:rPr>
              <a:t>seperti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3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Token, 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Smart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Card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Biometrik.</a:t>
            </a:r>
            <a:endParaRPr sz="180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100" dirty="0">
                <a:latin typeface="Cambria"/>
                <a:cs typeface="Cambria"/>
              </a:rPr>
              <a:t>Menggunakan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Firewall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merupakan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kombinasi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Hardware  dan  </a:t>
            </a:r>
            <a:r>
              <a:rPr sz="1800" spc="40" dirty="0">
                <a:latin typeface="Cambria"/>
                <a:cs typeface="Cambria"/>
              </a:rPr>
              <a:t>software 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yang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mengendalikan</a:t>
            </a:r>
            <a:r>
              <a:rPr sz="1800" spc="80" dirty="0">
                <a:latin typeface="Cambria"/>
                <a:cs typeface="Cambria"/>
              </a:rPr>
              <a:t> arus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lalu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lintas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jaringan</a:t>
            </a:r>
            <a:r>
              <a:rPr sz="1800" spc="85" dirty="0">
                <a:latin typeface="Cambria"/>
                <a:cs typeface="Cambria"/>
              </a:rPr>
              <a:t> yang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masuk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85" dirty="0">
                <a:latin typeface="Cambria"/>
                <a:cs typeface="Cambria"/>
              </a:rPr>
              <a:t> keluar.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Secara </a:t>
            </a:r>
            <a:r>
              <a:rPr sz="1800" spc="105" dirty="0">
                <a:latin typeface="Cambria"/>
                <a:cs typeface="Cambria"/>
              </a:rPr>
              <a:t>umum </a:t>
            </a:r>
            <a:r>
              <a:rPr sz="1800" spc="75" dirty="0">
                <a:latin typeface="Cambria"/>
                <a:cs typeface="Cambria"/>
              </a:rPr>
              <a:t>diletakan </a:t>
            </a:r>
            <a:r>
              <a:rPr sz="1800" spc="95" dirty="0">
                <a:latin typeface="Cambria"/>
                <a:cs typeface="Cambria"/>
              </a:rPr>
              <a:t>antara </a:t>
            </a:r>
            <a:r>
              <a:rPr sz="1800" spc="85" dirty="0">
                <a:latin typeface="Cambria"/>
                <a:cs typeface="Cambria"/>
              </a:rPr>
              <a:t>jaringan </a:t>
            </a:r>
            <a:r>
              <a:rPr sz="1800" spc="75" dirty="0">
                <a:latin typeface="Cambria"/>
                <a:cs typeface="Cambria"/>
              </a:rPr>
              <a:t>internal </a:t>
            </a:r>
            <a:r>
              <a:rPr sz="1800" spc="45" dirty="0">
                <a:latin typeface="Cambria"/>
                <a:cs typeface="Cambria"/>
              </a:rPr>
              <a:t>pribadi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organisasi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 </a:t>
            </a:r>
            <a:r>
              <a:rPr sz="1800" spc="85" dirty="0">
                <a:latin typeface="Cambria"/>
                <a:cs typeface="Cambria"/>
              </a:rPr>
              <a:t> jaringan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ekternal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yang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tidak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dipercaya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seperti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Internet.</a:t>
            </a:r>
            <a:endParaRPr sz="180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95" dirty="0">
                <a:latin typeface="Cambria"/>
                <a:cs typeface="Cambria"/>
              </a:rPr>
              <a:t>Sistem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Deteksi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Ganguan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i="1" spc="45" dirty="0">
                <a:latin typeface="Cambria"/>
                <a:cs typeface="Cambria"/>
              </a:rPr>
              <a:t>(Network</a:t>
            </a:r>
            <a:r>
              <a:rPr sz="1800" i="1" spc="50" dirty="0">
                <a:latin typeface="Cambria"/>
                <a:cs typeface="Cambria"/>
              </a:rPr>
              <a:t> Detection</a:t>
            </a:r>
            <a:r>
              <a:rPr sz="1800" i="1" spc="55" dirty="0">
                <a:latin typeface="Cambria"/>
                <a:cs typeface="Cambria"/>
              </a:rPr>
              <a:t> </a:t>
            </a:r>
            <a:r>
              <a:rPr sz="1800" i="1" spc="85" dirty="0">
                <a:latin typeface="Cambria"/>
                <a:cs typeface="Cambria"/>
              </a:rPr>
              <a:t>System)</a:t>
            </a:r>
            <a:r>
              <a:rPr sz="1800" i="1" spc="9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menggunakan 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perangkat </a:t>
            </a:r>
            <a:r>
              <a:rPr sz="1800" spc="85" dirty="0">
                <a:latin typeface="Cambria"/>
                <a:cs typeface="Cambria"/>
              </a:rPr>
              <a:t>yang </a:t>
            </a:r>
            <a:r>
              <a:rPr sz="1800" spc="70" dirty="0">
                <a:latin typeface="Cambria"/>
                <a:cs typeface="Cambria"/>
              </a:rPr>
              <a:t>selalu </a:t>
            </a:r>
            <a:r>
              <a:rPr sz="1800" spc="80" dirty="0">
                <a:latin typeface="Cambria"/>
                <a:cs typeface="Cambria"/>
              </a:rPr>
              <a:t>aktif </a:t>
            </a:r>
            <a:r>
              <a:rPr sz="1800" spc="95" dirty="0">
                <a:latin typeface="Cambria"/>
                <a:cs typeface="Cambria"/>
              </a:rPr>
              <a:t>melakukan </a:t>
            </a:r>
            <a:r>
              <a:rPr sz="1800" spc="85" dirty="0">
                <a:latin typeface="Cambria"/>
                <a:cs typeface="Cambria"/>
              </a:rPr>
              <a:t>pemantauan </a:t>
            </a:r>
            <a:r>
              <a:rPr sz="1800" spc="80" dirty="0">
                <a:latin typeface="Cambria"/>
                <a:cs typeface="Cambria"/>
              </a:rPr>
              <a:t>yang diletakan </a:t>
            </a:r>
            <a:r>
              <a:rPr sz="1800" spc="60" dirty="0">
                <a:latin typeface="Cambria"/>
                <a:cs typeface="Cambria"/>
              </a:rPr>
              <a:t>dititik-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titik yang </a:t>
            </a:r>
            <a:r>
              <a:rPr sz="1800" spc="70" dirty="0">
                <a:latin typeface="Cambria"/>
                <a:cs typeface="Cambria"/>
              </a:rPr>
              <a:t>paling </a:t>
            </a:r>
            <a:r>
              <a:rPr sz="1800" spc="75" dirty="0">
                <a:latin typeface="Cambria"/>
                <a:cs typeface="Cambria"/>
              </a:rPr>
              <a:t>rentan </a:t>
            </a:r>
            <a:r>
              <a:rPr sz="1800" spc="80" dirty="0">
                <a:latin typeface="Cambria"/>
                <a:cs typeface="Cambria"/>
              </a:rPr>
              <a:t>dalam </a:t>
            </a:r>
            <a:r>
              <a:rPr sz="1800" spc="85" dirty="0">
                <a:latin typeface="Cambria"/>
                <a:cs typeface="Cambria"/>
              </a:rPr>
              <a:t>jaringan </a:t>
            </a:r>
            <a:r>
              <a:rPr sz="1800" spc="80" dirty="0">
                <a:latin typeface="Cambria"/>
                <a:cs typeface="Cambria"/>
              </a:rPr>
              <a:t>perushaaan </a:t>
            </a:r>
            <a:r>
              <a:rPr sz="1800" spc="95" dirty="0">
                <a:latin typeface="Cambria"/>
                <a:cs typeface="Cambria"/>
              </a:rPr>
              <a:t>untuk </a:t>
            </a:r>
            <a:r>
              <a:rPr sz="1800" spc="60" dirty="0">
                <a:latin typeface="Cambria"/>
                <a:cs typeface="Cambria"/>
              </a:rPr>
              <a:t>secara </a:t>
            </a:r>
            <a:r>
              <a:rPr sz="1800" spc="65" dirty="0">
                <a:latin typeface="Cambria"/>
                <a:cs typeface="Cambria"/>
              </a:rPr>
              <a:t>kontinyu 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mendeteksi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90" dirty="0">
                <a:latin typeface="Cambria"/>
                <a:cs typeface="Cambria"/>
              </a:rPr>
              <a:t> menghalangi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para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penyusup</a:t>
            </a:r>
            <a:endParaRPr sz="180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105" dirty="0">
                <a:latin typeface="Cambria"/>
                <a:cs typeface="Cambria"/>
              </a:rPr>
              <a:t>Mengunakan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Software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antivirus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Antispyware</a:t>
            </a:r>
            <a:endParaRPr sz="1800">
              <a:latin typeface="Cambria"/>
              <a:cs typeface="Cambria"/>
            </a:endParaRPr>
          </a:p>
          <a:p>
            <a:pPr marL="287020" marR="7620" indent="-274955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444"/>
              <a:buFont typeface="Wingdings"/>
              <a:buChar char=""/>
              <a:tabLst>
                <a:tab pos="287655" algn="l"/>
              </a:tabLst>
            </a:pPr>
            <a:r>
              <a:rPr sz="1800" spc="110" dirty="0">
                <a:latin typeface="Cambria"/>
                <a:cs typeface="Cambria"/>
              </a:rPr>
              <a:t>Mengamankan </a:t>
            </a:r>
            <a:r>
              <a:rPr sz="1800" spc="130" dirty="0">
                <a:latin typeface="Cambria"/>
                <a:cs typeface="Cambria"/>
              </a:rPr>
              <a:t>Jaringan </a:t>
            </a:r>
            <a:r>
              <a:rPr sz="1800" spc="85" dirty="0">
                <a:latin typeface="Cambria"/>
                <a:cs typeface="Cambria"/>
              </a:rPr>
              <a:t>Nirkabel </a:t>
            </a:r>
            <a:r>
              <a:rPr sz="1800" spc="90" dirty="0">
                <a:latin typeface="Cambria"/>
                <a:cs typeface="Cambria"/>
              </a:rPr>
              <a:t>menggunakan </a:t>
            </a:r>
            <a:r>
              <a:rPr sz="1800" spc="185" dirty="0">
                <a:latin typeface="Cambria"/>
                <a:cs typeface="Cambria"/>
              </a:rPr>
              <a:t>WEP </a:t>
            </a:r>
            <a:r>
              <a:rPr sz="1800" i="1" spc="50" dirty="0">
                <a:latin typeface="Cambria"/>
                <a:cs typeface="Cambria"/>
              </a:rPr>
              <a:t>(wired </a:t>
            </a:r>
            <a:r>
              <a:rPr sz="1800" i="1" spc="100" dirty="0">
                <a:latin typeface="Cambria"/>
                <a:cs typeface="Cambria"/>
              </a:rPr>
              <a:t>Equivalent </a:t>
            </a:r>
            <a:r>
              <a:rPr sz="1800" i="1" spc="105" dirty="0">
                <a:latin typeface="Cambria"/>
                <a:cs typeface="Cambria"/>
              </a:rPr>
              <a:t> </a:t>
            </a:r>
            <a:r>
              <a:rPr sz="1800" i="1" spc="70" dirty="0">
                <a:latin typeface="Cambria"/>
                <a:cs typeface="Cambria"/>
              </a:rPr>
              <a:t>Privacy)</a:t>
            </a:r>
            <a:r>
              <a:rPr sz="1800" i="1" spc="8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dan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04" dirty="0">
                <a:latin typeface="Cambria"/>
                <a:cs typeface="Cambria"/>
              </a:rPr>
              <a:t>VPN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i="1" spc="80" dirty="0">
                <a:latin typeface="Cambria"/>
                <a:cs typeface="Cambria"/>
              </a:rPr>
              <a:t>(Virtual</a:t>
            </a:r>
            <a:r>
              <a:rPr sz="1800" i="1" spc="114" dirty="0">
                <a:latin typeface="Cambria"/>
                <a:cs typeface="Cambria"/>
              </a:rPr>
              <a:t> </a:t>
            </a:r>
            <a:r>
              <a:rPr sz="1800" i="1" spc="75" dirty="0">
                <a:latin typeface="Cambria"/>
                <a:cs typeface="Cambria"/>
              </a:rPr>
              <a:t>Private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i="1" spc="50" dirty="0">
                <a:latin typeface="Cambria"/>
                <a:cs typeface="Cambria"/>
              </a:rPr>
              <a:t>Network)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0"/>
            <a:ext cx="606107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70" dirty="0"/>
              <a:t>TEKNOLOGI</a:t>
            </a:r>
            <a:r>
              <a:rPr sz="3000" spc="170" dirty="0"/>
              <a:t> </a:t>
            </a:r>
            <a:r>
              <a:rPr sz="3000" spc="345" dirty="0"/>
              <a:t>DAN</a:t>
            </a:r>
            <a:r>
              <a:rPr sz="3000" spc="175" dirty="0"/>
              <a:t> </a:t>
            </a:r>
            <a:r>
              <a:rPr sz="3000" spc="345" dirty="0"/>
              <a:t>PERANGKAT </a:t>
            </a:r>
            <a:r>
              <a:rPr sz="3000" spc="-650" dirty="0"/>
              <a:t> </a:t>
            </a:r>
            <a:r>
              <a:rPr sz="3000" spc="365" dirty="0"/>
              <a:t>PENGAMANAN</a:t>
            </a:r>
            <a:r>
              <a:rPr sz="3000" spc="190" dirty="0"/>
              <a:t> </a:t>
            </a:r>
            <a:r>
              <a:rPr sz="3000" spc="240" dirty="0"/>
              <a:t>(L</a:t>
            </a:r>
            <a:r>
              <a:rPr sz="2400" spc="240" dirty="0"/>
              <a:t>ANJUTAN</a:t>
            </a:r>
            <a:r>
              <a:rPr sz="3000" spc="240" dirty="0"/>
              <a:t>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78739" y="859282"/>
            <a:ext cx="8991600" cy="398970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0" dirty="0">
                <a:latin typeface="Cambria"/>
                <a:cs typeface="Cambria"/>
              </a:rPr>
              <a:t>Enkripsi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Infrastruktur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Kunci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Publik</a:t>
            </a:r>
            <a:endParaRPr sz="24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0" dirty="0">
                <a:latin typeface="Cambria"/>
                <a:cs typeface="Cambria"/>
              </a:rPr>
              <a:t>Enkripsi</a:t>
            </a:r>
            <a:r>
              <a:rPr sz="2400" spc="125" dirty="0">
                <a:latin typeface="Cambria"/>
                <a:cs typeface="Cambria"/>
              </a:rPr>
              <a:t> adalah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proses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mengubah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teks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atau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biasa 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menjadi </a:t>
            </a:r>
            <a:r>
              <a:rPr sz="2400" spc="95" dirty="0">
                <a:latin typeface="Cambria"/>
                <a:cs typeface="Cambria"/>
              </a:rPr>
              <a:t>teks </a:t>
            </a:r>
            <a:r>
              <a:rPr sz="2400" spc="70" dirty="0">
                <a:latin typeface="Cambria"/>
                <a:cs typeface="Cambria"/>
              </a:rPr>
              <a:t>bersandi </a:t>
            </a:r>
            <a:r>
              <a:rPr sz="2400" spc="120" dirty="0">
                <a:latin typeface="Cambria"/>
                <a:cs typeface="Cambria"/>
              </a:rPr>
              <a:t>rahasia </a:t>
            </a:r>
            <a:r>
              <a:rPr sz="2400" spc="10" dirty="0">
                <a:latin typeface="Cambria"/>
                <a:cs typeface="Cambria"/>
              </a:rPr>
              <a:t>(chipper) </a:t>
            </a:r>
            <a:r>
              <a:rPr sz="2400" spc="100" dirty="0">
                <a:latin typeface="Cambria"/>
                <a:cs typeface="Cambria"/>
              </a:rPr>
              <a:t>sehingga </a:t>
            </a:r>
            <a:r>
              <a:rPr sz="2400" spc="114" dirty="0">
                <a:latin typeface="Cambria"/>
                <a:cs typeface="Cambria"/>
              </a:rPr>
              <a:t>tidak </a:t>
            </a:r>
            <a:r>
              <a:rPr sz="2400" spc="100" dirty="0">
                <a:latin typeface="Cambria"/>
                <a:cs typeface="Cambria"/>
              </a:rPr>
              <a:t>dapat 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dibaca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oleh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siapapun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selain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pengirim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dan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penerima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yang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dimaksudkan.</a:t>
            </a:r>
            <a:endParaRPr sz="240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80" dirty="0">
                <a:latin typeface="Cambria"/>
                <a:cs typeface="Cambria"/>
              </a:rPr>
              <a:t>Data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diekripsi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menggunakan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kode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numerik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rahasia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yang 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dinamakan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kunci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enkripsi.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Pesan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harus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dideskripsi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oleh 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penerima</a:t>
            </a:r>
            <a:endParaRPr sz="2400">
              <a:latin typeface="Cambria"/>
              <a:cs typeface="Cambri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95" dirty="0">
                <a:latin typeface="Cambria"/>
                <a:cs typeface="Cambria"/>
              </a:rPr>
              <a:t>Dua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Metode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Enkripsi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dalam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Web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adalah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305" dirty="0">
                <a:latin typeface="Cambria"/>
                <a:cs typeface="Cambria"/>
              </a:rPr>
              <a:t>SSL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(Secure</a:t>
            </a:r>
            <a:r>
              <a:rPr sz="2400" i="1" spc="375" dirty="0">
                <a:latin typeface="Cambria"/>
                <a:cs typeface="Cambria"/>
              </a:rPr>
              <a:t> </a:t>
            </a:r>
            <a:r>
              <a:rPr sz="2400" i="1" spc="40" dirty="0">
                <a:latin typeface="Cambria"/>
                <a:cs typeface="Cambria"/>
              </a:rPr>
              <a:t>socket</a:t>
            </a:r>
            <a:endParaRPr sz="2400">
              <a:latin typeface="Cambria"/>
              <a:cs typeface="Cambria"/>
            </a:endParaRPr>
          </a:p>
          <a:p>
            <a:pPr marL="287020" algn="just">
              <a:lnSpc>
                <a:spcPct val="100000"/>
              </a:lnSpc>
            </a:pPr>
            <a:r>
              <a:rPr sz="2400" i="1" spc="50" dirty="0">
                <a:latin typeface="Cambria"/>
                <a:cs typeface="Cambria"/>
              </a:rPr>
              <a:t>layer)</a:t>
            </a:r>
            <a:r>
              <a:rPr sz="2400" i="1" spc="330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,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260" dirty="0">
                <a:latin typeface="Cambria"/>
                <a:cs typeface="Cambria"/>
              </a:rPr>
              <a:t>TLS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(Transport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Layer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Security)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dan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spc="204" dirty="0">
                <a:latin typeface="Cambria"/>
                <a:cs typeface="Cambria"/>
              </a:rPr>
              <a:t>S-HTTP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i="1" spc="75" dirty="0">
                <a:latin typeface="Cambria"/>
                <a:cs typeface="Cambria"/>
              </a:rPr>
              <a:t>(Secure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46812"/>
            <a:ext cx="4240530" cy="9105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705"/>
              </a:spcBef>
            </a:pPr>
            <a:r>
              <a:rPr sz="2400" i="1" spc="80" dirty="0">
                <a:latin typeface="Cambria"/>
                <a:cs typeface="Cambria"/>
              </a:rPr>
              <a:t>Hypertext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i="1" spc="110" dirty="0">
                <a:latin typeface="Cambria"/>
                <a:cs typeface="Cambria"/>
              </a:rPr>
              <a:t>Transfer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i="1" spc="20" dirty="0">
                <a:latin typeface="Cambria"/>
                <a:cs typeface="Cambria"/>
              </a:rPr>
              <a:t>protocol)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  <a:tab pos="2710815" algn="l"/>
              </a:tabLst>
            </a:pPr>
            <a:r>
              <a:rPr sz="2400" spc="140" dirty="0">
                <a:latin typeface="Cambria"/>
                <a:cs typeface="Cambria"/>
              </a:rPr>
              <a:t>Menggunakan	</a:t>
            </a:r>
            <a:r>
              <a:rPr sz="2400" spc="120" dirty="0">
                <a:latin typeface="Cambria"/>
                <a:cs typeface="Cambria"/>
              </a:rPr>
              <a:t>Setifikat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059" y="5631586"/>
            <a:ext cx="3869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2090" algn="l"/>
                <a:tab pos="3074035" algn="l"/>
              </a:tabLst>
            </a:pPr>
            <a:r>
              <a:rPr sz="2400" spc="30" dirty="0">
                <a:latin typeface="Cambria"/>
                <a:cs typeface="Cambria"/>
              </a:rPr>
              <a:t>d</a:t>
            </a:r>
            <a:r>
              <a:rPr sz="2400" spc="105" dirty="0">
                <a:latin typeface="Cambria"/>
                <a:cs typeface="Cambria"/>
              </a:rPr>
              <a:t>eng</a:t>
            </a:r>
            <a:r>
              <a:rPr sz="2400" spc="11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05" dirty="0">
                <a:latin typeface="Cambria"/>
                <a:cs typeface="Cambria"/>
              </a:rPr>
              <a:t>en</a:t>
            </a:r>
            <a:r>
              <a:rPr sz="2400" spc="95" dirty="0">
                <a:latin typeface="Cambria"/>
                <a:cs typeface="Cambria"/>
              </a:rPr>
              <a:t>k</a:t>
            </a:r>
            <a:r>
              <a:rPr sz="2400" spc="60" dirty="0">
                <a:latin typeface="Cambria"/>
                <a:cs typeface="Cambria"/>
              </a:rPr>
              <a:t>r</a:t>
            </a:r>
            <a:r>
              <a:rPr sz="2400" spc="90" dirty="0">
                <a:latin typeface="Cambria"/>
                <a:cs typeface="Cambria"/>
              </a:rPr>
              <a:t>i</a:t>
            </a:r>
            <a:r>
              <a:rPr sz="2400" spc="25" dirty="0">
                <a:latin typeface="Cambria"/>
                <a:cs typeface="Cambria"/>
              </a:rPr>
              <a:t>p</a:t>
            </a:r>
            <a:r>
              <a:rPr sz="2400" spc="80" dirty="0">
                <a:latin typeface="Cambria"/>
                <a:cs typeface="Cambria"/>
              </a:rPr>
              <a:t>si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50" dirty="0">
                <a:latin typeface="Cambria"/>
                <a:cs typeface="Cambria"/>
              </a:rPr>
              <a:t>k</a:t>
            </a:r>
            <a:r>
              <a:rPr sz="2400" spc="95" dirty="0">
                <a:latin typeface="Cambria"/>
                <a:cs typeface="Cambria"/>
              </a:rPr>
              <a:t>un</a:t>
            </a:r>
            <a:r>
              <a:rPr sz="2400" spc="60" dirty="0">
                <a:latin typeface="Cambria"/>
                <a:cs typeface="Cambria"/>
              </a:rPr>
              <a:t>c</a:t>
            </a:r>
            <a:r>
              <a:rPr sz="2400" spc="85" dirty="0">
                <a:latin typeface="Cambria"/>
                <a:cs typeface="Cambria"/>
              </a:rPr>
              <a:t>i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7088" y="5265801"/>
            <a:ext cx="46831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marR="5080" indent="-247015">
              <a:lnSpc>
                <a:spcPct val="100000"/>
              </a:lnSpc>
              <a:spcBef>
                <a:spcPts val="100"/>
              </a:spcBef>
              <a:tabLst>
                <a:tab pos="1378585" algn="l"/>
                <a:tab pos="1595120" algn="l"/>
                <a:tab pos="2884170" algn="l"/>
              </a:tabLst>
            </a:pPr>
            <a:r>
              <a:rPr sz="2400" spc="130" dirty="0">
                <a:latin typeface="Cambria"/>
                <a:cs typeface="Cambria"/>
              </a:rPr>
              <a:t>Digital	</a:t>
            </a:r>
            <a:r>
              <a:rPr sz="2400" spc="100" dirty="0">
                <a:latin typeface="Cambria"/>
                <a:cs typeface="Cambria"/>
              </a:rPr>
              <a:t>mengkombinasikannya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p</a:t>
            </a:r>
            <a:r>
              <a:rPr sz="2400" spc="80" dirty="0">
                <a:latin typeface="Cambria"/>
                <a:cs typeface="Cambria"/>
              </a:rPr>
              <a:t>u</a:t>
            </a:r>
            <a:r>
              <a:rPr sz="2400" spc="60" dirty="0">
                <a:latin typeface="Cambria"/>
                <a:cs typeface="Cambria"/>
              </a:rPr>
              <a:t>b</a:t>
            </a:r>
            <a:r>
              <a:rPr sz="2400" spc="105" dirty="0">
                <a:latin typeface="Cambria"/>
                <a:cs typeface="Cambria"/>
              </a:rPr>
              <a:t>l</a:t>
            </a:r>
            <a:r>
              <a:rPr sz="2400" spc="90" dirty="0">
                <a:latin typeface="Cambria"/>
                <a:cs typeface="Cambria"/>
              </a:rPr>
              <a:t>i</a:t>
            </a:r>
            <a:r>
              <a:rPr sz="2400" spc="160" dirty="0">
                <a:latin typeface="Cambria"/>
                <a:cs typeface="Cambria"/>
              </a:rPr>
              <a:t>k</a:t>
            </a:r>
            <a:r>
              <a:rPr sz="2400" dirty="0">
                <a:latin typeface="Cambria"/>
                <a:cs typeface="Cambria"/>
              </a:rPr>
              <a:t>		</a:t>
            </a:r>
            <a:r>
              <a:rPr sz="2400" spc="145" dirty="0">
                <a:latin typeface="Cambria"/>
                <a:cs typeface="Cambria"/>
              </a:rPr>
              <a:t>un</a:t>
            </a:r>
            <a:r>
              <a:rPr sz="2400" spc="60" dirty="0">
                <a:latin typeface="Cambria"/>
                <a:cs typeface="Cambria"/>
              </a:rPr>
              <a:t>t</a:t>
            </a:r>
            <a:r>
              <a:rPr sz="2400" spc="150" dirty="0">
                <a:latin typeface="Cambria"/>
                <a:cs typeface="Cambria"/>
              </a:rPr>
              <a:t>uk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80" dirty="0">
                <a:latin typeface="Cambria"/>
                <a:cs typeface="Cambria"/>
              </a:rPr>
              <a:t>mem</a:t>
            </a:r>
            <a:r>
              <a:rPr sz="2400" spc="75" dirty="0">
                <a:latin typeface="Cambria"/>
                <a:cs typeface="Cambria"/>
              </a:rPr>
              <a:t>b</a:t>
            </a:r>
            <a:r>
              <a:rPr sz="2400" spc="55" dirty="0">
                <a:latin typeface="Cambria"/>
                <a:cs typeface="Cambria"/>
              </a:rPr>
              <a:t>e</a:t>
            </a:r>
            <a:r>
              <a:rPr sz="2400" spc="35" dirty="0">
                <a:latin typeface="Cambria"/>
                <a:cs typeface="Cambria"/>
              </a:rPr>
              <a:t>r</a:t>
            </a:r>
            <a:r>
              <a:rPr sz="2400" spc="90" dirty="0">
                <a:latin typeface="Cambria"/>
                <a:cs typeface="Cambria"/>
              </a:rPr>
              <a:t>i</a:t>
            </a:r>
            <a:r>
              <a:rPr sz="2400" spc="150" dirty="0">
                <a:latin typeface="Cambria"/>
                <a:cs typeface="Cambria"/>
              </a:rPr>
              <a:t>k</a:t>
            </a:r>
            <a:r>
              <a:rPr sz="2400" spc="165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n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059" y="5997346"/>
            <a:ext cx="8718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9625" algn="l"/>
                <a:tab pos="2942590" algn="l"/>
                <a:tab pos="3796665" algn="l"/>
                <a:tab pos="4558665" algn="l"/>
                <a:tab pos="6061710" algn="l"/>
                <a:tab pos="7674609" algn="l"/>
              </a:tabLst>
            </a:pPr>
            <a:r>
              <a:rPr sz="2400" spc="25" dirty="0">
                <a:latin typeface="Cambria"/>
                <a:cs typeface="Cambria"/>
              </a:rPr>
              <a:t>p</a:t>
            </a:r>
            <a:r>
              <a:rPr sz="2400" spc="55" dirty="0">
                <a:latin typeface="Cambria"/>
                <a:cs typeface="Cambria"/>
              </a:rPr>
              <a:t>e</a:t>
            </a:r>
            <a:r>
              <a:rPr sz="2400" spc="30" dirty="0">
                <a:latin typeface="Cambria"/>
                <a:cs typeface="Cambria"/>
              </a:rPr>
              <a:t>r</a:t>
            </a:r>
            <a:r>
              <a:rPr sz="2400" spc="110" dirty="0">
                <a:latin typeface="Cambria"/>
                <a:cs typeface="Cambria"/>
              </a:rPr>
              <a:t>l</a:t>
            </a:r>
            <a:r>
              <a:rPr sz="2400" spc="90" dirty="0">
                <a:latin typeface="Cambria"/>
                <a:cs typeface="Cambria"/>
              </a:rPr>
              <a:t>i</a:t>
            </a:r>
            <a:r>
              <a:rPr sz="2400" spc="85" dirty="0">
                <a:latin typeface="Cambria"/>
                <a:cs typeface="Cambria"/>
              </a:rPr>
              <a:t>n</a:t>
            </a:r>
            <a:r>
              <a:rPr sz="2400" spc="70" dirty="0">
                <a:latin typeface="Cambria"/>
                <a:cs typeface="Cambria"/>
              </a:rPr>
              <a:t>d</a:t>
            </a:r>
            <a:r>
              <a:rPr sz="2400" spc="130" dirty="0">
                <a:latin typeface="Cambria"/>
                <a:cs typeface="Cambria"/>
              </a:rPr>
              <a:t>u</a:t>
            </a:r>
            <a:r>
              <a:rPr sz="2400" spc="125" dirty="0">
                <a:latin typeface="Cambria"/>
                <a:cs typeface="Cambria"/>
              </a:rPr>
              <a:t>n</a:t>
            </a:r>
            <a:r>
              <a:rPr sz="2400" spc="130" dirty="0">
                <a:latin typeface="Cambria"/>
                <a:cs typeface="Cambria"/>
              </a:rPr>
              <a:t>g</a:t>
            </a:r>
            <a:r>
              <a:rPr sz="2400" spc="12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110" dirty="0">
                <a:latin typeface="Cambria"/>
                <a:cs typeface="Cambria"/>
              </a:rPr>
              <a:t>l</a:t>
            </a:r>
            <a:r>
              <a:rPr sz="2400" spc="20" dirty="0">
                <a:latin typeface="Cambria"/>
                <a:cs typeface="Cambria"/>
              </a:rPr>
              <a:t>e</a:t>
            </a:r>
            <a:r>
              <a:rPr sz="2400" spc="5" dirty="0">
                <a:latin typeface="Cambria"/>
                <a:cs typeface="Cambria"/>
              </a:rPr>
              <a:t>b</a:t>
            </a:r>
            <a:r>
              <a:rPr sz="2400" spc="90" dirty="0">
                <a:latin typeface="Cambria"/>
                <a:cs typeface="Cambria"/>
              </a:rPr>
              <a:t>i</a:t>
            </a:r>
            <a:r>
              <a:rPr sz="2400" spc="140" dirty="0">
                <a:latin typeface="Cambria"/>
                <a:cs typeface="Cambria"/>
              </a:rPr>
              <a:t>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25" dirty="0">
                <a:latin typeface="Cambria"/>
                <a:cs typeface="Cambria"/>
              </a:rPr>
              <a:t>p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30" dirty="0">
                <a:latin typeface="Cambria"/>
                <a:cs typeface="Cambria"/>
              </a:rPr>
              <a:t>d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70" dirty="0">
                <a:latin typeface="Cambria"/>
                <a:cs typeface="Cambria"/>
              </a:rPr>
              <a:t>s</a:t>
            </a:r>
            <a:r>
              <a:rPr sz="2400" spc="160" dirty="0">
                <a:latin typeface="Cambria"/>
                <a:cs typeface="Cambria"/>
              </a:rPr>
              <a:t>aa</a:t>
            </a:r>
            <a:r>
              <a:rPr sz="2400" spc="120" dirty="0">
                <a:latin typeface="Cambria"/>
                <a:cs typeface="Cambria"/>
              </a:rPr>
              <a:t>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80" dirty="0">
                <a:latin typeface="Cambria"/>
                <a:cs typeface="Cambria"/>
              </a:rPr>
              <a:t>t</a:t>
            </a:r>
            <a:r>
              <a:rPr sz="2400" spc="95" dirty="0">
                <a:latin typeface="Cambria"/>
                <a:cs typeface="Cambria"/>
              </a:rPr>
              <a:t>r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14" dirty="0">
                <a:latin typeface="Cambria"/>
                <a:cs typeface="Cambria"/>
              </a:rPr>
              <a:t>n</a:t>
            </a:r>
            <a:r>
              <a:rPr sz="2400" spc="75" dirty="0">
                <a:latin typeface="Cambria"/>
                <a:cs typeface="Cambria"/>
              </a:rPr>
              <a:t>s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55" dirty="0">
                <a:latin typeface="Cambria"/>
                <a:cs typeface="Cambria"/>
              </a:rPr>
              <a:t>k</a:t>
            </a:r>
            <a:r>
              <a:rPr sz="2400" spc="70" dirty="0">
                <a:latin typeface="Cambria"/>
                <a:cs typeface="Cambria"/>
              </a:rPr>
              <a:t>s</a:t>
            </a:r>
            <a:r>
              <a:rPr sz="2400" spc="85" dirty="0">
                <a:latin typeface="Cambria"/>
                <a:cs typeface="Cambria"/>
              </a:rPr>
              <a:t>i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" dirty="0">
                <a:latin typeface="Cambria"/>
                <a:cs typeface="Cambria"/>
              </a:rPr>
              <a:t>e</a:t>
            </a:r>
            <a:r>
              <a:rPr sz="2400" spc="110" dirty="0">
                <a:latin typeface="Cambria"/>
                <a:cs typeface="Cambria"/>
              </a:rPr>
              <a:t>l</a:t>
            </a:r>
            <a:r>
              <a:rPr sz="2400" spc="90" dirty="0">
                <a:latin typeface="Cambria"/>
                <a:cs typeface="Cambria"/>
              </a:rPr>
              <a:t>ek</a:t>
            </a:r>
            <a:r>
              <a:rPr sz="2400" spc="80" dirty="0">
                <a:latin typeface="Cambria"/>
                <a:cs typeface="Cambria"/>
              </a:rPr>
              <a:t>t</a:t>
            </a:r>
            <a:r>
              <a:rPr sz="2400" spc="95" dirty="0">
                <a:latin typeface="Cambria"/>
                <a:cs typeface="Cambria"/>
              </a:rPr>
              <a:t>r</a:t>
            </a:r>
            <a:r>
              <a:rPr sz="2400" spc="75" dirty="0">
                <a:latin typeface="Cambria"/>
                <a:cs typeface="Cambria"/>
              </a:rPr>
              <a:t>onik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0" dirty="0">
                <a:latin typeface="Cambria"/>
                <a:cs typeface="Cambria"/>
              </a:rPr>
              <a:t>d</a:t>
            </a:r>
            <a:r>
              <a:rPr sz="2400" spc="105" dirty="0">
                <a:latin typeface="Cambria"/>
                <a:cs typeface="Cambria"/>
              </a:rPr>
              <a:t>eng</a:t>
            </a:r>
            <a:r>
              <a:rPr sz="2400" spc="85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n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95" dirty="0">
                <a:latin typeface="Cambria"/>
                <a:cs typeface="Cambria"/>
              </a:rPr>
              <a:t>cara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mengautentikasi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indentitas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seorang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pengguna.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96188"/>
            <a:ext cx="50888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40" dirty="0"/>
              <a:t>ENKRIPSI</a:t>
            </a:r>
            <a:r>
              <a:rPr sz="3000" spc="150" dirty="0"/>
              <a:t> </a:t>
            </a:r>
            <a:r>
              <a:rPr sz="3000" spc="409" dirty="0"/>
              <a:t>KUNCI</a:t>
            </a:r>
            <a:r>
              <a:rPr sz="3000" spc="145" dirty="0"/>
              <a:t> </a:t>
            </a:r>
            <a:r>
              <a:rPr sz="3000" spc="365" dirty="0"/>
              <a:t>PUBLIK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07593" y="3462020"/>
            <a:ext cx="8063230" cy="285369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6385" marR="5080" indent="-274320" algn="just">
              <a:lnSpc>
                <a:spcPct val="80000"/>
              </a:lnSpc>
              <a:spcBef>
                <a:spcPts val="6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14" dirty="0">
                <a:latin typeface="Cambria"/>
                <a:cs typeface="Cambria"/>
              </a:rPr>
              <a:t>Sistem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enkripsi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kunci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publik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dapat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dipandang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sebagai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serangkaian </a:t>
            </a:r>
            <a:r>
              <a:rPr sz="2200" spc="100" dirty="0">
                <a:latin typeface="Cambria"/>
                <a:cs typeface="Cambria"/>
              </a:rPr>
              <a:t>kunci </a:t>
            </a:r>
            <a:r>
              <a:rPr sz="2200" spc="75" dirty="0">
                <a:latin typeface="Cambria"/>
                <a:cs typeface="Cambria"/>
              </a:rPr>
              <a:t>publik </a:t>
            </a:r>
            <a:r>
              <a:rPr sz="2200" spc="105" dirty="0">
                <a:latin typeface="Cambria"/>
                <a:cs typeface="Cambria"/>
              </a:rPr>
              <a:t>dan </a:t>
            </a:r>
            <a:r>
              <a:rPr sz="2200" spc="90" dirty="0">
                <a:latin typeface="Cambria"/>
                <a:cs typeface="Cambria"/>
              </a:rPr>
              <a:t>privat, </a:t>
            </a:r>
            <a:r>
              <a:rPr sz="2200" spc="105" dirty="0">
                <a:latin typeface="Cambria"/>
                <a:cs typeface="Cambria"/>
              </a:rPr>
              <a:t>yang </a:t>
            </a:r>
            <a:r>
              <a:rPr sz="2200" spc="80" dirty="0">
                <a:latin typeface="Cambria"/>
                <a:cs typeface="Cambria"/>
              </a:rPr>
              <a:t>mengunci </a:t>
            </a:r>
            <a:r>
              <a:rPr sz="2200" spc="110" dirty="0">
                <a:latin typeface="Cambria"/>
                <a:cs typeface="Cambria"/>
              </a:rPr>
              <a:t>data 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ketika </a:t>
            </a:r>
            <a:r>
              <a:rPr sz="2200" spc="95" dirty="0">
                <a:latin typeface="Cambria"/>
                <a:cs typeface="Cambria"/>
              </a:rPr>
              <a:t>ditransmisikan </a:t>
            </a:r>
            <a:r>
              <a:rPr sz="2200" spc="100" dirty="0">
                <a:latin typeface="Cambria"/>
                <a:cs typeface="Cambria"/>
              </a:rPr>
              <a:t>dan membuka </a:t>
            </a:r>
            <a:r>
              <a:rPr sz="2200" spc="90" dirty="0">
                <a:latin typeface="Cambria"/>
                <a:cs typeface="Cambria"/>
              </a:rPr>
              <a:t>kunci </a:t>
            </a:r>
            <a:r>
              <a:rPr sz="2200" spc="65" dirty="0">
                <a:latin typeface="Cambria"/>
                <a:cs typeface="Cambria"/>
              </a:rPr>
              <a:t>tersebut </a:t>
            </a:r>
            <a:r>
              <a:rPr sz="2200" spc="105" dirty="0">
                <a:latin typeface="Cambria"/>
                <a:cs typeface="Cambria"/>
              </a:rPr>
              <a:t>ketika </a:t>
            </a:r>
            <a:r>
              <a:rPr sz="2200" spc="110" dirty="0">
                <a:latin typeface="Cambria"/>
                <a:cs typeface="Cambria"/>
              </a:rPr>
              <a:t> datanya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diterima.</a:t>
            </a:r>
            <a:endParaRPr sz="2200">
              <a:latin typeface="Cambria"/>
              <a:cs typeface="Cambri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00" dirty="0">
                <a:latin typeface="Cambria"/>
                <a:cs typeface="Cambria"/>
              </a:rPr>
              <a:t>Pengirim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mencari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kunci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privat</a:t>
            </a:r>
            <a:r>
              <a:rPr sz="2200" spc="65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penerima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dalam</a:t>
            </a:r>
            <a:r>
              <a:rPr sz="2200" spc="70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satu 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direktori </a:t>
            </a:r>
            <a:r>
              <a:rPr sz="2200" spc="100" dirty="0">
                <a:latin typeface="Cambria"/>
                <a:cs typeface="Cambria"/>
              </a:rPr>
              <a:t>dan </a:t>
            </a:r>
            <a:r>
              <a:rPr sz="2200" spc="110" dirty="0">
                <a:latin typeface="Cambria"/>
                <a:cs typeface="Cambria"/>
              </a:rPr>
              <a:t>menggunakannya </a:t>
            </a:r>
            <a:r>
              <a:rPr sz="2200" spc="125" dirty="0">
                <a:latin typeface="Cambria"/>
                <a:cs typeface="Cambria"/>
              </a:rPr>
              <a:t>untuk </a:t>
            </a:r>
            <a:r>
              <a:rPr sz="2200" spc="80" dirty="0">
                <a:latin typeface="Cambria"/>
                <a:cs typeface="Cambria"/>
              </a:rPr>
              <a:t>mengenkripsi </a:t>
            </a:r>
            <a:r>
              <a:rPr sz="2200" spc="85" dirty="0">
                <a:latin typeface="Cambria"/>
                <a:cs typeface="Cambria"/>
              </a:rPr>
              <a:t>pesan.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Pesan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ini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kemudian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dikirim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dalam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bentuk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terenkripsi 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melalui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internet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atau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jaringan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lainnya.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40" dirty="0">
                <a:latin typeface="Cambria"/>
                <a:cs typeface="Cambria"/>
              </a:rPr>
              <a:t>Ketika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pesan 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terenkripsi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itu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tiba,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penerima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menggunakan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kunci 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privatnya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untuk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mendekripsi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data </a:t>
            </a:r>
            <a:r>
              <a:rPr sz="2200" spc="105" dirty="0">
                <a:latin typeface="Cambria"/>
                <a:cs typeface="Cambria"/>
              </a:rPr>
              <a:t>dan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membaca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pesan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itu.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12" y="1500250"/>
            <a:ext cx="7643749" cy="1509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531063"/>
            <a:ext cx="43884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25" dirty="0"/>
              <a:t>SERTIFIKASI</a:t>
            </a:r>
            <a:r>
              <a:rPr sz="3000" spc="120" dirty="0"/>
              <a:t> </a:t>
            </a:r>
            <a:r>
              <a:rPr sz="3000" spc="315" dirty="0"/>
              <a:t>DIGITAL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60044" y="1331798"/>
            <a:ext cx="7924165" cy="11677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algn="just">
              <a:lnSpc>
                <a:spcPct val="80100"/>
              </a:lnSpc>
              <a:spcBef>
                <a:spcPts val="635"/>
              </a:spcBef>
            </a:pPr>
            <a:r>
              <a:rPr sz="2200" spc="105" dirty="0">
                <a:latin typeface="Cambria"/>
                <a:cs typeface="Cambria"/>
              </a:rPr>
              <a:t>Sertifikasi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digital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membantu</a:t>
            </a:r>
            <a:r>
              <a:rPr sz="2200" spc="105" dirty="0">
                <a:latin typeface="Cambria"/>
                <a:cs typeface="Cambria"/>
              </a:rPr>
              <a:t> menentukan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identitas  </a:t>
            </a:r>
            <a:r>
              <a:rPr sz="2200" spc="135" dirty="0">
                <a:latin typeface="Cambria"/>
                <a:cs typeface="Cambria"/>
              </a:rPr>
              <a:t>atau 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aset</a:t>
            </a:r>
            <a:r>
              <a:rPr sz="2200" spc="65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elektronik.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Sertifikat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Digital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melindungi</a:t>
            </a:r>
            <a:r>
              <a:rPr sz="2200" spc="65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transaksi 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online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dengan</a:t>
            </a:r>
            <a:r>
              <a:rPr sz="2200" spc="90" dirty="0">
                <a:latin typeface="Cambria"/>
                <a:cs typeface="Cambria"/>
              </a:rPr>
              <a:t> cara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memberikan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komunikasi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35" dirty="0">
                <a:latin typeface="Cambria"/>
                <a:cs typeface="Cambria"/>
              </a:rPr>
              <a:t>aman, 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terenkripsi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online.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277" y="1027252"/>
            <a:ext cx="6440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6390" algn="l"/>
                <a:tab pos="4610100" algn="l"/>
              </a:tabLst>
            </a:pPr>
            <a:r>
              <a:rPr sz="3600" b="1" spc="475" dirty="0">
                <a:latin typeface="Cambria"/>
                <a:cs typeface="Cambria"/>
              </a:rPr>
              <a:t>M</a:t>
            </a:r>
            <a:r>
              <a:rPr sz="2850" b="1" spc="535" dirty="0">
                <a:latin typeface="Cambria"/>
                <a:cs typeface="Cambria"/>
              </a:rPr>
              <a:t>ENG</a:t>
            </a:r>
            <a:r>
              <a:rPr sz="2850" b="1" spc="480" dirty="0">
                <a:latin typeface="Cambria"/>
                <a:cs typeface="Cambria"/>
              </a:rPr>
              <a:t>E</a:t>
            </a:r>
            <a:r>
              <a:rPr sz="2850" b="1" spc="495" dirty="0">
                <a:latin typeface="Cambria"/>
                <a:cs typeface="Cambria"/>
              </a:rPr>
              <a:t>LO</a:t>
            </a:r>
            <a:r>
              <a:rPr sz="2850" b="1" spc="445" dirty="0">
                <a:latin typeface="Cambria"/>
                <a:cs typeface="Cambria"/>
              </a:rPr>
              <a:t>L</a:t>
            </a:r>
            <a:r>
              <a:rPr sz="2850" b="1" spc="325" dirty="0">
                <a:latin typeface="Cambria"/>
                <a:cs typeface="Cambria"/>
              </a:rPr>
              <a:t>A</a:t>
            </a:r>
            <a:r>
              <a:rPr sz="2850" b="1" dirty="0">
                <a:latin typeface="Cambria"/>
                <a:cs typeface="Cambria"/>
              </a:rPr>
              <a:t>	</a:t>
            </a:r>
            <a:r>
              <a:rPr sz="3600" b="1" spc="550" dirty="0">
                <a:latin typeface="Cambria"/>
                <a:cs typeface="Cambria"/>
              </a:rPr>
              <a:t>S</a:t>
            </a:r>
            <a:r>
              <a:rPr sz="2850" b="1" spc="300" dirty="0">
                <a:latin typeface="Cambria"/>
                <a:cs typeface="Cambria"/>
              </a:rPr>
              <a:t>I</a:t>
            </a:r>
            <a:r>
              <a:rPr sz="2850" b="1" spc="425" dirty="0">
                <a:latin typeface="Cambria"/>
                <a:cs typeface="Cambria"/>
              </a:rPr>
              <a:t>S</a:t>
            </a:r>
            <a:r>
              <a:rPr sz="2850" b="1" spc="350" dirty="0">
                <a:latin typeface="Cambria"/>
                <a:cs typeface="Cambria"/>
              </a:rPr>
              <a:t>TE</a:t>
            </a:r>
            <a:r>
              <a:rPr sz="2850" b="1" spc="495" dirty="0">
                <a:latin typeface="Cambria"/>
                <a:cs typeface="Cambria"/>
              </a:rPr>
              <a:t>M</a:t>
            </a:r>
            <a:r>
              <a:rPr sz="2850" b="1" dirty="0">
                <a:latin typeface="Cambria"/>
                <a:cs typeface="Cambria"/>
              </a:rPr>
              <a:t>	</a:t>
            </a:r>
            <a:r>
              <a:rPr sz="3600" b="1" spc="455" dirty="0">
                <a:latin typeface="Cambria"/>
                <a:cs typeface="Cambria"/>
              </a:rPr>
              <a:t>D</a:t>
            </a:r>
            <a:r>
              <a:rPr sz="2850" b="1" spc="295" dirty="0">
                <a:latin typeface="Cambria"/>
                <a:cs typeface="Cambria"/>
              </a:rPr>
              <a:t>I</a:t>
            </a:r>
            <a:r>
              <a:rPr sz="2850" b="1" spc="535" dirty="0">
                <a:latin typeface="Cambria"/>
                <a:cs typeface="Cambria"/>
              </a:rPr>
              <a:t>G</a:t>
            </a:r>
            <a:r>
              <a:rPr sz="2850" b="1" spc="345" dirty="0">
                <a:latin typeface="Cambria"/>
                <a:cs typeface="Cambria"/>
              </a:rPr>
              <a:t>ITAL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96188"/>
            <a:ext cx="58121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95" dirty="0"/>
              <a:t>PENGGERAK</a:t>
            </a:r>
            <a:r>
              <a:rPr sz="3000" spc="150" dirty="0"/>
              <a:t> </a:t>
            </a:r>
            <a:r>
              <a:rPr sz="3000" spc="335" dirty="0"/>
              <a:t>BISNIS</a:t>
            </a:r>
            <a:r>
              <a:rPr sz="3000" spc="125" dirty="0"/>
              <a:t> </a:t>
            </a:r>
            <a:r>
              <a:rPr sz="3000" spc="375" dirty="0"/>
              <a:t>GLOBAL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417195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265" dirty="0"/>
              <a:t>FAKTOR</a:t>
            </a:r>
            <a:r>
              <a:rPr spc="40" dirty="0"/>
              <a:t> </a:t>
            </a:r>
            <a:r>
              <a:rPr spc="285" dirty="0"/>
              <a:t>BUDAYA </a:t>
            </a:r>
            <a:r>
              <a:rPr spc="-515" dirty="0"/>
              <a:t> </a:t>
            </a:r>
            <a:r>
              <a:rPr spc="350" dirty="0"/>
              <a:t>UMUM</a:t>
            </a:r>
          </a:p>
          <a:p>
            <a:pPr marL="652780" lvl="1" indent="-274320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2100" spc="65" dirty="0">
                <a:latin typeface="Cambria"/>
                <a:cs typeface="Cambria"/>
              </a:rPr>
              <a:t>Teknologi</a:t>
            </a:r>
            <a:r>
              <a:rPr sz="2100" spc="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tranfortasi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105" dirty="0"/>
              <a:t>dan</a:t>
            </a:r>
            <a:r>
              <a:rPr sz="2100" spc="25" dirty="0"/>
              <a:t> </a:t>
            </a:r>
            <a:r>
              <a:rPr sz="2100" spc="100" dirty="0"/>
              <a:t>komunikasi</a:t>
            </a:r>
            <a:r>
              <a:rPr sz="2100" spc="15" dirty="0"/>
              <a:t> </a:t>
            </a:r>
            <a:r>
              <a:rPr sz="2100" spc="65" dirty="0"/>
              <a:t>global</a:t>
            </a:r>
            <a:endParaRPr sz="2100"/>
          </a:p>
          <a:p>
            <a:pPr marL="652780" lvl="1" indent="-27432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2100" spc="100" dirty="0">
                <a:latin typeface="Cambria"/>
                <a:cs typeface="Cambria"/>
              </a:rPr>
              <a:t>Perkembangan</a:t>
            </a:r>
            <a:r>
              <a:rPr sz="2100" spc="1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dari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130" dirty="0"/>
              <a:t>Budaya</a:t>
            </a:r>
            <a:r>
              <a:rPr sz="2100" spc="55" dirty="0"/>
              <a:t> </a:t>
            </a:r>
            <a:r>
              <a:rPr sz="2100" spc="60" dirty="0"/>
              <a:t>global</a:t>
            </a:r>
            <a:endParaRPr sz="2100"/>
          </a:p>
          <a:p>
            <a:pPr marL="652780" lvl="1" indent="-27432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2100" spc="120" dirty="0">
                <a:latin typeface="Cambria"/>
                <a:cs typeface="Cambria"/>
              </a:rPr>
              <a:t>Munculnya</a:t>
            </a:r>
            <a:r>
              <a:rPr sz="2100" spc="2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Norma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  <a:spcBef>
                <a:spcPts val="5"/>
              </a:spcBef>
            </a:pPr>
            <a:r>
              <a:rPr sz="2100" spc="70" dirty="0"/>
              <a:t>sosial</a:t>
            </a:r>
            <a:r>
              <a:rPr sz="2100" spc="10" dirty="0"/>
              <a:t> </a:t>
            </a:r>
            <a:r>
              <a:rPr sz="2100" spc="65" dirty="0"/>
              <a:t>global</a:t>
            </a:r>
            <a:endParaRPr sz="2100"/>
          </a:p>
          <a:p>
            <a:pPr marL="652780" lvl="1" indent="-274320">
              <a:lnSpc>
                <a:spcPct val="100000"/>
              </a:lnSpc>
              <a:spcBef>
                <a:spcPts val="50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2100" spc="110" dirty="0">
                <a:latin typeface="Cambria"/>
                <a:cs typeface="Cambria"/>
              </a:rPr>
              <a:t>Stabilitas</a:t>
            </a:r>
            <a:r>
              <a:rPr sz="2100" spc="-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Politik</a:t>
            </a:r>
            <a:endParaRPr sz="2100">
              <a:latin typeface="Cambria"/>
              <a:cs typeface="Cambria"/>
            </a:endParaRPr>
          </a:p>
          <a:p>
            <a:pPr marL="652780" lvl="1" indent="-27432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sz="2100" spc="130" dirty="0">
                <a:latin typeface="Cambria"/>
                <a:cs typeface="Cambria"/>
              </a:rPr>
              <a:t>Dasar</a:t>
            </a:r>
            <a:r>
              <a:rPr sz="2100" spc="35" dirty="0">
                <a:latin typeface="Cambria"/>
                <a:cs typeface="Cambria"/>
              </a:rPr>
              <a:t> </a:t>
            </a:r>
            <a:r>
              <a:rPr sz="2100" spc="130" dirty="0">
                <a:latin typeface="Cambria"/>
                <a:cs typeface="Cambria"/>
              </a:rPr>
              <a:t>Ilmu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95" dirty="0"/>
              <a:t>pengetahuan</a:t>
            </a:r>
            <a:r>
              <a:rPr sz="2100" spc="5" dirty="0"/>
              <a:t> </a:t>
            </a:r>
            <a:r>
              <a:rPr sz="2100" spc="105" dirty="0"/>
              <a:t>Global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4350511" y="1628013"/>
            <a:ext cx="3433445" cy="300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30555" indent="-274955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655" algn="l"/>
              </a:tabLst>
            </a:pPr>
            <a:r>
              <a:rPr sz="2400" spc="270" dirty="0">
                <a:latin typeface="Cambria"/>
                <a:cs typeface="Cambria"/>
              </a:rPr>
              <a:t>FAKTOR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BISNIS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360" dirty="0">
                <a:latin typeface="Cambria"/>
                <a:cs typeface="Cambria"/>
              </a:rPr>
              <a:t>KHUSUS</a:t>
            </a:r>
            <a:endParaRPr sz="24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Pasar</a:t>
            </a:r>
            <a:r>
              <a:rPr sz="2100" spc="15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Global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Produksi</a:t>
            </a:r>
            <a:r>
              <a:rPr sz="2100" spc="30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dan</a:t>
            </a:r>
            <a:r>
              <a:rPr sz="2100" spc="5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Operasi</a:t>
            </a:r>
            <a:endParaRPr sz="2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100" spc="105" dirty="0">
                <a:latin typeface="Cambria"/>
                <a:cs typeface="Cambria"/>
              </a:rPr>
              <a:t>Global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Koordinasi</a:t>
            </a:r>
            <a:r>
              <a:rPr sz="2100" spc="-25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Global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Tenaga</a:t>
            </a:r>
            <a:r>
              <a:rPr sz="2100" spc="10" dirty="0">
                <a:latin typeface="Cambria"/>
                <a:cs typeface="Cambria"/>
              </a:rPr>
              <a:t> </a:t>
            </a:r>
            <a:r>
              <a:rPr sz="2100" spc="125" dirty="0">
                <a:latin typeface="Cambria"/>
                <a:cs typeface="Cambria"/>
              </a:rPr>
              <a:t>Kerja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Global</a:t>
            </a:r>
            <a:endParaRPr sz="21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60" dirty="0">
                <a:latin typeface="Cambria"/>
                <a:cs typeface="Cambria"/>
              </a:rPr>
              <a:t>Skala</a:t>
            </a:r>
            <a:r>
              <a:rPr sz="2100" spc="3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Ekonomi</a:t>
            </a:r>
            <a:r>
              <a:rPr sz="2100" spc="40" dirty="0">
                <a:latin typeface="Cambria"/>
                <a:cs typeface="Cambria"/>
              </a:rPr>
              <a:t> </a:t>
            </a:r>
            <a:r>
              <a:rPr sz="2100" spc="105" dirty="0">
                <a:latin typeface="Cambria"/>
                <a:cs typeface="Cambria"/>
              </a:rPr>
              <a:t>Global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19075" marR="5080">
              <a:lnSpc>
                <a:spcPct val="100000"/>
              </a:lnSpc>
              <a:spcBef>
                <a:spcPts val="110"/>
              </a:spcBef>
            </a:pPr>
            <a:r>
              <a:rPr spc="310" dirty="0"/>
              <a:t>TANTANGAN</a:t>
            </a:r>
            <a:r>
              <a:rPr spc="100" dirty="0"/>
              <a:t> </a:t>
            </a:r>
            <a:r>
              <a:rPr spc="315" dirty="0"/>
              <a:t>BAGI</a:t>
            </a:r>
            <a:r>
              <a:rPr spc="110" dirty="0"/>
              <a:t> </a:t>
            </a:r>
            <a:r>
              <a:rPr spc="380" dirty="0"/>
              <a:t>MANAJEMEN</a:t>
            </a:r>
            <a:r>
              <a:rPr spc="35" dirty="0"/>
              <a:t> </a:t>
            </a:r>
            <a:r>
              <a:rPr spc="315" dirty="0"/>
              <a:t>DALAM </a:t>
            </a:r>
            <a:r>
              <a:rPr spc="-580" dirty="0"/>
              <a:t> </a:t>
            </a:r>
            <a:r>
              <a:rPr spc="360" dirty="0"/>
              <a:t>MENGEMBANGANKAN</a:t>
            </a:r>
            <a:r>
              <a:rPr spc="5" dirty="0"/>
              <a:t> </a:t>
            </a:r>
            <a:r>
              <a:rPr spc="320" dirty="0"/>
              <a:t>SISTEM</a:t>
            </a:r>
            <a:r>
              <a:rPr spc="105" dirty="0"/>
              <a:t> </a:t>
            </a:r>
            <a:r>
              <a:rPr spc="350" dirty="0"/>
              <a:t>GLOBAL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51432"/>
            <a:ext cx="6840220" cy="26022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4" dirty="0">
                <a:latin typeface="Cambria"/>
                <a:cs typeface="Cambria"/>
              </a:rPr>
              <a:t>Menyepakati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kebutuhan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pengguna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bersama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4" dirty="0">
                <a:latin typeface="Cambria"/>
                <a:cs typeface="Cambria"/>
              </a:rPr>
              <a:t>Membawa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perubahan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kedalam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proses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bisnis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95" dirty="0">
                <a:latin typeface="Cambria"/>
                <a:cs typeface="Cambria"/>
              </a:rPr>
              <a:t>Mengoordinasikan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pengembangan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aplikasi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90" dirty="0">
                <a:latin typeface="Cambria"/>
                <a:cs typeface="Cambria"/>
              </a:rPr>
              <a:t>Mengoordinasikan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perluncuran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piranti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lunak</a:t>
            </a:r>
            <a:endParaRPr sz="2400">
              <a:latin typeface="Cambria"/>
              <a:cs typeface="Cambria"/>
            </a:endParaRPr>
          </a:p>
          <a:p>
            <a:pPr marL="287020" marR="508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70" dirty="0">
                <a:latin typeface="Cambria"/>
                <a:cs typeface="Cambria"/>
              </a:rPr>
              <a:t>Mendorong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pengguna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lokal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untuk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mendukung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sistem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global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4033"/>
            <a:ext cx="6642734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45" dirty="0"/>
              <a:t>SISTEM</a:t>
            </a:r>
            <a:r>
              <a:rPr sz="3000" spc="125" dirty="0"/>
              <a:t> </a:t>
            </a:r>
            <a:r>
              <a:rPr sz="3000" spc="350" dirty="0"/>
              <a:t>GLOBAL,</a:t>
            </a:r>
            <a:r>
              <a:rPr sz="3000" spc="190" dirty="0"/>
              <a:t> </a:t>
            </a:r>
            <a:r>
              <a:rPr sz="3000" spc="365" dirty="0"/>
              <a:t>REGIONAL</a:t>
            </a:r>
            <a:r>
              <a:rPr sz="3000" spc="185" dirty="0"/>
              <a:t> </a:t>
            </a:r>
            <a:r>
              <a:rPr sz="3000" spc="345" dirty="0"/>
              <a:t>DAN </a:t>
            </a:r>
            <a:r>
              <a:rPr sz="3000" spc="-645" dirty="0"/>
              <a:t> </a:t>
            </a:r>
            <a:r>
              <a:rPr sz="3000" spc="370" dirty="0"/>
              <a:t>LOKAL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60044" y="1331798"/>
            <a:ext cx="4797425" cy="507746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7020" marR="5080" indent="-274320">
              <a:lnSpc>
                <a:spcPct val="80000"/>
              </a:lnSpc>
              <a:spcBef>
                <a:spcPts val="6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35" dirty="0">
                <a:latin typeface="Cambria"/>
                <a:cs typeface="Cambria"/>
              </a:rPr>
              <a:t>Biaya </a:t>
            </a:r>
            <a:r>
              <a:rPr sz="2200" spc="100" dirty="0">
                <a:latin typeface="Cambria"/>
                <a:cs typeface="Cambria"/>
              </a:rPr>
              <a:t>Agensi </a:t>
            </a:r>
            <a:r>
              <a:rPr sz="2200" spc="105" dirty="0">
                <a:latin typeface="Cambria"/>
                <a:cs typeface="Cambria"/>
              </a:rPr>
              <a:t>dan </a:t>
            </a:r>
            <a:r>
              <a:rPr sz="2200" spc="90" dirty="0">
                <a:latin typeface="Cambria"/>
                <a:cs typeface="Cambria"/>
              </a:rPr>
              <a:t>biaya </a:t>
            </a:r>
            <a:r>
              <a:rPr sz="2200" spc="65" dirty="0">
                <a:latin typeface="Cambria"/>
                <a:cs typeface="Cambria"/>
              </a:rPr>
              <a:t>koordinasi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lainnya </a:t>
            </a:r>
            <a:r>
              <a:rPr sz="2200" spc="140" dirty="0">
                <a:latin typeface="Cambria"/>
                <a:cs typeface="Cambria"/>
              </a:rPr>
              <a:t>akan </a:t>
            </a:r>
            <a:r>
              <a:rPr sz="2200" spc="105" dirty="0">
                <a:latin typeface="Cambria"/>
                <a:cs typeface="Cambria"/>
              </a:rPr>
              <a:t>meningkat </a:t>
            </a:r>
            <a:r>
              <a:rPr sz="2200" spc="114" dirty="0">
                <a:latin typeface="Cambria"/>
                <a:cs typeface="Cambria"/>
              </a:rPr>
              <a:t>ketika 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perusahaan </a:t>
            </a:r>
            <a:r>
              <a:rPr sz="2200" spc="120" dirty="0">
                <a:latin typeface="Cambria"/>
                <a:cs typeface="Cambria"/>
              </a:rPr>
              <a:t>melakukan </a:t>
            </a:r>
            <a:r>
              <a:rPr sz="2200" spc="95" dirty="0">
                <a:latin typeface="Cambria"/>
                <a:cs typeface="Cambria"/>
              </a:rPr>
              <a:t>transisi 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dari sistem </a:t>
            </a:r>
            <a:r>
              <a:rPr sz="2200" spc="95" dirty="0">
                <a:latin typeface="Cambria"/>
                <a:cs typeface="Cambria"/>
              </a:rPr>
              <a:t>pilihan </a:t>
            </a:r>
            <a:r>
              <a:rPr sz="2200" spc="85" dirty="0">
                <a:latin typeface="Cambria"/>
                <a:cs typeface="Cambria"/>
              </a:rPr>
              <a:t>lokal menjadi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sistem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regional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dan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global.</a:t>
            </a:r>
            <a:endParaRPr sz="2200">
              <a:latin typeface="Cambria"/>
              <a:cs typeface="Cambria"/>
            </a:endParaRPr>
          </a:p>
          <a:p>
            <a:pPr marL="287020" marR="163830" indent="-274320">
              <a:lnSpc>
                <a:spcPct val="8000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35" dirty="0">
                <a:latin typeface="Cambria"/>
                <a:cs typeface="Cambria"/>
              </a:rPr>
              <a:t>Biaya </a:t>
            </a:r>
            <a:r>
              <a:rPr sz="2200" spc="114" dirty="0">
                <a:latin typeface="Cambria"/>
                <a:cs typeface="Cambria"/>
              </a:rPr>
              <a:t>Transaksi </a:t>
            </a:r>
            <a:r>
              <a:rPr sz="2200" spc="85" dirty="0">
                <a:latin typeface="Cambria"/>
                <a:cs typeface="Cambria"/>
              </a:rPr>
              <a:t>dari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berpartisipasi</a:t>
            </a:r>
            <a:r>
              <a:rPr sz="2200" spc="1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dalam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pasar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global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dapat </a:t>
            </a:r>
            <a:r>
              <a:rPr sz="2200" spc="100" dirty="0">
                <a:latin typeface="Cambria"/>
                <a:cs typeface="Cambria"/>
              </a:rPr>
              <a:t>menurun </a:t>
            </a:r>
            <a:r>
              <a:rPr sz="2200" spc="114" dirty="0">
                <a:latin typeface="Cambria"/>
                <a:cs typeface="Cambria"/>
              </a:rPr>
              <a:t>ketika 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perusahaan </a:t>
            </a:r>
            <a:r>
              <a:rPr sz="2200" spc="100" dirty="0">
                <a:latin typeface="Cambria"/>
                <a:cs typeface="Cambria"/>
              </a:rPr>
              <a:t>mengembangkan 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sistem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global</a:t>
            </a:r>
            <a:endParaRPr sz="2200">
              <a:latin typeface="Cambria"/>
              <a:cs typeface="Cambria"/>
            </a:endParaRPr>
          </a:p>
          <a:p>
            <a:pPr marL="287020" marR="59690" indent="-274320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20" dirty="0">
                <a:latin typeface="Cambria"/>
                <a:cs typeface="Cambria"/>
              </a:rPr>
              <a:t>Strategi </a:t>
            </a:r>
            <a:r>
              <a:rPr sz="2200" spc="105" dirty="0">
                <a:latin typeface="Cambria"/>
                <a:cs typeface="Cambria"/>
              </a:rPr>
              <a:t>yang </a:t>
            </a:r>
            <a:r>
              <a:rPr sz="2200" spc="85" dirty="0">
                <a:latin typeface="Cambria"/>
                <a:cs typeface="Cambria"/>
              </a:rPr>
              <a:t>tepat </a:t>
            </a:r>
            <a:r>
              <a:rPr sz="2200" spc="140" dirty="0">
                <a:latin typeface="Cambria"/>
                <a:cs typeface="Cambria"/>
              </a:rPr>
              <a:t>akan 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mengurangi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biaya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agensi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dengan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mengembangkan </a:t>
            </a:r>
            <a:r>
              <a:rPr sz="2200" spc="120" dirty="0">
                <a:latin typeface="Cambria"/>
                <a:cs typeface="Cambria"/>
              </a:rPr>
              <a:t>hanya </a:t>
            </a:r>
            <a:r>
              <a:rPr sz="2200" spc="65" dirty="0">
                <a:latin typeface="Cambria"/>
                <a:cs typeface="Cambria"/>
              </a:rPr>
              <a:t>beberapa </a:t>
            </a:r>
            <a:r>
              <a:rPr sz="2200" spc="7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sistem</a:t>
            </a:r>
            <a:r>
              <a:rPr sz="2200" spc="2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global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inti</a:t>
            </a:r>
            <a:r>
              <a:rPr sz="2200" spc="114" dirty="0">
                <a:latin typeface="Cambria"/>
                <a:cs typeface="Cambria"/>
              </a:rPr>
              <a:t> saja,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 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penting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bagi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operasi</a:t>
            </a:r>
            <a:r>
              <a:rPr sz="2200" spc="6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global, 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sedangkan</a:t>
            </a:r>
            <a:r>
              <a:rPr sz="2200" spc="4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sistem</a:t>
            </a:r>
            <a:r>
              <a:rPr sz="2200" spc="3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yang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tidak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vital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dapat </a:t>
            </a:r>
            <a:r>
              <a:rPr sz="2200" spc="100" dirty="0">
                <a:latin typeface="Cambria"/>
                <a:cs typeface="Cambria"/>
              </a:rPr>
              <a:t>diserahkan </a:t>
            </a:r>
            <a:r>
              <a:rPr sz="2200" spc="95" dirty="0">
                <a:latin typeface="Cambria"/>
                <a:cs typeface="Cambria"/>
              </a:rPr>
              <a:t>kepada </a:t>
            </a:r>
            <a:r>
              <a:rPr sz="2200" spc="90" dirty="0">
                <a:latin typeface="Cambria"/>
                <a:cs typeface="Cambria"/>
              </a:rPr>
              <a:t>unit- 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unit</a:t>
            </a:r>
            <a:r>
              <a:rPr sz="2200" spc="85" dirty="0">
                <a:latin typeface="Cambria"/>
                <a:cs typeface="Cambria"/>
              </a:rPr>
              <a:t> lokal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dan </a:t>
            </a:r>
            <a:r>
              <a:rPr sz="2200" spc="80" dirty="0">
                <a:latin typeface="Cambria"/>
                <a:cs typeface="Cambria"/>
              </a:rPr>
              <a:t>regional.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0" y="1357249"/>
            <a:ext cx="3763899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439039"/>
            <a:ext cx="42341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55" dirty="0"/>
              <a:t>MASALAH</a:t>
            </a:r>
            <a:r>
              <a:rPr sz="3000" spc="75" dirty="0"/>
              <a:t> </a:t>
            </a:r>
            <a:r>
              <a:rPr sz="3000" spc="395" dirty="0"/>
              <a:t>JARINGAN </a:t>
            </a:r>
            <a:r>
              <a:rPr sz="3000" spc="-645" dirty="0"/>
              <a:t> </a:t>
            </a:r>
            <a:r>
              <a:rPr sz="3000" spc="335" dirty="0"/>
              <a:t>INTERNASIONAL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6244" y="1551432"/>
            <a:ext cx="6426200" cy="35629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50" dirty="0">
                <a:latin typeface="Cambria"/>
                <a:cs typeface="Cambria"/>
              </a:rPr>
              <a:t>Kualitas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180" dirty="0">
                <a:latin typeface="Cambria"/>
                <a:cs typeface="Cambria"/>
              </a:rPr>
              <a:t>Jaringan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55" dirty="0">
                <a:latin typeface="Cambria"/>
                <a:cs typeface="Cambria"/>
              </a:rPr>
              <a:t>Keamanan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50" dirty="0">
                <a:latin typeface="Cambria"/>
                <a:cs typeface="Cambria"/>
              </a:rPr>
              <a:t>Biaya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dan</a:t>
            </a:r>
            <a:r>
              <a:rPr sz="2400" spc="114" dirty="0">
                <a:latin typeface="Cambria"/>
                <a:cs typeface="Cambria"/>
              </a:rPr>
              <a:t> Tarif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0" dirty="0">
                <a:latin typeface="Cambria"/>
                <a:cs typeface="Cambria"/>
              </a:rPr>
              <a:t>Pengelolaan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jaringan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Penundaan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dalam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pemasangan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50" dirty="0">
                <a:latin typeface="Cambria"/>
                <a:cs typeface="Cambria"/>
              </a:rPr>
              <a:t>Kualitas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layanan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internasional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yang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lemah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Batasan-batasan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peraturan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40" dirty="0">
                <a:latin typeface="Cambria"/>
                <a:cs typeface="Cambria"/>
              </a:rPr>
              <a:t>Kapasitas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180" dirty="0">
                <a:latin typeface="Cambria"/>
                <a:cs typeface="Cambria"/>
              </a:rPr>
              <a:t>Jaringan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244" y="865708"/>
            <a:ext cx="271716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275" dirty="0"/>
              <a:t>K</a:t>
            </a:r>
            <a:r>
              <a:rPr sz="2550" spc="275" dirty="0"/>
              <a:t>ISI</a:t>
            </a:r>
            <a:r>
              <a:rPr sz="3200" spc="275" dirty="0"/>
              <a:t>-K</a:t>
            </a:r>
            <a:r>
              <a:rPr sz="2550" spc="275" dirty="0"/>
              <a:t>ISI</a:t>
            </a:r>
            <a:r>
              <a:rPr sz="2550" spc="220" dirty="0"/>
              <a:t> </a:t>
            </a:r>
            <a:r>
              <a:rPr sz="3200" spc="409" dirty="0"/>
              <a:t>UAS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155" dirty="0"/>
              <a:t>Sabtu,</a:t>
            </a:r>
            <a:r>
              <a:rPr spc="90" dirty="0"/>
              <a:t> </a:t>
            </a:r>
            <a:r>
              <a:rPr spc="5" dirty="0"/>
              <a:t>30</a:t>
            </a:r>
            <a:r>
              <a:rPr spc="120" dirty="0"/>
              <a:t> </a:t>
            </a:r>
            <a:r>
              <a:rPr spc="135" dirty="0"/>
              <a:t>Mei</a:t>
            </a:r>
            <a:r>
              <a:rPr spc="125" dirty="0"/>
              <a:t> </a:t>
            </a:r>
            <a:r>
              <a:rPr spc="10" dirty="0"/>
              <a:t>2009;</a:t>
            </a:r>
            <a:r>
              <a:rPr spc="95" dirty="0"/>
              <a:t> </a:t>
            </a:r>
            <a:r>
              <a:rPr spc="300" dirty="0"/>
              <a:t>Jam</a:t>
            </a:r>
            <a:r>
              <a:rPr spc="114" dirty="0"/>
              <a:t> </a:t>
            </a:r>
            <a:r>
              <a:rPr spc="30" dirty="0"/>
              <a:t>:</a:t>
            </a:r>
            <a:r>
              <a:rPr spc="120" dirty="0"/>
              <a:t> </a:t>
            </a:r>
            <a:r>
              <a:rPr spc="40" dirty="0"/>
              <a:t>08.00-10.00</a:t>
            </a: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150" dirty="0"/>
              <a:t>Sifat</a:t>
            </a:r>
            <a:r>
              <a:rPr spc="90" dirty="0"/>
              <a:t> </a:t>
            </a:r>
            <a:r>
              <a:rPr spc="170" dirty="0"/>
              <a:t>Ujian</a:t>
            </a:r>
            <a:r>
              <a:rPr spc="60" dirty="0"/>
              <a:t> </a:t>
            </a:r>
            <a:r>
              <a:rPr spc="30" dirty="0"/>
              <a:t>:</a:t>
            </a:r>
            <a:r>
              <a:rPr spc="140" dirty="0"/>
              <a:t> </a:t>
            </a:r>
            <a:r>
              <a:rPr spc="120" dirty="0"/>
              <a:t>Open</a:t>
            </a:r>
            <a:r>
              <a:rPr spc="105" dirty="0"/>
              <a:t> </a:t>
            </a:r>
            <a:r>
              <a:rPr spc="65" dirty="0"/>
              <a:t>Book</a:t>
            </a: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pc="125" dirty="0"/>
              <a:t>Materi</a:t>
            </a:r>
            <a:r>
              <a:rPr spc="105" dirty="0"/>
              <a:t> </a:t>
            </a:r>
            <a:r>
              <a:rPr spc="30" dirty="0"/>
              <a:t>:</a:t>
            </a:r>
            <a:r>
              <a:rPr spc="120" dirty="0"/>
              <a:t> </a:t>
            </a:r>
            <a:r>
              <a:rPr spc="114" dirty="0"/>
              <a:t>Pertemuan</a:t>
            </a:r>
            <a:r>
              <a:rPr spc="145" dirty="0"/>
              <a:t> </a:t>
            </a:r>
            <a:r>
              <a:rPr spc="5" dirty="0"/>
              <a:t>5</a:t>
            </a:r>
            <a:r>
              <a:rPr spc="125" dirty="0"/>
              <a:t> </a:t>
            </a:r>
            <a:r>
              <a:rPr spc="105" dirty="0"/>
              <a:t>sampai</a:t>
            </a:r>
            <a:r>
              <a:rPr spc="130" dirty="0"/>
              <a:t> </a:t>
            </a:r>
            <a:r>
              <a:rPr spc="114" dirty="0"/>
              <a:t>Pertemuan hari</a:t>
            </a:r>
            <a:r>
              <a:rPr spc="125" dirty="0"/>
              <a:t> </a:t>
            </a:r>
            <a:r>
              <a:rPr spc="100" dirty="0"/>
              <a:t>ini</a:t>
            </a: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  <a:tab pos="2978150" algn="l"/>
              </a:tabLst>
            </a:pPr>
            <a:r>
              <a:rPr spc="135" dirty="0"/>
              <a:t>Bentuk</a:t>
            </a:r>
            <a:r>
              <a:rPr spc="114" dirty="0"/>
              <a:t> </a:t>
            </a:r>
            <a:r>
              <a:rPr spc="170" dirty="0"/>
              <a:t>Ujian</a:t>
            </a:r>
            <a:r>
              <a:rPr spc="95" dirty="0"/>
              <a:t> </a:t>
            </a:r>
            <a:r>
              <a:rPr spc="30" dirty="0"/>
              <a:t>:</a:t>
            </a:r>
            <a:r>
              <a:rPr spc="145" dirty="0"/>
              <a:t> </a:t>
            </a:r>
            <a:r>
              <a:rPr dirty="0"/>
              <a:t>-</a:t>
            </a:r>
            <a:r>
              <a:rPr spc="140" dirty="0"/>
              <a:t> </a:t>
            </a:r>
            <a:r>
              <a:rPr spc="5" dirty="0"/>
              <a:t>7	</a:t>
            </a:r>
            <a:r>
              <a:rPr spc="130" dirty="0"/>
              <a:t>Soal</a:t>
            </a:r>
            <a:r>
              <a:rPr spc="95" dirty="0"/>
              <a:t> </a:t>
            </a:r>
            <a:r>
              <a:rPr spc="145" dirty="0"/>
              <a:t>Essay</a:t>
            </a:r>
            <a:r>
              <a:rPr spc="170" dirty="0"/>
              <a:t> </a:t>
            </a:r>
            <a:r>
              <a:rPr i="1" spc="40" dirty="0">
                <a:latin typeface="Cambria"/>
                <a:cs typeface="Cambria"/>
              </a:rPr>
              <a:t>(Bobot</a:t>
            </a:r>
            <a:r>
              <a:rPr i="1" spc="120" dirty="0">
                <a:latin typeface="Cambria"/>
                <a:cs typeface="Cambria"/>
              </a:rPr>
              <a:t> </a:t>
            </a:r>
            <a:r>
              <a:rPr i="1" spc="-5" dirty="0">
                <a:latin typeface="Cambria"/>
                <a:cs typeface="Cambria"/>
              </a:rPr>
              <a:t>70%)</a:t>
            </a:r>
          </a:p>
          <a:p>
            <a:pPr marL="2113280">
              <a:lnSpc>
                <a:spcPct val="100000"/>
              </a:lnSpc>
              <a:spcBef>
                <a:spcPts val="600"/>
              </a:spcBef>
              <a:tabLst>
                <a:tab pos="2636520" algn="l"/>
              </a:tabLst>
            </a:pPr>
            <a:r>
              <a:rPr dirty="0"/>
              <a:t>-</a:t>
            </a:r>
            <a:r>
              <a:rPr spc="135" dirty="0"/>
              <a:t> </a:t>
            </a:r>
            <a:r>
              <a:rPr spc="5" dirty="0"/>
              <a:t>3	</a:t>
            </a:r>
            <a:r>
              <a:rPr spc="130" dirty="0"/>
              <a:t>Soal</a:t>
            </a:r>
            <a:r>
              <a:rPr spc="120" dirty="0"/>
              <a:t> </a:t>
            </a:r>
            <a:r>
              <a:rPr spc="160" dirty="0"/>
              <a:t>Kasus</a:t>
            </a:r>
            <a:r>
              <a:rPr spc="110" dirty="0"/>
              <a:t> </a:t>
            </a:r>
            <a:r>
              <a:rPr spc="30" dirty="0"/>
              <a:t>:</a:t>
            </a:r>
            <a:r>
              <a:rPr spc="120" dirty="0"/>
              <a:t> </a:t>
            </a:r>
            <a:r>
              <a:rPr spc="254" dirty="0"/>
              <a:t>ERD,</a:t>
            </a:r>
            <a:r>
              <a:rPr spc="140" dirty="0"/>
              <a:t> </a:t>
            </a:r>
            <a:r>
              <a:rPr spc="290" dirty="0"/>
              <a:t>LRS</a:t>
            </a:r>
            <a:r>
              <a:rPr spc="135" dirty="0"/>
              <a:t> </a:t>
            </a:r>
            <a:r>
              <a:rPr spc="105" dirty="0"/>
              <a:t>dan</a:t>
            </a:r>
            <a:r>
              <a:rPr spc="110" dirty="0"/>
              <a:t> </a:t>
            </a:r>
            <a:r>
              <a:rPr spc="170" dirty="0"/>
              <a:t>Use</a:t>
            </a:r>
            <a:r>
              <a:rPr spc="110" dirty="0"/>
              <a:t> </a:t>
            </a:r>
            <a:r>
              <a:rPr spc="155" dirty="0"/>
              <a:t>Case</a:t>
            </a: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pc="140" dirty="0"/>
              <a:t>Diagram</a:t>
            </a:r>
          </a:p>
          <a:p>
            <a:pPr marL="2619375">
              <a:lnSpc>
                <a:spcPct val="100000"/>
              </a:lnSpc>
              <a:spcBef>
                <a:spcPts val="600"/>
              </a:spcBef>
            </a:pPr>
            <a:r>
              <a:rPr i="1" spc="10" dirty="0">
                <a:latin typeface="Cambria"/>
                <a:cs typeface="Cambria"/>
              </a:rPr>
              <a:t>(bobot</a:t>
            </a:r>
            <a:r>
              <a:rPr i="1" spc="110" dirty="0">
                <a:latin typeface="Cambria"/>
                <a:cs typeface="Cambria"/>
              </a:rPr>
              <a:t> </a:t>
            </a:r>
            <a:r>
              <a:rPr i="1" spc="65" dirty="0">
                <a:latin typeface="Cambria"/>
                <a:cs typeface="Cambria"/>
              </a:rPr>
              <a:t>30</a:t>
            </a:r>
            <a:r>
              <a:rPr i="1" spc="100" dirty="0">
                <a:latin typeface="Cambria"/>
                <a:cs typeface="Cambria"/>
              </a:rPr>
              <a:t> </a:t>
            </a:r>
            <a:r>
              <a:rPr i="1" spc="-85" dirty="0">
                <a:latin typeface="Cambria"/>
                <a:cs typeface="Cambria"/>
              </a:rPr>
              <a:t>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4937" y="0"/>
            <a:ext cx="690880" cy="6858000"/>
          </a:xfrm>
          <a:custGeom>
            <a:avLst/>
            <a:gdLst/>
            <a:ahLst/>
            <a:cxnLst/>
            <a:rect l="l" t="t" r="r" b="b"/>
            <a:pathLst>
              <a:path w="690880" h="6858000">
                <a:moveTo>
                  <a:pt x="0" y="6858000"/>
                </a:moveTo>
                <a:lnTo>
                  <a:pt x="690562" y="6858000"/>
                </a:lnTo>
                <a:lnTo>
                  <a:pt x="690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565F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565F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78105" cy="6858000"/>
          </a:xfrm>
          <a:custGeom>
            <a:avLst/>
            <a:gdLst/>
            <a:ahLst/>
            <a:cxnLst/>
            <a:rect l="l" t="t" r="r" b="b"/>
            <a:pathLst>
              <a:path w="78105" h="6858000">
                <a:moveTo>
                  <a:pt x="0" y="6858000"/>
                </a:moveTo>
                <a:lnTo>
                  <a:pt x="77787" y="6858000"/>
                </a:lnTo>
                <a:lnTo>
                  <a:pt x="7778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565F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11" name="object 11"/>
            <p:cNvSpPr/>
            <p:nvPr/>
          </p:nvSpPr>
          <p:spPr>
            <a:xfrm>
              <a:off x="99060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56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562" y="6858000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1412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187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187" y="6858000"/>
                  </a:lnTo>
                  <a:lnTo>
                    <a:pt x="230187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825500" y="0"/>
            <a:ext cx="117475" cy="6858000"/>
            <a:chOff x="825500" y="0"/>
            <a:chExt cx="117475" cy="6858000"/>
          </a:xfrm>
        </p:grpSpPr>
        <p:sp>
          <p:nvSpPr>
            <p:cNvPr id="15" name="object 15"/>
            <p:cNvSpPr/>
            <p:nvPr/>
          </p:nvSpPr>
          <p:spPr>
            <a:xfrm>
              <a:off x="914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4075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27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09600" y="0"/>
            <a:ext cx="1635125" cy="6858000"/>
            <a:chOff x="609600" y="0"/>
            <a:chExt cx="1635125" cy="6858000"/>
          </a:xfrm>
        </p:grpSpPr>
        <p:sp>
          <p:nvSpPr>
            <p:cNvPr id="20" name="object 20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" y="3428999"/>
              <a:ext cx="1357630" cy="2079625"/>
            </a:xfrm>
            <a:custGeom>
              <a:avLst/>
              <a:gdLst/>
              <a:ahLst/>
              <a:cxnLst/>
              <a:rect l="l" t="t" r="r" b="b"/>
              <a:pathLst>
                <a:path w="1357630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57630" h="2079625">
                  <a:moveTo>
                    <a:pt x="1357376" y="1758950"/>
                  </a:moveTo>
                  <a:lnTo>
                    <a:pt x="1353883" y="1711553"/>
                  </a:lnTo>
                  <a:lnTo>
                    <a:pt x="1343748" y="1666316"/>
                  </a:lnTo>
                  <a:lnTo>
                    <a:pt x="1327480" y="1623745"/>
                  </a:lnTo>
                  <a:lnTo>
                    <a:pt x="1305547" y="1584312"/>
                  </a:lnTo>
                  <a:lnTo>
                    <a:pt x="1278483" y="1548549"/>
                  </a:lnTo>
                  <a:lnTo>
                    <a:pt x="1246759" y="1516913"/>
                  </a:lnTo>
                  <a:lnTo>
                    <a:pt x="1210881" y="1489925"/>
                  </a:lnTo>
                  <a:lnTo>
                    <a:pt x="1171346" y="1468081"/>
                  </a:lnTo>
                  <a:lnTo>
                    <a:pt x="1128661" y="1451851"/>
                  </a:lnTo>
                  <a:lnTo>
                    <a:pt x="1083310" y="1441754"/>
                  </a:lnTo>
                  <a:lnTo>
                    <a:pt x="1035812" y="1438275"/>
                  </a:lnTo>
                  <a:lnTo>
                    <a:pt x="988301" y="1441754"/>
                  </a:lnTo>
                  <a:lnTo>
                    <a:pt x="942962" y="1451851"/>
                  </a:lnTo>
                  <a:lnTo>
                    <a:pt x="900290" y="1468081"/>
                  </a:lnTo>
                  <a:lnTo>
                    <a:pt x="860767" y="1489925"/>
                  </a:lnTo>
                  <a:lnTo>
                    <a:pt x="824915" y="1516913"/>
                  </a:lnTo>
                  <a:lnTo>
                    <a:pt x="793203" y="1548549"/>
                  </a:lnTo>
                  <a:lnTo>
                    <a:pt x="766152" y="1584312"/>
                  </a:lnTo>
                  <a:lnTo>
                    <a:pt x="744245" y="1623745"/>
                  </a:lnTo>
                  <a:lnTo>
                    <a:pt x="727976" y="1666316"/>
                  </a:lnTo>
                  <a:lnTo>
                    <a:pt x="717854" y="1711553"/>
                  </a:lnTo>
                  <a:lnTo>
                    <a:pt x="714375" y="1758950"/>
                  </a:lnTo>
                  <a:lnTo>
                    <a:pt x="717854" y="1806359"/>
                  </a:lnTo>
                  <a:lnTo>
                    <a:pt x="727976" y="1851596"/>
                  </a:lnTo>
                  <a:lnTo>
                    <a:pt x="744245" y="1894166"/>
                  </a:lnTo>
                  <a:lnTo>
                    <a:pt x="766152" y="1933600"/>
                  </a:lnTo>
                  <a:lnTo>
                    <a:pt x="793203" y="1969363"/>
                  </a:lnTo>
                  <a:lnTo>
                    <a:pt x="824915" y="2000999"/>
                  </a:lnTo>
                  <a:lnTo>
                    <a:pt x="860767" y="2027986"/>
                  </a:lnTo>
                  <a:lnTo>
                    <a:pt x="900290" y="2049830"/>
                  </a:lnTo>
                  <a:lnTo>
                    <a:pt x="942962" y="2066061"/>
                  </a:lnTo>
                  <a:lnTo>
                    <a:pt x="988301" y="2076157"/>
                  </a:lnTo>
                  <a:lnTo>
                    <a:pt x="1035812" y="2079625"/>
                  </a:lnTo>
                  <a:lnTo>
                    <a:pt x="1083310" y="2076157"/>
                  </a:lnTo>
                  <a:lnTo>
                    <a:pt x="1128661" y="2066061"/>
                  </a:lnTo>
                  <a:lnTo>
                    <a:pt x="1171346" y="2049830"/>
                  </a:lnTo>
                  <a:lnTo>
                    <a:pt x="1210881" y="2027986"/>
                  </a:lnTo>
                  <a:lnTo>
                    <a:pt x="1246759" y="2000999"/>
                  </a:lnTo>
                  <a:lnTo>
                    <a:pt x="1278483" y="1969363"/>
                  </a:lnTo>
                  <a:lnTo>
                    <a:pt x="1305547" y="1933600"/>
                  </a:lnTo>
                  <a:lnTo>
                    <a:pt x="1327480" y="1894166"/>
                  </a:lnTo>
                  <a:lnTo>
                    <a:pt x="1343748" y="1851596"/>
                  </a:lnTo>
                  <a:lnTo>
                    <a:pt x="1353883" y="1806359"/>
                  </a:lnTo>
                  <a:lnTo>
                    <a:pt x="1357376" y="175895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0612" y="5500750"/>
              <a:ext cx="138112" cy="1364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63700" y="4479924"/>
              <a:ext cx="581025" cy="1586230"/>
            </a:xfrm>
            <a:custGeom>
              <a:avLst/>
              <a:gdLst/>
              <a:ahLst/>
              <a:cxnLst/>
              <a:rect l="l" t="t" r="r" b="b"/>
              <a:pathLst>
                <a:path w="581025" h="1586229">
                  <a:moveTo>
                    <a:pt x="274701" y="1448587"/>
                  </a:moveTo>
                  <a:lnTo>
                    <a:pt x="267677" y="1405191"/>
                  </a:lnTo>
                  <a:lnTo>
                    <a:pt x="248158" y="1367497"/>
                  </a:lnTo>
                  <a:lnTo>
                    <a:pt x="218401" y="1337779"/>
                  </a:lnTo>
                  <a:lnTo>
                    <a:pt x="180682" y="1318285"/>
                  </a:lnTo>
                  <a:lnTo>
                    <a:pt x="137287" y="1311275"/>
                  </a:lnTo>
                  <a:lnTo>
                    <a:pt x="93891" y="1318285"/>
                  </a:lnTo>
                  <a:lnTo>
                    <a:pt x="56197" y="1337779"/>
                  </a:lnTo>
                  <a:lnTo>
                    <a:pt x="26479" y="1367497"/>
                  </a:lnTo>
                  <a:lnTo>
                    <a:pt x="6997" y="1405191"/>
                  </a:lnTo>
                  <a:lnTo>
                    <a:pt x="0" y="1448587"/>
                  </a:lnTo>
                  <a:lnTo>
                    <a:pt x="6997" y="1492008"/>
                  </a:lnTo>
                  <a:lnTo>
                    <a:pt x="26479" y="1529702"/>
                  </a:lnTo>
                  <a:lnTo>
                    <a:pt x="56197" y="1559420"/>
                  </a:lnTo>
                  <a:lnTo>
                    <a:pt x="93891" y="1578914"/>
                  </a:lnTo>
                  <a:lnTo>
                    <a:pt x="137287" y="1585912"/>
                  </a:lnTo>
                  <a:lnTo>
                    <a:pt x="180682" y="1578914"/>
                  </a:lnTo>
                  <a:lnTo>
                    <a:pt x="218401" y="1559420"/>
                  </a:lnTo>
                  <a:lnTo>
                    <a:pt x="248158" y="1529702"/>
                  </a:lnTo>
                  <a:lnTo>
                    <a:pt x="267677" y="1492008"/>
                  </a:lnTo>
                  <a:lnTo>
                    <a:pt x="274701" y="1448587"/>
                  </a:lnTo>
                  <a:close/>
                </a:path>
                <a:path w="581025" h="1586229">
                  <a:moveTo>
                    <a:pt x="581025" y="182499"/>
                  </a:moveTo>
                  <a:lnTo>
                    <a:pt x="574497" y="134023"/>
                  </a:lnTo>
                  <a:lnTo>
                    <a:pt x="556082" y="90424"/>
                  </a:lnTo>
                  <a:lnTo>
                    <a:pt x="527532" y="53492"/>
                  </a:lnTo>
                  <a:lnTo>
                    <a:pt x="490601" y="24942"/>
                  </a:lnTo>
                  <a:lnTo>
                    <a:pt x="447001" y="6527"/>
                  </a:lnTo>
                  <a:lnTo>
                    <a:pt x="398526" y="0"/>
                  </a:lnTo>
                  <a:lnTo>
                    <a:pt x="349973" y="6527"/>
                  </a:lnTo>
                  <a:lnTo>
                    <a:pt x="306349" y="24942"/>
                  </a:lnTo>
                  <a:lnTo>
                    <a:pt x="269392" y="53492"/>
                  </a:lnTo>
                  <a:lnTo>
                    <a:pt x="240830" y="90424"/>
                  </a:lnTo>
                  <a:lnTo>
                    <a:pt x="222415" y="134023"/>
                  </a:lnTo>
                  <a:lnTo>
                    <a:pt x="215900" y="182499"/>
                  </a:lnTo>
                  <a:lnTo>
                    <a:pt x="215900" y="182626"/>
                  </a:lnTo>
                  <a:lnTo>
                    <a:pt x="222415" y="231114"/>
                  </a:lnTo>
                  <a:lnTo>
                    <a:pt x="240830" y="274713"/>
                  </a:lnTo>
                  <a:lnTo>
                    <a:pt x="269392" y="311645"/>
                  </a:lnTo>
                  <a:lnTo>
                    <a:pt x="306349" y="340194"/>
                  </a:lnTo>
                  <a:lnTo>
                    <a:pt x="349973" y="358609"/>
                  </a:lnTo>
                  <a:lnTo>
                    <a:pt x="398526" y="365125"/>
                  </a:lnTo>
                  <a:lnTo>
                    <a:pt x="447001" y="358609"/>
                  </a:lnTo>
                  <a:lnTo>
                    <a:pt x="490588" y="340194"/>
                  </a:lnTo>
                  <a:lnTo>
                    <a:pt x="527532" y="311645"/>
                  </a:lnTo>
                  <a:lnTo>
                    <a:pt x="556082" y="274713"/>
                  </a:lnTo>
                  <a:lnTo>
                    <a:pt x="574497" y="231114"/>
                  </a:lnTo>
                  <a:lnTo>
                    <a:pt x="581025" y="182626"/>
                  </a:lnTo>
                  <a:lnTo>
                    <a:pt x="581025" y="182499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9069324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766822" y="2948127"/>
            <a:ext cx="366902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1010" dirty="0">
                <a:solidFill>
                  <a:srgbClr val="FFF39D"/>
                </a:solidFill>
                <a:latin typeface="Cambria"/>
                <a:cs typeface="Cambria"/>
              </a:rPr>
              <a:t>SE</a:t>
            </a:r>
            <a:r>
              <a:rPr sz="6000" b="1" spc="1030" dirty="0">
                <a:solidFill>
                  <a:srgbClr val="FFF39D"/>
                </a:solidFill>
                <a:latin typeface="Cambria"/>
                <a:cs typeface="Cambria"/>
              </a:rPr>
              <a:t>L</a:t>
            </a:r>
            <a:r>
              <a:rPr sz="6000" b="1" spc="805" dirty="0">
                <a:solidFill>
                  <a:srgbClr val="FFF39D"/>
                </a:solidFill>
                <a:latin typeface="Cambria"/>
                <a:cs typeface="Cambria"/>
              </a:rPr>
              <a:t>ESAI</a:t>
            </a:r>
            <a:endParaRPr sz="6000">
              <a:latin typeface="Cambria"/>
              <a:cs typeface="Cambria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2710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TI50hal</Template>
  <TotalTime>3</TotalTime>
  <Words>744</Words>
  <Application>Microsoft Office PowerPoint</Application>
  <PresentationFormat>On-screen Show (4:3)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Georgia</vt:lpstr>
      <vt:lpstr>Segoe UI Symbol</vt:lpstr>
      <vt:lpstr>Tahoma</vt:lpstr>
      <vt:lpstr>Wingdings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SISTEM INFORMASI  MANAJEMEN</vt:lpstr>
      <vt:lpstr>MELINDUNGI SISTEM  INFORMASI</vt:lpstr>
      <vt:lpstr>KERENTANAN DAN PENYALAH  GUNAAN SISTEM</vt:lpstr>
      <vt:lpstr>MENGAPA SISTEM INFORMASI PERLU  DILINDUNGI</vt:lpstr>
      <vt:lpstr>NILAI BISNIS DARI PENGAMANAN DAN  PENGENDALIAN</vt:lpstr>
      <vt:lpstr>MENETAPKAN KERANGKA KERJA UNTUK  PENGAMANAN DAN PENGENDALIAN</vt:lpstr>
      <vt:lpstr>TEKNOLOGI DAN PERANGKAT  PENGAMANAN</vt:lpstr>
      <vt:lpstr>TEKNOLOGI DAN PERANGKAT  PENGAMANAN (LANJUTAN)</vt:lpstr>
      <vt:lpstr>ENKRIPSI KUNCI PUBLIK</vt:lpstr>
      <vt:lpstr>SERTIFIKASI DIGITAL</vt:lpstr>
      <vt:lpstr>MENGELOLA SISTEM DIGITAL</vt:lpstr>
      <vt:lpstr>PENGGERAK BISNIS GLOBAL</vt:lpstr>
      <vt:lpstr>TANTANGAN BAGI MANAJEMEN DALAM  MENGEMBANGANKAN SISTEM GLOBAL</vt:lpstr>
      <vt:lpstr>SISTEM GLOBAL, REGIONAL DAN  LOKAL</vt:lpstr>
      <vt:lpstr>MASALAH JARINGAN  INTERNASIONAL</vt:lpstr>
      <vt:lpstr>KISI-KISI UAS</vt:lpstr>
      <vt:lpstr>SELESAI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USULAN KURIKULUM  PROGRAM STUDI KOMPUTERISASI AKUNTANSI JENJANG STRATA 1</dc:title>
  <dc:creator>deni</dc:creator>
  <cp:lastModifiedBy>Windows User</cp:lastModifiedBy>
  <cp:revision>3</cp:revision>
  <dcterms:created xsi:type="dcterms:W3CDTF">2021-08-24T12:46:45Z</dcterms:created>
  <dcterms:modified xsi:type="dcterms:W3CDTF">2021-08-28T00:18:40Z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